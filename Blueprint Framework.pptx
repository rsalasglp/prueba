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tags/tag21.xml" ContentType="application/vnd.openxmlformats-officedocument.presentationml.tags+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69" r:id="rId5"/>
  </p:sldMasterIdLst>
  <p:notesMasterIdLst>
    <p:notesMasterId r:id="rId97"/>
  </p:notesMasterIdLst>
  <p:handoutMasterIdLst>
    <p:handoutMasterId r:id="rId98"/>
  </p:handoutMasterIdLst>
  <p:sldIdLst>
    <p:sldId id="2147479349" r:id="rId6"/>
    <p:sldId id="2147483474" r:id="rId7"/>
    <p:sldId id="2147483475" r:id="rId8"/>
    <p:sldId id="2147483508" r:id="rId9"/>
    <p:sldId id="2147483473" r:id="rId10"/>
    <p:sldId id="2147483514" r:id="rId11"/>
    <p:sldId id="279" r:id="rId12"/>
    <p:sldId id="2147479619" r:id="rId13"/>
    <p:sldId id="2147479609" r:id="rId14"/>
    <p:sldId id="2147479525" r:id="rId15"/>
    <p:sldId id="2147479620" r:id="rId16"/>
    <p:sldId id="2147479581" r:id="rId17"/>
    <p:sldId id="2147479582" r:id="rId18"/>
    <p:sldId id="2147479583" r:id="rId19"/>
    <p:sldId id="2147479584" r:id="rId20"/>
    <p:sldId id="2147479585" r:id="rId21"/>
    <p:sldId id="2147483524" r:id="rId22"/>
    <p:sldId id="2147479526" r:id="rId23"/>
    <p:sldId id="2147483471" r:id="rId24"/>
    <p:sldId id="2147479527" r:id="rId25"/>
    <p:sldId id="2147483472" r:id="rId26"/>
    <p:sldId id="2147483511" r:id="rId27"/>
    <p:sldId id="2147483476" r:id="rId28"/>
    <p:sldId id="2147483498" r:id="rId29"/>
    <p:sldId id="2147483500" r:id="rId30"/>
    <p:sldId id="2147483479" r:id="rId31"/>
    <p:sldId id="2147483507" r:id="rId32"/>
    <p:sldId id="2147483482" r:id="rId33"/>
    <p:sldId id="2147483483" r:id="rId34"/>
    <p:sldId id="2147479523" r:id="rId35"/>
    <p:sldId id="2147479528" r:id="rId36"/>
    <p:sldId id="2147479531" r:id="rId37"/>
    <p:sldId id="2147483469" r:id="rId38"/>
    <p:sldId id="2147483470" r:id="rId39"/>
    <p:sldId id="2147483466" r:id="rId40"/>
    <p:sldId id="2147483515" r:id="rId41"/>
    <p:sldId id="2147483510" r:id="rId42"/>
    <p:sldId id="2147483522" r:id="rId43"/>
    <p:sldId id="2147479580" r:id="rId44"/>
    <p:sldId id="2147483517" r:id="rId45"/>
    <p:sldId id="2147483518" r:id="rId46"/>
    <p:sldId id="2147483477" r:id="rId47"/>
    <p:sldId id="2147483478" r:id="rId48"/>
    <p:sldId id="2147483519" r:id="rId49"/>
    <p:sldId id="2147483520" r:id="rId50"/>
    <p:sldId id="2147483521" r:id="rId51"/>
    <p:sldId id="1201" r:id="rId52"/>
    <p:sldId id="2147483046" r:id="rId53"/>
    <p:sldId id="2147483188" r:id="rId54"/>
    <p:sldId id="2147483523" r:id="rId55"/>
    <p:sldId id="2147479579" r:id="rId56"/>
    <p:sldId id="2147483453" r:id="rId57"/>
    <p:sldId id="2147483455" r:id="rId58"/>
    <p:sldId id="2147483456" r:id="rId59"/>
    <p:sldId id="2147483457" r:id="rId60"/>
    <p:sldId id="2147483462" r:id="rId61"/>
    <p:sldId id="2147479599" r:id="rId62"/>
    <p:sldId id="2147479586" r:id="rId63"/>
    <p:sldId id="2147483458" r:id="rId64"/>
    <p:sldId id="2147483459" r:id="rId65"/>
    <p:sldId id="2147483460" r:id="rId66"/>
    <p:sldId id="2147483461" r:id="rId67"/>
    <p:sldId id="2147483525" r:id="rId68"/>
    <p:sldId id="260" r:id="rId69"/>
    <p:sldId id="263" r:id="rId70"/>
    <p:sldId id="264" r:id="rId71"/>
    <p:sldId id="2147479601" r:id="rId72"/>
    <p:sldId id="2147479602" r:id="rId73"/>
    <p:sldId id="2147479592" r:id="rId74"/>
    <p:sldId id="2147479593" r:id="rId75"/>
    <p:sldId id="2147479607" r:id="rId76"/>
    <p:sldId id="2147479572" r:id="rId77"/>
    <p:sldId id="2147479573" r:id="rId78"/>
    <p:sldId id="2147483467" r:id="rId79"/>
    <p:sldId id="2147483468" r:id="rId80"/>
    <p:sldId id="2147479615" r:id="rId81"/>
    <p:sldId id="2147479597" r:id="rId82"/>
    <p:sldId id="2147479616" r:id="rId83"/>
    <p:sldId id="2147479613" r:id="rId84"/>
    <p:sldId id="2147483486" r:id="rId85"/>
    <p:sldId id="2147483487" r:id="rId86"/>
    <p:sldId id="2147483502" r:id="rId87"/>
    <p:sldId id="2147483501" r:id="rId88"/>
    <p:sldId id="2147483505" r:id="rId89"/>
    <p:sldId id="2147483506" r:id="rId90"/>
    <p:sldId id="2147483513" r:id="rId91"/>
    <p:sldId id="2147483489" r:id="rId92"/>
    <p:sldId id="2147483491" r:id="rId93"/>
    <p:sldId id="2147483503" r:id="rId94"/>
    <p:sldId id="2147483504" r:id="rId95"/>
    <p:sldId id="2147483492" r:id="rId96"/>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EEDF1"/>
    <a:srgbClr val="BFBFBF"/>
    <a:srgbClr val="3B853F"/>
    <a:srgbClr val="C1E3C3"/>
    <a:srgbClr val="EEEEEE"/>
    <a:srgbClr val="FDFDFD"/>
    <a:srgbClr val="B8CFE6"/>
    <a:srgbClr val="729FCC"/>
    <a:srgbClr val="4D86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68"/>
      </p:cViewPr>
      <p:guideLst/>
    </p:cSldViewPr>
  </p:slideViewPr>
  <p:notesTextViewPr>
    <p:cViewPr>
      <p:scale>
        <a:sx n="3" d="2"/>
        <a:sy n="3" d="2"/>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slide" Target="slides/slide84.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102" Type="http://schemas.openxmlformats.org/officeDocument/2006/relationships/tableStyles" Target="tableStyles.xml"/><Relationship Id="rId5" Type="http://schemas.openxmlformats.org/officeDocument/2006/relationships/slideMaster" Target="slideMasters/slideMaster2.xml"/><Relationship Id="rId90" Type="http://schemas.openxmlformats.org/officeDocument/2006/relationships/slide" Target="slides/slide85.xml"/><Relationship Id="rId95" Type="http://schemas.openxmlformats.org/officeDocument/2006/relationships/slide" Target="slides/slide90.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80" Type="http://schemas.openxmlformats.org/officeDocument/2006/relationships/slide" Target="slides/slide75.xml"/><Relationship Id="rId85" Type="http://schemas.openxmlformats.org/officeDocument/2006/relationships/slide" Target="slides/slide80.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slide" Target="slides/slide78.xml"/><Relationship Id="rId88" Type="http://schemas.openxmlformats.org/officeDocument/2006/relationships/slide" Target="slides/slide83.xml"/><Relationship Id="rId91" Type="http://schemas.openxmlformats.org/officeDocument/2006/relationships/slide" Target="slides/slide86.xml"/><Relationship Id="rId96" Type="http://schemas.openxmlformats.org/officeDocument/2006/relationships/slide" Target="slides/slide9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slide" Target="slides/slide81.xml"/><Relationship Id="rId94" Type="http://schemas.openxmlformats.org/officeDocument/2006/relationships/slide" Target="slides/slide89.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notesMaster" Target="notesMasters/notesMaster1.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viewProps" Target="viewProps.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98" Type="http://schemas.openxmlformats.org/officeDocument/2006/relationships/handoutMaster" Target="handoutMasters/handoutMaster1.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E8E27CFA-BE1A-3B88-498A-474FEC3565D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Marcador de fecha 2">
            <a:extLst>
              <a:ext uri="{FF2B5EF4-FFF2-40B4-BE49-F238E27FC236}">
                <a16:creationId xmlns:a16="http://schemas.microsoft.com/office/drawing/2014/main" id="{3883C135-D4FC-E9C3-7000-5E5ECAEC0A5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0669AAB-E44A-4A15-87A6-3B8FBFB61DB9}" type="datetimeFigureOut">
              <a:rPr lang="en-US" smtClean="0"/>
              <a:t>6/25/2026</a:t>
            </a:fld>
            <a:endParaRPr lang="en-US"/>
          </a:p>
        </p:txBody>
      </p:sp>
      <p:sp>
        <p:nvSpPr>
          <p:cNvPr id="4" name="Marcador de pie de página 3">
            <a:extLst>
              <a:ext uri="{FF2B5EF4-FFF2-40B4-BE49-F238E27FC236}">
                <a16:creationId xmlns:a16="http://schemas.microsoft.com/office/drawing/2014/main" id="{5F65473E-5037-F75B-B329-A050577EE69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Marcador de número de diapositiva 4">
            <a:extLst>
              <a:ext uri="{FF2B5EF4-FFF2-40B4-BE49-F238E27FC236}">
                <a16:creationId xmlns:a16="http://schemas.microsoft.com/office/drawing/2014/main" id="{7A684CF3-F8C5-B270-4A7E-5498C42CF1C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54F619-C346-4F0A-B08A-6874F9E10F30}" type="slidenum">
              <a:rPr lang="en-US" smtClean="0"/>
              <a:t>‹Nº›</a:t>
            </a:fld>
            <a:endParaRPr lang="en-US"/>
          </a:p>
        </p:txBody>
      </p:sp>
    </p:spTree>
    <p:extLst>
      <p:ext uri="{BB962C8B-B14F-4D97-AF65-F5344CB8AC3E}">
        <p14:creationId xmlns:p14="http://schemas.microsoft.com/office/powerpoint/2010/main" val="1776554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F431CC-DBB7-4855-900C-14EAF56421CF}" type="datetimeFigureOut">
              <a:rPr lang="es-ES" smtClean="0"/>
              <a:t>24/06/2026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5540E1-3473-46DF-B0C2-FCABC12572CB}" type="slidenum">
              <a:rPr lang="es-ES" smtClean="0"/>
              <a:t>‹Nº›</a:t>
            </a:fld>
            <a:endParaRPr lang="es-ES"/>
          </a:p>
        </p:txBody>
      </p:sp>
    </p:spTree>
    <p:extLst>
      <p:ext uri="{BB962C8B-B14F-4D97-AF65-F5344CB8AC3E}">
        <p14:creationId xmlns:p14="http://schemas.microsoft.com/office/powerpoint/2010/main" val="38630550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F0284-CDA6-796E-34E3-59FEB71B39D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B0B3E33-ED55-D3ED-A3F3-74D7842B36E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5664CF6-429D-0308-CE24-5F2AD0E2F9B0}"/>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EC071521-2303-2755-C2A7-B9FE2E6DC05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0227E8-3673-4DF1-8304-14EC0DAFD7F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126550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0227E8-3673-4DF1-8304-14EC0DAFD7F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642133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a:p>
        </p:txBody>
      </p:sp>
      <p:sp>
        <p:nvSpPr>
          <p:cNvPr id="4" name="Marcador de número de diapositiva 3"/>
          <p:cNvSpPr>
            <a:spLocks noGrp="1"/>
          </p:cNvSpPr>
          <p:nvPr>
            <p:ph type="sldNum" sz="quarter" idx="5"/>
          </p:nvPr>
        </p:nvSpPr>
        <p:spPr/>
        <p:txBody>
          <a:bodyPr/>
          <a:lstStyle/>
          <a:p>
            <a:fld id="{170227E8-3673-4DF1-8304-14EC0DAFD7FD}" type="slidenum">
              <a:rPr lang="es-ES" smtClean="0"/>
              <a:t>7</a:t>
            </a:fld>
            <a:endParaRPr lang="es-ES"/>
          </a:p>
        </p:txBody>
      </p:sp>
    </p:spTree>
    <p:extLst>
      <p:ext uri="{BB962C8B-B14F-4D97-AF65-F5344CB8AC3E}">
        <p14:creationId xmlns:p14="http://schemas.microsoft.com/office/powerpoint/2010/main" val="23238458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F377A-ED0B-83E9-DC54-F61D17374BE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3A16DF1-F2E1-F1FF-704B-2EA3BAEFE36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09C3DA9-0783-5899-1983-0E67C0E831D0}"/>
              </a:ext>
            </a:extLst>
          </p:cNvPr>
          <p:cNvSpPr>
            <a:spLocks noGrp="1"/>
          </p:cNvSpPr>
          <p:nvPr>
            <p:ph type="body" idx="1"/>
          </p:nvPr>
        </p:nvSpPr>
        <p:spPr/>
        <p:txBody>
          <a:bodyPr/>
          <a:lstStyle/>
          <a:p>
            <a:r>
              <a:rPr kumimoji="0" lang="en-AU" sz="1200" b="1" i="0" u="none" strike="noStrike" kern="1200" cap="none" spc="0" normalizeH="0" baseline="0" noProof="0">
                <a:ln>
                  <a:noFill/>
                </a:ln>
                <a:solidFill>
                  <a:srgbClr val="BFBFBF"/>
                </a:solidFill>
                <a:effectLst/>
                <a:uLnTx/>
                <a:uFillTx/>
                <a:latin typeface="Santander Headline"/>
                <a:ea typeface="+mj-ea"/>
                <a:cs typeface="+mj-cs"/>
              </a:rPr>
              <a:t>*</a:t>
            </a:r>
            <a:endParaRPr lang="es-ES"/>
          </a:p>
        </p:txBody>
      </p:sp>
      <p:sp>
        <p:nvSpPr>
          <p:cNvPr id="4" name="Marcador de número de diapositiva 3">
            <a:extLst>
              <a:ext uri="{FF2B5EF4-FFF2-40B4-BE49-F238E27FC236}">
                <a16:creationId xmlns:a16="http://schemas.microsoft.com/office/drawing/2014/main" id="{B67D9C6E-E0CE-1CCA-624C-95FDE5B8BA6D}"/>
              </a:ext>
            </a:extLst>
          </p:cNvPr>
          <p:cNvSpPr>
            <a:spLocks noGrp="1"/>
          </p:cNvSpPr>
          <p:nvPr>
            <p:ph type="sldNum" sz="quarter" idx="5"/>
          </p:nvPr>
        </p:nvSpPr>
        <p:spPr/>
        <p:txBody>
          <a:bodyPr/>
          <a:lstStyle/>
          <a:p>
            <a:fld id="{355540E1-3473-46DF-B0C2-FCABC12572CB}" type="slidenum">
              <a:rPr lang="es-ES" smtClean="0"/>
              <a:t>8</a:t>
            </a:fld>
            <a:endParaRPr lang="es-ES"/>
          </a:p>
        </p:txBody>
      </p:sp>
    </p:spTree>
    <p:extLst>
      <p:ext uri="{BB962C8B-B14F-4D97-AF65-F5344CB8AC3E}">
        <p14:creationId xmlns:p14="http://schemas.microsoft.com/office/powerpoint/2010/main" val="199212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0227E8-3673-4DF1-8304-14EC0DAFD7F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755984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0227E8-3673-4DF1-8304-14EC0DAFD7F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085523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64822-CD34-4593-6F4B-1D9D883DFE7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CE57BEA-6888-DE1B-1274-68B7B370F7F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1291378-96AA-72D5-4CD3-297A6BA856B3}"/>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19C3639B-0AD6-6610-21AA-2AD6E8785535}"/>
              </a:ext>
            </a:extLst>
          </p:cNvPr>
          <p:cNvSpPr>
            <a:spLocks noGrp="1"/>
          </p:cNvSpPr>
          <p:nvPr>
            <p:ph type="sldNum" sz="quarter" idx="5"/>
          </p:nvPr>
        </p:nvSpPr>
        <p:spPr/>
        <p:txBody>
          <a:bodyPr/>
          <a:lstStyle/>
          <a:p>
            <a:fld id="{355540E1-3473-46DF-B0C2-FCABC12572CB}" type="slidenum">
              <a:rPr lang="es-ES" smtClean="0"/>
              <a:t>11</a:t>
            </a:fld>
            <a:endParaRPr lang="es-ES"/>
          </a:p>
        </p:txBody>
      </p:sp>
    </p:spTree>
    <p:extLst>
      <p:ext uri="{BB962C8B-B14F-4D97-AF65-F5344CB8AC3E}">
        <p14:creationId xmlns:p14="http://schemas.microsoft.com/office/powerpoint/2010/main" val="1464312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904BD-4DAD-904A-11BB-80879A0B15A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2B5D6F7-0A0D-C601-EB02-5835701E308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7EE2B47-F79C-72EE-F5D2-EBF525302903}"/>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41E1B1C3-C630-EC70-B61D-048EE3ECF4A8}"/>
              </a:ext>
            </a:extLst>
          </p:cNvPr>
          <p:cNvSpPr>
            <a:spLocks noGrp="1"/>
          </p:cNvSpPr>
          <p:nvPr>
            <p:ph type="sldNum" sz="quarter" idx="5"/>
          </p:nvPr>
        </p:nvSpPr>
        <p:spPr/>
        <p:txBody>
          <a:bodyPr/>
          <a:lstStyle/>
          <a:p>
            <a:fld id="{355540E1-3473-46DF-B0C2-FCABC12572CB}" type="slidenum">
              <a:rPr lang="es-ES" smtClean="0"/>
              <a:t>12</a:t>
            </a:fld>
            <a:endParaRPr lang="es-ES"/>
          </a:p>
        </p:txBody>
      </p:sp>
    </p:spTree>
    <p:extLst>
      <p:ext uri="{BB962C8B-B14F-4D97-AF65-F5344CB8AC3E}">
        <p14:creationId xmlns:p14="http://schemas.microsoft.com/office/powerpoint/2010/main" val="42684125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7A316-CFE6-F654-C6AB-08E28594173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0B1E083-B1D7-4591-4A8C-4A79BB1715A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F4C3FAD-EC0B-538B-987A-93400AB82F19}"/>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663199A5-EA4E-CD76-D148-13E601A08680}"/>
              </a:ext>
            </a:extLst>
          </p:cNvPr>
          <p:cNvSpPr>
            <a:spLocks noGrp="1"/>
          </p:cNvSpPr>
          <p:nvPr>
            <p:ph type="sldNum" sz="quarter" idx="5"/>
          </p:nvPr>
        </p:nvSpPr>
        <p:spPr/>
        <p:txBody>
          <a:bodyPr/>
          <a:lstStyle/>
          <a:p>
            <a:fld id="{355540E1-3473-46DF-B0C2-FCABC12572CB}" type="slidenum">
              <a:rPr lang="es-ES" smtClean="0"/>
              <a:t>13</a:t>
            </a:fld>
            <a:endParaRPr lang="es-ES"/>
          </a:p>
        </p:txBody>
      </p:sp>
    </p:spTree>
    <p:extLst>
      <p:ext uri="{BB962C8B-B14F-4D97-AF65-F5344CB8AC3E}">
        <p14:creationId xmlns:p14="http://schemas.microsoft.com/office/powerpoint/2010/main" val="1423212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E2BB6-A707-6656-C965-22997F81A76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0DD27AF-695A-79F4-5954-31E58AB1BAA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6C43F1B-DA62-7C6C-A5FA-AC78BDE77EFA}"/>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99C64DFA-878D-48CF-C80A-6376CE563F78}"/>
              </a:ext>
            </a:extLst>
          </p:cNvPr>
          <p:cNvSpPr>
            <a:spLocks noGrp="1"/>
          </p:cNvSpPr>
          <p:nvPr>
            <p:ph type="sldNum" sz="quarter" idx="5"/>
          </p:nvPr>
        </p:nvSpPr>
        <p:spPr/>
        <p:txBody>
          <a:bodyPr/>
          <a:lstStyle/>
          <a:p>
            <a:fld id="{355540E1-3473-46DF-B0C2-FCABC12572CB}" type="slidenum">
              <a:rPr lang="es-ES" smtClean="0"/>
              <a:t>14</a:t>
            </a:fld>
            <a:endParaRPr lang="es-ES"/>
          </a:p>
        </p:txBody>
      </p:sp>
    </p:spTree>
    <p:extLst>
      <p:ext uri="{BB962C8B-B14F-4D97-AF65-F5344CB8AC3E}">
        <p14:creationId xmlns:p14="http://schemas.microsoft.com/office/powerpoint/2010/main" val="10883232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5E306-9A19-4FC1-7E65-6BCB750A7FF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D22F22B-0F8B-3542-768A-72497A50DAA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E50DA30-2DF4-0175-5066-CEF3AC5A2073}"/>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69FE3611-91D0-3EAD-FE6C-4C2ABB1630F0}"/>
              </a:ext>
            </a:extLst>
          </p:cNvPr>
          <p:cNvSpPr>
            <a:spLocks noGrp="1"/>
          </p:cNvSpPr>
          <p:nvPr>
            <p:ph type="sldNum" sz="quarter" idx="5"/>
          </p:nvPr>
        </p:nvSpPr>
        <p:spPr/>
        <p:txBody>
          <a:bodyPr/>
          <a:lstStyle/>
          <a:p>
            <a:fld id="{355540E1-3473-46DF-B0C2-FCABC12572CB}" type="slidenum">
              <a:rPr lang="es-ES" smtClean="0"/>
              <a:t>15</a:t>
            </a:fld>
            <a:endParaRPr lang="es-ES"/>
          </a:p>
        </p:txBody>
      </p:sp>
    </p:spTree>
    <p:extLst>
      <p:ext uri="{BB962C8B-B14F-4D97-AF65-F5344CB8AC3E}">
        <p14:creationId xmlns:p14="http://schemas.microsoft.com/office/powerpoint/2010/main" val="26543939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CF4D4-3409-52CD-A7BE-80C81B3A212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C6307C3-91F8-5356-1C9B-92FBBFB6B4A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E003BBC-D346-9AF6-FBE9-40DE3056A71C}"/>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AF0EC7D1-F056-AEA4-FC3C-DBC1B922B5A1}"/>
              </a:ext>
            </a:extLst>
          </p:cNvPr>
          <p:cNvSpPr>
            <a:spLocks noGrp="1"/>
          </p:cNvSpPr>
          <p:nvPr>
            <p:ph type="sldNum" sz="quarter" idx="5"/>
          </p:nvPr>
        </p:nvSpPr>
        <p:spPr/>
        <p:txBody>
          <a:bodyPr/>
          <a:lstStyle/>
          <a:p>
            <a:fld id="{355540E1-3473-46DF-B0C2-FCABC12572CB}" type="slidenum">
              <a:rPr lang="es-ES" smtClean="0"/>
              <a:t>16</a:t>
            </a:fld>
            <a:endParaRPr lang="es-ES"/>
          </a:p>
        </p:txBody>
      </p:sp>
    </p:spTree>
    <p:extLst>
      <p:ext uri="{BB962C8B-B14F-4D97-AF65-F5344CB8AC3E}">
        <p14:creationId xmlns:p14="http://schemas.microsoft.com/office/powerpoint/2010/main" val="16127112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57D16-8999-DBA3-82BA-CD706F91838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3011C0E-32E9-36BE-75E1-1550F91B215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1562ADF-8B81-7ED4-62CB-D073F38B2FCF}"/>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1769F99D-A468-B9F3-D6F2-114780F8265D}"/>
              </a:ext>
            </a:extLst>
          </p:cNvPr>
          <p:cNvSpPr>
            <a:spLocks noGrp="1"/>
          </p:cNvSpPr>
          <p:nvPr>
            <p:ph type="sldNum" sz="quarter" idx="5"/>
          </p:nvPr>
        </p:nvSpPr>
        <p:spPr/>
        <p:txBody>
          <a:bodyPr/>
          <a:lstStyle/>
          <a:p>
            <a:fld id="{355540E1-3473-46DF-B0C2-FCABC12572CB}" type="slidenum">
              <a:rPr lang="es-ES" smtClean="0"/>
              <a:t>17</a:t>
            </a:fld>
            <a:endParaRPr lang="es-ES"/>
          </a:p>
        </p:txBody>
      </p:sp>
    </p:spTree>
    <p:extLst>
      <p:ext uri="{BB962C8B-B14F-4D97-AF65-F5344CB8AC3E}">
        <p14:creationId xmlns:p14="http://schemas.microsoft.com/office/powerpoint/2010/main" val="38615023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0227E8-3673-4DF1-8304-14EC0DAFD7F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532306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5DF39E-DB6E-DB37-897B-B92E72E7BB3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0D15E5F-0A83-A439-1251-EF704A05649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4F0F5AD-7897-7E93-AE73-1955F441856C}"/>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6AFA6CD8-05ED-D8C7-DC29-FE493D28AE6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0227E8-3673-4DF1-8304-14EC0DAFD7F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073427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0227E8-3673-4DF1-8304-14EC0DAFD7F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368640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0681E-238F-2B0C-22DC-94C7BD9CC53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9B97EF0-B3FD-5F44-359D-04E2E778CE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D6C99EA-A9B7-BF17-80E2-20E3D201E45D}"/>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5348219C-F61D-F190-F737-67EC1A15BDF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0227E8-3673-4DF1-8304-14EC0DAFD7F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976365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C9183-D00A-EA80-8E6E-50A567D4737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3C287BD-2681-6603-E8C8-63910021668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DD78E8B-88F7-601C-2A91-DB3C1EAB4DF0}"/>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17C7B9DB-03C6-878F-78BD-23F600925F7F}"/>
              </a:ext>
            </a:extLst>
          </p:cNvPr>
          <p:cNvSpPr>
            <a:spLocks noGrp="1"/>
          </p:cNvSpPr>
          <p:nvPr>
            <p:ph type="sldNum" sz="quarter" idx="5"/>
          </p:nvPr>
        </p:nvSpPr>
        <p:spPr/>
        <p:txBody>
          <a:bodyPr/>
          <a:lstStyle/>
          <a:p>
            <a:fld id="{355540E1-3473-46DF-B0C2-FCABC12572CB}" type="slidenum">
              <a:rPr lang="es-ES" smtClean="0"/>
              <a:t>22</a:t>
            </a:fld>
            <a:endParaRPr lang="es-ES"/>
          </a:p>
        </p:txBody>
      </p:sp>
    </p:spTree>
    <p:extLst>
      <p:ext uri="{BB962C8B-B14F-4D97-AF65-F5344CB8AC3E}">
        <p14:creationId xmlns:p14="http://schemas.microsoft.com/office/powerpoint/2010/main" val="11862419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AE00E-6751-FDDD-555A-336764B30A1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EEF64E5-FC17-5212-1407-4427181ACE5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E5AB31F-DDAC-122F-C5D6-FD46DEEBA447}"/>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B90CAF8B-9154-2980-5622-0ACF267922E2}"/>
              </a:ext>
            </a:extLst>
          </p:cNvPr>
          <p:cNvSpPr>
            <a:spLocks noGrp="1"/>
          </p:cNvSpPr>
          <p:nvPr>
            <p:ph type="sldNum" sz="quarter" idx="5"/>
          </p:nvPr>
        </p:nvSpPr>
        <p:spPr/>
        <p:txBody>
          <a:bodyPr/>
          <a:lstStyle/>
          <a:p>
            <a:fld id="{355540E1-3473-46DF-B0C2-FCABC12572CB}" type="slidenum">
              <a:rPr lang="es-ES" smtClean="0"/>
              <a:t>23</a:t>
            </a:fld>
            <a:endParaRPr lang="es-ES"/>
          </a:p>
        </p:txBody>
      </p:sp>
    </p:spTree>
    <p:extLst>
      <p:ext uri="{BB962C8B-B14F-4D97-AF65-F5344CB8AC3E}">
        <p14:creationId xmlns:p14="http://schemas.microsoft.com/office/powerpoint/2010/main" val="992840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1E834F-70BE-EC21-DFF8-99451E4EDB3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BE9BDD9-4141-4C0A-3A48-35655B72408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9053509-BF1C-B073-3D16-536AAB95F379}"/>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964DB6E1-DB2A-2D79-0E97-C351A7E6ECED}"/>
              </a:ext>
            </a:extLst>
          </p:cNvPr>
          <p:cNvSpPr>
            <a:spLocks noGrp="1"/>
          </p:cNvSpPr>
          <p:nvPr>
            <p:ph type="sldNum" sz="quarter" idx="5"/>
          </p:nvPr>
        </p:nvSpPr>
        <p:spPr/>
        <p:txBody>
          <a:bodyPr/>
          <a:lstStyle/>
          <a:p>
            <a:fld id="{355540E1-3473-46DF-B0C2-FCABC12572CB}" type="slidenum">
              <a:rPr lang="es-ES" smtClean="0"/>
              <a:t>24</a:t>
            </a:fld>
            <a:endParaRPr lang="es-ES"/>
          </a:p>
        </p:txBody>
      </p:sp>
    </p:spTree>
    <p:extLst>
      <p:ext uri="{BB962C8B-B14F-4D97-AF65-F5344CB8AC3E}">
        <p14:creationId xmlns:p14="http://schemas.microsoft.com/office/powerpoint/2010/main" val="22219862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D5B83-5B97-6330-C37D-8A949BB4BF2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D805FDD-B363-A1A9-AD58-C824B5AF01C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47EB0D3-981A-74BB-FCF8-11CDEC22204E}"/>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87BF9DCA-0004-C62D-CA2B-6813E57C68DE}"/>
              </a:ext>
            </a:extLst>
          </p:cNvPr>
          <p:cNvSpPr>
            <a:spLocks noGrp="1"/>
          </p:cNvSpPr>
          <p:nvPr>
            <p:ph type="sldNum" sz="quarter" idx="5"/>
          </p:nvPr>
        </p:nvSpPr>
        <p:spPr/>
        <p:txBody>
          <a:bodyPr/>
          <a:lstStyle/>
          <a:p>
            <a:fld id="{355540E1-3473-46DF-B0C2-FCABC12572CB}" type="slidenum">
              <a:rPr lang="es-ES" smtClean="0"/>
              <a:t>25</a:t>
            </a:fld>
            <a:endParaRPr lang="es-ES"/>
          </a:p>
        </p:txBody>
      </p:sp>
    </p:spTree>
    <p:extLst>
      <p:ext uri="{BB962C8B-B14F-4D97-AF65-F5344CB8AC3E}">
        <p14:creationId xmlns:p14="http://schemas.microsoft.com/office/powerpoint/2010/main" val="39763381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C1F59-287D-9177-FDB3-5630934552C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182C79F-4C74-0FF1-0F3D-BAB8A20A8FC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6B4D87D-908B-7A3F-F50C-602CEC5CB0E9}"/>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4E77ECEC-0FD5-BE27-F803-AAE2A485AAD0}"/>
              </a:ext>
            </a:extLst>
          </p:cNvPr>
          <p:cNvSpPr>
            <a:spLocks noGrp="1"/>
          </p:cNvSpPr>
          <p:nvPr>
            <p:ph type="sldNum" sz="quarter" idx="5"/>
          </p:nvPr>
        </p:nvSpPr>
        <p:spPr/>
        <p:txBody>
          <a:bodyPr/>
          <a:lstStyle/>
          <a:p>
            <a:fld id="{355540E1-3473-46DF-B0C2-FCABC12572CB}" type="slidenum">
              <a:rPr lang="es-ES" smtClean="0"/>
              <a:t>26</a:t>
            </a:fld>
            <a:endParaRPr lang="es-ES"/>
          </a:p>
        </p:txBody>
      </p:sp>
    </p:spTree>
    <p:extLst>
      <p:ext uri="{BB962C8B-B14F-4D97-AF65-F5344CB8AC3E}">
        <p14:creationId xmlns:p14="http://schemas.microsoft.com/office/powerpoint/2010/main" val="17723571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9ABE2-BC66-321F-3052-F97A9F18994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F16C324-31F7-4EEE-80EB-E8D5EA5E3F7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0907C36-ACF5-C0A8-DA5F-ED4571B9D26D}"/>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4CE005F1-D7DE-05D8-2D1F-E237CEF77470}"/>
              </a:ext>
            </a:extLst>
          </p:cNvPr>
          <p:cNvSpPr>
            <a:spLocks noGrp="1"/>
          </p:cNvSpPr>
          <p:nvPr>
            <p:ph type="sldNum" sz="quarter" idx="5"/>
          </p:nvPr>
        </p:nvSpPr>
        <p:spPr/>
        <p:txBody>
          <a:bodyPr/>
          <a:lstStyle/>
          <a:p>
            <a:fld id="{355540E1-3473-46DF-B0C2-FCABC12572CB}" type="slidenum">
              <a:rPr lang="es-ES" smtClean="0"/>
              <a:t>27</a:t>
            </a:fld>
            <a:endParaRPr lang="es-ES"/>
          </a:p>
        </p:txBody>
      </p:sp>
    </p:spTree>
    <p:extLst>
      <p:ext uri="{BB962C8B-B14F-4D97-AF65-F5344CB8AC3E}">
        <p14:creationId xmlns:p14="http://schemas.microsoft.com/office/powerpoint/2010/main" val="34063693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7AC70-7B43-5826-6826-4AC544455FF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A265AAE-C331-6597-CED7-D75C458E5AE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4487371-FE80-9AB3-C45E-4618BE68468E}"/>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01745F5C-74C8-C53D-DC2E-54BFF26E9C9E}"/>
              </a:ext>
            </a:extLst>
          </p:cNvPr>
          <p:cNvSpPr>
            <a:spLocks noGrp="1"/>
          </p:cNvSpPr>
          <p:nvPr>
            <p:ph type="sldNum" sz="quarter" idx="5"/>
          </p:nvPr>
        </p:nvSpPr>
        <p:spPr/>
        <p:txBody>
          <a:bodyPr/>
          <a:lstStyle/>
          <a:p>
            <a:fld id="{355540E1-3473-46DF-B0C2-FCABC12572CB}" type="slidenum">
              <a:rPr lang="es-ES" smtClean="0"/>
              <a:t>28</a:t>
            </a:fld>
            <a:endParaRPr lang="es-ES"/>
          </a:p>
        </p:txBody>
      </p:sp>
    </p:spTree>
    <p:extLst>
      <p:ext uri="{BB962C8B-B14F-4D97-AF65-F5344CB8AC3E}">
        <p14:creationId xmlns:p14="http://schemas.microsoft.com/office/powerpoint/2010/main" val="360962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D9D74-53B5-5FAC-32C4-307C70D2F57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1B67241-8737-C58D-715D-3E6C61C60E8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F65A233-6071-853B-32BD-78E26DF89F34}"/>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D6B93242-1223-15C7-0B6F-3CC4CDA863E5}"/>
              </a:ext>
            </a:extLst>
          </p:cNvPr>
          <p:cNvSpPr>
            <a:spLocks noGrp="1"/>
          </p:cNvSpPr>
          <p:nvPr>
            <p:ph type="sldNum" sz="quarter" idx="5"/>
          </p:nvPr>
        </p:nvSpPr>
        <p:spPr/>
        <p:txBody>
          <a:bodyPr/>
          <a:lstStyle/>
          <a:p>
            <a:fld id="{355540E1-3473-46DF-B0C2-FCABC12572CB}" type="slidenum">
              <a:rPr lang="es-ES" smtClean="0"/>
              <a:t>29</a:t>
            </a:fld>
            <a:endParaRPr lang="es-ES"/>
          </a:p>
        </p:txBody>
      </p:sp>
    </p:spTree>
    <p:extLst>
      <p:ext uri="{BB962C8B-B14F-4D97-AF65-F5344CB8AC3E}">
        <p14:creationId xmlns:p14="http://schemas.microsoft.com/office/powerpoint/2010/main" val="2546027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0227E8-3673-4DF1-8304-14EC0DAFD7F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185114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0227E8-3673-4DF1-8304-14EC0DAFD7F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97406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0227E8-3673-4DF1-8304-14EC0DAFD7F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6484117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25354-333D-7F6C-5366-9A787086B7E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6BD2428-7C91-23BD-0BC0-D71FAE7EF2C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D9013E0-058A-67F8-8410-09A2A9F568F9}"/>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FA50F8F2-9AB1-39F2-A613-B0404A12AFA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0227E8-3673-4DF1-8304-14EC0DAFD7F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775650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C8182-E831-EDAC-5CA3-EDBAA8F62E4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8C51902-F7BC-9C41-6330-2D47F2DBC31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93D2B64-B9EA-E58F-6961-86DF75B36099}"/>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2FB170DC-5B51-2400-9D14-B93E4F82495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0227E8-3673-4DF1-8304-14EC0DAFD7F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7612247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A2038-986A-72DE-9D92-20D74CE3592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E5763DD-2E69-BB4A-F59B-C3C22A456FF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5049494-D5D9-F6BE-E93C-5A0C019C73D2}"/>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D122BEB2-7BF7-9C6F-D7AC-CF92932D959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0227E8-3673-4DF1-8304-14EC0DAFD7F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8930678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F2777-2494-044E-19CE-588C67B2BC9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160A3D4-55C3-4EBF-0AB6-A554C02E554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FE25F9E-91B3-5E87-AEF0-834E8A4BE763}"/>
              </a:ext>
            </a:extLst>
          </p:cNvPr>
          <p:cNvSpPr>
            <a:spLocks noGrp="1"/>
          </p:cNvSpPr>
          <p:nvPr>
            <p:ph type="body" idx="1"/>
          </p:nvPr>
        </p:nvSpPr>
        <p:spPr/>
        <p:txBody>
          <a:bodyPr/>
          <a:lstStyle/>
          <a:p>
            <a:endParaRPr lang="en-US"/>
          </a:p>
        </p:txBody>
      </p:sp>
      <p:sp>
        <p:nvSpPr>
          <p:cNvPr id="4" name="Marcador de número de diapositiva 3">
            <a:extLst>
              <a:ext uri="{FF2B5EF4-FFF2-40B4-BE49-F238E27FC236}">
                <a16:creationId xmlns:a16="http://schemas.microsoft.com/office/drawing/2014/main" id="{FBB0BAA1-7BD5-30F9-825E-BCAF8FD57BA1}"/>
              </a:ext>
            </a:extLst>
          </p:cNvPr>
          <p:cNvSpPr>
            <a:spLocks noGrp="1"/>
          </p:cNvSpPr>
          <p:nvPr>
            <p:ph type="sldNum" sz="quarter" idx="5"/>
          </p:nvPr>
        </p:nvSpPr>
        <p:spPr/>
        <p:txBody>
          <a:bodyPr/>
          <a:lstStyle/>
          <a:p>
            <a:fld id="{170227E8-3673-4DF1-8304-14EC0DAFD7FD}" type="slidenum">
              <a:rPr lang="es-ES" smtClean="0"/>
              <a:t>37</a:t>
            </a:fld>
            <a:endParaRPr lang="es-ES"/>
          </a:p>
        </p:txBody>
      </p:sp>
    </p:spTree>
    <p:extLst>
      <p:ext uri="{BB962C8B-B14F-4D97-AF65-F5344CB8AC3E}">
        <p14:creationId xmlns:p14="http://schemas.microsoft.com/office/powerpoint/2010/main" val="69839703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A6F3C-D790-E329-8294-D62D1C486B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0A9216-6637-05E8-10DE-4E34486C29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1768FD-F795-B150-DC74-8513268681A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C0FB37A-1D4E-1EC9-95D0-7D7AC6403152}"/>
              </a:ext>
            </a:extLst>
          </p:cNvPr>
          <p:cNvSpPr>
            <a:spLocks noGrp="1"/>
          </p:cNvSpPr>
          <p:nvPr>
            <p:ph type="sldNum" sz="quarter" idx="5"/>
          </p:nvPr>
        </p:nvSpPr>
        <p:spPr/>
        <p:txBody>
          <a:bodyPr/>
          <a:lstStyle/>
          <a:p>
            <a:pPr marL="0" marR="0" lvl="0" indent="0" algn="r" defTabSz="914334" rtl="0" eaLnBrk="1" fontAlgn="auto" latinLnBrk="0" hangingPunct="1">
              <a:lnSpc>
                <a:spcPct val="100000"/>
              </a:lnSpc>
              <a:spcBef>
                <a:spcPts val="0"/>
              </a:spcBef>
              <a:spcAft>
                <a:spcPts val="0"/>
              </a:spcAft>
              <a:buClrTx/>
              <a:buSzTx/>
              <a:buFontTx/>
              <a:buNone/>
              <a:tabLst/>
              <a:defRPr/>
            </a:pPr>
            <a:fld id="{86C56D50-BA68-4374-9F5F-3811B07534FA}" type="slidenum">
              <a:rPr kumimoji="0" lang="en-US" sz="11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334" rtl="0" eaLnBrk="1" fontAlgn="auto" latinLnBrk="0" hangingPunct="1">
                <a:lnSpc>
                  <a:spcPct val="100000"/>
                </a:lnSpc>
                <a:spcBef>
                  <a:spcPts val="0"/>
                </a:spcBef>
                <a:spcAft>
                  <a:spcPts val="0"/>
                </a:spcAft>
                <a:buClrTx/>
                <a:buSzTx/>
                <a:buFontTx/>
                <a:buNone/>
                <a:tabLst/>
                <a:defRPr/>
              </a:pPr>
              <a:t>38</a:t>
            </a:fld>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00553439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690C4-334F-A74D-766B-2E30F66B9B1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9ECAC01-0FF2-FB40-C7CD-D20984E6365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C3316D3-8AD4-3B2A-6FEC-D95597FD9521}"/>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6E55B078-6BFE-A865-7187-0CCB26E5C9A7}"/>
              </a:ext>
            </a:extLst>
          </p:cNvPr>
          <p:cNvSpPr>
            <a:spLocks noGrp="1"/>
          </p:cNvSpPr>
          <p:nvPr>
            <p:ph type="sldNum" sz="quarter" idx="5"/>
          </p:nvPr>
        </p:nvSpPr>
        <p:spPr/>
        <p:txBody>
          <a:bodyPr/>
          <a:lstStyle/>
          <a:p>
            <a:fld id="{355540E1-3473-46DF-B0C2-FCABC12572CB}" type="slidenum">
              <a:rPr lang="es-ES" smtClean="0"/>
              <a:t>39</a:t>
            </a:fld>
            <a:endParaRPr lang="es-ES"/>
          </a:p>
        </p:txBody>
      </p:sp>
    </p:spTree>
    <p:extLst>
      <p:ext uri="{BB962C8B-B14F-4D97-AF65-F5344CB8AC3E}">
        <p14:creationId xmlns:p14="http://schemas.microsoft.com/office/powerpoint/2010/main" val="145225983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C9183-D00A-EA80-8E6E-50A567D4737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3C287BD-2681-6603-E8C8-63910021668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DD78E8B-88F7-601C-2A91-DB3C1EAB4DF0}"/>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17C7B9DB-03C6-878F-78BD-23F600925F7F}"/>
              </a:ext>
            </a:extLst>
          </p:cNvPr>
          <p:cNvSpPr>
            <a:spLocks noGrp="1"/>
          </p:cNvSpPr>
          <p:nvPr>
            <p:ph type="sldNum" sz="quarter" idx="5"/>
          </p:nvPr>
        </p:nvSpPr>
        <p:spPr/>
        <p:txBody>
          <a:bodyPr/>
          <a:lstStyle/>
          <a:p>
            <a:fld id="{355540E1-3473-46DF-B0C2-FCABC12572CB}" type="slidenum">
              <a:rPr lang="es-ES" smtClean="0"/>
              <a:t>40</a:t>
            </a:fld>
            <a:endParaRPr lang="es-ES"/>
          </a:p>
        </p:txBody>
      </p:sp>
    </p:spTree>
    <p:extLst>
      <p:ext uri="{BB962C8B-B14F-4D97-AF65-F5344CB8AC3E}">
        <p14:creationId xmlns:p14="http://schemas.microsoft.com/office/powerpoint/2010/main" val="118624191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AE00E-6751-FDDD-555A-336764B30A1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EEF64E5-FC17-5212-1407-4427181ACE5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E5AB31F-DDAC-122F-C5D6-FD46DEEBA447}"/>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B90CAF8B-9154-2980-5622-0ACF267922E2}"/>
              </a:ext>
            </a:extLst>
          </p:cNvPr>
          <p:cNvSpPr>
            <a:spLocks noGrp="1"/>
          </p:cNvSpPr>
          <p:nvPr>
            <p:ph type="sldNum" sz="quarter" idx="5"/>
          </p:nvPr>
        </p:nvSpPr>
        <p:spPr/>
        <p:txBody>
          <a:bodyPr/>
          <a:lstStyle/>
          <a:p>
            <a:fld id="{355540E1-3473-46DF-B0C2-FCABC12572CB}" type="slidenum">
              <a:rPr lang="es-ES" smtClean="0"/>
              <a:t>41</a:t>
            </a:fld>
            <a:endParaRPr lang="es-ES"/>
          </a:p>
        </p:txBody>
      </p:sp>
    </p:spTree>
    <p:extLst>
      <p:ext uri="{BB962C8B-B14F-4D97-AF65-F5344CB8AC3E}">
        <p14:creationId xmlns:p14="http://schemas.microsoft.com/office/powerpoint/2010/main" val="9928400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9FCCA-BBFB-8349-D625-2212B205A09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1B9F0F7-624B-3BC8-F157-9BD3E7A09C0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28643AB-0B7D-7524-D428-0275B999380D}"/>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B10F6AFF-C007-9BDD-3832-FE08517EF2D1}"/>
              </a:ext>
            </a:extLst>
          </p:cNvPr>
          <p:cNvSpPr>
            <a:spLocks noGrp="1"/>
          </p:cNvSpPr>
          <p:nvPr>
            <p:ph type="sldNum" sz="quarter" idx="5"/>
          </p:nvPr>
        </p:nvSpPr>
        <p:spPr/>
        <p:txBody>
          <a:bodyPr/>
          <a:lstStyle/>
          <a:p>
            <a:fld id="{355540E1-3473-46DF-B0C2-FCABC12572CB}" type="slidenum">
              <a:rPr lang="es-ES" smtClean="0"/>
              <a:t>42</a:t>
            </a:fld>
            <a:endParaRPr lang="es-ES"/>
          </a:p>
        </p:txBody>
      </p:sp>
    </p:spTree>
    <p:extLst>
      <p:ext uri="{BB962C8B-B14F-4D97-AF65-F5344CB8AC3E}">
        <p14:creationId xmlns:p14="http://schemas.microsoft.com/office/powerpoint/2010/main" val="419455358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F74DE-78FA-EC64-CE23-C253CD3BBBD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A1FC8AA-DC9D-CD06-DF88-B72E1B85FCE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2CA8679-C31D-EF19-CC01-7A47208968CE}"/>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A06BF384-EAAA-8545-21AD-86E534F21A92}"/>
              </a:ext>
            </a:extLst>
          </p:cNvPr>
          <p:cNvSpPr>
            <a:spLocks noGrp="1"/>
          </p:cNvSpPr>
          <p:nvPr>
            <p:ph type="sldNum" sz="quarter" idx="5"/>
          </p:nvPr>
        </p:nvSpPr>
        <p:spPr/>
        <p:txBody>
          <a:bodyPr/>
          <a:lstStyle/>
          <a:p>
            <a:fld id="{355540E1-3473-46DF-B0C2-FCABC12572CB}" type="slidenum">
              <a:rPr lang="es-ES" smtClean="0"/>
              <a:t>43</a:t>
            </a:fld>
            <a:endParaRPr lang="es-ES"/>
          </a:p>
        </p:txBody>
      </p:sp>
    </p:spTree>
    <p:extLst>
      <p:ext uri="{BB962C8B-B14F-4D97-AF65-F5344CB8AC3E}">
        <p14:creationId xmlns:p14="http://schemas.microsoft.com/office/powerpoint/2010/main" val="124979774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C1F59-287D-9177-FDB3-5630934552C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182C79F-4C74-0FF1-0F3D-BAB8A20A8FC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6B4D87D-908B-7A3F-F50C-602CEC5CB0E9}"/>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4E77ECEC-0FD5-BE27-F803-AAE2A485AAD0}"/>
              </a:ext>
            </a:extLst>
          </p:cNvPr>
          <p:cNvSpPr>
            <a:spLocks noGrp="1"/>
          </p:cNvSpPr>
          <p:nvPr>
            <p:ph type="sldNum" sz="quarter" idx="5"/>
          </p:nvPr>
        </p:nvSpPr>
        <p:spPr/>
        <p:txBody>
          <a:bodyPr/>
          <a:lstStyle/>
          <a:p>
            <a:fld id="{355540E1-3473-46DF-B0C2-FCABC12572CB}" type="slidenum">
              <a:rPr lang="es-ES" smtClean="0"/>
              <a:t>44</a:t>
            </a:fld>
            <a:endParaRPr lang="es-ES"/>
          </a:p>
        </p:txBody>
      </p:sp>
    </p:spTree>
    <p:extLst>
      <p:ext uri="{BB962C8B-B14F-4D97-AF65-F5344CB8AC3E}">
        <p14:creationId xmlns:p14="http://schemas.microsoft.com/office/powerpoint/2010/main" val="177235710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7AC70-7B43-5826-6826-4AC544455FF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A265AAE-C331-6597-CED7-D75C458E5AE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4487371-FE80-9AB3-C45E-4618BE68468E}"/>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01745F5C-74C8-C53D-DC2E-54BFF26E9C9E}"/>
              </a:ext>
            </a:extLst>
          </p:cNvPr>
          <p:cNvSpPr>
            <a:spLocks noGrp="1"/>
          </p:cNvSpPr>
          <p:nvPr>
            <p:ph type="sldNum" sz="quarter" idx="5"/>
          </p:nvPr>
        </p:nvSpPr>
        <p:spPr/>
        <p:txBody>
          <a:bodyPr/>
          <a:lstStyle/>
          <a:p>
            <a:fld id="{355540E1-3473-46DF-B0C2-FCABC12572CB}" type="slidenum">
              <a:rPr lang="es-ES" smtClean="0"/>
              <a:t>45</a:t>
            </a:fld>
            <a:endParaRPr lang="es-ES"/>
          </a:p>
        </p:txBody>
      </p:sp>
    </p:spTree>
    <p:extLst>
      <p:ext uri="{BB962C8B-B14F-4D97-AF65-F5344CB8AC3E}">
        <p14:creationId xmlns:p14="http://schemas.microsoft.com/office/powerpoint/2010/main" val="3609623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D9D74-53B5-5FAC-32C4-307C70D2F57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1B67241-8737-C58D-715D-3E6C61C60E8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F65A233-6071-853B-32BD-78E26DF89F34}"/>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D6B93242-1223-15C7-0B6F-3CC4CDA863E5}"/>
              </a:ext>
            </a:extLst>
          </p:cNvPr>
          <p:cNvSpPr>
            <a:spLocks noGrp="1"/>
          </p:cNvSpPr>
          <p:nvPr>
            <p:ph type="sldNum" sz="quarter" idx="5"/>
          </p:nvPr>
        </p:nvSpPr>
        <p:spPr/>
        <p:txBody>
          <a:bodyPr/>
          <a:lstStyle/>
          <a:p>
            <a:fld id="{355540E1-3473-46DF-B0C2-FCABC12572CB}" type="slidenum">
              <a:rPr lang="es-ES" smtClean="0"/>
              <a:t>46</a:t>
            </a:fld>
            <a:endParaRPr lang="es-ES"/>
          </a:p>
        </p:txBody>
      </p:sp>
    </p:spTree>
    <p:extLst>
      <p:ext uri="{BB962C8B-B14F-4D97-AF65-F5344CB8AC3E}">
        <p14:creationId xmlns:p14="http://schemas.microsoft.com/office/powerpoint/2010/main" val="25460271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978D618-BBD3-4FF5-9218-0E9FEB4B2F82}"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7867212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0227E8-3673-4DF1-8304-14EC0DAFD7F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3356772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8B643-D431-500B-E071-D2B4B098BD7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983EE42-92F9-C04A-BABA-5B83A0147C6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66350C4-92FE-FCF8-9F32-D8EF3387A745}"/>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4894ED73-79A2-76B2-4519-1B7072831CC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0227E8-3673-4DF1-8304-14EC0DAFD7F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0307468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0227E8-3673-4DF1-8304-14EC0DAFD7F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6737254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2B001-BF05-7C2E-EFC2-41DA24EE874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97561A7-87FE-119A-5023-57F7934B7F6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6A40B2D-E89C-2CA2-98C1-24AE582AF24B}"/>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340F29A4-6E7E-5E89-D620-28739AF9D40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0227E8-3673-4DF1-8304-14EC0DAFD7F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4609985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10115-708D-ADA6-14FF-15441B033DD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A50E33F-5EB2-5EE7-19F8-D01FEAA56D1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3304CF3-9A86-C688-7C31-D71E05B59074}"/>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2D1152C0-BF4B-6FA2-7B9E-DAD3B1C3BA7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0227E8-3673-4DF1-8304-14EC0DAFD7F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1240447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CE9E9-960C-7DFC-7E57-0421BA7E208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374D922-0F5E-319D-BBAB-D0E0DF35B0E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C65F06B-97F6-A477-E0FB-E01B41E67207}"/>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FDE82DC1-5AAE-5F7B-FCFA-5E38D0277CB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0227E8-3673-4DF1-8304-14EC0DAFD7F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9902405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8C705-F8F8-DB21-6A2D-836052ECB52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89C78E0-73A2-CAA6-BC9F-472EC8FBECC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F3D24E5-9CD7-A245-482F-C12E071BF69E}"/>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CD9E3B10-4D0A-5C1C-855A-547E04BF364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0227E8-3673-4DF1-8304-14EC0DAFD7F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2638684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862A7-3E6B-11DD-30EB-D8957681A23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9F98510-3E2E-267D-0C21-36940A165EA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F12781F-CF56-73C0-8650-3908CC7A47EB}"/>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1CA8D679-A745-90C4-5A5A-9AE9571662D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0227E8-3673-4DF1-8304-14EC0DAFD7F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9955134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0227E8-3673-4DF1-8304-14EC0DAFD7F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5662923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0227E8-3673-4DF1-8304-14EC0DAFD7F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4336120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2A8EA-B982-DA85-6D8A-BB5A05DCA6F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7A6D20C-D17F-9EDB-1D40-A01CE7D988D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7BCD701-7EFF-4FAB-00EC-2B834E35D2C0}"/>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D3274CDD-7363-B366-5289-2282E60D09A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0227E8-3673-4DF1-8304-14EC0DAFD7F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3056717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6C6A1-1ACA-7E31-EE39-C8B3A7E15DA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CC0D9B-E11F-0B5F-AF3F-86E16B26B4B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801D00C-96E8-CCF9-980B-8E1EA3A4BE9F}"/>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5805AB1A-40E6-E61A-C772-FB59487CB50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0227E8-3673-4DF1-8304-14EC0DAFD7F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2582492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4B4C6-3994-6DFC-CF35-CBB5618338D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EE96617-53B2-989F-8A4E-384561A3E6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CFC1ADF-BEDE-EB0A-7E82-2D055063B195}"/>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E9D6F0F0-7C84-E49D-777E-A5BFEF64637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0227E8-3673-4DF1-8304-14EC0DAFD7F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1489822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44A10-B8BB-26A4-2E7D-A13B32A19FE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DD82C20-B818-BF94-ABA8-B15D0F13FDD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24CF535-04E7-89C7-03F5-0C99DEC65399}"/>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A9E41E03-08A4-FD9A-F970-AF02DDFF724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0227E8-3673-4DF1-8304-14EC0DAFD7F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8044356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0227E8-3673-4DF1-8304-14EC0DAFD7F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6737254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6766B-55E7-468C-2BB4-8644CB66B5B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9FAD09E-8C5F-9F8F-D446-D88BCDC6EA4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F40FA63-DCDD-732E-86D5-487C2C0BCBE0}"/>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6F7BA0F1-0A10-EB7E-2025-9D41B970077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0227E8-3673-4DF1-8304-14EC0DAFD7F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6724071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B4DD6-D92C-9AD3-F1CC-4F850326A6C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7708E64-9A24-9722-1D37-F753F5CC095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E1EDA1D-9770-2807-5D39-A3DFF5211F0A}"/>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32CA6A6D-9E55-B6B7-1934-2C8739DBCBF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0227E8-3673-4DF1-8304-14EC0DAFD7F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5026684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4C69D-665A-EE32-5229-66A1850BF74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22186B7-4798-87A9-4577-CE327E01B09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2378A38-8017-9B75-2775-9974B47C6A11}"/>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E4AA63F8-FD7B-27B6-84F2-BA11B276FC7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0227E8-3673-4DF1-8304-14EC0DAFD7F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8205921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0227E8-3673-4DF1-8304-14EC0DAFD7F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4141309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0227E8-3673-4DF1-8304-14EC0DAFD7F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4166369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0227E8-3673-4DF1-8304-14EC0DAFD7F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69</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5496761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0227E8-3673-4DF1-8304-14EC0DAFD7F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8051729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0227E8-3673-4DF1-8304-14EC0DAFD7F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71</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1557935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0227E8-3673-4DF1-8304-14EC0DAFD7F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72</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5654364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0227E8-3673-4DF1-8304-14EC0DAFD7F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73</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9173717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F08D8-FF30-CCA3-6224-BDFFB306645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DD5C4A0-8503-49A1-C2A6-F5DFB26DBEA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82AE9DB-6760-6C37-1292-5BE6984B1BA5}"/>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72DC0A89-BBA7-2ADF-2031-194AEF492B8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0227E8-3673-4DF1-8304-14EC0DAFD7F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74</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5234196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1B1C6-83C3-7D53-5CAE-27C6C20F4A8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2CF005A-D68B-B738-6B19-B334B4370DC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2205F58-2282-5D4A-9C38-E3679644EC03}"/>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A18519E1-74B0-99F9-536C-7D8FAA41B03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0227E8-3673-4DF1-8304-14EC0DAFD7F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75</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011797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0227E8-3673-4DF1-8304-14EC0DAFD7F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76</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3882340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0227E8-3673-4DF1-8304-14EC0DAFD7F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77</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0671381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0227E8-3673-4DF1-8304-14EC0DAFD7F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78</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5799579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0227E8-3673-4DF1-8304-14EC0DAFD7F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79</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5324282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C226A-4F12-03B9-6558-78728033554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4D53516-2E24-55AF-51B8-E29D571E09D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B5A5189-8A23-EEBB-DC5B-19519E3B7F98}"/>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85EEAF38-D683-54DE-440B-D2B7A814BB1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0227E8-3673-4DF1-8304-14EC0DAFD7F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80</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3340842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88F169-9F26-4EFD-8FAF-86D27DD47AA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B095094-6CF7-5320-710C-1F31D9F9990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7A14FC7-5056-2280-D08A-682A15837FB6}"/>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71A9A035-2E79-FE59-42C1-161F91A99A3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0227E8-3673-4DF1-8304-14EC0DAFD7F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81</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6319607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22A2D-1066-62F6-F89E-2D107B1190B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F3E16B7-C0C5-7310-1810-FBCE0100398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9D04575-2240-6E1C-587D-58E7A340786A}"/>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DD12C56B-4817-8667-FBA2-9C90419894F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0227E8-3673-4DF1-8304-14EC0DAFD7F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82</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7894640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C6B055-8F18-6FCC-87E1-9FBDC93761E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3372E98-E0BF-FE1F-754E-A39451EE5E1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B822FCE-0667-26E5-DBA0-6F2D1E1F7F86}"/>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8449505D-C753-5D2A-2FD0-D892A12FADD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0227E8-3673-4DF1-8304-14EC0DAFD7F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83</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3575864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47DA7-BFAB-0D73-CA6F-3CF87CC984C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8869BAF-ECBB-67DD-9C88-20548F9FAB0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3BDBA50-10B6-E067-BF2F-C7B9DD75C969}"/>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7E13C03C-FABB-9647-915A-246CA830B51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0227E8-3673-4DF1-8304-14EC0DAFD7F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84</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4244027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20F13-A90B-604A-D5F3-A1052C91F43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9A58383-8DF6-B072-8015-2DF0EB9AEFE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B906A3D-5D7F-C42E-43F0-1A69556584F2}"/>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4CA062D8-882C-3057-854E-FF09571B893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0227E8-3673-4DF1-8304-14EC0DAFD7F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85</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4965845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2B7AD-841F-B6CB-DD15-A3E0DE39666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212C17D-D908-BFF7-000E-F5237B4D7B7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4EE5313-FDE3-EB68-E6B0-4072E4C3B9D1}"/>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89733DEE-3A24-5F45-79D7-1344F09A7BA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0227E8-3673-4DF1-8304-14EC0DAFD7F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86</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136114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9AF61-721B-69A0-9BD4-28E899CCF20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EE1A85D-CFBE-45BF-FF0A-4C4F73C6545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EFFA19C-4800-0440-7E0E-0D5F74397321}"/>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C3CAE416-DE3A-AEDF-6FC9-77444714BC3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0227E8-3673-4DF1-8304-14EC0DAFD7F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87</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77662074"/>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08499-ED63-4D22-F774-F5A4F850B5F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8D0B7F8-243C-1AF3-149F-A02AEE30D3A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0C8ACCB-C188-FFA1-BE3E-72EE2C1D75F9}"/>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399A1E73-838A-EB40-E7EC-877DEAE9D38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0227E8-3673-4DF1-8304-14EC0DAFD7F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88</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3878674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E3E3A-C268-B18B-15F0-0D88A90E7B3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78335D5-96DD-0426-6D3A-A11FF1AB642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9D05B24-D60B-C1C5-4001-A6E20BC5E55B}"/>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0B24E5E3-534C-615F-2B57-B819C9DDC76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0227E8-3673-4DF1-8304-14EC0DAFD7F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89</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49841460"/>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8A03C-98F1-4E62-E5D8-F33CF3D5371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A255C81-BAD2-27E8-A7C7-FE0D0EEA322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ECDE22D-DD2A-E65F-B018-DCB82DDFEBDD}"/>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8883C680-2392-CF73-CC48-C092C9402BB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0227E8-3673-4DF1-8304-14EC0DAFD7F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90</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629832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CEC64-5BF0-E30E-90FA-DAFA9872639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271FE9F-D233-0760-1F91-ECE7DB52BCF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342890C-F5A5-93EC-F21A-8D78A42BDB27}"/>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25CED571-39FF-BA90-7CBE-1B76AA2BC70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0227E8-3673-4DF1-8304-14EC0DAFD7F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91</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089131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tags" Target="../tags/tag3.x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6.xml"/><Relationship Id="rId1" Type="http://schemas.openxmlformats.org/officeDocument/2006/relationships/tags" Target="../tags/tag5.x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4.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2.xml"/><Relationship Id="rId1" Type="http://schemas.openxmlformats.org/officeDocument/2006/relationships/tags" Target="../tags/tag9.xml"/><Relationship Id="rId4" Type="http://schemas.openxmlformats.org/officeDocument/2006/relationships/image" Target="../media/image4.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2.xml"/><Relationship Id="rId1" Type="http://schemas.openxmlformats.org/officeDocument/2006/relationships/tags" Target="../tags/tag10.xml"/><Relationship Id="rId4" Type="http://schemas.openxmlformats.org/officeDocument/2006/relationships/image" Target="../media/image4.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2.xml"/><Relationship Id="rId1" Type="http://schemas.openxmlformats.org/officeDocument/2006/relationships/tags" Target="../tags/tag11.xml"/><Relationship Id="rId4" Type="http://schemas.openxmlformats.org/officeDocument/2006/relationships/image" Target="../media/image4.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2.xml"/><Relationship Id="rId1" Type="http://schemas.openxmlformats.org/officeDocument/2006/relationships/tags" Target="../tags/tag12.xml"/><Relationship Id="rId4" Type="http://schemas.openxmlformats.org/officeDocument/2006/relationships/image" Target="../media/image4.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2.xml"/><Relationship Id="rId1" Type="http://schemas.openxmlformats.org/officeDocument/2006/relationships/tags" Target="../tags/tag13.xml"/><Relationship Id="rId4" Type="http://schemas.openxmlformats.org/officeDocument/2006/relationships/image" Target="../media/image4.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14.xml"/><Relationship Id="rId4" Type="http://schemas.openxmlformats.org/officeDocument/2006/relationships/image" Target="../media/image4.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2.xml"/><Relationship Id="rId1" Type="http://schemas.openxmlformats.org/officeDocument/2006/relationships/tags" Target="../tags/tag15.xml"/><Relationship Id="rId4" Type="http://schemas.openxmlformats.org/officeDocument/2006/relationships/image" Target="../media/image4.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2.xml"/><Relationship Id="rId1" Type="http://schemas.openxmlformats.org/officeDocument/2006/relationships/tags" Target="../tags/tag16.xml"/><Relationship Id="rId4" Type="http://schemas.openxmlformats.org/officeDocument/2006/relationships/image" Target="../media/image4.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2.xml"/><Relationship Id="rId1" Type="http://schemas.openxmlformats.org/officeDocument/2006/relationships/tags" Target="../tags/tag17.xml"/><Relationship Id="rId4" Type="http://schemas.openxmlformats.org/officeDocument/2006/relationships/image" Target="../media/image4.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2.xml"/><Relationship Id="rId1" Type="http://schemas.openxmlformats.org/officeDocument/2006/relationships/tags" Target="../tags/tag18.xml"/><Relationship Id="rId4" Type="http://schemas.openxmlformats.org/officeDocument/2006/relationships/image" Target="../media/image4.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2.xml"/><Relationship Id="rId1" Type="http://schemas.openxmlformats.org/officeDocument/2006/relationships/tags" Target="../tags/tag19.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4.emf"/></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2.xml"/><Relationship Id="rId1" Type="http://schemas.openxmlformats.org/officeDocument/2006/relationships/tags" Target="../tags/tag20.xml"/><Relationship Id="rId5" Type="http://schemas.openxmlformats.org/officeDocument/2006/relationships/image" Target="../media/image6.svg"/><Relationship Id="rId4" Type="http://schemas.openxmlformats.org/officeDocument/2006/relationships/image" Target="../media/image5.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age white">
    <p:spTree>
      <p:nvGrpSpPr>
        <p:cNvPr id="1" name=""/>
        <p:cNvGrpSpPr/>
        <p:nvPr/>
      </p:nvGrpSpPr>
      <p:grpSpPr>
        <a:xfrm>
          <a:off x="0" y="0"/>
          <a:ext cx="0" cy="0"/>
          <a:chOff x="0" y="0"/>
          <a:chExt cx="0" cy="0"/>
        </a:xfrm>
      </p:grpSpPr>
      <p:sp>
        <p:nvSpPr>
          <p:cNvPr id="5" name="Marcador de texto 4">
            <a:extLst>
              <a:ext uri="{FF2B5EF4-FFF2-40B4-BE49-F238E27FC236}">
                <a16:creationId xmlns:a16="http://schemas.microsoft.com/office/drawing/2014/main" id="{D16289D3-5914-4DDC-BEF7-5A5A4BE6FF1F}"/>
              </a:ext>
            </a:extLst>
          </p:cNvPr>
          <p:cNvSpPr>
            <a:spLocks noGrp="1"/>
          </p:cNvSpPr>
          <p:nvPr>
            <p:ph type="body" sz="quarter" idx="15" hasCustomPrompt="1"/>
          </p:nvPr>
        </p:nvSpPr>
        <p:spPr>
          <a:xfrm>
            <a:off x="721745" y="1096485"/>
            <a:ext cx="4934308" cy="1407004"/>
          </a:xfrm>
        </p:spPr>
        <p:txBody>
          <a:bodyPr vert="horz" lIns="91440" tIns="45720" rIns="91440" bIns="45720" rtlCol="0" anchor="t">
            <a:normAutofit/>
          </a:bodyPr>
          <a:lstStyle>
            <a:lvl1pPr>
              <a:defRPr lang="es-ES" sz="4500" smtClean="0">
                <a:solidFill>
                  <a:srgbClr val="FF0000"/>
                </a:solidFill>
                <a:latin typeface="Santander Headline" panose="020B0504020201020104" pitchFamily="34" charset="0"/>
                <a:ea typeface="+mj-ea"/>
                <a:cs typeface="+mj-cs"/>
              </a:defRPr>
            </a:lvl1pPr>
            <a:lvl2pPr>
              <a:defRPr lang="es-ES" smtClean="0"/>
            </a:lvl2pPr>
            <a:lvl3pPr>
              <a:defRPr lang="es-ES" smtClean="0"/>
            </a:lvl3pPr>
            <a:lvl4pPr>
              <a:defRPr lang="es-ES" smtClean="0"/>
            </a:lvl4pPr>
            <a:lvl5pPr>
              <a:defRPr lang="es-ES"/>
            </a:lvl5pPr>
          </a:lstStyle>
          <a:p>
            <a:pPr lvl="0">
              <a:spcBef>
                <a:spcPct val="0"/>
              </a:spcBef>
            </a:pPr>
            <a:r>
              <a:rPr lang="en-US"/>
              <a:t>Click to edit Master title style</a:t>
            </a:r>
          </a:p>
        </p:txBody>
      </p:sp>
      <p:sp>
        <p:nvSpPr>
          <p:cNvPr id="3" name="Subtítulo 2">
            <a:extLst>
              <a:ext uri="{FF2B5EF4-FFF2-40B4-BE49-F238E27FC236}">
                <a16:creationId xmlns:a16="http://schemas.microsoft.com/office/drawing/2014/main" id="{7AB17398-CAA7-49B6-868C-44D053E7EAC0}"/>
              </a:ext>
            </a:extLst>
          </p:cNvPr>
          <p:cNvSpPr>
            <a:spLocks noGrp="1"/>
          </p:cNvSpPr>
          <p:nvPr>
            <p:ph type="subTitle" idx="1" hasCustomPrompt="1"/>
          </p:nvPr>
        </p:nvSpPr>
        <p:spPr>
          <a:xfrm>
            <a:off x="724620" y="2722142"/>
            <a:ext cx="4934309" cy="2436454"/>
          </a:xfrm>
        </p:spPr>
        <p:txBody>
          <a:bodyPr>
            <a:noAutofit/>
          </a:bodyPr>
          <a:lstStyle>
            <a:lvl1pPr marL="0" indent="0" algn="l">
              <a:lnSpc>
                <a:spcPct val="100000"/>
              </a:lnSpc>
              <a:spcBef>
                <a:spcPts val="0"/>
              </a:spcBef>
              <a:spcAft>
                <a:spcPts val="1200"/>
              </a:spcAft>
              <a:buNone/>
              <a:defRPr lang="en-US" sz="1600" kern="1200" dirty="0">
                <a:solidFill>
                  <a:schemeClr val="tx2"/>
                </a:solidFill>
                <a:latin typeface="Santander Text" panose="020B0504020201020104" pitchFamily="34"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7" name="Marcador de texto 16">
            <a:extLst>
              <a:ext uri="{FF2B5EF4-FFF2-40B4-BE49-F238E27FC236}">
                <a16:creationId xmlns:a16="http://schemas.microsoft.com/office/drawing/2014/main" id="{F5E5F18D-70E6-495C-A384-2EDAE0030937}"/>
              </a:ext>
            </a:extLst>
          </p:cNvPr>
          <p:cNvSpPr>
            <a:spLocks noGrp="1"/>
          </p:cNvSpPr>
          <p:nvPr>
            <p:ph type="body" sz="quarter" idx="14" hasCustomPrompt="1"/>
          </p:nvPr>
        </p:nvSpPr>
        <p:spPr>
          <a:xfrm>
            <a:off x="709650" y="333651"/>
            <a:ext cx="11177550" cy="419100"/>
          </a:xfrm>
        </p:spPr>
        <p:txBody>
          <a:bodyPr>
            <a:noAutofit/>
          </a:bodyPr>
          <a:lstStyle>
            <a:lvl1pPr marL="0" indent="0">
              <a:buNone/>
              <a:defRPr sz="1300">
                <a:solidFill>
                  <a:schemeClr val="tx2"/>
                </a:solidFill>
              </a:defRPr>
            </a:lvl1pPr>
            <a:lvl2pPr marL="457200" indent="0">
              <a:buNone/>
              <a:defRPr sz="1300">
                <a:solidFill>
                  <a:schemeClr val="tx2"/>
                </a:solidFill>
              </a:defRPr>
            </a:lvl2pPr>
            <a:lvl3pPr marL="914400" indent="0">
              <a:buNone/>
              <a:defRPr sz="1300">
                <a:solidFill>
                  <a:schemeClr val="tx2"/>
                </a:solidFill>
              </a:defRPr>
            </a:lvl3pPr>
            <a:lvl4pPr marL="1371600" indent="0">
              <a:buNone/>
              <a:defRPr sz="1300">
                <a:solidFill>
                  <a:schemeClr val="tx2"/>
                </a:solidFill>
              </a:defRPr>
            </a:lvl4pPr>
            <a:lvl5pPr marL="1828800" indent="0">
              <a:buNone/>
              <a:defRPr sz="1300">
                <a:solidFill>
                  <a:schemeClr val="tx2"/>
                </a:solidFill>
              </a:defRPr>
            </a:lvl5pPr>
          </a:lstStyle>
          <a:p>
            <a:pPr lvl="0"/>
            <a:r>
              <a:rPr lang="en-US"/>
              <a:t>Edit Master text styles</a:t>
            </a:r>
          </a:p>
        </p:txBody>
      </p:sp>
      <p:sp>
        <p:nvSpPr>
          <p:cNvPr id="7" name="Forma libre: forma 6">
            <a:extLst>
              <a:ext uri="{FF2B5EF4-FFF2-40B4-BE49-F238E27FC236}">
                <a16:creationId xmlns:a16="http://schemas.microsoft.com/office/drawing/2014/main" id="{67D1300D-9BA1-4612-9EA5-90328019812E}"/>
              </a:ext>
            </a:extLst>
          </p:cNvPr>
          <p:cNvSpPr/>
          <p:nvPr userDrawn="1"/>
        </p:nvSpPr>
        <p:spPr>
          <a:xfrm>
            <a:off x="0" y="5229922"/>
            <a:ext cx="12196689" cy="1628078"/>
          </a:xfrm>
          <a:custGeom>
            <a:avLst/>
            <a:gdLst>
              <a:gd name="connsiteX0" fmla="*/ 8932985 w 12196689"/>
              <a:gd name="connsiteY0" fmla="*/ 0 h 1628078"/>
              <a:gd name="connsiteX1" fmla="*/ 12196689 w 12196689"/>
              <a:gd name="connsiteY1" fmla="*/ 0 h 1628078"/>
              <a:gd name="connsiteX2" fmla="*/ 12196689 w 12196689"/>
              <a:gd name="connsiteY2" fmla="*/ 1628078 h 1628078"/>
              <a:gd name="connsiteX3" fmla="*/ 0 w 12196689"/>
              <a:gd name="connsiteY3" fmla="*/ 1628078 h 1628078"/>
              <a:gd name="connsiteX4" fmla="*/ 0 w 12196689"/>
              <a:gd name="connsiteY4" fmla="*/ 1213081 h 1628078"/>
              <a:gd name="connsiteX5" fmla="*/ 8932985 w 12196689"/>
              <a:gd name="connsiteY5" fmla="*/ 1213081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6689" h="1628078">
                <a:moveTo>
                  <a:pt x="8932985" y="0"/>
                </a:moveTo>
                <a:lnTo>
                  <a:pt x="12196689" y="0"/>
                </a:lnTo>
                <a:lnTo>
                  <a:pt x="12196689" y="1628078"/>
                </a:lnTo>
                <a:lnTo>
                  <a:pt x="0" y="1628078"/>
                </a:lnTo>
                <a:lnTo>
                  <a:pt x="0" y="1213081"/>
                </a:lnTo>
                <a:lnTo>
                  <a:pt x="8932985" y="121308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Freeform 5">
            <a:extLst>
              <a:ext uri="{FF2B5EF4-FFF2-40B4-BE49-F238E27FC236}">
                <a16:creationId xmlns:a16="http://schemas.microsoft.com/office/drawing/2014/main" id="{FE8F45B3-03ED-4322-91A2-3924AA75A934}"/>
              </a:ext>
            </a:extLst>
          </p:cNvPr>
          <p:cNvSpPr>
            <a:spLocks noEditPoints="1"/>
          </p:cNvSpPr>
          <p:nvPr userDrawn="1"/>
        </p:nvSpPr>
        <p:spPr bwMode="auto">
          <a:xfrm>
            <a:off x="822325" y="5727700"/>
            <a:ext cx="1898650" cy="334963"/>
          </a:xfrm>
          <a:custGeom>
            <a:avLst/>
            <a:gdLst>
              <a:gd name="T0" fmla="*/ 319 w 3262"/>
              <a:gd name="T1" fmla="*/ 39 h 572"/>
              <a:gd name="T2" fmla="*/ 300 w 3262"/>
              <a:gd name="T3" fmla="*/ 137 h 572"/>
              <a:gd name="T4" fmla="*/ 371 w 3262"/>
              <a:gd name="T5" fmla="*/ 405 h 572"/>
              <a:gd name="T6" fmla="*/ 244 w 3262"/>
              <a:gd name="T7" fmla="*/ 170 h 572"/>
              <a:gd name="T8" fmla="*/ 225 w 3262"/>
              <a:gd name="T9" fmla="*/ 267 h 572"/>
              <a:gd name="T10" fmla="*/ 300 w 3262"/>
              <a:gd name="T11" fmla="*/ 528 h 572"/>
              <a:gd name="T12" fmla="*/ 187 w 3262"/>
              <a:gd name="T13" fmla="*/ 333 h 572"/>
              <a:gd name="T14" fmla="*/ 300 w 3262"/>
              <a:gd name="T15" fmla="*/ 572 h 572"/>
              <a:gd name="T16" fmla="*/ 714 w 3262"/>
              <a:gd name="T17" fmla="*/ 540 h 572"/>
              <a:gd name="T18" fmla="*/ 910 w 3262"/>
              <a:gd name="T19" fmla="*/ 455 h 572"/>
              <a:gd name="T20" fmla="*/ 717 w 3262"/>
              <a:gd name="T21" fmla="*/ 258 h 572"/>
              <a:gd name="T22" fmla="*/ 945 w 3262"/>
              <a:gd name="T23" fmla="*/ 226 h 572"/>
              <a:gd name="T24" fmla="*/ 842 w 3262"/>
              <a:gd name="T25" fmla="*/ 322 h 572"/>
              <a:gd name="T26" fmla="*/ 829 w 3262"/>
              <a:gd name="T27" fmla="*/ 561 h 572"/>
              <a:gd name="T28" fmla="*/ 1277 w 3262"/>
              <a:gd name="T29" fmla="*/ 552 h 572"/>
              <a:gd name="T30" fmla="*/ 1138 w 3262"/>
              <a:gd name="T31" fmla="*/ 559 h 572"/>
              <a:gd name="T32" fmla="*/ 1277 w 3262"/>
              <a:gd name="T33" fmla="*/ 270 h 572"/>
              <a:gd name="T34" fmla="*/ 1171 w 3262"/>
              <a:gd name="T35" fmla="*/ 307 h 572"/>
              <a:gd name="T36" fmla="*/ 1215 w 3262"/>
              <a:gd name="T37" fmla="*/ 488 h 572"/>
              <a:gd name="T38" fmla="*/ 1533 w 3262"/>
              <a:gd name="T39" fmla="*/ 552 h 572"/>
              <a:gd name="T40" fmla="*/ 1407 w 3262"/>
              <a:gd name="T41" fmla="*/ 312 h 572"/>
              <a:gd name="T42" fmla="*/ 1345 w 3262"/>
              <a:gd name="T43" fmla="*/ 270 h 572"/>
              <a:gd name="T44" fmla="*/ 1767 w 3262"/>
              <a:gd name="T45" fmla="*/ 506 h 572"/>
              <a:gd name="T46" fmla="*/ 1756 w 3262"/>
              <a:gd name="T47" fmla="*/ 559 h 572"/>
              <a:gd name="T48" fmla="*/ 1719 w 3262"/>
              <a:gd name="T49" fmla="*/ 157 h 572"/>
              <a:gd name="T50" fmla="*/ 1812 w 3262"/>
              <a:gd name="T51" fmla="*/ 317 h 572"/>
              <a:gd name="T52" fmla="*/ 1767 w 3262"/>
              <a:gd name="T53" fmla="*/ 506 h 572"/>
              <a:gd name="T54" fmla="*/ 2043 w 3262"/>
              <a:gd name="T55" fmla="*/ 552 h 572"/>
              <a:gd name="T56" fmla="*/ 1836 w 3262"/>
              <a:gd name="T57" fmla="*/ 410 h 572"/>
              <a:gd name="T58" fmla="*/ 2038 w 3262"/>
              <a:gd name="T59" fmla="*/ 488 h 572"/>
              <a:gd name="T60" fmla="*/ 1899 w 3262"/>
              <a:gd name="T61" fmla="*/ 410 h 572"/>
              <a:gd name="T62" fmla="*/ 2418 w 3262"/>
              <a:gd name="T63" fmla="*/ 363 h 572"/>
              <a:gd name="T64" fmla="*/ 2356 w 3262"/>
              <a:gd name="T65" fmla="*/ 373 h 572"/>
              <a:gd name="T66" fmla="*/ 2230 w 3262"/>
              <a:gd name="T67" fmla="*/ 552 h 572"/>
              <a:gd name="T68" fmla="*/ 2281 w 3262"/>
              <a:gd name="T69" fmla="*/ 254 h 572"/>
              <a:gd name="T70" fmla="*/ 2733 w 3262"/>
              <a:gd name="T71" fmla="*/ 552 h 572"/>
              <a:gd name="T72" fmla="*/ 2591 w 3262"/>
              <a:gd name="T73" fmla="*/ 559 h 572"/>
              <a:gd name="T74" fmla="*/ 2671 w 3262"/>
              <a:gd name="T75" fmla="*/ 259 h 572"/>
              <a:gd name="T76" fmla="*/ 2671 w 3262"/>
              <a:gd name="T77" fmla="*/ 487 h 572"/>
              <a:gd name="T78" fmla="*/ 2531 w 3262"/>
              <a:gd name="T79" fmla="*/ 410 h 572"/>
              <a:gd name="T80" fmla="*/ 3045 w 3262"/>
              <a:gd name="T81" fmla="*/ 432 h 572"/>
              <a:gd name="T82" fmla="*/ 3038 w 3262"/>
              <a:gd name="T83" fmla="*/ 485 h 572"/>
              <a:gd name="T84" fmla="*/ 2783 w 3262"/>
              <a:gd name="T85" fmla="*/ 405 h 572"/>
              <a:gd name="T86" fmla="*/ 3045 w 3262"/>
              <a:gd name="T87" fmla="*/ 432 h 572"/>
              <a:gd name="T88" fmla="*/ 2918 w 3262"/>
              <a:gd name="T89" fmla="*/ 306 h 572"/>
              <a:gd name="T90" fmla="*/ 3256 w 3262"/>
              <a:gd name="T91" fmla="*/ 310 h 572"/>
              <a:gd name="T92" fmla="*/ 3164 w 3262"/>
              <a:gd name="T93" fmla="*/ 552 h 572"/>
              <a:gd name="T94" fmla="*/ 3208 w 3262"/>
              <a:gd name="T95" fmla="*/ 254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262" h="572">
                <a:moveTo>
                  <a:pt x="430" y="262"/>
                </a:moveTo>
                <a:cubicBezTo>
                  <a:pt x="429" y="241"/>
                  <a:pt x="424" y="221"/>
                  <a:pt x="413" y="202"/>
                </a:cubicBezTo>
                <a:cubicBezTo>
                  <a:pt x="319" y="39"/>
                  <a:pt x="319" y="39"/>
                  <a:pt x="319" y="39"/>
                </a:cubicBezTo>
                <a:cubicBezTo>
                  <a:pt x="312" y="27"/>
                  <a:pt x="307" y="14"/>
                  <a:pt x="304" y="0"/>
                </a:cubicBezTo>
                <a:cubicBezTo>
                  <a:pt x="300" y="7"/>
                  <a:pt x="300" y="7"/>
                  <a:pt x="300" y="7"/>
                </a:cubicBezTo>
                <a:cubicBezTo>
                  <a:pt x="277" y="47"/>
                  <a:pt x="277" y="97"/>
                  <a:pt x="300" y="137"/>
                </a:cubicBezTo>
                <a:cubicBezTo>
                  <a:pt x="375" y="267"/>
                  <a:pt x="375" y="267"/>
                  <a:pt x="375" y="267"/>
                </a:cubicBezTo>
                <a:cubicBezTo>
                  <a:pt x="399" y="308"/>
                  <a:pt x="399" y="357"/>
                  <a:pt x="375" y="398"/>
                </a:cubicBezTo>
                <a:cubicBezTo>
                  <a:pt x="371" y="405"/>
                  <a:pt x="371" y="405"/>
                  <a:pt x="371" y="405"/>
                </a:cubicBezTo>
                <a:cubicBezTo>
                  <a:pt x="369" y="391"/>
                  <a:pt x="364" y="378"/>
                  <a:pt x="356" y="365"/>
                </a:cubicBezTo>
                <a:cubicBezTo>
                  <a:pt x="288" y="246"/>
                  <a:pt x="288" y="246"/>
                  <a:pt x="288" y="246"/>
                </a:cubicBezTo>
                <a:cubicBezTo>
                  <a:pt x="244" y="170"/>
                  <a:pt x="244" y="170"/>
                  <a:pt x="244" y="170"/>
                </a:cubicBezTo>
                <a:cubicBezTo>
                  <a:pt x="236" y="157"/>
                  <a:pt x="232" y="144"/>
                  <a:pt x="229" y="130"/>
                </a:cubicBezTo>
                <a:cubicBezTo>
                  <a:pt x="225" y="137"/>
                  <a:pt x="225" y="137"/>
                  <a:pt x="225" y="137"/>
                </a:cubicBezTo>
                <a:cubicBezTo>
                  <a:pt x="202" y="177"/>
                  <a:pt x="202" y="227"/>
                  <a:pt x="225" y="267"/>
                </a:cubicBezTo>
                <a:cubicBezTo>
                  <a:pt x="225" y="267"/>
                  <a:pt x="225" y="267"/>
                  <a:pt x="225" y="267"/>
                </a:cubicBezTo>
                <a:cubicBezTo>
                  <a:pt x="300" y="398"/>
                  <a:pt x="300" y="398"/>
                  <a:pt x="300" y="398"/>
                </a:cubicBezTo>
                <a:cubicBezTo>
                  <a:pt x="323" y="438"/>
                  <a:pt x="323" y="488"/>
                  <a:pt x="300" y="528"/>
                </a:cubicBezTo>
                <a:cubicBezTo>
                  <a:pt x="296" y="535"/>
                  <a:pt x="296" y="535"/>
                  <a:pt x="296" y="535"/>
                </a:cubicBezTo>
                <a:cubicBezTo>
                  <a:pt x="293" y="521"/>
                  <a:pt x="288" y="508"/>
                  <a:pt x="281" y="495"/>
                </a:cubicBezTo>
                <a:cubicBezTo>
                  <a:pt x="187" y="333"/>
                  <a:pt x="187" y="333"/>
                  <a:pt x="187" y="333"/>
                </a:cubicBezTo>
                <a:cubicBezTo>
                  <a:pt x="175" y="311"/>
                  <a:pt x="169" y="286"/>
                  <a:pt x="170" y="262"/>
                </a:cubicBezTo>
                <a:cubicBezTo>
                  <a:pt x="69" y="288"/>
                  <a:pt x="0" y="344"/>
                  <a:pt x="0" y="409"/>
                </a:cubicBezTo>
                <a:cubicBezTo>
                  <a:pt x="0" y="499"/>
                  <a:pt x="134" y="572"/>
                  <a:pt x="300" y="572"/>
                </a:cubicBezTo>
                <a:cubicBezTo>
                  <a:pt x="466" y="572"/>
                  <a:pt x="600" y="499"/>
                  <a:pt x="600" y="409"/>
                </a:cubicBezTo>
                <a:cubicBezTo>
                  <a:pt x="600" y="344"/>
                  <a:pt x="531" y="288"/>
                  <a:pt x="430" y="262"/>
                </a:cubicBezTo>
                <a:close/>
                <a:moveTo>
                  <a:pt x="714" y="540"/>
                </a:moveTo>
                <a:cubicBezTo>
                  <a:pt x="715" y="517"/>
                  <a:pt x="718" y="501"/>
                  <a:pt x="725" y="483"/>
                </a:cubicBezTo>
                <a:cubicBezTo>
                  <a:pt x="756" y="498"/>
                  <a:pt x="797" y="505"/>
                  <a:pt x="828" y="505"/>
                </a:cubicBezTo>
                <a:cubicBezTo>
                  <a:pt x="880" y="505"/>
                  <a:pt x="910" y="488"/>
                  <a:pt x="910" y="455"/>
                </a:cubicBezTo>
                <a:cubicBezTo>
                  <a:pt x="910" y="422"/>
                  <a:pt x="888" y="407"/>
                  <a:pt x="835" y="384"/>
                </a:cubicBezTo>
                <a:cubicBezTo>
                  <a:pt x="806" y="371"/>
                  <a:pt x="806" y="371"/>
                  <a:pt x="806" y="371"/>
                </a:cubicBezTo>
                <a:cubicBezTo>
                  <a:pt x="753" y="348"/>
                  <a:pt x="717" y="318"/>
                  <a:pt x="717" y="258"/>
                </a:cubicBezTo>
                <a:cubicBezTo>
                  <a:pt x="717" y="194"/>
                  <a:pt x="762" y="153"/>
                  <a:pt x="853" y="153"/>
                </a:cubicBezTo>
                <a:cubicBezTo>
                  <a:pt x="890" y="153"/>
                  <a:pt x="924" y="158"/>
                  <a:pt x="956" y="169"/>
                </a:cubicBezTo>
                <a:cubicBezTo>
                  <a:pt x="955" y="192"/>
                  <a:pt x="951" y="209"/>
                  <a:pt x="945" y="226"/>
                </a:cubicBezTo>
                <a:cubicBezTo>
                  <a:pt x="915" y="214"/>
                  <a:pt x="879" y="209"/>
                  <a:pt x="853" y="209"/>
                </a:cubicBezTo>
                <a:cubicBezTo>
                  <a:pt x="804" y="209"/>
                  <a:pt x="781" y="228"/>
                  <a:pt x="781" y="258"/>
                </a:cubicBezTo>
                <a:cubicBezTo>
                  <a:pt x="781" y="288"/>
                  <a:pt x="803" y="305"/>
                  <a:pt x="842" y="322"/>
                </a:cubicBezTo>
                <a:cubicBezTo>
                  <a:pt x="873" y="335"/>
                  <a:pt x="873" y="335"/>
                  <a:pt x="873" y="335"/>
                </a:cubicBezTo>
                <a:cubicBezTo>
                  <a:pt x="945" y="365"/>
                  <a:pt x="974" y="397"/>
                  <a:pt x="974" y="452"/>
                </a:cubicBezTo>
                <a:cubicBezTo>
                  <a:pt x="974" y="517"/>
                  <a:pt x="925" y="561"/>
                  <a:pt x="829" y="561"/>
                </a:cubicBezTo>
                <a:cubicBezTo>
                  <a:pt x="783" y="561"/>
                  <a:pt x="745" y="555"/>
                  <a:pt x="714" y="540"/>
                </a:cubicBezTo>
                <a:close/>
                <a:moveTo>
                  <a:pt x="1277" y="270"/>
                </a:moveTo>
                <a:cubicBezTo>
                  <a:pt x="1277" y="552"/>
                  <a:pt x="1277" y="552"/>
                  <a:pt x="1277" y="552"/>
                </a:cubicBezTo>
                <a:cubicBezTo>
                  <a:pt x="1220" y="552"/>
                  <a:pt x="1220" y="552"/>
                  <a:pt x="1220" y="552"/>
                </a:cubicBezTo>
                <a:cubicBezTo>
                  <a:pt x="1217" y="518"/>
                  <a:pt x="1217" y="518"/>
                  <a:pt x="1217" y="518"/>
                </a:cubicBezTo>
                <a:cubicBezTo>
                  <a:pt x="1201" y="543"/>
                  <a:pt x="1177" y="559"/>
                  <a:pt x="1138" y="559"/>
                </a:cubicBezTo>
                <a:cubicBezTo>
                  <a:pt x="1063" y="559"/>
                  <a:pt x="1013" y="505"/>
                  <a:pt x="1013" y="410"/>
                </a:cubicBezTo>
                <a:cubicBezTo>
                  <a:pt x="1013" y="311"/>
                  <a:pt x="1066" y="254"/>
                  <a:pt x="1171" y="254"/>
                </a:cubicBezTo>
                <a:cubicBezTo>
                  <a:pt x="1211" y="254"/>
                  <a:pt x="1245" y="259"/>
                  <a:pt x="1277" y="270"/>
                </a:cubicBezTo>
                <a:close/>
                <a:moveTo>
                  <a:pt x="1215" y="488"/>
                </a:moveTo>
                <a:cubicBezTo>
                  <a:pt x="1215" y="311"/>
                  <a:pt x="1215" y="311"/>
                  <a:pt x="1215" y="311"/>
                </a:cubicBezTo>
                <a:cubicBezTo>
                  <a:pt x="1202" y="309"/>
                  <a:pt x="1188" y="307"/>
                  <a:pt x="1171" y="307"/>
                </a:cubicBezTo>
                <a:cubicBezTo>
                  <a:pt x="1107" y="307"/>
                  <a:pt x="1077" y="347"/>
                  <a:pt x="1077" y="410"/>
                </a:cubicBezTo>
                <a:cubicBezTo>
                  <a:pt x="1077" y="468"/>
                  <a:pt x="1100" y="508"/>
                  <a:pt x="1155" y="508"/>
                </a:cubicBezTo>
                <a:cubicBezTo>
                  <a:pt x="1179" y="508"/>
                  <a:pt x="1199" y="500"/>
                  <a:pt x="1215" y="488"/>
                </a:cubicBezTo>
                <a:close/>
                <a:moveTo>
                  <a:pt x="1595" y="363"/>
                </a:moveTo>
                <a:cubicBezTo>
                  <a:pt x="1595" y="552"/>
                  <a:pt x="1595" y="552"/>
                  <a:pt x="1595" y="552"/>
                </a:cubicBezTo>
                <a:cubicBezTo>
                  <a:pt x="1533" y="552"/>
                  <a:pt x="1533" y="552"/>
                  <a:pt x="1533" y="552"/>
                </a:cubicBezTo>
                <a:cubicBezTo>
                  <a:pt x="1533" y="373"/>
                  <a:pt x="1533" y="373"/>
                  <a:pt x="1533" y="373"/>
                </a:cubicBezTo>
                <a:cubicBezTo>
                  <a:pt x="1533" y="329"/>
                  <a:pt x="1518" y="307"/>
                  <a:pt x="1456" y="307"/>
                </a:cubicBezTo>
                <a:cubicBezTo>
                  <a:pt x="1442" y="307"/>
                  <a:pt x="1424" y="309"/>
                  <a:pt x="1407" y="312"/>
                </a:cubicBezTo>
                <a:cubicBezTo>
                  <a:pt x="1407" y="552"/>
                  <a:pt x="1407" y="552"/>
                  <a:pt x="1407" y="552"/>
                </a:cubicBezTo>
                <a:cubicBezTo>
                  <a:pt x="1345" y="552"/>
                  <a:pt x="1345" y="552"/>
                  <a:pt x="1345" y="552"/>
                </a:cubicBezTo>
                <a:cubicBezTo>
                  <a:pt x="1345" y="270"/>
                  <a:pt x="1345" y="270"/>
                  <a:pt x="1345" y="270"/>
                </a:cubicBezTo>
                <a:cubicBezTo>
                  <a:pt x="1385" y="261"/>
                  <a:pt x="1428" y="254"/>
                  <a:pt x="1458" y="254"/>
                </a:cubicBezTo>
                <a:cubicBezTo>
                  <a:pt x="1562" y="254"/>
                  <a:pt x="1595" y="294"/>
                  <a:pt x="1595" y="363"/>
                </a:cubicBezTo>
                <a:close/>
                <a:moveTo>
                  <a:pt x="1767" y="506"/>
                </a:moveTo>
                <a:cubicBezTo>
                  <a:pt x="1785" y="506"/>
                  <a:pt x="1802" y="503"/>
                  <a:pt x="1816" y="498"/>
                </a:cubicBezTo>
                <a:cubicBezTo>
                  <a:pt x="1814" y="515"/>
                  <a:pt x="1812" y="534"/>
                  <a:pt x="1808" y="550"/>
                </a:cubicBezTo>
                <a:cubicBezTo>
                  <a:pt x="1791" y="557"/>
                  <a:pt x="1773" y="559"/>
                  <a:pt x="1756" y="559"/>
                </a:cubicBezTo>
                <a:cubicBezTo>
                  <a:pt x="1696" y="559"/>
                  <a:pt x="1657" y="531"/>
                  <a:pt x="1657" y="463"/>
                </a:cubicBezTo>
                <a:cubicBezTo>
                  <a:pt x="1657" y="166"/>
                  <a:pt x="1657" y="166"/>
                  <a:pt x="1657" y="166"/>
                </a:cubicBezTo>
                <a:cubicBezTo>
                  <a:pt x="1676" y="160"/>
                  <a:pt x="1700" y="157"/>
                  <a:pt x="1719" y="157"/>
                </a:cubicBezTo>
                <a:cubicBezTo>
                  <a:pt x="1719" y="264"/>
                  <a:pt x="1719" y="264"/>
                  <a:pt x="1719" y="264"/>
                </a:cubicBezTo>
                <a:cubicBezTo>
                  <a:pt x="1817" y="264"/>
                  <a:pt x="1817" y="264"/>
                  <a:pt x="1817" y="264"/>
                </a:cubicBezTo>
                <a:cubicBezTo>
                  <a:pt x="1816" y="283"/>
                  <a:pt x="1815" y="301"/>
                  <a:pt x="1812" y="317"/>
                </a:cubicBezTo>
                <a:cubicBezTo>
                  <a:pt x="1719" y="317"/>
                  <a:pt x="1719" y="317"/>
                  <a:pt x="1719" y="317"/>
                </a:cubicBezTo>
                <a:cubicBezTo>
                  <a:pt x="1719" y="455"/>
                  <a:pt x="1719" y="455"/>
                  <a:pt x="1719" y="455"/>
                </a:cubicBezTo>
                <a:cubicBezTo>
                  <a:pt x="1719" y="492"/>
                  <a:pt x="1737" y="506"/>
                  <a:pt x="1767" y="506"/>
                </a:cubicBezTo>
                <a:close/>
                <a:moveTo>
                  <a:pt x="2100" y="270"/>
                </a:moveTo>
                <a:cubicBezTo>
                  <a:pt x="2100" y="552"/>
                  <a:pt x="2100" y="552"/>
                  <a:pt x="2100" y="552"/>
                </a:cubicBezTo>
                <a:cubicBezTo>
                  <a:pt x="2043" y="552"/>
                  <a:pt x="2043" y="552"/>
                  <a:pt x="2043" y="552"/>
                </a:cubicBezTo>
                <a:cubicBezTo>
                  <a:pt x="2040" y="518"/>
                  <a:pt x="2040" y="518"/>
                  <a:pt x="2040" y="518"/>
                </a:cubicBezTo>
                <a:cubicBezTo>
                  <a:pt x="2024" y="543"/>
                  <a:pt x="2000" y="559"/>
                  <a:pt x="1960" y="559"/>
                </a:cubicBezTo>
                <a:cubicBezTo>
                  <a:pt x="1886" y="559"/>
                  <a:pt x="1836" y="505"/>
                  <a:pt x="1836" y="410"/>
                </a:cubicBezTo>
                <a:cubicBezTo>
                  <a:pt x="1836" y="311"/>
                  <a:pt x="1889" y="254"/>
                  <a:pt x="1993" y="254"/>
                </a:cubicBezTo>
                <a:cubicBezTo>
                  <a:pt x="2034" y="254"/>
                  <a:pt x="2067" y="259"/>
                  <a:pt x="2100" y="270"/>
                </a:cubicBezTo>
                <a:close/>
                <a:moveTo>
                  <a:pt x="2038" y="488"/>
                </a:moveTo>
                <a:cubicBezTo>
                  <a:pt x="2038" y="311"/>
                  <a:pt x="2038" y="311"/>
                  <a:pt x="2038" y="311"/>
                </a:cubicBezTo>
                <a:cubicBezTo>
                  <a:pt x="2025" y="309"/>
                  <a:pt x="2011" y="307"/>
                  <a:pt x="1993" y="307"/>
                </a:cubicBezTo>
                <a:cubicBezTo>
                  <a:pt x="1929" y="307"/>
                  <a:pt x="1899" y="347"/>
                  <a:pt x="1899" y="410"/>
                </a:cubicBezTo>
                <a:cubicBezTo>
                  <a:pt x="1899" y="468"/>
                  <a:pt x="1922" y="508"/>
                  <a:pt x="1978" y="508"/>
                </a:cubicBezTo>
                <a:cubicBezTo>
                  <a:pt x="2002" y="508"/>
                  <a:pt x="2022" y="500"/>
                  <a:pt x="2038" y="488"/>
                </a:cubicBezTo>
                <a:close/>
                <a:moveTo>
                  <a:pt x="2418" y="363"/>
                </a:moveTo>
                <a:cubicBezTo>
                  <a:pt x="2418" y="552"/>
                  <a:pt x="2418" y="552"/>
                  <a:pt x="2418" y="552"/>
                </a:cubicBezTo>
                <a:cubicBezTo>
                  <a:pt x="2356" y="552"/>
                  <a:pt x="2356" y="552"/>
                  <a:pt x="2356" y="552"/>
                </a:cubicBezTo>
                <a:cubicBezTo>
                  <a:pt x="2356" y="373"/>
                  <a:pt x="2356" y="373"/>
                  <a:pt x="2356" y="373"/>
                </a:cubicBezTo>
                <a:cubicBezTo>
                  <a:pt x="2356" y="329"/>
                  <a:pt x="2341" y="307"/>
                  <a:pt x="2279" y="307"/>
                </a:cubicBezTo>
                <a:cubicBezTo>
                  <a:pt x="2264" y="307"/>
                  <a:pt x="2247" y="309"/>
                  <a:pt x="2230" y="312"/>
                </a:cubicBezTo>
                <a:cubicBezTo>
                  <a:pt x="2230" y="552"/>
                  <a:pt x="2230" y="552"/>
                  <a:pt x="2230" y="552"/>
                </a:cubicBezTo>
                <a:cubicBezTo>
                  <a:pt x="2168" y="552"/>
                  <a:pt x="2168" y="552"/>
                  <a:pt x="2168" y="552"/>
                </a:cubicBezTo>
                <a:cubicBezTo>
                  <a:pt x="2168" y="270"/>
                  <a:pt x="2168" y="270"/>
                  <a:pt x="2168" y="270"/>
                </a:cubicBezTo>
                <a:cubicBezTo>
                  <a:pt x="2207" y="261"/>
                  <a:pt x="2251" y="254"/>
                  <a:pt x="2281" y="254"/>
                </a:cubicBezTo>
                <a:cubicBezTo>
                  <a:pt x="2384" y="254"/>
                  <a:pt x="2418" y="294"/>
                  <a:pt x="2418" y="363"/>
                </a:cubicBezTo>
                <a:close/>
                <a:moveTo>
                  <a:pt x="2733" y="157"/>
                </a:moveTo>
                <a:cubicBezTo>
                  <a:pt x="2733" y="552"/>
                  <a:pt x="2733" y="552"/>
                  <a:pt x="2733" y="552"/>
                </a:cubicBezTo>
                <a:cubicBezTo>
                  <a:pt x="2676" y="552"/>
                  <a:pt x="2676" y="552"/>
                  <a:pt x="2676" y="552"/>
                </a:cubicBezTo>
                <a:cubicBezTo>
                  <a:pt x="2672" y="516"/>
                  <a:pt x="2672" y="516"/>
                  <a:pt x="2672" y="516"/>
                </a:cubicBezTo>
                <a:cubicBezTo>
                  <a:pt x="2656" y="543"/>
                  <a:pt x="2632" y="559"/>
                  <a:pt x="2591" y="559"/>
                </a:cubicBezTo>
                <a:cubicBezTo>
                  <a:pt x="2517" y="559"/>
                  <a:pt x="2467" y="505"/>
                  <a:pt x="2467" y="410"/>
                </a:cubicBezTo>
                <a:cubicBezTo>
                  <a:pt x="2467" y="311"/>
                  <a:pt x="2520" y="254"/>
                  <a:pt x="2625" y="254"/>
                </a:cubicBezTo>
                <a:cubicBezTo>
                  <a:pt x="2641" y="254"/>
                  <a:pt x="2656" y="256"/>
                  <a:pt x="2671" y="259"/>
                </a:cubicBezTo>
                <a:cubicBezTo>
                  <a:pt x="2671" y="166"/>
                  <a:pt x="2671" y="166"/>
                  <a:pt x="2671" y="166"/>
                </a:cubicBezTo>
                <a:cubicBezTo>
                  <a:pt x="2690" y="159"/>
                  <a:pt x="2712" y="157"/>
                  <a:pt x="2733" y="157"/>
                </a:cubicBezTo>
                <a:close/>
                <a:moveTo>
                  <a:pt x="2671" y="487"/>
                </a:moveTo>
                <a:cubicBezTo>
                  <a:pt x="2671" y="313"/>
                  <a:pt x="2671" y="313"/>
                  <a:pt x="2671" y="313"/>
                </a:cubicBezTo>
                <a:cubicBezTo>
                  <a:pt x="2655" y="310"/>
                  <a:pt x="2638" y="307"/>
                  <a:pt x="2621" y="307"/>
                </a:cubicBezTo>
                <a:cubicBezTo>
                  <a:pt x="2560" y="307"/>
                  <a:pt x="2531" y="346"/>
                  <a:pt x="2531" y="410"/>
                </a:cubicBezTo>
                <a:cubicBezTo>
                  <a:pt x="2531" y="468"/>
                  <a:pt x="2554" y="508"/>
                  <a:pt x="2609" y="508"/>
                </a:cubicBezTo>
                <a:cubicBezTo>
                  <a:pt x="2634" y="508"/>
                  <a:pt x="2654" y="500"/>
                  <a:pt x="2671" y="487"/>
                </a:cubicBezTo>
                <a:close/>
                <a:moveTo>
                  <a:pt x="3045" y="432"/>
                </a:moveTo>
                <a:cubicBezTo>
                  <a:pt x="2847" y="432"/>
                  <a:pt x="2847" y="432"/>
                  <a:pt x="2847" y="432"/>
                </a:cubicBezTo>
                <a:cubicBezTo>
                  <a:pt x="2854" y="482"/>
                  <a:pt x="2884" y="506"/>
                  <a:pt x="2939" y="506"/>
                </a:cubicBezTo>
                <a:cubicBezTo>
                  <a:pt x="2973" y="506"/>
                  <a:pt x="3007" y="499"/>
                  <a:pt x="3038" y="485"/>
                </a:cubicBezTo>
                <a:cubicBezTo>
                  <a:pt x="3036" y="501"/>
                  <a:pt x="3033" y="522"/>
                  <a:pt x="3029" y="541"/>
                </a:cubicBezTo>
                <a:cubicBezTo>
                  <a:pt x="3001" y="554"/>
                  <a:pt x="2971" y="559"/>
                  <a:pt x="2937" y="559"/>
                </a:cubicBezTo>
                <a:cubicBezTo>
                  <a:pt x="2834" y="559"/>
                  <a:pt x="2783" y="502"/>
                  <a:pt x="2783" y="405"/>
                </a:cubicBezTo>
                <a:cubicBezTo>
                  <a:pt x="2783" y="321"/>
                  <a:pt x="2822" y="254"/>
                  <a:pt x="2921" y="254"/>
                </a:cubicBezTo>
                <a:cubicBezTo>
                  <a:pt x="3010" y="254"/>
                  <a:pt x="3048" y="313"/>
                  <a:pt x="3048" y="384"/>
                </a:cubicBezTo>
                <a:cubicBezTo>
                  <a:pt x="3048" y="401"/>
                  <a:pt x="3047" y="415"/>
                  <a:pt x="3045" y="432"/>
                </a:cubicBezTo>
                <a:close/>
                <a:moveTo>
                  <a:pt x="2845" y="380"/>
                </a:moveTo>
                <a:cubicBezTo>
                  <a:pt x="2985" y="380"/>
                  <a:pt x="2985" y="380"/>
                  <a:pt x="2985" y="380"/>
                </a:cubicBezTo>
                <a:cubicBezTo>
                  <a:pt x="2985" y="333"/>
                  <a:pt x="2960" y="306"/>
                  <a:pt x="2918" y="306"/>
                </a:cubicBezTo>
                <a:cubicBezTo>
                  <a:pt x="2874" y="306"/>
                  <a:pt x="2850" y="332"/>
                  <a:pt x="2845" y="380"/>
                </a:cubicBezTo>
                <a:close/>
                <a:moveTo>
                  <a:pt x="3262" y="257"/>
                </a:moveTo>
                <a:cubicBezTo>
                  <a:pt x="3262" y="275"/>
                  <a:pt x="3260" y="298"/>
                  <a:pt x="3256" y="310"/>
                </a:cubicBezTo>
                <a:cubicBezTo>
                  <a:pt x="3241" y="308"/>
                  <a:pt x="3227" y="307"/>
                  <a:pt x="3209" y="307"/>
                </a:cubicBezTo>
                <a:cubicBezTo>
                  <a:pt x="3194" y="307"/>
                  <a:pt x="3179" y="309"/>
                  <a:pt x="3164" y="311"/>
                </a:cubicBezTo>
                <a:cubicBezTo>
                  <a:pt x="3164" y="552"/>
                  <a:pt x="3164" y="552"/>
                  <a:pt x="3164" y="552"/>
                </a:cubicBezTo>
                <a:cubicBezTo>
                  <a:pt x="3102" y="552"/>
                  <a:pt x="3102" y="552"/>
                  <a:pt x="3102" y="552"/>
                </a:cubicBezTo>
                <a:cubicBezTo>
                  <a:pt x="3102" y="270"/>
                  <a:pt x="3102" y="270"/>
                  <a:pt x="3102" y="270"/>
                </a:cubicBezTo>
                <a:cubicBezTo>
                  <a:pt x="3128" y="261"/>
                  <a:pt x="3173" y="254"/>
                  <a:pt x="3208" y="254"/>
                </a:cubicBezTo>
                <a:cubicBezTo>
                  <a:pt x="3227" y="254"/>
                  <a:pt x="3248" y="255"/>
                  <a:pt x="3262" y="257"/>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897576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Divider White">
    <p:spTree>
      <p:nvGrpSpPr>
        <p:cNvPr id="1" name=""/>
        <p:cNvGrpSpPr/>
        <p:nvPr/>
      </p:nvGrpSpPr>
      <p:grpSpPr>
        <a:xfrm>
          <a:off x="0" y="0"/>
          <a:ext cx="0" cy="0"/>
          <a:chOff x="0" y="0"/>
          <a:chExt cx="0" cy="0"/>
        </a:xfrm>
      </p:grpSpPr>
      <p:graphicFrame>
        <p:nvGraphicFramePr>
          <p:cNvPr id="4" name="Objeto 3" hidden="1">
            <a:extLst>
              <a:ext uri="{FF2B5EF4-FFF2-40B4-BE49-F238E27FC236}">
                <a16:creationId xmlns:a16="http://schemas.microsoft.com/office/drawing/2014/main" id="{83CCEE40-A786-4899-94C9-43ADF4B07A12}"/>
              </a:ext>
            </a:extLst>
          </p:cNvPr>
          <p:cNvGraphicFramePr>
            <a:graphicFrameLocks noChangeAspect="1"/>
          </p:cNvGraphicFramePr>
          <p:nvPr userDrawn="1">
            <p:custDataLst>
              <p:tags r:id="rId1"/>
            </p:custDataLst>
            <p:extLst>
              <p:ext uri="{D42A27DB-BD31-4B8C-83A1-F6EECF244321}">
                <p14:modId xmlns:p14="http://schemas.microsoft.com/office/powerpoint/2010/main" val="33833732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4" name="Objeto 3" hidden="1">
                        <a:extLst>
                          <a:ext uri="{FF2B5EF4-FFF2-40B4-BE49-F238E27FC236}">
                            <a16:creationId xmlns:a16="http://schemas.microsoft.com/office/drawing/2014/main" id="{83CCEE40-A786-4899-94C9-43ADF4B07A1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ángulo 2" hidden="1">
            <a:extLst>
              <a:ext uri="{FF2B5EF4-FFF2-40B4-BE49-F238E27FC236}">
                <a16:creationId xmlns:a16="http://schemas.microsoft.com/office/drawing/2014/main" id="{5C9F7905-6FAF-4963-A3D5-C6F01180C2F5}"/>
              </a:ext>
            </a:extLst>
          </p:cNvPr>
          <p:cNvSpPr/>
          <p:nvPr userDrawn="1">
            <p:custDataLst>
              <p:tags r:id="rId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lang="en-US" sz="5000" b="0" i="0" baseline="0">
              <a:latin typeface="Santander Headline" panose="020B0504020201020104" pitchFamily="34" charset="0"/>
              <a:ea typeface="+mj-ea"/>
              <a:cs typeface="+mj-cs"/>
              <a:sym typeface="Santander Headline" panose="020B0504020201020104" pitchFamily="34" charset="0"/>
            </a:endParaRPr>
          </a:p>
        </p:txBody>
      </p:sp>
      <p:sp>
        <p:nvSpPr>
          <p:cNvPr id="7" name="Forma libre: forma 6">
            <a:extLst>
              <a:ext uri="{FF2B5EF4-FFF2-40B4-BE49-F238E27FC236}">
                <a16:creationId xmlns:a16="http://schemas.microsoft.com/office/drawing/2014/main" id="{49C540BB-A189-4361-ABD8-4DA84C6612C3}"/>
              </a:ext>
            </a:extLst>
          </p:cNvPr>
          <p:cNvSpPr/>
          <p:nvPr userDrawn="1"/>
        </p:nvSpPr>
        <p:spPr>
          <a:xfrm>
            <a:off x="8925340" y="0"/>
            <a:ext cx="3266660" cy="6858000"/>
          </a:xfrm>
          <a:custGeom>
            <a:avLst/>
            <a:gdLst>
              <a:gd name="connsiteX0" fmla="*/ 1630018 w 3266660"/>
              <a:gd name="connsiteY0" fmla="*/ 0 h 6858000"/>
              <a:gd name="connsiteX1" fmla="*/ 3266660 w 3266660"/>
              <a:gd name="connsiteY1" fmla="*/ 0 h 6858000"/>
              <a:gd name="connsiteX2" fmla="*/ 3266660 w 3266660"/>
              <a:gd name="connsiteY2" fmla="*/ 6858000 h 6858000"/>
              <a:gd name="connsiteX3" fmla="*/ 0 w 3266660"/>
              <a:gd name="connsiteY3" fmla="*/ 6858000 h 6858000"/>
              <a:gd name="connsiteX4" fmla="*/ 0 w 3266660"/>
              <a:gd name="connsiteY4" fmla="*/ 2822713 h 6858000"/>
              <a:gd name="connsiteX5" fmla="*/ 1630018 w 3266660"/>
              <a:gd name="connsiteY5" fmla="*/ 282271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66660" h="6858000">
                <a:moveTo>
                  <a:pt x="1630018" y="0"/>
                </a:moveTo>
                <a:lnTo>
                  <a:pt x="3266660" y="0"/>
                </a:lnTo>
                <a:lnTo>
                  <a:pt x="3266660" y="6858000"/>
                </a:lnTo>
                <a:lnTo>
                  <a:pt x="0" y="6858000"/>
                </a:lnTo>
                <a:lnTo>
                  <a:pt x="0" y="2822713"/>
                </a:lnTo>
                <a:lnTo>
                  <a:pt x="1630018" y="2822713"/>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 name="Título 1">
            <a:extLst>
              <a:ext uri="{FF2B5EF4-FFF2-40B4-BE49-F238E27FC236}">
                <a16:creationId xmlns:a16="http://schemas.microsoft.com/office/drawing/2014/main" id="{B045CB15-1F44-40E1-909E-6233010BC133}"/>
              </a:ext>
            </a:extLst>
          </p:cNvPr>
          <p:cNvSpPr>
            <a:spLocks noGrp="1"/>
          </p:cNvSpPr>
          <p:nvPr>
            <p:ph type="title" hasCustomPrompt="1"/>
          </p:nvPr>
        </p:nvSpPr>
        <p:spPr>
          <a:xfrm>
            <a:off x="722519" y="626373"/>
            <a:ext cx="4386194" cy="2852737"/>
          </a:xfrm>
        </p:spPr>
        <p:txBody>
          <a:bodyPr anchor="t">
            <a:normAutofit/>
          </a:bodyPr>
          <a:lstStyle>
            <a:lvl1pPr>
              <a:lnSpc>
                <a:spcPct val="100000"/>
              </a:lnSpc>
              <a:defRPr lang="en-US" sz="5000" kern="1200" dirty="0">
                <a:solidFill>
                  <a:schemeClr val="accent1"/>
                </a:solidFill>
                <a:latin typeface="Santander Headline" panose="020B0504020201020104" pitchFamily="34" charset="0"/>
                <a:ea typeface="+mj-ea"/>
                <a:cs typeface="+mj-cs"/>
              </a:defRPr>
            </a:lvl1pPr>
          </a:lstStyle>
          <a:p>
            <a:r>
              <a:rPr lang="en-US"/>
              <a:t>Click to edit Master title </a:t>
            </a:r>
            <a:br>
              <a:rPr lang="en-US"/>
            </a:br>
            <a:r>
              <a:rPr lang="en-US"/>
              <a:t>style</a:t>
            </a:r>
          </a:p>
        </p:txBody>
      </p:sp>
      <p:sp>
        <p:nvSpPr>
          <p:cNvPr id="14" name="Marcador de texto 13">
            <a:extLst>
              <a:ext uri="{FF2B5EF4-FFF2-40B4-BE49-F238E27FC236}">
                <a16:creationId xmlns:a16="http://schemas.microsoft.com/office/drawing/2014/main" id="{6E38BAEA-EEE9-4346-9DB7-91D26BC942D7}"/>
              </a:ext>
            </a:extLst>
          </p:cNvPr>
          <p:cNvSpPr>
            <a:spLocks noGrp="1"/>
          </p:cNvSpPr>
          <p:nvPr>
            <p:ph type="body" sz="quarter" idx="14" hasCustomPrompt="1"/>
          </p:nvPr>
        </p:nvSpPr>
        <p:spPr>
          <a:xfrm>
            <a:off x="8945217" y="3270526"/>
            <a:ext cx="2958754" cy="2364961"/>
          </a:xfrm>
        </p:spPr>
        <p:txBody>
          <a:bodyPr>
            <a:noAutofit/>
          </a:bodyPr>
          <a:lstStyle>
            <a:lvl1pPr marL="0" indent="0" algn="r">
              <a:buFontTx/>
              <a:buNone/>
              <a:defRPr lang="es-ES" sz="16600" kern="1200" dirty="0">
                <a:solidFill>
                  <a:schemeClr val="bg1"/>
                </a:solidFill>
                <a:latin typeface="Santander Text" panose="020B0504020201020104" pitchFamily="34" charset="0"/>
                <a:ea typeface="+mn-ea"/>
                <a:cs typeface="+mn-cs"/>
              </a:defRPr>
            </a:lvl1pPr>
            <a:lvl2pPr>
              <a:defRPr sz="13800">
                <a:solidFill>
                  <a:schemeClr val="tx1"/>
                </a:solidFill>
              </a:defRPr>
            </a:lvl2pPr>
            <a:lvl3pPr>
              <a:defRPr sz="11500">
                <a:solidFill>
                  <a:schemeClr val="tx1"/>
                </a:solidFill>
              </a:defRPr>
            </a:lvl3pPr>
            <a:lvl4pPr>
              <a:defRPr sz="9600">
                <a:solidFill>
                  <a:schemeClr val="tx1"/>
                </a:solidFill>
              </a:defRPr>
            </a:lvl4pPr>
            <a:lvl5pPr>
              <a:defRPr sz="9600">
                <a:solidFill>
                  <a:schemeClr val="tx1"/>
                </a:solidFill>
              </a:defRPr>
            </a:lvl5pPr>
          </a:lstStyle>
          <a:p>
            <a:pPr lvl="0"/>
            <a:r>
              <a:rPr lang="en-US"/>
              <a:t>00</a:t>
            </a:r>
          </a:p>
        </p:txBody>
      </p:sp>
    </p:spTree>
    <p:extLst>
      <p:ext uri="{BB962C8B-B14F-4D97-AF65-F5344CB8AC3E}">
        <p14:creationId xmlns:p14="http://schemas.microsoft.com/office/powerpoint/2010/main" val="1678357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Divider Grey">
    <p:spTree>
      <p:nvGrpSpPr>
        <p:cNvPr id="1" name=""/>
        <p:cNvGrpSpPr/>
        <p:nvPr/>
      </p:nvGrpSpPr>
      <p:grpSpPr>
        <a:xfrm>
          <a:off x="0" y="0"/>
          <a:ext cx="0" cy="0"/>
          <a:chOff x="0" y="0"/>
          <a:chExt cx="0" cy="0"/>
        </a:xfrm>
      </p:grpSpPr>
      <p:graphicFrame>
        <p:nvGraphicFramePr>
          <p:cNvPr id="4" name="Objeto 3" hidden="1">
            <a:extLst>
              <a:ext uri="{FF2B5EF4-FFF2-40B4-BE49-F238E27FC236}">
                <a16:creationId xmlns:a16="http://schemas.microsoft.com/office/drawing/2014/main" id="{83CCEE40-A786-4899-94C9-43ADF4B07A12}"/>
              </a:ext>
            </a:extLst>
          </p:cNvPr>
          <p:cNvGraphicFramePr>
            <a:graphicFrameLocks noChangeAspect="1"/>
          </p:cNvGraphicFramePr>
          <p:nvPr userDrawn="1">
            <p:custDataLst>
              <p:tags r:id="rId1"/>
            </p:custDataLst>
            <p:extLst>
              <p:ext uri="{D42A27DB-BD31-4B8C-83A1-F6EECF244321}">
                <p14:modId xmlns:p14="http://schemas.microsoft.com/office/powerpoint/2010/main" val="23976500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4" name="Objeto 3" hidden="1">
                        <a:extLst>
                          <a:ext uri="{FF2B5EF4-FFF2-40B4-BE49-F238E27FC236}">
                            <a16:creationId xmlns:a16="http://schemas.microsoft.com/office/drawing/2014/main" id="{83CCEE40-A786-4899-94C9-43ADF4B07A1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ángulo 2" hidden="1">
            <a:extLst>
              <a:ext uri="{FF2B5EF4-FFF2-40B4-BE49-F238E27FC236}">
                <a16:creationId xmlns:a16="http://schemas.microsoft.com/office/drawing/2014/main" id="{5C9F7905-6FAF-4963-A3D5-C6F01180C2F5}"/>
              </a:ext>
            </a:extLst>
          </p:cNvPr>
          <p:cNvSpPr/>
          <p:nvPr userDrawn="1">
            <p:custDataLst>
              <p:tags r:id="rId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lang="en-US" sz="5000" b="0" i="0" baseline="0">
              <a:latin typeface="Santander Headline" panose="020B0504020201020104" pitchFamily="34" charset="0"/>
              <a:ea typeface="+mj-ea"/>
              <a:cs typeface="+mj-cs"/>
              <a:sym typeface="Santander Headline" panose="020B0504020201020104" pitchFamily="34" charset="0"/>
            </a:endParaRPr>
          </a:p>
        </p:txBody>
      </p:sp>
      <p:sp>
        <p:nvSpPr>
          <p:cNvPr id="7" name="Forma libre: forma 6">
            <a:extLst>
              <a:ext uri="{FF2B5EF4-FFF2-40B4-BE49-F238E27FC236}">
                <a16:creationId xmlns:a16="http://schemas.microsoft.com/office/drawing/2014/main" id="{49C540BB-A189-4361-ABD8-4DA84C6612C3}"/>
              </a:ext>
            </a:extLst>
          </p:cNvPr>
          <p:cNvSpPr/>
          <p:nvPr userDrawn="1"/>
        </p:nvSpPr>
        <p:spPr>
          <a:xfrm>
            <a:off x="8925340" y="0"/>
            <a:ext cx="3266660" cy="6858000"/>
          </a:xfrm>
          <a:custGeom>
            <a:avLst/>
            <a:gdLst>
              <a:gd name="connsiteX0" fmla="*/ 1630018 w 3266660"/>
              <a:gd name="connsiteY0" fmla="*/ 0 h 6858000"/>
              <a:gd name="connsiteX1" fmla="*/ 3266660 w 3266660"/>
              <a:gd name="connsiteY1" fmla="*/ 0 h 6858000"/>
              <a:gd name="connsiteX2" fmla="*/ 3266660 w 3266660"/>
              <a:gd name="connsiteY2" fmla="*/ 6858000 h 6858000"/>
              <a:gd name="connsiteX3" fmla="*/ 0 w 3266660"/>
              <a:gd name="connsiteY3" fmla="*/ 6858000 h 6858000"/>
              <a:gd name="connsiteX4" fmla="*/ 0 w 3266660"/>
              <a:gd name="connsiteY4" fmla="*/ 2822713 h 6858000"/>
              <a:gd name="connsiteX5" fmla="*/ 1630018 w 3266660"/>
              <a:gd name="connsiteY5" fmla="*/ 282271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66660" h="6858000">
                <a:moveTo>
                  <a:pt x="1630018" y="0"/>
                </a:moveTo>
                <a:lnTo>
                  <a:pt x="3266660" y="0"/>
                </a:lnTo>
                <a:lnTo>
                  <a:pt x="3266660" y="6858000"/>
                </a:lnTo>
                <a:lnTo>
                  <a:pt x="0" y="6858000"/>
                </a:lnTo>
                <a:lnTo>
                  <a:pt x="0" y="2822713"/>
                </a:lnTo>
                <a:lnTo>
                  <a:pt x="1630018" y="2822713"/>
                </a:lnTo>
                <a:close/>
              </a:path>
            </a:pathLst>
          </a:cu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 name="Título 1">
            <a:extLst>
              <a:ext uri="{FF2B5EF4-FFF2-40B4-BE49-F238E27FC236}">
                <a16:creationId xmlns:a16="http://schemas.microsoft.com/office/drawing/2014/main" id="{B045CB15-1F44-40E1-909E-6233010BC133}"/>
              </a:ext>
            </a:extLst>
          </p:cNvPr>
          <p:cNvSpPr>
            <a:spLocks noGrp="1"/>
          </p:cNvSpPr>
          <p:nvPr>
            <p:ph type="title" hasCustomPrompt="1"/>
          </p:nvPr>
        </p:nvSpPr>
        <p:spPr>
          <a:xfrm>
            <a:off x="722519" y="626373"/>
            <a:ext cx="4386194" cy="2852737"/>
          </a:xfrm>
        </p:spPr>
        <p:txBody>
          <a:bodyPr anchor="t">
            <a:normAutofit/>
          </a:bodyPr>
          <a:lstStyle>
            <a:lvl1pPr>
              <a:lnSpc>
                <a:spcPct val="100000"/>
              </a:lnSpc>
              <a:defRPr lang="en-US" sz="5000" kern="1200" dirty="0">
                <a:solidFill>
                  <a:schemeClr val="accent1"/>
                </a:solidFill>
                <a:latin typeface="Santander Headline" panose="020B0504020201020104" pitchFamily="34" charset="0"/>
                <a:ea typeface="+mj-ea"/>
                <a:cs typeface="+mj-cs"/>
              </a:defRPr>
            </a:lvl1pPr>
          </a:lstStyle>
          <a:p>
            <a:r>
              <a:rPr lang="en-US"/>
              <a:t>Click to edit Master title </a:t>
            </a:r>
            <a:br>
              <a:rPr lang="en-US"/>
            </a:br>
            <a:r>
              <a:rPr lang="en-US"/>
              <a:t>style</a:t>
            </a:r>
          </a:p>
        </p:txBody>
      </p:sp>
      <p:sp>
        <p:nvSpPr>
          <p:cNvPr id="14" name="Marcador de texto 13">
            <a:extLst>
              <a:ext uri="{FF2B5EF4-FFF2-40B4-BE49-F238E27FC236}">
                <a16:creationId xmlns:a16="http://schemas.microsoft.com/office/drawing/2014/main" id="{6E38BAEA-EEE9-4346-9DB7-91D26BC942D7}"/>
              </a:ext>
            </a:extLst>
          </p:cNvPr>
          <p:cNvSpPr>
            <a:spLocks noGrp="1"/>
          </p:cNvSpPr>
          <p:nvPr>
            <p:ph type="body" sz="quarter" idx="14" hasCustomPrompt="1"/>
          </p:nvPr>
        </p:nvSpPr>
        <p:spPr>
          <a:xfrm>
            <a:off x="8945217" y="3270526"/>
            <a:ext cx="2958754" cy="2364961"/>
          </a:xfrm>
        </p:spPr>
        <p:txBody>
          <a:bodyPr>
            <a:noAutofit/>
          </a:bodyPr>
          <a:lstStyle>
            <a:lvl1pPr marL="0" indent="0" algn="r">
              <a:buFontTx/>
              <a:buNone/>
              <a:defRPr lang="es-ES" sz="16600" kern="1200" dirty="0">
                <a:solidFill>
                  <a:schemeClr val="bg1"/>
                </a:solidFill>
                <a:latin typeface="Santander Text" panose="020B0504020201020104" pitchFamily="34" charset="0"/>
                <a:ea typeface="+mn-ea"/>
                <a:cs typeface="+mn-cs"/>
              </a:defRPr>
            </a:lvl1pPr>
            <a:lvl2pPr>
              <a:defRPr sz="13800">
                <a:solidFill>
                  <a:schemeClr val="tx1"/>
                </a:solidFill>
              </a:defRPr>
            </a:lvl2pPr>
            <a:lvl3pPr>
              <a:defRPr sz="11500">
                <a:solidFill>
                  <a:schemeClr val="tx1"/>
                </a:solidFill>
              </a:defRPr>
            </a:lvl3pPr>
            <a:lvl4pPr>
              <a:defRPr sz="9600">
                <a:solidFill>
                  <a:schemeClr val="tx1"/>
                </a:solidFill>
              </a:defRPr>
            </a:lvl4pPr>
            <a:lvl5pPr>
              <a:defRPr sz="9600">
                <a:solidFill>
                  <a:schemeClr val="tx1"/>
                </a:solidFill>
              </a:defRPr>
            </a:lvl5pPr>
          </a:lstStyle>
          <a:p>
            <a:pPr lvl="0"/>
            <a:r>
              <a:rPr lang="en-US"/>
              <a:t>00</a:t>
            </a:r>
          </a:p>
        </p:txBody>
      </p:sp>
    </p:spTree>
    <p:extLst>
      <p:ext uri="{BB962C8B-B14F-4D97-AF65-F5344CB8AC3E}">
        <p14:creationId xmlns:p14="http://schemas.microsoft.com/office/powerpoint/2010/main" val="1739614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hank you - Contact ">
    <p:spTree>
      <p:nvGrpSpPr>
        <p:cNvPr id="1" name=""/>
        <p:cNvGrpSpPr/>
        <p:nvPr/>
      </p:nvGrpSpPr>
      <p:grpSpPr>
        <a:xfrm>
          <a:off x="0" y="0"/>
          <a:ext cx="0" cy="0"/>
          <a:chOff x="0" y="0"/>
          <a:chExt cx="0" cy="0"/>
        </a:xfrm>
      </p:grpSpPr>
      <p:sp>
        <p:nvSpPr>
          <p:cNvPr id="19" name="Forma libre: forma 18">
            <a:extLst>
              <a:ext uri="{FF2B5EF4-FFF2-40B4-BE49-F238E27FC236}">
                <a16:creationId xmlns:a16="http://schemas.microsoft.com/office/drawing/2014/main" id="{B61CF4CC-ED27-4967-A11A-B838DFD4D9A3}"/>
              </a:ext>
            </a:extLst>
          </p:cNvPr>
          <p:cNvSpPr/>
          <p:nvPr userDrawn="1"/>
        </p:nvSpPr>
        <p:spPr>
          <a:xfrm>
            <a:off x="0" y="5229922"/>
            <a:ext cx="12192000" cy="1628078"/>
          </a:xfrm>
          <a:custGeom>
            <a:avLst/>
            <a:gdLst>
              <a:gd name="connsiteX0" fmla="*/ 8943278 w 12192000"/>
              <a:gd name="connsiteY0" fmla="*/ 0 h 1628078"/>
              <a:gd name="connsiteX1" fmla="*/ 12192000 w 12192000"/>
              <a:gd name="connsiteY1" fmla="*/ 0 h 1628078"/>
              <a:gd name="connsiteX2" fmla="*/ 12192000 w 12192000"/>
              <a:gd name="connsiteY2" fmla="*/ 1628078 h 1628078"/>
              <a:gd name="connsiteX3" fmla="*/ 0 w 12192000"/>
              <a:gd name="connsiteY3" fmla="*/ 1628078 h 1628078"/>
              <a:gd name="connsiteX4" fmla="*/ 0 w 12192000"/>
              <a:gd name="connsiteY4" fmla="*/ 1226634 h 1628078"/>
              <a:gd name="connsiteX5" fmla="*/ 8943278 w 12192000"/>
              <a:gd name="connsiteY5" fmla="*/ 1226634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1628078">
                <a:moveTo>
                  <a:pt x="8943278" y="0"/>
                </a:moveTo>
                <a:lnTo>
                  <a:pt x="12192000" y="0"/>
                </a:lnTo>
                <a:lnTo>
                  <a:pt x="12192000" y="1628078"/>
                </a:lnTo>
                <a:lnTo>
                  <a:pt x="0" y="1628078"/>
                </a:lnTo>
                <a:lnTo>
                  <a:pt x="0" y="1226634"/>
                </a:lnTo>
                <a:lnTo>
                  <a:pt x="8943278" y="1226634"/>
                </a:lnTo>
                <a:close/>
              </a:path>
            </a:pathLst>
          </a:cu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Resultado de imagen de DJSI Member Log">
            <a:extLst>
              <a:ext uri="{FF2B5EF4-FFF2-40B4-BE49-F238E27FC236}">
                <a16:creationId xmlns:a16="http://schemas.microsoft.com/office/drawing/2014/main" id="{892B8B9E-DEBC-4365-A4A8-EB9654BA3099}"/>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5796918" y="5573143"/>
            <a:ext cx="1347482" cy="455449"/>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upo 19">
            <a:extLst>
              <a:ext uri="{FF2B5EF4-FFF2-40B4-BE49-F238E27FC236}">
                <a16:creationId xmlns:a16="http://schemas.microsoft.com/office/drawing/2014/main" id="{246620ED-93B0-4966-8E36-4B883B49E634}"/>
              </a:ext>
            </a:extLst>
          </p:cNvPr>
          <p:cNvGrpSpPr/>
          <p:nvPr userDrawn="1"/>
        </p:nvGrpSpPr>
        <p:grpSpPr>
          <a:xfrm>
            <a:off x="7612559" y="5573576"/>
            <a:ext cx="578707" cy="455017"/>
            <a:chOff x="2203451" y="-4230356"/>
            <a:chExt cx="6896100" cy="5422158"/>
          </a:xfrm>
        </p:grpSpPr>
        <p:pic>
          <p:nvPicPr>
            <p:cNvPr id="22" name="Imagen 21" descr="Imagen relacionada">
              <a:extLst>
                <a:ext uri="{FF2B5EF4-FFF2-40B4-BE49-F238E27FC236}">
                  <a16:creationId xmlns:a16="http://schemas.microsoft.com/office/drawing/2014/main" id="{E4D48186-AF8E-4052-97D2-CCAFD0E1AC7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l="22544" t="3352" r="22378" b="28229"/>
            <a:stretch>
              <a:fillRect/>
            </a:stretch>
          </p:blipFill>
          <p:spPr bwMode="auto">
            <a:xfrm>
              <a:off x="3758085" y="-4230356"/>
              <a:ext cx="3798276" cy="3838472"/>
            </a:xfrm>
            <a:custGeom>
              <a:avLst/>
              <a:gdLst>
                <a:gd name="connsiteX0" fmla="*/ 1899138 w 3798276"/>
                <a:gd name="connsiteY0" fmla="*/ 0 h 3838472"/>
                <a:gd name="connsiteX1" fmla="*/ 3798276 w 3798276"/>
                <a:gd name="connsiteY1" fmla="*/ 1919236 h 3838472"/>
                <a:gd name="connsiteX2" fmla="*/ 1899138 w 3798276"/>
                <a:gd name="connsiteY2" fmla="*/ 3838472 h 3838472"/>
                <a:gd name="connsiteX3" fmla="*/ 0 w 3798276"/>
                <a:gd name="connsiteY3" fmla="*/ 1919236 h 3838472"/>
                <a:gd name="connsiteX4" fmla="*/ 1899138 w 3798276"/>
                <a:gd name="connsiteY4" fmla="*/ 0 h 3838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8276" h="3838472">
                  <a:moveTo>
                    <a:pt x="1899138" y="0"/>
                  </a:moveTo>
                  <a:cubicBezTo>
                    <a:pt x="2948003" y="0"/>
                    <a:pt x="3798276" y="859271"/>
                    <a:pt x="3798276" y="1919236"/>
                  </a:cubicBezTo>
                  <a:cubicBezTo>
                    <a:pt x="3798276" y="2979201"/>
                    <a:pt x="2948003" y="3838472"/>
                    <a:pt x="1899138" y="3838472"/>
                  </a:cubicBezTo>
                  <a:cubicBezTo>
                    <a:pt x="850273" y="3838472"/>
                    <a:pt x="0" y="2979201"/>
                    <a:pt x="0" y="1919236"/>
                  </a:cubicBezTo>
                  <a:cubicBezTo>
                    <a:pt x="0" y="859271"/>
                    <a:pt x="850273" y="0"/>
                    <a:pt x="1899138" y="0"/>
                  </a:cubicBezTo>
                  <a:close/>
                </a:path>
              </a:pathLst>
            </a:custGeom>
            <a:noFill/>
            <a:extLst>
              <a:ext uri="{909E8E84-426E-40DD-AFC4-6F175D3DCCD1}">
                <a14:hiddenFill xmlns:a14="http://schemas.microsoft.com/office/drawing/2010/main">
                  <a:solidFill>
                    <a:srgbClr val="FFFFFF"/>
                  </a:solidFill>
                </a14:hiddenFill>
              </a:ext>
            </a:extLst>
          </p:spPr>
        </p:pic>
        <p:pic>
          <p:nvPicPr>
            <p:cNvPr id="24" name="Imagen 23" descr="Imagen relacionada">
              <a:extLst>
                <a:ext uri="{FF2B5EF4-FFF2-40B4-BE49-F238E27FC236}">
                  <a16:creationId xmlns:a16="http://schemas.microsoft.com/office/drawing/2014/main" id="{411507B2-E393-4DDC-B151-70751F9943CB}"/>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t="78757"/>
            <a:stretch>
              <a:fillRect/>
            </a:stretch>
          </p:blipFill>
          <p:spPr bwMode="auto">
            <a:xfrm>
              <a:off x="2203451" y="0"/>
              <a:ext cx="6896100" cy="1191802"/>
            </a:xfrm>
            <a:custGeom>
              <a:avLst/>
              <a:gdLst>
                <a:gd name="connsiteX0" fmla="*/ 0 w 6896100"/>
                <a:gd name="connsiteY0" fmla="*/ 0 h 1191802"/>
                <a:gd name="connsiteX1" fmla="*/ 6896100 w 6896100"/>
                <a:gd name="connsiteY1" fmla="*/ 0 h 1191802"/>
                <a:gd name="connsiteX2" fmla="*/ 6896100 w 6896100"/>
                <a:gd name="connsiteY2" fmla="*/ 1191802 h 1191802"/>
                <a:gd name="connsiteX3" fmla="*/ 0 w 6896100"/>
                <a:gd name="connsiteY3" fmla="*/ 1191802 h 1191802"/>
              </a:gdLst>
              <a:ahLst/>
              <a:cxnLst>
                <a:cxn ang="0">
                  <a:pos x="connsiteX0" y="connsiteY0"/>
                </a:cxn>
                <a:cxn ang="0">
                  <a:pos x="connsiteX1" y="connsiteY1"/>
                </a:cxn>
                <a:cxn ang="0">
                  <a:pos x="connsiteX2" y="connsiteY2"/>
                </a:cxn>
                <a:cxn ang="0">
                  <a:pos x="connsiteX3" y="connsiteY3"/>
                </a:cxn>
              </a:cxnLst>
              <a:rect l="l" t="t" r="r" b="b"/>
              <a:pathLst>
                <a:path w="6896100" h="1191802">
                  <a:moveTo>
                    <a:pt x="0" y="0"/>
                  </a:moveTo>
                  <a:lnTo>
                    <a:pt x="6896100" y="0"/>
                  </a:lnTo>
                  <a:lnTo>
                    <a:pt x="6896100" y="1191802"/>
                  </a:lnTo>
                  <a:lnTo>
                    <a:pt x="0" y="1191802"/>
                  </a:lnTo>
                  <a:close/>
                </a:path>
              </a:pathLst>
            </a:custGeom>
            <a:noFill/>
            <a:extLst>
              <a:ext uri="{909E8E84-426E-40DD-AFC4-6F175D3DCCD1}">
                <a14:hiddenFill xmlns:a14="http://schemas.microsoft.com/office/drawing/2010/main">
                  <a:solidFill>
                    <a:srgbClr val="FFFFFF"/>
                  </a:solidFill>
                </a14:hiddenFill>
              </a:ext>
            </a:extLst>
          </p:spPr>
        </p:pic>
      </p:grpSp>
      <p:sp>
        <p:nvSpPr>
          <p:cNvPr id="28" name="CuadroTexto 27">
            <a:extLst>
              <a:ext uri="{FF2B5EF4-FFF2-40B4-BE49-F238E27FC236}">
                <a16:creationId xmlns:a16="http://schemas.microsoft.com/office/drawing/2014/main" id="{68E35268-345F-47C7-ADB2-CE92421E8EED}"/>
              </a:ext>
            </a:extLst>
          </p:cNvPr>
          <p:cNvSpPr txBox="1"/>
          <p:nvPr userDrawn="1"/>
        </p:nvSpPr>
        <p:spPr>
          <a:xfrm>
            <a:off x="721506" y="628193"/>
            <a:ext cx="3365478" cy="769441"/>
          </a:xfrm>
          <a:prstGeom prst="rect">
            <a:avLst/>
          </a:prstGeom>
          <a:noFill/>
        </p:spPr>
        <p:txBody>
          <a:bodyPr wrap="square" rtlCol="0">
            <a:spAutoFit/>
          </a:bodyPr>
          <a:lstStyle/>
          <a:p>
            <a:r>
              <a:rPr lang="en-US" sz="4400">
                <a:solidFill>
                  <a:schemeClr val="accent1"/>
                </a:solidFill>
                <a:latin typeface="Santander Headline" panose="020B0504020201020104" pitchFamily="34" charset="0"/>
              </a:rPr>
              <a:t>Thank You.</a:t>
            </a:r>
          </a:p>
        </p:txBody>
      </p:sp>
      <p:sp>
        <p:nvSpPr>
          <p:cNvPr id="31" name="Forma libre: forma 30">
            <a:extLst>
              <a:ext uri="{FF2B5EF4-FFF2-40B4-BE49-F238E27FC236}">
                <a16:creationId xmlns:a16="http://schemas.microsoft.com/office/drawing/2014/main" id="{073BDF73-2FC7-4E8C-B95B-B68B9F5D3BE9}"/>
              </a:ext>
            </a:extLst>
          </p:cNvPr>
          <p:cNvSpPr/>
          <p:nvPr userDrawn="1"/>
        </p:nvSpPr>
        <p:spPr>
          <a:xfrm>
            <a:off x="0" y="5229922"/>
            <a:ext cx="12196689" cy="1628078"/>
          </a:xfrm>
          <a:custGeom>
            <a:avLst/>
            <a:gdLst>
              <a:gd name="connsiteX0" fmla="*/ 8932985 w 12196689"/>
              <a:gd name="connsiteY0" fmla="*/ 0 h 1628078"/>
              <a:gd name="connsiteX1" fmla="*/ 12196689 w 12196689"/>
              <a:gd name="connsiteY1" fmla="*/ 0 h 1628078"/>
              <a:gd name="connsiteX2" fmla="*/ 12196689 w 12196689"/>
              <a:gd name="connsiteY2" fmla="*/ 1628078 h 1628078"/>
              <a:gd name="connsiteX3" fmla="*/ 0 w 12196689"/>
              <a:gd name="connsiteY3" fmla="*/ 1628078 h 1628078"/>
              <a:gd name="connsiteX4" fmla="*/ 0 w 12196689"/>
              <a:gd name="connsiteY4" fmla="*/ 1213081 h 1628078"/>
              <a:gd name="connsiteX5" fmla="*/ 8932985 w 12196689"/>
              <a:gd name="connsiteY5" fmla="*/ 1213081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6689" h="1628078">
                <a:moveTo>
                  <a:pt x="8932985" y="0"/>
                </a:moveTo>
                <a:lnTo>
                  <a:pt x="12196689" y="0"/>
                </a:lnTo>
                <a:lnTo>
                  <a:pt x="12196689" y="1628078"/>
                </a:lnTo>
                <a:lnTo>
                  <a:pt x="0" y="1628078"/>
                </a:lnTo>
                <a:lnTo>
                  <a:pt x="0" y="1213081"/>
                </a:lnTo>
                <a:lnTo>
                  <a:pt x="8932985" y="121308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3" name="CuadroTexto 22">
            <a:extLst>
              <a:ext uri="{FF2B5EF4-FFF2-40B4-BE49-F238E27FC236}">
                <a16:creationId xmlns:a16="http://schemas.microsoft.com/office/drawing/2014/main" id="{ED8DE98D-F6CC-430D-8114-C2C3604EE89D}"/>
              </a:ext>
            </a:extLst>
          </p:cNvPr>
          <p:cNvSpPr txBox="1"/>
          <p:nvPr userDrawn="1"/>
        </p:nvSpPr>
        <p:spPr>
          <a:xfrm>
            <a:off x="719288" y="1895911"/>
            <a:ext cx="3365478" cy="1169551"/>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solidFill>
                  <a:schemeClr val="tx2"/>
                </a:solidFill>
                <a:latin typeface="Santander Text" panose="020B0504020201020104" pitchFamily="34" charset="0"/>
              </a:rPr>
              <a:t>Our purpose is to help people and businesses prosper.</a:t>
            </a:r>
          </a:p>
          <a:p>
            <a:endParaRPr lang="en-US" sz="1400">
              <a:solidFill>
                <a:schemeClr val="tx2"/>
              </a:solidFill>
              <a:latin typeface="Santander Text" panose="020B0504020201020104" pitchFamily="34" charset="0"/>
            </a:endParaRPr>
          </a:p>
          <a:p>
            <a:r>
              <a:rPr lang="en-US" sz="1400">
                <a:solidFill>
                  <a:schemeClr val="tx2"/>
                </a:solidFill>
                <a:latin typeface="Santander Text" panose="020B0504020201020104" pitchFamily="34" charset="0"/>
              </a:rPr>
              <a:t>Our culture is based on believing </a:t>
            </a:r>
            <a:br>
              <a:rPr lang="en-US" sz="1400">
                <a:solidFill>
                  <a:schemeClr val="tx2"/>
                </a:solidFill>
                <a:latin typeface="Santander Text" panose="020B0504020201020104" pitchFamily="34" charset="0"/>
              </a:rPr>
            </a:br>
            <a:r>
              <a:rPr lang="en-US" sz="1400">
                <a:solidFill>
                  <a:schemeClr val="tx2"/>
                </a:solidFill>
                <a:latin typeface="Santander Text" panose="020B0504020201020104" pitchFamily="34" charset="0"/>
              </a:rPr>
              <a:t>that everything we do should be:</a:t>
            </a:r>
          </a:p>
        </p:txBody>
      </p:sp>
      <p:sp>
        <p:nvSpPr>
          <p:cNvPr id="18" name="Freeform 5">
            <a:extLst>
              <a:ext uri="{FF2B5EF4-FFF2-40B4-BE49-F238E27FC236}">
                <a16:creationId xmlns:a16="http://schemas.microsoft.com/office/drawing/2014/main" id="{9CE02EA9-2BA7-4D33-B913-E344024014FE}"/>
              </a:ext>
            </a:extLst>
          </p:cNvPr>
          <p:cNvSpPr>
            <a:spLocks noEditPoints="1"/>
          </p:cNvSpPr>
          <p:nvPr userDrawn="1"/>
        </p:nvSpPr>
        <p:spPr bwMode="auto">
          <a:xfrm>
            <a:off x="822325" y="5727700"/>
            <a:ext cx="1898650" cy="334963"/>
          </a:xfrm>
          <a:custGeom>
            <a:avLst/>
            <a:gdLst>
              <a:gd name="T0" fmla="*/ 319 w 3262"/>
              <a:gd name="T1" fmla="*/ 39 h 572"/>
              <a:gd name="T2" fmla="*/ 300 w 3262"/>
              <a:gd name="T3" fmla="*/ 137 h 572"/>
              <a:gd name="T4" fmla="*/ 371 w 3262"/>
              <a:gd name="T5" fmla="*/ 405 h 572"/>
              <a:gd name="T6" fmla="*/ 244 w 3262"/>
              <a:gd name="T7" fmla="*/ 170 h 572"/>
              <a:gd name="T8" fmla="*/ 225 w 3262"/>
              <a:gd name="T9" fmla="*/ 267 h 572"/>
              <a:gd name="T10" fmla="*/ 300 w 3262"/>
              <a:gd name="T11" fmla="*/ 528 h 572"/>
              <a:gd name="T12" fmla="*/ 187 w 3262"/>
              <a:gd name="T13" fmla="*/ 333 h 572"/>
              <a:gd name="T14" fmla="*/ 300 w 3262"/>
              <a:gd name="T15" fmla="*/ 572 h 572"/>
              <a:gd name="T16" fmla="*/ 714 w 3262"/>
              <a:gd name="T17" fmla="*/ 540 h 572"/>
              <a:gd name="T18" fmla="*/ 910 w 3262"/>
              <a:gd name="T19" fmla="*/ 455 h 572"/>
              <a:gd name="T20" fmla="*/ 717 w 3262"/>
              <a:gd name="T21" fmla="*/ 258 h 572"/>
              <a:gd name="T22" fmla="*/ 945 w 3262"/>
              <a:gd name="T23" fmla="*/ 226 h 572"/>
              <a:gd name="T24" fmla="*/ 842 w 3262"/>
              <a:gd name="T25" fmla="*/ 322 h 572"/>
              <a:gd name="T26" fmla="*/ 829 w 3262"/>
              <a:gd name="T27" fmla="*/ 561 h 572"/>
              <a:gd name="T28" fmla="*/ 1277 w 3262"/>
              <a:gd name="T29" fmla="*/ 552 h 572"/>
              <a:gd name="T30" fmla="*/ 1138 w 3262"/>
              <a:gd name="T31" fmla="*/ 559 h 572"/>
              <a:gd name="T32" fmla="*/ 1277 w 3262"/>
              <a:gd name="T33" fmla="*/ 270 h 572"/>
              <a:gd name="T34" fmla="*/ 1171 w 3262"/>
              <a:gd name="T35" fmla="*/ 307 h 572"/>
              <a:gd name="T36" fmla="*/ 1215 w 3262"/>
              <a:gd name="T37" fmla="*/ 488 h 572"/>
              <a:gd name="T38" fmla="*/ 1533 w 3262"/>
              <a:gd name="T39" fmla="*/ 552 h 572"/>
              <a:gd name="T40" fmla="*/ 1407 w 3262"/>
              <a:gd name="T41" fmla="*/ 312 h 572"/>
              <a:gd name="T42" fmla="*/ 1345 w 3262"/>
              <a:gd name="T43" fmla="*/ 270 h 572"/>
              <a:gd name="T44" fmla="*/ 1767 w 3262"/>
              <a:gd name="T45" fmla="*/ 506 h 572"/>
              <a:gd name="T46" fmla="*/ 1756 w 3262"/>
              <a:gd name="T47" fmla="*/ 559 h 572"/>
              <a:gd name="T48" fmla="*/ 1719 w 3262"/>
              <a:gd name="T49" fmla="*/ 157 h 572"/>
              <a:gd name="T50" fmla="*/ 1812 w 3262"/>
              <a:gd name="T51" fmla="*/ 317 h 572"/>
              <a:gd name="T52" fmla="*/ 1767 w 3262"/>
              <a:gd name="T53" fmla="*/ 506 h 572"/>
              <a:gd name="T54" fmla="*/ 2043 w 3262"/>
              <a:gd name="T55" fmla="*/ 552 h 572"/>
              <a:gd name="T56" fmla="*/ 1836 w 3262"/>
              <a:gd name="T57" fmla="*/ 410 h 572"/>
              <a:gd name="T58" fmla="*/ 2038 w 3262"/>
              <a:gd name="T59" fmla="*/ 488 h 572"/>
              <a:gd name="T60" fmla="*/ 1899 w 3262"/>
              <a:gd name="T61" fmla="*/ 410 h 572"/>
              <a:gd name="T62" fmla="*/ 2418 w 3262"/>
              <a:gd name="T63" fmla="*/ 363 h 572"/>
              <a:gd name="T64" fmla="*/ 2356 w 3262"/>
              <a:gd name="T65" fmla="*/ 373 h 572"/>
              <a:gd name="T66" fmla="*/ 2230 w 3262"/>
              <a:gd name="T67" fmla="*/ 552 h 572"/>
              <a:gd name="T68" fmla="*/ 2281 w 3262"/>
              <a:gd name="T69" fmla="*/ 254 h 572"/>
              <a:gd name="T70" fmla="*/ 2733 w 3262"/>
              <a:gd name="T71" fmla="*/ 552 h 572"/>
              <a:gd name="T72" fmla="*/ 2591 w 3262"/>
              <a:gd name="T73" fmla="*/ 559 h 572"/>
              <a:gd name="T74" fmla="*/ 2671 w 3262"/>
              <a:gd name="T75" fmla="*/ 259 h 572"/>
              <a:gd name="T76" fmla="*/ 2671 w 3262"/>
              <a:gd name="T77" fmla="*/ 487 h 572"/>
              <a:gd name="T78" fmla="*/ 2531 w 3262"/>
              <a:gd name="T79" fmla="*/ 410 h 572"/>
              <a:gd name="T80" fmla="*/ 3045 w 3262"/>
              <a:gd name="T81" fmla="*/ 432 h 572"/>
              <a:gd name="T82" fmla="*/ 3038 w 3262"/>
              <a:gd name="T83" fmla="*/ 485 h 572"/>
              <a:gd name="T84" fmla="*/ 2783 w 3262"/>
              <a:gd name="T85" fmla="*/ 405 h 572"/>
              <a:gd name="T86" fmla="*/ 3045 w 3262"/>
              <a:gd name="T87" fmla="*/ 432 h 572"/>
              <a:gd name="T88" fmla="*/ 2918 w 3262"/>
              <a:gd name="T89" fmla="*/ 306 h 572"/>
              <a:gd name="T90" fmla="*/ 3256 w 3262"/>
              <a:gd name="T91" fmla="*/ 310 h 572"/>
              <a:gd name="T92" fmla="*/ 3164 w 3262"/>
              <a:gd name="T93" fmla="*/ 552 h 572"/>
              <a:gd name="T94" fmla="*/ 3208 w 3262"/>
              <a:gd name="T95" fmla="*/ 254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262" h="572">
                <a:moveTo>
                  <a:pt x="430" y="262"/>
                </a:moveTo>
                <a:cubicBezTo>
                  <a:pt x="429" y="241"/>
                  <a:pt x="424" y="221"/>
                  <a:pt x="413" y="202"/>
                </a:cubicBezTo>
                <a:cubicBezTo>
                  <a:pt x="319" y="39"/>
                  <a:pt x="319" y="39"/>
                  <a:pt x="319" y="39"/>
                </a:cubicBezTo>
                <a:cubicBezTo>
                  <a:pt x="312" y="27"/>
                  <a:pt x="307" y="14"/>
                  <a:pt x="304" y="0"/>
                </a:cubicBezTo>
                <a:cubicBezTo>
                  <a:pt x="300" y="7"/>
                  <a:pt x="300" y="7"/>
                  <a:pt x="300" y="7"/>
                </a:cubicBezTo>
                <a:cubicBezTo>
                  <a:pt x="277" y="47"/>
                  <a:pt x="277" y="97"/>
                  <a:pt x="300" y="137"/>
                </a:cubicBezTo>
                <a:cubicBezTo>
                  <a:pt x="375" y="267"/>
                  <a:pt x="375" y="267"/>
                  <a:pt x="375" y="267"/>
                </a:cubicBezTo>
                <a:cubicBezTo>
                  <a:pt x="399" y="308"/>
                  <a:pt x="399" y="357"/>
                  <a:pt x="375" y="398"/>
                </a:cubicBezTo>
                <a:cubicBezTo>
                  <a:pt x="371" y="405"/>
                  <a:pt x="371" y="405"/>
                  <a:pt x="371" y="405"/>
                </a:cubicBezTo>
                <a:cubicBezTo>
                  <a:pt x="369" y="391"/>
                  <a:pt x="364" y="378"/>
                  <a:pt x="356" y="365"/>
                </a:cubicBezTo>
                <a:cubicBezTo>
                  <a:pt x="288" y="246"/>
                  <a:pt x="288" y="246"/>
                  <a:pt x="288" y="246"/>
                </a:cubicBezTo>
                <a:cubicBezTo>
                  <a:pt x="244" y="170"/>
                  <a:pt x="244" y="170"/>
                  <a:pt x="244" y="170"/>
                </a:cubicBezTo>
                <a:cubicBezTo>
                  <a:pt x="236" y="157"/>
                  <a:pt x="232" y="144"/>
                  <a:pt x="229" y="130"/>
                </a:cubicBezTo>
                <a:cubicBezTo>
                  <a:pt x="225" y="137"/>
                  <a:pt x="225" y="137"/>
                  <a:pt x="225" y="137"/>
                </a:cubicBezTo>
                <a:cubicBezTo>
                  <a:pt x="202" y="177"/>
                  <a:pt x="202" y="227"/>
                  <a:pt x="225" y="267"/>
                </a:cubicBezTo>
                <a:cubicBezTo>
                  <a:pt x="225" y="267"/>
                  <a:pt x="225" y="267"/>
                  <a:pt x="225" y="267"/>
                </a:cubicBezTo>
                <a:cubicBezTo>
                  <a:pt x="300" y="398"/>
                  <a:pt x="300" y="398"/>
                  <a:pt x="300" y="398"/>
                </a:cubicBezTo>
                <a:cubicBezTo>
                  <a:pt x="323" y="438"/>
                  <a:pt x="323" y="488"/>
                  <a:pt x="300" y="528"/>
                </a:cubicBezTo>
                <a:cubicBezTo>
                  <a:pt x="296" y="535"/>
                  <a:pt x="296" y="535"/>
                  <a:pt x="296" y="535"/>
                </a:cubicBezTo>
                <a:cubicBezTo>
                  <a:pt x="293" y="521"/>
                  <a:pt x="288" y="508"/>
                  <a:pt x="281" y="495"/>
                </a:cubicBezTo>
                <a:cubicBezTo>
                  <a:pt x="187" y="333"/>
                  <a:pt x="187" y="333"/>
                  <a:pt x="187" y="333"/>
                </a:cubicBezTo>
                <a:cubicBezTo>
                  <a:pt x="175" y="311"/>
                  <a:pt x="169" y="286"/>
                  <a:pt x="170" y="262"/>
                </a:cubicBezTo>
                <a:cubicBezTo>
                  <a:pt x="69" y="288"/>
                  <a:pt x="0" y="344"/>
                  <a:pt x="0" y="409"/>
                </a:cubicBezTo>
                <a:cubicBezTo>
                  <a:pt x="0" y="499"/>
                  <a:pt x="134" y="572"/>
                  <a:pt x="300" y="572"/>
                </a:cubicBezTo>
                <a:cubicBezTo>
                  <a:pt x="466" y="572"/>
                  <a:pt x="600" y="499"/>
                  <a:pt x="600" y="409"/>
                </a:cubicBezTo>
                <a:cubicBezTo>
                  <a:pt x="600" y="344"/>
                  <a:pt x="531" y="288"/>
                  <a:pt x="430" y="262"/>
                </a:cubicBezTo>
                <a:close/>
                <a:moveTo>
                  <a:pt x="714" y="540"/>
                </a:moveTo>
                <a:cubicBezTo>
                  <a:pt x="715" y="517"/>
                  <a:pt x="718" y="501"/>
                  <a:pt x="725" y="483"/>
                </a:cubicBezTo>
                <a:cubicBezTo>
                  <a:pt x="756" y="498"/>
                  <a:pt x="797" y="505"/>
                  <a:pt x="828" y="505"/>
                </a:cubicBezTo>
                <a:cubicBezTo>
                  <a:pt x="880" y="505"/>
                  <a:pt x="910" y="488"/>
                  <a:pt x="910" y="455"/>
                </a:cubicBezTo>
                <a:cubicBezTo>
                  <a:pt x="910" y="422"/>
                  <a:pt x="888" y="407"/>
                  <a:pt x="835" y="384"/>
                </a:cubicBezTo>
                <a:cubicBezTo>
                  <a:pt x="806" y="371"/>
                  <a:pt x="806" y="371"/>
                  <a:pt x="806" y="371"/>
                </a:cubicBezTo>
                <a:cubicBezTo>
                  <a:pt x="753" y="348"/>
                  <a:pt x="717" y="318"/>
                  <a:pt x="717" y="258"/>
                </a:cubicBezTo>
                <a:cubicBezTo>
                  <a:pt x="717" y="194"/>
                  <a:pt x="762" y="153"/>
                  <a:pt x="853" y="153"/>
                </a:cubicBezTo>
                <a:cubicBezTo>
                  <a:pt x="890" y="153"/>
                  <a:pt x="924" y="158"/>
                  <a:pt x="956" y="169"/>
                </a:cubicBezTo>
                <a:cubicBezTo>
                  <a:pt x="955" y="192"/>
                  <a:pt x="951" y="209"/>
                  <a:pt x="945" y="226"/>
                </a:cubicBezTo>
                <a:cubicBezTo>
                  <a:pt x="915" y="214"/>
                  <a:pt x="879" y="209"/>
                  <a:pt x="853" y="209"/>
                </a:cubicBezTo>
                <a:cubicBezTo>
                  <a:pt x="804" y="209"/>
                  <a:pt x="781" y="228"/>
                  <a:pt x="781" y="258"/>
                </a:cubicBezTo>
                <a:cubicBezTo>
                  <a:pt x="781" y="288"/>
                  <a:pt x="803" y="305"/>
                  <a:pt x="842" y="322"/>
                </a:cubicBezTo>
                <a:cubicBezTo>
                  <a:pt x="873" y="335"/>
                  <a:pt x="873" y="335"/>
                  <a:pt x="873" y="335"/>
                </a:cubicBezTo>
                <a:cubicBezTo>
                  <a:pt x="945" y="365"/>
                  <a:pt x="974" y="397"/>
                  <a:pt x="974" y="452"/>
                </a:cubicBezTo>
                <a:cubicBezTo>
                  <a:pt x="974" y="517"/>
                  <a:pt x="925" y="561"/>
                  <a:pt x="829" y="561"/>
                </a:cubicBezTo>
                <a:cubicBezTo>
                  <a:pt x="783" y="561"/>
                  <a:pt x="745" y="555"/>
                  <a:pt x="714" y="540"/>
                </a:cubicBezTo>
                <a:close/>
                <a:moveTo>
                  <a:pt x="1277" y="270"/>
                </a:moveTo>
                <a:cubicBezTo>
                  <a:pt x="1277" y="552"/>
                  <a:pt x="1277" y="552"/>
                  <a:pt x="1277" y="552"/>
                </a:cubicBezTo>
                <a:cubicBezTo>
                  <a:pt x="1220" y="552"/>
                  <a:pt x="1220" y="552"/>
                  <a:pt x="1220" y="552"/>
                </a:cubicBezTo>
                <a:cubicBezTo>
                  <a:pt x="1217" y="518"/>
                  <a:pt x="1217" y="518"/>
                  <a:pt x="1217" y="518"/>
                </a:cubicBezTo>
                <a:cubicBezTo>
                  <a:pt x="1201" y="543"/>
                  <a:pt x="1177" y="559"/>
                  <a:pt x="1138" y="559"/>
                </a:cubicBezTo>
                <a:cubicBezTo>
                  <a:pt x="1063" y="559"/>
                  <a:pt x="1013" y="505"/>
                  <a:pt x="1013" y="410"/>
                </a:cubicBezTo>
                <a:cubicBezTo>
                  <a:pt x="1013" y="311"/>
                  <a:pt x="1066" y="254"/>
                  <a:pt x="1171" y="254"/>
                </a:cubicBezTo>
                <a:cubicBezTo>
                  <a:pt x="1211" y="254"/>
                  <a:pt x="1245" y="259"/>
                  <a:pt x="1277" y="270"/>
                </a:cubicBezTo>
                <a:close/>
                <a:moveTo>
                  <a:pt x="1215" y="488"/>
                </a:moveTo>
                <a:cubicBezTo>
                  <a:pt x="1215" y="311"/>
                  <a:pt x="1215" y="311"/>
                  <a:pt x="1215" y="311"/>
                </a:cubicBezTo>
                <a:cubicBezTo>
                  <a:pt x="1202" y="309"/>
                  <a:pt x="1188" y="307"/>
                  <a:pt x="1171" y="307"/>
                </a:cubicBezTo>
                <a:cubicBezTo>
                  <a:pt x="1107" y="307"/>
                  <a:pt x="1077" y="347"/>
                  <a:pt x="1077" y="410"/>
                </a:cubicBezTo>
                <a:cubicBezTo>
                  <a:pt x="1077" y="468"/>
                  <a:pt x="1100" y="508"/>
                  <a:pt x="1155" y="508"/>
                </a:cubicBezTo>
                <a:cubicBezTo>
                  <a:pt x="1179" y="508"/>
                  <a:pt x="1199" y="500"/>
                  <a:pt x="1215" y="488"/>
                </a:cubicBezTo>
                <a:close/>
                <a:moveTo>
                  <a:pt x="1595" y="363"/>
                </a:moveTo>
                <a:cubicBezTo>
                  <a:pt x="1595" y="552"/>
                  <a:pt x="1595" y="552"/>
                  <a:pt x="1595" y="552"/>
                </a:cubicBezTo>
                <a:cubicBezTo>
                  <a:pt x="1533" y="552"/>
                  <a:pt x="1533" y="552"/>
                  <a:pt x="1533" y="552"/>
                </a:cubicBezTo>
                <a:cubicBezTo>
                  <a:pt x="1533" y="373"/>
                  <a:pt x="1533" y="373"/>
                  <a:pt x="1533" y="373"/>
                </a:cubicBezTo>
                <a:cubicBezTo>
                  <a:pt x="1533" y="329"/>
                  <a:pt x="1518" y="307"/>
                  <a:pt x="1456" y="307"/>
                </a:cubicBezTo>
                <a:cubicBezTo>
                  <a:pt x="1442" y="307"/>
                  <a:pt x="1424" y="309"/>
                  <a:pt x="1407" y="312"/>
                </a:cubicBezTo>
                <a:cubicBezTo>
                  <a:pt x="1407" y="552"/>
                  <a:pt x="1407" y="552"/>
                  <a:pt x="1407" y="552"/>
                </a:cubicBezTo>
                <a:cubicBezTo>
                  <a:pt x="1345" y="552"/>
                  <a:pt x="1345" y="552"/>
                  <a:pt x="1345" y="552"/>
                </a:cubicBezTo>
                <a:cubicBezTo>
                  <a:pt x="1345" y="270"/>
                  <a:pt x="1345" y="270"/>
                  <a:pt x="1345" y="270"/>
                </a:cubicBezTo>
                <a:cubicBezTo>
                  <a:pt x="1385" y="261"/>
                  <a:pt x="1428" y="254"/>
                  <a:pt x="1458" y="254"/>
                </a:cubicBezTo>
                <a:cubicBezTo>
                  <a:pt x="1562" y="254"/>
                  <a:pt x="1595" y="294"/>
                  <a:pt x="1595" y="363"/>
                </a:cubicBezTo>
                <a:close/>
                <a:moveTo>
                  <a:pt x="1767" y="506"/>
                </a:moveTo>
                <a:cubicBezTo>
                  <a:pt x="1785" y="506"/>
                  <a:pt x="1802" y="503"/>
                  <a:pt x="1816" y="498"/>
                </a:cubicBezTo>
                <a:cubicBezTo>
                  <a:pt x="1814" y="515"/>
                  <a:pt x="1812" y="534"/>
                  <a:pt x="1808" y="550"/>
                </a:cubicBezTo>
                <a:cubicBezTo>
                  <a:pt x="1791" y="557"/>
                  <a:pt x="1773" y="559"/>
                  <a:pt x="1756" y="559"/>
                </a:cubicBezTo>
                <a:cubicBezTo>
                  <a:pt x="1696" y="559"/>
                  <a:pt x="1657" y="531"/>
                  <a:pt x="1657" y="463"/>
                </a:cubicBezTo>
                <a:cubicBezTo>
                  <a:pt x="1657" y="166"/>
                  <a:pt x="1657" y="166"/>
                  <a:pt x="1657" y="166"/>
                </a:cubicBezTo>
                <a:cubicBezTo>
                  <a:pt x="1676" y="160"/>
                  <a:pt x="1700" y="157"/>
                  <a:pt x="1719" y="157"/>
                </a:cubicBezTo>
                <a:cubicBezTo>
                  <a:pt x="1719" y="264"/>
                  <a:pt x="1719" y="264"/>
                  <a:pt x="1719" y="264"/>
                </a:cubicBezTo>
                <a:cubicBezTo>
                  <a:pt x="1817" y="264"/>
                  <a:pt x="1817" y="264"/>
                  <a:pt x="1817" y="264"/>
                </a:cubicBezTo>
                <a:cubicBezTo>
                  <a:pt x="1816" y="283"/>
                  <a:pt x="1815" y="301"/>
                  <a:pt x="1812" y="317"/>
                </a:cubicBezTo>
                <a:cubicBezTo>
                  <a:pt x="1719" y="317"/>
                  <a:pt x="1719" y="317"/>
                  <a:pt x="1719" y="317"/>
                </a:cubicBezTo>
                <a:cubicBezTo>
                  <a:pt x="1719" y="455"/>
                  <a:pt x="1719" y="455"/>
                  <a:pt x="1719" y="455"/>
                </a:cubicBezTo>
                <a:cubicBezTo>
                  <a:pt x="1719" y="492"/>
                  <a:pt x="1737" y="506"/>
                  <a:pt x="1767" y="506"/>
                </a:cubicBezTo>
                <a:close/>
                <a:moveTo>
                  <a:pt x="2100" y="270"/>
                </a:moveTo>
                <a:cubicBezTo>
                  <a:pt x="2100" y="552"/>
                  <a:pt x="2100" y="552"/>
                  <a:pt x="2100" y="552"/>
                </a:cubicBezTo>
                <a:cubicBezTo>
                  <a:pt x="2043" y="552"/>
                  <a:pt x="2043" y="552"/>
                  <a:pt x="2043" y="552"/>
                </a:cubicBezTo>
                <a:cubicBezTo>
                  <a:pt x="2040" y="518"/>
                  <a:pt x="2040" y="518"/>
                  <a:pt x="2040" y="518"/>
                </a:cubicBezTo>
                <a:cubicBezTo>
                  <a:pt x="2024" y="543"/>
                  <a:pt x="2000" y="559"/>
                  <a:pt x="1960" y="559"/>
                </a:cubicBezTo>
                <a:cubicBezTo>
                  <a:pt x="1886" y="559"/>
                  <a:pt x="1836" y="505"/>
                  <a:pt x="1836" y="410"/>
                </a:cubicBezTo>
                <a:cubicBezTo>
                  <a:pt x="1836" y="311"/>
                  <a:pt x="1889" y="254"/>
                  <a:pt x="1993" y="254"/>
                </a:cubicBezTo>
                <a:cubicBezTo>
                  <a:pt x="2034" y="254"/>
                  <a:pt x="2067" y="259"/>
                  <a:pt x="2100" y="270"/>
                </a:cubicBezTo>
                <a:close/>
                <a:moveTo>
                  <a:pt x="2038" y="488"/>
                </a:moveTo>
                <a:cubicBezTo>
                  <a:pt x="2038" y="311"/>
                  <a:pt x="2038" y="311"/>
                  <a:pt x="2038" y="311"/>
                </a:cubicBezTo>
                <a:cubicBezTo>
                  <a:pt x="2025" y="309"/>
                  <a:pt x="2011" y="307"/>
                  <a:pt x="1993" y="307"/>
                </a:cubicBezTo>
                <a:cubicBezTo>
                  <a:pt x="1929" y="307"/>
                  <a:pt x="1899" y="347"/>
                  <a:pt x="1899" y="410"/>
                </a:cubicBezTo>
                <a:cubicBezTo>
                  <a:pt x="1899" y="468"/>
                  <a:pt x="1922" y="508"/>
                  <a:pt x="1978" y="508"/>
                </a:cubicBezTo>
                <a:cubicBezTo>
                  <a:pt x="2002" y="508"/>
                  <a:pt x="2022" y="500"/>
                  <a:pt x="2038" y="488"/>
                </a:cubicBezTo>
                <a:close/>
                <a:moveTo>
                  <a:pt x="2418" y="363"/>
                </a:moveTo>
                <a:cubicBezTo>
                  <a:pt x="2418" y="552"/>
                  <a:pt x="2418" y="552"/>
                  <a:pt x="2418" y="552"/>
                </a:cubicBezTo>
                <a:cubicBezTo>
                  <a:pt x="2356" y="552"/>
                  <a:pt x="2356" y="552"/>
                  <a:pt x="2356" y="552"/>
                </a:cubicBezTo>
                <a:cubicBezTo>
                  <a:pt x="2356" y="373"/>
                  <a:pt x="2356" y="373"/>
                  <a:pt x="2356" y="373"/>
                </a:cubicBezTo>
                <a:cubicBezTo>
                  <a:pt x="2356" y="329"/>
                  <a:pt x="2341" y="307"/>
                  <a:pt x="2279" y="307"/>
                </a:cubicBezTo>
                <a:cubicBezTo>
                  <a:pt x="2264" y="307"/>
                  <a:pt x="2247" y="309"/>
                  <a:pt x="2230" y="312"/>
                </a:cubicBezTo>
                <a:cubicBezTo>
                  <a:pt x="2230" y="552"/>
                  <a:pt x="2230" y="552"/>
                  <a:pt x="2230" y="552"/>
                </a:cubicBezTo>
                <a:cubicBezTo>
                  <a:pt x="2168" y="552"/>
                  <a:pt x="2168" y="552"/>
                  <a:pt x="2168" y="552"/>
                </a:cubicBezTo>
                <a:cubicBezTo>
                  <a:pt x="2168" y="270"/>
                  <a:pt x="2168" y="270"/>
                  <a:pt x="2168" y="270"/>
                </a:cubicBezTo>
                <a:cubicBezTo>
                  <a:pt x="2207" y="261"/>
                  <a:pt x="2251" y="254"/>
                  <a:pt x="2281" y="254"/>
                </a:cubicBezTo>
                <a:cubicBezTo>
                  <a:pt x="2384" y="254"/>
                  <a:pt x="2418" y="294"/>
                  <a:pt x="2418" y="363"/>
                </a:cubicBezTo>
                <a:close/>
                <a:moveTo>
                  <a:pt x="2733" y="157"/>
                </a:moveTo>
                <a:cubicBezTo>
                  <a:pt x="2733" y="552"/>
                  <a:pt x="2733" y="552"/>
                  <a:pt x="2733" y="552"/>
                </a:cubicBezTo>
                <a:cubicBezTo>
                  <a:pt x="2676" y="552"/>
                  <a:pt x="2676" y="552"/>
                  <a:pt x="2676" y="552"/>
                </a:cubicBezTo>
                <a:cubicBezTo>
                  <a:pt x="2672" y="516"/>
                  <a:pt x="2672" y="516"/>
                  <a:pt x="2672" y="516"/>
                </a:cubicBezTo>
                <a:cubicBezTo>
                  <a:pt x="2656" y="543"/>
                  <a:pt x="2632" y="559"/>
                  <a:pt x="2591" y="559"/>
                </a:cubicBezTo>
                <a:cubicBezTo>
                  <a:pt x="2517" y="559"/>
                  <a:pt x="2467" y="505"/>
                  <a:pt x="2467" y="410"/>
                </a:cubicBezTo>
                <a:cubicBezTo>
                  <a:pt x="2467" y="311"/>
                  <a:pt x="2520" y="254"/>
                  <a:pt x="2625" y="254"/>
                </a:cubicBezTo>
                <a:cubicBezTo>
                  <a:pt x="2641" y="254"/>
                  <a:pt x="2656" y="256"/>
                  <a:pt x="2671" y="259"/>
                </a:cubicBezTo>
                <a:cubicBezTo>
                  <a:pt x="2671" y="166"/>
                  <a:pt x="2671" y="166"/>
                  <a:pt x="2671" y="166"/>
                </a:cubicBezTo>
                <a:cubicBezTo>
                  <a:pt x="2690" y="159"/>
                  <a:pt x="2712" y="157"/>
                  <a:pt x="2733" y="157"/>
                </a:cubicBezTo>
                <a:close/>
                <a:moveTo>
                  <a:pt x="2671" y="487"/>
                </a:moveTo>
                <a:cubicBezTo>
                  <a:pt x="2671" y="313"/>
                  <a:pt x="2671" y="313"/>
                  <a:pt x="2671" y="313"/>
                </a:cubicBezTo>
                <a:cubicBezTo>
                  <a:pt x="2655" y="310"/>
                  <a:pt x="2638" y="307"/>
                  <a:pt x="2621" y="307"/>
                </a:cubicBezTo>
                <a:cubicBezTo>
                  <a:pt x="2560" y="307"/>
                  <a:pt x="2531" y="346"/>
                  <a:pt x="2531" y="410"/>
                </a:cubicBezTo>
                <a:cubicBezTo>
                  <a:pt x="2531" y="468"/>
                  <a:pt x="2554" y="508"/>
                  <a:pt x="2609" y="508"/>
                </a:cubicBezTo>
                <a:cubicBezTo>
                  <a:pt x="2634" y="508"/>
                  <a:pt x="2654" y="500"/>
                  <a:pt x="2671" y="487"/>
                </a:cubicBezTo>
                <a:close/>
                <a:moveTo>
                  <a:pt x="3045" y="432"/>
                </a:moveTo>
                <a:cubicBezTo>
                  <a:pt x="2847" y="432"/>
                  <a:pt x="2847" y="432"/>
                  <a:pt x="2847" y="432"/>
                </a:cubicBezTo>
                <a:cubicBezTo>
                  <a:pt x="2854" y="482"/>
                  <a:pt x="2884" y="506"/>
                  <a:pt x="2939" y="506"/>
                </a:cubicBezTo>
                <a:cubicBezTo>
                  <a:pt x="2973" y="506"/>
                  <a:pt x="3007" y="499"/>
                  <a:pt x="3038" y="485"/>
                </a:cubicBezTo>
                <a:cubicBezTo>
                  <a:pt x="3036" y="501"/>
                  <a:pt x="3033" y="522"/>
                  <a:pt x="3029" y="541"/>
                </a:cubicBezTo>
                <a:cubicBezTo>
                  <a:pt x="3001" y="554"/>
                  <a:pt x="2971" y="559"/>
                  <a:pt x="2937" y="559"/>
                </a:cubicBezTo>
                <a:cubicBezTo>
                  <a:pt x="2834" y="559"/>
                  <a:pt x="2783" y="502"/>
                  <a:pt x="2783" y="405"/>
                </a:cubicBezTo>
                <a:cubicBezTo>
                  <a:pt x="2783" y="321"/>
                  <a:pt x="2822" y="254"/>
                  <a:pt x="2921" y="254"/>
                </a:cubicBezTo>
                <a:cubicBezTo>
                  <a:pt x="3010" y="254"/>
                  <a:pt x="3048" y="313"/>
                  <a:pt x="3048" y="384"/>
                </a:cubicBezTo>
                <a:cubicBezTo>
                  <a:pt x="3048" y="401"/>
                  <a:pt x="3047" y="415"/>
                  <a:pt x="3045" y="432"/>
                </a:cubicBezTo>
                <a:close/>
                <a:moveTo>
                  <a:pt x="2845" y="380"/>
                </a:moveTo>
                <a:cubicBezTo>
                  <a:pt x="2985" y="380"/>
                  <a:pt x="2985" y="380"/>
                  <a:pt x="2985" y="380"/>
                </a:cubicBezTo>
                <a:cubicBezTo>
                  <a:pt x="2985" y="333"/>
                  <a:pt x="2960" y="306"/>
                  <a:pt x="2918" y="306"/>
                </a:cubicBezTo>
                <a:cubicBezTo>
                  <a:pt x="2874" y="306"/>
                  <a:pt x="2850" y="332"/>
                  <a:pt x="2845" y="380"/>
                </a:cubicBezTo>
                <a:close/>
                <a:moveTo>
                  <a:pt x="3262" y="257"/>
                </a:moveTo>
                <a:cubicBezTo>
                  <a:pt x="3262" y="275"/>
                  <a:pt x="3260" y="298"/>
                  <a:pt x="3256" y="310"/>
                </a:cubicBezTo>
                <a:cubicBezTo>
                  <a:pt x="3241" y="308"/>
                  <a:pt x="3227" y="307"/>
                  <a:pt x="3209" y="307"/>
                </a:cubicBezTo>
                <a:cubicBezTo>
                  <a:pt x="3194" y="307"/>
                  <a:pt x="3179" y="309"/>
                  <a:pt x="3164" y="311"/>
                </a:cubicBezTo>
                <a:cubicBezTo>
                  <a:pt x="3164" y="552"/>
                  <a:pt x="3164" y="552"/>
                  <a:pt x="3164" y="552"/>
                </a:cubicBezTo>
                <a:cubicBezTo>
                  <a:pt x="3102" y="552"/>
                  <a:pt x="3102" y="552"/>
                  <a:pt x="3102" y="552"/>
                </a:cubicBezTo>
                <a:cubicBezTo>
                  <a:pt x="3102" y="270"/>
                  <a:pt x="3102" y="270"/>
                  <a:pt x="3102" y="270"/>
                </a:cubicBezTo>
                <a:cubicBezTo>
                  <a:pt x="3128" y="261"/>
                  <a:pt x="3173" y="254"/>
                  <a:pt x="3208" y="254"/>
                </a:cubicBezTo>
                <a:cubicBezTo>
                  <a:pt x="3227" y="254"/>
                  <a:pt x="3248" y="255"/>
                  <a:pt x="3262" y="257"/>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Shape 14">
            <a:extLst>
              <a:ext uri="{FF2B5EF4-FFF2-40B4-BE49-F238E27FC236}">
                <a16:creationId xmlns:a16="http://schemas.microsoft.com/office/drawing/2014/main" id="{6FC69640-7BF1-490D-A976-C772DE62F1E0}"/>
              </a:ext>
            </a:extLst>
          </p:cNvPr>
          <p:cNvSpPr/>
          <p:nvPr userDrawn="1"/>
        </p:nvSpPr>
        <p:spPr>
          <a:xfrm>
            <a:off x="820236" y="3464157"/>
            <a:ext cx="2446172" cy="248603"/>
          </a:xfrm>
          <a:custGeom>
            <a:avLst/>
            <a:gdLst/>
            <a:ahLst/>
            <a:cxnLst/>
            <a:rect l="l" t="t" r="r" b="b"/>
            <a:pathLst>
              <a:path w="2446172" h="248603">
                <a:moveTo>
                  <a:pt x="2218258" y="75686"/>
                </a:moveTo>
                <a:cubicBezTo>
                  <a:pt x="2202560" y="75848"/>
                  <a:pt x="2190935" y="80359"/>
                  <a:pt x="2183385" y="89222"/>
                </a:cubicBezTo>
                <a:cubicBezTo>
                  <a:pt x="2175835" y="98084"/>
                  <a:pt x="2172083" y="110330"/>
                  <a:pt x="2172129" y="125959"/>
                </a:cubicBezTo>
                <a:cubicBezTo>
                  <a:pt x="2172037" y="140289"/>
                  <a:pt x="2175052" y="151821"/>
                  <a:pt x="2181175" y="160557"/>
                </a:cubicBezTo>
                <a:cubicBezTo>
                  <a:pt x="2187298" y="169292"/>
                  <a:pt x="2197081" y="173781"/>
                  <a:pt x="2210524" y="174023"/>
                </a:cubicBezTo>
                <a:cubicBezTo>
                  <a:pt x="2216451" y="173988"/>
                  <a:pt x="2221861" y="173090"/>
                  <a:pt x="2226752" y="171329"/>
                </a:cubicBezTo>
                <a:cubicBezTo>
                  <a:pt x="2231644" y="169568"/>
                  <a:pt x="2236086" y="167151"/>
                  <a:pt x="2240080" y="164078"/>
                </a:cubicBezTo>
                <a:lnTo>
                  <a:pt x="2240080" y="77344"/>
                </a:lnTo>
                <a:cubicBezTo>
                  <a:pt x="2236926" y="76791"/>
                  <a:pt x="2233566" y="76377"/>
                  <a:pt x="2229998" y="76101"/>
                </a:cubicBezTo>
                <a:cubicBezTo>
                  <a:pt x="2226430" y="75825"/>
                  <a:pt x="2222517" y="75686"/>
                  <a:pt x="2218258" y="75686"/>
                </a:cubicBezTo>
                <a:close/>
                <a:moveTo>
                  <a:pt x="1789633" y="75686"/>
                </a:moveTo>
                <a:cubicBezTo>
                  <a:pt x="1773935" y="75848"/>
                  <a:pt x="1762310" y="80359"/>
                  <a:pt x="1754760" y="89222"/>
                </a:cubicBezTo>
                <a:cubicBezTo>
                  <a:pt x="1747210" y="98084"/>
                  <a:pt x="1743458" y="110330"/>
                  <a:pt x="1743504" y="125959"/>
                </a:cubicBezTo>
                <a:cubicBezTo>
                  <a:pt x="1743412" y="140289"/>
                  <a:pt x="1746427" y="151821"/>
                  <a:pt x="1752550" y="160557"/>
                </a:cubicBezTo>
                <a:cubicBezTo>
                  <a:pt x="1758673" y="169292"/>
                  <a:pt x="1768456" y="173781"/>
                  <a:pt x="1781899" y="174023"/>
                </a:cubicBezTo>
                <a:cubicBezTo>
                  <a:pt x="1787826" y="173988"/>
                  <a:pt x="1793236" y="173090"/>
                  <a:pt x="1798127" y="171329"/>
                </a:cubicBezTo>
                <a:cubicBezTo>
                  <a:pt x="1803019" y="169568"/>
                  <a:pt x="1807461" y="167151"/>
                  <a:pt x="1811455" y="164078"/>
                </a:cubicBezTo>
                <a:lnTo>
                  <a:pt x="1811455" y="77344"/>
                </a:lnTo>
                <a:cubicBezTo>
                  <a:pt x="1808302" y="76791"/>
                  <a:pt x="1804941" y="76377"/>
                  <a:pt x="1801373" y="76101"/>
                </a:cubicBezTo>
                <a:cubicBezTo>
                  <a:pt x="1797805" y="75825"/>
                  <a:pt x="1793892" y="75686"/>
                  <a:pt x="1789633" y="75686"/>
                </a:cubicBezTo>
                <a:close/>
                <a:moveTo>
                  <a:pt x="1469508" y="75686"/>
                </a:moveTo>
                <a:cubicBezTo>
                  <a:pt x="1455466" y="75859"/>
                  <a:pt x="1445085" y="80210"/>
                  <a:pt x="1438363" y="88738"/>
                </a:cubicBezTo>
                <a:cubicBezTo>
                  <a:pt x="1431642" y="97267"/>
                  <a:pt x="1428304" y="108937"/>
                  <a:pt x="1428350" y="123750"/>
                </a:cubicBezTo>
                <a:cubicBezTo>
                  <a:pt x="1428460" y="140663"/>
                  <a:pt x="1432108" y="153104"/>
                  <a:pt x="1439296" y="161075"/>
                </a:cubicBezTo>
                <a:cubicBezTo>
                  <a:pt x="1446483" y="169045"/>
                  <a:pt x="1456554" y="172993"/>
                  <a:pt x="1469508" y="172918"/>
                </a:cubicBezTo>
                <a:cubicBezTo>
                  <a:pt x="1483031" y="172762"/>
                  <a:pt x="1493136" y="168446"/>
                  <a:pt x="1499823" y="159970"/>
                </a:cubicBezTo>
                <a:cubicBezTo>
                  <a:pt x="1506510" y="151493"/>
                  <a:pt x="1509848" y="139788"/>
                  <a:pt x="1509836" y="124855"/>
                </a:cubicBezTo>
                <a:cubicBezTo>
                  <a:pt x="1509710" y="108062"/>
                  <a:pt x="1506096" y="95655"/>
                  <a:pt x="1498995" y="87633"/>
                </a:cubicBezTo>
                <a:cubicBezTo>
                  <a:pt x="1491894" y="79611"/>
                  <a:pt x="1482064" y="75629"/>
                  <a:pt x="1469508" y="75686"/>
                </a:cubicBezTo>
                <a:close/>
                <a:moveTo>
                  <a:pt x="523075" y="75686"/>
                </a:moveTo>
                <a:cubicBezTo>
                  <a:pt x="519478" y="75698"/>
                  <a:pt x="515968" y="75882"/>
                  <a:pt x="512544" y="76239"/>
                </a:cubicBezTo>
                <a:cubicBezTo>
                  <a:pt x="509120" y="76596"/>
                  <a:pt x="505817" y="77056"/>
                  <a:pt x="502634" y="77620"/>
                </a:cubicBezTo>
                <a:lnTo>
                  <a:pt x="502634" y="169879"/>
                </a:lnTo>
                <a:cubicBezTo>
                  <a:pt x="510092" y="171859"/>
                  <a:pt x="517551" y="172872"/>
                  <a:pt x="525009" y="172918"/>
                </a:cubicBezTo>
                <a:cubicBezTo>
                  <a:pt x="540212" y="172877"/>
                  <a:pt x="551653" y="168746"/>
                  <a:pt x="559330" y="160522"/>
                </a:cubicBezTo>
                <a:cubicBezTo>
                  <a:pt x="567006" y="152299"/>
                  <a:pt x="570851" y="140225"/>
                  <a:pt x="570862" y="124302"/>
                </a:cubicBezTo>
                <a:cubicBezTo>
                  <a:pt x="571012" y="109346"/>
                  <a:pt x="567329" y="97549"/>
                  <a:pt x="559813" y="88911"/>
                </a:cubicBezTo>
                <a:cubicBezTo>
                  <a:pt x="552297" y="80273"/>
                  <a:pt x="540051" y="75865"/>
                  <a:pt x="523075" y="75686"/>
                </a:cubicBezTo>
                <a:close/>
                <a:moveTo>
                  <a:pt x="1101204" y="75134"/>
                </a:moveTo>
                <a:cubicBezTo>
                  <a:pt x="1090460" y="75163"/>
                  <a:pt x="1082185" y="78213"/>
                  <a:pt x="1076379" y="84284"/>
                </a:cubicBezTo>
                <a:cubicBezTo>
                  <a:pt x="1070572" y="90355"/>
                  <a:pt x="1067062" y="99275"/>
                  <a:pt x="1065848" y="111043"/>
                </a:cubicBezTo>
                <a:lnTo>
                  <a:pt x="1134351" y="111043"/>
                </a:lnTo>
                <a:cubicBezTo>
                  <a:pt x="1134282" y="99637"/>
                  <a:pt x="1131382" y="90821"/>
                  <a:pt x="1125650" y="84595"/>
                </a:cubicBezTo>
                <a:cubicBezTo>
                  <a:pt x="1119919" y="78368"/>
                  <a:pt x="1111770" y="75215"/>
                  <a:pt x="1101204" y="75134"/>
                </a:cubicBezTo>
                <a:close/>
                <a:moveTo>
                  <a:pt x="748779" y="75134"/>
                </a:moveTo>
                <a:cubicBezTo>
                  <a:pt x="738035" y="75163"/>
                  <a:pt x="729760" y="78213"/>
                  <a:pt x="723954" y="84284"/>
                </a:cubicBezTo>
                <a:cubicBezTo>
                  <a:pt x="718147" y="90355"/>
                  <a:pt x="714637" y="99275"/>
                  <a:pt x="713423" y="111043"/>
                </a:cubicBezTo>
                <a:lnTo>
                  <a:pt x="781926" y="111043"/>
                </a:lnTo>
                <a:cubicBezTo>
                  <a:pt x="781857" y="99637"/>
                  <a:pt x="778957" y="90821"/>
                  <a:pt x="773225" y="84595"/>
                </a:cubicBezTo>
                <a:cubicBezTo>
                  <a:pt x="767494" y="78368"/>
                  <a:pt x="759345" y="75215"/>
                  <a:pt x="748779" y="75134"/>
                </a:cubicBezTo>
                <a:close/>
                <a:moveTo>
                  <a:pt x="2301050" y="53036"/>
                </a:moveTo>
                <a:lnTo>
                  <a:pt x="2331434" y="53036"/>
                </a:lnTo>
                <a:lnTo>
                  <a:pt x="2331434" y="195568"/>
                </a:lnTo>
                <a:lnTo>
                  <a:pt x="2301050" y="195568"/>
                </a:lnTo>
                <a:close/>
                <a:moveTo>
                  <a:pt x="157925" y="53036"/>
                </a:moveTo>
                <a:lnTo>
                  <a:pt x="188309" y="53036"/>
                </a:lnTo>
                <a:lnTo>
                  <a:pt x="188309" y="195568"/>
                </a:lnTo>
                <a:lnTo>
                  <a:pt x="157925" y="195568"/>
                </a:lnTo>
                <a:close/>
                <a:moveTo>
                  <a:pt x="2419655" y="49721"/>
                </a:moveTo>
                <a:cubicBezTo>
                  <a:pt x="2424454" y="49716"/>
                  <a:pt x="2429219" y="49796"/>
                  <a:pt x="2433950" y="49963"/>
                </a:cubicBezTo>
                <a:cubicBezTo>
                  <a:pt x="2438680" y="50130"/>
                  <a:pt x="2442754" y="50418"/>
                  <a:pt x="2446172" y="50826"/>
                </a:cubicBezTo>
                <a:cubicBezTo>
                  <a:pt x="2446161" y="55534"/>
                  <a:pt x="2445908" y="60275"/>
                  <a:pt x="2445413" y="65052"/>
                </a:cubicBezTo>
                <a:cubicBezTo>
                  <a:pt x="2444918" y="69828"/>
                  <a:pt x="2444250" y="73741"/>
                  <a:pt x="2443410" y="76791"/>
                </a:cubicBezTo>
                <a:cubicBezTo>
                  <a:pt x="2439848" y="76383"/>
                  <a:pt x="2436200" y="76095"/>
                  <a:pt x="2432465" y="75928"/>
                </a:cubicBezTo>
                <a:cubicBezTo>
                  <a:pt x="2428730" y="75761"/>
                  <a:pt x="2424736" y="75681"/>
                  <a:pt x="2420484" y="75686"/>
                </a:cubicBezTo>
                <a:cubicBezTo>
                  <a:pt x="2413026" y="75686"/>
                  <a:pt x="2405567" y="76239"/>
                  <a:pt x="2398109" y="77344"/>
                </a:cubicBezTo>
                <a:lnTo>
                  <a:pt x="2398109" y="195568"/>
                </a:lnTo>
                <a:lnTo>
                  <a:pt x="2367725" y="195568"/>
                </a:lnTo>
                <a:lnTo>
                  <a:pt x="2367725" y="57456"/>
                </a:lnTo>
                <a:cubicBezTo>
                  <a:pt x="2374498" y="55200"/>
                  <a:pt x="2382635" y="53358"/>
                  <a:pt x="2392136" y="51931"/>
                </a:cubicBezTo>
                <a:cubicBezTo>
                  <a:pt x="2401637" y="50504"/>
                  <a:pt x="2410810" y="49767"/>
                  <a:pt x="2419655" y="49721"/>
                </a:cubicBezTo>
                <a:close/>
                <a:moveTo>
                  <a:pt x="2218258" y="49721"/>
                </a:moveTo>
                <a:cubicBezTo>
                  <a:pt x="2228133" y="49698"/>
                  <a:pt x="2237318" y="50297"/>
                  <a:pt x="2245812" y="51517"/>
                </a:cubicBezTo>
                <a:cubicBezTo>
                  <a:pt x="2254306" y="52737"/>
                  <a:pt x="2262523" y="54716"/>
                  <a:pt x="2270465" y="57456"/>
                </a:cubicBezTo>
                <a:lnTo>
                  <a:pt x="2270465" y="195568"/>
                </a:lnTo>
                <a:lnTo>
                  <a:pt x="2242566" y="195568"/>
                </a:lnTo>
                <a:lnTo>
                  <a:pt x="2240909" y="178995"/>
                </a:lnTo>
                <a:cubicBezTo>
                  <a:pt x="2237111" y="185141"/>
                  <a:pt x="2232069" y="189975"/>
                  <a:pt x="2225785" y="193496"/>
                </a:cubicBezTo>
                <a:cubicBezTo>
                  <a:pt x="2219501" y="197018"/>
                  <a:pt x="2211560" y="198814"/>
                  <a:pt x="2201961" y="198883"/>
                </a:cubicBezTo>
                <a:cubicBezTo>
                  <a:pt x="2183477" y="198745"/>
                  <a:pt x="2168791" y="192392"/>
                  <a:pt x="2157903" y="179823"/>
                </a:cubicBezTo>
                <a:cubicBezTo>
                  <a:pt x="2147015" y="167255"/>
                  <a:pt x="2141445" y="149300"/>
                  <a:pt x="2141191" y="125959"/>
                </a:cubicBezTo>
                <a:cubicBezTo>
                  <a:pt x="2141209" y="101514"/>
                  <a:pt x="2147665" y="82730"/>
                  <a:pt x="2160562" y="69610"/>
                </a:cubicBezTo>
                <a:cubicBezTo>
                  <a:pt x="2173458" y="56489"/>
                  <a:pt x="2192690" y="49859"/>
                  <a:pt x="2218258" y="49721"/>
                </a:cubicBezTo>
                <a:close/>
                <a:moveTo>
                  <a:pt x="1789633" y="49721"/>
                </a:moveTo>
                <a:cubicBezTo>
                  <a:pt x="1799508" y="49698"/>
                  <a:pt x="1808693" y="50297"/>
                  <a:pt x="1817187" y="51517"/>
                </a:cubicBezTo>
                <a:cubicBezTo>
                  <a:pt x="1825681" y="52737"/>
                  <a:pt x="1833899" y="54716"/>
                  <a:pt x="1841840" y="57456"/>
                </a:cubicBezTo>
                <a:lnTo>
                  <a:pt x="1841840" y="195568"/>
                </a:lnTo>
                <a:lnTo>
                  <a:pt x="1813941" y="195568"/>
                </a:lnTo>
                <a:lnTo>
                  <a:pt x="1812284" y="178995"/>
                </a:lnTo>
                <a:cubicBezTo>
                  <a:pt x="1808486" y="185141"/>
                  <a:pt x="1803445" y="189975"/>
                  <a:pt x="1797160" y="193496"/>
                </a:cubicBezTo>
                <a:cubicBezTo>
                  <a:pt x="1790876" y="197018"/>
                  <a:pt x="1782935" y="198814"/>
                  <a:pt x="1773336" y="198883"/>
                </a:cubicBezTo>
                <a:cubicBezTo>
                  <a:pt x="1754852" y="198745"/>
                  <a:pt x="1740166" y="192392"/>
                  <a:pt x="1729278" y="179823"/>
                </a:cubicBezTo>
                <a:cubicBezTo>
                  <a:pt x="1718390" y="167255"/>
                  <a:pt x="1712820" y="149300"/>
                  <a:pt x="1712567" y="125959"/>
                </a:cubicBezTo>
                <a:cubicBezTo>
                  <a:pt x="1712584" y="101514"/>
                  <a:pt x="1719041" y="82730"/>
                  <a:pt x="1731937" y="69610"/>
                </a:cubicBezTo>
                <a:cubicBezTo>
                  <a:pt x="1744833" y="56489"/>
                  <a:pt x="1764065" y="49859"/>
                  <a:pt x="1789633" y="49721"/>
                </a:cubicBezTo>
                <a:close/>
                <a:moveTo>
                  <a:pt x="1622870" y="49721"/>
                </a:moveTo>
                <a:cubicBezTo>
                  <a:pt x="1647903" y="49842"/>
                  <a:pt x="1665443" y="54503"/>
                  <a:pt x="1675491" y="63705"/>
                </a:cubicBezTo>
                <a:cubicBezTo>
                  <a:pt x="1685538" y="72907"/>
                  <a:pt x="1690372" y="85924"/>
                  <a:pt x="1689992" y="102757"/>
                </a:cubicBezTo>
                <a:lnTo>
                  <a:pt x="1689992" y="195568"/>
                </a:lnTo>
                <a:lnTo>
                  <a:pt x="1659608" y="195568"/>
                </a:lnTo>
                <a:lnTo>
                  <a:pt x="1659608" y="108005"/>
                </a:lnTo>
                <a:cubicBezTo>
                  <a:pt x="1659941" y="97111"/>
                  <a:pt x="1657478" y="88997"/>
                  <a:pt x="1652219" y="83662"/>
                </a:cubicBezTo>
                <a:cubicBezTo>
                  <a:pt x="1646959" y="78328"/>
                  <a:pt x="1636900" y="75669"/>
                  <a:pt x="1622041" y="75686"/>
                </a:cubicBezTo>
                <a:cubicBezTo>
                  <a:pt x="1618416" y="75692"/>
                  <a:pt x="1614548" y="75888"/>
                  <a:pt x="1610440" y="76273"/>
                </a:cubicBezTo>
                <a:cubicBezTo>
                  <a:pt x="1606331" y="76659"/>
                  <a:pt x="1602187" y="77200"/>
                  <a:pt x="1598009" y="77896"/>
                </a:cubicBezTo>
                <a:lnTo>
                  <a:pt x="1598009" y="195568"/>
                </a:lnTo>
                <a:lnTo>
                  <a:pt x="1567625" y="195568"/>
                </a:lnTo>
                <a:lnTo>
                  <a:pt x="1567625" y="57456"/>
                </a:lnTo>
                <a:cubicBezTo>
                  <a:pt x="1577471" y="55079"/>
                  <a:pt x="1587265" y="53203"/>
                  <a:pt x="1597008" y="51828"/>
                </a:cubicBezTo>
                <a:cubicBezTo>
                  <a:pt x="1606751" y="50452"/>
                  <a:pt x="1615371" y="49750"/>
                  <a:pt x="1622870" y="49721"/>
                </a:cubicBezTo>
                <a:close/>
                <a:moveTo>
                  <a:pt x="1470336" y="49721"/>
                </a:moveTo>
                <a:cubicBezTo>
                  <a:pt x="1485815" y="49861"/>
                  <a:pt x="1498777" y="53111"/>
                  <a:pt x="1509223" y="59471"/>
                </a:cubicBezTo>
                <a:cubicBezTo>
                  <a:pt x="1519668" y="65831"/>
                  <a:pt x="1527535" y="74462"/>
                  <a:pt x="1532825" y="85365"/>
                </a:cubicBezTo>
                <a:cubicBezTo>
                  <a:pt x="1538114" y="96267"/>
                  <a:pt x="1540764" y="108602"/>
                  <a:pt x="1540774" y="122369"/>
                </a:cubicBezTo>
                <a:cubicBezTo>
                  <a:pt x="1540555" y="146705"/>
                  <a:pt x="1534018" y="165500"/>
                  <a:pt x="1521162" y="178753"/>
                </a:cubicBezTo>
                <a:cubicBezTo>
                  <a:pt x="1508306" y="192006"/>
                  <a:pt x="1490443" y="198716"/>
                  <a:pt x="1467574" y="198883"/>
                </a:cubicBezTo>
                <a:cubicBezTo>
                  <a:pt x="1452360" y="198743"/>
                  <a:pt x="1439544" y="195493"/>
                  <a:pt x="1429128" y="189133"/>
                </a:cubicBezTo>
                <a:cubicBezTo>
                  <a:pt x="1418711" y="182773"/>
                  <a:pt x="1410827" y="174142"/>
                  <a:pt x="1405475" y="163240"/>
                </a:cubicBezTo>
                <a:cubicBezTo>
                  <a:pt x="1400122" y="152337"/>
                  <a:pt x="1397435" y="140003"/>
                  <a:pt x="1397413" y="126236"/>
                </a:cubicBezTo>
                <a:cubicBezTo>
                  <a:pt x="1397655" y="101899"/>
                  <a:pt x="1404215" y="83104"/>
                  <a:pt x="1417094" y="69851"/>
                </a:cubicBezTo>
                <a:cubicBezTo>
                  <a:pt x="1429973" y="56598"/>
                  <a:pt x="1447720" y="49888"/>
                  <a:pt x="1470336" y="49721"/>
                </a:cubicBezTo>
                <a:close/>
                <a:moveTo>
                  <a:pt x="1329662" y="49721"/>
                </a:moveTo>
                <a:cubicBezTo>
                  <a:pt x="1338351" y="49704"/>
                  <a:pt x="1346454" y="50222"/>
                  <a:pt x="1353969" y="51275"/>
                </a:cubicBezTo>
                <a:cubicBezTo>
                  <a:pt x="1361485" y="52328"/>
                  <a:pt x="1368483" y="54020"/>
                  <a:pt x="1374963" y="56351"/>
                </a:cubicBezTo>
                <a:cubicBezTo>
                  <a:pt x="1374709" y="60316"/>
                  <a:pt x="1374249" y="64263"/>
                  <a:pt x="1373581" y="68194"/>
                </a:cubicBezTo>
                <a:cubicBezTo>
                  <a:pt x="1372914" y="72124"/>
                  <a:pt x="1371901" y="76279"/>
                  <a:pt x="1370543" y="80659"/>
                </a:cubicBezTo>
                <a:cubicBezTo>
                  <a:pt x="1364092" y="78604"/>
                  <a:pt x="1357589" y="77119"/>
                  <a:pt x="1351035" y="76204"/>
                </a:cubicBezTo>
                <a:cubicBezTo>
                  <a:pt x="1344480" y="75289"/>
                  <a:pt x="1337632" y="74841"/>
                  <a:pt x="1330490" y="74858"/>
                </a:cubicBezTo>
                <a:cubicBezTo>
                  <a:pt x="1321018" y="74933"/>
                  <a:pt x="1314550" y="76302"/>
                  <a:pt x="1311086" y="78967"/>
                </a:cubicBezTo>
                <a:cubicBezTo>
                  <a:pt x="1307621" y="81631"/>
                  <a:pt x="1305987" y="85141"/>
                  <a:pt x="1306182" y="89498"/>
                </a:cubicBezTo>
                <a:cubicBezTo>
                  <a:pt x="1306165" y="94504"/>
                  <a:pt x="1307926" y="98510"/>
                  <a:pt x="1311465" y="101514"/>
                </a:cubicBezTo>
                <a:cubicBezTo>
                  <a:pt x="1315004" y="104517"/>
                  <a:pt x="1320425" y="107142"/>
                  <a:pt x="1327728" y="109386"/>
                </a:cubicBezTo>
                <a:lnTo>
                  <a:pt x="1342368" y="114082"/>
                </a:lnTo>
                <a:cubicBezTo>
                  <a:pt x="1355414" y="118104"/>
                  <a:pt x="1364955" y="123456"/>
                  <a:pt x="1370992" y="130137"/>
                </a:cubicBezTo>
                <a:cubicBezTo>
                  <a:pt x="1377029" y="136819"/>
                  <a:pt x="1380009" y="145554"/>
                  <a:pt x="1379935" y="156344"/>
                </a:cubicBezTo>
                <a:cubicBezTo>
                  <a:pt x="1379865" y="169114"/>
                  <a:pt x="1375032" y="179346"/>
                  <a:pt x="1365433" y="187040"/>
                </a:cubicBezTo>
                <a:cubicBezTo>
                  <a:pt x="1355834" y="194734"/>
                  <a:pt x="1341885" y="198681"/>
                  <a:pt x="1323585" y="198883"/>
                </a:cubicBezTo>
                <a:cubicBezTo>
                  <a:pt x="1313428" y="198906"/>
                  <a:pt x="1304393" y="198169"/>
                  <a:pt x="1296480" y="196673"/>
                </a:cubicBezTo>
                <a:cubicBezTo>
                  <a:pt x="1288567" y="195177"/>
                  <a:pt x="1281397" y="192783"/>
                  <a:pt x="1274969" y="189491"/>
                </a:cubicBezTo>
                <a:cubicBezTo>
                  <a:pt x="1275245" y="183863"/>
                  <a:pt x="1275729" y="178960"/>
                  <a:pt x="1276419" y="174782"/>
                </a:cubicBezTo>
                <a:cubicBezTo>
                  <a:pt x="1277110" y="170604"/>
                  <a:pt x="1278008" y="166944"/>
                  <a:pt x="1279112" y="163802"/>
                </a:cubicBezTo>
                <a:cubicBezTo>
                  <a:pt x="1285661" y="166985"/>
                  <a:pt x="1292866" y="169390"/>
                  <a:pt x="1300727" y="171019"/>
                </a:cubicBezTo>
                <a:cubicBezTo>
                  <a:pt x="1308588" y="172647"/>
                  <a:pt x="1315931" y="173464"/>
                  <a:pt x="1322756" y="173470"/>
                </a:cubicBezTo>
                <a:cubicBezTo>
                  <a:pt x="1331497" y="173516"/>
                  <a:pt x="1338184" y="172250"/>
                  <a:pt x="1342817" y="169672"/>
                </a:cubicBezTo>
                <a:cubicBezTo>
                  <a:pt x="1347449" y="167094"/>
                  <a:pt x="1349786" y="162928"/>
                  <a:pt x="1349826" y="157173"/>
                </a:cubicBezTo>
                <a:cubicBezTo>
                  <a:pt x="1349757" y="152189"/>
                  <a:pt x="1347823" y="148345"/>
                  <a:pt x="1344025" y="145640"/>
                </a:cubicBezTo>
                <a:cubicBezTo>
                  <a:pt x="1340227" y="142936"/>
                  <a:pt x="1334979" y="140611"/>
                  <a:pt x="1328281" y="138666"/>
                </a:cubicBezTo>
                <a:lnTo>
                  <a:pt x="1314193" y="134246"/>
                </a:lnTo>
                <a:cubicBezTo>
                  <a:pt x="1300434" y="129821"/>
                  <a:pt x="1290731" y="123963"/>
                  <a:pt x="1285086" y="116671"/>
                </a:cubicBezTo>
                <a:cubicBezTo>
                  <a:pt x="1279440" y="109380"/>
                  <a:pt x="1276713" y="100691"/>
                  <a:pt x="1276903" y="90603"/>
                </a:cubicBezTo>
                <a:cubicBezTo>
                  <a:pt x="1276926" y="77781"/>
                  <a:pt x="1281368" y="67791"/>
                  <a:pt x="1290231" y="60632"/>
                </a:cubicBezTo>
                <a:cubicBezTo>
                  <a:pt x="1299093" y="53473"/>
                  <a:pt x="1312236" y="49836"/>
                  <a:pt x="1329662" y="49721"/>
                </a:cubicBezTo>
                <a:close/>
                <a:moveTo>
                  <a:pt x="1238555" y="49721"/>
                </a:moveTo>
                <a:cubicBezTo>
                  <a:pt x="1243354" y="49716"/>
                  <a:pt x="1248119" y="49796"/>
                  <a:pt x="1252850" y="49963"/>
                </a:cubicBezTo>
                <a:cubicBezTo>
                  <a:pt x="1257580" y="50130"/>
                  <a:pt x="1261654" y="50418"/>
                  <a:pt x="1265073" y="50826"/>
                </a:cubicBezTo>
                <a:cubicBezTo>
                  <a:pt x="1265061" y="55534"/>
                  <a:pt x="1264808" y="60275"/>
                  <a:pt x="1264313" y="65052"/>
                </a:cubicBezTo>
                <a:cubicBezTo>
                  <a:pt x="1263818" y="69828"/>
                  <a:pt x="1263151" y="73741"/>
                  <a:pt x="1262310" y="76791"/>
                </a:cubicBezTo>
                <a:cubicBezTo>
                  <a:pt x="1258748" y="76383"/>
                  <a:pt x="1255100" y="76095"/>
                  <a:pt x="1251365" y="75928"/>
                </a:cubicBezTo>
                <a:cubicBezTo>
                  <a:pt x="1247630" y="75761"/>
                  <a:pt x="1243636" y="75681"/>
                  <a:pt x="1239384" y="75686"/>
                </a:cubicBezTo>
                <a:cubicBezTo>
                  <a:pt x="1231926" y="75686"/>
                  <a:pt x="1224468" y="76239"/>
                  <a:pt x="1217010" y="77344"/>
                </a:cubicBezTo>
                <a:lnTo>
                  <a:pt x="1217010" y="195568"/>
                </a:lnTo>
                <a:lnTo>
                  <a:pt x="1186625" y="195568"/>
                </a:lnTo>
                <a:lnTo>
                  <a:pt x="1186625" y="57456"/>
                </a:lnTo>
                <a:cubicBezTo>
                  <a:pt x="1193398" y="55200"/>
                  <a:pt x="1201535" y="53358"/>
                  <a:pt x="1211036" y="51931"/>
                </a:cubicBezTo>
                <a:cubicBezTo>
                  <a:pt x="1220537" y="50504"/>
                  <a:pt x="1229710" y="49767"/>
                  <a:pt x="1238555" y="49721"/>
                </a:cubicBezTo>
                <a:close/>
                <a:moveTo>
                  <a:pt x="1102862" y="49721"/>
                </a:moveTo>
                <a:cubicBezTo>
                  <a:pt x="1124425" y="50182"/>
                  <a:pt x="1140204" y="56374"/>
                  <a:pt x="1150200" y="68297"/>
                </a:cubicBezTo>
                <a:cubicBezTo>
                  <a:pt x="1160196" y="80221"/>
                  <a:pt x="1165133" y="95114"/>
                  <a:pt x="1165012" y="112977"/>
                </a:cubicBezTo>
                <a:cubicBezTo>
                  <a:pt x="1165012" y="117201"/>
                  <a:pt x="1164874" y="121183"/>
                  <a:pt x="1164598" y="124924"/>
                </a:cubicBezTo>
                <a:cubicBezTo>
                  <a:pt x="1164322" y="128664"/>
                  <a:pt x="1163908" y="132508"/>
                  <a:pt x="1163355" y="136456"/>
                </a:cubicBezTo>
                <a:lnTo>
                  <a:pt x="1066400" y="136456"/>
                </a:lnTo>
                <a:cubicBezTo>
                  <a:pt x="1068288" y="148731"/>
                  <a:pt x="1072937" y="157881"/>
                  <a:pt x="1080349" y="163906"/>
                </a:cubicBezTo>
                <a:cubicBezTo>
                  <a:pt x="1087762" y="169931"/>
                  <a:pt x="1098212" y="172935"/>
                  <a:pt x="1111701" y="172918"/>
                </a:cubicBezTo>
                <a:cubicBezTo>
                  <a:pt x="1120028" y="172912"/>
                  <a:pt x="1128303" y="172026"/>
                  <a:pt x="1136527" y="170259"/>
                </a:cubicBezTo>
                <a:cubicBezTo>
                  <a:pt x="1144750" y="168492"/>
                  <a:pt x="1152680" y="165880"/>
                  <a:pt x="1160317" y="162421"/>
                </a:cubicBezTo>
                <a:cubicBezTo>
                  <a:pt x="1159758" y="166507"/>
                  <a:pt x="1159079" y="170973"/>
                  <a:pt x="1158279" y="175818"/>
                </a:cubicBezTo>
                <a:cubicBezTo>
                  <a:pt x="1157479" y="180663"/>
                  <a:pt x="1156593" y="185405"/>
                  <a:pt x="1155621" y="190044"/>
                </a:cubicBezTo>
                <a:cubicBezTo>
                  <a:pt x="1148732" y="193191"/>
                  <a:pt x="1141585" y="195459"/>
                  <a:pt x="1134179" y="196846"/>
                </a:cubicBezTo>
                <a:cubicBezTo>
                  <a:pt x="1126772" y="198233"/>
                  <a:pt x="1119004" y="198912"/>
                  <a:pt x="1110872" y="198883"/>
                </a:cubicBezTo>
                <a:cubicBezTo>
                  <a:pt x="1085494" y="198693"/>
                  <a:pt x="1066573" y="192029"/>
                  <a:pt x="1054108" y="178891"/>
                </a:cubicBezTo>
                <a:cubicBezTo>
                  <a:pt x="1041643" y="165753"/>
                  <a:pt x="1035428" y="147281"/>
                  <a:pt x="1035463" y="123473"/>
                </a:cubicBezTo>
                <a:cubicBezTo>
                  <a:pt x="1035400" y="109606"/>
                  <a:pt x="1037644" y="97135"/>
                  <a:pt x="1042194" y="86060"/>
                </a:cubicBezTo>
                <a:cubicBezTo>
                  <a:pt x="1046745" y="74986"/>
                  <a:pt x="1053982" y="66198"/>
                  <a:pt x="1063904" y="59696"/>
                </a:cubicBezTo>
                <a:cubicBezTo>
                  <a:pt x="1073826" y="53195"/>
                  <a:pt x="1086812" y="49870"/>
                  <a:pt x="1102862" y="49721"/>
                </a:cubicBezTo>
                <a:close/>
                <a:moveTo>
                  <a:pt x="750437" y="49721"/>
                </a:moveTo>
                <a:cubicBezTo>
                  <a:pt x="772000" y="50182"/>
                  <a:pt x="787779" y="56374"/>
                  <a:pt x="797775" y="68297"/>
                </a:cubicBezTo>
                <a:cubicBezTo>
                  <a:pt x="807771" y="80221"/>
                  <a:pt x="812708" y="95114"/>
                  <a:pt x="812587" y="112977"/>
                </a:cubicBezTo>
                <a:cubicBezTo>
                  <a:pt x="812587" y="117201"/>
                  <a:pt x="812449" y="121183"/>
                  <a:pt x="812173" y="124924"/>
                </a:cubicBezTo>
                <a:cubicBezTo>
                  <a:pt x="811897" y="128664"/>
                  <a:pt x="811482" y="132508"/>
                  <a:pt x="810930" y="136456"/>
                </a:cubicBezTo>
                <a:lnTo>
                  <a:pt x="713975" y="136456"/>
                </a:lnTo>
                <a:cubicBezTo>
                  <a:pt x="715863" y="148731"/>
                  <a:pt x="720512" y="157881"/>
                  <a:pt x="727924" y="163906"/>
                </a:cubicBezTo>
                <a:cubicBezTo>
                  <a:pt x="735337" y="169931"/>
                  <a:pt x="745787" y="172935"/>
                  <a:pt x="759276" y="172918"/>
                </a:cubicBezTo>
                <a:cubicBezTo>
                  <a:pt x="767603" y="172912"/>
                  <a:pt x="775878" y="172026"/>
                  <a:pt x="784102" y="170259"/>
                </a:cubicBezTo>
                <a:cubicBezTo>
                  <a:pt x="792325" y="168492"/>
                  <a:pt x="800255" y="165880"/>
                  <a:pt x="807892" y="162421"/>
                </a:cubicBezTo>
                <a:cubicBezTo>
                  <a:pt x="807333" y="166507"/>
                  <a:pt x="806654" y="170973"/>
                  <a:pt x="805854" y="175818"/>
                </a:cubicBezTo>
                <a:cubicBezTo>
                  <a:pt x="805055" y="180663"/>
                  <a:pt x="804168" y="185405"/>
                  <a:pt x="803196" y="190044"/>
                </a:cubicBezTo>
                <a:cubicBezTo>
                  <a:pt x="796307" y="193191"/>
                  <a:pt x="789160" y="195459"/>
                  <a:pt x="781754" y="196846"/>
                </a:cubicBezTo>
                <a:cubicBezTo>
                  <a:pt x="774347" y="198233"/>
                  <a:pt x="766579" y="198912"/>
                  <a:pt x="758447" y="198883"/>
                </a:cubicBezTo>
                <a:cubicBezTo>
                  <a:pt x="733069" y="198693"/>
                  <a:pt x="714148" y="192029"/>
                  <a:pt x="701683" y="178891"/>
                </a:cubicBezTo>
                <a:cubicBezTo>
                  <a:pt x="689218" y="165753"/>
                  <a:pt x="683003" y="147281"/>
                  <a:pt x="683038" y="123473"/>
                </a:cubicBezTo>
                <a:cubicBezTo>
                  <a:pt x="682975" y="109606"/>
                  <a:pt x="685219" y="97135"/>
                  <a:pt x="689769" y="86060"/>
                </a:cubicBezTo>
                <a:cubicBezTo>
                  <a:pt x="694320" y="74986"/>
                  <a:pt x="701557" y="66198"/>
                  <a:pt x="711479" y="59696"/>
                </a:cubicBezTo>
                <a:cubicBezTo>
                  <a:pt x="721401" y="53195"/>
                  <a:pt x="734387" y="49870"/>
                  <a:pt x="750437" y="49721"/>
                </a:cubicBezTo>
                <a:close/>
                <a:moveTo>
                  <a:pt x="525285" y="49721"/>
                </a:moveTo>
                <a:cubicBezTo>
                  <a:pt x="551302" y="49859"/>
                  <a:pt x="570534" y="56213"/>
                  <a:pt x="582981" y="68781"/>
                </a:cubicBezTo>
                <a:cubicBezTo>
                  <a:pt x="595429" y="81349"/>
                  <a:pt x="601609" y="99304"/>
                  <a:pt x="601523" y="122645"/>
                </a:cubicBezTo>
                <a:cubicBezTo>
                  <a:pt x="601437" y="147091"/>
                  <a:pt x="595049" y="165874"/>
                  <a:pt x="582360" y="178995"/>
                </a:cubicBezTo>
                <a:cubicBezTo>
                  <a:pt x="569671" y="192115"/>
                  <a:pt x="551198" y="198745"/>
                  <a:pt x="526942" y="198883"/>
                </a:cubicBezTo>
                <a:cubicBezTo>
                  <a:pt x="517597" y="198837"/>
                  <a:pt x="509494" y="197824"/>
                  <a:pt x="502634" y="195844"/>
                </a:cubicBezTo>
                <a:lnTo>
                  <a:pt x="502634" y="248603"/>
                </a:lnTo>
                <a:lnTo>
                  <a:pt x="472250" y="248603"/>
                </a:lnTo>
                <a:lnTo>
                  <a:pt x="472250" y="57456"/>
                </a:lnTo>
                <a:cubicBezTo>
                  <a:pt x="479587" y="55200"/>
                  <a:pt x="487908" y="53358"/>
                  <a:pt x="497213" y="51931"/>
                </a:cubicBezTo>
                <a:cubicBezTo>
                  <a:pt x="506519" y="50504"/>
                  <a:pt x="515876" y="49767"/>
                  <a:pt x="525285" y="49721"/>
                </a:cubicBezTo>
                <a:close/>
                <a:moveTo>
                  <a:pt x="283988" y="49721"/>
                </a:moveTo>
                <a:cubicBezTo>
                  <a:pt x="293788" y="49704"/>
                  <a:pt x="302432" y="50567"/>
                  <a:pt x="309919" y="52311"/>
                </a:cubicBezTo>
                <a:cubicBezTo>
                  <a:pt x="317405" y="54055"/>
                  <a:pt x="323770" y="56782"/>
                  <a:pt x="329013" y="60494"/>
                </a:cubicBezTo>
                <a:cubicBezTo>
                  <a:pt x="336925" y="57024"/>
                  <a:pt x="344924" y="54365"/>
                  <a:pt x="353010" y="52518"/>
                </a:cubicBezTo>
                <a:cubicBezTo>
                  <a:pt x="361095" y="50671"/>
                  <a:pt x="369025" y="49739"/>
                  <a:pt x="376800" y="49721"/>
                </a:cubicBezTo>
                <a:cubicBezTo>
                  <a:pt x="399813" y="49842"/>
                  <a:pt x="416006" y="54503"/>
                  <a:pt x="425381" y="63705"/>
                </a:cubicBezTo>
                <a:cubicBezTo>
                  <a:pt x="434755" y="72907"/>
                  <a:pt x="439278" y="85924"/>
                  <a:pt x="438950" y="102757"/>
                </a:cubicBezTo>
                <a:lnTo>
                  <a:pt x="438950" y="195568"/>
                </a:lnTo>
                <a:lnTo>
                  <a:pt x="408565" y="195568"/>
                </a:lnTo>
                <a:lnTo>
                  <a:pt x="408565" y="107176"/>
                </a:lnTo>
                <a:cubicBezTo>
                  <a:pt x="408715" y="96800"/>
                  <a:pt x="406137" y="88963"/>
                  <a:pt x="400831" y="83662"/>
                </a:cubicBezTo>
                <a:cubicBezTo>
                  <a:pt x="395525" y="78362"/>
                  <a:pt x="386594" y="75704"/>
                  <a:pt x="374037" y="75686"/>
                </a:cubicBezTo>
                <a:cubicBezTo>
                  <a:pt x="369031" y="75698"/>
                  <a:pt x="363990" y="76227"/>
                  <a:pt x="358914" y="77275"/>
                </a:cubicBezTo>
                <a:cubicBezTo>
                  <a:pt x="353838" y="78322"/>
                  <a:pt x="348935" y="79818"/>
                  <a:pt x="344205" y="81763"/>
                </a:cubicBezTo>
                <a:cubicBezTo>
                  <a:pt x="346093" y="87794"/>
                  <a:pt x="347013" y="94792"/>
                  <a:pt x="346967" y="102757"/>
                </a:cubicBezTo>
                <a:lnTo>
                  <a:pt x="346967" y="195568"/>
                </a:lnTo>
                <a:lnTo>
                  <a:pt x="316582" y="195568"/>
                </a:lnTo>
                <a:lnTo>
                  <a:pt x="316582" y="106900"/>
                </a:lnTo>
                <a:cubicBezTo>
                  <a:pt x="316738" y="96657"/>
                  <a:pt x="314079" y="88899"/>
                  <a:pt x="308607" y="83628"/>
                </a:cubicBezTo>
                <a:cubicBezTo>
                  <a:pt x="303134" y="78357"/>
                  <a:pt x="293915" y="75710"/>
                  <a:pt x="280949" y="75686"/>
                </a:cubicBezTo>
                <a:cubicBezTo>
                  <a:pt x="276639" y="75686"/>
                  <a:pt x="272277" y="75894"/>
                  <a:pt x="267863" y="76308"/>
                </a:cubicBezTo>
                <a:cubicBezTo>
                  <a:pt x="263450" y="76722"/>
                  <a:pt x="259157" y="77344"/>
                  <a:pt x="254984" y="78173"/>
                </a:cubicBezTo>
                <a:lnTo>
                  <a:pt x="254984" y="195568"/>
                </a:lnTo>
                <a:lnTo>
                  <a:pt x="224600" y="195568"/>
                </a:lnTo>
                <a:lnTo>
                  <a:pt x="224600" y="57456"/>
                </a:lnTo>
                <a:cubicBezTo>
                  <a:pt x="234360" y="55079"/>
                  <a:pt x="244327" y="53203"/>
                  <a:pt x="254501" y="51828"/>
                </a:cubicBezTo>
                <a:cubicBezTo>
                  <a:pt x="264675" y="50452"/>
                  <a:pt x="274504" y="49750"/>
                  <a:pt x="283988" y="49721"/>
                </a:cubicBezTo>
                <a:close/>
                <a:moveTo>
                  <a:pt x="944528" y="28452"/>
                </a:moveTo>
                <a:cubicBezTo>
                  <a:pt x="941173" y="28435"/>
                  <a:pt x="937593" y="28538"/>
                  <a:pt x="933789" y="28763"/>
                </a:cubicBezTo>
                <a:cubicBezTo>
                  <a:pt x="929986" y="28987"/>
                  <a:pt x="926199" y="29436"/>
                  <a:pt x="922430" y="30109"/>
                </a:cubicBezTo>
                <a:lnTo>
                  <a:pt x="922430" y="101375"/>
                </a:lnTo>
                <a:lnTo>
                  <a:pt x="945633" y="101375"/>
                </a:lnTo>
                <a:cubicBezTo>
                  <a:pt x="960790" y="101312"/>
                  <a:pt x="972047" y="98193"/>
                  <a:pt x="979401" y="92018"/>
                </a:cubicBezTo>
                <a:cubicBezTo>
                  <a:pt x="986756" y="85844"/>
                  <a:pt x="990416" y="76993"/>
                  <a:pt x="990381" y="65466"/>
                </a:cubicBezTo>
                <a:cubicBezTo>
                  <a:pt x="990439" y="52927"/>
                  <a:pt x="986733" y="43616"/>
                  <a:pt x="979263" y="37533"/>
                </a:cubicBezTo>
                <a:cubicBezTo>
                  <a:pt x="971793" y="31450"/>
                  <a:pt x="960215" y="28423"/>
                  <a:pt x="944528" y="28452"/>
                </a:cubicBezTo>
                <a:close/>
                <a:moveTo>
                  <a:pt x="2005917" y="4420"/>
                </a:moveTo>
                <a:lnTo>
                  <a:pt x="2120275" y="4420"/>
                </a:lnTo>
                <a:cubicBezTo>
                  <a:pt x="2119998" y="8558"/>
                  <a:pt x="2119584" y="13127"/>
                  <a:pt x="2119032" y="18128"/>
                </a:cubicBezTo>
                <a:cubicBezTo>
                  <a:pt x="2118479" y="23129"/>
                  <a:pt x="2117789" y="27767"/>
                  <a:pt x="2116960" y="32043"/>
                </a:cubicBezTo>
                <a:lnTo>
                  <a:pt x="2036855" y="32043"/>
                </a:lnTo>
                <a:lnTo>
                  <a:pt x="2036855" y="85631"/>
                </a:lnTo>
                <a:lnTo>
                  <a:pt x="2115026" y="85631"/>
                </a:lnTo>
                <a:cubicBezTo>
                  <a:pt x="2114750" y="89636"/>
                  <a:pt x="2114336" y="94124"/>
                  <a:pt x="2113783" y="99097"/>
                </a:cubicBezTo>
                <a:cubicBezTo>
                  <a:pt x="2113231" y="104069"/>
                  <a:pt x="2112540" y="108695"/>
                  <a:pt x="2111712" y="112977"/>
                </a:cubicBezTo>
                <a:lnTo>
                  <a:pt x="2036855" y="112977"/>
                </a:lnTo>
                <a:lnTo>
                  <a:pt x="2036855" y="195568"/>
                </a:lnTo>
                <a:lnTo>
                  <a:pt x="2005917" y="195568"/>
                </a:lnTo>
                <a:close/>
                <a:moveTo>
                  <a:pt x="1902809" y="2211"/>
                </a:moveTo>
                <a:lnTo>
                  <a:pt x="1902809" y="195568"/>
                </a:lnTo>
                <a:lnTo>
                  <a:pt x="1872425" y="195568"/>
                </a:lnTo>
                <a:lnTo>
                  <a:pt x="1872425" y="6630"/>
                </a:lnTo>
                <a:cubicBezTo>
                  <a:pt x="1876488" y="5479"/>
                  <a:pt x="1881345" y="4466"/>
                  <a:pt x="1886996" y="3592"/>
                </a:cubicBezTo>
                <a:cubicBezTo>
                  <a:pt x="1892647" y="2717"/>
                  <a:pt x="1897918" y="2257"/>
                  <a:pt x="1902809" y="2211"/>
                </a:cubicBezTo>
                <a:close/>
                <a:moveTo>
                  <a:pt x="655034" y="2211"/>
                </a:moveTo>
                <a:lnTo>
                  <a:pt x="655034" y="195568"/>
                </a:lnTo>
                <a:lnTo>
                  <a:pt x="624650" y="195568"/>
                </a:lnTo>
                <a:lnTo>
                  <a:pt x="624650" y="6630"/>
                </a:lnTo>
                <a:cubicBezTo>
                  <a:pt x="628712" y="5479"/>
                  <a:pt x="633569" y="4466"/>
                  <a:pt x="639221" y="3592"/>
                </a:cubicBezTo>
                <a:cubicBezTo>
                  <a:pt x="644872" y="2717"/>
                  <a:pt x="650143" y="2257"/>
                  <a:pt x="655034" y="2211"/>
                </a:cubicBezTo>
                <a:close/>
                <a:moveTo>
                  <a:pt x="943423" y="1382"/>
                </a:moveTo>
                <a:cubicBezTo>
                  <a:pt x="963261" y="1532"/>
                  <a:pt x="978921" y="4393"/>
                  <a:pt x="990401" y="9965"/>
                </a:cubicBezTo>
                <a:cubicBezTo>
                  <a:pt x="1001882" y="15538"/>
                  <a:pt x="1010032" y="22921"/>
                  <a:pt x="1014852" y="32115"/>
                </a:cubicBezTo>
                <a:cubicBezTo>
                  <a:pt x="1019673" y="41308"/>
                  <a:pt x="1022012" y="51413"/>
                  <a:pt x="1021871" y="62428"/>
                </a:cubicBezTo>
                <a:cubicBezTo>
                  <a:pt x="1021715" y="83283"/>
                  <a:pt x="1015051" y="99373"/>
                  <a:pt x="1001879" y="110698"/>
                </a:cubicBezTo>
                <a:cubicBezTo>
                  <a:pt x="988706" y="122023"/>
                  <a:pt x="969958" y="127755"/>
                  <a:pt x="945633" y="127893"/>
                </a:cubicBezTo>
                <a:lnTo>
                  <a:pt x="922430" y="127893"/>
                </a:lnTo>
                <a:lnTo>
                  <a:pt x="922430" y="195292"/>
                </a:lnTo>
                <a:lnTo>
                  <a:pt x="891492" y="195292"/>
                </a:lnTo>
                <a:lnTo>
                  <a:pt x="891492" y="6906"/>
                </a:lnTo>
                <a:cubicBezTo>
                  <a:pt x="898473" y="5347"/>
                  <a:pt x="906610" y="4046"/>
                  <a:pt x="915904" y="3005"/>
                </a:cubicBezTo>
                <a:cubicBezTo>
                  <a:pt x="925198" y="1963"/>
                  <a:pt x="934371" y="1422"/>
                  <a:pt x="943423" y="1382"/>
                </a:cubicBezTo>
                <a:close/>
                <a:moveTo>
                  <a:pt x="2316242" y="1106"/>
                </a:moveTo>
                <a:cubicBezTo>
                  <a:pt x="2321738" y="1215"/>
                  <a:pt x="2326215" y="2999"/>
                  <a:pt x="2329673" y="6458"/>
                </a:cubicBezTo>
                <a:cubicBezTo>
                  <a:pt x="2333132" y="9916"/>
                  <a:pt x="2334916" y="14393"/>
                  <a:pt x="2335025" y="19889"/>
                </a:cubicBezTo>
                <a:cubicBezTo>
                  <a:pt x="2334916" y="25385"/>
                  <a:pt x="2333132" y="29862"/>
                  <a:pt x="2329673" y="33320"/>
                </a:cubicBezTo>
                <a:cubicBezTo>
                  <a:pt x="2326215" y="36779"/>
                  <a:pt x="2321738" y="38563"/>
                  <a:pt x="2316242" y="38672"/>
                </a:cubicBezTo>
                <a:cubicBezTo>
                  <a:pt x="2310614" y="38563"/>
                  <a:pt x="2306056" y="36779"/>
                  <a:pt x="2302569" y="33320"/>
                </a:cubicBezTo>
                <a:cubicBezTo>
                  <a:pt x="2299082" y="29862"/>
                  <a:pt x="2297286" y="25385"/>
                  <a:pt x="2297183" y="19889"/>
                </a:cubicBezTo>
                <a:cubicBezTo>
                  <a:pt x="2297286" y="14393"/>
                  <a:pt x="2299082" y="9916"/>
                  <a:pt x="2302569" y="6458"/>
                </a:cubicBezTo>
                <a:cubicBezTo>
                  <a:pt x="2306056" y="2999"/>
                  <a:pt x="2310614" y="1215"/>
                  <a:pt x="2316242" y="1106"/>
                </a:cubicBezTo>
                <a:close/>
                <a:moveTo>
                  <a:pt x="173117" y="1106"/>
                </a:moveTo>
                <a:cubicBezTo>
                  <a:pt x="178613" y="1215"/>
                  <a:pt x="183090" y="2999"/>
                  <a:pt x="186549" y="6458"/>
                </a:cubicBezTo>
                <a:cubicBezTo>
                  <a:pt x="190007" y="9916"/>
                  <a:pt x="191791" y="14393"/>
                  <a:pt x="191900" y="19889"/>
                </a:cubicBezTo>
                <a:cubicBezTo>
                  <a:pt x="191791" y="25385"/>
                  <a:pt x="190007" y="29862"/>
                  <a:pt x="186549" y="33320"/>
                </a:cubicBezTo>
                <a:cubicBezTo>
                  <a:pt x="183090" y="36779"/>
                  <a:pt x="178613" y="38563"/>
                  <a:pt x="173117" y="38672"/>
                </a:cubicBezTo>
                <a:cubicBezTo>
                  <a:pt x="167489" y="38563"/>
                  <a:pt x="162931" y="36779"/>
                  <a:pt x="159444" y="33320"/>
                </a:cubicBezTo>
                <a:cubicBezTo>
                  <a:pt x="155957" y="29862"/>
                  <a:pt x="154161" y="25385"/>
                  <a:pt x="154058" y="19889"/>
                </a:cubicBezTo>
                <a:cubicBezTo>
                  <a:pt x="154161" y="14393"/>
                  <a:pt x="155957" y="9916"/>
                  <a:pt x="159444" y="6458"/>
                </a:cubicBezTo>
                <a:cubicBezTo>
                  <a:pt x="162931" y="2999"/>
                  <a:pt x="167489" y="1215"/>
                  <a:pt x="173117" y="1106"/>
                </a:cubicBezTo>
                <a:close/>
                <a:moveTo>
                  <a:pt x="68228" y="1"/>
                </a:moveTo>
                <a:cubicBezTo>
                  <a:pt x="77205" y="-11"/>
                  <a:pt x="85906" y="634"/>
                  <a:pt x="94331" y="1934"/>
                </a:cubicBezTo>
                <a:cubicBezTo>
                  <a:pt x="102756" y="3235"/>
                  <a:pt x="110904" y="5261"/>
                  <a:pt x="118777" y="8011"/>
                </a:cubicBezTo>
                <a:cubicBezTo>
                  <a:pt x="118357" y="13496"/>
                  <a:pt x="117678" y="18479"/>
                  <a:pt x="116740" y="22962"/>
                </a:cubicBezTo>
                <a:cubicBezTo>
                  <a:pt x="115802" y="27445"/>
                  <a:pt x="114639" y="31669"/>
                  <a:pt x="113252" y="35634"/>
                </a:cubicBezTo>
                <a:cubicBezTo>
                  <a:pt x="105633" y="32883"/>
                  <a:pt x="97807" y="30857"/>
                  <a:pt x="89773" y="29557"/>
                </a:cubicBezTo>
                <a:cubicBezTo>
                  <a:pt x="81740" y="28256"/>
                  <a:pt x="74466" y="27612"/>
                  <a:pt x="67951" y="27623"/>
                </a:cubicBezTo>
                <a:cubicBezTo>
                  <a:pt x="55976" y="27710"/>
                  <a:pt x="47125" y="29885"/>
                  <a:pt x="41399" y="34149"/>
                </a:cubicBezTo>
                <a:cubicBezTo>
                  <a:pt x="35673" y="38413"/>
                  <a:pt x="32831" y="44249"/>
                  <a:pt x="32871" y="51655"/>
                </a:cubicBezTo>
                <a:cubicBezTo>
                  <a:pt x="32917" y="58710"/>
                  <a:pt x="35518" y="64626"/>
                  <a:pt x="40674" y="69402"/>
                </a:cubicBezTo>
                <a:cubicBezTo>
                  <a:pt x="45831" y="74179"/>
                  <a:pt x="53266" y="78575"/>
                  <a:pt x="62979" y="82592"/>
                </a:cubicBezTo>
                <a:lnTo>
                  <a:pt x="77896" y="88945"/>
                </a:lnTo>
                <a:cubicBezTo>
                  <a:pt x="95315" y="96190"/>
                  <a:pt x="107987" y="104282"/>
                  <a:pt x="115911" y="113219"/>
                </a:cubicBezTo>
                <a:cubicBezTo>
                  <a:pt x="123835" y="122156"/>
                  <a:pt x="127737" y="133216"/>
                  <a:pt x="127616" y="146400"/>
                </a:cubicBezTo>
                <a:cubicBezTo>
                  <a:pt x="127593" y="162530"/>
                  <a:pt x="121631" y="175432"/>
                  <a:pt x="109731" y="185106"/>
                </a:cubicBezTo>
                <a:cubicBezTo>
                  <a:pt x="97830" y="194780"/>
                  <a:pt x="80128" y="199740"/>
                  <a:pt x="56626" y="199988"/>
                </a:cubicBezTo>
                <a:cubicBezTo>
                  <a:pt x="45324" y="199999"/>
                  <a:pt x="34989" y="199148"/>
                  <a:pt x="25620" y="197433"/>
                </a:cubicBezTo>
                <a:cubicBezTo>
                  <a:pt x="16251" y="195718"/>
                  <a:pt x="7711" y="193071"/>
                  <a:pt x="0" y="189491"/>
                </a:cubicBezTo>
                <a:cubicBezTo>
                  <a:pt x="271" y="183926"/>
                  <a:pt x="835" y="178966"/>
                  <a:pt x="1692" y="174610"/>
                </a:cubicBezTo>
                <a:cubicBezTo>
                  <a:pt x="2550" y="170253"/>
                  <a:pt x="3735" y="165914"/>
                  <a:pt x="5248" y="161592"/>
                </a:cubicBezTo>
                <a:cubicBezTo>
                  <a:pt x="13173" y="165183"/>
                  <a:pt x="21632" y="167877"/>
                  <a:pt x="30627" y="169672"/>
                </a:cubicBezTo>
                <a:cubicBezTo>
                  <a:pt x="39621" y="171467"/>
                  <a:pt x="48012" y="172365"/>
                  <a:pt x="55798" y="172365"/>
                </a:cubicBezTo>
                <a:cubicBezTo>
                  <a:pt x="68705" y="172359"/>
                  <a:pt x="78592" y="170299"/>
                  <a:pt x="85457" y="166185"/>
                </a:cubicBezTo>
                <a:cubicBezTo>
                  <a:pt x="92323" y="162070"/>
                  <a:pt x="95787" y="155936"/>
                  <a:pt x="95850" y="147781"/>
                </a:cubicBezTo>
                <a:cubicBezTo>
                  <a:pt x="95954" y="140030"/>
                  <a:pt x="93123" y="133642"/>
                  <a:pt x="87356" y="128618"/>
                </a:cubicBezTo>
                <a:cubicBezTo>
                  <a:pt x="81590" y="123594"/>
                  <a:pt x="72268" y="118381"/>
                  <a:pt x="59388" y="112977"/>
                </a:cubicBezTo>
                <a:lnTo>
                  <a:pt x="45301" y="106900"/>
                </a:lnTo>
                <a:cubicBezTo>
                  <a:pt x="32123" y="101473"/>
                  <a:pt x="21603" y="94510"/>
                  <a:pt x="13742" y="86010"/>
                </a:cubicBezTo>
                <a:cubicBezTo>
                  <a:pt x="5881" y="77511"/>
                  <a:pt x="1853" y="66059"/>
                  <a:pt x="1657" y="51655"/>
                </a:cubicBezTo>
                <a:cubicBezTo>
                  <a:pt x="1634" y="35726"/>
                  <a:pt x="7136" y="23181"/>
                  <a:pt x="18162" y="14019"/>
                </a:cubicBezTo>
                <a:cubicBezTo>
                  <a:pt x="29188" y="4858"/>
                  <a:pt x="45877" y="185"/>
                  <a:pt x="68228" y="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96365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12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FFD12-F293-43F7-8F1D-D7604C51B5C8}"/>
              </a:ext>
            </a:extLst>
          </p:cNvPr>
          <p:cNvSpPr>
            <a:spLocks noGrp="1"/>
          </p:cNvSpPr>
          <p:nvPr>
            <p:ph type="title"/>
          </p:nvPr>
        </p:nvSpPr>
        <p:spPr/>
        <p:txBody>
          <a:bodyPr/>
          <a:lstStyle/>
          <a:p>
            <a:r>
              <a:rPr lang="en-US"/>
              <a:t>Click to edit Master title style</a:t>
            </a:r>
            <a:endParaRPr lang="es-ES"/>
          </a:p>
        </p:txBody>
      </p:sp>
      <p:sp>
        <p:nvSpPr>
          <p:cNvPr id="3" name="Content Placeholder 2">
            <a:extLst>
              <a:ext uri="{FF2B5EF4-FFF2-40B4-BE49-F238E27FC236}">
                <a16:creationId xmlns:a16="http://schemas.microsoft.com/office/drawing/2014/main" id="{0897C5EB-8DC6-45F7-954D-789B5E00C20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Date Placeholder 3">
            <a:extLst>
              <a:ext uri="{FF2B5EF4-FFF2-40B4-BE49-F238E27FC236}">
                <a16:creationId xmlns:a16="http://schemas.microsoft.com/office/drawing/2014/main" id="{ED6299F8-DF12-4088-BBF2-C15C7DC7B13B}"/>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4680A590-E65A-4842-91F8-3070686A7213}"/>
              </a:ext>
            </a:extLst>
          </p:cNvPr>
          <p:cNvSpPr>
            <a:spLocks noGrp="1"/>
          </p:cNvSpPr>
          <p:nvPr>
            <p:ph type="ftr" sz="quarter" idx="11"/>
          </p:nvPr>
        </p:nvSpPr>
        <p:spPr/>
        <p:txBody>
          <a:bodyPr/>
          <a:lstStyle/>
          <a:p>
            <a:r>
              <a:rPr lang="en-US"/>
              <a:t>xxxxx</a:t>
            </a:r>
          </a:p>
        </p:txBody>
      </p:sp>
      <p:sp>
        <p:nvSpPr>
          <p:cNvPr id="6" name="Slide Number Placeholder 5">
            <a:extLst>
              <a:ext uri="{FF2B5EF4-FFF2-40B4-BE49-F238E27FC236}">
                <a16:creationId xmlns:a16="http://schemas.microsoft.com/office/drawing/2014/main" id="{F2E493AF-DB7A-4137-829A-6EEE882A56D4}"/>
              </a:ext>
            </a:extLst>
          </p:cNvPr>
          <p:cNvSpPr>
            <a:spLocks noGrp="1"/>
          </p:cNvSpPr>
          <p:nvPr>
            <p:ph type="sldNum" sz="quarter" idx="12"/>
          </p:nvPr>
        </p:nvSpPr>
        <p:spPr>
          <a:xfrm>
            <a:off x="9037569" y="5313432"/>
            <a:ext cx="2743200" cy="365125"/>
          </a:xfrm>
          <a:prstGeom prst="rect">
            <a:avLst/>
          </a:prstGeom>
        </p:spPr>
        <p:txBody>
          <a:bodyPr/>
          <a:lstStyle/>
          <a:p>
            <a:fld id="{BC0D97B6-E32F-4D7D-B839-7C3B51F2640F}" type="slidenum">
              <a:rPr lang="en-US" smtClean="0"/>
              <a:t>‹Nº›</a:t>
            </a:fld>
            <a:endParaRPr lang="en-US"/>
          </a:p>
        </p:txBody>
      </p:sp>
      <p:sp>
        <p:nvSpPr>
          <p:cNvPr id="7" name="Marcador de número de diapositiva 5">
            <a:extLst>
              <a:ext uri="{FF2B5EF4-FFF2-40B4-BE49-F238E27FC236}">
                <a16:creationId xmlns:a16="http://schemas.microsoft.com/office/drawing/2014/main" id="{C60B320C-F93D-45A7-B5CC-5C18ED1F85FB}"/>
              </a:ext>
            </a:extLst>
          </p:cNvPr>
          <p:cNvSpPr txBox="1">
            <a:spLocks/>
          </p:cNvSpPr>
          <p:nvPr userDrawn="1"/>
        </p:nvSpPr>
        <p:spPr>
          <a:xfrm>
            <a:off x="9448800" y="6449270"/>
            <a:ext cx="2743200" cy="365125"/>
          </a:xfrm>
          <a:prstGeom prst="rect">
            <a:avLst/>
          </a:prstGeom>
        </p:spPr>
        <p:txBody>
          <a:bodyPr vert="horz" lIns="91440" tIns="45720" rIns="91440" bIns="45720" rtlCol="0" anchor="ctr"/>
          <a:lstStyle>
            <a:defPPr>
              <a:defRPr lang="es-ES"/>
            </a:defPPr>
            <a:lvl1pPr marL="0" algn="r" defTabSz="914400" rtl="0" eaLnBrk="1" latinLnBrk="0" hangingPunct="1">
              <a:defRPr lang="es-ES" sz="1300" kern="1200" smtClean="0">
                <a:solidFill>
                  <a:schemeClr val="accent1"/>
                </a:solidFill>
                <a:latin typeface="Santander Text" panose="020B05040202010201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C0D97B6-E32F-4D7D-B839-7C3B51F2640F}" type="slidenum">
              <a:rPr lang="en-US" smtClean="0"/>
              <a:pPr/>
              <a:t>‹Nº›</a:t>
            </a:fld>
            <a:endParaRPr lang="en-US"/>
          </a:p>
        </p:txBody>
      </p:sp>
      <p:sp>
        <p:nvSpPr>
          <p:cNvPr id="8" name="Freeform 5">
            <a:extLst>
              <a:ext uri="{FF2B5EF4-FFF2-40B4-BE49-F238E27FC236}">
                <a16:creationId xmlns:a16="http://schemas.microsoft.com/office/drawing/2014/main" id="{9B269A1A-1BE2-9E88-7DDE-FFD5B4DD3F2F}"/>
              </a:ext>
            </a:extLst>
          </p:cNvPr>
          <p:cNvSpPr>
            <a:spLocks noEditPoints="1"/>
          </p:cNvSpPr>
          <p:nvPr userDrawn="1"/>
        </p:nvSpPr>
        <p:spPr bwMode="auto">
          <a:xfrm>
            <a:off x="859275" y="6528475"/>
            <a:ext cx="1171705" cy="206714"/>
          </a:xfrm>
          <a:custGeom>
            <a:avLst/>
            <a:gdLst>
              <a:gd name="T0" fmla="*/ 319 w 3262"/>
              <a:gd name="T1" fmla="*/ 39 h 572"/>
              <a:gd name="T2" fmla="*/ 300 w 3262"/>
              <a:gd name="T3" fmla="*/ 137 h 572"/>
              <a:gd name="T4" fmla="*/ 371 w 3262"/>
              <a:gd name="T5" fmla="*/ 405 h 572"/>
              <a:gd name="T6" fmla="*/ 244 w 3262"/>
              <a:gd name="T7" fmla="*/ 170 h 572"/>
              <a:gd name="T8" fmla="*/ 225 w 3262"/>
              <a:gd name="T9" fmla="*/ 267 h 572"/>
              <a:gd name="T10" fmla="*/ 300 w 3262"/>
              <a:gd name="T11" fmla="*/ 528 h 572"/>
              <a:gd name="T12" fmla="*/ 187 w 3262"/>
              <a:gd name="T13" fmla="*/ 333 h 572"/>
              <a:gd name="T14" fmla="*/ 300 w 3262"/>
              <a:gd name="T15" fmla="*/ 572 h 572"/>
              <a:gd name="T16" fmla="*/ 714 w 3262"/>
              <a:gd name="T17" fmla="*/ 540 h 572"/>
              <a:gd name="T18" fmla="*/ 910 w 3262"/>
              <a:gd name="T19" fmla="*/ 455 h 572"/>
              <a:gd name="T20" fmla="*/ 717 w 3262"/>
              <a:gd name="T21" fmla="*/ 258 h 572"/>
              <a:gd name="T22" fmla="*/ 945 w 3262"/>
              <a:gd name="T23" fmla="*/ 226 h 572"/>
              <a:gd name="T24" fmla="*/ 842 w 3262"/>
              <a:gd name="T25" fmla="*/ 322 h 572"/>
              <a:gd name="T26" fmla="*/ 829 w 3262"/>
              <a:gd name="T27" fmla="*/ 561 h 572"/>
              <a:gd name="T28" fmla="*/ 1277 w 3262"/>
              <a:gd name="T29" fmla="*/ 552 h 572"/>
              <a:gd name="T30" fmla="*/ 1138 w 3262"/>
              <a:gd name="T31" fmla="*/ 559 h 572"/>
              <a:gd name="T32" fmla="*/ 1277 w 3262"/>
              <a:gd name="T33" fmla="*/ 270 h 572"/>
              <a:gd name="T34" fmla="*/ 1171 w 3262"/>
              <a:gd name="T35" fmla="*/ 307 h 572"/>
              <a:gd name="T36" fmla="*/ 1215 w 3262"/>
              <a:gd name="T37" fmla="*/ 488 h 572"/>
              <a:gd name="T38" fmla="*/ 1533 w 3262"/>
              <a:gd name="T39" fmla="*/ 552 h 572"/>
              <a:gd name="T40" fmla="*/ 1407 w 3262"/>
              <a:gd name="T41" fmla="*/ 312 h 572"/>
              <a:gd name="T42" fmla="*/ 1345 w 3262"/>
              <a:gd name="T43" fmla="*/ 270 h 572"/>
              <a:gd name="T44" fmla="*/ 1767 w 3262"/>
              <a:gd name="T45" fmla="*/ 506 h 572"/>
              <a:gd name="T46" fmla="*/ 1756 w 3262"/>
              <a:gd name="T47" fmla="*/ 559 h 572"/>
              <a:gd name="T48" fmla="*/ 1719 w 3262"/>
              <a:gd name="T49" fmla="*/ 157 h 572"/>
              <a:gd name="T50" fmla="*/ 1812 w 3262"/>
              <a:gd name="T51" fmla="*/ 317 h 572"/>
              <a:gd name="T52" fmla="*/ 1767 w 3262"/>
              <a:gd name="T53" fmla="*/ 506 h 572"/>
              <a:gd name="T54" fmla="*/ 2043 w 3262"/>
              <a:gd name="T55" fmla="*/ 552 h 572"/>
              <a:gd name="T56" fmla="*/ 1836 w 3262"/>
              <a:gd name="T57" fmla="*/ 410 h 572"/>
              <a:gd name="T58" fmla="*/ 2038 w 3262"/>
              <a:gd name="T59" fmla="*/ 488 h 572"/>
              <a:gd name="T60" fmla="*/ 1899 w 3262"/>
              <a:gd name="T61" fmla="*/ 410 h 572"/>
              <a:gd name="T62" fmla="*/ 2418 w 3262"/>
              <a:gd name="T63" fmla="*/ 363 h 572"/>
              <a:gd name="T64" fmla="*/ 2356 w 3262"/>
              <a:gd name="T65" fmla="*/ 373 h 572"/>
              <a:gd name="T66" fmla="*/ 2230 w 3262"/>
              <a:gd name="T67" fmla="*/ 552 h 572"/>
              <a:gd name="T68" fmla="*/ 2281 w 3262"/>
              <a:gd name="T69" fmla="*/ 254 h 572"/>
              <a:gd name="T70" fmla="*/ 2733 w 3262"/>
              <a:gd name="T71" fmla="*/ 552 h 572"/>
              <a:gd name="T72" fmla="*/ 2591 w 3262"/>
              <a:gd name="T73" fmla="*/ 559 h 572"/>
              <a:gd name="T74" fmla="*/ 2671 w 3262"/>
              <a:gd name="T75" fmla="*/ 259 h 572"/>
              <a:gd name="T76" fmla="*/ 2671 w 3262"/>
              <a:gd name="T77" fmla="*/ 487 h 572"/>
              <a:gd name="T78" fmla="*/ 2531 w 3262"/>
              <a:gd name="T79" fmla="*/ 410 h 572"/>
              <a:gd name="T80" fmla="*/ 3045 w 3262"/>
              <a:gd name="T81" fmla="*/ 432 h 572"/>
              <a:gd name="T82" fmla="*/ 3038 w 3262"/>
              <a:gd name="T83" fmla="*/ 485 h 572"/>
              <a:gd name="T84" fmla="*/ 2783 w 3262"/>
              <a:gd name="T85" fmla="*/ 405 h 572"/>
              <a:gd name="T86" fmla="*/ 3045 w 3262"/>
              <a:gd name="T87" fmla="*/ 432 h 572"/>
              <a:gd name="T88" fmla="*/ 2918 w 3262"/>
              <a:gd name="T89" fmla="*/ 306 h 572"/>
              <a:gd name="T90" fmla="*/ 3256 w 3262"/>
              <a:gd name="T91" fmla="*/ 310 h 572"/>
              <a:gd name="T92" fmla="*/ 3164 w 3262"/>
              <a:gd name="T93" fmla="*/ 552 h 572"/>
              <a:gd name="T94" fmla="*/ 3208 w 3262"/>
              <a:gd name="T95" fmla="*/ 254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262" h="572">
                <a:moveTo>
                  <a:pt x="430" y="262"/>
                </a:moveTo>
                <a:cubicBezTo>
                  <a:pt x="429" y="241"/>
                  <a:pt x="424" y="221"/>
                  <a:pt x="413" y="202"/>
                </a:cubicBezTo>
                <a:cubicBezTo>
                  <a:pt x="319" y="39"/>
                  <a:pt x="319" y="39"/>
                  <a:pt x="319" y="39"/>
                </a:cubicBezTo>
                <a:cubicBezTo>
                  <a:pt x="312" y="27"/>
                  <a:pt x="307" y="14"/>
                  <a:pt x="304" y="0"/>
                </a:cubicBezTo>
                <a:cubicBezTo>
                  <a:pt x="300" y="7"/>
                  <a:pt x="300" y="7"/>
                  <a:pt x="300" y="7"/>
                </a:cubicBezTo>
                <a:cubicBezTo>
                  <a:pt x="277" y="47"/>
                  <a:pt x="277" y="97"/>
                  <a:pt x="300" y="137"/>
                </a:cubicBezTo>
                <a:cubicBezTo>
                  <a:pt x="375" y="267"/>
                  <a:pt x="375" y="267"/>
                  <a:pt x="375" y="267"/>
                </a:cubicBezTo>
                <a:cubicBezTo>
                  <a:pt x="399" y="308"/>
                  <a:pt x="399" y="357"/>
                  <a:pt x="375" y="398"/>
                </a:cubicBezTo>
                <a:cubicBezTo>
                  <a:pt x="371" y="405"/>
                  <a:pt x="371" y="405"/>
                  <a:pt x="371" y="405"/>
                </a:cubicBezTo>
                <a:cubicBezTo>
                  <a:pt x="369" y="391"/>
                  <a:pt x="364" y="378"/>
                  <a:pt x="356" y="365"/>
                </a:cubicBezTo>
                <a:cubicBezTo>
                  <a:pt x="288" y="246"/>
                  <a:pt x="288" y="246"/>
                  <a:pt x="288" y="246"/>
                </a:cubicBezTo>
                <a:cubicBezTo>
                  <a:pt x="244" y="170"/>
                  <a:pt x="244" y="170"/>
                  <a:pt x="244" y="170"/>
                </a:cubicBezTo>
                <a:cubicBezTo>
                  <a:pt x="236" y="157"/>
                  <a:pt x="232" y="144"/>
                  <a:pt x="229" y="130"/>
                </a:cubicBezTo>
                <a:cubicBezTo>
                  <a:pt x="225" y="137"/>
                  <a:pt x="225" y="137"/>
                  <a:pt x="225" y="137"/>
                </a:cubicBezTo>
                <a:cubicBezTo>
                  <a:pt x="202" y="177"/>
                  <a:pt x="202" y="227"/>
                  <a:pt x="225" y="267"/>
                </a:cubicBezTo>
                <a:cubicBezTo>
                  <a:pt x="225" y="267"/>
                  <a:pt x="225" y="267"/>
                  <a:pt x="225" y="267"/>
                </a:cubicBezTo>
                <a:cubicBezTo>
                  <a:pt x="300" y="398"/>
                  <a:pt x="300" y="398"/>
                  <a:pt x="300" y="398"/>
                </a:cubicBezTo>
                <a:cubicBezTo>
                  <a:pt x="323" y="438"/>
                  <a:pt x="323" y="488"/>
                  <a:pt x="300" y="528"/>
                </a:cubicBezTo>
                <a:cubicBezTo>
                  <a:pt x="296" y="535"/>
                  <a:pt x="296" y="535"/>
                  <a:pt x="296" y="535"/>
                </a:cubicBezTo>
                <a:cubicBezTo>
                  <a:pt x="293" y="521"/>
                  <a:pt x="288" y="508"/>
                  <a:pt x="281" y="495"/>
                </a:cubicBezTo>
                <a:cubicBezTo>
                  <a:pt x="187" y="333"/>
                  <a:pt x="187" y="333"/>
                  <a:pt x="187" y="333"/>
                </a:cubicBezTo>
                <a:cubicBezTo>
                  <a:pt x="175" y="311"/>
                  <a:pt x="169" y="286"/>
                  <a:pt x="170" y="262"/>
                </a:cubicBezTo>
                <a:cubicBezTo>
                  <a:pt x="69" y="288"/>
                  <a:pt x="0" y="344"/>
                  <a:pt x="0" y="409"/>
                </a:cubicBezTo>
                <a:cubicBezTo>
                  <a:pt x="0" y="499"/>
                  <a:pt x="134" y="572"/>
                  <a:pt x="300" y="572"/>
                </a:cubicBezTo>
                <a:cubicBezTo>
                  <a:pt x="466" y="572"/>
                  <a:pt x="600" y="499"/>
                  <a:pt x="600" y="409"/>
                </a:cubicBezTo>
                <a:cubicBezTo>
                  <a:pt x="600" y="344"/>
                  <a:pt x="531" y="288"/>
                  <a:pt x="430" y="262"/>
                </a:cubicBezTo>
                <a:close/>
                <a:moveTo>
                  <a:pt x="714" y="540"/>
                </a:moveTo>
                <a:cubicBezTo>
                  <a:pt x="715" y="517"/>
                  <a:pt x="718" y="501"/>
                  <a:pt x="725" y="483"/>
                </a:cubicBezTo>
                <a:cubicBezTo>
                  <a:pt x="756" y="498"/>
                  <a:pt x="797" y="505"/>
                  <a:pt x="828" y="505"/>
                </a:cubicBezTo>
                <a:cubicBezTo>
                  <a:pt x="880" y="505"/>
                  <a:pt x="910" y="488"/>
                  <a:pt x="910" y="455"/>
                </a:cubicBezTo>
                <a:cubicBezTo>
                  <a:pt x="910" y="422"/>
                  <a:pt x="888" y="407"/>
                  <a:pt x="835" y="384"/>
                </a:cubicBezTo>
                <a:cubicBezTo>
                  <a:pt x="806" y="371"/>
                  <a:pt x="806" y="371"/>
                  <a:pt x="806" y="371"/>
                </a:cubicBezTo>
                <a:cubicBezTo>
                  <a:pt x="753" y="348"/>
                  <a:pt x="717" y="318"/>
                  <a:pt x="717" y="258"/>
                </a:cubicBezTo>
                <a:cubicBezTo>
                  <a:pt x="717" y="194"/>
                  <a:pt x="762" y="153"/>
                  <a:pt x="853" y="153"/>
                </a:cubicBezTo>
                <a:cubicBezTo>
                  <a:pt x="890" y="153"/>
                  <a:pt x="924" y="158"/>
                  <a:pt x="956" y="169"/>
                </a:cubicBezTo>
                <a:cubicBezTo>
                  <a:pt x="955" y="192"/>
                  <a:pt x="951" y="209"/>
                  <a:pt x="945" y="226"/>
                </a:cubicBezTo>
                <a:cubicBezTo>
                  <a:pt x="915" y="214"/>
                  <a:pt x="879" y="209"/>
                  <a:pt x="853" y="209"/>
                </a:cubicBezTo>
                <a:cubicBezTo>
                  <a:pt x="804" y="209"/>
                  <a:pt x="781" y="228"/>
                  <a:pt x="781" y="258"/>
                </a:cubicBezTo>
                <a:cubicBezTo>
                  <a:pt x="781" y="288"/>
                  <a:pt x="803" y="305"/>
                  <a:pt x="842" y="322"/>
                </a:cubicBezTo>
                <a:cubicBezTo>
                  <a:pt x="873" y="335"/>
                  <a:pt x="873" y="335"/>
                  <a:pt x="873" y="335"/>
                </a:cubicBezTo>
                <a:cubicBezTo>
                  <a:pt x="945" y="365"/>
                  <a:pt x="974" y="397"/>
                  <a:pt x="974" y="452"/>
                </a:cubicBezTo>
                <a:cubicBezTo>
                  <a:pt x="974" y="517"/>
                  <a:pt x="925" y="561"/>
                  <a:pt x="829" y="561"/>
                </a:cubicBezTo>
                <a:cubicBezTo>
                  <a:pt x="783" y="561"/>
                  <a:pt x="745" y="555"/>
                  <a:pt x="714" y="540"/>
                </a:cubicBezTo>
                <a:close/>
                <a:moveTo>
                  <a:pt x="1277" y="270"/>
                </a:moveTo>
                <a:cubicBezTo>
                  <a:pt x="1277" y="552"/>
                  <a:pt x="1277" y="552"/>
                  <a:pt x="1277" y="552"/>
                </a:cubicBezTo>
                <a:cubicBezTo>
                  <a:pt x="1220" y="552"/>
                  <a:pt x="1220" y="552"/>
                  <a:pt x="1220" y="552"/>
                </a:cubicBezTo>
                <a:cubicBezTo>
                  <a:pt x="1217" y="518"/>
                  <a:pt x="1217" y="518"/>
                  <a:pt x="1217" y="518"/>
                </a:cubicBezTo>
                <a:cubicBezTo>
                  <a:pt x="1201" y="543"/>
                  <a:pt x="1177" y="559"/>
                  <a:pt x="1138" y="559"/>
                </a:cubicBezTo>
                <a:cubicBezTo>
                  <a:pt x="1063" y="559"/>
                  <a:pt x="1013" y="505"/>
                  <a:pt x="1013" y="410"/>
                </a:cubicBezTo>
                <a:cubicBezTo>
                  <a:pt x="1013" y="311"/>
                  <a:pt x="1066" y="254"/>
                  <a:pt x="1171" y="254"/>
                </a:cubicBezTo>
                <a:cubicBezTo>
                  <a:pt x="1211" y="254"/>
                  <a:pt x="1245" y="259"/>
                  <a:pt x="1277" y="270"/>
                </a:cubicBezTo>
                <a:close/>
                <a:moveTo>
                  <a:pt x="1215" y="488"/>
                </a:moveTo>
                <a:cubicBezTo>
                  <a:pt x="1215" y="311"/>
                  <a:pt x="1215" y="311"/>
                  <a:pt x="1215" y="311"/>
                </a:cubicBezTo>
                <a:cubicBezTo>
                  <a:pt x="1202" y="309"/>
                  <a:pt x="1188" y="307"/>
                  <a:pt x="1171" y="307"/>
                </a:cubicBezTo>
                <a:cubicBezTo>
                  <a:pt x="1107" y="307"/>
                  <a:pt x="1077" y="347"/>
                  <a:pt x="1077" y="410"/>
                </a:cubicBezTo>
                <a:cubicBezTo>
                  <a:pt x="1077" y="468"/>
                  <a:pt x="1100" y="508"/>
                  <a:pt x="1155" y="508"/>
                </a:cubicBezTo>
                <a:cubicBezTo>
                  <a:pt x="1179" y="508"/>
                  <a:pt x="1199" y="500"/>
                  <a:pt x="1215" y="488"/>
                </a:cubicBezTo>
                <a:close/>
                <a:moveTo>
                  <a:pt x="1595" y="363"/>
                </a:moveTo>
                <a:cubicBezTo>
                  <a:pt x="1595" y="552"/>
                  <a:pt x="1595" y="552"/>
                  <a:pt x="1595" y="552"/>
                </a:cubicBezTo>
                <a:cubicBezTo>
                  <a:pt x="1533" y="552"/>
                  <a:pt x="1533" y="552"/>
                  <a:pt x="1533" y="552"/>
                </a:cubicBezTo>
                <a:cubicBezTo>
                  <a:pt x="1533" y="373"/>
                  <a:pt x="1533" y="373"/>
                  <a:pt x="1533" y="373"/>
                </a:cubicBezTo>
                <a:cubicBezTo>
                  <a:pt x="1533" y="329"/>
                  <a:pt x="1518" y="307"/>
                  <a:pt x="1456" y="307"/>
                </a:cubicBezTo>
                <a:cubicBezTo>
                  <a:pt x="1442" y="307"/>
                  <a:pt x="1424" y="309"/>
                  <a:pt x="1407" y="312"/>
                </a:cubicBezTo>
                <a:cubicBezTo>
                  <a:pt x="1407" y="552"/>
                  <a:pt x="1407" y="552"/>
                  <a:pt x="1407" y="552"/>
                </a:cubicBezTo>
                <a:cubicBezTo>
                  <a:pt x="1345" y="552"/>
                  <a:pt x="1345" y="552"/>
                  <a:pt x="1345" y="552"/>
                </a:cubicBezTo>
                <a:cubicBezTo>
                  <a:pt x="1345" y="270"/>
                  <a:pt x="1345" y="270"/>
                  <a:pt x="1345" y="270"/>
                </a:cubicBezTo>
                <a:cubicBezTo>
                  <a:pt x="1385" y="261"/>
                  <a:pt x="1428" y="254"/>
                  <a:pt x="1458" y="254"/>
                </a:cubicBezTo>
                <a:cubicBezTo>
                  <a:pt x="1562" y="254"/>
                  <a:pt x="1595" y="294"/>
                  <a:pt x="1595" y="363"/>
                </a:cubicBezTo>
                <a:close/>
                <a:moveTo>
                  <a:pt x="1767" y="506"/>
                </a:moveTo>
                <a:cubicBezTo>
                  <a:pt x="1785" y="506"/>
                  <a:pt x="1802" y="503"/>
                  <a:pt x="1816" y="498"/>
                </a:cubicBezTo>
                <a:cubicBezTo>
                  <a:pt x="1814" y="515"/>
                  <a:pt x="1812" y="534"/>
                  <a:pt x="1808" y="550"/>
                </a:cubicBezTo>
                <a:cubicBezTo>
                  <a:pt x="1791" y="557"/>
                  <a:pt x="1773" y="559"/>
                  <a:pt x="1756" y="559"/>
                </a:cubicBezTo>
                <a:cubicBezTo>
                  <a:pt x="1696" y="559"/>
                  <a:pt x="1657" y="531"/>
                  <a:pt x="1657" y="463"/>
                </a:cubicBezTo>
                <a:cubicBezTo>
                  <a:pt x="1657" y="166"/>
                  <a:pt x="1657" y="166"/>
                  <a:pt x="1657" y="166"/>
                </a:cubicBezTo>
                <a:cubicBezTo>
                  <a:pt x="1676" y="160"/>
                  <a:pt x="1700" y="157"/>
                  <a:pt x="1719" y="157"/>
                </a:cubicBezTo>
                <a:cubicBezTo>
                  <a:pt x="1719" y="264"/>
                  <a:pt x="1719" y="264"/>
                  <a:pt x="1719" y="264"/>
                </a:cubicBezTo>
                <a:cubicBezTo>
                  <a:pt x="1817" y="264"/>
                  <a:pt x="1817" y="264"/>
                  <a:pt x="1817" y="264"/>
                </a:cubicBezTo>
                <a:cubicBezTo>
                  <a:pt x="1816" y="283"/>
                  <a:pt x="1815" y="301"/>
                  <a:pt x="1812" y="317"/>
                </a:cubicBezTo>
                <a:cubicBezTo>
                  <a:pt x="1719" y="317"/>
                  <a:pt x="1719" y="317"/>
                  <a:pt x="1719" y="317"/>
                </a:cubicBezTo>
                <a:cubicBezTo>
                  <a:pt x="1719" y="455"/>
                  <a:pt x="1719" y="455"/>
                  <a:pt x="1719" y="455"/>
                </a:cubicBezTo>
                <a:cubicBezTo>
                  <a:pt x="1719" y="492"/>
                  <a:pt x="1737" y="506"/>
                  <a:pt x="1767" y="506"/>
                </a:cubicBezTo>
                <a:close/>
                <a:moveTo>
                  <a:pt x="2100" y="270"/>
                </a:moveTo>
                <a:cubicBezTo>
                  <a:pt x="2100" y="552"/>
                  <a:pt x="2100" y="552"/>
                  <a:pt x="2100" y="552"/>
                </a:cubicBezTo>
                <a:cubicBezTo>
                  <a:pt x="2043" y="552"/>
                  <a:pt x="2043" y="552"/>
                  <a:pt x="2043" y="552"/>
                </a:cubicBezTo>
                <a:cubicBezTo>
                  <a:pt x="2040" y="518"/>
                  <a:pt x="2040" y="518"/>
                  <a:pt x="2040" y="518"/>
                </a:cubicBezTo>
                <a:cubicBezTo>
                  <a:pt x="2024" y="543"/>
                  <a:pt x="2000" y="559"/>
                  <a:pt x="1960" y="559"/>
                </a:cubicBezTo>
                <a:cubicBezTo>
                  <a:pt x="1886" y="559"/>
                  <a:pt x="1836" y="505"/>
                  <a:pt x="1836" y="410"/>
                </a:cubicBezTo>
                <a:cubicBezTo>
                  <a:pt x="1836" y="311"/>
                  <a:pt x="1889" y="254"/>
                  <a:pt x="1993" y="254"/>
                </a:cubicBezTo>
                <a:cubicBezTo>
                  <a:pt x="2034" y="254"/>
                  <a:pt x="2067" y="259"/>
                  <a:pt x="2100" y="270"/>
                </a:cubicBezTo>
                <a:close/>
                <a:moveTo>
                  <a:pt x="2038" y="488"/>
                </a:moveTo>
                <a:cubicBezTo>
                  <a:pt x="2038" y="311"/>
                  <a:pt x="2038" y="311"/>
                  <a:pt x="2038" y="311"/>
                </a:cubicBezTo>
                <a:cubicBezTo>
                  <a:pt x="2025" y="309"/>
                  <a:pt x="2011" y="307"/>
                  <a:pt x="1993" y="307"/>
                </a:cubicBezTo>
                <a:cubicBezTo>
                  <a:pt x="1929" y="307"/>
                  <a:pt x="1899" y="347"/>
                  <a:pt x="1899" y="410"/>
                </a:cubicBezTo>
                <a:cubicBezTo>
                  <a:pt x="1899" y="468"/>
                  <a:pt x="1922" y="508"/>
                  <a:pt x="1978" y="508"/>
                </a:cubicBezTo>
                <a:cubicBezTo>
                  <a:pt x="2002" y="508"/>
                  <a:pt x="2022" y="500"/>
                  <a:pt x="2038" y="488"/>
                </a:cubicBezTo>
                <a:close/>
                <a:moveTo>
                  <a:pt x="2418" y="363"/>
                </a:moveTo>
                <a:cubicBezTo>
                  <a:pt x="2418" y="552"/>
                  <a:pt x="2418" y="552"/>
                  <a:pt x="2418" y="552"/>
                </a:cubicBezTo>
                <a:cubicBezTo>
                  <a:pt x="2356" y="552"/>
                  <a:pt x="2356" y="552"/>
                  <a:pt x="2356" y="552"/>
                </a:cubicBezTo>
                <a:cubicBezTo>
                  <a:pt x="2356" y="373"/>
                  <a:pt x="2356" y="373"/>
                  <a:pt x="2356" y="373"/>
                </a:cubicBezTo>
                <a:cubicBezTo>
                  <a:pt x="2356" y="329"/>
                  <a:pt x="2341" y="307"/>
                  <a:pt x="2279" y="307"/>
                </a:cubicBezTo>
                <a:cubicBezTo>
                  <a:pt x="2264" y="307"/>
                  <a:pt x="2247" y="309"/>
                  <a:pt x="2230" y="312"/>
                </a:cubicBezTo>
                <a:cubicBezTo>
                  <a:pt x="2230" y="552"/>
                  <a:pt x="2230" y="552"/>
                  <a:pt x="2230" y="552"/>
                </a:cubicBezTo>
                <a:cubicBezTo>
                  <a:pt x="2168" y="552"/>
                  <a:pt x="2168" y="552"/>
                  <a:pt x="2168" y="552"/>
                </a:cubicBezTo>
                <a:cubicBezTo>
                  <a:pt x="2168" y="270"/>
                  <a:pt x="2168" y="270"/>
                  <a:pt x="2168" y="270"/>
                </a:cubicBezTo>
                <a:cubicBezTo>
                  <a:pt x="2207" y="261"/>
                  <a:pt x="2251" y="254"/>
                  <a:pt x="2281" y="254"/>
                </a:cubicBezTo>
                <a:cubicBezTo>
                  <a:pt x="2384" y="254"/>
                  <a:pt x="2418" y="294"/>
                  <a:pt x="2418" y="363"/>
                </a:cubicBezTo>
                <a:close/>
                <a:moveTo>
                  <a:pt x="2733" y="157"/>
                </a:moveTo>
                <a:cubicBezTo>
                  <a:pt x="2733" y="552"/>
                  <a:pt x="2733" y="552"/>
                  <a:pt x="2733" y="552"/>
                </a:cubicBezTo>
                <a:cubicBezTo>
                  <a:pt x="2676" y="552"/>
                  <a:pt x="2676" y="552"/>
                  <a:pt x="2676" y="552"/>
                </a:cubicBezTo>
                <a:cubicBezTo>
                  <a:pt x="2672" y="516"/>
                  <a:pt x="2672" y="516"/>
                  <a:pt x="2672" y="516"/>
                </a:cubicBezTo>
                <a:cubicBezTo>
                  <a:pt x="2656" y="543"/>
                  <a:pt x="2632" y="559"/>
                  <a:pt x="2591" y="559"/>
                </a:cubicBezTo>
                <a:cubicBezTo>
                  <a:pt x="2517" y="559"/>
                  <a:pt x="2467" y="505"/>
                  <a:pt x="2467" y="410"/>
                </a:cubicBezTo>
                <a:cubicBezTo>
                  <a:pt x="2467" y="311"/>
                  <a:pt x="2520" y="254"/>
                  <a:pt x="2625" y="254"/>
                </a:cubicBezTo>
                <a:cubicBezTo>
                  <a:pt x="2641" y="254"/>
                  <a:pt x="2656" y="256"/>
                  <a:pt x="2671" y="259"/>
                </a:cubicBezTo>
                <a:cubicBezTo>
                  <a:pt x="2671" y="166"/>
                  <a:pt x="2671" y="166"/>
                  <a:pt x="2671" y="166"/>
                </a:cubicBezTo>
                <a:cubicBezTo>
                  <a:pt x="2690" y="159"/>
                  <a:pt x="2712" y="157"/>
                  <a:pt x="2733" y="157"/>
                </a:cubicBezTo>
                <a:close/>
                <a:moveTo>
                  <a:pt x="2671" y="487"/>
                </a:moveTo>
                <a:cubicBezTo>
                  <a:pt x="2671" y="313"/>
                  <a:pt x="2671" y="313"/>
                  <a:pt x="2671" y="313"/>
                </a:cubicBezTo>
                <a:cubicBezTo>
                  <a:pt x="2655" y="310"/>
                  <a:pt x="2638" y="307"/>
                  <a:pt x="2621" y="307"/>
                </a:cubicBezTo>
                <a:cubicBezTo>
                  <a:pt x="2560" y="307"/>
                  <a:pt x="2531" y="346"/>
                  <a:pt x="2531" y="410"/>
                </a:cubicBezTo>
                <a:cubicBezTo>
                  <a:pt x="2531" y="468"/>
                  <a:pt x="2554" y="508"/>
                  <a:pt x="2609" y="508"/>
                </a:cubicBezTo>
                <a:cubicBezTo>
                  <a:pt x="2634" y="508"/>
                  <a:pt x="2654" y="500"/>
                  <a:pt x="2671" y="487"/>
                </a:cubicBezTo>
                <a:close/>
                <a:moveTo>
                  <a:pt x="3045" y="432"/>
                </a:moveTo>
                <a:cubicBezTo>
                  <a:pt x="2847" y="432"/>
                  <a:pt x="2847" y="432"/>
                  <a:pt x="2847" y="432"/>
                </a:cubicBezTo>
                <a:cubicBezTo>
                  <a:pt x="2854" y="482"/>
                  <a:pt x="2884" y="506"/>
                  <a:pt x="2939" y="506"/>
                </a:cubicBezTo>
                <a:cubicBezTo>
                  <a:pt x="2973" y="506"/>
                  <a:pt x="3007" y="499"/>
                  <a:pt x="3038" y="485"/>
                </a:cubicBezTo>
                <a:cubicBezTo>
                  <a:pt x="3036" y="501"/>
                  <a:pt x="3033" y="522"/>
                  <a:pt x="3029" y="541"/>
                </a:cubicBezTo>
                <a:cubicBezTo>
                  <a:pt x="3001" y="554"/>
                  <a:pt x="2971" y="559"/>
                  <a:pt x="2937" y="559"/>
                </a:cubicBezTo>
                <a:cubicBezTo>
                  <a:pt x="2834" y="559"/>
                  <a:pt x="2783" y="502"/>
                  <a:pt x="2783" y="405"/>
                </a:cubicBezTo>
                <a:cubicBezTo>
                  <a:pt x="2783" y="321"/>
                  <a:pt x="2822" y="254"/>
                  <a:pt x="2921" y="254"/>
                </a:cubicBezTo>
                <a:cubicBezTo>
                  <a:pt x="3010" y="254"/>
                  <a:pt x="3048" y="313"/>
                  <a:pt x="3048" y="384"/>
                </a:cubicBezTo>
                <a:cubicBezTo>
                  <a:pt x="3048" y="401"/>
                  <a:pt x="3047" y="415"/>
                  <a:pt x="3045" y="432"/>
                </a:cubicBezTo>
                <a:close/>
                <a:moveTo>
                  <a:pt x="2845" y="380"/>
                </a:moveTo>
                <a:cubicBezTo>
                  <a:pt x="2985" y="380"/>
                  <a:pt x="2985" y="380"/>
                  <a:pt x="2985" y="380"/>
                </a:cubicBezTo>
                <a:cubicBezTo>
                  <a:pt x="2985" y="333"/>
                  <a:pt x="2960" y="306"/>
                  <a:pt x="2918" y="306"/>
                </a:cubicBezTo>
                <a:cubicBezTo>
                  <a:pt x="2874" y="306"/>
                  <a:pt x="2850" y="332"/>
                  <a:pt x="2845" y="380"/>
                </a:cubicBezTo>
                <a:close/>
                <a:moveTo>
                  <a:pt x="3262" y="257"/>
                </a:moveTo>
                <a:cubicBezTo>
                  <a:pt x="3262" y="275"/>
                  <a:pt x="3260" y="298"/>
                  <a:pt x="3256" y="310"/>
                </a:cubicBezTo>
                <a:cubicBezTo>
                  <a:pt x="3241" y="308"/>
                  <a:pt x="3227" y="307"/>
                  <a:pt x="3209" y="307"/>
                </a:cubicBezTo>
                <a:cubicBezTo>
                  <a:pt x="3194" y="307"/>
                  <a:pt x="3179" y="309"/>
                  <a:pt x="3164" y="311"/>
                </a:cubicBezTo>
                <a:cubicBezTo>
                  <a:pt x="3164" y="552"/>
                  <a:pt x="3164" y="552"/>
                  <a:pt x="3164" y="552"/>
                </a:cubicBezTo>
                <a:cubicBezTo>
                  <a:pt x="3102" y="552"/>
                  <a:pt x="3102" y="552"/>
                  <a:pt x="3102" y="552"/>
                </a:cubicBezTo>
                <a:cubicBezTo>
                  <a:pt x="3102" y="270"/>
                  <a:pt x="3102" y="270"/>
                  <a:pt x="3102" y="270"/>
                </a:cubicBezTo>
                <a:cubicBezTo>
                  <a:pt x="3128" y="261"/>
                  <a:pt x="3173" y="254"/>
                  <a:pt x="3208" y="254"/>
                </a:cubicBezTo>
                <a:cubicBezTo>
                  <a:pt x="3227" y="254"/>
                  <a:pt x="3248" y="255"/>
                  <a:pt x="3262" y="257"/>
                </a:cubicBez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ES"/>
          </a:p>
        </p:txBody>
      </p:sp>
    </p:spTree>
    <p:extLst>
      <p:ext uri="{BB962C8B-B14F-4D97-AF65-F5344CB8AC3E}">
        <p14:creationId xmlns:p14="http://schemas.microsoft.com/office/powerpoint/2010/main" val="3219323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F4E7F-4DA4-46DA-9139-9F3297CD530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s-ES"/>
          </a:p>
        </p:txBody>
      </p:sp>
      <p:sp>
        <p:nvSpPr>
          <p:cNvPr id="3" name="Subtitle 2">
            <a:extLst>
              <a:ext uri="{FF2B5EF4-FFF2-40B4-BE49-F238E27FC236}">
                <a16:creationId xmlns:a16="http://schemas.microsoft.com/office/drawing/2014/main" id="{863B4F09-EE8E-418C-B7ED-0026FED403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s-ES"/>
          </a:p>
        </p:txBody>
      </p:sp>
      <p:sp>
        <p:nvSpPr>
          <p:cNvPr id="5" name="Footer Placeholder 4">
            <a:extLst>
              <a:ext uri="{FF2B5EF4-FFF2-40B4-BE49-F238E27FC236}">
                <a16:creationId xmlns:a16="http://schemas.microsoft.com/office/drawing/2014/main" id="{34616D68-2AE7-4EB3-BF5A-64DFD6105AD0}"/>
              </a:ext>
            </a:extLst>
          </p:cNvPr>
          <p:cNvSpPr>
            <a:spLocks noGrp="1"/>
          </p:cNvSpPr>
          <p:nvPr>
            <p:ph type="ftr" sz="quarter" idx="11"/>
          </p:nvPr>
        </p:nvSpPr>
        <p:spPr/>
        <p:txBody>
          <a:bodyPr/>
          <a:lstStyle/>
          <a:p>
            <a:r>
              <a:rPr lang="es-ES"/>
              <a:t>xxxxx</a:t>
            </a:r>
          </a:p>
        </p:txBody>
      </p:sp>
      <p:sp>
        <p:nvSpPr>
          <p:cNvPr id="6" name="Slide Number Placeholder 5">
            <a:extLst>
              <a:ext uri="{FF2B5EF4-FFF2-40B4-BE49-F238E27FC236}">
                <a16:creationId xmlns:a16="http://schemas.microsoft.com/office/drawing/2014/main" id="{0F8F6FCB-8DB4-4686-9B10-A7633EF07F01}"/>
              </a:ext>
            </a:extLst>
          </p:cNvPr>
          <p:cNvSpPr>
            <a:spLocks noGrp="1"/>
          </p:cNvSpPr>
          <p:nvPr>
            <p:ph type="sldNum" sz="quarter" idx="12"/>
          </p:nvPr>
        </p:nvSpPr>
        <p:spPr>
          <a:xfrm>
            <a:off x="8610600" y="6356350"/>
            <a:ext cx="2743200" cy="365125"/>
          </a:xfrm>
          <a:prstGeom prst="rect">
            <a:avLst/>
          </a:prstGeom>
        </p:spPr>
        <p:txBody>
          <a:bodyPr/>
          <a:lstStyle/>
          <a:p>
            <a:fld id="{921A6315-1B6D-4306-AE81-37B8137F3D65}" type="slidenum">
              <a:rPr lang="es-ES" smtClean="0"/>
              <a:t>‹Nº›</a:t>
            </a:fld>
            <a:endParaRPr lang="es-ES"/>
          </a:p>
        </p:txBody>
      </p:sp>
      <p:sp>
        <p:nvSpPr>
          <p:cNvPr id="8" name="Freeform 5">
            <a:extLst>
              <a:ext uri="{FF2B5EF4-FFF2-40B4-BE49-F238E27FC236}">
                <a16:creationId xmlns:a16="http://schemas.microsoft.com/office/drawing/2014/main" id="{0DFC1BBA-4F02-CBAC-A84E-25B61C00D129}"/>
              </a:ext>
            </a:extLst>
          </p:cNvPr>
          <p:cNvSpPr>
            <a:spLocks noEditPoints="1"/>
          </p:cNvSpPr>
          <p:nvPr userDrawn="1"/>
        </p:nvSpPr>
        <p:spPr bwMode="auto">
          <a:xfrm>
            <a:off x="832642" y="6262326"/>
            <a:ext cx="1171705" cy="206714"/>
          </a:xfrm>
          <a:custGeom>
            <a:avLst/>
            <a:gdLst>
              <a:gd name="T0" fmla="*/ 319 w 3262"/>
              <a:gd name="T1" fmla="*/ 39 h 572"/>
              <a:gd name="T2" fmla="*/ 300 w 3262"/>
              <a:gd name="T3" fmla="*/ 137 h 572"/>
              <a:gd name="T4" fmla="*/ 371 w 3262"/>
              <a:gd name="T5" fmla="*/ 405 h 572"/>
              <a:gd name="T6" fmla="*/ 244 w 3262"/>
              <a:gd name="T7" fmla="*/ 170 h 572"/>
              <a:gd name="T8" fmla="*/ 225 w 3262"/>
              <a:gd name="T9" fmla="*/ 267 h 572"/>
              <a:gd name="T10" fmla="*/ 300 w 3262"/>
              <a:gd name="T11" fmla="*/ 528 h 572"/>
              <a:gd name="T12" fmla="*/ 187 w 3262"/>
              <a:gd name="T13" fmla="*/ 333 h 572"/>
              <a:gd name="T14" fmla="*/ 300 w 3262"/>
              <a:gd name="T15" fmla="*/ 572 h 572"/>
              <a:gd name="T16" fmla="*/ 714 w 3262"/>
              <a:gd name="T17" fmla="*/ 540 h 572"/>
              <a:gd name="T18" fmla="*/ 910 w 3262"/>
              <a:gd name="T19" fmla="*/ 455 h 572"/>
              <a:gd name="T20" fmla="*/ 717 w 3262"/>
              <a:gd name="T21" fmla="*/ 258 h 572"/>
              <a:gd name="T22" fmla="*/ 945 w 3262"/>
              <a:gd name="T23" fmla="*/ 226 h 572"/>
              <a:gd name="T24" fmla="*/ 842 w 3262"/>
              <a:gd name="T25" fmla="*/ 322 h 572"/>
              <a:gd name="T26" fmla="*/ 829 w 3262"/>
              <a:gd name="T27" fmla="*/ 561 h 572"/>
              <a:gd name="T28" fmla="*/ 1277 w 3262"/>
              <a:gd name="T29" fmla="*/ 552 h 572"/>
              <a:gd name="T30" fmla="*/ 1138 w 3262"/>
              <a:gd name="T31" fmla="*/ 559 h 572"/>
              <a:gd name="T32" fmla="*/ 1277 w 3262"/>
              <a:gd name="T33" fmla="*/ 270 h 572"/>
              <a:gd name="T34" fmla="*/ 1171 w 3262"/>
              <a:gd name="T35" fmla="*/ 307 h 572"/>
              <a:gd name="T36" fmla="*/ 1215 w 3262"/>
              <a:gd name="T37" fmla="*/ 488 h 572"/>
              <a:gd name="T38" fmla="*/ 1533 w 3262"/>
              <a:gd name="T39" fmla="*/ 552 h 572"/>
              <a:gd name="T40" fmla="*/ 1407 w 3262"/>
              <a:gd name="T41" fmla="*/ 312 h 572"/>
              <a:gd name="T42" fmla="*/ 1345 w 3262"/>
              <a:gd name="T43" fmla="*/ 270 h 572"/>
              <a:gd name="T44" fmla="*/ 1767 w 3262"/>
              <a:gd name="T45" fmla="*/ 506 h 572"/>
              <a:gd name="T46" fmla="*/ 1756 w 3262"/>
              <a:gd name="T47" fmla="*/ 559 h 572"/>
              <a:gd name="T48" fmla="*/ 1719 w 3262"/>
              <a:gd name="T49" fmla="*/ 157 h 572"/>
              <a:gd name="T50" fmla="*/ 1812 w 3262"/>
              <a:gd name="T51" fmla="*/ 317 h 572"/>
              <a:gd name="T52" fmla="*/ 1767 w 3262"/>
              <a:gd name="T53" fmla="*/ 506 h 572"/>
              <a:gd name="T54" fmla="*/ 2043 w 3262"/>
              <a:gd name="T55" fmla="*/ 552 h 572"/>
              <a:gd name="T56" fmla="*/ 1836 w 3262"/>
              <a:gd name="T57" fmla="*/ 410 h 572"/>
              <a:gd name="T58" fmla="*/ 2038 w 3262"/>
              <a:gd name="T59" fmla="*/ 488 h 572"/>
              <a:gd name="T60" fmla="*/ 1899 w 3262"/>
              <a:gd name="T61" fmla="*/ 410 h 572"/>
              <a:gd name="T62" fmla="*/ 2418 w 3262"/>
              <a:gd name="T63" fmla="*/ 363 h 572"/>
              <a:gd name="T64" fmla="*/ 2356 w 3262"/>
              <a:gd name="T65" fmla="*/ 373 h 572"/>
              <a:gd name="T66" fmla="*/ 2230 w 3262"/>
              <a:gd name="T67" fmla="*/ 552 h 572"/>
              <a:gd name="T68" fmla="*/ 2281 w 3262"/>
              <a:gd name="T69" fmla="*/ 254 h 572"/>
              <a:gd name="T70" fmla="*/ 2733 w 3262"/>
              <a:gd name="T71" fmla="*/ 552 h 572"/>
              <a:gd name="T72" fmla="*/ 2591 w 3262"/>
              <a:gd name="T73" fmla="*/ 559 h 572"/>
              <a:gd name="T74" fmla="*/ 2671 w 3262"/>
              <a:gd name="T75" fmla="*/ 259 h 572"/>
              <a:gd name="T76" fmla="*/ 2671 w 3262"/>
              <a:gd name="T77" fmla="*/ 487 h 572"/>
              <a:gd name="T78" fmla="*/ 2531 w 3262"/>
              <a:gd name="T79" fmla="*/ 410 h 572"/>
              <a:gd name="T80" fmla="*/ 3045 w 3262"/>
              <a:gd name="T81" fmla="*/ 432 h 572"/>
              <a:gd name="T82" fmla="*/ 3038 w 3262"/>
              <a:gd name="T83" fmla="*/ 485 h 572"/>
              <a:gd name="T84" fmla="*/ 2783 w 3262"/>
              <a:gd name="T85" fmla="*/ 405 h 572"/>
              <a:gd name="T86" fmla="*/ 3045 w 3262"/>
              <a:gd name="T87" fmla="*/ 432 h 572"/>
              <a:gd name="T88" fmla="*/ 2918 w 3262"/>
              <a:gd name="T89" fmla="*/ 306 h 572"/>
              <a:gd name="T90" fmla="*/ 3256 w 3262"/>
              <a:gd name="T91" fmla="*/ 310 h 572"/>
              <a:gd name="T92" fmla="*/ 3164 w 3262"/>
              <a:gd name="T93" fmla="*/ 552 h 572"/>
              <a:gd name="T94" fmla="*/ 3208 w 3262"/>
              <a:gd name="T95" fmla="*/ 254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262" h="572">
                <a:moveTo>
                  <a:pt x="430" y="262"/>
                </a:moveTo>
                <a:cubicBezTo>
                  <a:pt x="429" y="241"/>
                  <a:pt x="424" y="221"/>
                  <a:pt x="413" y="202"/>
                </a:cubicBezTo>
                <a:cubicBezTo>
                  <a:pt x="319" y="39"/>
                  <a:pt x="319" y="39"/>
                  <a:pt x="319" y="39"/>
                </a:cubicBezTo>
                <a:cubicBezTo>
                  <a:pt x="312" y="27"/>
                  <a:pt x="307" y="14"/>
                  <a:pt x="304" y="0"/>
                </a:cubicBezTo>
                <a:cubicBezTo>
                  <a:pt x="300" y="7"/>
                  <a:pt x="300" y="7"/>
                  <a:pt x="300" y="7"/>
                </a:cubicBezTo>
                <a:cubicBezTo>
                  <a:pt x="277" y="47"/>
                  <a:pt x="277" y="97"/>
                  <a:pt x="300" y="137"/>
                </a:cubicBezTo>
                <a:cubicBezTo>
                  <a:pt x="375" y="267"/>
                  <a:pt x="375" y="267"/>
                  <a:pt x="375" y="267"/>
                </a:cubicBezTo>
                <a:cubicBezTo>
                  <a:pt x="399" y="308"/>
                  <a:pt x="399" y="357"/>
                  <a:pt x="375" y="398"/>
                </a:cubicBezTo>
                <a:cubicBezTo>
                  <a:pt x="371" y="405"/>
                  <a:pt x="371" y="405"/>
                  <a:pt x="371" y="405"/>
                </a:cubicBezTo>
                <a:cubicBezTo>
                  <a:pt x="369" y="391"/>
                  <a:pt x="364" y="378"/>
                  <a:pt x="356" y="365"/>
                </a:cubicBezTo>
                <a:cubicBezTo>
                  <a:pt x="288" y="246"/>
                  <a:pt x="288" y="246"/>
                  <a:pt x="288" y="246"/>
                </a:cubicBezTo>
                <a:cubicBezTo>
                  <a:pt x="244" y="170"/>
                  <a:pt x="244" y="170"/>
                  <a:pt x="244" y="170"/>
                </a:cubicBezTo>
                <a:cubicBezTo>
                  <a:pt x="236" y="157"/>
                  <a:pt x="232" y="144"/>
                  <a:pt x="229" y="130"/>
                </a:cubicBezTo>
                <a:cubicBezTo>
                  <a:pt x="225" y="137"/>
                  <a:pt x="225" y="137"/>
                  <a:pt x="225" y="137"/>
                </a:cubicBezTo>
                <a:cubicBezTo>
                  <a:pt x="202" y="177"/>
                  <a:pt x="202" y="227"/>
                  <a:pt x="225" y="267"/>
                </a:cubicBezTo>
                <a:cubicBezTo>
                  <a:pt x="225" y="267"/>
                  <a:pt x="225" y="267"/>
                  <a:pt x="225" y="267"/>
                </a:cubicBezTo>
                <a:cubicBezTo>
                  <a:pt x="300" y="398"/>
                  <a:pt x="300" y="398"/>
                  <a:pt x="300" y="398"/>
                </a:cubicBezTo>
                <a:cubicBezTo>
                  <a:pt x="323" y="438"/>
                  <a:pt x="323" y="488"/>
                  <a:pt x="300" y="528"/>
                </a:cubicBezTo>
                <a:cubicBezTo>
                  <a:pt x="296" y="535"/>
                  <a:pt x="296" y="535"/>
                  <a:pt x="296" y="535"/>
                </a:cubicBezTo>
                <a:cubicBezTo>
                  <a:pt x="293" y="521"/>
                  <a:pt x="288" y="508"/>
                  <a:pt x="281" y="495"/>
                </a:cubicBezTo>
                <a:cubicBezTo>
                  <a:pt x="187" y="333"/>
                  <a:pt x="187" y="333"/>
                  <a:pt x="187" y="333"/>
                </a:cubicBezTo>
                <a:cubicBezTo>
                  <a:pt x="175" y="311"/>
                  <a:pt x="169" y="286"/>
                  <a:pt x="170" y="262"/>
                </a:cubicBezTo>
                <a:cubicBezTo>
                  <a:pt x="69" y="288"/>
                  <a:pt x="0" y="344"/>
                  <a:pt x="0" y="409"/>
                </a:cubicBezTo>
                <a:cubicBezTo>
                  <a:pt x="0" y="499"/>
                  <a:pt x="134" y="572"/>
                  <a:pt x="300" y="572"/>
                </a:cubicBezTo>
                <a:cubicBezTo>
                  <a:pt x="466" y="572"/>
                  <a:pt x="600" y="499"/>
                  <a:pt x="600" y="409"/>
                </a:cubicBezTo>
                <a:cubicBezTo>
                  <a:pt x="600" y="344"/>
                  <a:pt x="531" y="288"/>
                  <a:pt x="430" y="262"/>
                </a:cubicBezTo>
                <a:close/>
                <a:moveTo>
                  <a:pt x="714" y="540"/>
                </a:moveTo>
                <a:cubicBezTo>
                  <a:pt x="715" y="517"/>
                  <a:pt x="718" y="501"/>
                  <a:pt x="725" y="483"/>
                </a:cubicBezTo>
                <a:cubicBezTo>
                  <a:pt x="756" y="498"/>
                  <a:pt x="797" y="505"/>
                  <a:pt x="828" y="505"/>
                </a:cubicBezTo>
                <a:cubicBezTo>
                  <a:pt x="880" y="505"/>
                  <a:pt x="910" y="488"/>
                  <a:pt x="910" y="455"/>
                </a:cubicBezTo>
                <a:cubicBezTo>
                  <a:pt x="910" y="422"/>
                  <a:pt x="888" y="407"/>
                  <a:pt x="835" y="384"/>
                </a:cubicBezTo>
                <a:cubicBezTo>
                  <a:pt x="806" y="371"/>
                  <a:pt x="806" y="371"/>
                  <a:pt x="806" y="371"/>
                </a:cubicBezTo>
                <a:cubicBezTo>
                  <a:pt x="753" y="348"/>
                  <a:pt x="717" y="318"/>
                  <a:pt x="717" y="258"/>
                </a:cubicBezTo>
                <a:cubicBezTo>
                  <a:pt x="717" y="194"/>
                  <a:pt x="762" y="153"/>
                  <a:pt x="853" y="153"/>
                </a:cubicBezTo>
                <a:cubicBezTo>
                  <a:pt x="890" y="153"/>
                  <a:pt x="924" y="158"/>
                  <a:pt x="956" y="169"/>
                </a:cubicBezTo>
                <a:cubicBezTo>
                  <a:pt x="955" y="192"/>
                  <a:pt x="951" y="209"/>
                  <a:pt x="945" y="226"/>
                </a:cubicBezTo>
                <a:cubicBezTo>
                  <a:pt x="915" y="214"/>
                  <a:pt x="879" y="209"/>
                  <a:pt x="853" y="209"/>
                </a:cubicBezTo>
                <a:cubicBezTo>
                  <a:pt x="804" y="209"/>
                  <a:pt x="781" y="228"/>
                  <a:pt x="781" y="258"/>
                </a:cubicBezTo>
                <a:cubicBezTo>
                  <a:pt x="781" y="288"/>
                  <a:pt x="803" y="305"/>
                  <a:pt x="842" y="322"/>
                </a:cubicBezTo>
                <a:cubicBezTo>
                  <a:pt x="873" y="335"/>
                  <a:pt x="873" y="335"/>
                  <a:pt x="873" y="335"/>
                </a:cubicBezTo>
                <a:cubicBezTo>
                  <a:pt x="945" y="365"/>
                  <a:pt x="974" y="397"/>
                  <a:pt x="974" y="452"/>
                </a:cubicBezTo>
                <a:cubicBezTo>
                  <a:pt x="974" y="517"/>
                  <a:pt x="925" y="561"/>
                  <a:pt x="829" y="561"/>
                </a:cubicBezTo>
                <a:cubicBezTo>
                  <a:pt x="783" y="561"/>
                  <a:pt x="745" y="555"/>
                  <a:pt x="714" y="540"/>
                </a:cubicBezTo>
                <a:close/>
                <a:moveTo>
                  <a:pt x="1277" y="270"/>
                </a:moveTo>
                <a:cubicBezTo>
                  <a:pt x="1277" y="552"/>
                  <a:pt x="1277" y="552"/>
                  <a:pt x="1277" y="552"/>
                </a:cubicBezTo>
                <a:cubicBezTo>
                  <a:pt x="1220" y="552"/>
                  <a:pt x="1220" y="552"/>
                  <a:pt x="1220" y="552"/>
                </a:cubicBezTo>
                <a:cubicBezTo>
                  <a:pt x="1217" y="518"/>
                  <a:pt x="1217" y="518"/>
                  <a:pt x="1217" y="518"/>
                </a:cubicBezTo>
                <a:cubicBezTo>
                  <a:pt x="1201" y="543"/>
                  <a:pt x="1177" y="559"/>
                  <a:pt x="1138" y="559"/>
                </a:cubicBezTo>
                <a:cubicBezTo>
                  <a:pt x="1063" y="559"/>
                  <a:pt x="1013" y="505"/>
                  <a:pt x="1013" y="410"/>
                </a:cubicBezTo>
                <a:cubicBezTo>
                  <a:pt x="1013" y="311"/>
                  <a:pt x="1066" y="254"/>
                  <a:pt x="1171" y="254"/>
                </a:cubicBezTo>
                <a:cubicBezTo>
                  <a:pt x="1211" y="254"/>
                  <a:pt x="1245" y="259"/>
                  <a:pt x="1277" y="270"/>
                </a:cubicBezTo>
                <a:close/>
                <a:moveTo>
                  <a:pt x="1215" y="488"/>
                </a:moveTo>
                <a:cubicBezTo>
                  <a:pt x="1215" y="311"/>
                  <a:pt x="1215" y="311"/>
                  <a:pt x="1215" y="311"/>
                </a:cubicBezTo>
                <a:cubicBezTo>
                  <a:pt x="1202" y="309"/>
                  <a:pt x="1188" y="307"/>
                  <a:pt x="1171" y="307"/>
                </a:cubicBezTo>
                <a:cubicBezTo>
                  <a:pt x="1107" y="307"/>
                  <a:pt x="1077" y="347"/>
                  <a:pt x="1077" y="410"/>
                </a:cubicBezTo>
                <a:cubicBezTo>
                  <a:pt x="1077" y="468"/>
                  <a:pt x="1100" y="508"/>
                  <a:pt x="1155" y="508"/>
                </a:cubicBezTo>
                <a:cubicBezTo>
                  <a:pt x="1179" y="508"/>
                  <a:pt x="1199" y="500"/>
                  <a:pt x="1215" y="488"/>
                </a:cubicBezTo>
                <a:close/>
                <a:moveTo>
                  <a:pt x="1595" y="363"/>
                </a:moveTo>
                <a:cubicBezTo>
                  <a:pt x="1595" y="552"/>
                  <a:pt x="1595" y="552"/>
                  <a:pt x="1595" y="552"/>
                </a:cubicBezTo>
                <a:cubicBezTo>
                  <a:pt x="1533" y="552"/>
                  <a:pt x="1533" y="552"/>
                  <a:pt x="1533" y="552"/>
                </a:cubicBezTo>
                <a:cubicBezTo>
                  <a:pt x="1533" y="373"/>
                  <a:pt x="1533" y="373"/>
                  <a:pt x="1533" y="373"/>
                </a:cubicBezTo>
                <a:cubicBezTo>
                  <a:pt x="1533" y="329"/>
                  <a:pt x="1518" y="307"/>
                  <a:pt x="1456" y="307"/>
                </a:cubicBezTo>
                <a:cubicBezTo>
                  <a:pt x="1442" y="307"/>
                  <a:pt x="1424" y="309"/>
                  <a:pt x="1407" y="312"/>
                </a:cubicBezTo>
                <a:cubicBezTo>
                  <a:pt x="1407" y="552"/>
                  <a:pt x="1407" y="552"/>
                  <a:pt x="1407" y="552"/>
                </a:cubicBezTo>
                <a:cubicBezTo>
                  <a:pt x="1345" y="552"/>
                  <a:pt x="1345" y="552"/>
                  <a:pt x="1345" y="552"/>
                </a:cubicBezTo>
                <a:cubicBezTo>
                  <a:pt x="1345" y="270"/>
                  <a:pt x="1345" y="270"/>
                  <a:pt x="1345" y="270"/>
                </a:cubicBezTo>
                <a:cubicBezTo>
                  <a:pt x="1385" y="261"/>
                  <a:pt x="1428" y="254"/>
                  <a:pt x="1458" y="254"/>
                </a:cubicBezTo>
                <a:cubicBezTo>
                  <a:pt x="1562" y="254"/>
                  <a:pt x="1595" y="294"/>
                  <a:pt x="1595" y="363"/>
                </a:cubicBezTo>
                <a:close/>
                <a:moveTo>
                  <a:pt x="1767" y="506"/>
                </a:moveTo>
                <a:cubicBezTo>
                  <a:pt x="1785" y="506"/>
                  <a:pt x="1802" y="503"/>
                  <a:pt x="1816" y="498"/>
                </a:cubicBezTo>
                <a:cubicBezTo>
                  <a:pt x="1814" y="515"/>
                  <a:pt x="1812" y="534"/>
                  <a:pt x="1808" y="550"/>
                </a:cubicBezTo>
                <a:cubicBezTo>
                  <a:pt x="1791" y="557"/>
                  <a:pt x="1773" y="559"/>
                  <a:pt x="1756" y="559"/>
                </a:cubicBezTo>
                <a:cubicBezTo>
                  <a:pt x="1696" y="559"/>
                  <a:pt x="1657" y="531"/>
                  <a:pt x="1657" y="463"/>
                </a:cubicBezTo>
                <a:cubicBezTo>
                  <a:pt x="1657" y="166"/>
                  <a:pt x="1657" y="166"/>
                  <a:pt x="1657" y="166"/>
                </a:cubicBezTo>
                <a:cubicBezTo>
                  <a:pt x="1676" y="160"/>
                  <a:pt x="1700" y="157"/>
                  <a:pt x="1719" y="157"/>
                </a:cubicBezTo>
                <a:cubicBezTo>
                  <a:pt x="1719" y="264"/>
                  <a:pt x="1719" y="264"/>
                  <a:pt x="1719" y="264"/>
                </a:cubicBezTo>
                <a:cubicBezTo>
                  <a:pt x="1817" y="264"/>
                  <a:pt x="1817" y="264"/>
                  <a:pt x="1817" y="264"/>
                </a:cubicBezTo>
                <a:cubicBezTo>
                  <a:pt x="1816" y="283"/>
                  <a:pt x="1815" y="301"/>
                  <a:pt x="1812" y="317"/>
                </a:cubicBezTo>
                <a:cubicBezTo>
                  <a:pt x="1719" y="317"/>
                  <a:pt x="1719" y="317"/>
                  <a:pt x="1719" y="317"/>
                </a:cubicBezTo>
                <a:cubicBezTo>
                  <a:pt x="1719" y="455"/>
                  <a:pt x="1719" y="455"/>
                  <a:pt x="1719" y="455"/>
                </a:cubicBezTo>
                <a:cubicBezTo>
                  <a:pt x="1719" y="492"/>
                  <a:pt x="1737" y="506"/>
                  <a:pt x="1767" y="506"/>
                </a:cubicBezTo>
                <a:close/>
                <a:moveTo>
                  <a:pt x="2100" y="270"/>
                </a:moveTo>
                <a:cubicBezTo>
                  <a:pt x="2100" y="552"/>
                  <a:pt x="2100" y="552"/>
                  <a:pt x="2100" y="552"/>
                </a:cubicBezTo>
                <a:cubicBezTo>
                  <a:pt x="2043" y="552"/>
                  <a:pt x="2043" y="552"/>
                  <a:pt x="2043" y="552"/>
                </a:cubicBezTo>
                <a:cubicBezTo>
                  <a:pt x="2040" y="518"/>
                  <a:pt x="2040" y="518"/>
                  <a:pt x="2040" y="518"/>
                </a:cubicBezTo>
                <a:cubicBezTo>
                  <a:pt x="2024" y="543"/>
                  <a:pt x="2000" y="559"/>
                  <a:pt x="1960" y="559"/>
                </a:cubicBezTo>
                <a:cubicBezTo>
                  <a:pt x="1886" y="559"/>
                  <a:pt x="1836" y="505"/>
                  <a:pt x="1836" y="410"/>
                </a:cubicBezTo>
                <a:cubicBezTo>
                  <a:pt x="1836" y="311"/>
                  <a:pt x="1889" y="254"/>
                  <a:pt x="1993" y="254"/>
                </a:cubicBezTo>
                <a:cubicBezTo>
                  <a:pt x="2034" y="254"/>
                  <a:pt x="2067" y="259"/>
                  <a:pt x="2100" y="270"/>
                </a:cubicBezTo>
                <a:close/>
                <a:moveTo>
                  <a:pt x="2038" y="488"/>
                </a:moveTo>
                <a:cubicBezTo>
                  <a:pt x="2038" y="311"/>
                  <a:pt x="2038" y="311"/>
                  <a:pt x="2038" y="311"/>
                </a:cubicBezTo>
                <a:cubicBezTo>
                  <a:pt x="2025" y="309"/>
                  <a:pt x="2011" y="307"/>
                  <a:pt x="1993" y="307"/>
                </a:cubicBezTo>
                <a:cubicBezTo>
                  <a:pt x="1929" y="307"/>
                  <a:pt x="1899" y="347"/>
                  <a:pt x="1899" y="410"/>
                </a:cubicBezTo>
                <a:cubicBezTo>
                  <a:pt x="1899" y="468"/>
                  <a:pt x="1922" y="508"/>
                  <a:pt x="1978" y="508"/>
                </a:cubicBezTo>
                <a:cubicBezTo>
                  <a:pt x="2002" y="508"/>
                  <a:pt x="2022" y="500"/>
                  <a:pt x="2038" y="488"/>
                </a:cubicBezTo>
                <a:close/>
                <a:moveTo>
                  <a:pt x="2418" y="363"/>
                </a:moveTo>
                <a:cubicBezTo>
                  <a:pt x="2418" y="552"/>
                  <a:pt x="2418" y="552"/>
                  <a:pt x="2418" y="552"/>
                </a:cubicBezTo>
                <a:cubicBezTo>
                  <a:pt x="2356" y="552"/>
                  <a:pt x="2356" y="552"/>
                  <a:pt x="2356" y="552"/>
                </a:cubicBezTo>
                <a:cubicBezTo>
                  <a:pt x="2356" y="373"/>
                  <a:pt x="2356" y="373"/>
                  <a:pt x="2356" y="373"/>
                </a:cubicBezTo>
                <a:cubicBezTo>
                  <a:pt x="2356" y="329"/>
                  <a:pt x="2341" y="307"/>
                  <a:pt x="2279" y="307"/>
                </a:cubicBezTo>
                <a:cubicBezTo>
                  <a:pt x="2264" y="307"/>
                  <a:pt x="2247" y="309"/>
                  <a:pt x="2230" y="312"/>
                </a:cubicBezTo>
                <a:cubicBezTo>
                  <a:pt x="2230" y="552"/>
                  <a:pt x="2230" y="552"/>
                  <a:pt x="2230" y="552"/>
                </a:cubicBezTo>
                <a:cubicBezTo>
                  <a:pt x="2168" y="552"/>
                  <a:pt x="2168" y="552"/>
                  <a:pt x="2168" y="552"/>
                </a:cubicBezTo>
                <a:cubicBezTo>
                  <a:pt x="2168" y="270"/>
                  <a:pt x="2168" y="270"/>
                  <a:pt x="2168" y="270"/>
                </a:cubicBezTo>
                <a:cubicBezTo>
                  <a:pt x="2207" y="261"/>
                  <a:pt x="2251" y="254"/>
                  <a:pt x="2281" y="254"/>
                </a:cubicBezTo>
                <a:cubicBezTo>
                  <a:pt x="2384" y="254"/>
                  <a:pt x="2418" y="294"/>
                  <a:pt x="2418" y="363"/>
                </a:cubicBezTo>
                <a:close/>
                <a:moveTo>
                  <a:pt x="2733" y="157"/>
                </a:moveTo>
                <a:cubicBezTo>
                  <a:pt x="2733" y="552"/>
                  <a:pt x="2733" y="552"/>
                  <a:pt x="2733" y="552"/>
                </a:cubicBezTo>
                <a:cubicBezTo>
                  <a:pt x="2676" y="552"/>
                  <a:pt x="2676" y="552"/>
                  <a:pt x="2676" y="552"/>
                </a:cubicBezTo>
                <a:cubicBezTo>
                  <a:pt x="2672" y="516"/>
                  <a:pt x="2672" y="516"/>
                  <a:pt x="2672" y="516"/>
                </a:cubicBezTo>
                <a:cubicBezTo>
                  <a:pt x="2656" y="543"/>
                  <a:pt x="2632" y="559"/>
                  <a:pt x="2591" y="559"/>
                </a:cubicBezTo>
                <a:cubicBezTo>
                  <a:pt x="2517" y="559"/>
                  <a:pt x="2467" y="505"/>
                  <a:pt x="2467" y="410"/>
                </a:cubicBezTo>
                <a:cubicBezTo>
                  <a:pt x="2467" y="311"/>
                  <a:pt x="2520" y="254"/>
                  <a:pt x="2625" y="254"/>
                </a:cubicBezTo>
                <a:cubicBezTo>
                  <a:pt x="2641" y="254"/>
                  <a:pt x="2656" y="256"/>
                  <a:pt x="2671" y="259"/>
                </a:cubicBezTo>
                <a:cubicBezTo>
                  <a:pt x="2671" y="166"/>
                  <a:pt x="2671" y="166"/>
                  <a:pt x="2671" y="166"/>
                </a:cubicBezTo>
                <a:cubicBezTo>
                  <a:pt x="2690" y="159"/>
                  <a:pt x="2712" y="157"/>
                  <a:pt x="2733" y="157"/>
                </a:cubicBezTo>
                <a:close/>
                <a:moveTo>
                  <a:pt x="2671" y="487"/>
                </a:moveTo>
                <a:cubicBezTo>
                  <a:pt x="2671" y="313"/>
                  <a:pt x="2671" y="313"/>
                  <a:pt x="2671" y="313"/>
                </a:cubicBezTo>
                <a:cubicBezTo>
                  <a:pt x="2655" y="310"/>
                  <a:pt x="2638" y="307"/>
                  <a:pt x="2621" y="307"/>
                </a:cubicBezTo>
                <a:cubicBezTo>
                  <a:pt x="2560" y="307"/>
                  <a:pt x="2531" y="346"/>
                  <a:pt x="2531" y="410"/>
                </a:cubicBezTo>
                <a:cubicBezTo>
                  <a:pt x="2531" y="468"/>
                  <a:pt x="2554" y="508"/>
                  <a:pt x="2609" y="508"/>
                </a:cubicBezTo>
                <a:cubicBezTo>
                  <a:pt x="2634" y="508"/>
                  <a:pt x="2654" y="500"/>
                  <a:pt x="2671" y="487"/>
                </a:cubicBezTo>
                <a:close/>
                <a:moveTo>
                  <a:pt x="3045" y="432"/>
                </a:moveTo>
                <a:cubicBezTo>
                  <a:pt x="2847" y="432"/>
                  <a:pt x="2847" y="432"/>
                  <a:pt x="2847" y="432"/>
                </a:cubicBezTo>
                <a:cubicBezTo>
                  <a:pt x="2854" y="482"/>
                  <a:pt x="2884" y="506"/>
                  <a:pt x="2939" y="506"/>
                </a:cubicBezTo>
                <a:cubicBezTo>
                  <a:pt x="2973" y="506"/>
                  <a:pt x="3007" y="499"/>
                  <a:pt x="3038" y="485"/>
                </a:cubicBezTo>
                <a:cubicBezTo>
                  <a:pt x="3036" y="501"/>
                  <a:pt x="3033" y="522"/>
                  <a:pt x="3029" y="541"/>
                </a:cubicBezTo>
                <a:cubicBezTo>
                  <a:pt x="3001" y="554"/>
                  <a:pt x="2971" y="559"/>
                  <a:pt x="2937" y="559"/>
                </a:cubicBezTo>
                <a:cubicBezTo>
                  <a:pt x="2834" y="559"/>
                  <a:pt x="2783" y="502"/>
                  <a:pt x="2783" y="405"/>
                </a:cubicBezTo>
                <a:cubicBezTo>
                  <a:pt x="2783" y="321"/>
                  <a:pt x="2822" y="254"/>
                  <a:pt x="2921" y="254"/>
                </a:cubicBezTo>
                <a:cubicBezTo>
                  <a:pt x="3010" y="254"/>
                  <a:pt x="3048" y="313"/>
                  <a:pt x="3048" y="384"/>
                </a:cubicBezTo>
                <a:cubicBezTo>
                  <a:pt x="3048" y="401"/>
                  <a:pt x="3047" y="415"/>
                  <a:pt x="3045" y="432"/>
                </a:cubicBezTo>
                <a:close/>
                <a:moveTo>
                  <a:pt x="2845" y="380"/>
                </a:moveTo>
                <a:cubicBezTo>
                  <a:pt x="2985" y="380"/>
                  <a:pt x="2985" y="380"/>
                  <a:pt x="2985" y="380"/>
                </a:cubicBezTo>
                <a:cubicBezTo>
                  <a:pt x="2985" y="333"/>
                  <a:pt x="2960" y="306"/>
                  <a:pt x="2918" y="306"/>
                </a:cubicBezTo>
                <a:cubicBezTo>
                  <a:pt x="2874" y="306"/>
                  <a:pt x="2850" y="332"/>
                  <a:pt x="2845" y="380"/>
                </a:cubicBezTo>
                <a:close/>
                <a:moveTo>
                  <a:pt x="3262" y="257"/>
                </a:moveTo>
                <a:cubicBezTo>
                  <a:pt x="3262" y="275"/>
                  <a:pt x="3260" y="298"/>
                  <a:pt x="3256" y="310"/>
                </a:cubicBezTo>
                <a:cubicBezTo>
                  <a:pt x="3241" y="308"/>
                  <a:pt x="3227" y="307"/>
                  <a:pt x="3209" y="307"/>
                </a:cubicBezTo>
                <a:cubicBezTo>
                  <a:pt x="3194" y="307"/>
                  <a:pt x="3179" y="309"/>
                  <a:pt x="3164" y="311"/>
                </a:cubicBezTo>
                <a:cubicBezTo>
                  <a:pt x="3164" y="552"/>
                  <a:pt x="3164" y="552"/>
                  <a:pt x="3164" y="552"/>
                </a:cubicBezTo>
                <a:cubicBezTo>
                  <a:pt x="3102" y="552"/>
                  <a:pt x="3102" y="552"/>
                  <a:pt x="3102" y="552"/>
                </a:cubicBezTo>
                <a:cubicBezTo>
                  <a:pt x="3102" y="270"/>
                  <a:pt x="3102" y="270"/>
                  <a:pt x="3102" y="270"/>
                </a:cubicBezTo>
                <a:cubicBezTo>
                  <a:pt x="3128" y="261"/>
                  <a:pt x="3173" y="254"/>
                  <a:pt x="3208" y="254"/>
                </a:cubicBezTo>
                <a:cubicBezTo>
                  <a:pt x="3227" y="254"/>
                  <a:pt x="3248" y="255"/>
                  <a:pt x="3262" y="257"/>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solidFill>
                <a:prstClr val="black"/>
              </a:solidFill>
            </a:endParaRPr>
          </a:p>
        </p:txBody>
      </p:sp>
    </p:spTree>
    <p:extLst>
      <p:ext uri="{BB962C8B-B14F-4D97-AF65-F5344CB8AC3E}">
        <p14:creationId xmlns:p14="http://schemas.microsoft.com/office/powerpoint/2010/main" val="42113046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Destaca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B5AEF2-F43E-4C92-A186-61C1E43CE82B}"/>
              </a:ext>
            </a:extLst>
          </p:cNvPr>
          <p:cNvSpPr>
            <a:spLocks noGrp="1"/>
          </p:cNvSpPr>
          <p:nvPr>
            <p:ph type="title"/>
          </p:nvPr>
        </p:nvSpPr>
        <p:spPr>
          <a:xfrm>
            <a:off x="711024" y="1087458"/>
            <a:ext cx="3801119" cy="4933929"/>
          </a:xfrm>
        </p:spPr>
        <p:txBody>
          <a:bodyPr anchor="t">
            <a:noAutofit/>
          </a:bodyPr>
          <a:lstStyle>
            <a:lvl1pPr>
              <a:defRPr lang="es-ES" sz="2600" b="0" kern="1200" dirty="0" err="1">
                <a:solidFill>
                  <a:schemeClr val="accent3"/>
                </a:solidFill>
                <a:latin typeface="Santander Text" panose="020B0504020201020104" pitchFamily="34" charset="0"/>
                <a:ea typeface="+mj-ea"/>
                <a:cs typeface="+mj-cs"/>
              </a:defRPr>
            </a:lvl1pPr>
          </a:lstStyle>
          <a:p>
            <a:r>
              <a:rPr lang="es-ES"/>
              <a:t>Haga clic para modificar el estilo de título del patrón</a:t>
            </a:r>
          </a:p>
        </p:txBody>
      </p:sp>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lang="es-ES" sz="1600" kern="1200" dirty="0">
                <a:solidFill>
                  <a:schemeClr val="accent1"/>
                </a:solidFill>
                <a:latin typeface="Santander Text" panose="020B0504020201020104" pitchFamily="34" charset="0"/>
                <a:ea typeface="+mn-ea"/>
                <a:cs typeface="+mn-cs"/>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s-ES"/>
              <a:t>Editar los estilos de texto del patrón</a:t>
            </a:r>
          </a:p>
        </p:txBody>
      </p:sp>
      <p:sp>
        <p:nvSpPr>
          <p:cNvPr id="12" name="Marcador de texto 16">
            <a:extLst>
              <a:ext uri="{FF2B5EF4-FFF2-40B4-BE49-F238E27FC236}">
                <a16:creationId xmlns:a16="http://schemas.microsoft.com/office/drawing/2014/main" id="{87DF9564-216B-4533-A626-FE222DEB917D}"/>
              </a:ext>
            </a:extLst>
          </p:cNvPr>
          <p:cNvSpPr>
            <a:spLocks noGrp="1"/>
          </p:cNvSpPr>
          <p:nvPr>
            <p:ph type="body" sz="quarter" idx="15"/>
          </p:nvPr>
        </p:nvSpPr>
        <p:spPr>
          <a:xfrm>
            <a:off x="4772722" y="1087458"/>
            <a:ext cx="6697035" cy="4933928"/>
          </a:xfrm>
        </p:spPr>
        <p:txBody>
          <a:bodyPr numCol="1" spcCol="0">
            <a:noAutofit/>
          </a:bodyPr>
          <a:lstStyle>
            <a:lvl1pPr marL="0" indent="0">
              <a:spcBef>
                <a:spcPts val="0"/>
              </a:spcBef>
              <a:spcAft>
                <a:spcPts val="2200"/>
              </a:spcAft>
              <a:buFont typeface="Arial" panose="020B0604020202020204" pitchFamily="34" charset="0"/>
              <a:buNone/>
              <a:defRPr lang="es-ES" sz="1600" kern="1200" dirty="0">
                <a:solidFill>
                  <a:schemeClr val="tx2"/>
                </a:solidFill>
                <a:latin typeface="Santander Text Light" panose="020B0304020201020104" pitchFamily="34" charset="0"/>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s-ES"/>
              <a:t>Editar los estilos de texto del patrón</a:t>
            </a:r>
          </a:p>
        </p:txBody>
      </p:sp>
      <p:sp>
        <p:nvSpPr>
          <p:cNvPr id="3" name="Freeform 5">
            <a:extLst>
              <a:ext uri="{FF2B5EF4-FFF2-40B4-BE49-F238E27FC236}">
                <a16:creationId xmlns:a16="http://schemas.microsoft.com/office/drawing/2014/main" id="{9F32B98D-DAAE-D075-691C-5C96607738BA}"/>
              </a:ext>
            </a:extLst>
          </p:cNvPr>
          <p:cNvSpPr>
            <a:spLocks noEditPoints="1"/>
          </p:cNvSpPr>
          <p:nvPr userDrawn="1"/>
        </p:nvSpPr>
        <p:spPr bwMode="auto">
          <a:xfrm>
            <a:off x="859275" y="6528475"/>
            <a:ext cx="1171705" cy="206714"/>
          </a:xfrm>
          <a:custGeom>
            <a:avLst/>
            <a:gdLst>
              <a:gd name="T0" fmla="*/ 319 w 3262"/>
              <a:gd name="T1" fmla="*/ 39 h 572"/>
              <a:gd name="T2" fmla="*/ 300 w 3262"/>
              <a:gd name="T3" fmla="*/ 137 h 572"/>
              <a:gd name="T4" fmla="*/ 371 w 3262"/>
              <a:gd name="T5" fmla="*/ 405 h 572"/>
              <a:gd name="T6" fmla="*/ 244 w 3262"/>
              <a:gd name="T7" fmla="*/ 170 h 572"/>
              <a:gd name="T8" fmla="*/ 225 w 3262"/>
              <a:gd name="T9" fmla="*/ 267 h 572"/>
              <a:gd name="T10" fmla="*/ 300 w 3262"/>
              <a:gd name="T11" fmla="*/ 528 h 572"/>
              <a:gd name="T12" fmla="*/ 187 w 3262"/>
              <a:gd name="T13" fmla="*/ 333 h 572"/>
              <a:gd name="T14" fmla="*/ 300 w 3262"/>
              <a:gd name="T15" fmla="*/ 572 h 572"/>
              <a:gd name="T16" fmla="*/ 714 w 3262"/>
              <a:gd name="T17" fmla="*/ 540 h 572"/>
              <a:gd name="T18" fmla="*/ 910 w 3262"/>
              <a:gd name="T19" fmla="*/ 455 h 572"/>
              <a:gd name="T20" fmla="*/ 717 w 3262"/>
              <a:gd name="T21" fmla="*/ 258 h 572"/>
              <a:gd name="T22" fmla="*/ 945 w 3262"/>
              <a:gd name="T23" fmla="*/ 226 h 572"/>
              <a:gd name="T24" fmla="*/ 842 w 3262"/>
              <a:gd name="T25" fmla="*/ 322 h 572"/>
              <a:gd name="T26" fmla="*/ 829 w 3262"/>
              <a:gd name="T27" fmla="*/ 561 h 572"/>
              <a:gd name="T28" fmla="*/ 1277 w 3262"/>
              <a:gd name="T29" fmla="*/ 552 h 572"/>
              <a:gd name="T30" fmla="*/ 1138 w 3262"/>
              <a:gd name="T31" fmla="*/ 559 h 572"/>
              <a:gd name="T32" fmla="*/ 1277 w 3262"/>
              <a:gd name="T33" fmla="*/ 270 h 572"/>
              <a:gd name="T34" fmla="*/ 1171 w 3262"/>
              <a:gd name="T35" fmla="*/ 307 h 572"/>
              <a:gd name="T36" fmla="*/ 1215 w 3262"/>
              <a:gd name="T37" fmla="*/ 488 h 572"/>
              <a:gd name="T38" fmla="*/ 1533 w 3262"/>
              <a:gd name="T39" fmla="*/ 552 h 572"/>
              <a:gd name="T40" fmla="*/ 1407 w 3262"/>
              <a:gd name="T41" fmla="*/ 312 h 572"/>
              <a:gd name="T42" fmla="*/ 1345 w 3262"/>
              <a:gd name="T43" fmla="*/ 270 h 572"/>
              <a:gd name="T44" fmla="*/ 1767 w 3262"/>
              <a:gd name="T45" fmla="*/ 506 h 572"/>
              <a:gd name="T46" fmla="*/ 1756 w 3262"/>
              <a:gd name="T47" fmla="*/ 559 h 572"/>
              <a:gd name="T48" fmla="*/ 1719 w 3262"/>
              <a:gd name="T49" fmla="*/ 157 h 572"/>
              <a:gd name="T50" fmla="*/ 1812 w 3262"/>
              <a:gd name="T51" fmla="*/ 317 h 572"/>
              <a:gd name="T52" fmla="*/ 1767 w 3262"/>
              <a:gd name="T53" fmla="*/ 506 h 572"/>
              <a:gd name="T54" fmla="*/ 2043 w 3262"/>
              <a:gd name="T55" fmla="*/ 552 h 572"/>
              <a:gd name="T56" fmla="*/ 1836 w 3262"/>
              <a:gd name="T57" fmla="*/ 410 h 572"/>
              <a:gd name="T58" fmla="*/ 2038 w 3262"/>
              <a:gd name="T59" fmla="*/ 488 h 572"/>
              <a:gd name="T60" fmla="*/ 1899 w 3262"/>
              <a:gd name="T61" fmla="*/ 410 h 572"/>
              <a:gd name="T62" fmla="*/ 2418 w 3262"/>
              <a:gd name="T63" fmla="*/ 363 h 572"/>
              <a:gd name="T64" fmla="*/ 2356 w 3262"/>
              <a:gd name="T65" fmla="*/ 373 h 572"/>
              <a:gd name="T66" fmla="*/ 2230 w 3262"/>
              <a:gd name="T67" fmla="*/ 552 h 572"/>
              <a:gd name="T68" fmla="*/ 2281 w 3262"/>
              <a:gd name="T69" fmla="*/ 254 h 572"/>
              <a:gd name="T70" fmla="*/ 2733 w 3262"/>
              <a:gd name="T71" fmla="*/ 552 h 572"/>
              <a:gd name="T72" fmla="*/ 2591 w 3262"/>
              <a:gd name="T73" fmla="*/ 559 h 572"/>
              <a:gd name="T74" fmla="*/ 2671 w 3262"/>
              <a:gd name="T75" fmla="*/ 259 h 572"/>
              <a:gd name="T76" fmla="*/ 2671 w 3262"/>
              <a:gd name="T77" fmla="*/ 487 h 572"/>
              <a:gd name="T78" fmla="*/ 2531 w 3262"/>
              <a:gd name="T79" fmla="*/ 410 h 572"/>
              <a:gd name="T80" fmla="*/ 3045 w 3262"/>
              <a:gd name="T81" fmla="*/ 432 h 572"/>
              <a:gd name="T82" fmla="*/ 3038 w 3262"/>
              <a:gd name="T83" fmla="*/ 485 h 572"/>
              <a:gd name="T84" fmla="*/ 2783 w 3262"/>
              <a:gd name="T85" fmla="*/ 405 h 572"/>
              <a:gd name="T86" fmla="*/ 3045 w 3262"/>
              <a:gd name="T87" fmla="*/ 432 h 572"/>
              <a:gd name="T88" fmla="*/ 2918 w 3262"/>
              <a:gd name="T89" fmla="*/ 306 h 572"/>
              <a:gd name="T90" fmla="*/ 3256 w 3262"/>
              <a:gd name="T91" fmla="*/ 310 h 572"/>
              <a:gd name="T92" fmla="*/ 3164 w 3262"/>
              <a:gd name="T93" fmla="*/ 552 h 572"/>
              <a:gd name="T94" fmla="*/ 3208 w 3262"/>
              <a:gd name="T95" fmla="*/ 254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262" h="572">
                <a:moveTo>
                  <a:pt x="430" y="262"/>
                </a:moveTo>
                <a:cubicBezTo>
                  <a:pt x="429" y="241"/>
                  <a:pt x="424" y="221"/>
                  <a:pt x="413" y="202"/>
                </a:cubicBezTo>
                <a:cubicBezTo>
                  <a:pt x="319" y="39"/>
                  <a:pt x="319" y="39"/>
                  <a:pt x="319" y="39"/>
                </a:cubicBezTo>
                <a:cubicBezTo>
                  <a:pt x="312" y="27"/>
                  <a:pt x="307" y="14"/>
                  <a:pt x="304" y="0"/>
                </a:cubicBezTo>
                <a:cubicBezTo>
                  <a:pt x="300" y="7"/>
                  <a:pt x="300" y="7"/>
                  <a:pt x="300" y="7"/>
                </a:cubicBezTo>
                <a:cubicBezTo>
                  <a:pt x="277" y="47"/>
                  <a:pt x="277" y="97"/>
                  <a:pt x="300" y="137"/>
                </a:cubicBezTo>
                <a:cubicBezTo>
                  <a:pt x="375" y="267"/>
                  <a:pt x="375" y="267"/>
                  <a:pt x="375" y="267"/>
                </a:cubicBezTo>
                <a:cubicBezTo>
                  <a:pt x="399" y="308"/>
                  <a:pt x="399" y="357"/>
                  <a:pt x="375" y="398"/>
                </a:cubicBezTo>
                <a:cubicBezTo>
                  <a:pt x="371" y="405"/>
                  <a:pt x="371" y="405"/>
                  <a:pt x="371" y="405"/>
                </a:cubicBezTo>
                <a:cubicBezTo>
                  <a:pt x="369" y="391"/>
                  <a:pt x="364" y="378"/>
                  <a:pt x="356" y="365"/>
                </a:cubicBezTo>
                <a:cubicBezTo>
                  <a:pt x="288" y="246"/>
                  <a:pt x="288" y="246"/>
                  <a:pt x="288" y="246"/>
                </a:cubicBezTo>
                <a:cubicBezTo>
                  <a:pt x="244" y="170"/>
                  <a:pt x="244" y="170"/>
                  <a:pt x="244" y="170"/>
                </a:cubicBezTo>
                <a:cubicBezTo>
                  <a:pt x="236" y="157"/>
                  <a:pt x="232" y="144"/>
                  <a:pt x="229" y="130"/>
                </a:cubicBezTo>
                <a:cubicBezTo>
                  <a:pt x="225" y="137"/>
                  <a:pt x="225" y="137"/>
                  <a:pt x="225" y="137"/>
                </a:cubicBezTo>
                <a:cubicBezTo>
                  <a:pt x="202" y="177"/>
                  <a:pt x="202" y="227"/>
                  <a:pt x="225" y="267"/>
                </a:cubicBezTo>
                <a:cubicBezTo>
                  <a:pt x="225" y="267"/>
                  <a:pt x="225" y="267"/>
                  <a:pt x="225" y="267"/>
                </a:cubicBezTo>
                <a:cubicBezTo>
                  <a:pt x="300" y="398"/>
                  <a:pt x="300" y="398"/>
                  <a:pt x="300" y="398"/>
                </a:cubicBezTo>
                <a:cubicBezTo>
                  <a:pt x="323" y="438"/>
                  <a:pt x="323" y="488"/>
                  <a:pt x="300" y="528"/>
                </a:cubicBezTo>
                <a:cubicBezTo>
                  <a:pt x="296" y="535"/>
                  <a:pt x="296" y="535"/>
                  <a:pt x="296" y="535"/>
                </a:cubicBezTo>
                <a:cubicBezTo>
                  <a:pt x="293" y="521"/>
                  <a:pt x="288" y="508"/>
                  <a:pt x="281" y="495"/>
                </a:cubicBezTo>
                <a:cubicBezTo>
                  <a:pt x="187" y="333"/>
                  <a:pt x="187" y="333"/>
                  <a:pt x="187" y="333"/>
                </a:cubicBezTo>
                <a:cubicBezTo>
                  <a:pt x="175" y="311"/>
                  <a:pt x="169" y="286"/>
                  <a:pt x="170" y="262"/>
                </a:cubicBezTo>
                <a:cubicBezTo>
                  <a:pt x="69" y="288"/>
                  <a:pt x="0" y="344"/>
                  <a:pt x="0" y="409"/>
                </a:cubicBezTo>
                <a:cubicBezTo>
                  <a:pt x="0" y="499"/>
                  <a:pt x="134" y="572"/>
                  <a:pt x="300" y="572"/>
                </a:cubicBezTo>
                <a:cubicBezTo>
                  <a:pt x="466" y="572"/>
                  <a:pt x="600" y="499"/>
                  <a:pt x="600" y="409"/>
                </a:cubicBezTo>
                <a:cubicBezTo>
                  <a:pt x="600" y="344"/>
                  <a:pt x="531" y="288"/>
                  <a:pt x="430" y="262"/>
                </a:cubicBezTo>
                <a:close/>
                <a:moveTo>
                  <a:pt x="714" y="540"/>
                </a:moveTo>
                <a:cubicBezTo>
                  <a:pt x="715" y="517"/>
                  <a:pt x="718" y="501"/>
                  <a:pt x="725" y="483"/>
                </a:cubicBezTo>
                <a:cubicBezTo>
                  <a:pt x="756" y="498"/>
                  <a:pt x="797" y="505"/>
                  <a:pt x="828" y="505"/>
                </a:cubicBezTo>
                <a:cubicBezTo>
                  <a:pt x="880" y="505"/>
                  <a:pt x="910" y="488"/>
                  <a:pt x="910" y="455"/>
                </a:cubicBezTo>
                <a:cubicBezTo>
                  <a:pt x="910" y="422"/>
                  <a:pt x="888" y="407"/>
                  <a:pt x="835" y="384"/>
                </a:cubicBezTo>
                <a:cubicBezTo>
                  <a:pt x="806" y="371"/>
                  <a:pt x="806" y="371"/>
                  <a:pt x="806" y="371"/>
                </a:cubicBezTo>
                <a:cubicBezTo>
                  <a:pt x="753" y="348"/>
                  <a:pt x="717" y="318"/>
                  <a:pt x="717" y="258"/>
                </a:cubicBezTo>
                <a:cubicBezTo>
                  <a:pt x="717" y="194"/>
                  <a:pt x="762" y="153"/>
                  <a:pt x="853" y="153"/>
                </a:cubicBezTo>
                <a:cubicBezTo>
                  <a:pt x="890" y="153"/>
                  <a:pt x="924" y="158"/>
                  <a:pt x="956" y="169"/>
                </a:cubicBezTo>
                <a:cubicBezTo>
                  <a:pt x="955" y="192"/>
                  <a:pt x="951" y="209"/>
                  <a:pt x="945" y="226"/>
                </a:cubicBezTo>
                <a:cubicBezTo>
                  <a:pt x="915" y="214"/>
                  <a:pt x="879" y="209"/>
                  <a:pt x="853" y="209"/>
                </a:cubicBezTo>
                <a:cubicBezTo>
                  <a:pt x="804" y="209"/>
                  <a:pt x="781" y="228"/>
                  <a:pt x="781" y="258"/>
                </a:cubicBezTo>
                <a:cubicBezTo>
                  <a:pt x="781" y="288"/>
                  <a:pt x="803" y="305"/>
                  <a:pt x="842" y="322"/>
                </a:cubicBezTo>
                <a:cubicBezTo>
                  <a:pt x="873" y="335"/>
                  <a:pt x="873" y="335"/>
                  <a:pt x="873" y="335"/>
                </a:cubicBezTo>
                <a:cubicBezTo>
                  <a:pt x="945" y="365"/>
                  <a:pt x="974" y="397"/>
                  <a:pt x="974" y="452"/>
                </a:cubicBezTo>
                <a:cubicBezTo>
                  <a:pt x="974" y="517"/>
                  <a:pt x="925" y="561"/>
                  <a:pt x="829" y="561"/>
                </a:cubicBezTo>
                <a:cubicBezTo>
                  <a:pt x="783" y="561"/>
                  <a:pt x="745" y="555"/>
                  <a:pt x="714" y="540"/>
                </a:cubicBezTo>
                <a:close/>
                <a:moveTo>
                  <a:pt x="1277" y="270"/>
                </a:moveTo>
                <a:cubicBezTo>
                  <a:pt x="1277" y="552"/>
                  <a:pt x="1277" y="552"/>
                  <a:pt x="1277" y="552"/>
                </a:cubicBezTo>
                <a:cubicBezTo>
                  <a:pt x="1220" y="552"/>
                  <a:pt x="1220" y="552"/>
                  <a:pt x="1220" y="552"/>
                </a:cubicBezTo>
                <a:cubicBezTo>
                  <a:pt x="1217" y="518"/>
                  <a:pt x="1217" y="518"/>
                  <a:pt x="1217" y="518"/>
                </a:cubicBezTo>
                <a:cubicBezTo>
                  <a:pt x="1201" y="543"/>
                  <a:pt x="1177" y="559"/>
                  <a:pt x="1138" y="559"/>
                </a:cubicBezTo>
                <a:cubicBezTo>
                  <a:pt x="1063" y="559"/>
                  <a:pt x="1013" y="505"/>
                  <a:pt x="1013" y="410"/>
                </a:cubicBezTo>
                <a:cubicBezTo>
                  <a:pt x="1013" y="311"/>
                  <a:pt x="1066" y="254"/>
                  <a:pt x="1171" y="254"/>
                </a:cubicBezTo>
                <a:cubicBezTo>
                  <a:pt x="1211" y="254"/>
                  <a:pt x="1245" y="259"/>
                  <a:pt x="1277" y="270"/>
                </a:cubicBezTo>
                <a:close/>
                <a:moveTo>
                  <a:pt x="1215" y="488"/>
                </a:moveTo>
                <a:cubicBezTo>
                  <a:pt x="1215" y="311"/>
                  <a:pt x="1215" y="311"/>
                  <a:pt x="1215" y="311"/>
                </a:cubicBezTo>
                <a:cubicBezTo>
                  <a:pt x="1202" y="309"/>
                  <a:pt x="1188" y="307"/>
                  <a:pt x="1171" y="307"/>
                </a:cubicBezTo>
                <a:cubicBezTo>
                  <a:pt x="1107" y="307"/>
                  <a:pt x="1077" y="347"/>
                  <a:pt x="1077" y="410"/>
                </a:cubicBezTo>
                <a:cubicBezTo>
                  <a:pt x="1077" y="468"/>
                  <a:pt x="1100" y="508"/>
                  <a:pt x="1155" y="508"/>
                </a:cubicBezTo>
                <a:cubicBezTo>
                  <a:pt x="1179" y="508"/>
                  <a:pt x="1199" y="500"/>
                  <a:pt x="1215" y="488"/>
                </a:cubicBezTo>
                <a:close/>
                <a:moveTo>
                  <a:pt x="1595" y="363"/>
                </a:moveTo>
                <a:cubicBezTo>
                  <a:pt x="1595" y="552"/>
                  <a:pt x="1595" y="552"/>
                  <a:pt x="1595" y="552"/>
                </a:cubicBezTo>
                <a:cubicBezTo>
                  <a:pt x="1533" y="552"/>
                  <a:pt x="1533" y="552"/>
                  <a:pt x="1533" y="552"/>
                </a:cubicBezTo>
                <a:cubicBezTo>
                  <a:pt x="1533" y="373"/>
                  <a:pt x="1533" y="373"/>
                  <a:pt x="1533" y="373"/>
                </a:cubicBezTo>
                <a:cubicBezTo>
                  <a:pt x="1533" y="329"/>
                  <a:pt x="1518" y="307"/>
                  <a:pt x="1456" y="307"/>
                </a:cubicBezTo>
                <a:cubicBezTo>
                  <a:pt x="1442" y="307"/>
                  <a:pt x="1424" y="309"/>
                  <a:pt x="1407" y="312"/>
                </a:cubicBezTo>
                <a:cubicBezTo>
                  <a:pt x="1407" y="552"/>
                  <a:pt x="1407" y="552"/>
                  <a:pt x="1407" y="552"/>
                </a:cubicBezTo>
                <a:cubicBezTo>
                  <a:pt x="1345" y="552"/>
                  <a:pt x="1345" y="552"/>
                  <a:pt x="1345" y="552"/>
                </a:cubicBezTo>
                <a:cubicBezTo>
                  <a:pt x="1345" y="270"/>
                  <a:pt x="1345" y="270"/>
                  <a:pt x="1345" y="270"/>
                </a:cubicBezTo>
                <a:cubicBezTo>
                  <a:pt x="1385" y="261"/>
                  <a:pt x="1428" y="254"/>
                  <a:pt x="1458" y="254"/>
                </a:cubicBezTo>
                <a:cubicBezTo>
                  <a:pt x="1562" y="254"/>
                  <a:pt x="1595" y="294"/>
                  <a:pt x="1595" y="363"/>
                </a:cubicBezTo>
                <a:close/>
                <a:moveTo>
                  <a:pt x="1767" y="506"/>
                </a:moveTo>
                <a:cubicBezTo>
                  <a:pt x="1785" y="506"/>
                  <a:pt x="1802" y="503"/>
                  <a:pt x="1816" y="498"/>
                </a:cubicBezTo>
                <a:cubicBezTo>
                  <a:pt x="1814" y="515"/>
                  <a:pt x="1812" y="534"/>
                  <a:pt x="1808" y="550"/>
                </a:cubicBezTo>
                <a:cubicBezTo>
                  <a:pt x="1791" y="557"/>
                  <a:pt x="1773" y="559"/>
                  <a:pt x="1756" y="559"/>
                </a:cubicBezTo>
                <a:cubicBezTo>
                  <a:pt x="1696" y="559"/>
                  <a:pt x="1657" y="531"/>
                  <a:pt x="1657" y="463"/>
                </a:cubicBezTo>
                <a:cubicBezTo>
                  <a:pt x="1657" y="166"/>
                  <a:pt x="1657" y="166"/>
                  <a:pt x="1657" y="166"/>
                </a:cubicBezTo>
                <a:cubicBezTo>
                  <a:pt x="1676" y="160"/>
                  <a:pt x="1700" y="157"/>
                  <a:pt x="1719" y="157"/>
                </a:cubicBezTo>
                <a:cubicBezTo>
                  <a:pt x="1719" y="264"/>
                  <a:pt x="1719" y="264"/>
                  <a:pt x="1719" y="264"/>
                </a:cubicBezTo>
                <a:cubicBezTo>
                  <a:pt x="1817" y="264"/>
                  <a:pt x="1817" y="264"/>
                  <a:pt x="1817" y="264"/>
                </a:cubicBezTo>
                <a:cubicBezTo>
                  <a:pt x="1816" y="283"/>
                  <a:pt x="1815" y="301"/>
                  <a:pt x="1812" y="317"/>
                </a:cubicBezTo>
                <a:cubicBezTo>
                  <a:pt x="1719" y="317"/>
                  <a:pt x="1719" y="317"/>
                  <a:pt x="1719" y="317"/>
                </a:cubicBezTo>
                <a:cubicBezTo>
                  <a:pt x="1719" y="455"/>
                  <a:pt x="1719" y="455"/>
                  <a:pt x="1719" y="455"/>
                </a:cubicBezTo>
                <a:cubicBezTo>
                  <a:pt x="1719" y="492"/>
                  <a:pt x="1737" y="506"/>
                  <a:pt x="1767" y="506"/>
                </a:cubicBezTo>
                <a:close/>
                <a:moveTo>
                  <a:pt x="2100" y="270"/>
                </a:moveTo>
                <a:cubicBezTo>
                  <a:pt x="2100" y="552"/>
                  <a:pt x="2100" y="552"/>
                  <a:pt x="2100" y="552"/>
                </a:cubicBezTo>
                <a:cubicBezTo>
                  <a:pt x="2043" y="552"/>
                  <a:pt x="2043" y="552"/>
                  <a:pt x="2043" y="552"/>
                </a:cubicBezTo>
                <a:cubicBezTo>
                  <a:pt x="2040" y="518"/>
                  <a:pt x="2040" y="518"/>
                  <a:pt x="2040" y="518"/>
                </a:cubicBezTo>
                <a:cubicBezTo>
                  <a:pt x="2024" y="543"/>
                  <a:pt x="2000" y="559"/>
                  <a:pt x="1960" y="559"/>
                </a:cubicBezTo>
                <a:cubicBezTo>
                  <a:pt x="1886" y="559"/>
                  <a:pt x="1836" y="505"/>
                  <a:pt x="1836" y="410"/>
                </a:cubicBezTo>
                <a:cubicBezTo>
                  <a:pt x="1836" y="311"/>
                  <a:pt x="1889" y="254"/>
                  <a:pt x="1993" y="254"/>
                </a:cubicBezTo>
                <a:cubicBezTo>
                  <a:pt x="2034" y="254"/>
                  <a:pt x="2067" y="259"/>
                  <a:pt x="2100" y="270"/>
                </a:cubicBezTo>
                <a:close/>
                <a:moveTo>
                  <a:pt x="2038" y="488"/>
                </a:moveTo>
                <a:cubicBezTo>
                  <a:pt x="2038" y="311"/>
                  <a:pt x="2038" y="311"/>
                  <a:pt x="2038" y="311"/>
                </a:cubicBezTo>
                <a:cubicBezTo>
                  <a:pt x="2025" y="309"/>
                  <a:pt x="2011" y="307"/>
                  <a:pt x="1993" y="307"/>
                </a:cubicBezTo>
                <a:cubicBezTo>
                  <a:pt x="1929" y="307"/>
                  <a:pt x="1899" y="347"/>
                  <a:pt x="1899" y="410"/>
                </a:cubicBezTo>
                <a:cubicBezTo>
                  <a:pt x="1899" y="468"/>
                  <a:pt x="1922" y="508"/>
                  <a:pt x="1978" y="508"/>
                </a:cubicBezTo>
                <a:cubicBezTo>
                  <a:pt x="2002" y="508"/>
                  <a:pt x="2022" y="500"/>
                  <a:pt x="2038" y="488"/>
                </a:cubicBezTo>
                <a:close/>
                <a:moveTo>
                  <a:pt x="2418" y="363"/>
                </a:moveTo>
                <a:cubicBezTo>
                  <a:pt x="2418" y="552"/>
                  <a:pt x="2418" y="552"/>
                  <a:pt x="2418" y="552"/>
                </a:cubicBezTo>
                <a:cubicBezTo>
                  <a:pt x="2356" y="552"/>
                  <a:pt x="2356" y="552"/>
                  <a:pt x="2356" y="552"/>
                </a:cubicBezTo>
                <a:cubicBezTo>
                  <a:pt x="2356" y="373"/>
                  <a:pt x="2356" y="373"/>
                  <a:pt x="2356" y="373"/>
                </a:cubicBezTo>
                <a:cubicBezTo>
                  <a:pt x="2356" y="329"/>
                  <a:pt x="2341" y="307"/>
                  <a:pt x="2279" y="307"/>
                </a:cubicBezTo>
                <a:cubicBezTo>
                  <a:pt x="2264" y="307"/>
                  <a:pt x="2247" y="309"/>
                  <a:pt x="2230" y="312"/>
                </a:cubicBezTo>
                <a:cubicBezTo>
                  <a:pt x="2230" y="552"/>
                  <a:pt x="2230" y="552"/>
                  <a:pt x="2230" y="552"/>
                </a:cubicBezTo>
                <a:cubicBezTo>
                  <a:pt x="2168" y="552"/>
                  <a:pt x="2168" y="552"/>
                  <a:pt x="2168" y="552"/>
                </a:cubicBezTo>
                <a:cubicBezTo>
                  <a:pt x="2168" y="270"/>
                  <a:pt x="2168" y="270"/>
                  <a:pt x="2168" y="270"/>
                </a:cubicBezTo>
                <a:cubicBezTo>
                  <a:pt x="2207" y="261"/>
                  <a:pt x="2251" y="254"/>
                  <a:pt x="2281" y="254"/>
                </a:cubicBezTo>
                <a:cubicBezTo>
                  <a:pt x="2384" y="254"/>
                  <a:pt x="2418" y="294"/>
                  <a:pt x="2418" y="363"/>
                </a:cubicBezTo>
                <a:close/>
                <a:moveTo>
                  <a:pt x="2733" y="157"/>
                </a:moveTo>
                <a:cubicBezTo>
                  <a:pt x="2733" y="552"/>
                  <a:pt x="2733" y="552"/>
                  <a:pt x="2733" y="552"/>
                </a:cubicBezTo>
                <a:cubicBezTo>
                  <a:pt x="2676" y="552"/>
                  <a:pt x="2676" y="552"/>
                  <a:pt x="2676" y="552"/>
                </a:cubicBezTo>
                <a:cubicBezTo>
                  <a:pt x="2672" y="516"/>
                  <a:pt x="2672" y="516"/>
                  <a:pt x="2672" y="516"/>
                </a:cubicBezTo>
                <a:cubicBezTo>
                  <a:pt x="2656" y="543"/>
                  <a:pt x="2632" y="559"/>
                  <a:pt x="2591" y="559"/>
                </a:cubicBezTo>
                <a:cubicBezTo>
                  <a:pt x="2517" y="559"/>
                  <a:pt x="2467" y="505"/>
                  <a:pt x="2467" y="410"/>
                </a:cubicBezTo>
                <a:cubicBezTo>
                  <a:pt x="2467" y="311"/>
                  <a:pt x="2520" y="254"/>
                  <a:pt x="2625" y="254"/>
                </a:cubicBezTo>
                <a:cubicBezTo>
                  <a:pt x="2641" y="254"/>
                  <a:pt x="2656" y="256"/>
                  <a:pt x="2671" y="259"/>
                </a:cubicBezTo>
                <a:cubicBezTo>
                  <a:pt x="2671" y="166"/>
                  <a:pt x="2671" y="166"/>
                  <a:pt x="2671" y="166"/>
                </a:cubicBezTo>
                <a:cubicBezTo>
                  <a:pt x="2690" y="159"/>
                  <a:pt x="2712" y="157"/>
                  <a:pt x="2733" y="157"/>
                </a:cubicBezTo>
                <a:close/>
                <a:moveTo>
                  <a:pt x="2671" y="487"/>
                </a:moveTo>
                <a:cubicBezTo>
                  <a:pt x="2671" y="313"/>
                  <a:pt x="2671" y="313"/>
                  <a:pt x="2671" y="313"/>
                </a:cubicBezTo>
                <a:cubicBezTo>
                  <a:pt x="2655" y="310"/>
                  <a:pt x="2638" y="307"/>
                  <a:pt x="2621" y="307"/>
                </a:cubicBezTo>
                <a:cubicBezTo>
                  <a:pt x="2560" y="307"/>
                  <a:pt x="2531" y="346"/>
                  <a:pt x="2531" y="410"/>
                </a:cubicBezTo>
                <a:cubicBezTo>
                  <a:pt x="2531" y="468"/>
                  <a:pt x="2554" y="508"/>
                  <a:pt x="2609" y="508"/>
                </a:cubicBezTo>
                <a:cubicBezTo>
                  <a:pt x="2634" y="508"/>
                  <a:pt x="2654" y="500"/>
                  <a:pt x="2671" y="487"/>
                </a:cubicBezTo>
                <a:close/>
                <a:moveTo>
                  <a:pt x="3045" y="432"/>
                </a:moveTo>
                <a:cubicBezTo>
                  <a:pt x="2847" y="432"/>
                  <a:pt x="2847" y="432"/>
                  <a:pt x="2847" y="432"/>
                </a:cubicBezTo>
                <a:cubicBezTo>
                  <a:pt x="2854" y="482"/>
                  <a:pt x="2884" y="506"/>
                  <a:pt x="2939" y="506"/>
                </a:cubicBezTo>
                <a:cubicBezTo>
                  <a:pt x="2973" y="506"/>
                  <a:pt x="3007" y="499"/>
                  <a:pt x="3038" y="485"/>
                </a:cubicBezTo>
                <a:cubicBezTo>
                  <a:pt x="3036" y="501"/>
                  <a:pt x="3033" y="522"/>
                  <a:pt x="3029" y="541"/>
                </a:cubicBezTo>
                <a:cubicBezTo>
                  <a:pt x="3001" y="554"/>
                  <a:pt x="2971" y="559"/>
                  <a:pt x="2937" y="559"/>
                </a:cubicBezTo>
                <a:cubicBezTo>
                  <a:pt x="2834" y="559"/>
                  <a:pt x="2783" y="502"/>
                  <a:pt x="2783" y="405"/>
                </a:cubicBezTo>
                <a:cubicBezTo>
                  <a:pt x="2783" y="321"/>
                  <a:pt x="2822" y="254"/>
                  <a:pt x="2921" y="254"/>
                </a:cubicBezTo>
                <a:cubicBezTo>
                  <a:pt x="3010" y="254"/>
                  <a:pt x="3048" y="313"/>
                  <a:pt x="3048" y="384"/>
                </a:cubicBezTo>
                <a:cubicBezTo>
                  <a:pt x="3048" y="401"/>
                  <a:pt x="3047" y="415"/>
                  <a:pt x="3045" y="432"/>
                </a:cubicBezTo>
                <a:close/>
                <a:moveTo>
                  <a:pt x="2845" y="380"/>
                </a:moveTo>
                <a:cubicBezTo>
                  <a:pt x="2985" y="380"/>
                  <a:pt x="2985" y="380"/>
                  <a:pt x="2985" y="380"/>
                </a:cubicBezTo>
                <a:cubicBezTo>
                  <a:pt x="2985" y="333"/>
                  <a:pt x="2960" y="306"/>
                  <a:pt x="2918" y="306"/>
                </a:cubicBezTo>
                <a:cubicBezTo>
                  <a:pt x="2874" y="306"/>
                  <a:pt x="2850" y="332"/>
                  <a:pt x="2845" y="380"/>
                </a:cubicBezTo>
                <a:close/>
                <a:moveTo>
                  <a:pt x="3262" y="257"/>
                </a:moveTo>
                <a:cubicBezTo>
                  <a:pt x="3262" y="275"/>
                  <a:pt x="3260" y="298"/>
                  <a:pt x="3256" y="310"/>
                </a:cubicBezTo>
                <a:cubicBezTo>
                  <a:pt x="3241" y="308"/>
                  <a:pt x="3227" y="307"/>
                  <a:pt x="3209" y="307"/>
                </a:cubicBezTo>
                <a:cubicBezTo>
                  <a:pt x="3194" y="307"/>
                  <a:pt x="3179" y="309"/>
                  <a:pt x="3164" y="311"/>
                </a:cubicBezTo>
                <a:cubicBezTo>
                  <a:pt x="3164" y="552"/>
                  <a:pt x="3164" y="552"/>
                  <a:pt x="3164" y="552"/>
                </a:cubicBezTo>
                <a:cubicBezTo>
                  <a:pt x="3102" y="552"/>
                  <a:pt x="3102" y="552"/>
                  <a:pt x="3102" y="552"/>
                </a:cubicBezTo>
                <a:cubicBezTo>
                  <a:pt x="3102" y="270"/>
                  <a:pt x="3102" y="270"/>
                  <a:pt x="3102" y="270"/>
                </a:cubicBezTo>
                <a:cubicBezTo>
                  <a:pt x="3128" y="261"/>
                  <a:pt x="3173" y="254"/>
                  <a:pt x="3208" y="254"/>
                </a:cubicBezTo>
                <a:cubicBezTo>
                  <a:pt x="3227" y="254"/>
                  <a:pt x="3248" y="255"/>
                  <a:pt x="3262" y="257"/>
                </a:cubicBez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ES"/>
          </a:p>
        </p:txBody>
      </p:sp>
    </p:spTree>
    <p:extLst>
      <p:ext uri="{BB962C8B-B14F-4D97-AF65-F5344CB8AC3E}">
        <p14:creationId xmlns:p14="http://schemas.microsoft.com/office/powerpoint/2010/main" val="3256915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Header &amp; Content 2">
    <p:spTree>
      <p:nvGrpSpPr>
        <p:cNvPr id="1" name=""/>
        <p:cNvGrpSpPr/>
        <p:nvPr/>
      </p:nvGrpSpPr>
      <p:grpSpPr>
        <a:xfrm>
          <a:off x="0" y="0"/>
          <a:ext cx="0" cy="0"/>
          <a:chOff x="0" y="0"/>
          <a:chExt cx="0" cy="0"/>
        </a:xfrm>
      </p:grpSpPr>
      <p:graphicFrame>
        <p:nvGraphicFramePr>
          <p:cNvPr id="4" name="Objeto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to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66B5AEF2-F43E-4C92-A186-61C1E43CE82B}"/>
              </a:ext>
            </a:extLst>
          </p:cNvPr>
          <p:cNvSpPr>
            <a:spLocks noGrp="1"/>
          </p:cNvSpPr>
          <p:nvPr>
            <p:ph type="title"/>
          </p:nvPr>
        </p:nvSpPr>
        <p:spPr>
          <a:xfrm>
            <a:off x="711024" y="641900"/>
            <a:ext cx="10758733" cy="836992"/>
          </a:xfrm>
        </p:spPr>
        <p:txBody>
          <a:bodyPr vert="horz" anchor="t">
            <a:noAutofit/>
          </a:bodyPr>
          <a:lstStyle>
            <a:lvl1pPr>
              <a:defRPr lang="en-US" sz="2800" b="1" kern="1200" dirty="0">
                <a:solidFill>
                  <a:schemeClr val="accent1"/>
                </a:solidFill>
                <a:latin typeface="+mj-lt"/>
                <a:ea typeface="+mj-ea"/>
                <a:cs typeface="+mj-cs"/>
              </a:defRPr>
            </a:lvl1pPr>
          </a:lstStyle>
          <a:p>
            <a:r>
              <a:rPr lang="en-US"/>
              <a:t>Click to edit Master title style</a:t>
            </a:r>
            <a:endParaRPr lang="es-ES"/>
          </a:p>
        </p:txBody>
      </p:sp>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0"/>
            <a:ext cx="2743200" cy="365125"/>
          </a:xfrm>
        </p:spPr>
        <p:txBody>
          <a:bodyPr/>
          <a:lstStyle>
            <a:lvl1pPr>
              <a:defRPr lang="es-ES" sz="1300" kern="1200" smtClean="0">
                <a:solidFill>
                  <a:schemeClr val="accent1"/>
                </a:solidFill>
                <a:latin typeface="+mn-lt"/>
                <a:ea typeface="+mn-ea"/>
                <a:cs typeface="+mn-cs"/>
              </a:defRPr>
            </a:lvl1pPr>
          </a:lstStyle>
          <a:p>
            <a:fld id="{BC0D97B6-E32F-4D7D-B839-7C3B51F2640F}" type="slidenum">
              <a:rPr>
                <a:solidFill>
                  <a:srgbClr val="EC0000"/>
                </a:solidFill>
              </a:rPr>
              <a:pPr/>
              <a:t>‹Nº›</a:t>
            </a:fld>
            <a:endParaRPr>
              <a:solidFill>
                <a:srgbClr val="EC0000"/>
              </a:solidFill>
            </a:endParaRPr>
          </a:p>
        </p:txBody>
      </p:sp>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chor="b">
            <a:noAutofit/>
          </a:bodyPr>
          <a:lstStyle>
            <a:lvl1pPr marL="0" indent="0">
              <a:buFontTx/>
              <a:buNone/>
              <a:defRPr lang="en-US" sz="1200" b="1" kern="1200" dirty="0">
                <a:solidFill>
                  <a:schemeClr val="tx2"/>
                </a:solidFill>
                <a:latin typeface="+mn-lt"/>
                <a:ea typeface="+mn-ea"/>
                <a:cs typeface="+mn-cs"/>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a:t>Edit Master text styles</a:t>
            </a:r>
          </a:p>
        </p:txBody>
      </p:sp>
      <p:sp>
        <p:nvSpPr>
          <p:cNvPr id="11" name="Freeform 5">
            <a:extLst>
              <a:ext uri="{FF2B5EF4-FFF2-40B4-BE49-F238E27FC236}">
                <a16:creationId xmlns:a16="http://schemas.microsoft.com/office/drawing/2014/main" id="{F122F6D0-7E7D-40E5-A2F8-BC48B7F05A1E}"/>
              </a:ext>
            </a:extLst>
          </p:cNvPr>
          <p:cNvSpPr>
            <a:spLocks noEditPoints="1"/>
          </p:cNvSpPr>
          <p:nvPr userDrawn="1"/>
        </p:nvSpPr>
        <p:spPr bwMode="auto">
          <a:xfrm>
            <a:off x="832642" y="6262326"/>
            <a:ext cx="1171705" cy="206714"/>
          </a:xfrm>
          <a:custGeom>
            <a:avLst/>
            <a:gdLst>
              <a:gd name="T0" fmla="*/ 319 w 3262"/>
              <a:gd name="T1" fmla="*/ 39 h 572"/>
              <a:gd name="T2" fmla="*/ 300 w 3262"/>
              <a:gd name="T3" fmla="*/ 137 h 572"/>
              <a:gd name="T4" fmla="*/ 371 w 3262"/>
              <a:gd name="T5" fmla="*/ 405 h 572"/>
              <a:gd name="T6" fmla="*/ 244 w 3262"/>
              <a:gd name="T7" fmla="*/ 170 h 572"/>
              <a:gd name="T8" fmla="*/ 225 w 3262"/>
              <a:gd name="T9" fmla="*/ 267 h 572"/>
              <a:gd name="T10" fmla="*/ 300 w 3262"/>
              <a:gd name="T11" fmla="*/ 528 h 572"/>
              <a:gd name="T12" fmla="*/ 187 w 3262"/>
              <a:gd name="T13" fmla="*/ 333 h 572"/>
              <a:gd name="T14" fmla="*/ 300 w 3262"/>
              <a:gd name="T15" fmla="*/ 572 h 572"/>
              <a:gd name="T16" fmla="*/ 714 w 3262"/>
              <a:gd name="T17" fmla="*/ 540 h 572"/>
              <a:gd name="T18" fmla="*/ 910 w 3262"/>
              <a:gd name="T19" fmla="*/ 455 h 572"/>
              <a:gd name="T20" fmla="*/ 717 w 3262"/>
              <a:gd name="T21" fmla="*/ 258 h 572"/>
              <a:gd name="T22" fmla="*/ 945 w 3262"/>
              <a:gd name="T23" fmla="*/ 226 h 572"/>
              <a:gd name="T24" fmla="*/ 842 w 3262"/>
              <a:gd name="T25" fmla="*/ 322 h 572"/>
              <a:gd name="T26" fmla="*/ 829 w 3262"/>
              <a:gd name="T27" fmla="*/ 561 h 572"/>
              <a:gd name="T28" fmla="*/ 1277 w 3262"/>
              <a:gd name="T29" fmla="*/ 552 h 572"/>
              <a:gd name="T30" fmla="*/ 1138 w 3262"/>
              <a:gd name="T31" fmla="*/ 559 h 572"/>
              <a:gd name="T32" fmla="*/ 1277 w 3262"/>
              <a:gd name="T33" fmla="*/ 270 h 572"/>
              <a:gd name="T34" fmla="*/ 1171 w 3262"/>
              <a:gd name="T35" fmla="*/ 307 h 572"/>
              <a:gd name="T36" fmla="*/ 1215 w 3262"/>
              <a:gd name="T37" fmla="*/ 488 h 572"/>
              <a:gd name="T38" fmla="*/ 1533 w 3262"/>
              <a:gd name="T39" fmla="*/ 552 h 572"/>
              <a:gd name="T40" fmla="*/ 1407 w 3262"/>
              <a:gd name="T41" fmla="*/ 312 h 572"/>
              <a:gd name="T42" fmla="*/ 1345 w 3262"/>
              <a:gd name="T43" fmla="*/ 270 h 572"/>
              <a:gd name="T44" fmla="*/ 1767 w 3262"/>
              <a:gd name="T45" fmla="*/ 506 h 572"/>
              <a:gd name="T46" fmla="*/ 1756 w 3262"/>
              <a:gd name="T47" fmla="*/ 559 h 572"/>
              <a:gd name="T48" fmla="*/ 1719 w 3262"/>
              <a:gd name="T49" fmla="*/ 157 h 572"/>
              <a:gd name="T50" fmla="*/ 1812 w 3262"/>
              <a:gd name="T51" fmla="*/ 317 h 572"/>
              <a:gd name="T52" fmla="*/ 1767 w 3262"/>
              <a:gd name="T53" fmla="*/ 506 h 572"/>
              <a:gd name="T54" fmla="*/ 2043 w 3262"/>
              <a:gd name="T55" fmla="*/ 552 h 572"/>
              <a:gd name="T56" fmla="*/ 1836 w 3262"/>
              <a:gd name="T57" fmla="*/ 410 h 572"/>
              <a:gd name="T58" fmla="*/ 2038 w 3262"/>
              <a:gd name="T59" fmla="*/ 488 h 572"/>
              <a:gd name="T60" fmla="*/ 1899 w 3262"/>
              <a:gd name="T61" fmla="*/ 410 h 572"/>
              <a:gd name="T62" fmla="*/ 2418 w 3262"/>
              <a:gd name="T63" fmla="*/ 363 h 572"/>
              <a:gd name="T64" fmla="*/ 2356 w 3262"/>
              <a:gd name="T65" fmla="*/ 373 h 572"/>
              <a:gd name="T66" fmla="*/ 2230 w 3262"/>
              <a:gd name="T67" fmla="*/ 552 h 572"/>
              <a:gd name="T68" fmla="*/ 2281 w 3262"/>
              <a:gd name="T69" fmla="*/ 254 h 572"/>
              <a:gd name="T70" fmla="*/ 2733 w 3262"/>
              <a:gd name="T71" fmla="*/ 552 h 572"/>
              <a:gd name="T72" fmla="*/ 2591 w 3262"/>
              <a:gd name="T73" fmla="*/ 559 h 572"/>
              <a:gd name="T74" fmla="*/ 2671 w 3262"/>
              <a:gd name="T75" fmla="*/ 259 h 572"/>
              <a:gd name="T76" fmla="*/ 2671 w 3262"/>
              <a:gd name="T77" fmla="*/ 487 h 572"/>
              <a:gd name="T78" fmla="*/ 2531 w 3262"/>
              <a:gd name="T79" fmla="*/ 410 h 572"/>
              <a:gd name="T80" fmla="*/ 3045 w 3262"/>
              <a:gd name="T81" fmla="*/ 432 h 572"/>
              <a:gd name="T82" fmla="*/ 3038 w 3262"/>
              <a:gd name="T83" fmla="*/ 485 h 572"/>
              <a:gd name="T84" fmla="*/ 2783 w 3262"/>
              <a:gd name="T85" fmla="*/ 405 h 572"/>
              <a:gd name="T86" fmla="*/ 3045 w 3262"/>
              <a:gd name="T87" fmla="*/ 432 h 572"/>
              <a:gd name="T88" fmla="*/ 2918 w 3262"/>
              <a:gd name="T89" fmla="*/ 306 h 572"/>
              <a:gd name="T90" fmla="*/ 3256 w 3262"/>
              <a:gd name="T91" fmla="*/ 310 h 572"/>
              <a:gd name="T92" fmla="*/ 3164 w 3262"/>
              <a:gd name="T93" fmla="*/ 552 h 572"/>
              <a:gd name="T94" fmla="*/ 3208 w 3262"/>
              <a:gd name="T95" fmla="*/ 254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262" h="572">
                <a:moveTo>
                  <a:pt x="430" y="262"/>
                </a:moveTo>
                <a:cubicBezTo>
                  <a:pt x="429" y="241"/>
                  <a:pt x="424" y="221"/>
                  <a:pt x="413" y="202"/>
                </a:cubicBezTo>
                <a:cubicBezTo>
                  <a:pt x="319" y="39"/>
                  <a:pt x="319" y="39"/>
                  <a:pt x="319" y="39"/>
                </a:cubicBezTo>
                <a:cubicBezTo>
                  <a:pt x="312" y="27"/>
                  <a:pt x="307" y="14"/>
                  <a:pt x="304" y="0"/>
                </a:cubicBezTo>
                <a:cubicBezTo>
                  <a:pt x="300" y="7"/>
                  <a:pt x="300" y="7"/>
                  <a:pt x="300" y="7"/>
                </a:cubicBezTo>
                <a:cubicBezTo>
                  <a:pt x="277" y="47"/>
                  <a:pt x="277" y="97"/>
                  <a:pt x="300" y="137"/>
                </a:cubicBezTo>
                <a:cubicBezTo>
                  <a:pt x="375" y="267"/>
                  <a:pt x="375" y="267"/>
                  <a:pt x="375" y="267"/>
                </a:cubicBezTo>
                <a:cubicBezTo>
                  <a:pt x="399" y="308"/>
                  <a:pt x="399" y="357"/>
                  <a:pt x="375" y="398"/>
                </a:cubicBezTo>
                <a:cubicBezTo>
                  <a:pt x="371" y="405"/>
                  <a:pt x="371" y="405"/>
                  <a:pt x="371" y="405"/>
                </a:cubicBezTo>
                <a:cubicBezTo>
                  <a:pt x="369" y="391"/>
                  <a:pt x="364" y="378"/>
                  <a:pt x="356" y="365"/>
                </a:cubicBezTo>
                <a:cubicBezTo>
                  <a:pt x="288" y="246"/>
                  <a:pt x="288" y="246"/>
                  <a:pt x="288" y="246"/>
                </a:cubicBezTo>
                <a:cubicBezTo>
                  <a:pt x="244" y="170"/>
                  <a:pt x="244" y="170"/>
                  <a:pt x="244" y="170"/>
                </a:cubicBezTo>
                <a:cubicBezTo>
                  <a:pt x="236" y="157"/>
                  <a:pt x="232" y="144"/>
                  <a:pt x="229" y="130"/>
                </a:cubicBezTo>
                <a:cubicBezTo>
                  <a:pt x="225" y="137"/>
                  <a:pt x="225" y="137"/>
                  <a:pt x="225" y="137"/>
                </a:cubicBezTo>
                <a:cubicBezTo>
                  <a:pt x="202" y="177"/>
                  <a:pt x="202" y="227"/>
                  <a:pt x="225" y="267"/>
                </a:cubicBezTo>
                <a:cubicBezTo>
                  <a:pt x="225" y="267"/>
                  <a:pt x="225" y="267"/>
                  <a:pt x="225" y="267"/>
                </a:cubicBezTo>
                <a:cubicBezTo>
                  <a:pt x="300" y="398"/>
                  <a:pt x="300" y="398"/>
                  <a:pt x="300" y="398"/>
                </a:cubicBezTo>
                <a:cubicBezTo>
                  <a:pt x="323" y="438"/>
                  <a:pt x="323" y="488"/>
                  <a:pt x="300" y="528"/>
                </a:cubicBezTo>
                <a:cubicBezTo>
                  <a:pt x="296" y="535"/>
                  <a:pt x="296" y="535"/>
                  <a:pt x="296" y="535"/>
                </a:cubicBezTo>
                <a:cubicBezTo>
                  <a:pt x="293" y="521"/>
                  <a:pt x="288" y="508"/>
                  <a:pt x="281" y="495"/>
                </a:cubicBezTo>
                <a:cubicBezTo>
                  <a:pt x="187" y="333"/>
                  <a:pt x="187" y="333"/>
                  <a:pt x="187" y="333"/>
                </a:cubicBezTo>
                <a:cubicBezTo>
                  <a:pt x="175" y="311"/>
                  <a:pt x="169" y="286"/>
                  <a:pt x="170" y="262"/>
                </a:cubicBezTo>
                <a:cubicBezTo>
                  <a:pt x="69" y="288"/>
                  <a:pt x="0" y="344"/>
                  <a:pt x="0" y="409"/>
                </a:cubicBezTo>
                <a:cubicBezTo>
                  <a:pt x="0" y="499"/>
                  <a:pt x="134" y="572"/>
                  <a:pt x="300" y="572"/>
                </a:cubicBezTo>
                <a:cubicBezTo>
                  <a:pt x="466" y="572"/>
                  <a:pt x="600" y="499"/>
                  <a:pt x="600" y="409"/>
                </a:cubicBezTo>
                <a:cubicBezTo>
                  <a:pt x="600" y="344"/>
                  <a:pt x="531" y="288"/>
                  <a:pt x="430" y="262"/>
                </a:cubicBezTo>
                <a:close/>
                <a:moveTo>
                  <a:pt x="714" y="540"/>
                </a:moveTo>
                <a:cubicBezTo>
                  <a:pt x="715" y="517"/>
                  <a:pt x="718" y="501"/>
                  <a:pt x="725" y="483"/>
                </a:cubicBezTo>
                <a:cubicBezTo>
                  <a:pt x="756" y="498"/>
                  <a:pt x="797" y="505"/>
                  <a:pt x="828" y="505"/>
                </a:cubicBezTo>
                <a:cubicBezTo>
                  <a:pt x="880" y="505"/>
                  <a:pt x="910" y="488"/>
                  <a:pt x="910" y="455"/>
                </a:cubicBezTo>
                <a:cubicBezTo>
                  <a:pt x="910" y="422"/>
                  <a:pt x="888" y="407"/>
                  <a:pt x="835" y="384"/>
                </a:cubicBezTo>
                <a:cubicBezTo>
                  <a:pt x="806" y="371"/>
                  <a:pt x="806" y="371"/>
                  <a:pt x="806" y="371"/>
                </a:cubicBezTo>
                <a:cubicBezTo>
                  <a:pt x="753" y="348"/>
                  <a:pt x="717" y="318"/>
                  <a:pt x="717" y="258"/>
                </a:cubicBezTo>
                <a:cubicBezTo>
                  <a:pt x="717" y="194"/>
                  <a:pt x="762" y="153"/>
                  <a:pt x="853" y="153"/>
                </a:cubicBezTo>
                <a:cubicBezTo>
                  <a:pt x="890" y="153"/>
                  <a:pt x="924" y="158"/>
                  <a:pt x="956" y="169"/>
                </a:cubicBezTo>
                <a:cubicBezTo>
                  <a:pt x="955" y="192"/>
                  <a:pt x="951" y="209"/>
                  <a:pt x="945" y="226"/>
                </a:cubicBezTo>
                <a:cubicBezTo>
                  <a:pt x="915" y="214"/>
                  <a:pt x="879" y="209"/>
                  <a:pt x="853" y="209"/>
                </a:cubicBezTo>
                <a:cubicBezTo>
                  <a:pt x="804" y="209"/>
                  <a:pt x="781" y="228"/>
                  <a:pt x="781" y="258"/>
                </a:cubicBezTo>
                <a:cubicBezTo>
                  <a:pt x="781" y="288"/>
                  <a:pt x="803" y="305"/>
                  <a:pt x="842" y="322"/>
                </a:cubicBezTo>
                <a:cubicBezTo>
                  <a:pt x="873" y="335"/>
                  <a:pt x="873" y="335"/>
                  <a:pt x="873" y="335"/>
                </a:cubicBezTo>
                <a:cubicBezTo>
                  <a:pt x="945" y="365"/>
                  <a:pt x="974" y="397"/>
                  <a:pt x="974" y="452"/>
                </a:cubicBezTo>
                <a:cubicBezTo>
                  <a:pt x="974" y="517"/>
                  <a:pt x="925" y="561"/>
                  <a:pt x="829" y="561"/>
                </a:cubicBezTo>
                <a:cubicBezTo>
                  <a:pt x="783" y="561"/>
                  <a:pt x="745" y="555"/>
                  <a:pt x="714" y="540"/>
                </a:cubicBezTo>
                <a:close/>
                <a:moveTo>
                  <a:pt x="1277" y="270"/>
                </a:moveTo>
                <a:cubicBezTo>
                  <a:pt x="1277" y="552"/>
                  <a:pt x="1277" y="552"/>
                  <a:pt x="1277" y="552"/>
                </a:cubicBezTo>
                <a:cubicBezTo>
                  <a:pt x="1220" y="552"/>
                  <a:pt x="1220" y="552"/>
                  <a:pt x="1220" y="552"/>
                </a:cubicBezTo>
                <a:cubicBezTo>
                  <a:pt x="1217" y="518"/>
                  <a:pt x="1217" y="518"/>
                  <a:pt x="1217" y="518"/>
                </a:cubicBezTo>
                <a:cubicBezTo>
                  <a:pt x="1201" y="543"/>
                  <a:pt x="1177" y="559"/>
                  <a:pt x="1138" y="559"/>
                </a:cubicBezTo>
                <a:cubicBezTo>
                  <a:pt x="1063" y="559"/>
                  <a:pt x="1013" y="505"/>
                  <a:pt x="1013" y="410"/>
                </a:cubicBezTo>
                <a:cubicBezTo>
                  <a:pt x="1013" y="311"/>
                  <a:pt x="1066" y="254"/>
                  <a:pt x="1171" y="254"/>
                </a:cubicBezTo>
                <a:cubicBezTo>
                  <a:pt x="1211" y="254"/>
                  <a:pt x="1245" y="259"/>
                  <a:pt x="1277" y="270"/>
                </a:cubicBezTo>
                <a:close/>
                <a:moveTo>
                  <a:pt x="1215" y="488"/>
                </a:moveTo>
                <a:cubicBezTo>
                  <a:pt x="1215" y="311"/>
                  <a:pt x="1215" y="311"/>
                  <a:pt x="1215" y="311"/>
                </a:cubicBezTo>
                <a:cubicBezTo>
                  <a:pt x="1202" y="309"/>
                  <a:pt x="1188" y="307"/>
                  <a:pt x="1171" y="307"/>
                </a:cubicBezTo>
                <a:cubicBezTo>
                  <a:pt x="1107" y="307"/>
                  <a:pt x="1077" y="347"/>
                  <a:pt x="1077" y="410"/>
                </a:cubicBezTo>
                <a:cubicBezTo>
                  <a:pt x="1077" y="468"/>
                  <a:pt x="1100" y="508"/>
                  <a:pt x="1155" y="508"/>
                </a:cubicBezTo>
                <a:cubicBezTo>
                  <a:pt x="1179" y="508"/>
                  <a:pt x="1199" y="500"/>
                  <a:pt x="1215" y="488"/>
                </a:cubicBezTo>
                <a:close/>
                <a:moveTo>
                  <a:pt x="1595" y="363"/>
                </a:moveTo>
                <a:cubicBezTo>
                  <a:pt x="1595" y="552"/>
                  <a:pt x="1595" y="552"/>
                  <a:pt x="1595" y="552"/>
                </a:cubicBezTo>
                <a:cubicBezTo>
                  <a:pt x="1533" y="552"/>
                  <a:pt x="1533" y="552"/>
                  <a:pt x="1533" y="552"/>
                </a:cubicBezTo>
                <a:cubicBezTo>
                  <a:pt x="1533" y="373"/>
                  <a:pt x="1533" y="373"/>
                  <a:pt x="1533" y="373"/>
                </a:cubicBezTo>
                <a:cubicBezTo>
                  <a:pt x="1533" y="329"/>
                  <a:pt x="1518" y="307"/>
                  <a:pt x="1456" y="307"/>
                </a:cubicBezTo>
                <a:cubicBezTo>
                  <a:pt x="1442" y="307"/>
                  <a:pt x="1424" y="309"/>
                  <a:pt x="1407" y="312"/>
                </a:cubicBezTo>
                <a:cubicBezTo>
                  <a:pt x="1407" y="552"/>
                  <a:pt x="1407" y="552"/>
                  <a:pt x="1407" y="552"/>
                </a:cubicBezTo>
                <a:cubicBezTo>
                  <a:pt x="1345" y="552"/>
                  <a:pt x="1345" y="552"/>
                  <a:pt x="1345" y="552"/>
                </a:cubicBezTo>
                <a:cubicBezTo>
                  <a:pt x="1345" y="270"/>
                  <a:pt x="1345" y="270"/>
                  <a:pt x="1345" y="270"/>
                </a:cubicBezTo>
                <a:cubicBezTo>
                  <a:pt x="1385" y="261"/>
                  <a:pt x="1428" y="254"/>
                  <a:pt x="1458" y="254"/>
                </a:cubicBezTo>
                <a:cubicBezTo>
                  <a:pt x="1562" y="254"/>
                  <a:pt x="1595" y="294"/>
                  <a:pt x="1595" y="363"/>
                </a:cubicBezTo>
                <a:close/>
                <a:moveTo>
                  <a:pt x="1767" y="506"/>
                </a:moveTo>
                <a:cubicBezTo>
                  <a:pt x="1785" y="506"/>
                  <a:pt x="1802" y="503"/>
                  <a:pt x="1816" y="498"/>
                </a:cubicBezTo>
                <a:cubicBezTo>
                  <a:pt x="1814" y="515"/>
                  <a:pt x="1812" y="534"/>
                  <a:pt x="1808" y="550"/>
                </a:cubicBezTo>
                <a:cubicBezTo>
                  <a:pt x="1791" y="557"/>
                  <a:pt x="1773" y="559"/>
                  <a:pt x="1756" y="559"/>
                </a:cubicBezTo>
                <a:cubicBezTo>
                  <a:pt x="1696" y="559"/>
                  <a:pt x="1657" y="531"/>
                  <a:pt x="1657" y="463"/>
                </a:cubicBezTo>
                <a:cubicBezTo>
                  <a:pt x="1657" y="166"/>
                  <a:pt x="1657" y="166"/>
                  <a:pt x="1657" y="166"/>
                </a:cubicBezTo>
                <a:cubicBezTo>
                  <a:pt x="1676" y="160"/>
                  <a:pt x="1700" y="157"/>
                  <a:pt x="1719" y="157"/>
                </a:cubicBezTo>
                <a:cubicBezTo>
                  <a:pt x="1719" y="264"/>
                  <a:pt x="1719" y="264"/>
                  <a:pt x="1719" y="264"/>
                </a:cubicBezTo>
                <a:cubicBezTo>
                  <a:pt x="1817" y="264"/>
                  <a:pt x="1817" y="264"/>
                  <a:pt x="1817" y="264"/>
                </a:cubicBezTo>
                <a:cubicBezTo>
                  <a:pt x="1816" y="283"/>
                  <a:pt x="1815" y="301"/>
                  <a:pt x="1812" y="317"/>
                </a:cubicBezTo>
                <a:cubicBezTo>
                  <a:pt x="1719" y="317"/>
                  <a:pt x="1719" y="317"/>
                  <a:pt x="1719" y="317"/>
                </a:cubicBezTo>
                <a:cubicBezTo>
                  <a:pt x="1719" y="455"/>
                  <a:pt x="1719" y="455"/>
                  <a:pt x="1719" y="455"/>
                </a:cubicBezTo>
                <a:cubicBezTo>
                  <a:pt x="1719" y="492"/>
                  <a:pt x="1737" y="506"/>
                  <a:pt x="1767" y="506"/>
                </a:cubicBezTo>
                <a:close/>
                <a:moveTo>
                  <a:pt x="2100" y="270"/>
                </a:moveTo>
                <a:cubicBezTo>
                  <a:pt x="2100" y="552"/>
                  <a:pt x="2100" y="552"/>
                  <a:pt x="2100" y="552"/>
                </a:cubicBezTo>
                <a:cubicBezTo>
                  <a:pt x="2043" y="552"/>
                  <a:pt x="2043" y="552"/>
                  <a:pt x="2043" y="552"/>
                </a:cubicBezTo>
                <a:cubicBezTo>
                  <a:pt x="2040" y="518"/>
                  <a:pt x="2040" y="518"/>
                  <a:pt x="2040" y="518"/>
                </a:cubicBezTo>
                <a:cubicBezTo>
                  <a:pt x="2024" y="543"/>
                  <a:pt x="2000" y="559"/>
                  <a:pt x="1960" y="559"/>
                </a:cubicBezTo>
                <a:cubicBezTo>
                  <a:pt x="1886" y="559"/>
                  <a:pt x="1836" y="505"/>
                  <a:pt x="1836" y="410"/>
                </a:cubicBezTo>
                <a:cubicBezTo>
                  <a:pt x="1836" y="311"/>
                  <a:pt x="1889" y="254"/>
                  <a:pt x="1993" y="254"/>
                </a:cubicBezTo>
                <a:cubicBezTo>
                  <a:pt x="2034" y="254"/>
                  <a:pt x="2067" y="259"/>
                  <a:pt x="2100" y="270"/>
                </a:cubicBezTo>
                <a:close/>
                <a:moveTo>
                  <a:pt x="2038" y="488"/>
                </a:moveTo>
                <a:cubicBezTo>
                  <a:pt x="2038" y="311"/>
                  <a:pt x="2038" y="311"/>
                  <a:pt x="2038" y="311"/>
                </a:cubicBezTo>
                <a:cubicBezTo>
                  <a:pt x="2025" y="309"/>
                  <a:pt x="2011" y="307"/>
                  <a:pt x="1993" y="307"/>
                </a:cubicBezTo>
                <a:cubicBezTo>
                  <a:pt x="1929" y="307"/>
                  <a:pt x="1899" y="347"/>
                  <a:pt x="1899" y="410"/>
                </a:cubicBezTo>
                <a:cubicBezTo>
                  <a:pt x="1899" y="468"/>
                  <a:pt x="1922" y="508"/>
                  <a:pt x="1978" y="508"/>
                </a:cubicBezTo>
                <a:cubicBezTo>
                  <a:pt x="2002" y="508"/>
                  <a:pt x="2022" y="500"/>
                  <a:pt x="2038" y="488"/>
                </a:cubicBezTo>
                <a:close/>
                <a:moveTo>
                  <a:pt x="2418" y="363"/>
                </a:moveTo>
                <a:cubicBezTo>
                  <a:pt x="2418" y="552"/>
                  <a:pt x="2418" y="552"/>
                  <a:pt x="2418" y="552"/>
                </a:cubicBezTo>
                <a:cubicBezTo>
                  <a:pt x="2356" y="552"/>
                  <a:pt x="2356" y="552"/>
                  <a:pt x="2356" y="552"/>
                </a:cubicBezTo>
                <a:cubicBezTo>
                  <a:pt x="2356" y="373"/>
                  <a:pt x="2356" y="373"/>
                  <a:pt x="2356" y="373"/>
                </a:cubicBezTo>
                <a:cubicBezTo>
                  <a:pt x="2356" y="329"/>
                  <a:pt x="2341" y="307"/>
                  <a:pt x="2279" y="307"/>
                </a:cubicBezTo>
                <a:cubicBezTo>
                  <a:pt x="2264" y="307"/>
                  <a:pt x="2247" y="309"/>
                  <a:pt x="2230" y="312"/>
                </a:cubicBezTo>
                <a:cubicBezTo>
                  <a:pt x="2230" y="552"/>
                  <a:pt x="2230" y="552"/>
                  <a:pt x="2230" y="552"/>
                </a:cubicBezTo>
                <a:cubicBezTo>
                  <a:pt x="2168" y="552"/>
                  <a:pt x="2168" y="552"/>
                  <a:pt x="2168" y="552"/>
                </a:cubicBezTo>
                <a:cubicBezTo>
                  <a:pt x="2168" y="270"/>
                  <a:pt x="2168" y="270"/>
                  <a:pt x="2168" y="270"/>
                </a:cubicBezTo>
                <a:cubicBezTo>
                  <a:pt x="2207" y="261"/>
                  <a:pt x="2251" y="254"/>
                  <a:pt x="2281" y="254"/>
                </a:cubicBezTo>
                <a:cubicBezTo>
                  <a:pt x="2384" y="254"/>
                  <a:pt x="2418" y="294"/>
                  <a:pt x="2418" y="363"/>
                </a:cubicBezTo>
                <a:close/>
                <a:moveTo>
                  <a:pt x="2733" y="157"/>
                </a:moveTo>
                <a:cubicBezTo>
                  <a:pt x="2733" y="552"/>
                  <a:pt x="2733" y="552"/>
                  <a:pt x="2733" y="552"/>
                </a:cubicBezTo>
                <a:cubicBezTo>
                  <a:pt x="2676" y="552"/>
                  <a:pt x="2676" y="552"/>
                  <a:pt x="2676" y="552"/>
                </a:cubicBezTo>
                <a:cubicBezTo>
                  <a:pt x="2672" y="516"/>
                  <a:pt x="2672" y="516"/>
                  <a:pt x="2672" y="516"/>
                </a:cubicBezTo>
                <a:cubicBezTo>
                  <a:pt x="2656" y="543"/>
                  <a:pt x="2632" y="559"/>
                  <a:pt x="2591" y="559"/>
                </a:cubicBezTo>
                <a:cubicBezTo>
                  <a:pt x="2517" y="559"/>
                  <a:pt x="2467" y="505"/>
                  <a:pt x="2467" y="410"/>
                </a:cubicBezTo>
                <a:cubicBezTo>
                  <a:pt x="2467" y="311"/>
                  <a:pt x="2520" y="254"/>
                  <a:pt x="2625" y="254"/>
                </a:cubicBezTo>
                <a:cubicBezTo>
                  <a:pt x="2641" y="254"/>
                  <a:pt x="2656" y="256"/>
                  <a:pt x="2671" y="259"/>
                </a:cubicBezTo>
                <a:cubicBezTo>
                  <a:pt x="2671" y="166"/>
                  <a:pt x="2671" y="166"/>
                  <a:pt x="2671" y="166"/>
                </a:cubicBezTo>
                <a:cubicBezTo>
                  <a:pt x="2690" y="159"/>
                  <a:pt x="2712" y="157"/>
                  <a:pt x="2733" y="157"/>
                </a:cubicBezTo>
                <a:close/>
                <a:moveTo>
                  <a:pt x="2671" y="487"/>
                </a:moveTo>
                <a:cubicBezTo>
                  <a:pt x="2671" y="313"/>
                  <a:pt x="2671" y="313"/>
                  <a:pt x="2671" y="313"/>
                </a:cubicBezTo>
                <a:cubicBezTo>
                  <a:pt x="2655" y="310"/>
                  <a:pt x="2638" y="307"/>
                  <a:pt x="2621" y="307"/>
                </a:cubicBezTo>
                <a:cubicBezTo>
                  <a:pt x="2560" y="307"/>
                  <a:pt x="2531" y="346"/>
                  <a:pt x="2531" y="410"/>
                </a:cubicBezTo>
                <a:cubicBezTo>
                  <a:pt x="2531" y="468"/>
                  <a:pt x="2554" y="508"/>
                  <a:pt x="2609" y="508"/>
                </a:cubicBezTo>
                <a:cubicBezTo>
                  <a:pt x="2634" y="508"/>
                  <a:pt x="2654" y="500"/>
                  <a:pt x="2671" y="487"/>
                </a:cubicBezTo>
                <a:close/>
                <a:moveTo>
                  <a:pt x="3045" y="432"/>
                </a:moveTo>
                <a:cubicBezTo>
                  <a:pt x="2847" y="432"/>
                  <a:pt x="2847" y="432"/>
                  <a:pt x="2847" y="432"/>
                </a:cubicBezTo>
                <a:cubicBezTo>
                  <a:pt x="2854" y="482"/>
                  <a:pt x="2884" y="506"/>
                  <a:pt x="2939" y="506"/>
                </a:cubicBezTo>
                <a:cubicBezTo>
                  <a:pt x="2973" y="506"/>
                  <a:pt x="3007" y="499"/>
                  <a:pt x="3038" y="485"/>
                </a:cubicBezTo>
                <a:cubicBezTo>
                  <a:pt x="3036" y="501"/>
                  <a:pt x="3033" y="522"/>
                  <a:pt x="3029" y="541"/>
                </a:cubicBezTo>
                <a:cubicBezTo>
                  <a:pt x="3001" y="554"/>
                  <a:pt x="2971" y="559"/>
                  <a:pt x="2937" y="559"/>
                </a:cubicBezTo>
                <a:cubicBezTo>
                  <a:pt x="2834" y="559"/>
                  <a:pt x="2783" y="502"/>
                  <a:pt x="2783" y="405"/>
                </a:cubicBezTo>
                <a:cubicBezTo>
                  <a:pt x="2783" y="321"/>
                  <a:pt x="2822" y="254"/>
                  <a:pt x="2921" y="254"/>
                </a:cubicBezTo>
                <a:cubicBezTo>
                  <a:pt x="3010" y="254"/>
                  <a:pt x="3048" y="313"/>
                  <a:pt x="3048" y="384"/>
                </a:cubicBezTo>
                <a:cubicBezTo>
                  <a:pt x="3048" y="401"/>
                  <a:pt x="3047" y="415"/>
                  <a:pt x="3045" y="432"/>
                </a:cubicBezTo>
                <a:close/>
                <a:moveTo>
                  <a:pt x="2845" y="380"/>
                </a:moveTo>
                <a:cubicBezTo>
                  <a:pt x="2985" y="380"/>
                  <a:pt x="2985" y="380"/>
                  <a:pt x="2985" y="380"/>
                </a:cubicBezTo>
                <a:cubicBezTo>
                  <a:pt x="2985" y="333"/>
                  <a:pt x="2960" y="306"/>
                  <a:pt x="2918" y="306"/>
                </a:cubicBezTo>
                <a:cubicBezTo>
                  <a:pt x="2874" y="306"/>
                  <a:pt x="2850" y="332"/>
                  <a:pt x="2845" y="380"/>
                </a:cubicBezTo>
                <a:close/>
                <a:moveTo>
                  <a:pt x="3262" y="257"/>
                </a:moveTo>
                <a:cubicBezTo>
                  <a:pt x="3262" y="275"/>
                  <a:pt x="3260" y="298"/>
                  <a:pt x="3256" y="310"/>
                </a:cubicBezTo>
                <a:cubicBezTo>
                  <a:pt x="3241" y="308"/>
                  <a:pt x="3227" y="307"/>
                  <a:pt x="3209" y="307"/>
                </a:cubicBezTo>
                <a:cubicBezTo>
                  <a:pt x="3194" y="307"/>
                  <a:pt x="3179" y="309"/>
                  <a:pt x="3164" y="311"/>
                </a:cubicBezTo>
                <a:cubicBezTo>
                  <a:pt x="3164" y="552"/>
                  <a:pt x="3164" y="552"/>
                  <a:pt x="3164" y="552"/>
                </a:cubicBezTo>
                <a:cubicBezTo>
                  <a:pt x="3102" y="552"/>
                  <a:pt x="3102" y="552"/>
                  <a:pt x="3102" y="552"/>
                </a:cubicBezTo>
                <a:cubicBezTo>
                  <a:pt x="3102" y="270"/>
                  <a:pt x="3102" y="270"/>
                  <a:pt x="3102" y="270"/>
                </a:cubicBezTo>
                <a:cubicBezTo>
                  <a:pt x="3128" y="261"/>
                  <a:pt x="3173" y="254"/>
                  <a:pt x="3208" y="254"/>
                </a:cubicBezTo>
                <a:cubicBezTo>
                  <a:pt x="3227" y="254"/>
                  <a:pt x="3248" y="255"/>
                  <a:pt x="3262" y="257"/>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solidFill>
                <a:prstClr val="black"/>
              </a:solidFill>
            </a:endParaRPr>
          </a:p>
        </p:txBody>
      </p:sp>
      <p:sp>
        <p:nvSpPr>
          <p:cNvPr id="5" name="Marcador de número de diapositiva 5">
            <a:extLst>
              <a:ext uri="{FF2B5EF4-FFF2-40B4-BE49-F238E27FC236}">
                <a16:creationId xmlns:a16="http://schemas.microsoft.com/office/drawing/2014/main" id="{673E5260-A86B-1E90-975D-E5B53B795CDE}"/>
              </a:ext>
            </a:extLst>
          </p:cNvPr>
          <p:cNvSpPr txBox="1">
            <a:spLocks/>
          </p:cNvSpPr>
          <p:nvPr userDrawn="1"/>
        </p:nvSpPr>
        <p:spPr>
          <a:xfrm>
            <a:off x="10272944" y="6338337"/>
            <a:ext cx="2743200" cy="365125"/>
          </a:xfrm>
          <a:prstGeom prst="rect">
            <a:avLst/>
          </a:prstGeom>
        </p:spPr>
        <p:txBody>
          <a:bodyPr/>
          <a:lstStyle>
            <a:defPPr>
              <a:defRPr lang="es-ES"/>
            </a:defPPr>
            <a:lvl1pPr marL="0" algn="l" defTabSz="914400" rtl="0" eaLnBrk="1" latinLnBrk="0" hangingPunct="1">
              <a:defRPr lang="es-ES" sz="1300" kern="1200" smtClean="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C0D97B6-E32F-4D7D-B839-7C3B51F2640F}" type="slidenum">
              <a:rPr lang="es-ES" smtClean="0">
                <a:solidFill>
                  <a:srgbClr val="EC0000"/>
                </a:solidFill>
              </a:rPr>
              <a:pPr/>
              <a:t>‹Nº›</a:t>
            </a:fld>
            <a:endParaRPr lang="es-ES">
              <a:solidFill>
                <a:srgbClr val="EC0000"/>
              </a:solidFill>
            </a:endParaRPr>
          </a:p>
        </p:txBody>
      </p:sp>
    </p:spTree>
    <p:extLst>
      <p:ext uri="{BB962C8B-B14F-4D97-AF65-F5344CB8AC3E}">
        <p14:creationId xmlns:p14="http://schemas.microsoft.com/office/powerpoint/2010/main" val="2196657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Page Photo">
    <p:spTree>
      <p:nvGrpSpPr>
        <p:cNvPr id="1" name=""/>
        <p:cNvGrpSpPr/>
        <p:nvPr/>
      </p:nvGrpSpPr>
      <p:grpSpPr>
        <a:xfrm>
          <a:off x="0" y="0"/>
          <a:ext cx="0" cy="0"/>
          <a:chOff x="0" y="0"/>
          <a:chExt cx="0" cy="0"/>
        </a:xfrm>
      </p:grpSpPr>
      <p:graphicFrame>
        <p:nvGraphicFramePr>
          <p:cNvPr id="5" name="Objeto 4"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5" name="Objeto 4"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Marcador de posición de imagen 12">
            <a:extLst>
              <a:ext uri="{FF2B5EF4-FFF2-40B4-BE49-F238E27FC236}">
                <a16:creationId xmlns:a16="http://schemas.microsoft.com/office/drawing/2014/main" id="{15C5E64B-3225-45C7-B625-CC93DD9A4117}"/>
              </a:ext>
            </a:extLst>
          </p:cNvPr>
          <p:cNvSpPr>
            <a:spLocks noGrp="1"/>
          </p:cNvSpPr>
          <p:nvPr>
            <p:ph type="pic" sz="quarter" idx="13" hasCustomPrompt="1"/>
          </p:nvPr>
        </p:nvSpPr>
        <p:spPr>
          <a:xfrm>
            <a:off x="0" y="1222375"/>
            <a:ext cx="12192000" cy="5635625"/>
          </a:xfrm>
          <a:custGeom>
            <a:avLst/>
            <a:gdLst>
              <a:gd name="connsiteX0" fmla="*/ 6096000 w 12192000"/>
              <a:gd name="connsiteY0" fmla="*/ 0 h 5635625"/>
              <a:gd name="connsiteX1" fmla="*/ 12192000 w 12192000"/>
              <a:gd name="connsiteY1" fmla="*/ 0 h 5635625"/>
              <a:gd name="connsiteX2" fmla="*/ 12192000 w 12192000"/>
              <a:gd name="connsiteY2" fmla="*/ 5635625 h 5635625"/>
              <a:gd name="connsiteX3" fmla="*/ 0 w 12192000"/>
              <a:gd name="connsiteY3" fmla="*/ 5635625 h 5635625"/>
              <a:gd name="connsiteX4" fmla="*/ 0 w 12192000"/>
              <a:gd name="connsiteY4" fmla="*/ 5222492 h 5635625"/>
              <a:gd name="connsiteX5" fmla="*/ 6096000 w 12192000"/>
              <a:gd name="connsiteY5" fmla="*/ 5222492 h 5635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5635625">
                <a:moveTo>
                  <a:pt x="6096000" y="0"/>
                </a:moveTo>
                <a:lnTo>
                  <a:pt x="12192000" y="0"/>
                </a:lnTo>
                <a:lnTo>
                  <a:pt x="12192000" y="5635625"/>
                </a:lnTo>
                <a:lnTo>
                  <a:pt x="0" y="5635625"/>
                </a:lnTo>
                <a:lnTo>
                  <a:pt x="0" y="5222492"/>
                </a:lnTo>
                <a:lnTo>
                  <a:pt x="6096000" y="5222492"/>
                </a:lnTo>
                <a:close/>
              </a:path>
            </a:pathLst>
          </a:custGeom>
        </p:spPr>
        <p:txBody>
          <a:bodyPr wrap="square">
            <a:noAutofit/>
          </a:bodyPr>
          <a:lstStyle>
            <a:lvl1pPr marL="0" indent="0" algn="r">
              <a:buFontTx/>
              <a:buNone/>
              <a:defRPr sz="1800">
                <a:solidFill>
                  <a:schemeClr val="tx2"/>
                </a:solidFill>
                <a:latin typeface="+mn-lt"/>
                <a:ea typeface="+mn-ea"/>
                <a:cs typeface="+mn-cs"/>
              </a:defRPr>
            </a:lvl1pPr>
          </a:lstStyle>
          <a:p>
            <a:r>
              <a:rPr lang="es-ES" err="1"/>
              <a:t>Insert</a:t>
            </a:r>
            <a:r>
              <a:rPr lang="es-ES"/>
              <a:t> </a:t>
            </a:r>
            <a:r>
              <a:rPr lang="es-ES" err="1"/>
              <a:t>image</a:t>
            </a:r>
            <a:r>
              <a:rPr lang="es-ES"/>
              <a:t> </a:t>
            </a:r>
            <a:r>
              <a:rPr lang="es-ES" err="1"/>
              <a:t>here</a:t>
            </a:r>
            <a:endParaRPr lang="es-ES"/>
          </a:p>
        </p:txBody>
      </p:sp>
      <p:sp>
        <p:nvSpPr>
          <p:cNvPr id="2" name="Título 1">
            <a:extLst>
              <a:ext uri="{FF2B5EF4-FFF2-40B4-BE49-F238E27FC236}">
                <a16:creationId xmlns:a16="http://schemas.microsoft.com/office/drawing/2014/main" id="{92F305A9-DE4B-49AF-BCD4-43A65F7EB523}"/>
              </a:ext>
            </a:extLst>
          </p:cNvPr>
          <p:cNvSpPr>
            <a:spLocks noGrp="1"/>
          </p:cNvSpPr>
          <p:nvPr>
            <p:ph type="ctrTitle"/>
          </p:nvPr>
        </p:nvSpPr>
        <p:spPr>
          <a:xfrm>
            <a:off x="721745" y="1096485"/>
            <a:ext cx="4937184" cy="1407004"/>
          </a:xfrm>
        </p:spPr>
        <p:txBody>
          <a:bodyPr vert="horz" anchor="t">
            <a:normAutofit/>
          </a:bodyPr>
          <a:lstStyle>
            <a:lvl1pPr algn="l">
              <a:lnSpc>
                <a:spcPct val="90000"/>
              </a:lnSpc>
              <a:defRPr lang="es-ES" sz="5000" kern="1200" dirty="0">
                <a:solidFill>
                  <a:schemeClr val="accent1"/>
                </a:solidFill>
                <a:latin typeface="+mj-lt"/>
                <a:ea typeface="+mj-ea"/>
                <a:cs typeface="+mj-cs"/>
              </a:defRPr>
            </a:lvl1pPr>
          </a:lstStyle>
          <a:p>
            <a:r>
              <a:rPr lang="en-GB" noProof="0"/>
              <a:t>Click to edit Master title style</a:t>
            </a:r>
          </a:p>
        </p:txBody>
      </p:sp>
      <p:sp>
        <p:nvSpPr>
          <p:cNvPr id="3" name="Subtítulo 2">
            <a:extLst>
              <a:ext uri="{FF2B5EF4-FFF2-40B4-BE49-F238E27FC236}">
                <a16:creationId xmlns:a16="http://schemas.microsoft.com/office/drawing/2014/main" id="{7AB17398-CAA7-49B6-868C-44D053E7EAC0}"/>
              </a:ext>
            </a:extLst>
          </p:cNvPr>
          <p:cNvSpPr>
            <a:spLocks noGrp="1"/>
          </p:cNvSpPr>
          <p:nvPr>
            <p:ph type="subTitle" idx="1"/>
          </p:nvPr>
        </p:nvSpPr>
        <p:spPr>
          <a:xfrm>
            <a:off x="724620" y="2722142"/>
            <a:ext cx="4934309" cy="2436454"/>
          </a:xfrm>
        </p:spPr>
        <p:txBody>
          <a:bodyPr>
            <a:noAutofit/>
          </a:bodyPr>
          <a:lstStyle>
            <a:lvl1pPr marL="0" indent="0" algn="l">
              <a:lnSpc>
                <a:spcPct val="100000"/>
              </a:lnSpc>
              <a:spcBef>
                <a:spcPts val="0"/>
              </a:spcBef>
              <a:spcAft>
                <a:spcPts val="1200"/>
              </a:spcAft>
              <a:buNone/>
              <a:defRPr sz="1600">
                <a:solidFill>
                  <a:schemeClr val="tx2"/>
                </a:solidFill>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a:t>Click to edit Master subtitle style</a:t>
            </a:r>
          </a:p>
        </p:txBody>
      </p:sp>
      <p:sp>
        <p:nvSpPr>
          <p:cNvPr id="17" name="Marcador de texto 16">
            <a:extLst>
              <a:ext uri="{FF2B5EF4-FFF2-40B4-BE49-F238E27FC236}">
                <a16:creationId xmlns:a16="http://schemas.microsoft.com/office/drawing/2014/main" id="{F5E5F18D-70E6-495C-A384-2EDAE0030937}"/>
              </a:ext>
            </a:extLst>
          </p:cNvPr>
          <p:cNvSpPr>
            <a:spLocks noGrp="1"/>
          </p:cNvSpPr>
          <p:nvPr>
            <p:ph type="body" sz="quarter" idx="14"/>
          </p:nvPr>
        </p:nvSpPr>
        <p:spPr>
          <a:xfrm>
            <a:off x="709650" y="333651"/>
            <a:ext cx="11177550" cy="419100"/>
          </a:xfrm>
        </p:spPr>
        <p:txBody>
          <a:bodyPr>
            <a:noAutofit/>
          </a:bodyPr>
          <a:lstStyle>
            <a:lvl1pPr marL="0" indent="0">
              <a:buNone/>
              <a:defRPr lang="en-US" sz="1300" kern="1200" dirty="0">
                <a:solidFill>
                  <a:schemeClr val="tx2"/>
                </a:solidFill>
                <a:latin typeface="+mn-lt"/>
                <a:ea typeface="+mn-ea"/>
                <a:cs typeface="+mn-cs"/>
              </a:defRPr>
            </a:lvl1pPr>
            <a:lvl2pPr marL="457200" indent="0">
              <a:buNone/>
              <a:defRPr sz="1300">
                <a:solidFill>
                  <a:schemeClr val="tx2"/>
                </a:solidFill>
              </a:defRPr>
            </a:lvl2pPr>
            <a:lvl3pPr marL="914400" indent="0">
              <a:buNone/>
              <a:defRPr sz="1300">
                <a:solidFill>
                  <a:schemeClr val="tx2"/>
                </a:solidFill>
              </a:defRPr>
            </a:lvl3pPr>
            <a:lvl4pPr marL="1371600" indent="0">
              <a:buNone/>
              <a:defRPr sz="1300">
                <a:solidFill>
                  <a:schemeClr val="tx2"/>
                </a:solidFill>
              </a:defRPr>
            </a:lvl4pPr>
            <a:lvl5pPr marL="1828800" indent="0">
              <a:buNone/>
              <a:defRPr sz="1300">
                <a:solidFill>
                  <a:schemeClr val="tx2"/>
                </a:solidFill>
              </a:defRPr>
            </a:lvl5pPr>
          </a:lstStyle>
          <a:p>
            <a:pPr lvl="0"/>
            <a:r>
              <a:rPr lang="en-US"/>
              <a:t>Edit Master text styles</a:t>
            </a:r>
          </a:p>
        </p:txBody>
      </p:sp>
      <p:sp>
        <p:nvSpPr>
          <p:cNvPr id="8" name="Freeform 5">
            <a:extLst>
              <a:ext uri="{FF2B5EF4-FFF2-40B4-BE49-F238E27FC236}">
                <a16:creationId xmlns:a16="http://schemas.microsoft.com/office/drawing/2014/main" id="{E6636617-48F3-4C2A-8B51-4AF0FDDE92C4}"/>
              </a:ext>
            </a:extLst>
          </p:cNvPr>
          <p:cNvSpPr>
            <a:spLocks noEditPoints="1"/>
          </p:cNvSpPr>
          <p:nvPr userDrawn="1"/>
        </p:nvSpPr>
        <p:spPr bwMode="auto">
          <a:xfrm>
            <a:off x="822325" y="5727700"/>
            <a:ext cx="1898650" cy="334963"/>
          </a:xfrm>
          <a:custGeom>
            <a:avLst/>
            <a:gdLst>
              <a:gd name="T0" fmla="*/ 319 w 3262"/>
              <a:gd name="T1" fmla="*/ 39 h 572"/>
              <a:gd name="T2" fmla="*/ 300 w 3262"/>
              <a:gd name="T3" fmla="*/ 137 h 572"/>
              <a:gd name="T4" fmla="*/ 371 w 3262"/>
              <a:gd name="T5" fmla="*/ 405 h 572"/>
              <a:gd name="T6" fmla="*/ 244 w 3262"/>
              <a:gd name="T7" fmla="*/ 170 h 572"/>
              <a:gd name="T8" fmla="*/ 225 w 3262"/>
              <a:gd name="T9" fmla="*/ 267 h 572"/>
              <a:gd name="T10" fmla="*/ 300 w 3262"/>
              <a:gd name="T11" fmla="*/ 528 h 572"/>
              <a:gd name="T12" fmla="*/ 187 w 3262"/>
              <a:gd name="T13" fmla="*/ 333 h 572"/>
              <a:gd name="T14" fmla="*/ 300 w 3262"/>
              <a:gd name="T15" fmla="*/ 572 h 572"/>
              <a:gd name="T16" fmla="*/ 714 w 3262"/>
              <a:gd name="T17" fmla="*/ 540 h 572"/>
              <a:gd name="T18" fmla="*/ 910 w 3262"/>
              <a:gd name="T19" fmla="*/ 455 h 572"/>
              <a:gd name="T20" fmla="*/ 717 w 3262"/>
              <a:gd name="T21" fmla="*/ 258 h 572"/>
              <a:gd name="T22" fmla="*/ 945 w 3262"/>
              <a:gd name="T23" fmla="*/ 226 h 572"/>
              <a:gd name="T24" fmla="*/ 842 w 3262"/>
              <a:gd name="T25" fmla="*/ 322 h 572"/>
              <a:gd name="T26" fmla="*/ 829 w 3262"/>
              <a:gd name="T27" fmla="*/ 561 h 572"/>
              <a:gd name="T28" fmla="*/ 1277 w 3262"/>
              <a:gd name="T29" fmla="*/ 552 h 572"/>
              <a:gd name="T30" fmla="*/ 1138 w 3262"/>
              <a:gd name="T31" fmla="*/ 559 h 572"/>
              <a:gd name="T32" fmla="*/ 1277 w 3262"/>
              <a:gd name="T33" fmla="*/ 270 h 572"/>
              <a:gd name="T34" fmla="*/ 1171 w 3262"/>
              <a:gd name="T35" fmla="*/ 307 h 572"/>
              <a:gd name="T36" fmla="*/ 1215 w 3262"/>
              <a:gd name="T37" fmla="*/ 488 h 572"/>
              <a:gd name="T38" fmla="*/ 1533 w 3262"/>
              <a:gd name="T39" fmla="*/ 552 h 572"/>
              <a:gd name="T40" fmla="*/ 1407 w 3262"/>
              <a:gd name="T41" fmla="*/ 312 h 572"/>
              <a:gd name="T42" fmla="*/ 1345 w 3262"/>
              <a:gd name="T43" fmla="*/ 270 h 572"/>
              <a:gd name="T44" fmla="*/ 1767 w 3262"/>
              <a:gd name="T45" fmla="*/ 506 h 572"/>
              <a:gd name="T46" fmla="*/ 1756 w 3262"/>
              <a:gd name="T47" fmla="*/ 559 h 572"/>
              <a:gd name="T48" fmla="*/ 1719 w 3262"/>
              <a:gd name="T49" fmla="*/ 157 h 572"/>
              <a:gd name="T50" fmla="*/ 1812 w 3262"/>
              <a:gd name="T51" fmla="*/ 317 h 572"/>
              <a:gd name="T52" fmla="*/ 1767 w 3262"/>
              <a:gd name="T53" fmla="*/ 506 h 572"/>
              <a:gd name="T54" fmla="*/ 2043 w 3262"/>
              <a:gd name="T55" fmla="*/ 552 h 572"/>
              <a:gd name="T56" fmla="*/ 1836 w 3262"/>
              <a:gd name="T57" fmla="*/ 410 h 572"/>
              <a:gd name="T58" fmla="*/ 2038 w 3262"/>
              <a:gd name="T59" fmla="*/ 488 h 572"/>
              <a:gd name="T60" fmla="*/ 1899 w 3262"/>
              <a:gd name="T61" fmla="*/ 410 h 572"/>
              <a:gd name="T62" fmla="*/ 2418 w 3262"/>
              <a:gd name="T63" fmla="*/ 363 h 572"/>
              <a:gd name="T64" fmla="*/ 2356 w 3262"/>
              <a:gd name="T65" fmla="*/ 373 h 572"/>
              <a:gd name="T66" fmla="*/ 2230 w 3262"/>
              <a:gd name="T67" fmla="*/ 552 h 572"/>
              <a:gd name="T68" fmla="*/ 2281 w 3262"/>
              <a:gd name="T69" fmla="*/ 254 h 572"/>
              <a:gd name="T70" fmla="*/ 2733 w 3262"/>
              <a:gd name="T71" fmla="*/ 552 h 572"/>
              <a:gd name="T72" fmla="*/ 2591 w 3262"/>
              <a:gd name="T73" fmla="*/ 559 h 572"/>
              <a:gd name="T74" fmla="*/ 2671 w 3262"/>
              <a:gd name="T75" fmla="*/ 259 h 572"/>
              <a:gd name="T76" fmla="*/ 2671 w 3262"/>
              <a:gd name="T77" fmla="*/ 487 h 572"/>
              <a:gd name="T78" fmla="*/ 2531 w 3262"/>
              <a:gd name="T79" fmla="*/ 410 h 572"/>
              <a:gd name="T80" fmla="*/ 3045 w 3262"/>
              <a:gd name="T81" fmla="*/ 432 h 572"/>
              <a:gd name="T82" fmla="*/ 3038 w 3262"/>
              <a:gd name="T83" fmla="*/ 485 h 572"/>
              <a:gd name="T84" fmla="*/ 2783 w 3262"/>
              <a:gd name="T85" fmla="*/ 405 h 572"/>
              <a:gd name="T86" fmla="*/ 3045 w 3262"/>
              <a:gd name="T87" fmla="*/ 432 h 572"/>
              <a:gd name="T88" fmla="*/ 2918 w 3262"/>
              <a:gd name="T89" fmla="*/ 306 h 572"/>
              <a:gd name="T90" fmla="*/ 3256 w 3262"/>
              <a:gd name="T91" fmla="*/ 310 h 572"/>
              <a:gd name="T92" fmla="*/ 3164 w 3262"/>
              <a:gd name="T93" fmla="*/ 552 h 572"/>
              <a:gd name="T94" fmla="*/ 3208 w 3262"/>
              <a:gd name="T95" fmla="*/ 254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262" h="572">
                <a:moveTo>
                  <a:pt x="430" y="262"/>
                </a:moveTo>
                <a:cubicBezTo>
                  <a:pt x="429" y="241"/>
                  <a:pt x="424" y="221"/>
                  <a:pt x="413" y="202"/>
                </a:cubicBezTo>
                <a:cubicBezTo>
                  <a:pt x="319" y="39"/>
                  <a:pt x="319" y="39"/>
                  <a:pt x="319" y="39"/>
                </a:cubicBezTo>
                <a:cubicBezTo>
                  <a:pt x="312" y="27"/>
                  <a:pt x="307" y="14"/>
                  <a:pt x="304" y="0"/>
                </a:cubicBezTo>
                <a:cubicBezTo>
                  <a:pt x="300" y="7"/>
                  <a:pt x="300" y="7"/>
                  <a:pt x="300" y="7"/>
                </a:cubicBezTo>
                <a:cubicBezTo>
                  <a:pt x="277" y="47"/>
                  <a:pt x="277" y="97"/>
                  <a:pt x="300" y="137"/>
                </a:cubicBezTo>
                <a:cubicBezTo>
                  <a:pt x="375" y="267"/>
                  <a:pt x="375" y="267"/>
                  <a:pt x="375" y="267"/>
                </a:cubicBezTo>
                <a:cubicBezTo>
                  <a:pt x="399" y="308"/>
                  <a:pt x="399" y="357"/>
                  <a:pt x="375" y="398"/>
                </a:cubicBezTo>
                <a:cubicBezTo>
                  <a:pt x="371" y="405"/>
                  <a:pt x="371" y="405"/>
                  <a:pt x="371" y="405"/>
                </a:cubicBezTo>
                <a:cubicBezTo>
                  <a:pt x="369" y="391"/>
                  <a:pt x="364" y="378"/>
                  <a:pt x="356" y="365"/>
                </a:cubicBezTo>
                <a:cubicBezTo>
                  <a:pt x="288" y="246"/>
                  <a:pt x="288" y="246"/>
                  <a:pt x="288" y="246"/>
                </a:cubicBezTo>
                <a:cubicBezTo>
                  <a:pt x="244" y="170"/>
                  <a:pt x="244" y="170"/>
                  <a:pt x="244" y="170"/>
                </a:cubicBezTo>
                <a:cubicBezTo>
                  <a:pt x="236" y="157"/>
                  <a:pt x="232" y="144"/>
                  <a:pt x="229" y="130"/>
                </a:cubicBezTo>
                <a:cubicBezTo>
                  <a:pt x="225" y="137"/>
                  <a:pt x="225" y="137"/>
                  <a:pt x="225" y="137"/>
                </a:cubicBezTo>
                <a:cubicBezTo>
                  <a:pt x="202" y="177"/>
                  <a:pt x="202" y="227"/>
                  <a:pt x="225" y="267"/>
                </a:cubicBezTo>
                <a:cubicBezTo>
                  <a:pt x="225" y="267"/>
                  <a:pt x="225" y="267"/>
                  <a:pt x="225" y="267"/>
                </a:cubicBezTo>
                <a:cubicBezTo>
                  <a:pt x="300" y="398"/>
                  <a:pt x="300" y="398"/>
                  <a:pt x="300" y="398"/>
                </a:cubicBezTo>
                <a:cubicBezTo>
                  <a:pt x="323" y="438"/>
                  <a:pt x="323" y="488"/>
                  <a:pt x="300" y="528"/>
                </a:cubicBezTo>
                <a:cubicBezTo>
                  <a:pt x="296" y="535"/>
                  <a:pt x="296" y="535"/>
                  <a:pt x="296" y="535"/>
                </a:cubicBezTo>
                <a:cubicBezTo>
                  <a:pt x="293" y="521"/>
                  <a:pt x="288" y="508"/>
                  <a:pt x="281" y="495"/>
                </a:cubicBezTo>
                <a:cubicBezTo>
                  <a:pt x="187" y="333"/>
                  <a:pt x="187" y="333"/>
                  <a:pt x="187" y="333"/>
                </a:cubicBezTo>
                <a:cubicBezTo>
                  <a:pt x="175" y="311"/>
                  <a:pt x="169" y="286"/>
                  <a:pt x="170" y="262"/>
                </a:cubicBezTo>
                <a:cubicBezTo>
                  <a:pt x="69" y="288"/>
                  <a:pt x="0" y="344"/>
                  <a:pt x="0" y="409"/>
                </a:cubicBezTo>
                <a:cubicBezTo>
                  <a:pt x="0" y="499"/>
                  <a:pt x="134" y="572"/>
                  <a:pt x="300" y="572"/>
                </a:cubicBezTo>
                <a:cubicBezTo>
                  <a:pt x="466" y="572"/>
                  <a:pt x="600" y="499"/>
                  <a:pt x="600" y="409"/>
                </a:cubicBezTo>
                <a:cubicBezTo>
                  <a:pt x="600" y="344"/>
                  <a:pt x="531" y="288"/>
                  <a:pt x="430" y="262"/>
                </a:cubicBezTo>
                <a:close/>
                <a:moveTo>
                  <a:pt x="714" y="540"/>
                </a:moveTo>
                <a:cubicBezTo>
                  <a:pt x="715" y="517"/>
                  <a:pt x="718" y="501"/>
                  <a:pt x="725" y="483"/>
                </a:cubicBezTo>
                <a:cubicBezTo>
                  <a:pt x="756" y="498"/>
                  <a:pt x="797" y="505"/>
                  <a:pt x="828" y="505"/>
                </a:cubicBezTo>
                <a:cubicBezTo>
                  <a:pt x="880" y="505"/>
                  <a:pt x="910" y="488"/>
                  <a:pt x="910" y="455"/>
                </a:cubicBezTo>
                <a:cubicBezTo>
                  <a:pt x="910" y="422"/>
                  <a:pt x="888" y="407"/>
                  <a:pt x="835" y="384"/>
                </a:cubicBezTo>
                <a:cubicBezTo>
                  <a:pt x="806" y="371"/>
                  <a:pt x="806" y="371"/>
                  <a:pt x="806" y="371"/>
                </a:cubicBezTo>
                <a:cubicBezTo>
                  <a:pt x="753" y="348"/>
                  <a:pt x="717" y="318"/>
                  <a:pt x="717" y="258"/>
                </a:cubicBezTo>
                <a:cubicBezTo>
                  <a:pt x="717" y="194"/>
                  <a:pt x="762" y="153"/>
                  <a:pt x="853" y="153"/>
                </a:cubicBezTo>
                <a:cubicBezTo>
                  <a:pt x="890" y="153"/>
                  <a:pt x="924" y="158"/>
                  <a:pt x="956" y="169"/>
                </a:cubicBezTo>
                <a:cubicBezTo>
                  <a:pt x="955" y="192"/>
                  <a:pt x="951" y="209"/>
                  <a:pt x="945" y="226"/>
                </a:cubicBezTo>
                <a:cubicBezTo>
                  <a:pt x="915" y="214"/>
                  <a:pt x="879" y="209"/>
                  <a:pt x="853" y="209"/>
                </a:cubicBezTo>
                <a:cubicBezTo>
                  <a:pt x="804" y="209"/>
                  <a:pt x="781" y="228"/>
                  <a:pt x="781" y="258"/>
                </a:cubicBezTo>
                <a:cubicBezTo>
                  <a:pt x="781" y="288"/>
                  <a:pt x="803" y="305"/>
                  <a:pt x="842" y="322"/>
                </a:cubicBezTo>
                <a:cubicBezTo>
                  <a:pt x="873" y="335"/>
                  <a:pt x="873" y="335"/>
                  <a:pt x="873" y="335"/>
                </a:cubicBezTo>
                <a:cubicBezTo>
                  <a:pt x="945" y="365"/>
                  <a:pt x="974" y="397"/>
                  <a:pt x="974" y="452"/>
                </a:cubicBezTo>
                <a:cubicBezTo>
                  <a:pt x="974" y="517"/>
                  <a:pt x="925" y="561"/>
                  <a:pt x="829" y="561"/>
                </a:cubicBezTo>
                <a:cubicBezTo>
                  <a:pt x="783" y="561"/>
                  <a:pt x="745" y="555"/>
                  <a:pt x="714" y="540"/>
                </a:cubicBezTo>
                <a:close/>
                <a:moveTo>
                  <a:pt x="1277" y="270"/>
                </a:moveTo>
                <a:cubicBezTo>
                  <a:pt x="1277" y="552"/>
                  <a:pt x="1277" y="552"/>
                  <a:pt x="1277" y="552"/>
                </a:cubicBezTo>
                <a:cubicBezTo>
                  <a:pt x="1220" y="552"/>
                  <a:pt x="1220" y="552"/>
                  <a:pt x="1220" y="552"/>
                </a:cubicBezTo>
                <a:cubicBezTo>
                  <a:pt x="1217" y="518"/>
                  <a:pt x="1217" y="518"/>
                  <a:pt x="1217" y="518"/>
                </a:cubicBezTo>
                <a:cubicBezTo>
                  <a:pt x="1201" y="543"/>
                  <a:pt x="1177" y="559"/>
                  <a:pt x="1138" y="559"/>
                </a:cubicBezTo>
                <a:cubicBezTo>
                  <a:pt x="1063" y="559"/>
                  <a:pt x="1013" y="505"/>
                  <a:pt x="1013" y="410"/>
                </a:cubicBezTo>
                <a:cubicBezTo>
                  <a:pt x="1013" y="311"/>
                  <a:pt x="1066" y="254"/>
                  <a:pt x="1171" y="254"/>
                </a:cubicBezTo>
                <a:cubicBezTo>
                  <a:pt x="1211" y="254"/>
                  <a:pt x="1245" y="259"/>
                  <a:pt x="1277" y="270"/>
                </a:cubicBezTo>
                <a:close/>
                <a:moveTo>
                  <a:pt x="1215" y="488"/>
                </a:moveTo>
                <a:cubicBezTo>
                  <a:pt x="1215" y="311"/>
                  <a:pt x="1215" y="311"/>
                  <a:pt x="1215" y="311"/>
                </a:cubicBezTo>
                <a:cubicBezTo>
                  <a:pt x="1202" y="309"/>
                  <a:pt x="1188" y="307"/>
                  <a:pt x="1171" y="307"/>
                </a:cubicBezTo>
                <a:cubicBezTo>
                  <a:pt x="1107" y="307"/>
                  <a:pt x="1077" y="347"/>
                  <a:pt x="1077" y="410"/>
                </a:cubicBezTo>
                <a:cubicBezTo>
                  <a:pt x="1077" y="468"/>
                  <a:pt x="1100" y="508"/>
                  <a:pt x="1155" y="508"/>
                </a:cubicBezTo>
                <a:cubicBezTo>
                  <a:pt x="1179" y="508"/>
                  <a:pt x="1199" y="500"/>
                  <a:pt x="1215" y="488"/>
                </a:cubicBezTo>
                <a:close/>
                <a:moveTo>
                  <a:pt x="1595" y="363"/>
                </a:moveTo>
                <a:cubicBezTo>
                  <a:pt x="1595" y="552"/>
                  <a:pt x="1595" y="552"/>
                  <a:pt x="1595" y="552"/>
                </a:cubicBezTo>
                <a:cubicBezTo>
                  <a:pt x="1533" y="552"/>
                  <a:pt x="1533" y="552"/>
                  <a:pt x="1533" y="552"/>
                </a:cubicBezTo>
                <a:cubicBezTo>
                  <a:pt x="1533" y="373"/>
                  <a:pt x="1533" y="373"/>
                  <a:pt x="1533" y="373"/>
                </a:cubicBezTo>
                <a:cubicBezTo>
                  <a:pt x="1533" y="329"/>
                  <a:pt x="1518" y="307"/>
                  <a:pt x="1456" y="307"/>
                </a:cubicBezTo>
                <a:cubicBezTo>
                  <a:pt x="1442" y="307"/>
                  <a:pt x="1424" y="309"/>
                  <a:pt x="1407" y="312"/>
                </a:cubicBezTo>
                <a:cubicBezTo>
                  <a:pt x="1407" y="552"/>
                  <a:pt x="1407" y="552"/>
                  <a:pt x="1407" y="552"/>
                </a:cubicBezTo>
                <a:cubicBezTo>
                  <a:pt x="1345" y="552"/>
                  <a:pt x="1345" y="552"/>
                  <a:pt x="1345" y="552"/>
                </a:cubicBezTo>
                <a:cubicBezTo>
                  <a:pt x="1345" y="270"/>
                  <a:pt x="1345" y="270"/>
                  <a:pt x="1345" y="270"/>
                </a:cubicBezTo>
                <a:cubicBezTo>
                  <a:pt x="1385" y="261"/>
                  <a:pt x="1428" y="254"/>
                  <a:pt x="1458" y="254"/>
                </a:cubicBezTo>
                <a:cubicBezTo>
                  <a:pt x="1562" y="254"/>
                  <a:pt x="1595" y="294"/>
                  <a:pt x="1595" y="363"/>
                </a:cubicBezTo>
                <a:close/>
                <a:moveTo>
                  <a:pt x="1767" y="506"/>
                </a:moveTo>
                <a:cubicBezTo>
                  <a:pt x="1785" y="506"/>
                  <a:pt x="1802" y="503"/>
                  <a:pt x="1816" y="498"/>
                </a:cubicBezTo>
                <a:cubicBezTo>
                  <a:pt x="1814" y="515"/>
                  <a:pt x="1812" y="534"/>
                  <a:pt x="1808" y="550"/>
                </a:cubicBezTo>
                <a:cubicBezTo>
                  <a:pt x="1791" y="557"/>
                  <a:pt x="1773" y="559"/>
                  <a:pt x="1756" y="559"/>
                </a:cubicBezTo>
                <a:cubicBezTo>
                  <a:pt x="1696" y="559"/>
                  <a:pt x="1657" y="531"/>
                  <a:pt x="1657" y="463"/>
                </a:cubicBezTo>
                <a:cubicBezTo>
                  <a:pt x="1657" y="166"/>
                  <a:pt x="1657" y="166"/>
                  <a:pt x="1657" y="166"/>
                </a:cubicBezTo>
                <a:cubicBezTo>
                  <a:pt x="1676" y="160"/>
                  <a:pt x="1700" y="157"/>
                  <a:pt x="1719" y="157"/>
                </a:cubicBezTo>
                <a:cubicBezTo>
                  <a:pt x="1719" y="264"/>
                  <a:pt x="1719" y="264"/>
                  <a:pt x="1719" y="264"/>
                </a:cubicBezTo>
                <a:cubicBezTo>
                  <a:pt x="1817" y="264"/>
                  <a:pt x="1817" y="264"/>
                  <a:pt x="1817" y="264"/>
                </a:cubicBezTo>
                <a:cubicBezTo>
                  <a:pt x="1816" y="283"/>
                  <a:pt x="1815" y="301"/>
                  <a:pt x="1812" y="317"/>
                </a:cubicBezTo>
                <a:cubicBezTo>
                  <a:pt x="1719" y="317"/>
                  <a:pt x="1719" y="317"/>
                  <a:pt x="1719" y="317"/>
                </a:cubicBezTo>
                <a:cubicBezTo>
                  <a:pt x="1719" y="455"/>
                  <a:pt x="1719" y="455"/>
                  <a:pt x="1719" y="455"/>
                </a:cubicBezTo>
                <a:cubicBezTo>
                  <a:pt x="1719" y="492"/>
                  <a:pt x="1737" y="506"/>
                  <a:pt x="1767" y="506"/>
                </a:cubicBezTo>
                <a:close/>
                <a:moveTo>
                  <a:pt x="2100" y="270"/>
                </a:moveTo>
                <a:cubicBezTo>
                  <a:pt x="2100" y="552"/>
                  <a:pt x="2100" y="552"/>
                  <a:pt x="2100" y="552"/>
                </a:cubicBezTo>
                <a:cubicBezTo>
                  <a:pt x="2043" y="552"/>
                  <a:pt x="2043" y="552"/>
                  <a:pt x="2043" y="552"/>
                </a:cubicBezTo>
                <a:cubicBezTo>
                  <a:pt x="2040" y="518"/>
                  <a:pt x="2040" y="518"/>
                  <a:pt x="2040" y="518"/>
                </a:cubicBezTo>
                <a:cubicBezTo>
                  <a:pt x="2024" y="543"/>
                  <a:pt x="2000" y="559"/>
                  <a:pt x="1960" y="559"/>
                </a:cubicBezTo>
                <a:cubicBezTo>
                  <a:pt x="1886" y="559"/>
                  <a:pt x="1836" y="505"/>
                  <a:pt x="1836" y="410"/>
                </a:cubicBezTo>
                <a:cubicBezTo>
                  <a:pt x="1836" y="311"/>
                  <a:pt x="1889" y="254"/>
                  <a:pt x="1993" y="254"/>
                </a:cubicBezTo>
                <a:cubicBezTo>
                  <a:pt x="2034" y="254"/>
                  <a:pt x="2067" y="259"/>
                  <a:pt x="2100" y="270"/>
                </a:cubicBezTo>
                <a:close/>
                <a:moveTo>
                  <a:pt x="2038" y="488"/>
                </a:moveTo>
                <a:cubicBezTo>
                  <a:pt x="2038" y="311"/>
                  <a:pt x="2038" y="311"/>
                  <a:pt x="2038" y="311"/>
                </a:cubicBezTo>
                <a:cubicBezTo>
                  <a:pt x="2025" y="309"/>
                  <a:pt x="2011" y="307"/>
                  <a:pt x="1993" y="307"/>
                </a:cubicBezTo>
                <a:cubicBezTo>
                  <a:pt x="1929" y="307"/>
                  <a:pt x="1899" y="347"/>
                  <a:pt x="1899" y="410"/>
                </a:cubicBezTo>
                <a:cubicBezTo>
                  <a:pt x="1899" y="468"/>
                  <a:pt x="1922" y="508"/>
                  <a:pt x="1978" y="508"/>
                </a:cubicBezTo>
                <a:cubicBezTo>
                  <a:pt x="2002" y="508"/>
                  <a:pt x="2022" y="500"/>
                  <a:pt x="2038" y="488"/>
                </a:cubicBezTo>
                <a:close/>
                <a:moveTo>
                  <a:pt x="2418" y="363"/>
                </a:moveTo>
                <a:cubicBezTo>
                  <a:pt x="2418" y="552"/>
                  <a:pt x="2418" y="552"/>
                  <a:pt x="2418" y="552"/>
                </a:cubicBezTo>
                <a:cubicBezTo>
                  <a:pt x="2356" y="552"/>
                  <a:pt x="2356" y="552"/>
                  <a:pt x="2356" y="552"/>
                </a:cubicBezTo>
                <a:cubicBezTo>
                  <a:pt x="2356" y="373"/>
                  <a:pt x="2356" y="373"/>
                  <a:pt x="2356" y="373"/>
                </a:cubicBezTo>
                <a:cubicBezTo>
                  <a:pt x="2356" y="329"/>
                  <a:pt x="2341" y="307"/>
                  <a:pt x="2279" y="307"/>
                </a:cubicBezTo>
                <a:cubicBezTo>
                  <a:pt x="2264" y="307"/>
                  <a:pt x="2247" y="309"/>
                  <a:pt x="2230" y="312"/>
                </a:cubicBezTo>
                <a:cubicBezTo>
                  <a:pt x="2230" y="552"/>
                  <a:pt x="2230" y="552"/>
                  <a:pt x="2230" y="552"/>
                </a:cubicBezTo>
                <a:cubicBezTo>
                  <a:pt x="2168" y="552"/>
                  <a:pt x="2168" y="552"/>
                  <a:pt x="2168" y="552"/>
                </a:cubicBezTo>
                <a:cubicBezTo>
                  <a:pt x="2168" y="270"/>
                  <a:pt x="2168" y="270"/>
                  <a:pt x="2168" y="270"/>
                </a:cubicBezTo>
                <a:cubicBezTo>
                  <a:pt x="2207" y="261"/>
                  <a:pt x="2251" y="254"/>
                  <a:pt x="2281" y="254"/>
                </a:cubicBezTo>
                <a:cubicBezTo>
                  <a:pt x="2384" y="254"/>
                  <a:pt x="2418" y="294"/>
                  <a:pt x="2418" y="363"/>
                </a:cubicBezTo>
                <a:close/>
                <a:moveTo>
                  <a:pt x="2733" y="157"/>
                </a:moveTo>
                <a:cubicBezTo>
                  <a:pt x="2733" y="552"/>
                  <a:pt x="2733" y="552"/>
                  <a:pt x="2733" y="552"/>
                </a:cubicBezTo>
                <a:cubicBezTo>
                  <a:pt x="2676" y="552"/>
                  <a:pt x="2676" y="552"/>
                  <a:pt x="2676" y="552"/>
                </a:cubicBezTo>
                <a:cubicBezTo>
                  <a:pt x="2672" y="516"/>
                  <a:pt x="2672" y="516"/>
                  <a:pt x="2672" y="516"/>
                </a:cubicBezTo>
                <a:cubicBezTo>
                  <a:pt x="2656" y="543"/>
                  <a:pt x="2632" y="559"/>
                  <a:pt x="2591" y="559"/>
                </a:cubicBezTo>
                <a:cubicBezTo>
                  <a:pt x="2517" y="559"/>
                  <a:pt x="2467" y="505"/>
                  <a:pt x="2467" y="410"/>
                </a:cubicBezTo>
                <a:cubicBezTo>
                  <a:pt x="2467" y="311"/>
                  <a:pt x="2520" y="254"/>
                  <a:pt x="2625" y="254"/>
                </a:cubicBezTo>
                <a:cubicBezTo>
                  <a:pt x="2641" y="254"/>
                  <a:pt x="2656" y="256"/>
                  <a:pt x="2671" y="259"/>
                </a:cubicBezTo>
                <a:cubicBezTo>
                  <a:pt x="2671" y="166"/>
                  <a:pt x="2671" y="166"/>
                  <a:pt x="2671" y="166"/>
                </a:cubicBezTo>
                <a:cubicBezTo>
                  <a:pt x="2690" y="159"/>
                  <a:pt x="2712" y="157"/>
                  <a:pt x="2733" y="157"/>
                </a:cubicBezTo>
                <a:close/>
                <a:moveTo>
                  <a:pt x="2671" y="487"/>
                </a:moveTo>
                <a:cubicBezTo>
                  <a:pt x="2671" y="313"/>
                  <a:pt x="2671" y="313"/>
                  <a:pt x="2671" y="313"/>
                </a:cubicBezTo>
                <a:cubicBezTo>
                  <a:pt x="2655" y="310"/>
                  <a:pt x="2638" y="307"/>
                  <a:pt x="2621" y="307"/>
                </a:cubicBezTo>
                <a:cubicBezTo>
                  <a:pt x="2560" y="307"/>
                  <a:pt x="2531" y="346"/>
                  <a:pt x="2531" y="410"/>
                </a:cubicBezTo>
                <a:cubicBezTo>
                  <a:pt x="2531" y="468"/>
                  <a:pt x="2554" y="508"/>
                  <a:pt x="2609" y="508"/>
                </a:cubicBezTo>
                <a:cubicBezTo>
                  <a:pt x="2634" y="508"/>
                  <a:pt x="2654" y="500"/>
                  <a:pt x="2671" y="487"/>
                </a:cubicBezTo>
                <a:close/>
                <a:moveTo>
                  <a:pt x="3045" y="432"/>
                </a:moveTo>
                <a:cubicBezTo>
                  <a:pt x="2847" y="432"/>
                  <a:pt x="2847" y="432"/>
                  <a:pt x="2847" y="432"/>
                </a:cubicBezTo>
                <a:cubicBezTo>
                  <a:pt x="2854" y="482"/>
                  <a:pt x="2884" y="506"/>
                  <a:pt x="2939" y="506"/>
                </a:cubicBezTo>
                <a:cubicBezTo>
                  <a:pt x="2973" y="506"/>
                  <a:pt x="3007" y="499"/>
                  <a:pt x="3038" y="485"/>
                </a:cubicBezTo>
                <a:cubicBezTo>
                  <a:pt x="3036" y="501"/>
                  <a:pt x="3033" y="522"/>
                  <a:pt x="3029" y="541"/>
                </a:cubicBezTo>
                <a:cubicBezTo>
                  <a:pt x="3001" y="554"/>
                  <a:pt x="2971" y="559"/>
                  <a:pt x="2937" y="559"/>
                </a:cubicBezTo>
                <a:cubicBezTo>
                  <a:pt x="2834" y="559"/>
                  <a:pt x="2783" y="502"/>
                  <a:pt x="2783" y="405"/>
                </a:cubicBezTo>
                <a:cubicBezTo>
                  <a:pt x="2783" y="321"/>
                  <a:pt x="2822" y="254"/>
                  <a:pt x="2921" y="254"/>
                </a:cubicBezTo>
                <a:cubicBezTo>
                  <a:pt x="3010" y="254"/>
                  <a:pt x="3048" y="313"/>
                  <a:pt x="3048" y="384"/>
                </a:cubicBezTo>
                <a:cubicBezTo>
                  <a:pt x="3048" y="401"/>
                  <a:pt x="3047" y="415"/>
                  <a:pt x="3045" y="432"/>
                </a:cubicBezTo>
                <a:close/>
                <a:moveTo>
                  <a:pt x="2845" y="380"/>
                </a:moveTo>
                <a:cubicBezTo>
                  <a:pt x="2985" y="380"/>
                  <a:pt x="2985" y="380"/>
                  <a:pt x="2985" y="380"/>
                </a:cubicBezTo>
                <a:cubicBezTo>
                  <a:pt x="2985" y="333"/>
                  <a:pt x="2960" y="306"/>
                  <a:pt x="2918" y="306"/>
                </a:cubicBezTo>
                <a:cubicBezTo>
                  <a:pt x="2874" y="306"/>
                  <a:pt x="2850" y="332"/>
                  <a:pt x="2845" y="380"/>
                </a:cubicBezTo>
                <a:close/>
                <a:moveTo>
                  <a:pt x="3262" y="257"/>
                </a:moveTo>
                <a:cubicBezTo>
                  <a:pt x="3262" y="275"/>
                  <a:pt x="3260" y="298"/>
                  <a:pt x="3256" y="310"/>
                </a:cubicBezTo>
                <a:cubicBezTo>
                  <a:pt x="3241" y="308"/>
                  <a:pt x="3227" y="307"/>
                  <a:pt x="3209" y="307"/>
                </a:cubicBezTo>
                <a:cubicBezTo>
                  <a:pt x="3194" y="307"/>
                  <a:pt x="3179" y="309"/>
                  <a:pt x="3164" y="311"/>
                </a:cubicBezTo>
                <a:cubicBezTo>
                  <a:pt x="3164" y="552"/>
                  <a:pt x="3164" y="552"/>
                  <a:pt x="3164" y="552"/>
                </a:cubicBezTo>
                <a:cubicBezTo>
                  <a:pt x="3102" y="552"/>
                  <a:pt x="3102" y="552"/>
                  <a:pt x="3102" y="552"/>
                </a:cubicBezTo>
                <a:cubicBezTo>
                  <a:pt x="3102" y="270"/>
                  <a:pt x="3102" y="270"/>
                  <a:pt x="3102" y="270"/>
                </a:cubicBezTo>
                <a:cubicBezTo>
                  <a:pt x="3128" y="261"/>
                  <a:pt x="3173" y="254"/>
                  <a:pt x="3208" y="254"/>
                </a:cubicBezTo>
                <a:cubicBezTo>
                  <a:pt x="3227" y="254"/>
                  <a:pt x="3248" y="255"/>
                  <a:pt x="3262" y="257"/>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s-ES">
              <a:solidFill>
                <a:srgbClr val="EC0000"/>
              </a:solidFill>
            </a:endParaRPr>
          </a:p>
        </p:txBody>
      </p:sp>
    </p:spTree>
    <p:extLst>
      <p:ext uri="{BB962C8B-B14F-4D97-AF65-F5344CB8AC3E}">
        <p14:creationId xmlns:p14="http://schemas.microsoft.com/office/powerpoint/2010/main" val="1273266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ndex">
    <p:spTree>
      <p:nvGrpSpPr>
        <p:cNvPr id="1" name=""/>
        <p:cNvGrpSpPr/>
        <p:nvPr/>
      </p:nvGrpSpPr>
      <p:grpSpPr>
        <a:xfrm>
          <a:off x="0" y="0"/>
          <a:ext cx="0" cy="0"/>
          <a:chOff x="0" y="0"/>
          <a:chExt cx="0" cy="0"/>
        </a:xfrm>
      </p:grpSpPr>
      <p:graphicFrame>
        <p:nvGraphicFramePr>
          <p:cNvPr id="2" name="Objeto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2" name="Objeto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Marcador de número de diapositiva 5">
            <a:extLst>
              <a:ext uri="{FF2B5EF4-FFF2-40B4-BE49-F238E27FC236}">
                <a16:creationId xmlns:a16="http://schemas.microsoft.com/office/drawing/2014/main" id="{C60B320C-F93D-45A7-B5CC-5C18ED1F85FB}"/>
              </a:ext>
            </a:extLst>
          </p:cNvPr>
          <p:cNvSpPr>
            <a:spLocks noGrp="1"/>
          </p:cNvSpPr>
          <p:nvPr>
            <p:ph type="sldNum" sz="quarter" idx="12"/>
          </p:nvPr>
        </p:nvSpPr>
        <p:spPr>
          <a:xfrm>
            <a:off x="8730845" y="6209600"/>
            <a:ext cx="2743200" cy="365125"/>
          </a:xfrm>
        </p:spPr>
        <p:txBody>
          <a:bodyPr/>
          <a:lstStyle>
            <a:lvl1pPr>
              <a:defRPr lang="es-ES" sz="1300" kern="1200" smtClean="0">
                <a:solidFill>
                  <a:schemeClr val="accent1"/>
                </a:solidFill>
                <a:latin typeface="+mn-lt"/>
                <a:ea typeface="+mn-ea"/>
                <a:cs typeface="+mn-cs"/>
              </a:defRPr>
            </a:lvl1pPr>
          </a:lstStyle>
          <a:p>
            <a:fld id="{BC0D97B6-E32F-4D7D-B839-7C3B51F2640F}" type="slidenum">
              <a:rPr>
                <a:solidFill>
                  <a:srgbClr val="EC0000"/>
                </a:solidFill>
              </a:rPr>
              <a:pPr/>
              <a:t>‹Nº›</a:t>
            </a:fld>
            <a:endParaRPr>
              <a:solidFill>
                <a:srgbClr val="EC0000"/>
              </a:solidFill>
            </a:endParaRPr>
          </a:p>
        </p:txBody>
      </p:sp>
      <p:sp>
        <p:nvSpPr>
          <p:cNvPr id="10" name="CuadroTexto 9">
            <a:extLst>
              <a:ext uri="{FF2B5EF4-FFF2-40B4-BE49-F238E27FC236}">
                <a16:creationId xmlns:a16="http://schemas.microsoft.com/office/drawing/2014/main" id="{B3950534-FF56-4FD6-A098-D625BC54F0FA}"/>
              </a:ext>
            </a:extLst>
          </p:cNvPr>
          <p:cNvSpPr txBox="1"/>
          <p:nvPr userDrawn="1"/>
        </p:nvSpPr>
        <p:spPr>
          <a:xfrm>
            <a:off x="722533" y="312269"/>
            <a:ext cx="1849821" cy="338554"/>
          </a:xfrm>
          <a:prstGeom prst="rect">
            <a:avLst/>
          </a:prstGeom>
          <a:noFill/>
        </p:spPr>
        <p:txBody>
          <a:bodyPr wrap="square" rtlCol="0">
            <a:spAutoFit/>
          </a:bodyPr>
          <a:lstStyle/>
          <a:p>
            <a:r>
              <a:rPr lang="en-GB" sz="1600">
                <a:solidFill>
                  <a:srgbClr val="EC0000"/>
                </a:solidFill>
              </a:rPr>
              <a:t>Index</a:t>
            </a:r>
            <a:endParaRPr lang="en-GB" sz="1300">
              <a:solidFill>
                <a:srgbClr val="EC0000"/>
              </a:solidFill>
            </a:endParaRPr>
          </a:p>
        </p:txBody>
      </p:sp>
      <p:sp>
        <p:nvSpPr>
          <p:cNvPr id="14" name="Marcador de texto 11">
            <a:extLst>
              <a:ext uri="{FF2B5EF4-FFF2-40B4-BE49-F238E27FC236}">
                <a16:creationId xmlns:a16="http://schemas.microsoft.com/office/drawing/2014/main" id="{0CC57AA0-6C3B-4C80-BF6B-C321A960A96C}"/>
              </a:ext>
            </a:extLst>
          </p:cNvPr>
          <p:cNvSpPr>
            <a:spLocks noGrp="1"/>
          </p:cNvSpPr>
          <p:nvPr>
            <p:ph type="body" sz="quarter" idx="13"/>
          </p:nvPr>
        </p:nvSpPr>
        <p:spPr>
          <a:xfrm>
            <a:off x="832641" y="1100239"/>
            <a:ext cx="10635843" cy="4906665"/>
          </a:xfrm>
        </p:spPr>
        <p:txBody>
          <a:bodyPr>
            <a:normAutofit/>
          </a:bodyPr>
          <a:lstStyle>
            <a:lvl1pPr marL="432000" indent="-396000">
              <a:buClr>
                <a:schemeClr val="accent1"/>
              </a:buClr>
              <a:buSzPct val="45000"/>
              <a:buFont typeface="+mj-lt"/>
              <a:buAutoNum type="arabicPeriod"/>
              <a:defRPr lang="en-US" sz="3800" b="0" kern="1200" dirty="0">
                <a:solidFill>
                  <a:schemeClr val="tx2"/>
                </a:solidFill>
                <a:latin typeface="+mn-lt"/>
                <a:ea typeface="+mn-ea"/>
                <a:cs typeface="+mn-cs"/>
              </a:defRPr>
            </a:lvl1pPr>
            <a:lvl2pPr marL="457200" indent="0">
              <a:buNone/>
              <a:defRPr/>
            </a:lvl2pPr>
          </a:lstStyle>
          <a:p>
            <a:pPr lvl="0"/>
            <a:r>
              <a:rPr lang="en-US"/>
              <a:t>Edit Master text styles</a:t>
            </a:r>
          </a:p>
        </p:txBody>
      </p:sp>
      <p:sp>
        <p:nvSpPr>
          <p:cNvPr id="9" name="Freeform 5">
            <a:extLst>
              <a:ext uri="{FF2B5EF4-FFF2-40B4-BE49-F238E27FC236}">
                <a16:creationId xmlns:a16="http://schemas.microsoft.com/office/drawing/2014/main" id="{8684AE88-CC34-476F-888F-BF16C6089943}"/>
              </a:ext>
            </a:extLst>
          </p:cNvPr>
          <p:cNvSpPr>
            <a:spLocks noEditPoints="1"/>
          </p:cNvSpPr>
          <p:nvPr userDrawn="1"/>
        </p:nvSpPr>
        <p:spPr bwMode="auto">
          <a:xfrm>
            <a:off x="832642" y="6262326"/>
            <a:ext cx="1171705" cy="206714"/>
          </a:xfrm>
          <a:custGeom>
            <a:avLst/>
            <a:gdLst>
              <a:gd name="T0" fmla="*/ 319 w 3262"/>
              <a:gd name="T1" fmla="*/ 39 h 572"/>
              <a:gd name="T2" fmla="*/ 300 w 3262"/>
              <a:gd name="T3" fmla="*/ 137 h 572"/>
              <a:gd name="T4" fmla="*/ 371 w 3262"/>
              <a:gd name="T5" fmla="*/ 405 h 572"/>
              <a:gd name="T6" fmla="*/ 244 w 3262"/>
              <a:gd name="T7" fmla="*/ 170 h 572"/>
              <a:gd name="T8" fmla="*/ 225 w 3262"/>
              <a:gd name="T9" fmla="*/ 267 h 572"/>
              <a:gd name="T10" fmla="*/ 300 w 3262"/>
              <a:gd name="T11" fmla="*/ 528 h 572"/>
              <a:gd name="T12" fmla="*/ 187 w 3262"/>
              <a:gd name="T13" fmla="*/ 333 h 572"/>
              <a:gd name="T14" fmla="*/ 300 w 3262"/>
              <a:gd name="T15" fmla="*/ 572 h 572"/>
              <a:gd name="T16" fmla="*/ 714 w 3262"/>
              <a:gd name="T17" fmla="*/ 540 h 572"/>
              <a:gd name="T18" fmla="*/ 910 w 3262"/>
              <a:gd name="T19" fmla="*/ 455 h 572"/>
              <a:gd name="T20" fmla="*/ 717 w 3262"/>
              <a:gd name="T21" fmla="*/ 258 h 572"/>
              <a:gd name="T22" fmla="*/ 945 w 3262"/>
              <a:gd name="T23" fmla="*/ 226 h 572"/>
              <a:gd name="T24" fmla="*/ 842 w 3262"/>
              <a:gd name="T25" fmla="*/ 322 h 572"/>
              <a:gd name="T26" fmla="*/ 829 w 3262"/>
              <a:gd name="T27" fmla="*/ 561 h 572"/>
              <a:gd name="T28" fmla="*/ 1277 w 3262"/>
              <a:gd name="T29" fmla="*/ 552 h 572"/>
              <a:gd name="T30" fmla="*/ 1138 w 3262"/>
              <a:gd name="T31" fmla="*/ 559 h 572"/>
              <a:gd name="T32" fmla="*/ 1277 w 3262"/>
              <a:gd name="T33" fmla="*/ 270 h 572"/>
              <a:gd name="T34" fmla="*/ 1171 w 3262"/>
              <a:gd name="T35" fmla="*/ 307 h 572"/>
              <a:gd name="T36" fmla="*/ 1215 w 3262"/>
              <a:gd name="T37" fmla="*/ 488 h 572"/>
              <a:gd name="T38" fmla="*/ 1533 w 3262"/>
              <a:gd name="T39" fmla="*/ 552 h 572"/>
              <a:gd name="T40" fmla="*/ 1407 w 3262"/>
              <a:gd name="T41" fmla="*/ 312 h 572"/>
              <a:gd name="T42" fmla="*/ 1345 w 3262"/>
              <a:gd name="T43" fmla="*/ 270 h 572"/>
              <a:gd name="T44" fmla="*/ 1767 w 3262"/>
              <a:gd name="T45" fmla="*/ 506 h 572"/>
              <a:gd name="T46" fmla="*/ 1756 w 3262"/>
              <a:gd name="T47" fmla="*/ 559 h 572"/>
              <a:gd name="T48" fmla="*/ 1719 w 3262"/>
              <a:gd name="T49" fmla="*/ 157 h 572"/>
              <a:gd name="T50" fmla="*/ 1812 w 3262"/>
              <a:gd name="T51" fmla="*/ 317 h 572"/>
              <a:gd name="T52" fmla="*/ 1767 w 3262"/>
              <a:gd name="T53" fmla="*/ 506 h 572"/>
              <a:gd name="T54" fmla="*/ 2043 w 3262"/>
              <a:gd name="T55" fmla="*/ 552 h 572"/>
              <a:gd name="T56" fmla="*/ 1836 w 3262"/>
              <a:gd name="T57" fmla="*/ 410 h 572"/>
              <a:gd name="T58" fmla="*/ 2038 w 3262"/>
              <a:gd name="T59" fmla="*/ 488 h 572"/>
              <a:gd name="T60" fmla="*/ 1899 w 3262"/>
              <a:gd name="T61" fmla="*/ 410 h 572"/>
              <a:gd name="T62" fmla="*/ 2418 w 3262"/>
              <a:gd name="T63" fmla="*/ 363 h 572"/>
              <a:gd name="T64" fmla="*/ 2356 w 3262"/>
              <a:gd name="T65" fmla="*/ 373 h 572"/>
              <a:gd name="T66" fmla="*/ 2230 w 3262"/>
              <a:gd name="T67" fmla="*/ 552 h 572"/>
              <a:gd name="T68" fmla="*/ 2281 w 3262"/>
              <a:gd name="T69" fmla="*/ 254 h 572"/>
              <a:gd name="T70" fmla="*/ 2733 w 3262"/>
              <a:gd name="T71" fmla="*/ 552 h 572"/>
              <a:gd name="T72" fmla="*/ 2591 w 3262"/>
              <a:gd name="T73" fmla="*/ 559 h 572"/>
              <a:gd name="T74" fmla="*/ 2671 w 3262"/>
              <a:gd name="T75" fmla="*/ 259 h 572"/>
              <a:gd name="T76" fmla="*/ 2671 w 3262"/>
              <a:gd name="T77" fmla="*/ 487 h 572"/>
              <a:gd name="T78" fmla="*/ 2531 w 3262"/>
              <a:gd name="T79" fmla="*/ 410 h 572"/>
              <a:gd name="T80" fmla="*/ 3045 w 3262"/>
              <a:gd name="T81" fmla="*/ 432 h 572"/>
              <a:gd name="T82" fmla="*/ 3038 w 3262"/>
              <a:gd name="T83" fmla="*/ 485 h 572"/>
              <a:gd name="T84" fmla="*/ 2783 w 3262"/>
              <a:gd name="T85" fmla="*/ 405 h 572"/>
              <a:gd name="T86" fmla="*/ 3045 w 3262"/>
              <a:gd name="T87" fmla="*/ 432 h 572"/>
              <a:gd name="T88" fmla="*/ 2918 w 3262"/>
              <a:gd name="T89" fmla="*/ 306 h 572"/>
              <a:gd name="T90" fmla="*/ 3256 w 3262"/>
              <a:gd name="T91" fmla="*/ 310 h 572"/>
              <a:gd name="T92" fmla="*/ 3164 w 3262"/>
              <a:gd name="T93" fmla="*/ 552 h 572"/>
              <a:gd name="T94" fmla="*/ 3208 w 3262"/>
              <a:gd name="T95" fmla="*/ 254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262" h="572">
                <a:moveTo>
                  <a:pt x="430" y="262"/>
                </a:moveTo>
                <a:cubicBezTo>
                  <a:pt x="429" y="241"/>
                  <a:pt x="424" y="221"/>
                  <a:pt x="413" y="202"/>
                </a:cubicBezTo>
                <a:cubicBezTo>
                  <a:pt x="319" y="39"/>
                  <a:pt x="319" y="39"/>
                  <a:pt x="319" y="39"/>
                </a:cubicBezTo>
                <a:cubicBezTo>
                  <a:pt x="312" y="27"/>
                  <a:pt x="307" y="14"/>
                  <a:pt x="304" y="0"/>
                </a:cubicBezTo>
                <a:cubicBezTo>
                  <a:pt x="300" y="7"/>
                  <a:pt x="300" y="7"/>
                  <a:pt x="300" y="7"/>
                </a:cubicBezTo>
                <a:cubicBezTo>
                  <a:pt x="277" y="47"/>
                  <a:pt x="277" y="97"/>
                  <a:pt x="300" y="137"/>
                </a:cubicBezTo>
                <a:cubicBezTo>
                  <a:pt x="375" y="267"/>
                  <a:pt x="375" y="267"/>
                  <a:pt x="375" y="267"/>
                </a:cubicBezTo>
                <a:cubicBezTo>
                  <a:pt x="399" y="308"/>
                  <a:pt x="399" y="357"/>
                  <a:pt x="375" y="398"/>
                </a:cubicBezTo>
                <a:cubicBezTo>
                  <a:pt x="371" y="405"/>
                  <a:pt x="371" y="405"/>
                  <a:pt x="371" y="405"/>
                </a:cubicBezTo>
                <a:cubicBezTo>
                  <a:pt x="369" y="391"/>
                  <a:pt x="364" y="378"/>
                  <a:pt x="356" y="365"/>
                </a:cubicBezTo>
                <a:cubicBezTo>
                  <a:pt x="288" y="246"/>
                  <a:pt x="288" y="246"/>
                  <a:pt x="288" y="246"/>
                </a:cubicBezTo>
                <a:cubicBezTo>
                  <a:pt x="244" y="170"/>
                  <a:pt x="244" y="170"/>
                  <a:pt x="244" y="170"/>
                </a:cubicBezTo>
                <a:cubicBezTo>
                  <a:pt x="236" y="157"/>
                  <a:pt x="232" y="144"/>
                  <a:pt x="229" y="130"/>
                </a:cubicBezTo>
                <a:cubicBezTo>
                  <a:pt x="225" y="137"/>
                  <a:pt x="225" y="137"/>
                  <a:pt x="225" y="137"/>
                </a:cubicBezTo>
                <a:cubicBezTo>
                  <a:pt x="202" y="177"/>
                  <a:pt x="202" y="227"/>
                  <a:pt x="225" y="267"/>
                </a:cubicBezTo>
                <a:cubicBezTo>
                  <a:pt x="225" y="267"/>
                  <a:pt x="225" y="267"/>
                  <a:pt x="225" y="267"/>
                </a:cubicBezTo>
                <a:cubicBezTo>
                  <a:pt x="300" y="398"/>
                  <a:pt x="300" y="398"/>
                  <a:pt x="300" y="398"/>
                </a:cubicBezTo>
                <a:cubicBezTo>
                  <a:pt x="323" y="438"/>
                  <a:pt x="323" y="488"/>
                  <a:pt x="300" y="528"/>
                </a:cubicBezTo>
                <a:cubicBezTo>
                  <a:pt x="296" y="535"/>
                  <a:pt x="296" y="535"/>
                  <a:pt x="296" y="535"/>
                </a:cubicBezTo>
                <a:cubicBezTo>
                  <a:pt x="293" y="521"/>
                  <a:pt x="288" y="508"/>
                  <a:pt x="281" y="495"/>
                </a:cubicBezTo>
                <a:cubicBezTo>
                  <a:pt x="187" y="333"/>
                  <a:pt x="187" y="333"/>
                  <a:pt x="187" y="333"/>
                </a:cubicBezTo>
                <a:cubicBezTo>
                  <a:pt x="175" y="311"/>
                  <a:pt x="169" y="286"/>
                  <a:pt x="170" y="262"/>
                </a:cubicBezTo>
                <a:cubicBezTo>
                  <a:pt x="69" y="288"/>
                  <a:pt x="0" y="344"/>
                  <a:pt x="0" y="409"/>
                </a:cubicBezTo>
                <a:cubicBezTo>
                  <a:pt x="0" y="499"/>
                  <a:pt x="134" y="572"/>
                  <a:pt x="300" y="572"/>
                </a:cubicBezTo>
                <a:cubicBezTo>
                  <a:pt x="466" y="572"/>
                  <a:pt x="600" y="499"/>
                  <a:pt x="600" y="409"/>
                </a:cubicBezTo>
                <a:cubicBezTo>
                  <a:pt x="600" y="344"/>
                  <a:pt x="531" y="288"/>
                  <a:pt x="430" y="262"/>
                </a:cubicBezTo>
                <a:close/>
                <a:moveTo>
                  <a:pt x="714" y="540"/>
                </a:moveTo>
                <a:cubicBezTo>
                  <a:pt x="715" y="517"/>
                  <a:pt x="718" y="501"/>
                  <a:pt x="725" y="483"/>
                </a:cubicBezTo>
                <a:cubicBezTo>
                  <a:pt x="756" y="498"/>
                  <a:pt x="797" y="505"/>
                  <a:pt x="828" y="505"/>
                </a:cubicBezTo>
                <a:cubicBezTo>
                  <a:pt x="880" y="505"/>
                  <a:pt x="910" y="488"/>
                  <a:pt x="910" y="455"/>
                </a:cubicBezTo>
                <a:cubicBezTo>
                  <a:pt x="910" y="422"/>
                  <a:pt x="888" y="407"/>
                  <a:pt x="835" y="384"/>
                </a:cubicBezTo>
                <a:cubicBezTo>
                  <a:pt x="806" y="371"/>
                  <a:pt x="806" y="371"/>
                  <a:pt x="806" y="371"/>
                </a:cubicBezTo>
                <a:cubicBezTo>
                  <a:pt x="753" y="348"/>
                  <a:pt x="717" y="318"/>
                  <a:pt x="717" y="258"/>
                </a:cubicBezTo>
                <a:cubicBezTo>
                  <a:pt x="717" y="194"/>
                  <a:pt x="762" y="153"/>
                  <a:pt x="853" y="153"/>
                </a:cubicBezTo>
                <a:cubicBezTo>
                  <a:pt x="890" y="153"/>
                  <a:pt x="924" y="158"/>
                  <a:pt x="956" y="169"/>
                </a:cubicBezTo>
                <a:cubicBezTo>
                  <a:pt x="955" y="192"/>
                  <a:pt x="951" y="209"/>
                  <a:pt x="945" y="226"/>
                </a:cubicBezTo>
                <a:cubicBezTo>
                  <a:pt x="915" y="214"/>
                  <a:pt x="879" y="209"/>
                  <a:pt x="853" y="209"/>
                </a:cubicBezTo>
                <a:cubicBezTo>
                  <a:pt x="804" y="209"/>
                  <a:pt x="781" y="228"/>
                  <a:pt x="781" y="258"/>
                </a:cubicBezTo>
                <a:cubicBezTo>
                  <a:pt x="781" y="288"/>
                  <a:pt x="803" y="305"/>
                  <a:pt x="842" y="322"/>
                </a:cubicBezTo>
                <a:cubicBezTo>
                  <a:pt x="873" y="335"/>
                  <a:pt x="873" y="335"/>
                  <a:pt x="873" y="335"/>
                </a:cubicBezTo>
                <a:cubicBezTo>
                  <a:pt x="945" y="365"/>
                  <a:pt x="974" y="397"/>
                  <a:pt x="974" y="452"/>
                </a:cubicBezTo>
                <a:cubicBezTo>
                  <a:pt x="974" y="517"/>
                  <a:pt x="925" y="561"/>
                  <a:pt x="829" y="561"/>
                </a:cubicBezTo>
                <a:cubicBezTo>
                  <a:pt x="783" y="561"/>
                  <a:pt x="745" y="555"/>
                  <a:pt x="714" y="540"/>
                </a:cubicBezTo>
                <a:close/>
                <a:moveTo>
                  <a:pt x="1277" y="270"/>
                </a:moveTo>
                <a:cubicBezTo>
                  <a:pt x="1277" y="552"/>
                  <a:pt x="1277" y="552"/>
                  <a:pt x="1277" y="552"/>
                </a:cubicBezTo>
                <a:cubicBezTo>
                  <a:pt x="1220" y="552"/>
                  <a:pt x="1220" y="552"/>
                  <a:pt x="1220" y="552"/>
                </a:cubicBezTo>
                <a:cubicBezTo>
                  <a:pt x="1217" y="518"/>
                  <a:pt x="1217" y="518"/>
                  <a:pt x="1217" y="518"/>
                </a:cubicBezTo>
                <a:cubicBezTo>
                  <a:pt x="1201" y="543"/>
                  <a:pt x="1177" y="559"/>
                  <a:pt x="1138" y="559"/>
                </a:cubicBezTo>
                <a:cubicBezTo>
                  <a:pt x="1063" y="559"/>
                  <a:pt x="1013" y="505"/>
                  <a:pt x="1013" y="410"/>
                </a:cubicBezTo>
                <a:cubicBezTo>
                  <a:pt x="1013" y="311"/>
                  <a:pt x="1066" y="254"/>
                  <a:pt x="1171" y="254"/>
                </a:cubicBezTo>
                <a:cubicBezTo>
                  <a:pt x="1211" y="254"/>
                  <a:pt x="1245" y="259"/>
                  <a:pt x="1277" y="270"/>
                </a:cubicBezTo>
                <a:close/>
                <a:moveTo>
                  <a:pt x="1215" y="488"/>
                </a:moveTo>
                <a:cubicBezTo>
                  <a:pt x="1215" y="311"/>
                  <a:pt x="1215" y="311"/>
                  <a:pt x="1215" y="311"/>
                </a:cubicBezTo>
                <a:cubicBezTo>
                  <a:pt x="1202" y="309"/>
                  <a:pt x="1188" y="307"/>
                  <a:pt x="1171" y="307"/>
                </a:cubicBezTo>
                <a:cubicBezTo>
                  <a:pt x="1107" y="307"/>
                  <a:pt x="1077" y="347"/>
                  <a:pt x="1077" y="410"/>
                </a:cubicBezTo>
                <a:cubicBezTo>
                  <a:pt x="1077" y="468"/>
                  <a:pt x="1100" y="508"/>
                  <a:pt x="1155" y="508"/>
                </a:cubicBezTo>
                <a:cubicBezTo>
                  <a:pt x="1179" y="508"/>
                  <a:pt x="1199" y="500"/>
                  <a:pt x="1215" y="488"/>
                </a:cubicBezTo>
                <a:close/>
                <a:moveTo>
                  <a:pt x="1595" y="363"/>
                </a:moveTo>
                <a:cubicBezTo>
                  <a:pt x="1595" y="552"/>
                  <a:pt x="1595" y="552"/>
                  <a:pt x="1595" y="552"/>
                </a:cubicBezTo>
                <a:cubicBezTo>
                  <a:pt x="1533" y="552"/>
                  <a:pt x="1533" y="552"/>
                  <a:pt x="1533" y="552"/>
                </a:cubicBezTo>
                <a:cubicBezTo>
                  <a:pt x="1533" y="373"/>
                  <a:pt x="1533" y="373"/>
                  <a:pt x="1533" y="373"/>
                </a:cubicBezTo>
                <a:cubicBezTo>
                  <a:pt x="1533" y="329"/>
                  <a:pt x="1518" y="307"/>
                  <a:pt x="1456" y="307"/>
                </a:cubicBezTo>
                <a:cubicBezTo>
                  <a:pt x="1442" y="307"/>
                  <a:pt x="1424" y="309"/>
                  <a:pt x="1407" y="312"/>
                </a:cubicBezTo>
                <a:cubicBezTo>
                  <a:pt x="1407" y="552"/>
                  <a:pt x="1407" y="552"/>
                  <a:pt x="1407" y="552"/>
                </a:cubicBezTo>
                <a:cubicBezTo>
                  <a:pt x="1345" y="552"/>
                  <a:pt x="1345" y="552"/>
                  <a:pt x="1345" y="552"/>
                </a:cubicBezTo>
                <a:cubicBezTo>
                  <a:pt x="1345" y="270"/>
                  <a:pt x="1345" y="270"/>
                  <a:pt x="1345" y="270"/>
                </a:cubicBezTo>
                <a:cubicBezTo>
                  <a:pt x="1385" y="261"/>
                  <a:pt x="1428" y="254"/>
                  <a:pt x="1458" y="254"/>
                </a:cubicBezTo>
                <a:cubicBezTo>
                  <a:pt x="1562" y="254"/>
                  <a:pt x="1595" y="294"/>
                  <a:pt x="1595" y="363"/>
                </a:cubicBezTo>
                <a:close/>
                <a:moveTo>
                  <a:pt x="1767" y="506"/>
                </a:moveTo>
                <a:cubicBezTo>
                  <a:pt x="1785" y="506"/>
                  <a:pt x="1802" y="503"/>
                  <a:pt x="1816" y="498"/>
                </a:cubicBezTo>
                <a:cubicBezTo>
                  <a:pt x="1814" y="515"/>
                  <a:pt x="1812" y="534"/>
                  <a:pt x="1808" y="550"/>
                </a:cubicBezTo>
                <a:cubicBezTo>
                  <a:pt x="1791" y="557"/>
                  <a:pt x="1773" y="559"/>
                  <a:pt x="1756" y="559"/>
                </a:cubicBezTo>
                <a:cubicBezTo>
                  <a:pt x="1696" y="559"/>
                  <a:pt x="1657" y="531"/>
                  <a:pt x="1657" y="463"/>
                </a:cubicBezTo>
                <a:cubicBezTo>
                  <a:pt x="1657" y="166"/>
                  <a:pt x="1657" y="166"/>
                  <a:pt x="1657" y="166"/>
                </a:cubicBezTo>
                <a:cubicBezTo>
                  <a:pt x="1676" y="160"/>
                  <a:pt x="1700" y="157"/>
                  <a:pt x="1719" y="157"/>
                </a:cubicBezTo>
                <a:cubicBezTo>
                  <a:pt x="1719" y="264"/>
                  <a:pt x="1719" y="264"/>
                  <a:pt x="1719" y="264"/>
                </a:cubicBezTo>
                <a:cubicBezTo>
                  <a:pt x="1817" y="264"/>
                  <a:pt x="1817" y="264"/>
                  <a:pt x="1817" y="264"/>
                </a:cubicBezTo>
                <a:cubicBezTo>
                  <a:pt x="1816" y="283"/>
                  <a:pt x="1815" y="301"/>
                  <a:pt x="1812" y="317"/>
                </a:cubicBezTo>
                <a:cubicBezTo>
                  <a:pt x="1719" y="317"/>
                  <a:pt x="1719" y="317"/>
                  <a:pt x="1719" y="317"/>
                </a:cubicBezTo>
                <a:cubicBezTo>
                  <a:pt x="1719" y="455"/>
                  <a:pt x="1719" y="455"/>
                  <a:pt x="1719" y="455"/>
                </a:cubicBezTo>
                <a:cubicBezTo>
                  <a:pt x="1719" y="492"/>
                  <a:pt x="1737" y="506"/>
                  <a:pt x="1767" y="506"/>
                </a:cubicBezTo>
                <a:close/>
                <a:moveTo>
                  <a:pt x="2100" y="270"/>
                </a:moveTo>
                <a:cubicBezTo>
                  <a:pt x="2100" y="552"/>
                  <a:pt x="2100" y="552"/>
                  <a:pt x="2100" y="552"/>
                </a:cubicBezTo>
                <a:cubicBezTo>
                  <a:pt x="2043" y="552"/>
                  <a:pt x="2043" y="552"/>
                  <a:pt x="2043" y="552"/>
                </a:cubicBezTo>
                <a:cubicBezTo>
                  <a:pt x="2040" y="518"/>
                  <a:pt x="2040" y="518"/>
                  <a:pt x="2040" y="518"/>
                </a:cubicBezTo>
                <a:cubicBezTo>
                  <a:pt x="2024" y="543"/>
                  <a:pt x="2000" y="559"/>
                  <a:pt x="1960" y="559"/>
                </a:cubicBezTo>
                <a:cubicBezTo>
                  <a:pt x="1886" y="559"/>
                  <a:pt x="1836" y="505"/>
                  <a:pt x="1836" y="410"/>
                </a:cubicBezTo>
                <a:cubicBezTo>
                  <a:pt x="1836" y="311"/>
                  <a:pt x="1889" y="254"/>
                  <a:pt x="1993" y="254"/>
                </a:cubicBezTo>
                <a:cubicBezTo>
                  <a:pt x="2034" y="254"/>
                  <a:pt x="2067" y="259"/>
                  <a:pt x="2100" y="270"/>
                </a:cubicBezTo>
                <a:close/>
                <a:moveTo>
                  <a:pt x="2038" y="488"/>
                </a:moveTo>
                <a:cubicBezTo>
                  <a:pt x="2038" y="311"/>
                  <a:pt x="2038" y="311"/>
                  <a:pt x="2038" y="311"/>
                </a:cubicBezTo>
                <a:cubicBezTo>
                  <a:pt x="2025" y="309"/>
                  <a:pt x="2011" y="307"/>
                  <a:pt x="1993" y="307"/>
                </a:cubicBezTo>
                <a:cubicBezTo>
                  <a:pt x="1929" y="307"/>
                  <a:pt x="1899" y="347"/>
                  <a:pt x="1899" y="410"/>
                </a:cubicBezTo>
                <a:cubicBezTo>
                  <a:pt x="1899" y="468"/>
                  <a:pt x="1922" y="508"/>
                  <a:pt x="1978" y="508"/>
                </a:cubicBezTo>
                <a:cubicBezTo>
                  <a:pt x="2002" y="508"/>
                  <a:pt x="2022" y="500"/>
                  <a:pt x="2038" y="488"/>
                </a:cubicBezTo>
                <a:close/>
                <a:moveTo>
                  <a:pt x="2418" y="363"/>
                </a:moveTo>
                <a:cubicBezTo>
                  <a:pt x="2418" y="552"/>
                  <a:pt x="2418" y="552"/>
                  <a:pt x="2418" y="552"/>
                </a:cubicBezTo>
                <a:cubicBezTo>
                  <a:pt x="2356" y="552"/>
                  <a:pt x="2356" y="552"/>
                  <a:pt x="2356" y="552"/>
                </a:cubicBezTo>
                <a:cubicBezTo>
                  <a:pt x="2356" y="373"/>
                  <a:pt x="2356" y="373"/>
                  <a:pt x="2356" y="373"/>
                </a:cubicBezTo>
                <a:cubicBezTo>
                  <a:pt x="2356" y="329"/>
                  <a:pt x="2341" y="307"/>
                  <a:pt x="2279" y="307"/>
                </a:cubicBezTo>
                <a:cubicBezTo>
                  <a:pt x="2264" y="307"/>
                  <a:pt x="2247" y="309"/>
                  <a:pt x="2230" y="312"/>
                </a:cubicBezTo>
                <a:cubicBezTo>
                  <a:pt x="2230" y="552"/>
                  <a:pt x="2230" y="552"/>
                  <a:pt x="2230" y="552"/>
                </a:cubicBezTo>
                <a:cubicBezTo>
                  <a:pt x="2168" y="552"/>
                  <a:pt x="2168" y="552"/>
                  <a:pt x="2168" y="552"/>
                </a:cubicBezTo>
                <a:cubicBezTo>
                  <a:pt x="2168" y="270"/>
                  <a:pt x="2168" y="270"/>
                  <a:pt x="2168" y="270"/>
                </a:cubicBezTo>
                <a:cubicBezTo>
                  <a:pt x="2207" y="261"/>
                  <a:pt x="2251" y="254"/>
                  <a:pt x="2281" y="254"/>
                </a:cubicBezTo>
                <a:cubicBezTo>
                  <a:pt x="2384" y="254"/>
                  <a:pt x="2418" y="294"/>
                  <a:pt x="2418" y="363"/>
                </a:cubicBezTo>
                <a:close/>
                <a:moveTo>
                  <a:pt x="2733" y="157"/>
                </a:moveTo>
                <a:cubicBezTo>
                  <a:pt x="2733" y="552"/>
                  <a:pt x="2733" y="552"/>
                  <a:pt x="2733" y="552"/>
                </a:cubicBezTo>
                <a:cubicBezTo>
                  <a:pt x="2676" y="552"/>
                  <a:pt x="2676" y="552"/>
                  <a:pt x="2676" y="552"/>
                </a:cubicBezTo>
                <a:cubicBezTo>
                  <a:pt x="2672" y="516"/>
                  <a:pt x="2672" y="516"/>
                  <a:pt x="2672" y="516"/>
                </a:cubicBezTo>
                <a:cubicBezTo>
                  <a:pt x="2656" y="543"/>
                  <a:pt x="2632" y="559"/>
                  <a:pt x="2591" y="559"/>
                </a:cubicBezTo>
                <a:cubicBezTo>
                  <a:pt x="2517" y="559"/>
                  <a:pt x="2467" y="505"/>
                  <a:pt x="2467" y="410"/>
                </a:cubicBezTo>
                <a:cubicBezTo>
                  <a:pt x="2467" y="311"/>
                  <a:pt x="2520" y="254"/>
                  <a:pt x="2625" y="254"/>
                </a:cubicBezTo>
                <a:cubicBezTo>
                  <a:pt x="2641" y="254"/>
                  <a:pt x="2656" y="256"/>
                  <a:pt x="2671" y="259"/>
                </a:cubicBezTo>
                <a:cubicBezTo>
                  <a:pt x="2671" y="166"/>
                  <a:pt x="2671" y="166"/>
                  <a:pt x="2671" y="166"/>
                </a:cubicBezTo>
                <a:cubicBezTo>
                  <a:pt x="2690" y="159"/>
                  <a:pt x="2712" y="157"/>
                  <a:pt x="2733" y="157"/>
                </a:cubicBezTo>
                <a:close/>
                <a:moveTo>
                  <a:pt x="2671" y="487"/>
                </a:moveTo>
                <a:cubicBezTo>
                  <a:pt x="2671" y="313"/>
                  <a:pt x="2671" y="313"/>
                  <a:pt x="2671" y="313"/>
                </a:cubicBezTo>
                <a:cubicBezTo>
                  <a:pt x="2655" y="310"/>
                  <a:pt x="2638" y="307"/>
                  <a:pt x="2621" y="307"/>
                </a:cubicBezTo>
                <a:cubicBezTo>
                  <a:pt x="2560" y="307"/>
                  <a:pt x="2531" y="346"/>
                  <a:pt x="2531" y="410"/>
                </a:cubicBezTo>
                <a:cubicBezTo>
                  <a:pt x="2531" y="468"/>
                  <a:pt x="2554" y="508"/>
                  <a:pt x="2609" y="508"/>
                </a:cubicBezTo>
                <a:cubicBezTo>
                  <a:pt x="2634" y="508"/>
                  <a:pt x="2654" y="500"/>
                  <a:pt x="2671" y="487"/>
                </a:cubicBezTo>
                <a:close/>
                <a:moveTo>
                  <a:pt x="3045" y="432"/>
                </a:moveTo>
                <a:cubicBezTo>
                  <a:pt x="2847" y="432"/>
                  <a:pt x="2847" y="432"/>
                  <a:pt x="2847" y="432"/>
                </a:cubicBezTo>
                <a:cubicBezTo>
                  <a:pt x="2854" y="482"/>
                  <a:pt x="2884" y="506"/>
                  <a:pt x="2939" y="506"/>
                </a:cubicBezTo>
                <a:cubicBezTo>
                  <a:pt x="2973" y="506"/>
                  <a:pt x="3007" y="499"/>
                  <a:pt x="3038" y="485"/>
                </a:cubicBezTo>
                <a:cubicBezTo>
                  <a:pt x="3036" y="501"/>
                  <a:pt x="3033" y="522"/>
                  <a:pt x="3029" y="541"/>
                </a:cubicBezTo>
                <a:cubicBezTo>
                  <a:pt x="3001" y="554"/>
                  <a:pt x="2971" y="559"/>
                  <a:pt x="2937" y="559"/>
                </a:cubicBezTo>
                <a:cubicBezTo>
                  <a:pt x="2834" y="559"/>
                  <a:pt x="2783" y="502"/>
                  <a:pt x="2783" y="405"/>
                </a:cubicBezTo>
                <a:cubicBezTo>
                  <a:pt x="2783" y="321"/>
                  <a:pt x="2822" y="254"/>
                  <a:pt x="2921" y="254"/>
                </a:cubicBezTo>
                <a:cubicBezTo>
                  <a:pt x="3010" y="254"/>
                  <a:pt x="3048" y="313"/>
                  <a:pt x="3048" y="384"/>
                </a:cubicBezTo>
                <a:cubicBezTo>
                  <a:pt x="3048" y="401"/>
                  <a:pt x="3047" y="415"/>
                  <a:pt x="3045" y="432"/>
                </a:cubicBezTo>
                <a:close/>
                <a:moveTo>
                  <a:pt x="2845" y="380"/>
                </a:moveTo>
                <a:cubicBezTo>
                  <a:pt x="2985" y="380"/>
                  <a:pt x="2985" y="380"/>
                  <a:pt x="2985" y="380"/>
                </a:cubicBezTo>
                <a:cubicBezTo>
                  <a:pt x="2985" y="333"/>
                  <a:pt x="2960" y="306"/>
                  <a:pt x="2918" y="306"/>
                </a:cubicBezTo>
                <a:cubicBezTo>
                  <a:pt x="2874" y="306"/>
                  <a:pt x="2850" y="332"/>
                  <a:pt x="2845" y="380"/>
                </a:cubicBezTo>
                <a:close/>
                <a:moveTo>
                  <a:pt x="3262" y="257"/>
                </a:moveTo>
                <a:cubicBezTo>
                  <a:pt x="3262" y="275"/>
                  <a:pt x="3260" y="298"/>
                  <a:pt x="3256" y="310"/>
                </a:cubicBezTo>
                <a:cubicBezTo>
                  <a:pt x="3241" y="308"/>
                  <a:pt x="3227" y="307"/>
                  <a:pt x="3209" y="307"/>
                </a:cubicBezTo>
                <a:cubicBezTo>
                  <a:pt x="3194" y="307"/>
                  <a:pt x="3179" y="309"/>
                  <a:pt x="3164" y="311"/>
                </a:cubicBezTo>
                <a:cubicBezTo>
                  <a:pt x="3164" y="552"/>
                  <a:pt x="3164" y="552"/>
                  <a:pt x="3164" y="552"/>
                </a:cubicBezTo>
                <a:cubicBezTo>
                  <a:pt x="3102" y="552"/>
                  <a:pt x="3102" y="552"/>
                  <a:pt x="3102" y="552"/>
                </a:cubicBezTo>
                <a:cubicBezTo>
                  <a:pt x="3102" y="270"/>
                  <a:pt x="3102" y="270"/>
                  <a:pt x="3102" y="270"/>
                </a:cubicBezTo>
                <a:cubicBezTo>
                  <a:pt x="3128" y="261"/>
                  <a:pt x="3173" y="254"/>
                  <a:pt x="3208" y="254"/>
                </a:cubicBezTo>
                <a:cubicBezTo>
                  <a:pt x="3227" y="254"/>
                  <a:pt x="3248" y="255"/>
                  <a:pt x="3262" y="257"/>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solidFill>
                <a:prstClr val="black"/>
              </a:solidFill>
            </a:endParaRPr>
          </a:p>
        </p:txBody>
      </p:sp>
    </p:spTree>
    <p:extLst>
      <p:ext uri="{BB962C8B-B14F-4D97-AF65-F5344CB8AC3E}">
        <p14:creationId xmlns:p14="http://schemas.microsoft.com/office/powerpoint/2010/main" val="1649138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Divider Photo">
    <p:spTree>
      <p:nvGrpSpPr>
        <p:cNvPr id="1" name=""/>
        <p:cNvGrpSpPr/>
        <p:nvPr/>
      </p:nvGrpSpPr>
      <p:grpSpPr>
        <a:xfrm>
          <a:off x="0" y="0"/>
          <a:ext cx="0" cy="0"/>
          <a:chOff x="0" y="0"/>
          <a:chExt cx="0" cy="0"/>
        </a:xfrm>
      </p:grpSpPr>
      <p:graphicFrame>
        <p:nvGraphicFramePr>
          <p:cNvPr id="4" name="Objeto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to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Marcador de posición de imagen 11">
            <a:extLst>
              <a:ext uri="{FF2B5EF4-FFF2-40B4-BE49-F238E27FC236}">
                <a16:creationId xmlns:a16="http://schemas.microsoft.com/office/drawing/2014/main" id="{71194EF8-8B73-4F1D-8F99-CAB16E8EF906}"/>
              </a:ext>
            </a:extLst>
          </p:cNvPr>
          <p:cNvSpPr>
            <a:spLocks noGrp="1"/>
          </p:cNvSpPr>
          <p:nvPr>
            <p:ph type="pic" sz="quarter" idx="13" hasCustomPrompt="1"/>
          </p:nvPr>
        </p:nvSpPr>
        <p:spPr>
          <a:xfrm>
            <a:off x="0" y="0"/>
            <a:ext cx="10555357" cy="6858000"/>
          </a:xfrm>
          <a:custGeom>
            <a:avLst/>
            <a:gdLst>
              <a:gd name="connsiteX0" fmla="*/ 0 w 10555357"/>
              <a:gd name="connsiteY0" fmla="*/ 0 h 6858000"/>
              <a:gd name="connsiteX1" fmla="*/ 10555357 w 10555357"/>
              <a:gd name="connsiteY1" fmla="*/ 0 h 6858000"/>
              <a:gd name="connsiteX2" fmla="*/ 10555357 w 10555357"/>
              <a:gd name="connsiteY2" fmla="*/ 2822713 h 6858000"/>
              <a:gd name="connsiteX3" fmla="*/ 8925339 w 10555357"/>
              <a:gd name="connsiteY3" fmla="*/ 2822713 h 6858000"/>
              <a:gd name="connsiteX4" fmla="*/ 8925339 w 10555357"/>
              <a:gd name="connsiteY4" fmla="*/ 6858000 h 6858000"/>
              <a:gd name="connsiteX5" fmla="*/ 0 w 10555357"/>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55357" h="6858000">
                <a:moveTo>
                  <a:pt x="0" y="0"/>
                </a:moveTo>
                <a:lnTo>
                  <a:pt x="10555357" y="0"/>
                </a:lnTo>
                <a:lnTo>
                  <a:pt x="10555357" y="2822713"/>
                </a:lnTo>
                <a:lnTo>
                  <a:pt x="8925339" y="2822713"/>
                </a:lnTo>
                <a:lnTo>
                  <a:pt x="8925339" y="6858000"/>
                </a:lnTo>
                <a:lnTo>
                  <a:pt x="0" y="6858000"/>
                </a:lnTo>
                <a:close/>
              </a:path>
            </a:pathLst>
          </a:custGeom>
        </p:spPr>
        <p:txBody>
          <a:bodyPr wrap="square">
            <a:noAutofit/>
          </a:bodyPr>
          <a:lstStyle>
            <a:lvl1pPr marL="0" indent="0" algn="r">
              <a:buFontTx/>
              <a:buNone/>
              <a:defRPr sz="1800">
                <a:solidFill>
                  <a:schemeClr val="tx1">
                    <a:lumMod val="65000"/>
                    <a:lumOff val="35000"/>
                  </a:schemeClr>
                </a:solidFill>
                <a:latin typeface="+mn-lt"/>
                <a:ea typeface="+mn-ea"/>
                <a:cs typeface="+mn-cs"/>
              </a:defRPr>
            </a:lvl1pPr>
          </a:lstStyle>
          <a:p>
            <a:r>
              <a:rPr lang="es-ES" err="1"/>
              <a:t>Insert</a:t>
            </a:r>
            <a:r>
              <a:rPr lang="es-ES"/>
              <a:t> </a:t>
            </a:r>
            <a:r>
              <a:rPr lang="es-ES" err="1"/>
              <a:t>image</a:t>
            </a:r>
            <a:r>
              <a:rPr lang="es-ES"/>
              <a:t> </a:t>
            </a:r>
            <a:r>
              <a:rPr lang="es-ES" err="1"/>
              <a:t>here</a:t>
            </a:r>
            <a:endParaRPr lang="es-ES"/>
          </a:p>
        </p:txBody>
      </p:sp>
      <p:sp>
        <p:nvSpPr>
          <p:cNvPr id="2" name="Título 1">
            <a:extLst>
              <a:ext uri="{FF2B5EF4-FFF2-40B4-BE49-F238E27FC236}">
                <a16:creationId xmlns:a16="http://schemas.microsoft.com/office/drawing/2014/main" id="{B045CB15-1F44-40E1-909E-6233010BC133}"/>
              </a:ext>
            </a:extLst>
          </p:cNvPr>
          <p:cNvSpPr>
            <a:spLocks noGrp="1"/>
          </p:cNvSpPr>
          <p:nvPr>
            <p:ph type="title" hasCustomPrompt="1"/>
          </p:nvPr>
        </p:nvSpPr>
        <p:spPr>
          <a:xfrm>
            <a:off x="722519" y="626373"/>
            <a:ext cx="4386194" cy="2852737"/>
          </a:xfrm>
        </p:spPr>
        <p:txBody>
          <a:bodyPr vert="horz" anchor="t">
            <a:normAutofit/>
          </a:bodyPr>
          <a:lstStyle>
            <a:lvl1pPr>
              <a:lnSpc>
                <a:spcPct val="100000"/>
              </a:lnSpc>
              <a:defRPr lang="en-US" sz="5000" kern="1200" dirty="0">
                <a:solidFill>
                  <a:schemeClr val="accent1"/>
                </a:solidFill>
                <a:latin typeface="+mj-lt"/>
                <a:ea typeface="+mj-ea"/>
                <a:cs typeface="+mj-cs"/>
              </a:defRPr>
            </a:lvl1pPr>
          </a:lstStyle>
          <a:p>
            <a:r>
              <a:rPr lang="en-US"/>
              <a:t>Click to edit Master title </a:t>
            </a:r>
            <a:br>
              <a:rPr lang="en-US"/>
            </a:br>
            <a:r>
              <a:rPr lang="en-US"/>
              <a:t>style</a:t>
            </a:r>
            <a:endParaRPr lang="es-ES"/>
          </a:p>
        </p:txBody>
      </p:sp>
      <p:sp>
        <p:nvSpPr>
          <p:cNvPr id="14" name="Marcador de texto 13">
            <a:extLst>
              <a:ext uri="{FF2B5EF4-FFF2-40B4-BE49-F238E27FC236}">
                <a16:creationId xmlns:a16="http://schemas.microsoft.com/office/drawing/2014/main" id="{6E38BAEA-EEE9-4346-9DB7-91D26BC942D7}"/>
              </a:ext>
            </a:extLst>
          </p:cNvPr>
          <p:cNvSpPr>
            <a:spLocks noGrp="1"/>
          </p:cNvSpPr>
          <p:nvPr>
            <p:ph type="body" sz="quarter" idx="14" hasCustomPrompt="1"/>
          </p:nvPr>
        </p:nvSpPr>
        <p:spPr>
          <a:xfrm>
            <a:off x="8945217" y="3270526"/>
            <a:ext cx="2958754" cy="2364961"/>
          </a:xfrm>
        </p:spPr>
        <p:txBody>
          <a:bodyPr>
            <a:noAutofit/>
          </a:bodyPr>
          <a:lstStyle>
            <a:lvl1pPr marL="0" indent="0" algn="r">
              <a:buFontTx/>
              <a:buNone/>
              <a:defRPr lang="es-ES" sz="16600" kern="1200" dirty="0">
                <a:solidFill>
                  <a:schemeClr val="accent1"/>
                </a:solidFill>
                <a:latin typeface="+mn-lt"/>
                <a:ea typeface="+mn-ea"/>
                <a:cs typeface="+mn-cs"/>
              </a:defRPr>
            </a:lvl1pPr>
            <a:lvl2pPr>
              <a:defRPr sz="13800">
                <a:solidFill>
                  <a:schemeClr val="tx1"/>
                </a:solidFill>
              </a:defRPr>
            </a:lvl2pPr>
            <a:lvl3pPr>
              <a:defRPr sz="11500">
                <a:solidFill>
                  <a:schemeClr val="tx1"/>
                </a:solidFill>
              </a:defRPr>
            </a:lvl3pPr>
            <a:lvl4pPr>
              <a:defRPr sz="9600">
                <a:solidFill>
                  <a:schemeClr val="tx1"/>
                </a:solidFill>
              </a:defRPr>
            </a:lvl4pPr>
            <a:lvl5pPr>
              <a:defRPr sz="9600">
                <a:solidFill>
                  <a:schemeClr val="tx1"/>
                </a:solidFill>
              </a:defRPr>
            </a:lvl5pPr>
          </a:lstStyle>
          <a:p>
            <a:pPr lvl="0"/>
            <a:r>
              <a:rPr lang="es-ES"/>
              <a:t>00</a:t>
            </a:r>
          </a:p>
        </p:txBody>
      </p:sp>
    </p:spTree>
    <p:extLst>
      <p:ext uri="{BB962C8B-B14F-4D97-AF65-F5344CB8AC3E}">
        <p14:creationId xmlns:p14="http://schemas.microsoft.com/office/powerpoint/2010/main" val="514063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exto y foto">
    <p:spTree>
      <p:nvGrpSpPr>
        <p:cNvPr id="1" name=""/>
        <p:cNvGrpSpPr/>
        <p:nvPr/>
      </p:nvGrpSpPr>
      <p:grpSpPr>
        <a:xfrm>
          <a:off x="0" y="0"/>
          <a:ext cx="0" cy="0"/>
          <a:chOff x="0" y="0"/>
          <a:chExt cx="0" cy="0"/>
        </a:xfrm>
      </p:grpSpPr>
      <p:graphicFrame>
        <p:nvGraphicFramePr>
          <p:cNvPr id="5" name="Objeto 4"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5" name="Objeto 4"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92F305A9-DE4B-49AF-BCD4-43A65F7EB523}"/>
              </a:ext>
            </a:extLst>
          </p:cNvPr>
          <p:cNvSpPr>
            <a:spLocks noGrp="1"/>
          </p:cNvSpPr>
          <p:nvPr>
            <p:ph type="ctrTitle" hasCustomPrompt="1"/>
          </p:nvPr>
        </p:nvSpPr>
        <p:spPr>
          <a:xfrm>
            <a:off x="709650" y="1087457"/>
            <a:ext cx="4937184" cy="1407004"/>
          </a:xfrm>
        </p:spPr>
        <p:txBody>
          <a:bodyPr vert="horz" anchor="t">
            <a:noAutofit/>
          </a:bodyPr>
          <a:lstStyle>
            <a:lvl1pPr algn="l">
              <a:lnSpc>
                <a:spcPct val="90000"/>
              </a:lnSpc>
              <a:defRPr lang="en-US" sz="3800" kern="1200" dirty="0">
                <a:solidFill>
                  <a:schemeClr val="accent1"/>
                </a:solidFill>
                <a:latin typeface="+mj-lt"/>
                <a:ea typeface="+mj-ea"/>
                <a:cs typeface="+mj-cs"/>
              </a:defRPr>
            </a:lvl1pPr>
          </a:lstStyle>
          <a:p>
            <a:r>
              <a:rPr lang="en-US"/>
              <a:t>Click to edit Master title style</a:t>
            </a:r>
            <a:endParaRPr lang="es-ES"/>
          </a:p>
        </p:txBody>
      </p:sp>
      <p:sp>
        <p:nvSpPr>
          <p:cNvPr id="3" name="Subtítulo 2">
            <a:extLst>
              <a:ext uri="{FF2B5EF4-FFF2-40B4-BE49-F238E27FC236}">
                <a16:creationId xmlns:a16="http://schemas.microsoft.com/office/drawing/2014/main" id="{7AB17398-CAA7-49B6-868C-44D053E7EAC0}"/>
              </a:ext>
            </a:extLst>
          </p:cNvPr>
          <p:cNvSpPr>
            <a:spLocks noGrp="1"/>
          </p:cNvSpPr>
          <p:nvPr>
            <p:ph type="subTitle" idx="1"/>
          </p:nvPr>
        </p:nvSpPr>
        <p:spPr>
          <a:xfrm>
            <a:off x="709650" y="2722142"/>
            <a:ext cx="4934309" cy="3292238"/>
          </a:xfrm>
        </p:spPr>
        <p:txBody>
          <a:bodyPr>
            <a:noAutofit/>
          </a:bodyPr>
          <a:lstStyle>
            <a:lvl1pPr marL="0" indent="0" algn="l">
              <a:lnSpc>
                <a:spcPct val="100000"/>
              </a:lnSpc>
              <a:spcBef>
                <a:spcPts val="0"/>
              </a:spcBef>
              <a:spcAft>
                <a:spcPts val="1200"/>
              </a:spcAft>
              <a:buNone/>
              <a:defRPr lang="en-US" sz="1600" kern="1200" dirty="0">
                <a:solidFill>
                  <a:schemeClr val="tx2"/>
                </a:solidFill>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4" name="Marcador de posición de imagen 11">
            <a:extLst>
              <a:ext uri="{FF2B5EF4-FFF2-40B4-BE49-F238E27FC236}">
                <a16:creationId xmlns:a16="http://schemas.microsoft.com/office/drawing/2014/main" id="{EDFCB299-D13E-444B-B00F-6F39279EA961}"/>
              </a:ext>
            </a:extLst>
          </p:cNvPr>
          <p:cNvSpPr>
            <a:spLocks noGrp="1"/>
          </p:cNvSpPr>
          <p:nvPr>
            <p:ph type="pic" sz="quarter" idx="15" hasCustomPrompt="1"/>
          </p:nvPr>
        </p:nvSpPr>
        <p:spPr>
          <a:xfrm>
            <a:off x="6752787" y="0"/>
            <a:ext cx="5439213" cy="6858000"/>
          </a:xfrm>
          <a:custGeom>
            <a:avLst/>
            <a:gdLst>
              <a:gd name="connsiteX0" fmla="*/ 922827 w 5024927"/>
              <a:gd name="connsiteY0" fmla="*/ 0 h 6858000"/>
              <a:gd name="connsiteX1" fmla="*/ 5024927 w 5024927"/>
              <a:gd name="connsiteY1" fmla="*/ 0 h 6858000"/>
              <a:gd name="connsiteX2" fmla="*/ 5024927 w 5024927"/>
              <a:gd name="connsiteY2" fmla="*/ 6858000 h 6858000"/>
              <a:gd name="connsiteX3" fmla="*/ 1486968 w 5024927"/>
              <a:gd name="connsiteY3" fmla="*/ 6858000 h 6858000"/>
              <a:gd name="connsiteX4" fmla="*/ 922827 w 5024927"/>
              <a:gd name="connsiteY4" fmla="*/ 6858000 h 6858000"/>
              <a:gd name="connsiteX5" fmla="*/ 0 w 5024927"/>
              <a:gd name="connsiteY5" fmla="*/ 6858000 h 6858000"/>
              <a:gd name="connsiteX6" fmla="*/ 0 w 5024927"/>
              <a:gd name="connsiteY6" fmla="*/ 3429000 h 6858000"/>
              <a:gd name="connsiteX7" fmla="*/ 922827 w 5024927"/>
              <a:gd name="connsiteY7" fmla="*/ 3429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24927" h="6858000">
                <a:moveTo>
                  <a:pt x="922827" y="0"/>
                </a:moveTo>
                <a:lnTo>
                  <a:pt x="5024927" y="0"/>
                </a:lnTo>
                <a:lnTo>
                  <a:pt x="5024927" y="6858000"/>
                </a:lnTo>
                <a:lnTo>
                  <a:pt x="1486968" y="6858000"/>
                </a:lnTo>
                <a:lnTo>
                  <a:pt x="922827" y="6858000"/>
                </a:lnTo>
                <a:lnTo>
                  <a:pt x="0" y="6858000"/>
                </a:lnTo>
                <a:lnTo>
                  <a:pt x="0" y="3429000"/>
                </a:lnTo>
                <a:lnTo>
                  <a:pt x="922827" y="3429000"/>
                </a:lnTo>
                <a:close/>
              </a:path>
            </a:pathLst>
          </a:custGeom>
        </p:spPr>
        <p:txBody>
          <a:bodyPr wrap="square">
            <a:noAutofit/>
          </a:bodyPr>
          <a:lstStyle>
            <a:lvl1pPr marL="0" marR="0" indent="0" algn="r" defTabSz="685800" rtl="0" eaLnBrk="1" fontAlgn="auto" latinLnBrk="0" hangingPunct="1">
              <a:lnSpc>
                <a:spcPct val="90000"/>
              </a:lnSpc>
              <a:spcBef>
                <a:spcPts val="750"/>
              </a:spcBef>
              <a:spcAft>
                <a:spcPts val="0"/>
              </a:spcAft>
              <a:buClrTx/>
              <a:buSzTx/>
              <a:buFontTx/>
              <a:buNone/>
              <a:tabLst/>
              <a:defRPr sz="1400">
                <a:solidFill>
                  <a:schemeClr val="tx2"/>
                </a:solidFill>
                <a:latin typeface="+mn-lt"/>
                <a:ea typeface="+mn-ea"/>
                <a:cs typeface="+mn-cs"/>
              </a:defRPr>
            </a:lvl1pPr>
          </a:lstStyle>
          <a:p>
            <a:pPr marL="0" marR="0" lvl="0" indent="0" algn="r" defTabSz="685800" rtl="0" eaLnBrk="1" fontAlgn="auto" latinLnBrk="0" hangingPunct="1">
              <a:lnSpc>
                <a:spcPct val="90000"/>
              </a:lnSpc>
              <a:spcBef>
                <a:spcPts val="750"/>
              </a:spcBef>
              <a:spcAft>
                <a:spcPts val="0"/>
              </a:spcAft>
              <a:buClrTx/>
              <a:buSzTx/>
              <a:buFontTx/>
              <a:buNone/>
              <a:tabLst/>
              <a:defRPr/>
            </a:pPr>
            <a:r>
              <a:rPr lang="es-ES" err="1"/>
              <a:t>Insert</a:t>
            </a:r>
            <a:r>
              <a:rPr lang="es-ES"/>
              <a:t> </a:t>
            </a:r>
            <a:r>
              <a:rPr lang="es-ES" err="1"/>
              <a:t>image</a:t>
            </a:r>
            <a:r>
              <a:rPr lang="es-ES"/>
              <a:t> </a:t>
            </a:r>
            <a:r>
              <a:rPr lang="es-ES" err="1"/>
              <a:t>here</a:t>
            </a:r>
            <a:endParaRPr lang="es-ES"/>
          </a:p>
          <a:p>
            <a:endParaRPr lang="es-ES"/>
          </a:p>
        </p:txBody>
      </p:sp>
      <p:sp>
        <p:nvSpPr>
          <p:cNvPr id="10" name="Marcador de texto 14">
            <a:extLst>
              <a:ext uri="{FF2B5EF4-FFF2-40B4-BE49-F238E27FC236}">
                <a16:creationId xmlns:a16="http://schemas.microsoft.com/office/drawing/2014/main" id="{0A7EFB2A-E451-4457-BE59-E41A30C47CD3}"/>
              </a:ext>
            </a:extLst>
          </p:cNvPr>
          <p:cNvSpPr>
            <a:spLocks noGrp="1"/>
          </p:cNvSpPr>
          <p:nvPr>
            <p:ph type="body" sz="quarter" idx="16"/>
          </p:nvPr>
        </p:nvSpPr>
        <p:spPr>
          <a:xfrm>
            <a:off x="711024" y="337100"/>
            <a:ext cx="4932935" cy="304800"/>
          </a:xfrm>
        </p:spPr>
        <p:txBody>
          <a:bodyPr>
            <a:noAutofit/>
          </a:bodyPr>
          <a:lstStyle>
            <a:lvl1pPr marL="0" indent="0">
              <a:buFontTx/>
              <a:buNone/>
              <a:defRPr lang="en-US" sz="1600" kern="1200" dirty="0">
                <a:solidFill>
                  <a:schemeClr val="accent1"/>
                </a:solidFill>
                <a:latin typeface="+mn-lt"/>
                <a:ea typeface="+mn-ea"/>
                <a:cs typeface="+mn-cs"/>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a:t>Edit Master text styles</a:t>
            </a:r>
          </a:p>
        </p:txBody>
      </p:sp>
      <p:sp>
        <p:nvSpPr>
          <p:cNvPr id="11" name="Freeform 5">
            <a:extLst>
              <a:ext uri="{FF2B5EF4-FFF2-40B4-BE49-F238E27FC236}">
                <a16:creationId xmlns:a16="http://schemas.microsoft.com/office/drawing/2014/main" id="{AE8CCE5E-9A3E-435E-B958-85D2AD7B63CE}"/>
              </a:ext>
            </a:extLst>
          </p:cNvPr>
          <p:cNvSpPr>
            <a:spLocks noEditPoints="1"/>
          </p:cNvSpPr>
          <p:nvPr userDrawn="1"/>
        </p:nvSpPr>
        <p:spPr bwMode="auto">
          <a:xfrm>
            <a:off x="832642" y="6262326"/>
            <a:ext cx="1171705" cy="206714"/>
          </a:xfrm>
          <a:custGeom>
            <a:avLst/>
            <a:gdLst>
              <a:gd name="T0" fmla="*/ 319 w 3262"/>
              <a:gd name="T1" fmla="*/ 39 h 572"/>
              <a:gd name="T2" fmla="*/ 300 w 3262"/>
              <a:gd name="T3" fmla="*/ 137 h 572"/>
              <a:gd name="T4" fmla="*/ 371 w 3262"/>
              <a:gd name="T5" fmla="*/ 405 h 572"/>
              <a:gd name="T6" fmla="*/ 244 w 3262"/>
              <a:gd name="T7" fmla="*/ 170 h 572"/>
              <a:gd name="T8" fmla="*/ 225 w 3262"/>
              <a:gd name="T9" fmla="*/ 267 h 572"/>
              <a:gd name="T10" fmla="*/ 300 w 3262"/>
              <a:gd name="T11" fmla="*/ 528 h 572"/>
              <a:gd name="T12" fmla="*/ 187 w 3262"/>
              <a:gd name="T13" fmla="*/ 333 h 572"/>
              <a:gd name="T14" fmla="*/ 300 w 3262"/>
              <a:gd name="T15" fmla="*/ 572 h 572"/>
              <a:gd name="T16" fmla="*/ 714 w 3262"/>
              <a:gd name="T17" fmla="*/ 540 h 572"/>
              <a:gd name="T18" fmla="*/ 910 w 3262"/>
              <a:gd name="T19" fmla="*/ 455 h 572"/>
              <a:gd name="T20" fmla="*/ 717 w 3262"/>
              <a:gd name="T21" fmla="*/ 258 h 572"/>
              <a:gd name="T22" fmla="*/ 945 w 3262"/>
              <a:gd name="T23" fmla="*/ 226 h 572"/>
              <a:gd name="T24" fmla="*/ 842 w 3262"/>
              <a:gd name="T25" fmla="*/ 322 h 572"/>
              <a:gd name="T26" fmla="*/ 829 w 3262"/>
              <a:gd name="T27" fmla="*/ 561 h 572"/>
              <a:gd name="T28" fmla="*/ 1277 w 3262"/>
              <a:gd name="T29" fmla="*/ 552 h 572"/>
              <a:gd name="T30" fmla="*/ 1138 w 3262"/>
              <a:gd name="T31" fmla="*/ 559 h 572"/>
              <a:gd name="T32" fmla="*/ 1277 w 3262"/>
              <a:gd name="T33" fmla="*/ 270 h 572"/>
              <a:gd name="T34" fmla="*/ 1171 w 3262"/>
              <a:gd name="T35" fmla="*/ 307 h 572"/>
              <a:gd name="T36" fmla="*/ 1215 w 3262"/>
              <a:gd name="T37" fmla="*/ 488 h 572"/>
              <a:gd name="T38" fmla="*/ 1533 w 3262"/>
              <a:gd name="T39" fmla="*/ 552 h 572"/>
              <a:gd name="T40" fmla="*/ 1407 w 3262"/>
              <a:gd name="T41" fmla="*/ 312 h 572"/>
              <a:gd name="T42" fmla="*/ 1345 w 3262"/>
              <a:gd name="T43" fmla="*/ 270 h 572"/>
              <a:gd name="T44" fmla="*/ 1767 w 3262"/>
              <a:gd name="T45" fmla="*/ 506 h 572"/>
              <a:gd name="T46" fmla="*/ 1756 w 3262"/>
              <a:gd name="T47" fmla="*/ 559 h 572"/>
              <a:gd name="T48" fmla="*/ 1719 w 3262"/>
              <a:gd name="T49" fmla="*/ 157 h 572"/>
              <a:gd name="T50" fmla="*/ 1812 w 3262"/>
              <a:gd name="T51" fmla="*/ 317 h 572"/>
              <a:gd name="T52" fmla="*/ 1767 w 3262"/>
              <a:gd name="T53" fmla="*/ 506 h 572"/>
              <a:gd name="T54" fmla="*/ 2043 w 3262"/>
              <a:gd name="T55" fmla="*/ 552 h 572"/>
              <a:gd name="T56" fmla="*/ 1836 w 3262"/>
              <a:gd name="T57" fmla="*/ 410 h 572"/>
              <a:gd name="T58" fmla="*/ 2038 w 3262"/>
              <a:gd name="T59" fmla="*/ 488 h 572"/>
              <a:gd name="T60" fmla="*/ 1899 w 3262"/>
              <a:gd name="T61" fmla="*/ 410 h 572"/>
              <a:gd name="T62" fmla="*/ 2418 w 3262"/>
              <a:gd name="T63" fmla="*/ 363 h 572"/>
              <a:gd name="T64" fmla="*/ 2356 w 3262"/>
              <a:gd name="T65" fmla="*/ 373 h 572"/>
              <a:gd name="T66" fmla="*/ 2230 w 3262"/>
              <a:gd name="T67" fmla="*/ 552 h 572"/>
              <a:gd name="T68" fmla="*/ 2281 w 3262"/>
              <a:gd name="T69" fmla="*/ 254 h 572"/>
              <a:gd name="T70" fmla="*/ 2733 w 3262"/>
              <a:gd name="T71" fmla="*/ 552 h 572"/>
              <a:gd name="T72" fmla="*/ 2591 w 3262"/>
              <a:gd name="T73" fmla="*/ 559 h 572"/>
              <a:gd name="T74" fmla="*/ 2671 w 3262"/>
              <a:gd name="T75" fmla="*/ 259 h 572"/>
              <a:gd name="T76" fmla="*/ 2671 w 3262"/>
              <a:gd name="T77" fmla="*/ 487 h 572"/>
              <a:gd name="T78" fmla="*/ 2531 w 3262"/>
              <a:gd name="T79" fmla="*/ 410 h 572"/>
              <a:gd name="T80" fmla="*/ 3045 w 3262"/>
              <a:gd name="T81" fmla="*/ 432 h 572"/>
              <a:gd name="T82" fmla="*/ 3038 w 3262"/>
              <a:gd name="T83" fmla="*/ 485 h 572"/>
              <a:gd name="T84" fmla="*/ 2783 w 3262"/>
              <a:gd name="T85" fmla="*/ 405 h 572"/>
              <a:gd name="T86" fmla="*/ 3045 w 3262"/>
              <a:gd name="T87" fmla="*/ 432 h 572"/>
              <a:gd name="T88" fmla="*/ 2918 w 3262"/>
              <a:gd name="T89" fmla="*/ 306 h 572"/>
              <a:gd name="T90" fmla="*/ 3256 w 3262"/>
              <a:gd name="T91" fmla="*/ 310 h 572"/>
              <a:gd name="T92" fmla="*/ 3164 w 3262"/>
              <a:gd name="T93" fmla="*/ 552 h 572"/>
              <a:gd name="T94" fmla="*/ 3208 w 3262"/>
              <a:gd name="T95" fmla="*/ 254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262" h="572">
                <a:moveTo>
                  <a:pt x="430" y="262"/>
                </a:moveTo>
                <a:cubicBezTo>
                  <a:pt x="429" y="241"/>
                  <a:pt x="424" y="221"/>
                  <a:pt x="413" y="202"/>
                </a:cubicBezTo>
                <a:cubicBezTo>
                  <a:pt x="319" y="39"/>
                  <a:pt x="319" y="39"/>
                  <a:pt x="319" y="39"/>
                </a:cubicBezTo>
                <a:cubicBezTo>
                  <a:pt x="312" y="27"/>
                  <a:pt x="307" y="14"/>
                  <a:pt x="304" y="0"/>
                </a:cubicBezTo>
                <a:cubicBezTo>
                  <a:pt x="300" y="7"/>
                  <a:pt x="300" y="7"/>
                  <a:pt x="300" y="7"/>
                </a:cubicBezTo>
                <a:cubicBezTo>
                  <a:pt x="277" y="47"/>
                  <a:pt x="277" y="97"/>
                  <a:pt x="300" y="137"/>
                </a:cubicBezTo>
                <a:cubicBezTo>
                  <a:pt x="375" y="267"/>
                  <a:pt x="375" y="267"/>
                  <a:pt x="375" y="267"/>
                </a:cubicBezTo>
                <a:cubicBezTo>
                  <a:pt x="399" y="308"/>
                  <a:pt x="399" y="357"/>
                  <a:pt x="375" y="398"/>
                </a:cubicBezTo>
                <a:cubicBezTo>
                  <a:pt x="371" y="405"/>
                  <a:pt x="371" y="405"/>
                  <a:pt x="371" y="405"/>
                </a:cubicBezTo>
                <a:cubicBezTo>
                  <a:pt x="369" y="391"/>
                  <a:pt x="364" y="378"/>
                  <a:pt x="356" y="365"/>
                </a:cubicBezTo>
                <a:cubicBezTo>
                  <a:pt x="288" y="246"/>
                  <a:pt x="288" y="246"/>
                  <a:pt x="288" y="246"/>
                </a:cubicBezTo>
                <a:cubicBezTo>
                  <a:pt x="244" y="170"/>
                  <a:pt x="244" y="170"/>
                  <a:pt x="244" y="170"/>
                </a:cubicBezTo>
                <a:cubicBezTo>
                  <a:pt x="236" y="157"/>
                  <a:pt x="232" y="144"/>
                  <a:pt x="229" y="130"/>
                </a:cubicBezTo>
                <a:cubicBezTo>
                  <a:pt x="225" y="137"/>
                  <a:pt x="225" y="137"/>
                  <a:pt x="225" y="137"/>
                </a:cubicBezTo>
                <a:cubicBezTo>
                  <a:pt x="202" y="177"/>
                  <a:pt x="202" y="227"/>
                  <a:pt x="225" y="267"/>
                </a:cubicBezTo>
                <a:cubicBezTo>
                  <a:pt x="225" y="267"/>
                  <a:pt x="225" y="267"/>
                  <a:pt x="225" y="267"/>
                </a:cubicBezTo>
                <a:cubicBezTo>
                  <a:pt x="300" y="398"/>
                  <a:pt x="300" y="398"/>
                  <a:pt x="300" y="398"/>
                </a:cubicBezTo>
                <a:cubicBezTo>
                  <a:pt x="323" y="438"/>
                  <a:pt x="323" y="488"/>
                  <a:pt x="300" y="528"/>
                </a:cubicBezTo>
                <a:cubicBezTo>
                  <a:pt x="296" y="535"/>
                  <a:pt x="296" y="535"/>
                  <a:pt x="296" y="535"/>
                </a:cubicBezTo>
                <a:cubicBezTo>
                  <a:pt x="293" y="521"/>
                  <a:pt x="288" y="508"/>
                  <a:pt x="281" y="495"/>
                </a:cubicBezTo>
                <a:cubicBezTo>
                  <a:pt x="187" y="333"/>
                  <a:pt x="187" y="333"/>
                  <a:pt x="187" y="333"/>
                </a:cubicBezTo>
                <a:cubicBezTo>
                  <a:pt x="175" y="311"/>
                  <a:pt x="169" y="286"/>
                  <a:pt x="170" y="262"/>
                </a:cubicBezTo>
                <a:cubicBezTo>
                  <a:pt x="69" y="288"/>
                  <a:pt x="0" y="344"/>
                  <a:pt x="0" y="409"/>
                </a:cubicBezTo>
                <a:cubicBezTo>
                  <a:pt x="0" y="499"/>
                  <a:pt x="134" y="572"/>
                  <a:pt x="300" y="572"/>
                </a:cubicBezTo>
                <a:cubicBezTo>
                  <a:pt x="466" y="572"/>
                  <a:pt x="600" y="499"/>
                  <a:pt x="600" y="409"/>
                </a:cubicBezTo>
                <a:cubicBezTo>
                  <a:pt x="600" y="344"/>
                  <a:pt x="531" y="288"/>
                  <a:pt x="430" y="262"/>
                </a:cubicBezTo>
                <a:close/>
                <a:moveTo>
                  <a:pt x="714" y="540"/>
                </a:moveTo>
                <a:cubicBezTo>
                  <a:pt x="715" y="517"/>
                  <a:pt x="718" y="501"/>
                  <a:pt x="725" y="483"/>
                </a:cubicBezTo>
                <a:cubicBezTo>
                  <a:pt x="756" y="498"/>
                  <a:pt x="797" y="505"/>
                  <a:pt x="828" y="505"/>
                </a:cubicBezTo>
                <a:cubicBezTo>
                  <a:pt x="880" y="505"/>
                  <a:pt x="910" y="488"/>
                  <a:pt x="910" y="455"/>
                </a:cubicBezTo>
                <a:cubicBezTo>
                  <a:pt x="910" y="422"/>
                  <a:pt x="888" y="407"/>
                  <a:pt x="835" y="384"/>
                </a:cubicBezTo>
                <a:cubicBezTo>
                  <a:pt x="806" y="371"/>
                  <a:pt x="806" y="371"/>
                  <a:pt x="806" y="371"/>
                </a:cubicBezTo>
                <a:cubicBezTo>
                  <a:pt x="753" y="348"/>
                  <a:pt x="717" y="318"/>
                  <a:pt x="717" y="258"/>
                </a:cubicBezTo>
                <a:cubicBezTo>
                  <a:pt x="717" y="194"/>
                  <a:pt x="762" y="153"/>
                  <a:pt x="853" y="153"/>
                </a:cubicBezTo>
                <a:cubicBezTo>
                  <a:pt x="890" y="153"/>
                  <a:pt x="924" y="158"/>
                  <a:pt x="956" y="169"/>
                </a:cubicBezTo>
                <a:cubicBezTo>
                  <a:pt x="955" y="192"/>
                  <a:pt x="951" y="209"/>
                  <a:pt x="945" y="226"/>
                </a:cubicBezTo>
                <a:cubicBezTo>
                  <a:pt x="915" y="214"/>
                  <a:pt x="879" y="209"/>
                  <a:pt x="853" y="209"/>
                </a:cubicBezTo>
                <a:cubicBezTo>
                  <a:pt x="804" y="209"/>
                  <a:pt x="781" y="228"/>
                  <a:pt x="781" y="258"/>
                </a:cubicBezTo>
                <a:cubicBezTo>
                  <a:pt x="781" y="288"/>
                  <a:pt x="803" y="305"/>
                  <a:pt x="842" y="322"/>
                </a:cubicBezTo>
                <a:cubicBezTo>
                  <a:pt x="873" y="335"/>
                  <a:pt x="873" y="335"/>
                  <a:pt x="873" y="335"/>
                </a:cubicBezTo>
                <a:cubicBezTo>
                  <a:pt x="945" y="365"/>
                  <a:pt x="974" y="397"/>
                  <a:pt x="974" y="452"/>
                </a:cubicBezTo>
                <a:cubicBezTo>
                  <a:pt x="974" y="517"/>
                  <a:pt x="925" y="561"/>
                  <a:pt x="829" y="561"/>
                </a:cubicBezTo>
                <a:cubicBezTo>
                  <a:pt x="783" y="561"/>
                  <a:pt x="745" y="555"/>
                  <a:pt x="714" y="540"/>
                </a:cubicBezTo>
                <a:close/>
                <a:moveTo>
                  <a:pt x="1277" y="270"/>
                </a:moveTo>
                <a:cubicBezTo>
                  <a:pt x="1277" y="552"/>
                  <a:pt x="1277" y="552"/>
                  <a:pt x="1277" y="552"/>
                </a:cubicBezTo>
                <a:cubicBezTo>
                  <a:pt x="1220" y="552"/>
                  <a:pt x="1220" y="552"/>
                  <a:pt x="1220" y="552"/>
                </a:cubicBezTo>
                <a:cubicBezTo>
                  <a:pt x="1217" y="518"/>
                  <a:pt x="1217" y="518"/>
                  <a:pt x="1217" y="518"/>
                </a:cubicBezTo>
                <a:cubicBezTo>
                  <a:pt x="1201" y="543"/>
                  <a:pt x="1177" y="559"/>
                  <a:pt x="1138" y="559"/>
                </a:cubicBezTo>
                <a:cubicBezTo>
                  <a:pt x="1063" y="559"/>
                  <a:pt x="1013" y="505"/>
                  <a:pt x="1013" y="410"/>
                </a:cubicBezTo>
                <a:cubicBezTo>
                  <a:pt x="1013" y="311"/>
                  <a:pt x="1066" y="254"/>
                  <a:pt x="1171" y="254"/>
                </a:cubicBezTo>
                <a:cubicBezTo>
                  <a:pt x="1211" y="254"/>
                  <a:pt x="1245" y="259"/>
                  <a:pt x="1277" y="270"/>
                </a:cubicBezTo>
                <a:close/>
                <a:moveTo>
                  <a:pt x="1215" y="488"/>
                </a:moveTo>
                <a:cubicBezTo>
                  <a:pt x="1215" y="311"/>
                  <a:pt x="1215" y="311"/>
                  <a:pt x="1215" y="311"/>
                </a:cubicBezTo>
                <a:cubicBezTo>
                  <a:pt x="1202" y="309"/>
                  <a:pt x="1188" y="307"/>
                  <a:pt x="1171" y="307"/>
                </a:cubicBezTo>
                <a:cubicBezTo>
                  <a:pt x="1107" y="307"/>
                  <a:pt x="1077" y="347"/>
                  <a:pt x="1077" y="410"/>
                </a:cubicBezTo>
                <a:cubicBezTo>
                  <a:pt x="1077" y="468"/>
                  <a:pt x="1100" y="508"/>
                  <a:pt x="1155" y="508"/>
                </a:cubicBezTo>
                <a:cubicBezTo>
                  <a:pt x="1179" y="508"/>
                  <a:pt x="1199" y="500"/>
                  <a:pt x="1215" y="488"/>
                </a:cubicBezTo>
                <a:close/>
                <a:moveTo>
                  <a:pt x="1595" y="363"/>
                </a:moveTo>
                <a:cubicBezTo>
                  <a:pt x="1595" y="552"/>
                  <a:pt x="1595" y="552"/>
                  <a:pt x="1595" y="552"/>
                </a:cubicBezTo>
                <a:cubicBezTo>
                  <a:pt x="1533" y="552"/>
                  <a:pt x="1533" y="552"/>
                  <a:pt x="1533" y="552"/>
                </a:cubicBezTo>
                <a:cubicBezTo>
                  <a:pt x="1533" y="373"/>
                  <a:pt x="1533" y="373"/>
                  <a:pt x="1533" y="373"/>
                </a:cubicBezTo>
                <a:cubicBezTo>
                  <a:pt x="1533" y="329"/>
                  <a:pt x="1518" y="307"/>
                  <a:pt x="1456" y="307"/>
                </a:cubicBezTo>
                <a:cubicBezTo>
                  <a:pt x="1442" y="307"/>
                  <a:pt x="1424" y="309"/>
                  <a:pt x="1407" y="312"/>
                </a:cubicBezTo>
                <a:cubicBezTo>
                  <a:pt x="1407" y="552"/>
                  <a:pt x="1407" y="552"/>
                  <a:pt x="1407" y="552"/>
                </a:cubicBezTo>
                <a:cubicBezTo>
                  <a:pt x="1345" y="552"/>
                  <a:pt x="1345" y="552"/>
                  <a:pt x="1345" y="552"/>
                </a:cubicBezTo>
                <a:cubicBezTo>
                  <a:pt x="1345" y="270"/>
                  <a:pt x="1345" y="270"/>
                  <a:pt x="1345" y="270"/>
                </a:cubicBezTo>
                <a:cubicBezTo>
                  <a:pt x="1385" y="261"/>
                  <a:pt x="1428" y="254"/>
                  <a:pt x="1458" y="254"/>
                </a:cubicBezTo>
                <a:cubicBezTo>
                  <a:pt x="1562" y="254"/>
                  <a:pt x="1595" y="294"/>
                  <a:pt x="1595" y="363"/>
                </a:cubicBezTo>
                <a:close/>
                <a:moveTo>
                  <a:pt x="1767" y="506"/>
                </a:moveTo>
                <a:cubicBezTo>
                  <a:pt x="1785" y="506"/>
                  <a:pt x="1802" y="503"/>
                  <a:pt x="1816" y="498"/>
                </a:cubicBezTo>
                <a:cubicBezTo>
                  <a:pt x="1814" y="515"/>
                  <a:pt x="1812" y="534"/>
                  <a:pt x="1808" y="550"/>
                </a:cubicBezTo>
                <a:cubicBezTo>
                  <a:pt x="1791" y="557"/>
                  <a:pt x="1773" y="559"/>
                  <a:pt x="1756" y="559"/>
                </a:cubicBezTo>
                <a:cubicBezTo>
                  <a:pt x="1696" y="559"/>
                  <a:pt x="1657" y="531"/>
                  <a:pt x="1657" y="463"/>
                </a:cubicBezTo>
                <a:cubicBezTo>
                  <a:pt x="1657" y="166"/>
                  <a:pt x="1657" y="166"/>
                  <a:pt x="1657" y="166"/>
                </a:cubicBezTo>
                <a:cubicBezTo>
                  <a:pt x="1676" y="160"/>
                  <a:pt x="1700" y="157"/>
                  <a:pt x="1719" y="157"/>
                </a:cubicBezTo>
                <a:cubicBezTo>
                  <a:pt x="1719" y="264"/>
                  <a:pt x="1719" y="264"/>
                  <a:pt x="1719" y="264"/>
                </a:cubicBezTo>
                <a:cubicBezTo>
                  <a:pt x="1817" y="264"/>
                  <a:pt x="1817" y="264"/>
                  <a:pt x="1817" y="264"/>
                </a:cubicBezTo>
                <a:cubicBezTo>
                  <a:pt x="1816" y="283"/>
                  <a:pt x="1815" y="301"/>
                  <a:pt x="1812" y="317"/>
                </a:cubicBezTo>
                <a:cubicBezTo>
                  <a:pt x="1719" y="317"/>
                  <a:pt x="1719" y="317"/>
                  <a:pt x="1719" y="317"/>
                </a:cubicBezTo>
                <a:cubicBezTo>
                  <a:pt x="1719" y="455"/>
                  <a:pt x="1719" y="455"/>
                  <a:pt x="1719" y="455"/>
                </a:cubicBezTo>
                <a:cubicBezTo>
                  <a:pt x="1719" y="492"/>
                  <a:pt x="1737" y="506"/>
                  <a:pt x="1767" y="506"/>
                </a:cubicBezTo>
                <a:close/>
                <a:moveTo>
                  <a:pt x="2100" y="270"/>
                </a:moveTo>
                <a:cubicBezTo>
                  <a:pt x="2100" y="552"/>
                  <a:pt x="2100" y="552"/>
                  <a:pt x="2100" y="552"/>
                </a:cubicBezTo>
                <a:cubicBezTo>
                  <a:pt x="2043" y="552"/>
                  <a:pt x="2043" y="552"/>
                  <a:pt x="2043" y="552"/>
                </a:cubicBezTo>
                <a:cubicBezTo>
                  <a:pt x="2040" y="518"/>
                  <a:pt x="2040" y="518"/>
                  <a:pt x="2040" y="518"/>
                </a:cubicBezTo>
                <a:cubicBezTo>
                  <a:pt x="2024" y="543"/>
                  <a:pt x="2000" y="559"/>
                  <a:pt x="1960" y="559"/>
                </a:cubicBezTo>
                <a:cubicBezTo>
                  <a:pt x="1886" y="559"/>
                  <a:pt x="1836" y="505"/>
                  <a:pt x="1836" y="410"/>
                </a:cubicBezTo>
                <a:cubicBezTo>
                  <a:pt x="1836" y="311"/>
                  <a:pt x="1889" y="254"/>
                  <a:pt x="1993" y="254"/>
                </a:cubicBezTo>
                <a:cubicBezTo>
                  <a:pt x="2034" y="254"/>
                  <a:pt x="2067" y="259"/>
                  <a:pt x="2100" y="270"/>
                </a:cubicBezTo>
                <a:close/>
                <a:moveTo>
                  <a:pt x="2038" y="488"/>
                </a:moveTo>
                <a:cubicBezTo>
                  <a:pt x="2038" y="311"/>
                  <a:pt x="2038" y="311"/>
                  <a:pt x="2038" y="311"/>
                </a:cubicBezTo>
                <a:cubicBezTo>
                  <a:pt x="2025" y="309"/>
                  <a:pt x="2011" y="307"/>
                  <a:pt x="1993" y="307"/>
                </a:cubicBezTo>
                <a:cubicBezTo>
                  <a:pt x="1929" y="307"/>
                  <a:pt x="1899" y="347"/>
                  <a:pt x="1899" y="410"/>
                </a:cubicBezTo>
                <a:cubicBezTo>
                  <a:pt x="1899" y="468"/>
                  <a:pt x="1922" y="508"/>
                  <a:pt x="1978" y="508"/>
                </a:cubicBezTo>
                <a:cubicBezTo>
                  <a:pt x="2002" y="508"/>
                  <a:pt x="2022" y="500"/>
                  <a:pt x="2038" y="488"/>
                </a:cubicBezTo>
                <a:close/>
                <a:moveTo>
                  <a:pt x="2418" y="363"/>
                </a:moveTo>
                <a:cubicBezTo>
                  <a:pt x="2418" y="552"/>
                  <a:pt x="2418" y="552"/>
                  <a:pt x="2418" y="552"/>
                </a:cubicBezTo>
                <a:cubicBezTo>
                  <a:pt x="2356" y="552"/>
                  <a:pt x="2356" y="552"/>
                  <a:pt x="2356" y="552"/>
                </a:cubicBezTo>
                <a:cubicBezTo>
                  <a:pt x="2356" y="373"/>
                  <a:pt x="2356" y="373"/>
                  <a:pt x="2356" y="373"/>
                </a:cubicBezTo>
                <a:cubicBezTo>
                  <a:pt x="2356" y="329"/>
                  <a:pt x="2341" y="307"/>
                  <a:pt x="2279" y="307"/>
                </a:cubicBezTo>
                <a:cubicBezTo>
                  <a:pt x="2264" y="307"/>
                  <a:pt x="2247" y="309"/>
                  <a:pt x="2230" y="312"/>
                </a:cubicBezTo>
                <a:cubicBezTo>
                  <a:pt x="2230" y="552"/>
                  <a:pt x="2230" y="552"/>
                  <a:pt x="2230" y="552"/>
                </a:cubicBezTo>
                <a:cubicBezTo>
                  <a:pt x="2168" y="552"/>
                  <a:pt x="2168" y="552"/>
                  <a:pt x="2168" y="552"/>
                </a:cubicBezTo>
                <a:cubicBezTo>
                  <a:pt x="2168" y="270"/>
                  <a:pt x="2168" y="270"/>
                  <a:pt x="2168" y="270"/>
                </a:cubicBezTo>
                <a:cubicBezTo>
                  <a:pt x="2207" y="261"/>
                  <a:pt x="2251" y="254"/>
                  <a:pt x="2281" y="254"/>
                </a:cubicBezTo>
                <a:cubicBezTo>
                  <a:pt x="2384" y="254"/>
                  <a:pt x="2418" y="294"/>
                  <a:pt x="2418" y="363"/>
                </a:cubicBezTo>
                <a:close/>
                <a:moveTo>
                  <a:pt x="2733" y="157"/>
                </a:moveTo>
                <a:cubicBezTo>
                  <a:pt x="2733" y="552"/>
                  <a:pt x="2733" y="552"/>
                  <a:pt x="2733" y="552"/>
                </a:cubicBezTo>
                <a:cubicBezTo>
                  <a:pt x="2676" y="552"/>
                  <a:pt x="2676" y="552"/>
                  <a:pt x="2676" y="552"/>
                </a:cubicBezTo>
                <a:cubicBezTo>
                  <a:pt x="2672" y="516"/>
                  <a:pt x="2672" y="516"/>
                  <a:pt x="2672" y="516"/>
                </a:cubicBezTo>
                <a:cubicBezTo>
                  <a:pt x="2656" y="543"/>
                  <a:pt x="2632" y="559"/>
                  <a:pt x="2591" y="559"/>
                </a:cubicBezTo>
                <a:cubicBezTo>
                  <a:pt x="2517" y="559"/>
                  <a:pt x="2467" y="505"/>
                  <a:pt x="2467" y="410"/>
                </a:cubicBezTo>
                <a:cubicBezTo>
                  <a:pt x="2467" y="311"/>
                  <a:pt x="2520" y="254"/>
                  <a:pt x="2625" y="254"/>
                </a:cubicBezTo>
                <a:cubicBezTo>
                  <a:pt x="2641" y="254"/>
                  <a:pt x="2656" y="256"/>
                  <a:pt x="2671" y="259"/>
                </a:cubicBezTo>
                <a:cubicBezTo>
                  <a:pt x="2671" y="166"/>
                  <a:pt x="2671" y="166"/>
                  <a:pt x="2671" y="166"/>
                </a:cubicBezTo>
                <a:cubicBezTo>
                  <a:pt x="2690" y="159"/>
                  <a:pt x="2712" y="157"/>
                  <a:pt x="2733" y="157"/>
                </a:cubicBezTo>
                <a:close/>
                <a:moveTo>
                  <a:pt x="2671" y="487"/>
                </a:moveTo>
                <a:cubicBezTo>
                  <a:pt x="2671" y="313"/>
                  <a:pt x="2671" y="313"/>
                  <a:pt x="2671" y="313"/>
                </a:cubicBezTo>
                <a:cubicBezTo>
                  <a:pt x="2655" y="310"/>
                  <a:pt x="2638" y="307"/>
                  <a:pt x="2621" y="307"/>
                </a:cubicBezTo>
                <a:cubicBezTo>
                  <a:pt x="2560" y="307"/>
                  <a:pt x="2531" y="346"/>
                  <a:pt x="2531" y="410"/>
                </a:cubicBezTo>
                <a:cubicBezTo>
                  <a:pt x="2531" y="468"/>
                  <a:pt x="2554" y="508"/>
                  <a:pt x="2609" y="508"/>
                </a:cubicBezTo>
                <a:cubicBezTo>
                  <a:pt x="2634" y="508"/>
                  <a:pt x="2654" y="500"/>
                  <a:pt x="2671" y="487"/>
                </a:cubicBezTo>
                <a:close/>
                <a:moveTo>
                  <a:pt x="3045" y="432"/>
                </a:moveTo>
                <a:cubicBezTo>
                  <a:pt x="2847" y="432"/>
                  <a:pt x="2847" y="432"/>
                  <a:pt x="2847" y="432"/>
                </a:cubicBezTo>
                <a:cubicBezTo>
                  <a:pt x="2854" y="482"/>
                  <a:pt x="2884" y="506"/>
                  <a:pt x="2939" y="506"/>
                </a:cubicBezTo>
                <a:cubicBezTo>
                  <a:pt x="2973" y="506"/>
                  <a:pt x="3007" y="499"/>
                  <a:pt x="3038" y="485"/>
                </a:cubicBezTo>
                <a:cubicBezTo>
                  <a:pt x="3036" y="501"/>
                  <a:pt x="3033" y="522"/>
                  <a:pt x="3029" y="541"/>
                </a:cubicBezTo>
                <a:cubicBezTo>
                  <a:pt x="3001" y="554"/>
                  <a:pt x="2971" y="559"/>
                  <a:pt x="2937" y="559"/>
                </a:cubicBezTo>
                <a:cubicBezTo>
                  <a:pt x="2834" y="559"/>
                  <a:pt x="2783" y="502"/>
                  <a:pt x="2783" y="405"/>
                </a:cubicBezTo>
                <a:cubicBezTo>
                  <a:pt x="2783" y="321"/>
                  <a:pt x="2822" y="254"/>
                  <a:pt x="2921" y="254"/>
                </a:cubicBezTo>
                <a:cubicBezTo>
                  <a:pt x="3010" y="254"/>
                  <a:pt x="3048" y="313"/>
                  <a:pt x="3048" y="384"/>
                </a:cubicBezTo>
                <a:cubicBezTo>
                  <a:pt x="3048" y="401"/>
                  <a:pt x="3047" y="415"/>
                  <a:pt x="3045" y="432"/>
                </a:cubicBezTo>
                <a:close/>
                <a:moveTo>
                  <a:pt x="2845" y="380"/>
                </a:moveTo>
                <a:cubicBezTo>
                  <a:pt x="2985" y="380"/>
                  <a:pt x="2985" y="380"/>
                  <a:pt x="2985" y="380"/>
                </a:cubicBezTo>
                <a:cubicBezTo>
                  <a:pt x="2985" y="333"/>
                  <a:pt x="2960" y="306"/>
                  <a:pt x="2918" y="306"/>
                </a:cubicBezTo>
                <a:cubicBezTo>
                  <a:pt x="2874" y="306"/>
                  <a:pt x="2850" y="332"/>
                  <a:pt x="2845" y="380"/>
                </a:cubicBezTo>
                <a:close/>
                <a:moveTo>
                  <a:pt x="3262" y="257"/>
                </a:moveTo>
                <a:cubicBezTo>
                  <a:pt x="3262" y="275"/>
                  <a:pt x="3260" y="298"/>
                  <a:pt x="3256" y="310"/>
                </a:cubicBezTo>
                <a:cubicBezTo>
                  <a:pt x="3241" y="308"/>
                  <a:pt x="3227" y="307"/>
                  <a:pt x="3209" y="307"/>
                </a:cubicBezTo>
                <a:cubicBezTo>
                  <a:pt x="3194" y="307"/>
                  <a:pt x="3179" y="309"/>
                  <a:pt x="3164" y="311"/>
                </a:cubicBezTo>
                <a:cubicBezTo>
                  <a:pt x="3164" y="552"/>
                  <a:pt x="3164" y="552"/>
                  <a:pt x="3164" y="552"/>
                </a:cubicBezTo>
                <a:cubicBezTo>
                  <a:pt x="3102" y="552"/>
                  <a:pt x="3102" y="552"/>
                  <a:pt x="3102" y="552"/>
                </a:cubicBezTo>
                <a:cubicBezTo>
                  <a:pt x="3102" y="270"/>
                  <a:pt x="3102" y="270"/>
                  <a:pt x="3102" y="270"/>
                </a:cubicBezTo>
                <a:cubicBezTo>
                  <a:pt x="3128" y="261"/>
                  <a:pt x="3173" y="254"/>
                  <a:pt x="3208" y="254"/>
                </a:cubicBezTo>
                <a:cubicBezTo>
                  <a:pt x="3227" y="254"/>
                  <a:pt x="3248" y="255"/>
                  <a:pt x="3262" y="257"/>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solidFill>
                <a:prstClr val="black"/>
              </a:solidFill>
            </a:endParaRPr>
          </a:p>
        </p:txBody>
      </p:sp>
    </p:spTree>
    <p:extLst>
      <p:ext uri="{BB962C8B-B14F-4D97-AF65-F5344CB8AC3E}">
        <p14:creationId xmlns:p14="http://schemas.microsoft.com/office/powerpoint/2010/main" val="1577506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Header &amp; Content ">
    <p:spTree>
      <p:nvGrpSpPr>
        <p:cNvPr id="1" name=""/>
        <p:cNvGrpSpPr/>
        <p:nvPr/>
      </p:nvGrpSpPr>
      <p:grpSpPr>
        <a:xfrm>
          <a:off x="0" y="0"/>
          <a:ext cx="0" cy="0"/>
          <a:chOff x="0" y="0"/>
          <a:chExt cx="0" cy="0"/>
        </a:xfrm>
      </p:grpSpPr>
      <p:graphicFrame>
        <p:nvGraphicFramePr>
          <p:cNvPr id="4" name="Objeto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to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66B5AEF2-F43E-4C92-A186-61C1E43CE82B}"/>
              </a:ext>
            </a:extLst>
          </p:cNvPr>
          <p:cNvSpPr>
            <a:spLocks noGrp="1"/>
          </p:cNvSpPr>
          <p:nvPr>
            <p:ph type="title" hasCustomPrompt="1"/>
          </p:nvPr>
        </p:nvSpPr>
        <p:spPr>
          <a:xfrm>
            <a:off x="711024" y="1087457"/>
            <a:ext cx="5297557" cy="1606047"/>
          </a:xfrm>
        </p:spPr>
        <p:txBody>
          <a:bodyPr vert="horz" anchor="t">
            <a:noAutofit/>
          </a:bodyPr>
          <a:lstStyle>
            <a:lvl1pPr>
              <a:defRPr lang="en-US" sz="3800" kern="1200" dirty="0">
                <a:solidFill>
                  <a:schemeClr val="accent1"/>
                </a:solidFill>
                <a:latin typeface="+mj-lt"/>
                <a:ea typeface="+mj-ea"/>
                <a:cs typeface="+mj-cs"/>
              </a:defRPr>
            </a:lvl1pPr>
          </a:lstStyle>
          <a:p>
            <a:r>
              <a:rPr lang="en-US"/>
              <a:t>Click to edit Master title style</a:t>
            </a:r>
            <a:endParaRPr lang="es-ES"/>
          </a:p>
        </p:txBody>
      </p:sp>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0"/>
            <a:ext cx="2743200" cy="365125"/>
          </a:xfrm>
        </p:spPr>
        <p:txBody>
          <a:bodyPr/>
          <a:lstStyle>
            <a:lvl1pPr>
              <a:defRPr lang="es-ES" sz="1300" kern="1200" smtClean="0">
                <a:solidFill>
                  <a:schemeClr val="accent1"/>
                </a:solidFill>
                <a:latin typeface="+mn-lt"/>
                <a:ea typeface="+mn-ea"/>
                <a:cs typeface="+mn-cs"/>
              </a:defRPr>
            </a:lvl1pPr>
          </a:lstStyle>
          <a:p>
            <a:fld id="{BC0D97B6-E32F-4D7D-B839-7C3B51F2640F}" type="slidenum">
              <a:rPr>
                <a:solidFill>
                  <a:srgbClr val="EC0000"/>
                </a:solidFill>
              </a:rPr>
              <a:pPr/>
              <a:t>‹Nº›</a:t>
            </a:fld>
            <a:endParaRPr>
              <a:solidFill>
                <a:srgbClr val="EC0000"/>
              </a:solidFill>
            </a:endParaRPr>
          </a:p>
        </p:txBody>
      </p:sp>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lang="en-US" sz="1600" kern="1200" dirty="0">
                <a:solidFill>
                  <a:schemeClr val="accent1"/>
                </a:solidFill>
                <a:latin typeface="+mn-lt"/>
                <a:ea typeface="+mn-ea"/>
                <a:cs typeface="+mn-cs"/>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a:t>Edit Master text styles</a:t>
            </a:r>
          </a:p>
        </p:txBody>
      </p:sp>
      <p:sp>
        <p:nvSpPr>
          <p:cNvPr id="18" name="Marcador de texto 16">
            <a:extLst>
              <a:ext uri="{FF2B5EF4-FFF2-40B4-BE49-F238E27FC236}">
                <a16:creationId xmlns:a16="http://schemas.microsoft.com/office/drawing/2014/main" id="{07C8BA77-3119-41AC-B33B-745A751CC066}"/>
              </a:ext>
            </a:extLst>
          </p:cNvPr>
          <p:cNvSpPr>
            <a:spLocks noGrp="1"/>
          </p:cNvSpPr>
          <p:nvPr>
            <p:ph type="body" sz="quarter" idx="15"/>
          </p:nvPr>
        </p:nvSpPr>
        <p:spPr>
          <a:xfrm>
            <a:off x="711024" y="2944750"/>
            <a:ext cx="5308776" cy="3083401"/>
          </a:xfrm>
        </p:spPr>
        <p:txBody>
          <a:bodyPr>
            <a:noAutofit/>
          </a:bodyPr>
          <a:lstStyle>
            <a:lvl1pPr marL="0" indent="0">
              <a:spcBef>
                <a:spcPts val="0"/>
              </a:spcBef>
              <a:spcAft>
                <a:spcPts val="2200"/>
              </a:spcAft>
              <a:buFontTx/>
              <a:buNone/>
              <a:defRPr lang="en-US" sz="1600" kern="1200" dirty="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a:t>Edit Master text styles</a:t>
            </a:r>
          </a:p>
        </p:txBody>
      </p:sp>
      <p:sp>
        <p:nvSpPr>
          <p:cNvPr id="20" name="Marcador de texto 16">
            <a:extLst>
              <a:ext uri="{FF2B5EF4-FFF2-40B4-BE49-F238E27FC236}">
                <a16:creationId xmlns:a16="http://schemas.microsoft.com/office/drawing/2014/main" id="{81AA2FC0-CE4E-483D-AF92-BEA6CD796B9C}"/>
              </a:ext>
            </a:extLst>
          </p:cNvPr>
          <p:cNvSpPr>
            <a:spLocks noGrp="1"/>
          </p:cNvSpPr>
          <p:nvPr>
            <p:ph type="body" sz="quarter" idx="16"/>
          </p:nvPr>
        </p:nvSpPr>
        <p:spPr>
          <a:xfrm>
            <a:off x="6399971" y="1087458"/>
            <a:ext cx="5081004" cy="4940693"/>
          </a:xfrm>
        </p:spPr>
        <p:txBody>
          <a:bodyPr>
            <a:noAutofit/>
          </a:bodyPr>
          <a:lstStyle>
            <a:lvl1pPr marL="0" indent="0">
              <a:spcBef>
                <a:spcPts val="0"/>
              </a:spcBef>
              <a:spcAft>
                <a:spcPts val="2200"/>
              </a:spcAft>
              <a:buFontTx/>
              <a:buNone/>
              <a:defRPr lang="en-US" sz="1600" kern="1200" dirty="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a:t>Edit Master text styles</a:t>
            </a:r>
          </a:p>
        </p:txBody>
      </p:sp>
      <p:sp>
        <p:nvSpPr>
          <p:cNvPr id="11" name="Freeform 5">
            <a:extLst>
              <a:ext uri="{FF2B5EF4-FFF2-40B4-BE49-F238E27FC236}">
                <a16:creationId xmlns:a16="http://schemas.microsoft.com/office/drawing/2014/main" id="{8F9262E6-7D86-4873-90B8-902E5AE7A2C8}"/>
              </a:ext>
            </a:extLst>
          </p:cNvPr>
          <p:cNvSpPr>
            <a:spLocks noEditPoints="1"/>
          </p:cNvSpPr>
          <p:nvPr userDrawn="1"/>
        </p:nvSpPr>
        <p:spPr bwMode="auto">
          <a:xfrm>
            <a:off x="832642" y="6262326"/>
            <a:ext cx="1171705" cy="206714"/>
          </a:xfrm>
          <a:custGeom>
            <a:avLst/>
            <a:gdLst>
              <a:gd name="T0" fmla="*/ 319 w 3262"/>
              <a:gd name="T1" fmla="*/ 39 h 572"/>
              <a:gd name="T2" fmla="*/ 300 w 3262"/>
              <a:gd name="T3" fmla="*/ 137 h 572"/>
              <a:gd name="T4" fmla="*/ 371 w 3262"/>
              <a:gd name="T5" fmla="*/ 405 h 572"/>
              <a:gd name="T6" fmla="*/ 244 w 3262"/>
              <a:gd name="T7" fmla="*/ 170 h 572"/>
              <a:gd name="T8" fmla="*/ 225 w 3262"/>
              <a:gd name="T9" fmla="*/ 267 h 572"/>
              <a:gd name="T10" fmla="*/ 300 w 3262"/>
              <a:gd name="T11" fmla="*/ 528 h 572"/>
              <a:gd name="T12" fmla="*/ 187 w 3262"/>
              <a:gd name="T13" fmla="*/ 333 h 572"/>
              <a:gd name="T14" fmla="*/ 300 w 3262"/>
              <a:gd name="T15" fmla="*/ 572 h 572"/>
              <a:gd name="T16" fmla="*/ 714 w 3262"/>
              <a:gd name="T17" fmla="*/ 540 h 572"/>
              <a:gd name="T18" fmla="*/ 910 w 3262"/>
              <a:gd name="T19" fmla="*/ 455 h 572"/>
              <a:gd name="T20" fmla="*/ 717 w 3262"/>
              <a:gd name="T21" fmla="*/ 258 h 572"/>
              <a:gd name="T22" fmla="*/ 945 w 3262"/>
              <a:gd name="T23" fmla="*/ 226 h 572"/>
              <a:gd name="T24" fmla="*/ 842 w 3262"/>
              <a:gd name="T25" fmla="*/ 322 h 572"/>
              <a:gd name="T26" fmla="*/ 829 w 3262"/>
              <a:gd name="T27" fmla="*/ 561 h 572"/>
              <a:gd name="T28" fmla="*/ 1277 w 3262"/>
              <a:gd name="T29" fmla="*/ 552 h 572"/>
              <a:gd name="T30" fmla="*/ 1138 w 3262"/>
              <a:gd name="T31" fmla="*/ 559 h 572"/>
              <a:gd name="T32" fmla="*/ 1277 w 3262"/>
              <a:gd name="T33" fmla="*/ 270 h 572"/>
              <a:gd name="T34" fmla="*/ 1171 w 3262"/>
              <a:gd name="T35" fmla="*/ 307 h 572"/>
              <a:gd name="T36" fmla="*/ 1215 w 3262"/>
              <a:gd name="T37" fmla="*/ 488 h 572"/>
              <a:gd name="T38" fmla="*/ 1533 w 3262"/>
              <a:gd name="T39" fmla="*/ 552 h 572"/>
              <a:gd name="T40" fmla="*/ 1407 w 3262"/>
              <a:gd name="T41" fmla="*/ 312 h 572"/>
              <a:gd name="T42" fmla="*/ 1345 w 3262"/>
              <a:gd name="T43" fmla="*/ 270 h 572"/>
              <a:gd name="T44" fmla="*/ 1767 w 3262"/>
              <a:gd name="T45" fmla="*/ 506 h 572"/>
              <a:gd name="T46" fmla="*/ 1756 w 3262"/>
              <a:gd name="T47" fmla="*/ 559 h 572"/>
              <a:gd name="T48" fmla="*/ 1719 w 3262"/>
              <a:gd name="T49" fmla="*/ 157 h 572"/>
              <a:gd name="T50" fmla="*/ 1812 w 3262"/>
              <a:gd name="T51" fmla="*/ 317 h 572"/>
              <a:gd name="T52" fmla="*/ 1767 w 3262"/>
              <a:gd name="T53" fmla="*/ 506 h 572"/>
              <a:gd name="T54" fmla="*/ 2043 w 3262"/>
              <a:gd name="T55" fmla="*/ 552 h 572"/>
              <a:gd name="T56" fmla="*/ 1836 w 3262"/>
              <a:gd name="T57" fmla="*/ 410 h 572"/>
              <a:gd name="T58" fmla="*/ 2038 w 3262"/>
              <a:gd name="T59" fmla="*/ 488 h 572"/>
              <a:gd name="T60" fmla="*/ 1899 w 3262"/>
              <a:gd name="T61" fmla="*/ 410 h 572"/>
              <a:gd name="T62" fmla="*/ 2418 w 3262"/>
              <a:gd name="T63" fmla="*/ 363 h 572"/>
              <a:gd name="T64" fmla="*/ 2356 w 3262"/>
              <a:gd name="T65" fmla="*/ 373 h 572"/>
              <a:gd name="T66" fmla="*/ 2230 w 3262"/>
              <a:gd name="T67" fmla="*/ 552 h 572"/>
              <a:gd name="T68" fmla="*/ 2281 w 3262"/>
              <a:gd name="T69" fmla="*/ 254 h 572"/>
              <a:gd name="T70" fmla="*/ 2733 w 3262"/>
              <a:gd name="T71" fmla="*/ 552 h 572"/>
              <a:gd name="T72" fmla="*/ 2591 w 3262"/>
              <a:gd name="T73" fmla="*/ 559 h 572"/>
              <a:gd name="T74" fmla="*/ 2671 w 3262"/>
              <a:gd name="T75" fmla="*/ 259 h 572"/>
              <a:gd name="T76" fmla="*/ 2671 w 3262"/>
              <a:gd name="T77" fmla="*/ 487 h 572"/>
              <a:gd name="T78" fmla="*/ 2531 w 3262"/>
              <a:gd name="T79" fmla="*/ 410 h 572"/>
              <a:gd name="T80" fmla="*/ 3045 w 3262"/>
              <a:gd name="T81" fmla="*/ 432 h 572"/>
              <a:gd name="T82" fmla="*/ 3038 w 3262"/>
              <a:gd name="T83" fmla="*/ 485 h 572"/>
              <a:gd name="T84" fmla="*/ 2783 w 3262"/>
              <a:gd name="T85" fmla="*/ 405 h 572"/>
              <a:gd name="T86" fmla="*/ 3045 w 3262"/>
              <a:gd name="T87" fmla="*/ 432 h 572"/>
              <a:gd name="T88" fmla="*/ 2918 w 3262"/>
              <a:gd name="T89" fmla="*/ 306 h 572"/>
              <a:gd name="T90" fmla="*/ 3256 w 3262"/>
              <a:gd name="T91" fmla="*/ 310 h 572"/>
              <a:gd name="T92" fmla="*/ 3164 w 3262"/>
              <a:gd name="T93" fmla="*/ 552 h 572"/>
              <a:gd name="T94" fmla="*/ 3208 w 3262"/>
              <a:gd name="T95" fmla="*/ 254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262" h="572">
                <a:moveTo>
                  <a:pt x="430" y="262"/>
                </a:moveTo>
                <a:cubicBezTo>
                  <a:pt x="429" y="241"/>
                  <a:pt x="424" y="221"/>
                  <a:pt x="413" y="202"/>
                </a:cubicBezTo>
                <a:cubicBezTo>
                  <a:pt x="319" y="39"/>
                  <a:pt x="319" y="39"/>
                  <a:pt x="319" y="39"/>
                </a:cubicBezTo>
                <a:cubicBezTo>
                  <a:pt x="312" y="27"/>
                  <a:pt x="307" y="14"/>
                  <a:pt x="304" y="0"/>
                </a:cubicBezTo>
                <a:cubicBezTo>
                  <a:pt x="300" y="7"/>
                  <a:pt x="300" y="7"/>
                  <a:pt x="300" y="7"/>
                </a:cubicBezTo>
                <a:cubicBezTo>
                  <a:pt x="277" y="47"/>
                  <a:pt x="277" y="97"/>
                  <a:pt x="300" y="137"/>
                </a:cubicBezTo>
                <a:cubicBezTo>
                  <a:pt x="375" y="267"/>
                  <a:pt x="375" y="267"/>
                  <a:pt x="375" y="267"/>
                </a:cubicBezTo>
                <a:cubicBezTo>
                  <a:pt x="399" y="308"/>
                  <a:pt x="399" y="357"/>
                  <a:pt x="375" y="398"/>
                </a:cubicBezTo>
                <a:cubicBezTo>
                  <a:pt x="371" y="405"/>
                  <a:pt x="371" y="405"/>
                  <a:pt x="371" y="405"/>
                </a:cubicBezTo>
                <a:cubicBezTo>
                  <a:pt x="369" y="391"/>
                  <a:pt x="364" y="378"/>
                  <a:pt x="356" y="365"/>
                </a:cubicBezTo>
                <a:cubicBezTo>
                  <a:pt x="288" y="246"/>
                  <a:pt x="288" y="246"/>
                  <a:pt x="288" y="246"/>
                </a:cubicBezTo>
                <a:cubicBezTo>
                  <a:pt x="244" y="170"/>
                  <a:pt x="244" y="170"/>
                  <a:pt x="244" y="170"/>
                </a:cubicBezTo>
                <a:cubicBezTo>
                  <a:pt x="236" y="157"/>
                  <a:pt x="232" y="144"/>
                  <a:pt x="229" y="130"/>
                </a:cubicBezTo>
                <a:cubicBezTo>
                  <a:pt x="225" y="137"/>
                  <a:pt x="225" y="137"/>
                  <a:pt x="225" y="137"/>
                </a:cubicBezTo>
                <a:cubicBezTo>
                  <a:pt x="202" y="177"/>
                  <a:pt x="202" y="227"/>
                  <a:pt x="225" y="267"/>
                </a:cubicBezTo>
                <a:cubicBezTo>
                  <a:pt x="225" y="267"/>
                  <a:pt x="225" y="267"/>
                  <a:pt x="225" y="267"/>
                </a:cubicBezTo>
                <a:cubicBezTo>
                  <a:pt x="300" y="398"/>
                  <a:pt x="300" y="398"/>
                  <a:pt x="300" y="398"/>
                </a:cubicBezTo>
                <a:cubicBezTo>
                  <a:pt x="323" y="438"/>
                  <a:pt x="323" y="488"/>
                  <a:pt x="300" y="528"/>
                </a:cubicBezTo>
                <a:cubicBezTo>
                  <a:pt x="296" y="535"/>
                  <a:pt x="296" y="535"/>
                  <a:pt x="296" y="535"/>
                </a:cubicBezTo>
                <a:cubicBezTo>
                  <a:pt x="293" y="521"/>
                  <a:pt x="288" y="508"/>
                  <a:pt x="281" y="495"/>
                </a:cubicBezTo>
                <a:cubicBezTo>
                  <a:pt x="187" y="333"/>
                  <a:pt x="187" y="333"/>
                  <a:pt x="187" y="333"/>
                </a:cubicBezTo>
                <a:cubicBezTo>
                  <a:pt x="175" y="311"/>
                  <a:pt x="169" y="286"/>
                  <a:pt x="170" y="262"/>
                </a:cubicBezTo>
                <a:cubicBezTo>
                  <a:pt x="69" y="288"/>
                  <a:pt x="0" y="344"/>
                  <a:pt x="0" y="409"/>
                </a:cubicBezTo>
                <a:cubicBezTo>
                  <a:pt x="0" y="499"/>
                  <a:pt x="134" y="572"/>
                  <a:pt x="300" y="572"/>
                </a:cubicBezTo>
                <a:cubicBezTo>
                  <a:pt x="466" y="572"/>
                  <a:pt x="600" y="499"/>
                  <a:pt x="600" y="409"/>
                </a:cubicBezTo>
                <a:cubicBezTo>
                  <a:pt x="600" y="344"/>
                  <a:pt x="531" y="288"/>
                  <a:pt x="430" y="262"/>
                </a:cubicBezTo>
                <a:close/>
                <a:moveTo>
                  <a:pt x="714" y="540"/>
                </a:moveTo>
                <a:cubicBezTo>
                  <a:pt x="715" y="517"/>
                  <a:pt x="718" y="501"/>
                  <a:pt x="725" y="483"/>
                </a:cubicBezTo>
                <a:cubicBezTo>
                  <a:pt x="756" y="498"/>
                  <a:pt x="797" y="505"/>
                  <a:pt x="828" y="505"/>
                </a:cubicBezTo>
                <a:cubicBezTo>
                  <a:pt x="880" y="505"/>
                  <a:pt x="910" y="488"/>
                  <a:pt x="910" y="455"/>
                </a:cubicBezTo>
                <a:cubicBezTo>
                  <a:pt x="910" y="422"/>
                  <a:pt x="888" y="407"/>
                  <a:pt x="835" y="384"/>
                </a:cubicBezTo>
                <a:cubicBezTo>
                  <a:pt x="806" y="371"/>
                  <a:pt x="806" y="371"/>
                  <a:pt x="806" y="371"/>
                </a:cubicBezTo>
                <a:cubicBezTo>
                  <a:pt x="753" y="348"/>
                  <a:pt x="717" y="318"/>
                  <a:pt x="717" y="258"/>
                </a:cubicBezTo>
                <a:cubicBezTo>
                  <a:pt x="717" y="194"/>
                  <a:pt x="762" y="153"/>
                  <a:pt x="853" y="153"/>
                </a:cubicBezTo>
                <a:cubicBezTo>
                  <a:pt x="890" y="153"/>
                  <a:pt x="924" y="158"/>
                  <a:pt x="956" y="169"/>
                </a:cubicBezTo>
                <a:cubicBezTo>
                  <a:pt x="955" y="192"/>
                  <a:pt x="951" y="209"/>
                  <a:pt x="945" y="226"/>
                </a:cubicBezTo>
                <a:cubicBezTo>
                  <a:pt x="915" y="214"/>
                  <a:pt x="879" y="209"/>
                  <a:pt x="853" y="209"/>
                </a:cubicBezTo>
                <a:cubicBezTo>
                  <a:pt x="804" y="209"/>
                  <a:pt x="781" y="228"/>
                  <a:pt x="781" y="258"/>
                </a:cubicBezTo>
                <a:cubicBezTo>
                  <a:pt x="781" y="288"/>
                  <a:pt x="803" y="305"/>
                  <a:pt x="842" y="322"/>
                </a:cubicBezTo>
                <a:cubicBezTo>
                  <a:pt x="873" y="335"/>
                  <a:pt x="873" y="335"/>
                  <a:pt x="873" y="335"/>
                </a:cubicBezTo>
                <a:cubicBezTo>
                  <a:pt x="945" y="365"/>
                  <a:pt x="974" y="397"/>
                  <a:pt x="974" y="452"/>
                </a:cubicBezTo>
                <a:cubicBezTo>
                  <a:pt x="974" y="517"/>
                  <a:pt x="925" y="561"/>
                  <a:pt x="829" y="561"/>
                </a:cubicBezTo>
                <a:cubicBezTo>
                  <a:pt x="783" y="561"/>
                  <a:pt x="745" y="555"/>
                  <a:pt x="714" y="540"/>
                </a:cubicBezTo>
                <a:close/>
                <a:moveTo>
                  <a:pt x="1277" y="270"/>
                </a:moveTo>
                <a:cubicBezTo>
                  <a:pt x="1277" y="552"/>
                  <a:pt x="1277" y="552"/>
                  <a:pt x="1277" y="552"/>
                </a:cubicBezTo>
                <a:cubicBezTo>
                  <a:pt x="1220" y="552"/>
                  <a:pt x="1220" y="552"/>
                  <a:pt x="1220" y="552"/>
                </a:cubicBezTo>
                <a:cubicBezTo>
                  <a:pt x="1217" y="518"/>
                  <a:pt x="1217" y="518"/>
                  <a:pt x="1217" y="518"/>
                </a:cubicBezTo>
                <a:cubicBezTo>
                  <a:pt x="1201" y="543"/>
                  <a:pt x="1177" y="559"/>
                  <a:pt x="1138" y="559"/>
                </a:cubicBezTo>
                <a:cubicBezTo>
                  <a:pt x="1063" y="559"/>
                  <a:pt x="1013" y="505"/>
                  <a:pt x="1013" y="410"/>
                </a:cubicBezTo>
                <a:cubicBezTo>
                  <a:pt x="1013" y="311"/>
                  <a:pt x="1066" y="254"/>
                  <a:pt x="1171" y="254"/>
                </a:cubicBezTo>
                <a:cubicBezTo>
                  <a:pt x="1211" y="254"/>
                  <a:pt x="1245" y="259"/>
                  <a:pt x="1277" y="270"/>
                </a:cubicBezTo>
                <a:close/>
                <a:moveTo>
                  <a:pt x="1215" y="488"/>
                </a:moveTo>
                <a:cubicBezTo>
                  <a:pt x="1215" y="311"/>
                  <a:pt x="1215" y="311"/>
                  <a:pt x="1215" y="311"/>
                </a:cubicBezTo>
                <a:cubicBezTo>
                  <a:pt x="1202" y="309"/>
                  <a:pt x="1188" y="307"/>
                  <a:pt x="1171" y="307"/>
                </a:cubicBezTo>
                <a:cubicBezTo>
                  <a:pt x="1107" y="307"/>
                  <a:pt x="1077" y="347"/>
                  <a:pt x="1077" y="410"/>
                </a:cubicBezTo>
                <a:cubicBezTo>
                  <a:pt x="1077" y="468"/>
                  <a:pt x="1100" y="508"/>
                  <a:pt x="1155" y="508"/>
                </a:cubicBezTo>
                <a:cubicBezTo>
                  <a:pt x="1179" y="508"/>
                  <a:pt x="1199" y="500"/>
                  <a:pt x="1215" y="488"/>
                </a:cubicBezTo>
                <a:close/>
                <a:moveTo>
                  <a:pt x="1595" y="363"/>
                </a:moveTo>
                <a:cubicBezTo>
                  <a:pt x="1595" y="552"/>
                  <a:pt x="1595" y="552"/>
                  <a:pt x="1595" y="552"/>
                </a:cubicBezTo>
                <a:cubicBezTo>
                  <a:pt x="1533" y="552"/>
                  <a:pt x="1533" y="552"/>
                  <a:pt x="1533" y="552"/>
                </a:cubicBezTo>
                <a:cubicBezTo>
                  <a:pt x="1533" y="373"/>
                  <a:pt x="1533" y="373"/>
                  <a:pt x="1533" y="373"/>
                </a:cubicBezTo>
                <a:cubicBezTo>
                  <a:pt x="1533" y="329"/>
                  <a:pt x="1518" y="307"/>
                  <a:pt x="1456" y="307"/>
                </a:cubicBezTo>
                <a:cubicBezTo>
                  <a:pt x="1442" y="307"/>
                  <a:pt x="1424" y="309"/>
                  <a:pt x="1407" y="312"/>
                </a:cubicBezTo>
                <a:cubicBezTo>
                  <a:pt x="1407" y="552"/>
                  <a:pt x="1407" y="552"/>
                  <a:pt x="1407" y="552"/>
                </a:cubicBezTo>
                <a:cubicBezTo>
                  <a:pt x="1345" y="552"/>
                  <a:pt x="1345" y="552"/>
                  <a:pt x="1345" y="552"/>
                </a:cubicBezTo>
                <a:cubicBezTo>
                  <a:pt x="1345" y="270"/>
                  <a:pt x="1345" y="270"/>
                  <a:pt x="1345" y="270"/>
                </a:cubicBezTo>
                <a:cubicBezTo>
                  <a:pt x="1385" y="261"/>
                  <a:pt x="1428" y="254"/>
                  <a:pt x="1458" y="254"/>
                </a:cubicBezTo>
                <a:cubicBezTo>
                  <a:pt x="1562" y="254"/>
                  <a:pt x="1595" y="294"/>
                  <a:pt x="1595" y="363"/>
                </a:cubicBezTo>
                <a:close/>
                <a:moveTo>
                  <a:pt x="1767" y="506"/>
                </a:moveTo>
                <a:cubicBezTo>
                  <a:pt x="1785" y="506"/>
                  <a:pt x="1802" y="503"/>
                  <a:pt x="1816" y="498"/>
                </a:cubicBezTo>
                <a:cubicBezTo>
                  <a:pt x="1814" y="515"/>
                  <a:pt x="1812" y="534"/>
                  <a:pt x="1808" y="550"/>
                </a:cubicBezTo>
                <a:cubicBezTo>
                  <a:pt x="1791" y="557"/>
                  <a:pt x="1773" y="559"/>
                  <a:pt x="1756" y="559"/>
                </a:cubicBezTo>
                <a:cubicBezTo>
                  <a:pt x="1696" y="559"/>
                  <a:pt x="1657" y="531"/>
                  <a:pt x="1657" y="463"/>
                </a:cubicBezTo>
                <a:cubicBezTo>
                  <a:pt x="1657" y="166"/>
                  <a:pt x="1657" y="166"/>
                  <a:pt x="1657" y="166"/>
                </a:cubicBezTo>
                <a:cubicBezTo>
                  <a:pt x="1676" y="160"/>
                  <a:pt x="1700" y="157"/>
                  <a:pt x="1719" y="157"/>
                </a:cubicBezTo>
                <a:cubicBezTo>
                  <a:pt x="1719" y="264"/>
                  <a:pt x="1719" y="264"/>
                  <a:pt x="1719" y="264"/>
                </a:cubicBezTo>
                <a:cubicBezTo>
                  <a:pt x="1817" y="264"/>
                  <a:pt x="1817" y="264"/>
                  <a:pt x="1817" y="264"/>
                </a:cubicBezTo>
                <a:cubicBezTo>
                  <a:pt x="1816" y="283"/>
                  <a:pt x="1815" y="301"/>
                  <a:pt x="1812" y="317"/>
                </a:cubicBezTo>
                <a:cubicBezTo>
                  <a:pt x="1719" y="317"/>
                  <a:pt x="1719" y="317"/>
                  <a:pt x="1719" y="317"/>
                </a:cubicBezTo>
                <a:cubicBezTo>
                  <a:pt x="1719" y="455"/>
                  <a:pt x="1719" y="455"/>
                  <a:pt x="1719" y="455"/>
                </a:cubicBezTo>
                <a:cubicBezTo>
                  <a:pt x="1719" y="492"/>
                  <a:pt x="1737" y="506"/>
                  <a:pt x="1767" y="506"/>
                </a:cubicBezTo>
                <a:close/>
                <a:moveTo>
                  <a:pt x="2100" y="270"/>
                </a:moveTo>
                <a:cubicBezTo>
                  <a:pt x="2100" y="552"/>
                  <a:pt x="2100" y="552"/>
                  <a:pt x="2100" y="552"/>
                </a:cubicBezTo>
                <a:cubicBezTo>
                  <a:pt x="2043" y="552"/>
                  <a:pt x="2043" y="552"/>
                  <a:pt x="2043" y="552"/>
                </a:cubicBezTo>
                <a:cubicBezTo>
                  <a:pt x="2040" y="518"/>
                  <a:pt x="2040" y="518"/>
                  <a:pt x="2040" y="518"/>
                </a:cubicBezTo>
                <a:cubicBezTo>
                  <a:pt x="2024" y="543"/>
                  <a:pt x="2000" y="559"/>
                  <a:pt x="1960" y="559"/>
                </a:cubicBezTo>
                <a:cubicBezTo>
                  <a:pt x="1886" y="559"/>
                  <a:pt x="1836" y="505"/>
                  <a:pt x="1836" y="410"/>
                </a:cubicBezTo>
                <a:cubicBezTo>
                  <a:pt x="1836" y="311"/>
                  <a:pt x="1889" y="254"/>
                  <a:pt x="1993" y="254"/>
                </a:cubicBezTo>
                <a:cubicBezTo>
                  <a:pt x="2034" y="254"/>
                  <a:pt x="2067" y="259"/>
                  <a:pt x="2100" y="270"/>
                </a:cubicBezTo>
                <a:close/>
                <a:moveTo>
                  <a:pt x="2038" y="488"/>
                </a:moveTo>
                <a:cubicBezTo>
                  <a:pt x="2038" y="311"/>
                  <a:pt x="2038" y="311"/>
                  <a:pt x="2038" y="311"/>
                </a:cubicBezTo>
                <a:cubicBezTo>
                  <a:pt x="2025" y="309"/>
                  <a:pt x="2011" y="307"/>
                  <a:pt x="1993" y="307"/>
                </a:cubicBezTo>
                <a:cubicBezTo>
                  <a:pt x="1929" y="307"/>
                  <a:pt x="1899" y="347"/>
                  <a:pt x="1899" y="410"/>
                </a:cubicBezTo>
                <a:cubicBezTo>
                  <a:pt x="1899" y="468"/>
                  <a:pt x="1922" y="508"/>
                  <a:pt x="1978" y="508"/>
                </a:cubicBezTo>
                <a:cubicBezTo>
                  <a:pt x="2002" y="508"/>
                  <a:pt x="2022" y="500"/>
                  <a:pt x="2038" y="488"/>
                </a:cubicBezTo>
                <a:close/>
                <a:moveTo>
                  <a:pt x="2418" y="363"/>
                </a:moveTo>
                <a:cubicBezTo>
                  <a:pt x="2418" y="552"/>
                  <a:pt x="2418" y="552"/>
                  <a:pt x="2418" y="552"/>
                </a:cubicBezTo>
                <a:cubicBezTo>
                  <a:pt x="2356" y="552"/>
                  <a:pt x="2356" y="552"/>
                  <a:pt x="2356" y="552"/>
                </a:cubicBezTo>
                <a:cubicBezTo>
                  <a:pt x="2356" y="373"/>
                  <a:pt x="2356" y="373"/>
                  <a:pt x="2356" y="373"/>
                </a:cubicBezTo>
                <a:cubicBezTo>
                  <a:pt x="2356" y="329"/>
                  <a:pt x="2341" y="307"/>
                  <a:pt x="2279" y="307"/>
                </a:cubicBezTo>
                <a:cubicBezTo>
                  <a:pt x="2264" y="307"/>
                  <a:pt x="2247" y="309"/>
                  <a:pt x="2230" y="312"/>
                </a:cubicBezTo>
                <a:cubicBezTo>
                  <a:pt x="2230" y="552"/>
                  <a:pt x="2230" y="552"/>
                  <a:pt x="2230" y="552"/>
                </a:cubicBezTo>
                <a:cubicBezTo>
                  <a:pt x="2168" y="552"/>
                  <a:pt x="2168" y="552"/>
                  <a:pt x="2168" y="552"/>
                </a:cubicBezTo>
                <a:cubicBezTo>
                  <a:pt x="2168" y="270"/>
                  <a:pt x="2168" y="270"/>
                  <a:pt x="2168" y="270"/>
                </a:cubicBezTo>
                <a:cubicBezTo>
                  <a:pt x="2207" y="261"/>
                  <a:pt x="2251" y="254"/>
                  <a:pt x="2281" y="254"/>
                </a:cubicBezTo>
                <a:cubicBezTo>
                  <a:pt x="2384" y="254"/>
                  <a:pt x="2418" y="294"/>
                  <a:pt x="2418" y="363"/>
                </a:cubicBezTo>
                <a:close/>
                <a:moveTo>
                  <a:pt x="2733" y="157"/>
                </a:moveTo>
                <a:cubicBezTo>
                  <a:pt x="2733" y="552"/>
                  <a:pt x="2733" y="552"/>
                  <a:pt x="2733" y="552"/>
                </a:cubicBezTo>
                <a:cubicBezTo>
                  <a:pt x="2676" y="552"/>
                  <a:pt x="2676" y="552"/>
                  <a:pt x="2676" y="552"/>
                </a:cubicBezTo>
                <a:cubicBezTo>
                  <a:pt x="2672" y="516"/>
                  <a:pt x="2672" y="516"/>
                  <a:pt x="2672" y="516"/>
                </a:cubicBezTo>
                <a:cubicBezTo>
                  <a:pt x="2656" y="543"/>
                  <a:pt x="2632" y="559"/>
                  <a:pt x="2591" y="559"/>
                </a:cubicBezTo>
                <a:cubicBezTo>
                  <a:pt x="2517" y="559"/>
                  <a:pt x="2467" y="505"/>
                  <a:pt x="2467" y="410"/>
                </a:cubicBezTo>
                <a:cubicBezTo>
                  <a:pt x="2467" y="311"/>
                  <a:pt x="2520" y="254"/>
                  <a:pt x="2625" y="254"/>
                </a:cubicBezTo>
                <a:cubicBezTo>
                  <a:pt x="2641" y="254"/>
                  <a:pt x="2656" y="256"/>
                  <a:pt x="2671" y="259"/>
                </a:cubicBezTo>
                <a:cubicBezTo>
                  <a:pt x="2671" y="166"/>
                  <a:pt x="2671" y="166"/>
                  <a:pt x="2671" y="166"/>
                </a:cubicBezTo>
                <a:cubicBezTo>
                  <a:pt x="2690" y="159"/>
                  <a:pt x="2712" y="157"/>
                  <a:pt x="2733" y="157"/>
                </a:cubicBezTo>
                <a:close/>
                <a:moveTo>
                  <a:pt x="2671" y="487"/>
                </a:moveTo>
                <a:cubicBezTo>
                  <a:pt x="2671" y="313"/>
                  <a:pt x="2671" y="313"/>
                  <a:pt x="2671" y="313"/>
                </a:cubicBezTo>
                <a:cubicBezTo>
                  <a:pt x="2655" y="310"/>
                  <a:pt x="2638" y="307"/>
                  <a:pt x="2621" y="307"/>
                </a:cubicBezTo>
                <a:cubicBezTo>
                  <a:pt x="2560" y="307"/>
                  <a:pt x="2531" y="346"/>
                  <a:pt x="2531" y="410"/>
                </a:cubicBezTo>
                <a:cubicBezTo>
                  <a:pt x="2531" y="468"/>
                  <a:pt x="2554" y="508"/>
                  <a:pt x="2609" y="508"/>
                </a:cubicBezTo>
                <a:cubicBezTo>
                  <a:pt x="2634" y="508"/>
                  <a:pt x="2654" y="500"/>
                  <a:pt x="2671" y="487"/>
                </a:cubicBezTo>
                <a:close/>
                <a:moveTo>
                  <a:pt x="3045" y="432"/>
                </a:moveTo>
                <a:cubicBezTo>
                  <a:pt x="2847" y="432"/>
                  <a:pt x="2847" y="432"/>
                  <a:pt x="2847" y="432"/>
                </a:cubicBezTo>
                <a:cubicBezTo>
                  <a:pt x="2854" y="482"/>
                  <a:pt x="2884" y="506"/>
                  <a:pt x="2939" y="506"/>
                </a:cubicBezTo>
                <a:cubicBezTo>
                  <a:pt x="2973" y="506"/>
                  <a:pt x="3007" y="499"/>
                  <a:pt x="3038" y="485"/>
                </a:cubicBezTo>
                <a:cubicBezTo>
                  <a:pt x="3036" y="501"/>
                  <a:pt x="3033" y="522"/>
                  <a:pt x="3029" y="541"/>
                </a:cubicBezTo>
                <a:cubicBezTo>
                  <a:pt x="3001" y="554"/>
                  <a:pt x="2971" y="559"/>
                  <a:pt x="2937" y="559"/>
                </a:cubicBezTo>
                <a:cubicBezTo>
                  <a:pt x="2834" y="559"/>
                  <a:pt x="2783" y="502"/>
                  <a:pt x="2783" y="405"/>
                </a:cubicBezTo>
                <a:cubicBezTo>
                  <a:pt x="2783" y="321"/>
                  <a:pt x="2822" y="254"/>
                  <a:pt x="2921" y="254"/>
                </a:cubicBezTo>
                <a:cubicBezTo>
                  <a:pt x="3010" y="254"/>
                  <a:pt x="3048" y="313"/>
                  <a:pt x="3048" y="384"/>
                </a:cubicBezTo>
                <a:cubicBezTo>
                  <a:pt x="3048" y="401"/>
                  <a:pt x="3047" y="415"/>
                  <a:pt x="3045" y="432"/>
                </a:cubicBezTo>
                <a:close/>
                <a:moveTo>
                  <a:pt x="2845" y="380"/>
                </a:moveTo>
                <a:cubicBezTo>
                  <a:pt x="2985" y="380"/>
                  <a:pt x="2985" y="380"/>
                  <a:pt x="2985" y="380"/>
                </a:cubicBezTo>
                <a:cubicBezTo>
                  <a:pt x="2985" y="333"/>
                  <a:pt x="2960" y="306"/>
                  <a:pt x="2918" y="306"/>
                </a:cubicBezTo>
                <a:cubicBezTo>
                  <a:pt x="2874" y="306"/>
                  <a:pt x="2850" y="332"/>
                  <a:pt x="2845" y="380"/>
                </a:cubicBezTo>
                <a:close/>
                <a:moveTo>
                  <a:pt x="3262" y="257"/>
                </a:moveTo>
                <a:cubicBezTo>
                  <a:pt x="3262" y="275"/>
                  <a:pt x="3260" y="298"/>
                  <a:pt x="3256" y="310"/>
                </a:cubicBezTo>
                <a:cubicBezTo>
                  <a:pt x="3241" y="308"/>
                  <a:pt x="3227" y="307"/>
                  <a:pt x="3209" y="307"/>
                </a:cubicBezTo>
                <a:cubicBezTo>
                  <a:pt x="3194" y="307"/>
                  <a:pt x="3179" y="309"/>
                  <a:pt x="3164" y="311"/>
                </a:cubicBezTo>
                <a:cubicBezTo>
                  <a:pt x="3164" y="552"/>
                  <a:pt x="3164" y="552"/>
                  <a:pt x="3164" y="552"/>
                </a:cubicBezTo>
                <a:cubicBezTo>
                  <a:pt x="3102" y="552"/>
                  <a:pt x="3102" y="552"/>
                  <a:pt x="3102" y="552"/>
                </a:cubicBezTo>
                <a:cubicBezTo>
                  <a:pt x="3102" y="270"/>
                  <a:pt x="3102" y="270"/>
                  <a:pt x="3102" y="270"/>
                </a:cubicBezTo>
                <a:cubicBezTo>
                  <a:pt x="3128" y="261"/>
                  <a:pt x="3173" y="254"/>
                  <a:pt x="3208" y="254"/>
                </a:cubicBezTo>
                <a:cubicBezTo>
                  <a:pt x="3227" y="254"/>
                  <a:pt x="3248" y="255"/>
                  <a:pt x="3262" y="257"/>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solidFill>
                <a:prstClr val="black"/>
              </a:solidFill>
            </a:endParaRPr>
          </a:p>
        </p:txBody>
      </p:sp>
    </p:spTree>
    <p:extLst>
      <p:ext uri="{BB962C8B-B14F-4D97-AF65-F5344CB8AC3E}">
        <p14:creationId xmlns:p14="http://schemas.microsoft.com/office/powerpoint/2010/main" val="2271783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Header &amp; Content 2">
    <p:spTree>
      <p:nvGrpSpPr>
        <p:cNvPr id="1" name=""/>
        <p:cNvGrpSpPr/>
        <p:nvPr/>
      </p:nvGrpSpPr>
      <p:grpSpPr>
        <a:xfrm>
          <a:off x="0" y="0"/>
          <a:ext cx="0" cy="0"/>
          <a:chOff x="0" y="0"/>
          <a:chExt cx="0" cy="0"/>
        </a:xfrm>
      </p:grpSpPr>
      <p:graphicFrame>
        <p:nvGraphicFramePr>
          <p:cNvPr id="4" name="Objeto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to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66B5AEF2-F43E-4C92-A186-61C1E43CE82B}"/>
              </a:ext>
            </a:extLst>
          </p:cNvPr>
          <p:cNvSpPr>
            <a:spLocks noGrp="1"/>
          </p:cNvSpPr>
          <p:nvPr>
            <p:ph type="title"/>
          </p:nvPr>
        </p:nvSpPr>
        <p:spPr>
          <a:xfrm>
            <a:off x="711024" y="641900"/>
            <a:ext cx="10758733" cy="836992"/>
          </a:xfrm>
        </p:spPr>
        <p:txBody>
          <a:bodyPr vert="horz" anchor="t">
            <a:noAutofit/>
          </a:bodyPr>
          <a:lstStyle>
            <a:lvl1pPr>
              <a:defRPr lang="en-US" sz="2800" b="1" kern="1200" dirty="0">
                <a:solidFill>
                  <a:schemeClr val="accent1"/>
                </a:solidFill>
                <a:latin typeface="+mj-lt"/>
                <a:ea typeface="+mj-ea"/>
                <a:cs typeface="+mj-cs"/>
              </a:defRPr>
            </a:lvl1pPr>
          </a:lstStyle>
          <a:p>
            <a:r>
              <a:rPr lang="en-US"/>
              <a:t>Click to edit Master title style</a:t>
            </a:r>
            <a:endParaRPr lang="es-ES"/>
          </a:p>
        </p:txBody>
      </p:sp>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959445" y="6238152"/>
            <a:ext cx="2743200" cy="365125"/>
          </a:xfrm>
        </p:spPr>
        <p:txBody>
          <a:bodyPr/>
          <a:lstStyle>
            <a:lvl1pPr>
              <a:defRPr lang="es-ES" sz="1300" kern="1200" smtClean="0">
                <a:solidFill>
                  <a:schemeClr val="accent1"/>
                </a:solidFill>
                <a:latin typeface="+mn-lt"/>
                <a:ea typeface="+mn-ea"/>
                <a:cs typeface="+mn-cs"/>
              </a:defRPr>
            </a:lvl1pPr>
          </a:lstStyle>
          <a:p>
            <a:fld id="{BC0D97B6-E32F-4D7D-B839-7C3B51F2640F}" type="slidenum">
              <a:rPr>
                <a:solidFill>
                  <a:srgbClr val="EC0000"/>
                </a:solidFill>
              </a:rPr>
              <a:pPr/>
              <a:t>‹Nº›</a:t>
            </a:fld>
            <a:endParaRPr>
              <a:solidFill>
                <a:srgbClr val="EC0000"/>
              </a:solidFill>
            </a:endParaRPr>
          </a:p>
        </p:txBody>
      </p:sp>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chor="b">
            <a:noAutofit/>
          </a:bodyPr>
          <a:lstStyle>
            <a:lvl1pPr marL="0" indent="0">
              <a:buFontTx/>
              <a:buNone/>
              <a:defRPr lang="en-US" sz="1200" b="1" kern="1200" dirty="0">
                <a:solidFill>
                  <a:schemeClr val="tx2"/>
                </a:solidFill>
                <a:latin typeface="+mn-lt"/>
                <a:ea typeface="+mn-ea"/>
                <a:cs typeface="+mn-cs"/>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a:t>Edit Master text styles</a:t>
            </a:r>
          </a:p>
        </p:txBody>
      </p:sp>
      <p:sp>
        <p:nvSpPr>
          <p:cNvPr id="11" name="Freeform 5">
            <a:extLst>
              <a:ext uri="{FF2B5EF4-FFF2-40B4-BE49-F238E27FC236}">
                <a16:creationId xmlns:a16="http://schemas.microsoft.com/office/drawing/2014/main" id="{F122F6D0-7E7D-40E5-A2F8-BC48B7F05A1E}"/>
              </a:ext>
            </a:extLst>
          </p:cNvPr>
          <p:cNvSpPr>
            <a:spLocks noEditPoints="1"/>
          </p:cNvSpPr>
          <p:nvPr userDrawn="1"/>
        </p:nvSpPr>
        <p:spPr bwMode="auto">
          <a:xfrm>
            <a:off x="832642" y="6262326"/>
            <a:ext cx="1171705" cy="206714"/>
          </a:xfrm>
          <a:custGeom>
            <a:avLst/>
            <a:gdLst>
              <a:gd name="T0" fmla="*/ 319 w 3262"/>
              <a:gd name="T1" fmla="*/ 39 h 572"/>
              <a:gd name="T2" fmla="*/ 300 w 3262"/>
              <a:gd name="T3" fmla="*/ 137 h 572"/>
              <a:gd name="T4" fmla="*/ 371 w 3262"/>
              <a:gd name="T5" fmla="*/ 405 h 572"/>
              <a:gd name="T6" fmla="*/ 244 w 3262"/>
              <a:gd name="T7" fmla="*/ 170 h 572"/>
              <a:gd name="T8" fmla="*/ 225 w 3262"/>
              <a:gd name="T9" fmla="*/ 267 h 572"/>
              <a:gd name="T10" fmla="*/ 300 w 3262"/>
              <a:gd name="T11" fmla="*/ 528 h 572"/>
              <a:gd name="T12" fmla="*/ 187 w 3262"/>
              <a:gd name="T13" fmla="*/ 333 h 572"/>
              <a:gd name="T14" fmla="*/ 300 w 3262"/>
              <a:gd name="T15" fmla="*/ 572 h 572"/>
              <a:gd name="T16" fmla="*/ 714 w 3262"/>
              <a:gd name="T17" fmla="*/ 540 h 572"/>
              <a:gd name="T18" fmla="*/ 910 w 3262"/>
              <a:gd name="T19" fmla="*/ 455 h 572"/>
              <a:gd name="T20" fmla="*/ 717 w 3262"/>
              <a:gd name="T21" fmla="*/ 258 h 572"/>
              <a:gd name="T22" fmla="*/ 945 w 3262"/>
              <a:gd name="T23" fmla="*/ 226 h 572"/>
              <a:gd name="T24" fmla="*/ 842 w 3262"/>
              <a:gd name="T25" fmla="*/ 322 h 572"/>
              <a:gd name="T26" fmla="*/ 829 w 3262"/>
              <a:gd name="T27" fmla="*/ 561 h 572"/>
              <a:gd name="T28" fmla="*/ 1277 w 3262"/>
              <a:gd name="T29" fmla="*/ 552 h 572"/>
              <a:gd name="T30" fmla="*/ 1138 w 3262"/>
              <a:gd name="T31" fmla="*/ 559 h 572"/>
              <a:gd name="T32" fmla="*/ 1277 w 3262"/>
              <a:gd name="T33" fmla="*/ 270 h 572"/>
              <a:gd name="T34" fmla="*/ 1171 w 3262"/>
              <a:gd name="T35" fmla="*/ 307 h 572"/>
              <a:gd name="T36" fmla="*/ 1215 w 3262"/>
              <a:gd name="T37" fmla="*/ 488 h 572"/>
              <a:gd name="T38" fmla="*/ 1533 w 3262"/>
              <a:gd name="T39" fmla="*/ 552 h 572"/>
              <a:gd name="T40" fmla="*/ 1407 w 3262"/>
              <a:gd name="T41" fmla="*/ 312 h 572"/>
              <a:gd name="T42" fmla="*/ 1345 w 3262"/>
              <a:gd name="T43" fmla="*/ 270 h 572"/>
              <a:gd name="T44" fmla="*/ 1767 w 3262"/>
              <a:gd name="T45" fmla="*/ 506 h 572"/>
              <a:gd name="T46" fmla="*/ 1756 w 3262"/>
              <a:gd name="T47" fmla="*/ 559 h 572"/>
              <a:gd name="T48" fmla="*/ 1719 w 3262"/>
              <a:gd name="T49" fmla="*/ 157 h 572"/>
              <a:gd name="T50" fmla="*/ 1812 w 3262"/>
              <a:gd name="T51" fmla="*/ 317 h 572"/>
              <a:gd name="T52" fmla="*/ 1767 w 3262"/>
              <a:gd name="T53" fmla="*/ 506 h 572"/>
              <a:gd name="T54" fmla="*/ 2043 w 3262"/>
              <a:gd name="T55" fmla="*/ 552 h 572"/>
              <a:gd name="T56" fmla="*/ 1836 w 3262"/>
              <a:gd name="T57" fmla="*/ 410 h 572"/>
              <a:gd name="T58" fmla="*/ 2038 w 3262"/>
              <a:gd name="T59" fmla="*/ 488 h 572"/>
              <a:gd name="T60" fmla="*/ 1899 w 3262"/>
              <a:gd name="T61" fmla="*/ 410 h 572"/>
              <a:gd name="T62" fmla="*/ 2418 w 3262"/>
              <a:gd name="T63" fmla="*/ 363 h 572"/>
              <a:gd name="T64" fmla="*/ 2356 w 3262"/>
              <a:gd name="T65" fmla="*/ 373 h 572"/>
              <a:gd name="T66" fmla="*/ 2230 w 3262"/>
              <a:gd name="T67" fmla="*/ 552 h 572"/>
              <a:gd name="T68" fmla="*/ 2281 w 3262"/>
              <a:gd name="T69" fmla="*/ 254 h 572"/>
              <a:gd name="T70" fmla="*/ 2733 w 3262"/>
              <a:gd name="T71" fmla="*/ 552 h 572"/>
              <a:gd name="T72" fmla="*/ 2591 w 3262"/>
              <a:gd name="T73" fmla="*/ 559 h 572"/>
              <a:gd name="T74" fmla="*/ 2671 w 3262"/>
              <a:gd name="T75" fmla="*/ 259 h 572"/>
              <a:gd name="T76" fmla="*/ 2671 w 3262"/>
              <a:gd name="T77" fmla="*/ 487 h 572"/>
              <a:gd name="T78" fmla="*/ 2531 w 3262"/>
              <a:gd name="T79" fmla="*/ 410 h 572"/>
              <a:gd name="T80" fmla="*/ 3045 w 3262"/>
              <a:gd name="T81" fmla="*/ 432 h 572"/>
              <a:gd name="T82" fmla="*/ 3038 w 3262"/>
              <a:gd name="T83" fmla="*/ 485 h 572"/>
              <a:gd name="T84" fmla="*/ 2783 w 3262"/>
              <a:gd name="T85" fmla="*/ 405 h 572"/>
              <a:gd name="T86" fmla="*/ 3045 w 3262"/>
              <a:gd name="T87" fmla="*/ 432 h 572"/>
              <a:gd name="T88" fmla="*/ 2918 w 3262"/>
              <a:gd name="T89" fmla="*/ 306 h 572"/>
              <a:gd name="T90" fmla="*/ 3256 w 3262"/>
              <a:gd name="T91" fmla="*/ 310 h 572"/>
              <a:gd name="T92" fmla="*/ 3164 w 3262"/>
              <a:gd name="T93" fmla="*/ 552 h 572"/>
              <a:gd name="T94" fmla="*/ 3208 w 3262"/>
              <a:gd name="T95" fmla="*/ 254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262" h="572">
                <a:moveTo>
                  <a:pt x="430" y="262"/>
                </a:moveTo>
                <a:cubicBezTo>
                  <a:pt x="429" y="241"/>
                  <a:pt x="424" y="221"/>
                  <a:pt x="413" y="202"/>
                </a:cubicBezTo>
                <a:cubicBezTo>
                  <a:pt x="319" y="39"/>
                  <a:pt x="319" y="39"/>
                  <a:pt x="319" y="39"/>
                </a:cubicBezTo>
                <a:cubicBezTo>
                  <a:pt x="312" y="27"/>
                  <a:pt x="307" y="14"/>
                  <a:pt x="304" y="0"/>
                </a:cubicBezTo>
                <a:cubicBezTo>
                  <a:pt x="300" y="7"/>
                  <a:pt x="300" y="7"/>
                  <a:pt x="300" y="7"/>
                </a:cubicBezTo>
                <a:cubicBezTo>
                  <a:pt x="277" y="47"/>
                  <a:pt x="277" y="97"/>
                  <a:pt x="300" y="137"/>
                </a:cubicBezTo>
                <a:cubicBezTo>
                  <a:pt x="375" y="267"/>
                  <a:pt x="375" y="267"/>
                  <a:pt x="375" y="267"/>
                </a:cubicBezTo>
                <a:cubicBezTo>
                  <a:pt x="399" y="308"/>
                  <a:pt x="399" y="357"/>
                  <a:pt x="375" y="398"/>
                </a:cubicBezTo>
                <a:cubicBezTo>
                  <a:pt x="371" y="405"/>
                  <a:pt x="371" y="405"/>
                  <a:pt x="371" y="405"/>
                </a:cubicBezTo>
                <a:cubicBezTo>
                  <a:pt x="369" y="391"/>
                  <a:pt x="364" y="378"/>
                  <a:pt x="356" y="365"/>
                </a:cubicBezTo>
                <a:cubicBezTo>
                  <a:pt x="288" y="246"/>
                  <a:pt x="288" y="246"/>
                  <a:pt x="288" y="246"/>
                </a:cubicBezTo>
                <a:cubicBezTo>
                  <a:pt x="244" y="170"/>
                  <a:pt x="244" y="170"/>
                  <a:pt x="244" y="170"/>
                </a:cubicBezTo>
                <a:cubicBezTo>
                  <a:pt x="236" y="157"/>
                  <a:pt x="232" y="144"/>
                  <a:pt x="229" y="130"/>
                </a:cubicBezTo>
                <a:cubicBezTo>
                  <a:pt x="225" y="137"/>
                  <a:pt x="225" y="137"/>
                  <a:pt x="225" y="137"/>
                </a:cubicBezTo>
                <a:cubicBezTo>
                  <a:pt x="202" y="177"/>
                  <a:pt x="202" y="227"/>
                  <a:pt x="225" y="267"/>
                </a:cubicBezTo>
                <a:cubicBezTo>
                  <a:pt x="225" y="267"/>
                  <a:pt x="225" y="267"/>
                  <a:pt x="225" y="267"/>
                </a:cubicBezTo>
                <a:cubicBezTo>
                  <a:pt x="300" y="398"/>
                  <a:pt x="300" y="398"/>
                  <a:pt x="300" y="398"/>
                </a:cubicBezTo>
                <a:cubicBezTo>
                  <a:pt x="323" y="438"/>
                  <a:pt x="323" y="488"/>
                  <a:pt x="300" y="528"/>
                </a:cubicBezTo>
                <a:cubicBezTo>
                  <a:pt x="296" y="535"/>
                  <a:pt x="296" y="535"/>
                  <a:pt x="296" y="535"/>
                </a:cubicBezTo>
                <a:cubicBezTo>
                  <a:pt x="293" y="521"/>
                  <a:pt x="288" y="508"/>
                  <a:pt x="281" y="495"/>
                </a:cubicBezTo>
                <a:cubicBezTo>
                  <a:pt x="187" y="333"/>
                  <a:pt x="187" y="333"/>
                  <a:pt x="187" y="333"/>
                </a:cubicBezTo>
                <a:cubicBezTo>
                  <a:pt x="175" y="311"/>
                  <a:pt x="169" y="286"/>
                  <a:pt x="170" y="262"/>
                </a:cubicBezTo>
                <a:cubicBezTo>
                  <a:pt x="69" y="288"/>
                  <a:pt x="0" y="344"/>
                  <a:pt x="0" y="409"/>
                </a:cubicBezTo>
                <a:cubicBezTo>
                  <a:pt x="0" y="499"/>
                  <a:pt x="134" y="572"/>
                  <a:pt x="300" y="572"/>
                </a:cubicBezTo>
                <a:cubicBezTo>
                  <a:pt x="466" y="572"/>
                  <a:pt x="600" y="499"/>
                  <a:pt x="600" y="409"/>
                </a:cubicBezTo>
                <a:cubicBezTo>
                  <a:pt x="600" y="344"/>
                  <a:pt x="531" y="288"/>
                  <a:pt x="430" y="262"/>
                </a:cubicBezTo>
                <a:close/>
                <a:moveTo>
                  <a:pt x="714" y="540"/>
                </a:moveTo>
                <a:cubicBezTo>
                  <a:pt x="715" y="517"/>
                  <a:pt x="718" y="501"/>
                  <a:pt x="725" y="483"/>
                </a:cubicBezTo>
                <a:cubicBezTo>
                  <a:pt x="756" y="498"/>
                  <a:pt x="797" y="505"/>
                  <a:pt x="828" y="505"/>
                </a:cubicBezTo>
                <a:cubicBezTo>
                  <a:pt x="880" y="505"/>
                  <a:pt x="910" y="488"/>
                  <a:pt x="910" y="455"/>
                </a:cubicBezTo>
                <a:cubicBezTo>
                  <a:pt x="910" y="422"/>
                  <a:pt x="888" y="407"/>
                  <a:pt x="835" y="384"/>
                </a:cubicBezTo>
                <a:cubicBezTo>
                  <a:pt x="806" y="371"/>
                  <a:pt x="806" y="371"/>
                  <a:pt x="806" y="371"/>
                </a:cubicBezTo>
                <a:cubicBezTo>
                  <a:pt x="753" y="348"/>
                  <a:pt x="717" y="318"/>
                  <a:pt x="717" y="258"/>
                </a:cubicBezTo>
                <a:cubicBezTo>
                  <a:pt x="717" y="194"/>
                  <a:pt x="762" y="153"/>
                  <a:pt x="853" y="153"/>
                </a:cubicBezTo>
                <a:cubicBezTo>
                  <a:pt x="890" y="153"/>
                  <a:pt x="924" y="158"/>
                  <a:pt x="956" y="169"/>
                </a:cubicBezTo>
                <a:cubicBezTo>
                  <a:pt x="955" y="192"/>
                  <a:pt x="951" y="209"/>
                  <a:pt x="945" y="226"/>
                </a:cubicBezTo>
                <a:cubicBezTo>
                  <a:pt x="915" y="214"/>
                  <a:pt x="879" y="209"/>
                  <a:pt x="853" y="209"/>
                </a:cubicBezTo>
                <a:cubicBezTo>
                  <a:pt x="804" y="209"/>
                  <a:pt x="781" y="228"/>
                  <a:pt x="781" y="258"/>
                </a:cubicBezTo>
                <a:cubicBezTo>
                  <a:pt x="781" y="288"/>
                  <a:pt x="803" y="305"/>
                  <a:pt x="842" y="322"/>
                </a:cubicBezTo>
                <a:cubicBezTo>
                  <a:pt x="873" y="335"/>
                  <a:pt x="873" y="335"/>
                  <a:pt x="873" y="335"/>
                </a:cubicBezTo>
                <a:cubicBezTo>
                  <a:pt x="945" y="365"/>
                  <a:pt x="974" y="397"/>
                  <a:pt x="974" y="452"/>
                </a:cubicBezTo>
                <a:cubicBezTo>
                  <a:pt x="974" y="517"/>
                  <a:pt x="925" y="561"/>
                  <a:pt x="829" y="561"/>
                </a:cubicBezTo>
                <a:cubicBezTo>
                  <a:pt x="783" y="561"/>
                  <a:pt x="745" y="555"/>
                  <a:pt x="714" y="540"/>
                </a:cubicBezTo>
                <a:close/>
                <a:moveTo>
                  <a:pt x="1277" y="270"/>
                </a:moveTo>
                <a:cubicBezTo>
                  <a:pt x="1277" y="552"/>
                  <a:pt x="1277" y="552"/>
                  <a:pt x="1277" y="552"/>
                </a:cubicBezTo>
                <a:cubicBezTo>
                  <a:pt x="1220" y="552"/>
                  <a:pt x="1220" y="552"/>
                  <a:pt x="1220" y="552"/>
                </a:cubicBezTo>
                <a:cubicBezTo>
                  <a:pt x="1217" y="518"/>
                  <a:pt x="1217" y="518"/>
                  <a:pt x="1217" y="518"/>
                </a:cubicBezTo>
                <a:cubicBezTo>
                  <a:pt x="1201" y="543"/>
                  <a:pt x="1177" y="559"/>
                  <a:pt x="1138" y="559"/>
                </a:cubicBezTo>
                <a:cubicBezTo>
                  <a:pt x="1063" y="559"/>
                  <a:pt x="1013" y="505"/>
                  <a:pt x="1013" y="410"/>
                </a:cubicBezTo>
                <a:cubicBezTo>
                  <a:pt x="1013" y="311"/>
                  <a:pt x="1066" y="254"/>
                  <a:pt x="1171" y="254"/>
                </a:cubicBezTo>
                <a:cubicBezTo>
                  <a:pt x="1211" y="254"/>
                  <a:pt x="1245" y="259"/>
                  <a:pt x="1277" y="270"/>
                </a:cubicBezTo>
                <a:close/>
                <a:moveTo>
                  <a:pt x="1215" y="488"/>
                </a:moveTo>
                <a:cubicBezTo>
                  <a:pt x="1215" y="311"/>
                  <a:pt x="1215" y="311"/>
                  <a:pt x="1215" y="311"/>
                </a:cubicBezTo>
                <a:cubicBezTo>
                  <a:pt x="1202" y="309"/>
                  <a:pt x="1188" y="307"/>
                  <a:pt x="1171" y="307"/>
                </a:cubicBezTo>
                <a:cubicBezTo>
                  <a:pt x="1107" y="307"/>
                  <a:pt x="1077" y="347"/>
                  <a:pt x="1077" y="410"/>
                </a:cubicBezTo>
                <a:cubicBezTo>
                  <a:pt x="1077" y="468"/>
                  <a:pt x="1100" y="508"/>
                  <a:pt x="1155" y="508"/>
                </a:cubicBezTo>
                <a:cubicBezTo>
                  <a:pt x="1179" y="508"/>
                  <a:pt x="1199" y="500"/>
                  <a:pt x="1215" y="488"/>
                </a:cubicBezTo>
                <a:close/>
                <a:moveTo>
                  <a:pt x="1595" y="363"/>
                </a:moveTo>
                <a:cubicBezTo>
                  <a:pt x="1595" y="552"/>
                  <a:pt x="1595" y="552"/>
                  <a:pt x="1595" y="552"/>
                </a:cubicBezTo>
                <a:cubicBezTo>
                  <a:pt x="1533" y="552"/>
                  <a:pt x="1533" y="552"/>
                  <a:pt x="1533" y="552"/>
                </a:cubicBezTo>
                <a:cubicBezTo>
                  <a:pt x="1533" y="373"/>
                  <a:pt x="1533" y="373"/>
                  <a:pt x="1533" y="373"/>
                </a:cubicBezTo>
                <a:cubicBezTo>
                  <a:pt x="1533" y="329"/>
                  <a:pt x="1518" y="307"/>
                  <a:pt x="1456" y="307"/>
                </a:cubicBezTo>
                <a:cubicBezTo>
                  <a:pt x="1442" y="307"/>
                  <a:pt x="1424" y="309"/>
                  <a:pt x="1407" y="312"/>
                </a:cubicBezTo>
                <a:cubicBezTo>
                  <a:pt x="1407" y="552"/>
                  <a:pt x="1407" y="552"/>
                  <a:pt x="1407" y="552"/>
                </a:cubicBezTo>
                <a:cubicBezTo>
                  <a:pt x="1345" y="552"/>
                  <a:pt x="1345" y="552"/>
                  <a:pt x="1345" y="552"/>
                </a:cubicBezTo>
                <a:cubicBezTo>
                  <a:pt x="1345" y="270"/>
                  <a:pt x="1345" y="270"/>
                  <a:pt x="1345" y="270"/>
                </a:cubicBezTo>
                <a:cubicBezTo>
                  <a:pt x="1385" y="261"/>
                  <a:pt x="1428" y="254"/>
                  <a:pt x="1458" y="254"/>
                </a:cubicBezTo>
                <a:cubicBezTo>
                  <a:pt x="1562" y="254"/>
                  <a:pt x="1595" y="294"/>
                  <a:pt x="1595" y="363"/>
                </a:cubicBezTo>
                <a:close/>
                <a:moveTo>
                  <a:pt x="1767" y="506"/>
                </a:moveTo>
                <a:cubicBezTo>
                  <a:pt x="1785" y="506"/>
                  <a:pt x="1802" y="503"/>
                  <a:pt x="1816" y="498"/>
                </a:cubicBezTo>
                <a:cubicBezTo>
                  <a:pt x="1814" y="515"/>
                  <a:pt x="1812" y="534"/>
                  <a:pt x="1808" y="550"/>
                </a:cubicBezTo>
                <a:cubicBezTo>
                  <a:pt x="1791" y="557"/>
                  <a:pt x="1773" y="559"/>
                  <a:pt x="1756" y="559"/>
                </a:cubicBezTo>
                <a:cubicBezTo>
                  <a:pt x="1696" y="559"/>
                  <a:pt x="1657" y="531"/>
                  <a:pt x="1657" y="463"/>
                </a:cubicBezTo>
                <a:cubicBezTo>
                  <a:pt x="1657" y="166"/>
                  <a:pt x="1657" y="166"/>
                  <a:pt x="1657" y="166"/>
                </a:cubicBezTo>
                <a:cubicBezTo>
                  <a:pt x="1676" y="160"/>
                  <a:pt x="1700" y="157"/>
                  <a:pt x="1719" y="157"/>
                </a:cubicBezTo>
                <a:cubicBezTo>
                  <a:pt x="1719" y="264"/>
                  <a:pt x="1719" y="264"/>
                  <a:pt x="1719" y="264"/>
                </a:cubicBezTo>
                <a:cubicBezTo>
                  <a:pt x="1817" y="264"/>
                  <a:pt x="1817" y="264"/>
                  <a:pt x="1817" y="264"/>
                </a:cubicBezTo>
                <a:cubicBezTo>
                  <a:pt x="1816" y="283"/>
                  <a:pt x="1815" y="301"/>
                  <a:pt x="1812" y="317"/>
                </a:cubicBezTo>
                <a:cubicBezTo>
                  <a:pt x="1719" y="317"/>
                  <a:pt x="1719" y="317"/>
                  <a:pt x="1719" y="317"/>
                </a:cubicBezTo>
                <a:cubicBezTo>
                  <a:pt x="1719" y="455"/>
                  <a:pt x="1719" y="455"/>
                  <a:pt x="1719" y="455"/>
                </a:cubicBezTo>
                <a:cubicBezTo>
                  <a:pt x="1719" y="492"/>
                  <a:pt x="1737" y="506"/>
                  <a:pt x="1767" y="506"/>
                </a:cubicBezTo>
                <a:close/>
                <a:moveTo>
                  <a:pt x="2100" y="270"/>
                </a:moveTo>
                <a:cubicBezTo>
                  <a:pt x="2100" y="552"/>
                  <a:pt x="2100" y="552"/>
                  <a:pt x="2100" y="552"/>
                </a:cubicBezTo>
                <a:cubicBezTo>
                  <a:pt x="2043" y="552"/>
                  <a:pt x="2043" y="552"/>
                  <a:pt x="2043" y="552"/>
                </a:cubicBezTo>
                <a:cubicBezTo>
                  <a:pt x="2040" y="518"/>
                  <a:pt x="2040" y="518"/>
                  <a:pt x="2040" y="518"/>
                </a:cubicBezTo>
                <a:cubicBezTo>
                  <a:pt x="2024" y="543"/>
                  <a:pt x="2000" y="559"/>
                  <a:pt x="1960" y="559"/>
                </a:cubicBezTo>
                <a:cubicBezTo>
                  <a:pt x="1886" y="559"/>
                  <a:pt x="1836" y="505"/>
                  <a:pt x="1836" y="410"/>
                </a:cubicBezTo>
                <a:cubicBezTo>
                  <a:pt x="1836" y="311"/>
                  <a:pt x="1889" y="254"/>
                  <a:pt x="1993" y="254"/>
                </a:cubicBezTo>
                <a:cubicBezTo>
                  <a:pt x="2034" y="254"/>
                  <a:pt x="2067" y="259"/>
                  <a:pt x="2100" y="270"/>
                </a:cubicBezTo>
                <a:close/>
                <a:moveTo>
                  <a:pt x="2038" y="488"/>
                </a:moveTo>
                <a:cubicBezTo>
                  <a:pt x="2038" y="311"/>
                  <a:pt x="2038" y="311"/>
                  <a:pt x="2038" y="311"/>
                </a:cubicBezTo>
                <a:cubicBezTo>
                  <a:pt x="2025" y="309"/>
                  <a:pt x="2011" y="307"/>
                  <a:pt x="1993" y="307"/>
                </a:cubicBezTo>
                <a:cubicBezTo>
                  <a:pt x="1929" y="307"/>
                  <a:pt x="1899" y="347"/>
                  <a:pt x="1899" y="410"/>
                </a:cubicBezTo>
                <a:cubicBezTo>
                  <a:pt x="1899" y="468"/>
                  <a:pt x="1922" y="508"/>
                  <a:pt x="1978" y="508"/>
                </a:cubicBezTo>
                <a:cubicBezTo>
                  <a:pt x="2002" y="508"/>
                  <a:pt x="2022" y="500"/>
                  <a:pt x="2038" y="488"/>
                </a:cubicBezTo>
                <a:close/>
                <a:moveTo>
                  <a:pt x="2418" y="363"/>
                </a:moveTo>
                <a:cubicBezTo>
                  <a:pt x="2418" y="552"/>
                  <a:pt x="2418" y="552"/>
                  <a:pt x="2418" y="552"/>
                </a:cubicBezTo>
                <a:cubicBezTo>
                  <a:pt x="2356" y="552"/>
                  <a:pt x="2356" y="552"/>
                  <a:pt x="2356" y="552"/>
                </a:cubicBezTo>
                <a:cubicBezTo>
                  <a:pt x="2356" y="373"/>
                  <a:pt x="2356" y="373"/>
                  <a:pt x="2356" y="373"/>
                </a:cubicBezTo>
                <a:cubicBezTo>
                  <a:pt x="2356" y="329"/>
                  <a:pt x="2341" y="307"/>
                  <a:pt x="2279" y="307"/>
                </a:cubicBezTo>
                <a:cubicBezTo>
                  <a:pt x="2264" y="307"/>
                  <a:pt x="2247" y="309"/>
                  <a:pt x="2230" y="312"/>
                </a:cubicBezTo>
                <a:cubicBezTo>
                  <a:pt x="2230" y="552"/>
                  <a:pt x="2230" y="552"/>
                  <a:pt x="2230" y="552"/>
                </a:cubicBezTo>
                <a:cubicBezTo>
                  <a:pt x="2168" y="552"/>
                  <a:pt x="2168" y="552"/>
                  <a:pt x="2168" y="552"/>
                </a:cubicBezTo>
                <a:cubicBezTo>
                  <a:pt x="2168" y="270"/>
                  <a:pt x="2168" y="270"/>
                  <a:pt x="2168" y="270"/>
                </a:cubicBezTo>
                <a:cubicBezTo>
                  <a:pt x="2207" y="261"/>
                  <a:pt x="2251" y="254"/>
                  <a:pt x="2281" y="254"/>
                </a:cubicBezTo>
                <a:cubicBezTo>
                  <a:pt x="2384" y="254"/>
                  <a:pt x="2418" y="294"/>
                  <a:pt x="2418" y="363"/>
                </a:cubicBezTo>
                <a:close/>
                <a:moveTo>
                  <a:pt x="2733" y="157"/>
                </a:moveTo>
                <a:cubicBezTo>
                  <a:pt x="2733" y="552"/>
                  <a:pt x="2733" y="552"/>
                  <a:pt x="2733" y="552"/>
                </a:cubicBezTo>
                <a:cubicBezTo>
                  <a:pt x="2676" y="552"/>
                  <a:pt x="2676" y="552"/>
                  <a:pt x="2676" y="552"/>
                </a:cubicBezTo>
                <a:cubicBezTo>
                  <a:pt x="2672" y="516"/>
                  <a:pt x="2672" y="516"/>
                  <a:pt x="2672" y="516"/>
                </a:cubicBezTo>
                <a:cubicBezTo>
                  <a:pt x="2656" y="543"/>
                  <a:pt x="2632" y="559"/>
                  <a:pt x="2591" y="559"/>
                </a:cubicBezTo>
                <a:cubicBezTo>
                  <a:pt x="2517" y="559"/>
                  <a:pt x="2467" y="505"/>
                  <a:pt x="2467" y="410"/>
                </a:cubicBezTo>
                <a:cubicBezTo>
                  <a:pt x="2467" y="311"/>
                  <a:pt x="2520" y="254"/>
                  <a:pt x="2625" y="254"/>
                </a:cubicBezTo>
                <a:cubicBezTo>
                  <a:pt x="2641" y="254"/>
                  <a:pt x="2656" y="256"/>
                  <a:pt x="2671" y="259"/>
                </a:cubicBezTo>
                <a:cubicBezTo>
                  <a:pt x="2671" y="166"/>
                  <a:pt x="2671" y="166"/>
                  <a:pt x="2671" y="166"/>
                </a:cubicBezTo>
                <a:cubicBezTo>
                  <a:pt x="2690" y="159"/>
                  <a:pt x="2712" y="157"/>
                  <a:pt x="2733" y="157"/>
                </a:cubicBezTo>
                <a:close/>
                <a:moveTo>
                  <a:pt x="2671" y="487"/>
                </a:moveTo>
                <a:cubicBezTo>
                  <a:pt x="2671" y="313"/>
                  <a:pt x="2671" y="313"/>
                  <a:pt x="2671" y="313"/>
                </a:cubicBezTo>
                <a:cubicBezTo>
                  <a:pt x="2655" y="310"/>
                  <a:pt x="2638" y="307"/>
                  <a:pt x="2621" y="307"/>
                </a:cubicBezTo>
                <a:cubicBezTo>
                  <a:pt x="2560" y="307"/>
                  <a:pt x="2531" y="346"/>
                  <a:pt x="2531" y="410"/>
                </a:cubicBezTo>
                <a:cubicBezTo>
                  <a:pt x="2531" y="468"/>
                  <a:pt x="2554" y="508"/>
                  <a:pt x="2609" y="508"/>
                </a:cubicBezTo>
                <a:cubicBezTo>
                  <a:pt x="2634" y="508"/>
                  <a:pt x="2654" y="500"/>
                  <a:pt x="2671" y="487"/>
                </a:cubicBezTo>
                <a:close/>
                <a:moveTo>
                  <a:pt x="3045" y="432"/>
                </a:moveTo>
                <a:cubicBezTo>
                  <a:pt x="2847" y="432"/>
                  <a:pt x="2847" y="432"/>
                  <a:pt x="2847" y="432"/>
                </a:cubicBezTo>
                <a:cubicBezTo>
                  <a:pt x="2854" y="482"/>
                  <a:pt x="2884" y="506"/>
                  <a:pt x="2939" y="506"/>
                </a:cubicBezTo>
                <a:cubicBezTo>
                  <a:pt x="2973" y="506"/>
                  <a:pt x="3007" y="499"/>
                  <a:pt x="3038" y="485"/>
                </a:cubicBezTo>
                <a:cubicBezTo>
                  <a:pt x="3036" y="501"/>
                  <a:pt x="3033" y="522"/>
                  <a:pt x="3029" y="541"/>
                </a:cubicBezTo>
                <a:cubicBezTo>
                  <a:pt x="3001" y="554"/>
                  <a:pt x="2971" y="559"/>
                  <a:pt x="2937" y="559"/>
                </a:cubicBezTo>
                <a:cubicBezTo>
                  <a:pt x="2834" y="559"/>
                  <a:pt x="2783" y="502"/>
                  <a:pt x="2783" y="405"/>
                </a:cubicBezTo>
                <a:cubicBezTo>
                  <a:pt x="2783" y="321"/>
                  <a:pt x="2822" y="254"/>
                  <a:pt x="2921" y="254"/>
                </a:cubicBezTo>
                <a:cubicBezTo>
                  <a:pt x="3010" y="254"/>
                  <a:pt x="3048" y="313"/>
                  <a:pt x="3048" y="384"/>
                </a:cubicBezTo>
                <a:cubicBezTo>
                  <a:pt x="3048" y="401"/>
                  <a:pt x="3047" y="415"/>
                  <a:pt x="3045" y="432"/>
                </a:cubicBezTo>
                <a:close/>
                <a:moveTo>
                  <a:pt x="2845" y="380"/>
                </a:moveTo>
                <a:cubicBezTo>
                  <a:pt x="2985" y="380"/>
                  <a:pt x="2985" y="380"/>
                  <a:pt x="2985" y="380"/>
                </a:cubicBezTo>
                <a:cubicBezTo>
                  <a:pt x="2985" y="333"/>
                  <a:pt x="2960" y="306"/>
                  <a:pt x="2918" y="306"/>
                </a:cubicBezTo>
                <a:cubicBezTo>
                  <a:pt x="2874" y="306"/>
                  <a:pt x="2850" y="332"/>
                  <a:pt x="2845" y="380"/>
                </a:cubicBezTo>
                <a:close/>
                <a:moveTo>
                  <a:pt x="3262" y="257"/>
                </a:moveTo>
                <a:cubicBezTo>
                  <a:pt x="3262" y="275"/>
                  <a:pt x="3260" y="298"/>
                  <a:pt x="3256" y="310"/>
                </a:cubicBezTo>
                <a:cubicBezTo>
                  <a:pt x="3241" y="308"/>
                  <a:pt x="3227" y="307"/>
                  <a:pt x="3209" y="307"/>
                </a:cubicBezTo>
                <a:cubicBezTo>
                  <a:pt x="3194" y="307"/>
                  <a:pt x="3179" y="309"/>
                  <a:pt x="3164" y="311"/>
                </a:cubicBezTo>
                <a:cubicBezTo>
                  <a:pt x="3164" y="552"/>
                  <a:pt x="3164" y="552"/>
                  <a:pt x="3164" y="552"/>
                </a:cubicBezTo>
                <a:cubicBezTo>
                  <a:pt x="3102" y="552"/>
                  <a:pt x="3102" y="552"/>
                  <a:pt x="3102" y="552"/>
                </a:cubicBezTo>
                <a:cubicBezTo>
                  <a:pt x="3102" y="270"/>
                  <a:pt x="3102" y="270"/>
                  <a:pt x="3102" y="270"/>
                </a:cubicBezTo>
                <a:cubicBezTo>
                  <a:pt x="3128" y="261"/>
                  <a:pt x="3173" y="254"/>
                  <a:pt x="3208" y="254"/>
                </a:cubicBezTo>
                <a:cubicBezTo>
                  <a:pt x="3227" y="254"/>
                  <a:pt x="3248" y="255"/>
                  <a:pt x="3262" y="257"/>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solidFill>
                <a:prstClr val="black"/>
              </a:solidFill>
            </a:endParaRPr>
          </a:p>
        </p:txBody>
      </p:sp>
    </p:spTree>
    <p:extLst>
      <p:ext uri="{BB962C8B-B14F-4D97-AF65-F5344CB8AC3E}">
        <p14:creationId xmlns:p14="http://schemas.microsoft.com/office/powerpoint/2010/main" val="2190471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all Out ">
    <p:spTree>
      <p:nvGrpSpPr>
        <p:cNvPr id="1" name=""/>
        <p:cNvGrpSpPr/>
        <p:nvPr/>
      </p:nvGrpSpPr>
      <p:grpSpPr>
        <a:xfrm>
          <a:off x="0" y="0"/>
          <a:ext cx="0" cy="0"/>
          <a:chOff x="0" y="0"/>
          <a:chExt cx="0" cy="0"/>
        </a:xfrm>
      </p:grpSpPr>
      <p:graphicFrame>
        <p:nvGraphicFramePr>
          <p:cNvPr id="4" name="Objeto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to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66B5AEF2-F43E-4C92-A186-61C1E43CE82B}"/>
              </a:ext>
            </a:extLst>
          </p:cNvPr>
          <p:cNvSpPr>
            <a:spLocks noGrp="1"/>
          </p:cNvSpPr>
          <p:nvPr>
            <p:ph type="title"/>
          </p:nvPr>
        </p:nvSpPr>
        <p:spPr>
          <a:xfrm>
            <a:off x="711024" y="1087458"/>
            <a:ext cx="3801119" cy="4933929"/>
          </a:xfrm>
        </p:spPr>
        <p:txBody>
          <a:bodyPr vert="horz" anchor="t">
            <a:noAutofit/>
          </a:bodyPr>
          <a:lstStyle>
            <a:lvl1pPr>
              <a:defRPr lang="en-US" sz="2600" b="0" kern="1200" dirty="0">
                <a:solidFill>
                  <a:schemeClr val="accent3"/>
                </a:solidFill>
                <a:latin typeface="+mj-lt"/>
                <a:ea typeface="+mj-ea"/>
                <a:cs typeface="+mj-cs"/>
              </a:defRPr>
            </a:lvl1pPr>
          </a:lstStyle>
          <a:p>
            <a:r>
              <a:rPr lang="en-US"/>
              <a:t>Click to edit Master title style</a:t>
            </a:r>
            <a:endParaRPr lang="es-ES"/>
          </a:p>
        </p:txBody>
      </p:sp>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0"/>
            <a:ext cx="2743200" cy="365125"/>
          </a:xfrm>
        </p:spPr>
        <p:txBody>
          <a:bodyPr/>
          <a:lstStyle>
            <a:lvl1pPr>
              <a:defRPr lang="es-ES" sz="1300" kern="1200" smtClean="0">
                <a:solidFill>
                  <a:schemeClr val="accent1"/>
                </a:solidFill>
                <a:latin typeface="+mn-lt"/>
                <a:ea typeface="+mn-ea"/>
                <a:cs typeface="+mn-cs"/>
              </a:defRPr>
            </a:lvl1pPr>
          </a:lstStyle>
          <a:p>
            <a:fld id="{BC0D97B6-E32F-4D7D-B839-7C3B51F2640F}" type="slidenum">
              <a:rPr>
                <a:solidFill>
                  <a:srgbClr val="EC0000"/>
                </a:solidFill>
              </a:rPr>
              <a:pPr/>
              <a:t>‹Nº›</a:t>
            </a:fld>
            <a:endParaRPr>
              <a:solidFill>
                <a:srgbClr val="EC0000"/>
              </a:solidFill>
            </a:endParaRPr>
          </a:p>
        </p:txBody>
      </p:sp>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lang="en-US" sz="1600" kern="1200" dirty="0">
                <a:solidFill>
                  <a:schemeClr val="accent1"/>
                </a:solidFill>
                <a:latin typeface="+mn-lt"/>
                <a:ea typeface="+mn-ea"/>
                <a:cs typeface="+mn-cs"/>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a:t>Edit Master text styles</a:t>
            </a:r>
          </a:p>
        </p:txBody>
      </p:sp>
      <p:sp>
        <p:nvSpPr>
          <p:cNvPr id="12" name="Marcador de texto 16">
            <a:extLst>
              <a:ext uri="{FF2B5EF4-FFF2-40B4-BE49-F238E27FC236}">
                <a16:creationId xmlns:a16="http://schemas.microsoft.com/office/drawing/2014/main" id="{87DF9564-216B-4533-A626-FE222DEB917D}"/>
              </a:ext>
            </a:extLst>
          </p:cNvPr>
          <p:cNvSpPr>
            <a:spLocks noGrp="1"/>
          </p:cNvSpPr>
          <p:nvPr>
            <p:ph type="body" sz="quarter" idx="15"/>
          </p:nvPr>
        </p:nvSpPr>
        <p:spPr>
          <a:xfrm>
            <a:off x="4772722" y="1087458"/>
            <a:ext cx="6697035" cy="4933930"/>
          </a:xfrm>
        </p:spPr>
        <p:txBody>
          <a:bodyPr numCol="1" spcCol="0">
            <a:noAutofit/>
          </a:bodyPr>
          <a:lstStyle>
            <a:lvl1pPr marL="0" indent="0">
              <a:spcBef>
                <a:spcPts val="0"/>
              </a:spcBef>
              <a:spcAft>
                <a:spcPts val="2200"/>
              </a:spcAft>
              <a:buFont typeface="Arial" panose="020B0604020202020204" pitchFamily="34" charset="0"/>
              <a:buNone/>
              <a:defRPr lang="en-US" sz="1600" kern="1200" dirty="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a:t>Edit Master text styles</a:t>
            </a:r>
          </a:p>
        </p:txBody>
      </p:sp>
      <p:sp>
        <p:nvSpPr>
          <p:cNvPr id="11" name="Freeform 5">
            <a:extLst>
              <a:ext uri="{FF2B5EF4-FFF2-40B4-BE49-F238E27FC236}">
                <a16:creationId xmlns:a16="http://schemas.microsoft.com/office/drawing/2014/main" id="{E8B34581-2FC5-449E-B3D2-1C50561C366F}"/>
              </a:ext>
            </a:extLst>
          </p:cNvPr>
          <p:cNvSpPr>
            <a:spLocks noEditPoints="1"/>
          </p:cNvSpPr>
          <p:nvPr userDrawn="1"/>
        </p:nvSpPr>
        <p:spPr bwMode="auto">
          <a:xfrm>
            <a:off x="832642" y="6262326"/>
            <a:ext cx="1171705" cy="206714"/>
          </a:xfrm>
          <a:custGeom>
            <a:avLst/>
            <a:gdLst>
              <a:gd name="T0" fmla="*/ 319 w 3262"/>
              <a:gd name="T1" fmla="*/ 39 h 572"/>
              <a:gd name="T2" fmla="*/ 300 w 3262"/>
              <a:gd name="T3" fmla="*/ 137 h 572"/>
              <a:gd name="T4" fmla="*/ 371 w 3262"/>
              <a:gd name="T5" fmla="*/ 405 h 572"/>
              <a:gd name="T6" fmla="*/ 244 w 3262"/>
              <a:gd name="T7" fmla="*/ 170 h 572"/>
              <a:gd name="T8" fmla="*/ 225 w 3262"/>
              <a:gd name="T9" fmla="*/ 267 h 572"/>
              <a:gd name="T10" fmla="*/ 300 w 3262"/>
              <a:gd name="T11" fmla="*/ 528 h 572"/>
              <a:gd name="T12" fmla="*/ 187 w 3262"/>
              <a:gd name="T13" fmla="*/ 333 h 572"/>
              <a:gd name="T14" fmla="*/ 300 w 3262"/>
              <a:gd name="T15" fmla="*/ 572 h 572"/>
              <a:gd name="T16" fmla="*/ 714 w 3262"/>
              <a:gd name="T17" fmla="*/ 540 h 572"/>
              <a:gd name="T18" fmla="*/ 910 w 3262"/>
              <a:gd name="T19" fmla="*/ 455 h 572"/>
              <a:gd name="T20" fmla="*/ 717 w 3262"/>
              <a:gd name="T21" fmla="*/ 258 h 572"/>
              <a:gd name="T22" fmla="*/ 945 w 3262"/>
              <a:gd name="T23" fmla="*/ 226 h 572"/>
              <a:gd name="T24" fmla="*/ 842 w 3262"/>
              <a:gd name="T25" fmla="*/ 322 h 572"/>
              <a:gd name="T26" fmla="*/ 829 w 3262"/>
              <a:gd name="T27" fmla="*/ 561 h 572"/>
              <a:gd name="T28" fmla="*/ 1277 w 3262"/>
              <a:gd name="T29" fmla="*/ 552 h 572"/>
              <a:gd name="T30" fmla="*/ 1138 w 3262"/>
              <a:gd name="T31" fmla="*/ 559 h 572"/>
              <a:gd name="T32" fmla="*/ 1277 w 3262"/>
              <a:gd name="T33" fmla="*/ 270 h 572"/>
              <a:gd name="T34" fmla="*/ 1171 w 3262"/>
              <a:gd name="T35" fmla="*/ 307 h 572"/>
              <a:gd name="T36" fmla="*/ 1215 w 3262"/>
              <a:gd name="T37" fmla="*/ 488 h 572"/>
              <a:gd name="T38" fmla="*/ 1533 w 3262"/>
              <a:gd name="T39" fmla="*/ 552 h 572"/>
              <a:gd name="T40" fmla="*/ 1407 w 3262"/>
              <a:gd name="T41" fmla="*/ 312 h 572"/>
              <a:gd name="T42" fmla="*/ 1345 w 3262"/>
              <a:gd name="T43" fmla="*/ 270 h 572"/>
              <a:gd name="T44" fmla="*/ 1767 w 3262"/>
              <a:gd name="T45" fmla="*/ 506 h 572"/>
              <a:gd name="T46" fmla="*/ 1756 w 3262"/>
              <a:gd name="T47" fmla="*/ 559 h 572"/>
              <a:gd name="T48" fmla="*/ 1719 w 3262"/>
              <a:gd name="T49" fmla="*/ 157 h 572"/>
              <a:gd name="T50" fmla="*/ 1812 w 3262"/>
              <a:gd name="T51" fmla="*/ 317 h 572"/>
              <a:gd name="T52" fmla="*/ 1767 w 3262"/>
              <a:gd name="T53" fmla="*/ 506 h 572"/>
              <a:gd name="T54" fmla="*/ 2043 w 3262"/>
              <a:gd name="T55" fmla="*/ 552 h 572"/>
              <a:gd name="T56" fmla="*/ 1836 w 3262"/>
              <a:gd name="T57" fmla="*/ 410 h 572"/>
              <a:gd name="T58" fmla="*/ 2038 w 3262"/>
              <a:gd name="T59" fmla="*/ 488 h 572"/>
              <a:gd name="T60" fmla="*/ 1899 w 3262"/>
              <a:gd name="T61" fmla="*/ 410 h 572"/>
              <a:gd name="T62" fmla="*/ 2418 w 3262"/>
              <a:gd name="T63" fmla="*/ 363 h 572"/>
              <a:gd name="T64" fmla="*/ 2356 w 3262"/>
              <a:gd name="T65" fmla="*/ 373 h 572"/>
              <a:gd name="T66" fmla="*/ 2230 w 3262"/>
              <a:gd name="T67" fmla="*/ 552 h 572"/>
              <a:gd name="T68" fmla="*/ 2281 w 3262"/>
              <a:gd name="T69" fmla="*/ 254 h 572"/>
              <a:gd name="T70" fmla="*/ 2733 w 3262"/>
              <a:gd name="T71" fmla="*/ 552 h 572"/>
              <a:gd name="T72" fmla="*/ 2591 w 3262"/>
              <a:gd name="T73" fmla="*/ 559 h 572"/>
              <a:gd name="T74" fmla="*/ 2671 w 3262"/>
              <a:gd name="T75" fmla="*/ 259 h 572"/>
              <a:gd name="T76" fmla="*/ 2671 w 3262"/>
              <a:gd name="T77" fmla="*/ 487 h 572"/>
              <a:gd name="T78" fmla="*/ 2531 w 3262"/>
              <a:gd name="T79" fmla="*/ 410 h 572"/>
              <a:gd name="T80" fmla="*/ 3045 w 3262"/>
              <a:gd name="T81" fmla="*/ 432 h 572"/>
              <a:gd name="T82" fmla="*/ 3038 w 3262"/>
              <a:gd name="T83" fmla="*/ 485 h 572"/>
              <a:gd name="T84" fmla="*/ 2783 w 3262"/>
              <a:gd name="T85" fmla="*/ 405 h 572"/>
              <a:gd name="T86" fmla="*/ 3045 w 3262"/>
              <a:gd name="T87" fmla="*/ 432 h 572"/>
              <a:gd name="T88" fmla="*/ 2918 w 3262"/>
              <a:gd name="T89" fmla="*/ 306 h 572"/>
              <a:gd name="T90" fmla="*/ 3256 w 3262"/>
              <a:gd name="T91" fmla="*/ 310 h 572"/>
              <a:gd name="T92" fmla="*/ 3164 w 3262"/>
              <a:gd name="T93" fmla="*/ 552 h 572"/>
              <a:gd name="T94" fmla="*/ 3208 w 3262"/>
              <a:gd name="T95" fmla="*/ 254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262" h="572">
                <a:moveTo>
                  <a:pt x="430" y="262"/>
                </a:moveTo>
                <a:cubicBezTo>
                  <a:pt x="429" y="241"/>
                  <a:pt x="424" y="221"/>
                  <a:pt x="413" y="202"/>
                </a:cubicBezTo>
                <a:cubicBezTo>
                  <a:pt x="319" y="39"/>
                  <a:pt x="319" y="39"/>
                  <a:pt x="319" y="39"/>
                </a:cubicBezTo>
                <a:cubicBezTo>
                  <a:pt x="312" y="27"/>
                  <a:pt x="307" y="14"/>
                  <a:pt x="304" y="0"/>
                </a:cubicBezTo>
                <a:cubicBezTo>
                  <a:pt x="300" y="7"/>
                  <a:pt x="300" y="7"/>
                  <a:pt x="300" y="7"/>
                </a:cubicBezTo>
                <a:cubicBezTo>
                  <a:pt x="277" y="47"/>
                  <a:pt x="277" y="97"/>
                  <a:pt x="300" y="137"/>
                </a:cubicBezTo>
                <a:cubicBezTo>
                  <a:pt x="375" y="267"/>
                  <a:pt x="375" y="267"/>
                  <a:pt x="375" y="267"/>
                </a:cubicBezTo>
                <a:cubicBezTo>
                  <a:pt x="399" y="308"/>
                  <a:pt x="399" y="357"/>
                  <a:pt x="375" y="398"/>
                </a:cubicBezTo>
                <a:cubicBezTo>
                  <a:pt x="371" y="405"/>
                  <a:pt x="371" y="405"/>
                  <a:pt x="371" y="405"/>
                </a:cubicBezTo>
                <a:cubicBezTo>
                  <a:pt x="369" y="391"/>
                  <a:pt x="364" y="378"/>
                  <a:pt x="356" y="365"/>
                </a:cubicBezTo>
                <a:cubicBezTo>
                  <a:pt x="288" y="246"/>
                  <a:pt x="288" y="246"/>
                  <a:pt x="288" y="246"/>
                </a:cubicBezTo>
                <a:cubicBezTo>
                  <a:pt x="244" y="170"/>
                  <a:pt x="244" y="170"/>
                  <a:pt x="244" y="170"/>
                </a:cubicBezTo>
                <a:cubicBezTo>
                  <a:pt x="236" y="157"/>
                  <a:pt x="232" y="144"/>
                  <a:pt x="229" y="130"/>
                </a:cubicBezTo>
                <a:cubicBezTo>
                  <a:pt x="225" y="137"/>
                  <a:pt x="225" y="137"/>
                  <a:pt x="225" y="137"/>
                </a:cubicBezTo>
                <a:cubicBezTo>
                  <a:pt x="202" y="177"/>
                  <a:pt x="202" y="227"/>
                  <a:pt x="225" y="267"/>
                </a:cubicBezTo>
                <a:cubicBezTo>
                  <a:pt x="225" y="267"/>
                  <a:pt x="225" y="267"/>
                  <a:pt x="225" y="267"/>
                </a:cubicBezTo>
                <a:cubicBezTo>
                  <a:pt x="300" y="398"/>
                  <a:pt x="300" y="398"/>
                  <a:pt x="300" y="398"/>
                </a:cubicBezTo>
                <a:cubicBezTo>
                  <a:pt x="323" y="438"/>
                  <a:pt x="323" y="488"/>
                  <a:pt x="300" y="528"/>
                </a:cubicBezTo>
                <a:cubicBezTo>
                  <a:pt x="296" y="535"/>
                  <a:pt x="296" y="535"/>
                  <a:pt x="296" y="535"/>
                </a:cubicBezTo>
                <a:cubicBezTo>
                  <a:pt x="293" y="521"/>
                  <a:pt x="288" y="508"/>
                  <a:pt x="281" y="495"/>
                </a:cubicBezTo>
                <a:cubicBezTo>
                  <a:pt x="187" y="333"/>
                  <a:pt x="187" y="333"/>
                  <a:pt x="187" y="333"/>
                </a:cubicBezTo>
                <a:cubicBezTo>
                  <a:pt x="175" y="311"/>
                  <a:pt x="169" y="286"/>
                  <a:pt x="170" y="262"/>
                </a:cubicBezTo>
                <a:cubicBezTo>
                  <a:pt x="69" y="288"/>
                  <a:pt x="0" y="344"/>
                  <a:pt x="0" y="409"/>
                </a:cubicBezTo>
                <a:cubicBezTo>
                  <a:pt x="0" y="499"/>
                  <a:pt x="134" y="572"/>
                  <a:pt x="300" y="572"/>
                </a:cubicBezTo>
                <a:cubicBezTo>
                  <a:pt x="466" y="572"/>
                  <a:pt x="600" y="499"/>
                  <a:pt x="600" y="409"/>
                </a:cubicBezTo>
                <a:cubicBezTo>
                  <a:pt x="600" y="344"/>
                  <a:pt x="531" y="288"/>
                  <a:pt x="430" y="262"/>
                </a:cubicBezTo>
                <a:close/>
                <a:moveTo>
                  <a:pt x="714" y="540"/>
                </a:moveTo>
                <a:cubicBezTo>
                  <a:pt x="715" y="517"/>
                  <a:pt x="718" y="501"/>
                  <a:pt x="725" y="483"/>
                </a:cubicBezTo>
                <a:cubicBezTo>
                  <a:pt x="756" y="498"/>
                  <a:pt x="797" y="505"/>
                  <a:pt x="828" y="505"/>
                </a:cubicBezTo>
                <a:cubicBezTo>
                  <a:pt x="880" y="505"/>
                  <a:pt x="910" y="488"/>
                  <a:pt x="910" y="455"/>
                </a:cubicBezTo>
                <a:cubicBezTo>
                  <a:pt x="910" y="422"/>
                  <a:pt x="888" y="407"/>
                  <a:pt x="835" y="384"/>
                </a:cubicBezTo>
                <a:cubicBezTo>
                  <a:pt x="806" y="371"/>
                  <a:pt x="806" y="371"/>
                  <a:pt x="806" y="371"/>
                </a:cubicBezTo>
                <a:cubicBezTo>
                  <a:pt x="753" y="348"/>
                  <a:pt x="717" y="318"/>
                  <a:pt x="717" y="258"/>
                </a:cubicBezTo>
                <a:cubicBezTo>
                  <a:pt x="717" y="194"/>
                  <a:pt x="762" y="153"/>
                  <a:pt x="853" y="153"/>
                </a:cubicBezTo>
                <a:cubicBezTo>
                  <a:pt x="890" y="153"/>
                  <a:pt x="924" y="158"/>
                  <a:pt x="956" y="169"/>
                </a:cubicBezTo>
                <a:cubicBezTo>
                  <a:pt x="955" y="192"/>
                  <a:pt x="951" y="209"/>
                  <a:pt x="945" y="226"/>
                </a:cubicBezTo>
                <a:cubicBezTo>
                  <a:pt x="915" y="214"/>
                  <a:pt x="879" y="209"/>
                  <a:pt x="853" y="209"/>
                </a:cubicBezTo>
                <a:cubicBezTo>
                  <a:pt x="804" y="209"/>
                  <a:pt x="781" y="228"/>
                  <a:pt x="781" y="258"/>
                </a:cubicBezTo>
                <a:cubicBezTo>
                  <a:pt x="781" y="288"/>
                  <a:pt x="803" y="305"/>
                  <a:pt x="842" y="322"/>
                </a:cubicBezTo>
                <a:cubicBezTo>
                  <a:pt x="873" y="335"/>
                  <a:pt x="873" y="335"/>
                  <a:pt x="873" y="335"/>
                </a:cubicBezTo>
                <a:cubicBezTo>
                  <a:pt x="945" y="365"/>
                  <a:pt x="974" y="397"/>
                  <a:pt x="974" y="452"/>
                </a:cubicBezTo>
                <a:cubicBezTo>
                  <a:pt x="974" y="517"/>
                  <a:pt x="925" y="561"/>
                  <a:pt x="829" y="561"/>
                </a:cubicBezTo>
                <a:cubicBezTo>
                  <a:pt x="783" y="561"/>
                  <a:pt x="745" y="555"/>
                  <a:pt x="714" y="540"/>
                </a:cubicBezTo>
                <a:close/>
                <a:moveTo>
                  <a:pt x="1277" y="270"/>
                </a:moveTo>
                <a:cubicBezTo>
                  <a:pt x="1277" y="552"/>
                  <a:pt x="1277" y="552"/>
                  <a:pt x="1277" y="552"/>
                </a:cubicBezTo>
                <a:cubicBezTo>
                  <a:pt x="1220" y="552"/>
                  <a:pt x="1220" y="552"/>
                  <a:pt x="1220" y="552"/>
                </a:cubicBezTo>
                <a:cubicBezTo>
                  <a:pt x="1217" y="518"/>
                  <a:pt x="1217" y="518"/>
                  <a:pt x="1217" y="518"/>
                </a:cubicBezTo>
                <a:cubicBezTo>
                  <a:pt x="1201" y="543"/>
                  <a:pt x="1177" y="559"/>
                  <a:pt x="1138" y="559"/>
                </a:cubicBezTo>
                <a:cubicBezTo>
                  <a:pt x="1063" y="559"/>
                  <a:pt x="1013" y="505"/>
                  <a:pt x="1013" y="410"/>
                </a:cubicBezTo>
                <a:cubicBezTo>
                  <a:pt x="1013" y="311"/>
                  <a:pt x="1066" y="254"/>
                  <a:pt x="1171" y="254"/>
                </a:cubicBezTo>
                <a:cubicBezTo>
                  <a:pt x="1211" y="254"/>
                  <a:pt x="1245" y="259"/>
                  <a:pt x="1277" y="270"/>
                </a:cubicBezTo>
                <a:close/>
                <a:moveTo>
                  <a:pt x="1215" y="488"/>
                </a:moveTo>
                <a:cubicBezTo>
                  <a:pt x="1215" y="311"/>
                  <a:pt x="1215" y="311"/>
                  <a:pt x="1215" y="311"/>
                </a:cubicBezTo>
                <a:cubicBezTo>
                  <a:pt x="1202" y="309"/>
                  <a:pt x="1188" y="307"/>
                  <a:pt x="1171" y="307"/>
                </a:cubicBezTo>
                <a:cubicBezTo>
                  <a:pt x="1107" y="307"/>
                  <a:pt x="1077" y="347"/>
                  <a:pt x="1077" y="410"/>
                </a:cubicBezTo>
                <a:cubicBezTo>
                  <a:pt x="1077" y="468"/>
                  <a:pt x="1100" y="508"/>
                  <a:pt x="1155" y="508"/>
                </a:cubicBezTo>
                <a:cubicBezTo>
                  <a:pt x="1179" y="508"/>
                  <a:pt x="1199" y="500"/>
                  <a:pt x="1215" y="488"/>
                </a:cubicBezTo>
                <a:close/>
                <a:moveTo>
                  <a:pt x="1595" y="363"/>
                </a:moveTo>
                <a:cubicBezTo>
                  <a:pt x="1595" y="552"/>
                  <a:pt x="1595" y="552"/>
                  <a:pt x="1595" y="552"/>
                </a:cubicBezTo>
                <a:cubicBezTo>
                  <a:pt x="1533" y="552"/>
                  <a:pt x="1533" y="552"/>
                  <a:pt x="1533" y="552"/>
                </a:cubicBezTo>
                <a:cubicBezTo>
                  <a:pt x="1533" y="373"/>
                  <a:pt x="1533" y="373"/>
                  <a:pt x="1533" y="373"/>
                </a:cubicBezTo>
                <a:cubicBezTo>
                  <a:pt x="1533" y="329"/>
                  <a:pt x="1518" y="307"/>
                  <a:pt x="1456" y="307"/>
                </a:cubicBezTo>
                <a:cubicBezTo>
                  <a:pt x="1442" y="307"/>
                  <a:pt x="1424" y="309"/>
                  <a:pt x="1407" y="312"/>
                </a:cubicBezTo>
                <a:cubicBezTo>
                  <a:pt x="1407" y="552"/>
                  <a:pt x="1407" y="552"/>
                  <a:pt x="1407" y="552"/>
                </a:cubicBezTo>
                <a:cubicBezTo>
                  <a:pt x="1345" y="552"/>
                  <a:pt x="1345" y="552"/>
                  <a:pt x="1345" y="552"/>
                </a:cubicBezTo>
                <a:cubicBezTo>
                  <a:pt x="1345" y="270"/>
                  <a:pt x="1345" y="270"/>
                  <a:pt x="1345" y="270"/>
                </a:cubicBezTo>
                <a:cubicBezTo>
                  <a:pt x="1385" y="261"/>
                  <a:pt x="1428" y="254"/>
                  <a:pt x="1458" y="254"/>
                </a:cubicBezTo>
                <a:cubicBezTo>
                  <a:pt x="1562" y="254"/>
                  <a:pt x="1595" y="294"/>
                  <a:pt x="1595" y="363"/>
                </a:cubicBezTo>
                <a:close/>
                <a:moveTo>
                  <a:pt x="1767" y="506"/>
                </a:moveTo>
                <a:cubicBezTo>
                  <a:pt x="1785" y="506"/>
                  <a:pt x="1802" y="503"/>
                  <a:pt x="1816" y="498"/>
                </a:cubicBezTo>
                <a:cubicBezTo>
                  <a:pt x="1814" y="515"/>
                  <a:pt x="1812" y="534"/>
                  <a:pt x="1808" y="550"/>
                </a:cubicBezTo>
                <a:cubicBezTo>
                  <a:pt x="1791" y="557"/>
                  <a:pt x="1773" y="559"/>
                  <a:pt x="1756" y="559"/>
                </a:cubicBezTo>
                <a:cubicBezTo>
                  <a:pt x="1696" y="559"/>
                  <a:pt x="1657" y="531"/>
                  <a:pt x="1657" y="463"/>
                </a:cubicBezTo>
                <a:cubicBezTo>
                  <a:pt x="1657" y="166"/>
                  <a:pt x="1657" y="166"/>
                  <a:pt x="1657" y="166"/>
                </a:cubicBezTo>
                <a:cubicBezTo>
                  <a:pt x="1676" y="160"/>
                  <a:pt x="1700" y="157"/>
                  <a:pt x="1719" y="157"/>
                </a:cubicBezTo>
                <a:cubicBezTo>
                  <a:pt x="1719" y="264"/>
                  <a:pt x="1719" y="264"/>
                  <a:pt x="1719" y="264"/>
                </a:cubicBezTo>
                <a:cubicBezTo>
                  <a:pt x="1817" y="264"/>
                  <a:pt x="1817" y="264"/>
                  <a:pt x="1817" y="264"/>
                </a:cubicBezTo>
                <a:cubicBezTo>
                  <a:pt x="1816" y="283"/>
                  <a:pt x="1815" y="301"/>
                  <a:pt x="1812" y="317"/>
                </a:cubicBezTo>
                <a:cubicBezTo>
                  <a:pt x="1719" y="317"/>
                  <a:pt x="1719" y="317"/>
                  <a:pt x="1719" y="317"/>
                </a:cubicBezTo>
                <a:cubicBezTo>
                  <a:pt x="1719" y="455"/>
                  <a:pt x="1719" y="455"/>
                  <a:pt x="1719" y="455"/>
                </a:cubicBezTo>
                <a:cubicBezTo>
                  <a:pt x="1719" y="492"/>
                  <a:pt x="1737" y="506"/>
                  <a:pt x="1767" y="506"/>
                </a:cubicBezTo>
                <a:close/>
                <a:moveTo>
                  <a:pt x="2100" y="270"/>
                </a:moveTo>
                <a:cubicBezTo>
                  <a:pt x="2100" y="552"/>
                  <a:pt x="2100" y="552"/>
                  <a:pt x="2100" y="552"/>
                </a:cubicBezTo>
                <a:cubicBezTo>
                  <a:pt x="2043" y="552"/>
                  <a:pt x="2043" y="552"/>
                  <a:pt x="2043" y="552"/>
                </a:cubicBezTo>
                <a:cubicBezTo>
                  <a:pt x="2040" y="518"/>
                  <a:pt x="2040" y="518"/>
                  <a:pt x="2040" y="518"/>
                </a:cubicBezTo>
                <a:cubicBezTo>
                  <a:pt x="2024" y="543"/>
                  <a:pt x="2000" y="559"/>
                  <a:pt x="1960" y="559"/>
                </a:cubicBezTo>
                <a:cubicBezTo>
                  <a:pt x="1886" y="559"/>
                  <a:pt x="1836" y="505"/>
                  <a:pt x="1836" y="410"/>
                </a:cubicBezTo>
                <a:cubicBezTo>
                  <a:pt x="1836" y="311"/>
                  <a:pt x="1889" y="254"/>
                  <a:pt x="1993" y="254"/>
                </a:cubicBezTo>
                <a:cubicBezTo>
                  <a:pt x="2034" y="254"/>
                  <a:pt x="2067" y="259"/>
                  <a:pt x="2100" y="270"/>
                </a:cubicBezTo>
                <a:close/>
                <a:moveTo>
                  <a:pt x="2038" y="488"/>
                </a:moveTo>
                <a:cubicBezTo>
                  <a:pt x="2038" y="311"/>
                  <a:pt x="2038" y="311"/>
                  <a:pt x="2038" y="311"/>
                </a:cubicBezTo>
                <a:cubicBezTo>
                  <a:pt x="2025" y="309"/>
                  <a:pt x="2011" y="307"/>
                  <a:pt x="1993" y="307"/>
                </a:cubicBezTo>
                <a:cubicBezTo>
                  <a:pt x="1929" y="307"/>
                  <a:pt x="1899" y="347"/>
                  <a:pt x="1899" y="410"/>
                </a:cubicBezTo>
                <a:cubicBezTo>
                  <a:pt x="1899" y="468"/>
                  <a:pt x="1922" y="508"/>
                  <a:pt x="1978" y="508"/>
                </a:cubicBezTo>
                <a:cubicBezTo>
                  <a:pt x="2002" y="508"/>
                  <a:pt x="2022" y="500"/>
                  <a:pt x="2038" y="488"/>
                </a:cubicBezTo>
                <a:close/>
                <a:moveTo>
                  <a:pt x="2418" y="363"/>
                </a:moveTo>
                <a:cubicBezTo>
                  <a:pt x="2418" y="552"/>
                  <a:pt x="2418" y="552"/>
                  <a:pt x="2418" y="552"/>
                </a:cubicBezTo>
                <a:cubicBezTo>
                  <a:pt x="2356" y="552"/>
                  <a:pt x="2356" y="552"/>
                  <a:pt x="2356" y="552"/>
                </a:cubicBezTo>
                <a:cubicBezTo>
                  <a:pt x="2356" y="373"/>
                  <a:pt x="2356" y="373"/>
                  <a:pt x="2356" y="373"/>
                </a:cubicBezTo>
                <a:cubicBezTo>
                  <a:pt x="2356" y="329"/>
                  <a:pt x="2341" y="307"/>
                  <a:pt x="2279" y="307"/>
                </a:cubicBezTo>
                <a:cubicBezTo>
                  <a:pt x="2264" y="307"/>
                  <a:pt x="2247" y="309"/>
                  <a:pt x="2230" y="312"/>
                </a:cubicBezTo>
                <a:cubicBezTo>
                  <a:pt x="2230" y="552"/>
                  <a:pt x="2230" y="552"/>
                  <a:pt x="2230" y="552"/>
                </a:cubicBezTo>
                <a:cubicBezTo>
                  <a:pt x="2168" y="552"/>
                  <a:pt x="2168" y="552"/>
                  <a:pt x="2168" y="552"/>
                </a:cubicBezTo>
                <a:cubicBezTo>
                  <a:pt x="2168" y="270"/>
                  <a:pt x="2168" y="270"/>
                  <a:pt x="2168" y="270"/>
                </a:cubicBezTo>
                <a:cubicBezTo>
                  <a:pt x="2207" y="261"/>
                  <a:pt x="2251" y="254"/>
                  <a:pt x="2281" y="254"/>
                </a:cubicBezTo>
                <a:cubicBezTo>
                  <a:pt x="2384" y="254"/>
                  <a:pt x="2418" y="294"/>
                  <a:pt x="2418" y="363"/>
                </a:cubicBezTo>
                <a:close/>
                <a:moveTo>
                  <a:pt x="2733" y="157"/>
                </a:moveTo>
                <a:cubicBezTo>
                  <a:pt x="2733" y="552"/>
                  <a:pt x="2733" y="552"/>
                  <a:pt x="2733" y="552"/>
                </a:cubicBezTo>
                <a:cubicBezTo>
                  <a:pt x="2676" y="552"/>
                  <a:pt x="2676" y="552"/>
                  <a:pt x="2676" y="552"/>
                </a:cubicBezTo>
                <a:cubicBezTo>
                  <a:pt x="2672" y="516"/>
                  <a:pt x="2672" y="516"/>
                  <a:pt x="2672" y="516"/>
                </a:cubicBezTo>
                <a:cubicBezTo>
                  <a:pt x="2656" y="543"/>
                  <a:pt x="2632" y="559"/>
                  <a:pt x="2591" y="559"/>
                </a:cubicBezTo>
                <a:cubicBezTo>
                  <a:pt x="2517" y="559"/>
                  <a:pt x="2467" y="505"/>
                  <a:pt x="2467" y="410"/>
                </a:cubicBezTo>
                <a:cubicBezTo>
                  <a:pt x="2467" y="311"/>
                  <a:pt x="2520" y="254"/>
                  <a:pt x="2625" y="254"/>
                </a:cubicBezTo>
                <a:cubicBezTo>
                  <a:pt x="2641" y="254"/>
                  <a:pt x="2656" y="256"/>
                  <a:pt x="2671" y="259"/>
                </a:cubicBezTo>
                <a:cubicBezTo>
                  <a:pt x="2671" y="166"/>
                  <a:pt x="2671" y="166"/>
                  <a:pt x="2671" y="166"/>
                </a:cubicBezTo>
                <a:cubicBezTo>
                  <a:pt x="2690" y="159"/>
                  <a:pt x="2712" y="157"/>
                  <a:pt x="2733" y="157"/>
                </a:cubicBezTo>
                <a:close/>
                <a:moveTo>
                  <a:pt x="2671" y="487"/>
                </a:moveTo>
                <a:cubicBezTo>
                  <a:pt x="2671" y="313"/>
                  <a:pt x="2671" y="313"/>
                  <a:pt x="2671" y="313"/>
                </a:cubicBezTo>
                <a:cubicBezTo>
                  <a:pt x="2655" y="310"/>
                  <a:pt x="2638" y="307"/>
                  <a:pt x="2621" y="307"/>
                </a:cubicBezTo>
                <a:cubicBezTo>
                  <a:pt x="2560" y="307"/>
                  <a:pt x="2531" y="346"/>
                  <a:pt x="2531" y="410"/>
                </a:cubicBezTo>
                <a:cubicBezTo>
                  <a:pt x="2531" y="468"/>
                  <a:pt x="2554" y="508"/>
                  <a:pt x="2609" y="508"/>
                </a:cubicBezTo>
                <a:cubicBezTo>
                  <a:pt x="2634" y="508"/>
                  <a:pt x="2654" y="500"/>
                  <a:pt x="2671" y="487"/>
                </a:cubicBezTo>
                <a:close/>
                <a:moveTo>
                  <a:pt x="3045" y="432"/>
                </a:moveTo>
                <a:cubicBezTo>
                  <a:pt x="2847" y="432"/>
                  <a:pt x="2847" y="432"/>
                  <a:pt x="2847" y="432"/>
                </a:cubicBezTo>
                <a:cubicBezTo>
                  <a:pt x="2854" y="482"/>
                  <a:pt x="2884" y="506"/>
                  <a:pt x="2939" y="506"/>
                </a:cubicBezTo>
                <a:cubicBezTo>
                  <a:pt x="2973" y="506"/>
                  <a:pt x="3007" y="499"/>
                  <a:pt x="3038" y="485"/>
                </a:cubicBezTo>
                <a:cubicBezTo>
                  <a:pt x="3036" y="501"/>
                  <a:pt x="3033" y="522"/>
                  <a:pt x="3029" y="541"/>
                </a:cubicBezTo>
                <a:cubicBezTo>
                  <a:pt x="3001" y="554"/>
                  <a:pt x="2971" y="559"/>
                  <a:pt x="2937" y="559"/>
                </a:cubicBezTo>
                <a:cubicBezTo>
                  <a:pt x="2834" y="559"/>
                  <a:pt x="2783" y="502"/>
                  <a:pt x="2783" y="405"/>
                </a:cubicBezTo>
                <a:cubicBezTo>
                  <a:pt x="2783" y="321"/>
                  <a:pt x="2822" y="254"/>
                  <a:pt x="2921" y="254"/>
                </a:cubicBezTo>
                <a:cubicBezTo>
                  <a:pt x="3010" y="254"/>
                  <a:pt x="3048" y="313"/>
                  <a:pt x="3048" y="384"/>
                </a:cubicBezTo>
                <a:cubicBezTo>
                  <a:pt x="3048" y="401"/>
                  <a:pt x="3047" y="415"/>
                  <a:pt x="3045" y="432"/>
                </a:cubicBezTo>
                <a:close/>
                <a:moveTo>
                  <a:pt x="2845" y="380"/>
                </a:moveTo>
                <a:cubicBezTo>
                  <a:pt x="2985" y="380"/>
                  <a:pt x="2985" y="380"/>
                  <a:pt x="2985" y="380"/>
                </a:cubicBezTo>
                <a:cubicBezTo>
                  <a:pt x="2985" y="333"/>
                  <a:pt x="2960" y="306"/>
                  <a:pt x="2918" y="306"/>
                </a:cubicBezTo>
                <a:cubicBezTo>
                  <a:pt x="2874" y="306"/>
                  <a:pt x="2850" y="332"/>
                  <a:pt x="2845" y="380"/>
                </a:cubicBezTo>
                <a:close/>
                <a:moveTo>
                  <a:pt x="3262" y="257"/>
                </a:moveTo>
                <a:cubicBezTo>
                  <a:pt x="3262" y="275"/>
                  <a:pt x="3260" y="298"/>
                  <a:pt x="3256" y="310"/>
                </a:cubicBezTo>
                <a:cubicBezTo>
                  <a:pt x="3241" y="308"/>
                  <a:pt x="3227" y="307"/>
                  <a:pt x="3209" y="307"/>
                </a:cubicBezTo>
                <a:cubicBezTo>
                  <a:pt x="3194" y="307"/>
                  <a:pt x="3179" y="309"/>
                  <a:pt x="3164" y="311"/>
                </a:cubicBezTo>
                <a:cubicBezTo>
                  <a:pt x="3164" y="552"/>
                  <a:pt x="3164" y="552"/>
                  <a:pt x="3164" y="552"/>
                </a:cubicBezTo>
                <a:cubicBezTo>
                  <a:pt x="3102" y="552"/>
                  <a:pt x="3102" y="552"/>
                  <a:pt x="3102" y="552"/>
                </a:cubicBezTo>
                <a:cubicBezTo>
                  <a:pt x="3102" y="270"/>
                  <a:pt x="3102" y="270"/>
                  <a:pt x="3102" y="270"/>
                </a:cubicBezTo>
                <a:cubicBezTo>
                  <a:pt x="3128" y="261"/>
                  <a:pt x="3173" y="254"/>
                  <a:pt x="3208" y="254"/>
                </a:cubicBezTo>
                <a:cubicBezTo>
                  <a:pt x="3227" y="254"/>
                  <a:pt x="3248" y="255"/>
                  <a:pt x="3262" y="257"/>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solidFill>
                <a:prstClr val="black"/>
              </a:solidFill>
            </a:endParaRPr>
          </a:p>
        </p:txBody>
      </p:sp>
    </p:spTree>
    <p:extLst>
      <p:ext uri="{BB962C8B-B14F-4D97-AF65-F5344CB8AC3E}">
        <p14:creationId xmlns:p14="http://schemas.microsoft.com/office/powerpoint/2010/main" val="1236685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67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amp; Chart  ">
    <p:spTree>
      <p:nvGrpSpPr>
        <p:cNvPr id="1" name=""/>
        <p:cNvGrpSpPr/>
        <p:nvPr/>
      </p:nvGrpSpPr>
      <p:grpSpPr>
        <a:xfrm>
          <a:off x="0" y="0"/>
          <a:ext cx="0" cy="0"/>
          <a:chOff x="0" y="0"/>
          <a:chExt cx="0" cy="0"/>
        </a:xfrm>
      </p:grpSpPr>
      <p:graphicFrame>
        <p:nvGraphicFramePr>
          <p:cNvPr id="3" name="Objeto 2"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3" name="Objeto 2"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0"/>
            <a:ext cx="2743200" cy="365125"/>
          </a:xfrm>
        </p:spPr>
        <p:txBody>
          <a:bodyPr/>
          <a:lstStyle>
            <a:lvl1pPr>
              <a:defRPr lang="es-ES" sz="1300" kern="1200" smtClean="0">
                <a:solidFill>
                  <a:schemeClr val="accent1"/>
                </a:solidFill>
                <a:latin typeface="+mn-lt"/>
                <a:ea typeface="+mn-ea"/>
                <a:cs typeface="+mn-cs"/>
              </a:defRPr>
            </a:lvl1pPr>
          </a:lstStyle>
          <a:p>
            <a:fld id="{BC0D97B6-E32F-4D7D-B839-7C3B51F2640F}" type="slidenum">
              <a:rPr>
                <a:solidFill>
                  <a:srgbClr val="EC0000"/>
                </a:solidFill>
              </a:rPr>
              <a:pPr/>
              <a:t>‹Nº›</a:t>
            </a:fld>
            <a:endParaRPr>
              <a:solidFill>
                <a:srgbClr val="EC0000"/>
              </a:solidFill>
            </a:endParaRPr>
          </a:p>
        </p:txBody>
      </p:sp>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lang="en-US" sz="1600" kern="1200" dirty="0">
                <a:solidFill>
                  <a:schemeClr val="accent1"/>
                </a:solidFill>
                <a:latin typeface="+mn-lt"/>
                <a:ea typeface="+mn-ea"/>
                <a:cs typeface="+mn-cs"/>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a:t>Edit Master text styles</a:t>
            </a:r>
          </a:p>
        </p:txBody>
      </p:sp>
      <p:sp>
        <p:nvSpPr>
          <p:cNvPr id="9" name="Título 1">
            <a:extLst>
              <a:ext uri="{FF2B5EF4-FFF2-40B4-BE49-F238E27FC236}">
                <a16:creationId xmlns:a16="http://schemas.microsoft.com/office/drawing/2014/main" id="{3AABE934-895B-422A-B16D-773558A762E3}"/>
              </a:ext>
            </a:extLst>
          </p:cNvPr>
          <p:cNvSpPr>
            <a:spLocks noGrp="1"/>
          </p:cNvSpPr>
          <p:nvPr>
            <p:ph type="title" hasCustomPrompt="1"/>
          </p:nvPr>
        </p:nvSpPr>
        <p:spPr>
          <a:xfrm>
            <a:off x="711024" y="1087458"/>
            <a:ext cx="3911401" cy="1183132"/>
          </a:xfrm>
        </p:spPr>
        <p:txBody>
          <a:bodyPr vert="horz" anchor="t">
            <a:noAutofit/>
          </a:bodyPr>
          <a:lstStyle>
            <a:lvl1pPr>
              <a:defRPr lang="en-US" sz="3800" kern="1200" dirty="0">
                <a:solidFill>
                  <a:schemeClr val="accent1"/>
                </a:solidFill>
                <a:latin typeface="+mj-lt"/>
                <a:ea typeface="+mj-ea"/>
                <a:cs typeface="+mj-cs"/>
              </a:defRPr>
            </a:lvl1pPr>
          </a:lstStyle>
          <a:p>
            <a:r>
              <a:rPr lang="en-US"/>
              <a:t>Click to edit Master title style</a:t>
            </a:r>
            <a:endParaRPr lang="es-ES"/>
          </a:p>
        </p:txBody>
      </p:sp>
      <p:sp>
        <p:nvSpPr>
          <p:cNvPr id="13" name="Marcador de texto 16">
            <a:extLst>
              <a:ext uri="{FF2B5EF4-FFF2-40B4-BE49-F238E27FC236}">
                <a16:creationId xmlns:a16="http://schemas.microsoft.com/office/drawing/2014/main" id="{3C0F691A-2EF3-4A5F-A7E8-E01ADBCA2384}"/>
              </a:ext>
            </a:extLst>
          </p:cNvPr>
          <p:cNvSpPr>
            <a:spLocks noGrp="1"/>
          </p:cNvSpPr>
          <p:nvPr>
            <p:ph type="body" sz="quarter" idx="16"/>
          </p:nvPr>
        </p:nvSpPr>
        <p:spPr>
          <a:xfrm>
            <a:off x="711024" y="2517170"/>
            <a:ext cx="3911401" cy="3504218"/>
          </a:xfrm>
        </p:spPr>
        <p:txBody>
          <a:bodyPr>
            <a:noAutofit/>
          </a:bodyPr>
          <a:lstStyle>
            <a:lvl1pPr marL="0" indent="0">
              <a:spcBef>
                <a:spcPts val="0"/>
              </a:spcBef>
              <a:spcAft>
                <a:spcPts val="2200"/>
              </a:spcAft>
              <a:buFontTx/>
              <a:buNone/>
              <a:defRPr lang="en-US" sz="1600" kern="1200" dirty="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a:t>Edit Master text styles</a:t>
            </a:r>
          </a:p>
        </p:txBody>
      </p:sp>
      <p:sp>
        <p:nvSpPr>
          <p:cNvPr id="6" name="Marcador de gráfico 5">
            <a:extLst>
              <a:ext uri="{FF2B5EF4-FFF2-40B4-BE49-F238E27FC236}">
                <a16:creationId xmlns:a16="http://schemas.microsoft.com/office/drawing/2014/main" id="{2444BFBF-CC97-48FB-BE66-A28460A7384B}"/>
              </a:ext>
            </a:extLst>
          </p:cNvPr>
          <p:cNvSpPr>
            <a:spLocks noGrp="1"/>
          </p:cNvSpPr>
          <p:nvPr>
            <p:ph type="chart" sz="quarter" idx="17" hasCustomPrompt="1"/>
          </p:nvPr>
        </p:nvSpPr>
        <p:spPr>
          <a:xfrm>
            <a:off x="4797425" y="1087438"/>
            <a:ext cx="6672263" cy="4933950"/>
          </a:xfrm>
        </p:spPr>
        <p:txBody>
          <a:bodyPr>
            <a:normAutofit/>
          </a:bodyPr>
          <a:lstStyle>
            <a:lvl1pPr marL="0" indent="0" algn="ctr">
              <a:buNone/>
              <a:defRPr sz="1600">
                <a:solidFill>
                  <a:schemeClr val="tx2"/>
                </a:solidFill>
                <a:latin typeface="+mn-lt"/>
                <a:ea typeface="+mn-ea"/>
                <a:cs typeface="+mn-cs"/>
              </a:defRPr>
            </a:lvl1pPr>
          </a:lstStyle>
          <a:p>
            <a:r>
              <a:rPr lang="es-ES" err="1"/>
              <a:t>Insert</a:t>
            </a:r>
            <a:r>
              <a:rPr lang="es-ES"/>
              <a:t> </a:t>
            </a:r>
            <a:r>
              <a:rPr lang="es-ES" err="1"/>
              <a:t>graphic</a:t>
            </a:r>
            <a:r>
              <a:rPr lang="es-ES"/>
              <a:t> </a:t>
            </a:r>
            <a:r>
              <a:rPr lang="es-ES" err="1"/>
              <a:t>here</a:t>
            </a:r>
            <a:endParaRPr lang="es-ES"/>
          </a:p>
        </p:txBody>
      </p:sp>
      <p:sp>
        <p:nvSpPr>
          <p:cNvPr id="11" name="Freeform 5">
            <a:extLst>
              <a:ext uri="{FF2B5EF4-FFF2-40B4-BE49-F238E27FC236}">
                <a16:creationId xmlns:a16="http://schemas.microsoft.com/office/drawing/2014/main" id="{39E0329E-D9A7-4B08-BE97-CCFDC6986AF1}"/>
              </a:ext>
            </a:extLst>
          </p:cNvPr>
          <p:cNvSpPr>
            <a:spLocks noEditPoints="1"/>
          </p:cNvSpPr>
          <p:nvPr userDrawn="1"/>
        </p:nvSpPr>
        <p:spPr bwMode="auto">
          <a:xfrm>
            <a:off x="832642" y="6262326"/>
            <a:ext cx="1171705" cy="206714"/>
          </a:xfrm>
          <a:custGeom>
            <a:avLst/>
            <a:gdLst>
              <a:gd name="T0" fmla="*/ 319 w 3262"/>
              <a:gd name="T1" fmla="*/ 39 h 572"/>
              <a:gd name="T2" fmla="*/ 300 w 3262"/>
              <a:gd name="T3" fmla="*/ 137 h 572"/>
              <a:gd name="T4" fmla="*/ 371 w 3262"/>
              <a:gd name="T5" fmla="*/ 405 h 572"/>
              <a:gd name="T6" fmla="*/ 244 w 3262"/>
              <a:gd name="T7" fmla="*/ 170 h 572"/>
              <a:gd name="T8" fmla="*/ 225 w 3262"/>
              <a:gd name="T9" fmla="*/ 267 h 572"/>
              <a:gd name="T10" fmla="*/ 300 w 3262"/>
              <a:gd name="T11" fmla="*/ 528 h 572"/>
              <a:gd name="T12" fmla="*/ 187 w 3262"/>
              <a:gd name="T13" fmla="*/ 333 h 572"/>
              <a:gd name="T14" fmla="*/ 300 w 3262"/>
              <a:gd name="T15" fmla="*/ 572 h 572"/>
              <a:gd name="T16" fmla="*/ 714 w 3262"/>
              <a:gd name="T17" fmla="*/ 540 h 572"/>
              <a:gd name="T18" fmla="*/ 910 w 3262"/>
              <a:gd name="T19" fmla="*/ 455 h 572"/>
              <a:gd name="T20" fmla="*/ 717 w 3262"/>
              <a:gd name="T21" fmla="*/ 258 h 572"/>
              <a:gd name="T22" fmla="*/ 945 w 3262"/>
              <a:gd name="T23" fmla="*/ 226 h 572"/>
              <a:gd name="T24" fmla="*/ 842 w 3262"/>
              <a:gd name="T25" fmla="*/ 322 h 572"/>
              <a:gd name="T26" fmla="*/ 829 w 3262"/>
              <a:gd name="T27" fmla="*/ 561 h 572"/>
              <a:gd name="T28" fmla="*/ 1277 w 3262"/>
              <a:gd name="T29" fmla="*/ 552 h 572"/>
              <a:gd name="T30" fmla="*/ 1138 w 3262"/>
              <a:gd name="T31" fmla="*/ 559 h 572"/>
              <a:gd name="T32" fmla="*/ 1277 w 3262"/>
              <a:gd name="T33" fmla="*/ 270 h 572"/>
              <a:gd name="T34" fmla="*/ 1171 w 3262"/>
              <a:gd name="T35" fmla="*/ 307 h 572"/>
              <a:gd name="T36" fmla="*/ 1215 w 3262"/>
              <a:gd name="T37" fmla="*/ 488 h 572"/>
              <a:gd name="T38" fmla="*/ 1533 w 3262"/>
              <a:gd name="T39" fmla="*/ 552 h 572"/>
              <a:gd name="T40" fmla="*/ 1407 w 3262"/>
              <a:gd name="T41" fmla="*/ 312 h 572"/>
              <a:gd name="T42" fmla="*/ 1345 w 3262"/>
              <a:gd name="T43" fmla="*/ 270 h 572"/>
              <a:gd name="T44" fmla="*/ 1767 w 3262"/>
              <a:gd name="T45" fmla="*/ 506 h 572"/>
              <a:gd name="T46" fmla="*/ 1756 w 3262"/>
              <a:gd name="T47" fmla="*/ 559 h 572"/>
              <a:gd name="T48" fmla="*/ 1719 w 3262"/>
              <a:gd name="T49" fmla="*/ 157 h 572"/>
              <a:gd name="T50" fmla="*/ 1812 w 3262"/>
              <a:gd name="T51" fmla="*/ 317 h 572"/>
              <a:gd name="T52" fmla="*/ 1767 w 3262"/>
              <a:gd name="T53" fmla="*/ 506 h 572"/>
              <a:gd name="T54" fmla="*/ 2043 w 3262"/>
              <a:gd name="T55" fmla="*/ 552 h 572"/>
              <a:gd name="T56" fmla="*/ 1836 w 3262"/>
              <a:gd name="T57" fmla="*/ 410 h 572"/>
              <a:gd name="T58" fmla="*/ 2038 w 3262"/>
              <a:gd name="T59" fmla="*/ 488 h 572"/>
              <a:gd name="T60" fmla="*/ 1899 w 3262"/>
              <a:gd name="T61" fmla="*/ 410 h 572"/>
              <a:gd name="T62" fmla="*/ 2418 w 3262"/>
              <a:gd name="T63" fmla="*/ 363 h 572"/>
              <a:gd name="T64" fmla="*/ 2356 w 3262"/>
              <a:gd name="T65" fmla="*/ 373 h 572"/>
              <a:gd name="T66" fmla="*/ 2230 w 3262"/>
              <a:gd name="T67" fmla="*/ 552 h 572"/>
              <a:gd name="T68" fmla="*/ 2281 w 3262"/>
              <a:gd name="T69" fmla="*/ 254 h 572"/>
              <a:gd name="T70" fmla="*/ 2733 w 3262"/>
              <a:gd name="T71" fmla="*/ 552 h 572"/>
              <a:gd name="T72" fmla="*/ 2591 w 3262"/>
              <a:gd name="T73" fmla="*/ 559 h 572"/>
              <a:gd name="T74" fmla="*/ 2671 w 3262"/>
              <a:gd name="T75" fmla="*/ 259 h 572"/>
              <a:gd name="T76" fmla="*/ 2671 w 3262"/>
              <a:gd name="T77" fmla="*/ 487 h 572"/>
              <a:gd name="T78" fmla="*/ 2531 w 3262"/>
              <a:gd name="T79" fmla="*/ 410 h 572"/>
              <a:gd name="T80" fmla="*/ 3045 w 3262"/>
              <a:gd name="T81" fmla="*/ 432 h 572"/>
              <a:gd name="T82" fmla="*/ 3038 w 3262"/>
              <a:gd name="T83" fmla="*/ 485 h 572"/>
              <a:gd name="T84" fmla="*/ 2783 w 3262"/>
              <a:gd name="T85" fmla="*/ 405 h 572"/>
              <a:gd name="T86" fmla="*/ 3045 w 3262"/>
              <a:gd name="T87" fmla="*/ 432 h 572"/>
              <a:gd name="T88" fmla="*/ 2918 w 3262"/>
              <a:gd name="T89" fmla="*/ 306 h 572"/>
              <a:gd name="T90" fmla="*/ 3256 w 3262"/>
              <a:gd name="T91" fmla="*/ 310 h 572"/>
              <a:gd name="T92" fmla="*/ 3164 w 3262"/>
              <a:gd name="T93" fmla="*/ 552 h 572"/>
              <a:gd name="T94" fmla="*/ 3208 w 3262"/>
              <a:gd name="T95" fmla="*/ 254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262" h="572">
                <a:moveTo>
                  <a:pt x="430" y="262"/>
                </a:moveTo>
                <a:cubicBezTo>
                  <a:pt x="429" y="241"/>
                  <a:pt x="424" y="221"/>
                  <a:pt x="413" y="202"/>
                </a:cubicBezTo>
                <a:cubicBezTo>
                  <a:pt x="319" y="39"/>
                  <a:pt x="319" y="39"/>
                  <a:pt x="319" y="39"/>
                </a:cubicBezTo>
                <a:cubicBezTo>
                  <a:pt x="312" y="27"/>
                  <a:pt x="307" y="14"/>
                  <a:pt x="304" y="0"/>
                </a:cubicBezTo>
                <a:cubicBezTo>
                  <a:pt x="300" y="7"/>
                  <a:pt x="300" y="7"/>
                  <a:pt x="300" y="7"/>
                </a:cubicBezTo>
                <a:cubicBezTo>
                  <a:pt x="277" y="47"/>
                  <a:pt x="277" y="97"/>
                  <a:pt x="300" y="137"/>
                </a:cubicBezTo>
                <a:cubicBezTo>
                  <a:pt x="375" y="267"/>
                  <a:pt x="375" y="267"/>
                  <a:pt x="375" y="267"/>
                </a:cubicBezTo>
                <a:cubicBezTo>
                  <a:pt x="399" y="308"/>
                  <a:pt x="399" y="357"/>
                  <a:pt x="375" y="398"/>
                </a:cubicBezTo>
                <a:cubicBezTo>
                  <a:pt x="371" y="405"/>
                  <a:pt x="371" y="405"/>
                  <a:pt x="371" y="405"/>
                </a:cubicBezTo>
                <a:cubicBezTo>
                  <a:pt x="369" y="391"/>
                  <a:pt x="364" y="378"/>
                  <a:pt x="356" y="365"/>
                </a:cubicBezTo>
                <a:cubicBezTo>
                  <a:pt x="288" y="246"/>
                  <a:pt x="288" y="246"/>
                  <a:pt x="288" y="246"/>
                </a:cubicBezTo>
                <a:cubicBezTo>
                  <a:pt x="244" y="170"/>
                  <a:pt x="244" y="170"/>
                  <a:pt x="244" y="170"/>
                </a:cubicBezTo>
                <a:cubicBezTo>
                  <a:pt x="236" y="157"/>
                  <a:pt x="232" y="144"/>
                  <a:pt x="229" y="130"/>
                </a:cubicBezTo>
                <a:cubicBezTo>
                  <a:pt x="225" y="137"/>
                  <a:pt x="225" y="137"/>
                  <a:pt x="225" y="137"/>
                </a:cubicBezTo>
                <a:cubicBezTo>
                  <a:pt x="202" y="177"/>
                  <a:pt x="202" y="227"/>
                  <a:pt x="225" y="267"/>
                </a:cubicBezTo>
                <a:cubicBezTo>
                  <a:pt x="225" y="267"/>
                  <a:pt x="225" y="267"/>
                  <a:pt x="225" y="267"/>
                </a:cubicBezTo>
                <a:cubicBezTo>
                  <a:pt x="300" y="398"/>
                  <a:pt x="300" y="398"/>
                  <a:pt x="300" y="398"/>
                </a:cubicBezTo>
                <a:cubicBezTo>
                  <a:pt x="323" y="438"/>
                  <a:pt x="323" y="488"/>
                  <a:pt x="300" y="528"/>
                </a:cubicBezTo>
                <a:cubicBezTo>
                  <a:pt x="296" y="535"/>
                  <a:pt x="296" y="535"/>
                  <a:pt x="296" y="535"/>
                </a:cubicBezTo>
                <a:cubicBezTo>
                  <a:pt x="293" y="521"/>
                  <a:pt x="288" y="508"/>
                  <a:pt x="281" y="495"/>
                </a:cubicBezTo>
                <a:cubicBezTo>
                  <a:pt x="187" y="333"/>
                  <a:pt x="187" y="333"/>
                  <a:pt x="187" y="333"/>
                </a:cubicBezTo>
                <a:cubicBezTo>
                  <a:pt x="175" y="311"/>
                  <a:pt x="169" y="286"/>
                  <a:pt x="170" y="262"/>
                </a:cubicBezTo>
                <a:cubicBezTo>
                  <a:pt x="69" y="288"/>
                  <a:pt x="0" y="344"/>
                  <a:pt x="0" y="409"/>
                </a:cubicBezTo>
                <a:cubicBezTo>
                  <a:pt x="0" y="499"/>
                  <a:pt x="134" y="572"/>
                  <a:pt x="300" y="572"/>
                </a:cubicBezTo>
                <a:cubicBezTo>
                  <a:pt x="466" y="572"/>
                  <a:pt x="600" y="499"/>
                  <a:pt x="600" y="409"/>
                </a:cubicBezTo>
                <a:cubicBezTo>
                  <a:pt x="600" y="344"/>
                  <a:pt x="531" y="288"/>
                  <a:pt x="430" y="262"/>
                </a:cubicBezTo>
                <a:close/>
                <a:moveTo>
                  <a:pt x="714" y="540"/>
                </a:moveTo>
                <a:cubicBezTo>
                  <a:pt x="715" y="517"/>
                  <a:pt x="718" y="501"/>
                  <a:pt x="725" y="483"/>
                </a:cubicBezTo>
                <a:cubicBezTo>
                  <a:pt x="756" y="498"/>
                  <a:pt x="797" y="505"/>
                  <a:pt x="828" y="505"/>
                </a:cubicBezTo>
                <a:cubicBezTo>
                  <a:pt x="880" y="505"/>
                  <a:pt x="910" y="488"/>
                  <a:pt x="910" y="455"/>
                </a:cubicBezTo>
                <a:cubicBezTo>
                  <a:pt x="910" y="422"/>
                  <a:pt x="888" y="407"/>
                  <a:pt x="835" y="384"/>
                </a:cubicBezTo>
                <a:cubicBezTo>
                  <a:pt x="806" y="371"/>
                  <a:pt x="806" y="371"/>
                  <a:pt x="806" y="371"/>
                </a:cubicBezTo>
                <a:cubicBezTo>
                  <a:pt x="753" y="348"/>
                  <a:pt x="717" y="318"/>
                  <a:pt x="717" y="258"/>
                </a:cubicBezTo>
                <a:cubicBezTo>
                  <a:pt x="717" y="194"/>
                  <a:pt x="762" y="153"/>
                  <a:pt x="853" y="153"/>
                </a:cubicBezTo>
                <a:cubicBezTo>
                  <a:pt x="890" y="153"/>
                  <a:pt x="924" y="158"/>
                  <a:pt x="956" y="169"/>
                </a:cubicBezTo>
                <a:cubicBezTo>
                  <a:pt x="955" y="192"/>
                  <a:pt x="951" y="209"/>
                  <a:pt x="945" y="226"/>
                </a:cubicBezTo>
                <a:cubicBezTo>
                  <a:pt x="915" y="214"/>
                  <a:pt x="879" y="209"/>
                  <a:pt x="853" y="209"/>
                </a:cubicBezTo>
                <a:cubicBezTo>
                  <a:pt x="804" y="209"/>
                  <a:pt x="781" y="228"/>
                  <a:pt x="781" y="258"/>
                </a:cubicBezTo>
                <a:cubicBezTo>
                  <a:pt x="781" y="288"/>
                  <a:pt x="803" y="305"/>
                  <a:pt x="842" y="322"/>
                </a:cubicBezTo>
                <a:cubicBezTo>
                  <a:pt x="873" y="335"/>
                  <a:pt x="873" y="335"/>
                  <a:pt x="873" y="335"/>
                </a:cubicBezTo>
                <a:cubicBezTo>
                  <a:pt x="945" y="365"/>
                  <a:pt x="974" y="397"/>
                  <a:pt x="974" y="452"/>
                </a:cubicBezTo>
                <a:cubicBezTo>
                  <a:pt x="974" y="517"/>
                  <a:pt x="925" y="561"/>
                  <a:pt x="829" y="561"/>
                </a:cubicBezTo>
                <a:cubicBezTo>
                  <a:pt x="783" y="561"/>
                  <a:pt x="745" y="555"/>
                  <a:pt x="714" y="540"/>
                </a:cubicBezTo>
                <a:close/>
                <a:moveTo>
                  <a:pt x="1277" y="270"/>
                </a:moveTo>
                <a:cubicBezTo>
                  <a:pt x="1277" y="552"/>
                  <a:pt x="1277" y="552"/>
                  <a:pt x="1277" y="552"/>
                </a:cubicBezTo>
                <a:cubicBezTo>
                  <a:pt x="1220" y="552"/>
                  <a:pt x="1220" y="552"/>
                  <a:pt x="1220" y="552"/>
                </a:cubicBezTo>
                <a:cubicBezTo>
                  <a:pt x="1217" y="518"/>
                  <a:pt x="1217" y="518"/>
                  <a:pt x="1217" y="518"/>
                </a:cubicBezTo>
                <a:cubicBezTo>
                  <a:pt x="1201" y="543"/>
                  <a:pt x="1177" y="559"/>
                  <a:pt x="1138" y="559"/>
                </a:cubicBezTo>
                <a:cubicBezTo>
                  <a:pt x="1063" y="559"/>
                  <a:pt x="1013" y="505"/>
                  <a:pt x="1013" y="410"/>
                </a:cubicBezTo>
                <a:cubicBezTo>
                  <a:pt x="1013" y="311"/>
                  <a:pt x="1066" y="254"/>
                  <a:pt x="1171" y="254"/>
                </a:cubicBezTo>
                <a:cubicBezTo>
                  <a:pt x="1211" y="254"/>
                  <a:pt x="1245" y="259"/>
                  <a:pt x="1277" y="270"/>
                </a:cubicBezTo>
                <a:close/>
                <a:moveTo>
                  <a:pt x="1215" y="488"/>
                </a:moveTo>
                <a:cubicBezTo>
                  <a:pt x="1215" y="311"/>
                  <a:pt x="1215" y="311"/>
                  <a:pt x="1215" y="311"/>
                </a:cubicBezTo>
                <a:cubicBezTo>
                  <a:pt x="1202" y="309"/>
                  <a:pt x="1188" y="307"/>
                  <a:pt x="1171" y="307"/>
                </a:cubicBezTo>
                <a:cubicBezTo>
                  <a:pt x="1107" y="307"/>
                  <a:pt x="1077" y="347"/>
                  <a:pt x="1077" y="410"/>
                </a:cubicBezTo>
                <a:cubicBezTo>
                  <a:pt x="1077" y="468"/>
                  <a:pt x="1100" y="508"/>
                  <a:pt x="1155" y="508"/>
                </a:cubicBezTo>
                <a:cubicBezTo>
                  <a:pt x="1179" y="508"/>
                  <a:pt x="1199" y="500"/>
                  <a:pt x="1215" y="488"/>
                </a:cubicBezTo>
                <a:close/>
                <a:moveTo>
                  <a:pt x="1595" y="363"/>
                </a:moveTo>
                <a:cubicBezTo>
                  <a:pt x="1595" y="552"/>
                  <a:pt x="1595" y="552"/>
                  <a:pt x="1595" y="552"/>
                </a:cubicBezTo>
                <a:cubicBezTo>
                  <a:pt x="1533" y="552"/>
                  <a:pt x="1533" y="552"/>
                  <a:pt x="1533" y="552"/>
                </a:cubicBezTo>
                <a:cubicBezTo>
                  <a:pt x="1533" y="373"/>
                  <a:pt x="1533" y="373"/>
                  <a:pt x="1533" y="373"/>
                </a:cubicBezTo>
                <a:cubicBezTo>
                  <a:pt x="1533" y="329"/>
                  <a:pt x="1518" y="307"/>
                  <a:pt x="1456" y="307"/>
                </a:cubicBezTo>
                <a:cubicBezTo>
                  <a:pt x="1442" y="307"/>
                  <a:pt x="1424" y="309"/>
                  <a:pt x="1407" y="312"/>
                </a:cubicBezTo>
                <a:cubicBezTo>
                  <a:pt x="1407" y="552"/>
                  <a:pt x="1407" y="552"/>
                  <a:pt x="1407" y="552"/>
                </a:cubicBezTo>
                <a:cubicBezTo>
                  <a:pt x="1345" y="552"/>
                  <a:pt x="1345" y="552"/>
                  <a:pt x="1345" y="552"/>
                </a:cubicBezTo>
                <a:cubicBezTo>
                  <a:pt x="1345" y="270"/>
                  <a:pt x="1345" y="270"/>
                  <a:pt x="1345" y="270"/>
                </a:cubicBezTo>
                <a:cubicBezTo>
                  <a:pt x="1385" y="261"/>
                  <a:pt x="1428" y="254"/>
                  <a:pt x="1458" y="254"/>
                </a:cubicBezTo>
                <a:cubicBezTo>
                  <a:pt x="1562" y="254"/>
                  <a:pt x="1595" y="294"/>
                  <a:pt x="1595" y="363"/>
                </a:cubicBezTo>
                <a:close/>
                <a:moveTo>
                  <a:pt x="1767" y="506"/>
                </a:moveTo>
                <a:cubicBezTo>
                  <a:pt x="1785" y="506"/>
                  <a:pt x="1802" y="503"/>
                  <a:pt x="1816" y="498"/>
                </a:cubicBezTo>
                <a:cubicBezTo>
                  <a:pt x="1814" y="515"/>
                  <a:pt x="1812" y="534"/>
                  <a:pt x="1808" y="550"/>
                </a:cubicBezTo>
                <a:cubicBezTo>
                  <a:pt x="1791" y="557"/>
                  <a:pt x="1773" y="559"/>
                  <a:pt x="1756" y="559"/>
                </a:cubicBezTo>
                <a:cubicBezTo>
                  <a:pt x="1696" y="559"/>
                  <a:pt x="1657" y="531"/>
                  <a:pt x="1657" y="463"/>
                </a:cubicBezTo>
                <a:cubicBezTo>
                  <a:pt x="1657" y="166"/>
                  <a:pt x="1657" y="166"/>
                  <a:pt x="1657" y="166"/>
                </a:cubicBezTo>
                <a:cubicBezTo>
                  <a:pt x="1676" y="160"/>
                  <a:pt x="1700" y="157"/>
                  <a:pt x="1719" y="157"/>
                </a:cubicBezTo>
                <a:cubicBezTo>
                  <a:pt x="1719" y="264"/>
                  <a:pt x="1719" y="264"/>
                  <a:pt x="1719" y="264"/>
                </a:cubicBezTo>
                <a:cubicBezTo>
                  <a:pt x="1817" y="264"/>
                  <a:pt x="1817" y="264"/>
                  <a:pt x="1817" y="264"/>
                </a:cubicBezTo>
                <a:cubicBezTo>
                  <a:pt x="1816" y="283"/>
                  <a:pt x="1815" y="301"/>
                  <a:pt x="1812" y="317"/>
                </a:cubicBezTo>
                <a:cubicBezTo>
                  <a:pt x="1719" y="317"/>
                  <a:pt x="1719" y="317"/>
                  <a:pt x="1719" y="317"/>
                </a:cubicBezTo>
                <a:cubicBezTo>
                  <a:pt x="1719" y="455"/>
                  <a:pt x="1719" y="455"/>
                  <a:pt x="1719" y="455"/>
                </a:cubicBezTo>
                <a:cubicBezTo>
                  <a:pt x="1719" y="492"/>
                  <a:pt x="1737" y="506"/>
                  <a:pt x="1767" y="506"/>
                </a:cubicBezTo>
                <a:close/>
                <a:moveTo>
                  <a:pt x="2100" y="270"/>
                </a:moveTo>
                <a:cubicBezTo>
                  <a:pt x="2100" y="552"/>
                  <a:pt x="2100" y="552"/>
                  <a:pt x="2100" y="552"/>
                </a:cubicBezTo>
                <a:cubicBezTo>
                  <a:pt x="2043" y="552"/>
                  <a:pt x="2043" y="552"/>
                  <a:pt x="2043" y="552"/>
                </a:cubicBezTo>
                <a:cubicBezTo>
                  <a:pt x="2040" y="518"/>
                  <a:pt x="2040" y="518"/>
                  <a:pt x="2040" y="518"/>
                </a:cubicBezTo>
                <a:cubicBezTo>
                  <a:pt x="2024" y="543"/>
                  <a:pt x="2000" y="559"/>
                  <a:pt x="1960" y="559"/>
                </a:cubicBezTo>
                <a:cubicBezTo>
                  <a:pt x="1886" y="559"/>
                  <a:pt x="1836" y="505"/>
                  <a:pt x="1836" y="410"/>
                </a:cubicBezTo>
                <a:cubicBezTo>
                  <a:pt x="1836" y="311"/>
                  <a:pt x="1889" y="254"/>
                  <a:pt x="1993" y="254"/>
                </a:cubicBezTo>
                <a:cubicBezTo>
                  <a:pt x="2034" y="254"/>
                  <a:pt x="2067" y="259"/>
                  <a:pt x="2100" y="270"/>
                </a:cubicBezTo>
                <a:close/>
                <a:moveTo>
                  <a:pt x="2038" y="488"/>
                </a:moveTo>
                <a:cubicBezTo>
                  <a:pt x="2038" y="311"/>
                  <a:pt x="2038" y="311"/>
                  <a:pt x="2038" y="311"/>
                </a:cubicBezTo>
                <a:cubicBezTo>
                  <a:pt x="2025" y="309"/>
                  <a:pt x="2011" y="307"/>
                  <a:pt x="1993" y="307"/>
                </a:cubicBezTo>
                <a:cubicBezTo>
                  <a:pt x="1929" y="307"/>
                  <a:pt x="1899" y="347"/>
                  <a:pt x="1899" y="410"/>
                </a:cubicBezTo>
                <a:cubicBezTo>
                  <a:pt x="1899" y="468"/>
                  <a:pt x="1922" y="508"/>
                  <a:pt x="1978" y="508"/>
                </a:cubicBezTo>
                <a:cubicBezTo>
                  <a:pt x="2002" y="508"/>
                  <a:pt x="2022" y="500"/>
                  <a:pt x="2038" y="488"/>
                </a:cubicBezTo>
                <a:close/>
                <a:moveTo>
                  <a:pt x="2418" y="363"/>
                </a:moveTo>
                <a:cubicBezTo>
                  <a:pt x="2418" y="552"/>
                  <a:pt x="2418" y="552"/>
                  <a:pt x="2418" y="552"/>
                </a:cubicBezTo>
                <a:cubicBezTo>
                  <a:pt x="2356" y="552"/>
                  <a:pt x="2356" y="552"/>
                  <a:pt x="2356" y="552"/>
                </a:cubicBezTo>
                <a:cubicBezTo>
                  <a:pt x="2356" y="373"/>
                  <a:pt x="2356" y="373"/>
                  <a:pt x="2356" y="373"/>
                </a:cubicBezTo>
                <a:cubicBezTo>
                  <a:pt x="2356" y="329"/>
                  <a:pt x="2341" y="307"/>
                  <a:pt x="2279" y="307"/>
                </a:cubicBezTo>
                <a:cubicBezTo>
                  <a:pt x="2264" y="307"/>
                  <a:pt x="2247" y="309"/>
                  <a:pt x="2230" y="312"/>
                </a:cubicBezTo>
                <a:cubicBezTo>
                  <a:pt x="2230" y="552"/>
                  <a:pt x="2230" y="552"/>
                  <a:pt x="2230" y="552"/>
                </a:cubicBezTo>
                <a:cubicBezTo>
                  <a:pt x="2168" y="552"/>
                  <a:pt x="2168" y="552"/>
                  <a:pt x="2168" y="552"/>
                </a:cubicBezTo>
                <a:cubicBezTo>
                  <a:pt x="2168" y="270"/>
                  <a:pt x="2168" y="270"/>
                  <a:pt x="2168" y="270"/>
                </a:cubicBezTo>
                <a:cubicBezTo>
                  <a:pt x="2207" y="261"/>
                  <a:pt x="2251" y="254"/>
                  <a:pt x="2281" y="254"/>
                </a:cubicBezTo>
                <a:cubicBezTo>
                  <a:pt x="2384" y="254"/>
                  <a:pt x="2418" y="294"/>
                  <a:pt x="2418" y="363"/>
                </a:cubicBezTo>
                <a:close/>
                <a:moveTo>
                  <a:pt x="2733" y="157"/>
                </a:moveTo>
                <a:cubicBezTo>
                  <a:pt x="2733" y="552"/>
                  <a:pt x="2733" y="552"/>
                  <a:pt x="2733" y="552"/>
                </a:cubicBezTo>
                <a:cubicBezTo>
                  <a:pt x="2676" y="552"/>
                  <a:pt x="2676" y="552"/>
                  <a:pt x="2676" y="552"/>
                </a:cubicBezTo>
                <a:cubicBezTo>
                  <a:pt x="2672" y="516"/>
                  <a:pt x="2672" y="516"/>
                  <a:pt x="2672" y="516"/>
                </a:cubicBezTo>
                <a:cubicBezTo>
                  <a:pt x="2656" y="543"/>
                  <a:pt x="2632" y="559"/>
                  <a:pt x="2591" y="559"/>
                </a:cubicBezTo>
                <a:cubicBezTo>
                  <a:pt x="2517" y="559"/>
                  <a:pt x="2467" y="505"/>
                  <a:pt x="2467" y="410"/>
                </a:cubicBezTo>
                <a:cubicBezTo>
                  <a:pt x="2467" y="311"/>
                  <a:pt x="2520" y="254"/>
                  <a:pt x="2625" y="254"/>
                </a:cubicBezTo>
                <a:cubicBezTo>
                  <a:pt x="2641" y="254"/>
                  <a:pt x="2656" y="256"/>
                  <a:pt x="2671" y="259"/>
                </a:cubicBezTo>
                <a:cubicBezTo>
                  <a:pt x="2671" y="166"/>
                  <a:pt x="2671" y="166"/>
                  <a:pt x="2671" y="166"/>
                </a:cubicBezTo>
                <a:cubicBezTo>
                  <a:pt x="2690" y="159"/>
                  <a:pt x="2712" y="157"/>
                  <a:pt x="2733" y="157"/>
                </a:cubicBezTo>
                <a:close/>
                <a:moveTo>
                  <a:pt x="2671" y="487"/>
                </a:moveTo>
                <a:cubicBezTo>
                  <a:pt x="2671" y="313"/>
                  <a:pt x="2671" y="313"/>
                  <a:pt x="2671" y="313"/>
                </a:cubicBezTo>
                <a:cubicBezTo>
                  <a:pt x="2655" y="310"/>
                  <a:pt x="2638" y="307"/>
                  <a:pt x="2621" y="307"/>
                </a:cubicBezTo>
                <a:cubicBezTo>
                  <a:pt x="2560" y="307"/>
                  <a:pt x="2531" y="346"/>
                  <a:pt x="2531" y="410"/>
                </a:cubicBezTo>
                <a:cubicBezTo>
                  <a:pt x="2531" y="468"/>
                  <a:pt x="2554" y="508"/>
                  <a:pt x="2609" y="508"/>
                </a:cubicBezTo>
                <a:cubicBezTo>
                  <a:pt x="2634" y="508"/>
                  <a:pt x="2654" y="500"/>
                  <a:pt x="2671" y="487"/>
                </a:cubicBezTo>
                <a:close/>
                <a:moveTo>
                  <a:pt x="3045" y="432"/>
                </a:moveTo>
                <a:cubicBezTo>
                  <a:pt x="2847" y="432"/>
                  <a:pt x="2847" y="432"/>
                  <a:pt x="2847" y="432"/>
                </a:cubicBezTo>
                <a:cubicBezTo>
                  <a:pt x="2854" y="482"/>
                  <a:pt x="2884" y="506"/>
                  <a:pt x="2939" y="506"/>
                </a:cubicBezTo>
                <a:cubicBezTo>
                  <a:pt x="2973" y="506"/>
                  <a:pt x="3007" y="499"/>
                  <a:pt x="3038" y="485"/>
                </a:cubicBezTo>
                <a:cubicBezTo>
                  <a:pt x="3036" y="501"/>
                  <a:pt x="3033" y="522"/>
                  <a:pt x="3029" y="541"/>
                </a:cubicBezTo>
                <a:cubicBezTo>
                  <a:pt x="3001" y="554"/>
                  <a:pt x="2971" y="559"/>
                  <a:pt x="2937" y="559"/>
                </a:cubicBezTo>
                <a:cubicBezTo>
                  <a:pt x="2834" y="559"/>
                  <a:pt x="2783" y="502"/>
                  <a:pt x="2783" y="405"/>
                </a:cubicBezTo>
                <a:cubicBezTo>
                  <a:pt x="2783" y="321"/>
                  <a:pt x="2822" y="254"/>
                  <a:pt x="2921" y="254"/>
                </a:cubicBezTo>
                <a:cubicBezTo>
                  <a:pt x="3010" y="254"/>
                  <a:pt x="3048" y="313"/>
                  <a:pt x="3048" y="384"/>
                </a:cubicBezTo>
                <a:cubicBezTo>
                  <a:pt x="3048" y="401"/>
                  <a:pt x="3047" y="415"/>
                  <a:pt x="3045" y="432"/>
                </a:cubicBezTo>
                <a:close/>
                <a:moveTo>
                  <a:pt x="2845" y="380"/>
                </a:moveTo>
                <a:cubicBezTo>
                  <a:pt x="2985" y="380"/>
                  <a:pt x="2985" y="380"/>
                  <a:pt x="2985" y="380"/>
                </a:cubicBezTo>
                <a:cubicBezTo>
                  <a:pt x="2985" y="333"/>
                  <a:pt x="2960" y="306"/>
                  <a:pt x="2918" y="306"/>
                </a:cubicBezTo>
                <a:cubicBezTo>
                  <a:pt x="2874" y="306"/>
                  <a:pt x="2850" y="332"/>
                  <a:pt x="2845" y="380"/>
                </a:cubicBezTo>
                <a:close/>
                <a:moveTo>
                  <a:pt x="3262" y="257"/>
                </a:moveTo>
                <a:cubicBezTo>
                  <a:pt x="3262" y="275"/>
                  <a:pt x="3260" y="298"/>
                  <a:pt x="3256" y="310"/>
                </a:cubicBezTo>
                <a:cubicBezTo>
                  <a:pt x="3241" y="308"/>
                  <a:pt x="3227" y="307"/>
                  <a:pt x="3209" y="307"/>
                </a:cubicBezTo>
                <a:cubicBezTo>
                  <a:pt x="3194" y="307"/>
                  <a:pt x="3179" y="309"/>
                  <a:pt x="3164" y="311"/>
                </a:cubicBezTo>
                <a:cubicBezTo>
                  <a:pt x="3164" y="552"/>
                  <a:pt x="3164" y="552"/>
                  <a:pt x="3164" y="552"/>
                </a:cubicBezTo>
                <a:cubicBezTo>
                  <a:pt x="3102" y="552"/>
                  <a:pt x="3102" y="552"/>
                  <a:pt x="3102" y="552"/>
                </a:cubicBezTo>
                <a:cubicBezTo>
                  <a:pt x="3102" y="270"/>
                  <a:pt x="3102" y="270"/>
                  <a:pt x="3102" y="270"/>
                </a:cubicBezTo>
                <a:cubicBezTo>
                  <a:pt x="3128" y="261"/>
                  <a:pt x="3173" y="254"/>
                  <a:pt x="3208" y="254"/>
                </a:cubicBezTo>
                <a:cubicBezTo>
                  <a:pt x="3227" y="254"/>
                  <a:pt x="3248" y="255"/>
                  <a:pt x="3262" y="257"/>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solidFill>
                <a:prstClr val="black"/>
              </a:solidFill>
            </a:endParaRPr>
          </a:p>
        </p:txBody>
      </p:sp>
    </p:spTree>
    <p:extLst>
      <p:ext uri="{BB962C8B-B14F-4D97-AF65-F5344CB8AC3E}">
        <p14:creationId xmlns:p14="http://schemas.microsoft.com/office/powerpoint/2010/main" val="3288718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677">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amp; Chart 2">
    <p:spTree>
      <p:nvGrpSpPr>
        <p:cNvPr id="1" name=""/>
        <p:cNvGrpSpPr/>
        <p:nvPr/>
      </p:nvGrpSpPr>
      <p:grpSpPr>
        <a:xfrm>
          <a:off x="0" y="0"/>
          <a:ext cx="0" cy="0"/>
          <a:chOff x="0" y="0"/>
          <a:chExt cx="0" cy="0"/>
        </a:xfrm>
      </p:grpSpPr>
      <p:graphicFrame>
        <p:nvGraphicFramePr>
          <p:cNvPr id="2" name="Objeto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2" name="Objeto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0"/>
            <a:ext cx="2743200" cy="365125"/>
          </a:xfrm>
        </p:spPr>
        <p:txBody>
          <a:bodyPr/>
          <a:lstStyle>
            <a:lvl1pPr>
              <a:defRPr lang="es-ES" sz="1300" kern="1200" smtClean="0">
                <a:solidFill>
                  <a:schemeClr val="accent1"/>
                </a:solidFill>
                <a:latin typeface="+mn-lt"/>
                <a:ea typeface="+mn-ea"/>
                <a:cs typeface="+mn-cs"/>
              </a:defRPr>
            </a:lvl1pPr>
          </a:lstStyle>
          <a:p>
            <a:fld id="{BC0D97B6-E32F-4D7D-B839-7C3B51F2640F}" type="slidenum">
              <a:rPr>
                <a:solidFill>
                  <a:srgbClr val="EC0000"/>
                </a:solidFill>
              </a:rPr>
              <a:pPr/>
              <a:t>‹Nº›</a:t>
            </a:fld>
            <a:endParaRPr>
              <a:solidFill>
                <a:srgbClr val="EC0000"/>
              </a:solidFill>
            </a:endParaRPr>
          </a:p>
        </p:txBody>
      </p:sp>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3" y="337100"/>
            <a:ext cx="10758663" cy="304800"/>
          </a:xfrm>
        </p:spPr>
        <p:txBody>
          <a:bodyPr>
            <a:noAutofit/>
          </a:bodyPr>
          <a:lstStyle>
            <a:lvl1pPr marL="0" indent="0">
              <a:buFontTx/>
              <a:buNone/>
              <a:defRPr lang="en-US" sz="1600" kern="1200" dirty="0">
                <a:solidFill>
                  <a:schemeClr val="accent1"/>
                </a:solidFill>
                <a:latin typeface="+mn-lt"/>
                <a:ea typeface="+mn-ea"/>
                <a:cs typeface="+mn-cs"/>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a:t>Edit Master text styles</a:t>
            </a:r>
          </a:p>
        </p:txBody>
      </p:sp>
      <p:sp>
        <p:nvSpPr>
          <p:cNvPr id="13" name="Marcador de texto 16">
            <a:extLst>
              <a:ext uri="{FF2B5EF4-FFF2-40B4-BE49-F238E27FC236}">
                <a16:creationId xmlns:a16="http://schemas.microsoft.com/office/drawing/2014/main" id="{3C0F691A-2EF3-4A5F-A7E8-E01ADBCA2384}"/>
              </a:ext>
            </a:extLst>
          </p:cNvPr>
          <p:cNvSpPr>
            <a:spLocks noGrp="1"/>
          </p:cNvSpPr>
          <p:nvPr>
            <p:ph type="body" sz="quarter" idx="16"/>
          </p:nvPr>
        </p:nvSpPr>
        <p:spPr>
          <a:xfrm>
            <a:off x="711024" y="1087459"/>
            <a:ext cx="3911401" cy="4933930"/>
          </a:xfrm>
        </p:spPr>
        <p:txBody>
          <a:bodyPr>
            <a:noAutofit/>
          </a:bodyPr>
          <a:lstStyle>
            <a:lvl1pPr marL="0" indent="0">
              <a:spcBef>
                <a:spcPts val="0"/>
              </a:spcBef>
              <a:spcAft>
                <a:spcPts val="2200"/>
              </a:spcAft>
              <a:buFontTx/>
              <a:buNone/>
              <a:defRPr lang="en-US" sz="1600" kern="1200" dirty="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a:t>Edit Master text styles</a:t>
            </a:r>
          </a:p>
        </p:txBody>
      </p:sp>
      <p:sp>
        <p:nvSpPr>
          <p:cNvPr id="12" name="Marcador de tabla 4">
            <a:extLst>
              <a:ext uri="{FF2B5EF4-FFF2-40B4-BE49-F238E27FC236}">
                <a16:creationId xmlns:a16="http://schemas.microsoft.com/office/drawing/2014/main" id="{DF826A4E-1A0C-46D7-8327-402D7A34DE68}"/>
              </a:ext>
            </a:extLst>
          </p:cNvPr>
          <p:cNvSpPr>
            <a:spLocks noGrp="1"/>
          </p:cNvSpPr>
          <p:nvPr>
            <p:ph type="tbl" sz="quarter" idx="18" hasCustomPrompt="1"/>
          </p:nvPr>
        </p:nvSpPr>
        <p:spPr>
          <a:xfrm>
            <a:off x="4867835" y="1581149"/>
            <a:ext cx="6601852" cy="4440239"/>
          </a:xfrm>
        </p:spPr>
        <p:txBody>
          <a:bodyPr>
            <a:normAutofit/>
          </a:bodyPr>
          <a:lstStyle>
            <a:lvl1pPr marL="0" indent="0" algn="ctr">
              <a:buFontTx/>
              <a:buNone/>
              <a:defRPr kumimoji="0" lang="es-ES" sz="1200" b="0" i="0" u="none" strike="noStrike" kern="1200" cap="none" spc="0" normalizeH="0" baseline="0" dirty="0" err="1">
                <a:ln>
                  <a:noFill/>
                </a:ln>
                <a:solidFill>
                  <a:schemeClr val="tx2"/>
                </a:solidFill>
                <a:effectLst/>
                <a:uLnTx/>
                <a:uFillTx/>
                <a:latin typeface="+mn-lt"/>
                <a:ea typeface="+mn-ea"/>
                <a:cs typeface="+mn-cs"/>
              </a:defRPr>
            </a:lvl1pPr>
          </a:lstStyle>
          <a:p>
            <a:r>
              <a:rPr lang="es-ES" err="1"/>
              <a:t>Insert</a:t>
            </a:r>
            <a:r>
              <a:rPr lang="es-ES"/>
              <a:t> table </a:t>
            </a:r>
            <a:r>
              <a:rPr lang="es-ES" err="1"/>
              <a:t>here</a:t>
            </a:r>
            <a:endParaRPr lang="es-ES"/>
          </a:p>
        </p:txBody>
      </p:sp>
      <p:sp>
        <p:nvSpPr>
          <p:cNvPr id="14" name="Marcador de texto 16">
            <a:extLst>
              <a:ext uri="{FF2B5EF4-FFF2-40B4-BE49-F238E27FC236}">
                <a16:creationId xmlns:a16="http://schemas.microsoft.com/office/drawing/2014/main" id="{C96F8991-1F66-478E-8C12-FB0275A2F299}"/>
              </a:ext>
            </a:extLst>
          </p:cNvPr>
          <p:cNvSpPr>
            <a:spLocks noGrp="1"/>
          </p:cNvSpPr>
          <p:nvPr>
            <p:ph type="body" sz="quarter" idx="19"/>
          </p:nvPr>
        </p:nvSpPr>
        <p:spPr>
          <a:xfrm>
            <a:off x="4867834" y="1087458"/>
            <a:ext cx="6601853" cy="381504"/>
          </a:xfrm>
        </p:spPr>
        <p:txBody>
          <a:bodyPr>
            <a:noAutofit/>
          </a:bodyPr>
          <a:lstStyle>
            <a:lvl1pPr marL="0" indent="0">
              <a:spcBef>
                <a:spcPts val="0"/>
              </a:spcBef>
              <a:spcAft>
                <a:spcPts val="2200"/>
              </a:spcAft>
              <a:buFontTx/>
              <a:buNone/>
              <a:defRPr lang="en-US" sz="1200" b="1" kern="1200" dirty="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a:t>Edit Master text styles</a:t>
            </a:r>
          </a:p>
        </p:txBody>
      </p:sp>
      <p:sp>
        <p:nvSpPr>
          <p:cNvPr id="11" name="Freeform 5">
            <a:extLst>
              <a:ext uri="{FF2B5EF4-FFF2-40B4-BE49-F238E27FC236}">
                <a16:creationId xmlns:a16="http://schemas.microsoft.com/office/drawing/2014/main" id="{6E2121EB-4CEA-4EE4-8847-6599930A22B9}"/>
              </a:ext>
            </a:extLst>
          </p:cNvPr>
          <p:cNvSpPr>
            <a:spLocks noEditPoints="1"/>
          </p:cNvSpPr>
          <p:nvPr userDrawn="1"/>
        </p:nvSpPr>
        <p:spPr bwMode="auto">
          <a:xfrm>
            <a:off x="832642" y="6262326"/>
            <a:ext cx="1171705" cy="206714"/>
          </a:xfrm>
          <a:custGeom>
            <a:avLst/>
            <a:gdLst>
              <a:gd name="T0" fmla="*/ 319 w 3262"/>
              <a:gd name="T1" fmla="*/ 39 h 572"/>
              <a:gd name="T2" fmla="*/ 300 w 3262"/>
              <a:gd name="T3" fmla="*/ 137 h 572"/>
              <a:gd name="T4" fmla="*/ 371 w 3262"/>
              <a:gd name="T5" fmla="*/ 405 h 572"/>
              <a:gd name="T6" fmla="*/ 244 w 3262"/>
              <a:gd name="T7" fmla="*/ 170 h 572"/>
              <a:gd name="T8" fmla="*/ 225 w 3262"/>
              <a:gd name="T9" fmla="*/ 267 h 572"/>
              <a:gd name="T10" fmla="*/ 300 w 3262"/>
              <a:gd name="T11" fmla="*/ 528 h 572"/>
              <a:gd name="T12" fmla="*/ 187 w 3262"/>
              <a:gd name="T13" fmla="*/ 333 h 572"/>
              <a:gd name="T14" fmla="*/ 300 w 3262"/>
              <a:gd name="T15" fmla="*/ 572 h 572"/>
              <a:gd name="T16" fmla="*/ 714 w 3262"/>
              <a:gd name="T17" fmla="*/ 540 h 572"/>
              <a:gd name="T18" fmla="*/ 910 w 3262"/>
              <a:gd name="T19" fmla="*/ 455 h 572"/>
              <a:gd name="T20" fmla="*/ 717 w 3262"/>
              <a:gd name="T21" fmla="*/ 258 h 572"/>
              <a:gd name="T22" fmla="*/ 945 w 3262"/>
              <a:gd name="T23" fmla="*/ 226 h 572"/>
              <a:gd name="T24" fmla="*/ 842 w 3262"/>
              <a:gd name="T25" fmla="*/ 322 h 572"/>
              <a:gd name="T26" fmla="*/ 829 w 3262"/>
              <a:gd name="T27" fmla="*/ 561 h 572"/>
              <a:gd name="T28" fmla="*/ 1277 w 3262"/>
              <a:gd name="T29" fmla="*/ 552 h 572"/>
              <a:gd name="T30" fmla="*/ 1138 w 3262"/>
              <a:gd name="T31" fmla="*/ 559 h 572"/>
              <a:gd name="T32" fmla="*/ 1277 w 3262"/>
              <a:gd name="T33" fmla="*/ 270 h 572"/>
              <a:gd name="T34" fmla="*/ 1171 w 3262"/>
              <a:gd name="T35" fmla="*/ 307 h 572"/>
              <a:gd name="T36" fmla="*/ 1215 w 3262"/>
              <a:gd name="T37" fmla="*/ 488 h 572"/>
              <a:gd name="T38" fmla="*/ 1533 w 3262"/>
              <a:gd name="T39" fmla="*/ 552 h 572"/>
              <a:gd name="T40" fmla="*/ 1407 w 3262"/>
              <a:gd name="T41" fmla="*/ 312 h 572"/>
              <a:gd name="T42" fmla="*/ 1345 w 3262"/>
              <a:gd name="T43" fmla="*/ 270 h 572"/>
              <a:gd name="T44" fmla="*/ 1767 w 3262"/>
              <a:gd name="T45" fmla="*/ 506 h 572"/>
              <a:gd name="T46" fmla="*/ 1756 w 3262"/>
              <a:gd name="T47" fmla="*/ 559 h 572"/>
              <a:gd name="T48" fmla="*/ 1719 w 3262"/>
              <a:gd name="T49" fmla="*/ 157 h 572"/>
              <a:gd name="T50" fmla="*/ 1812 w 3262"/>
              <a:gd name="T51" fmla="*/ 317 h 572"/>
              <a:gd name="T52" fmla="*/ 1767 w 3262"/>
              <a:gd name="T53" fmla="*/ 506 h 572"/>
              <a:gd name="T54" fmla="*/ 2043 w 3262"/>
              <a:gd name="T55" fmla="*/ 552 h 572"/>
              <a:gd name="T56" fmla="*/ 1836 w 3262"/>
              <a:gd name="T57" fmla="*/ 410 h 572"/>
              <a:gd name="T58" fmla="*/ 2038 w 3262"/>
              <a:gd name="T59" fmla="*/ 488 h 572"/>
              <a:gd name="T60" fmla="*/ 1899 w 3262"/>
              <a:gd name="T61" fmla="*/ 410 h 572"/>
              <a:gd name="T62" fmla="*/ 2418 w 3262"/>
              <a:gd name="T63" fmla="*/ 363 h 572"/>
              <a:gd name="T64" fmla="*/ 2356 w 3262"/>
              <a:gd name="T65" fmla="*/ 373 h 572"/>
              <a:gd name="T66" fmla="*/ 2230 w 3262"/>
              <a:gd name="T67" fmla="*/ 552 h 572"/>
              <a:gd name="T68" fmla="*/ 2281 w 3262"/>
              <a:gd name="T69" fmla="*/ 254 h 572"/>
              <a:gd name="T70" fmla="*/ 2733 w 3262"/>
              <a:gd name="T71" fmla="*/ 552 h 572"/>
              <a:gd name="T72" fmla="*/ 2591 w 3262"/>
              <a:gd name="T73" fmla="*/ 559 h 572"/>
              <a:gd name="T74" fmla="*/ 2671 w 3262"/>
              <a:gd name="T75" fmla="*/ 259 h 572"/>
              <a:gd name="T76" fmla="*/ 2671 w 3262"/>
              <a:gd name="T77" fmla="*/ 487 h 572"/>
              <a:gd name="T78" fmla="*/ 2531 w 3262"/>
              <a:gd name="T79" fmla="*/ 410 h 572"/>
              <a:gd name="T80" fmla="*/ 3045 w 3262"/>
              <a:gd name="T81" fmla="*/ 432 h 572"/>
              <a:gd name="T82" fmla="*/ 3038 w 3262"/>
              <a:gd name="T83" fmla="*/ 485 h 572"/>
              <a:gd name="T84" fmla="*/ 2783 w 3262"/>
              <a:gd name="T85" fmla="*/ 405 h 572"/>
              <a:gd name="T86" fmla="*/ 3045 w 3262"/>
              <a:gd name="T87" fmla="*/ 432 h 572"/>
              <a:gd name="T88" fmla="*/ 2918 w 3262"/>
              <a:gd name="T89" fmla="*/ 306 h 572"/>
              <a:gd name="T90" fmla="*/ 3256 w 3262"/>
              <a:gd name="T91" fmla="*/ 310 h 572"/>
              <a:gd name="T92" fmla="*/ 3164 w 3262"/>
              <a:gd name="T93" fmla="*/ 552 h 572"/>
              <a:gd name="T94" fmla="*/ 3208 w 3262"/>
              <a:gd name="T95" fmla="*/ 254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262" h="572">
                <a:moveTo>
                  <a:pt x="430" y="262"/>
                </a:moveTo>
                <a:cubicBezTo>
                  <a:pt x="429" y="241"/>
                  <a:pt x="424" y="221"/>
                  <a:pt x="413" y="202"/>
                </a:cubicBezTo>
                <a:cubicBezTo>
                  <a:pt x="319" y="39"/>
                  <a:pt x="319" y="39"/>
                  <a:pt x="319" y="39"/>
                </a:cubicBezTo>
                <a:cubicBezTo>
                  <a:pt x="312" y="27"/>
                  <a:pt x="307" y="14"/>
                  <a:pt x="304" y="0"/>
                </a:cubicBezTo>
                <a:cubicBezTo>
                  <a:pt x="300" y="7"/>
                  <a:pt x="300" y="7"/>
                  <a:pt x="300" y="7"/>
                </a:cubicBezTo>
                <a:cubicBezTo>
                  <a:pt x="277" y="47"/>
                  <a:pt x="277" y="97"/>
                  <a:pt x="300" y="137"/>
                </a:cubicBezTo>
                <a:cubicBezTo>
                  <a:pt x="375" y="267"/>
                  <a:pt x="375" y="267"/>
                  <a:pt x="375" y="267"/>
                </a:cubicBezTo>
                <a:cubicBezTo>
                  <a:pt x="399" y="308"/>
                  <a:pt x="399" y="357"/>
                  <a:pt x="375" y="398"/>
                </a:cubicBezTo>
                <a:cubicBezTo>
                  <a:pt x="371" y="405"/>
                  <a:pt x="371" y="405"/>
                  <a:pt x="371" y="405"/>
                </a:cubicBezTo>
                <a:cubicBezTo>
                  <a:pt x="369" y="391"/>
                  <a:pt x="364" y="378"/>
                  <a:pt x="356" y="365"/>
                </a:cubicBezTo>
                <a:cubicBezTo>
                  <a:pt x="288" y="246"/>
                  <a:pt x="288" y="246"/>
                  <a:pt x="288" y="246"/>
                </a:cubicBezTo>
                <a:cubicBezTo>
                  <a:pt x="244" y="170"/>
                  <a:pt x="244" y="170"/>
                  <a:pt x="244" y="170"/>
                </a:cubicBezTo>
                <a:cubicBezTo>
                  <a:pt x="236" y="157"/>
                  <a:pt x="232" y="144"/>
                  <a:pt x="229" y="130"/>
                </a:cubicBezTo>
                <a:cubicBezTo>
                  <a:pt x="225" y="137"/>
                  <a:pt x="225" y="137"/>
                  <a:pt x="225" y="137"/>
                </a:cubicBezTo>
                <a:cubicBezTo>
                  <a:pt x="202" y="177"/>
                  <a:pt x="202" y="227"/>
                  <a:pt x="225" y="267"/>
                </a:cubicBezTo>
                <a:cubicBezTo>
                  <a:pt x="225" y="267"/>
                  <a:pt x="225" y="267"/>
                  <a:pt x="225" y="267"/>
                </a:cubicBezTo>
                <a:cubicBezTo>
                  <a:pt x="300" y="398"/>
                  <a:pt x="300" y="398"/>
                  <a:pt x="300" y="398"/>
                </a:cubicBezTo>
                <a:cubicBezTo>
                  <a:pt x="323" y="438"/>
                  <a:pt x="323" y="488"/>
                  <a:pt x="300" y="528"/>
                </a:cubicBezTo>
                <a:cubicBezTo>
                  <a:pt x="296" y="535"/>
                  <a:pt x="296" y="535"/>
                  <a:pt x="296" y="535"/>
                </a:cubicBezTo>
                <a:cubicBezTo>
                  <a:pt x="293" y="521"/>
                  <a:pt x="288" y="508"/>
                  <a:pt x="281" y="495"/>
                </a:cubicBezTo>
                <a:cubicBezTo>
                  <a:pt x="187" y="333"/>
                  <a:pt x="187" y="333"/>
                  <a:pt x="187" y="333"/>
                </a:cubicBezTo>
                <a:cubicBezTo>
                  <a:pt x="175" y="311"/>
                  <a:pt x="169" y="286"/>
                  <a:pt x="170" y="262"/>
                </a:cubicBezTo>
                <a:cubicBezTo>
                  <a:pt x="69" y="288"/>
                  <a:pt x="0" y="344"/>
                  <a:pt x="0" y="409"/>
                </a:cubicBezTo>
                <a:cubicBezTo>
                  <a:pt x="0" y="499"/>
                  <a:pt x="134" y="572"/>
                  <a:pt x="300" y="572"/>
                </a:cubicBezTo>
                <a:cubicBezTo>
                  <a:pt x="466" y="572"/>
                  <a:pt x="600" y="499"/>
                  <a:pt x="600" y="409"/>
                </a:cubicBezTo>
                <a:cubicBezTo>
                  <a:pt x="600" y="344"/>
                  <a:pt x="531" y="288"/>
                  <a:pt x="430" y="262"/>
                </a:cubicBezTo>
                <a:close/>
                <a:moveTo>
                  <a:pt x="714" y="540"/>
                </a:moveTo>
                <a:cubicBezTo>
                  <a:pt x="715" y="517"/>
                  <a:pt x="718" y="501"/>
                  <a:pt x="725" y="483"/>
                </a:cubicBezTo>
                <a:cubicBezTo>
                  <a:pt x="756" y="498"/>
                  <a:pt x="797" y="505"/>
                  <a:pt x="828" y="505"/>
                </a:cubicBezTo>
                <a:cubicBezTo>
                  <a:pt x="880" y="505"/>
                  <a:pt x="910" y="488"/>
                  <a:pt x="910" y="455"/>
                </a:cubicBezTo>
                <a:cubicBezTo>
                  <a:pt x="910" y="422"/>
                  <a:pt x="888" y="407"/>
                  <a:pt x="835" y="384"/>
                </a:cubicBezTo>
                <a:cubicBezTo>
                  <a:pt x="806" y="371"/>
                  <a:pt x="806" y="371"/>
                  <a:pt x="806" y="371"/>
                </a:cubicBezTo>
                <a:cubicBezTo>
                  <a:pt x="753" y="348"/>
                  <a:pt x="717" y="318"/>
                  <a:pt x="717" y="258"/>
                </a:cubicBezTo>
                <a:cubicBezTo>
                  <a:pt x="717" y="194"/>
                  <a:pt x="762" y="153"/>
                  <a:pt x="853" y="153"/>
                </a:cubicBezTo>
                <a:cubicBezTo>
                  <a:pt x="890" y="153"/>
                  <a:pt x="924" y="158"/>
                  <a:pt x="956" y="169"/>
                </a:cubicBezTo>
                <a:cubicBezTo>
                  <a:pt x="955" y="192"/>
                  <a:pt x="951" y="209"/>
                  <a:pt x="945" y="226"/>
                </a:cubicBezTo>
                <a:cubicBezTo>
                  <a:pt x="915" y="214"/>
                  <a:pt x="879" y="209"/>
                  <a:pt x="853" y="209"/>
                </a:cubicBezTo>
                <a:cubicBezTo>
                  <a:pt x="804" y="209"/>
                  <a:pt x="781" y="228"/>
                  <a:pt x="781" y="258"/>
                </a:cubicBezTo>
                <a:cubicBezTo>
                  <a:pt x="781" y="288"/>
                  <a:pt x="803" y="305"/>
                  <a:pt x="842" y="322"/>
                </a:cubicBezTo>
                <a:cubicBezTo>
                  <a:pt x="873" y="335"/>
                  <a:pt x="873" y="335"/>
                  <a:pt x="873" y="335"/>
                </a:cubicBezTo>
                <a:cubicBezTo>
                  <a:pt x="945" y="365"/>
                  <a:pt x="974" y="397"/>
                  <a:pt x="974" y="452"/>
                </a:cubicBezTo>
                <a:cubicBezTo>
                  <a:pt x="974" y="517"/>
                  <a:pt x="925" y="561"/>
                  <a:pt x="829" y="561"/>
                </a:cubicBezTo>
                <a:cubicBezTo>
                  <a:pt x="783" y="561"/>
                  <a:pt x="745" y="555"/>
                  <a:pt x="714" y="540"/>
                </a:cubicBezTo>
                <a:close/>
                <a:moveTo>
                  <a:pt x="1277" y="270"/>
                </a:moveTo>
                <a:cubicBezTo>
                  <a:pt x="1277" y="552"/>
                  <a:pt x="1277" y="552"/>
                  <a:pt x="1277" y="552"/>
                </a:cubicBezTo>
                <a:cubicBezTo>
                  <a:pt x="1220" y="552"/>
                  <a:pt x="1220" y="552"/>
                  <a:pt x="1220" y="552"/>
                </a:cubicBezTo>
                <a:cubicBezTo>
                  <a:pt x="1217" y="518"/>
                  <a:pt x="1217" y="518"/>
                  <a:pt x="1217" y="518"/>
                </a:cubicBezTo>
                <a:cubicBezTo>
                  <a:pt x="1201" y="543"/>
                  <a:pt x="1177" y="559"/>
                  <a:pt x="1138" y="559"/>
                </a:cubicBezTo>
                <a:cubicBezTo>
                  <a:pt x="1063" y="559"/>
                  <a:pt x="1013" y="505"/>
                  <a:pt x="1013" y="410"/>
                </a:cubicBezTo>
                <a:cubicBezTo>
                  <a:pt x="1013" y="311"/>
                  <a:pt x="1066" y="254"/>
                  <a:pt x="1171" y="254"/>
                </a:cubicBezTo>
                <a:cubicBezTo>
                  <a:pt x="1211" y="254"/>
                  <a:pt x="1245" y="259"/>
                  <a:pt x="1277" y="270"/>
                </a:cubicBezTo>
                <a:close/>
                <a:moveTo>
                  <a:pt x="1215" y="488"/>
                </a:moveTo>
                <a:cubicBezTo>
                  <a:pt x="1215" y="311"/>
                  <a:pt x="1215" y="311"/>
                  <a:pt x="1215" y="311"/>
                </a:cubicBezTo>
                <a:cubicBezTo>
                  <a:pt x="1202" y="309"/>
                  <a:pt x="1188" y="307"/>
                  <a:pt x="1171" y="307"/>
                </a:cubicBezTo>
                <a:cubicBezTo>
                  <a:pt x="1107" y="307"/>
                  <a:pt x="1077" y="347"/>
                  <a:pt x="1077" y="410"/>
                </a:cubicBezTo>
                <a:cubicBezTo>
                  <a:pt x="1077" y="468"/>
                  <a:pt x="1100" y="508"/>
                  <a:pt x="1155" y="508"/>
                </a:cubicBezTo>
                <a:cubicBezTo>
                  <a:pt x="1179" y="508"/>
                  <a:pt x="1199" y="500"/>
                  <a:pt x="1215" y="488"/>
                </a:cubicBezTo>
                <a:close/>
                <a:moveTo>
                  <a:pt x="1595" y="363"/>
                </a:moveTo>
                <a:cubicBezTo>
                  <a:pt x="1595" y="552"/>
                  <a:pt x="1595" y="552"/>
                  <a:pt x="1595" y="552"/>
                </a:cubicBezTo>
                <a:cubicBezTo>
                  <a:pt x="1533" y="552"/>
                  <a:pt x="1533" y="552"/>
                  <a:pt x="1533" y="552"/>
                </a:cubicBezTo>
                <a:cubicBezTo>
                  <a:pt x="1533" y="373"/>
                  <a:pt x="1533" y="373"/>
                  <a:pt x="1533" y="373"/>
                </a:cubicBezTo>
                <a:cubicBezTo>
                  <a:pt x="1533" y="329"/>
                  <a:pt x="1518" y="307"/>
                  <a:pt x="1456" y="307"/>
                </a:cubicBezTo>
                <a:cubicBezTo>
                  <a:pt x="1442" y="307"/>
                  <a:pt x="1424" y="309"/>
                  <a:pt x="1407" y="312"/>
                </a:cubicBezTo>
                <a:cubicBezTo>
                  <a:pt x="1407" y="552"/>
                  <a:pt x="1407" y="552"/>
                  <a:pt x="1407" y="552"/>
                </a:cubicBezTo>
                <a:cubicBezTo>
                  <a:pt x="1345" y="552"/>
                  <a:pt x="1345" y="552"/>
                  <a:pt x="1345" y="552"/>
                </a:cubicBezTo>
                <a:cubicBezTo>
                  <a:pt x="1345" y="270"/>
                  <a:pt x="1345" y="270"/>
                  <a:pt x="1345" y="270"/>
                </a:cubicBezTo>
                <a:cubicBezTo>
                  <a:pt x="1385" y="261"/>
                  <a:pt x="1428" y="254"/>
                  <a:pt x="1458" y="254"/>
                </a:cubicBezTo>
                <a:cubicBezTo>
                  <a:pt x="1562" y="254"/>
                  <a:pt x="1595" y="294"/>
                  <a:pt x="1595" y="363"/>
                </a:cubicBezTo>
                <a:close/>
                <a:moveTo>
                  <a:pt x="1767" y="506"/>
                </a:moveTo>
                <a:cubicBezTo>
                  <a:pt x="1785" y="506"/>
                  <a:pt x="1802" y="503"/>
                  <a:pt x="1816" y="498"/>
                </a:cubicBezTo>
                <a:cubicBezTo>
                  <a:pt x="1814" y="515"/>
                  <a:pt x="1812" y="534"/>
                  <a:pt x="1808" y="550"/>
                </a:cubicBezTo>
                <a:cubicBezTo>
                  <a:pt x="1791" y="557"/>
                  <a:pt x="1773" y="559"/>
                  <a:pt x="1756" y="559"/>
                </a:cubicBezTo>
                <a:cubicBezTo>
                  <a:pt x="1696" y="559"/>
                  <a:pt x="1657" y="531"/>
                  <a:pt x="1657" y="463"/>
                </a:cubicBezTo>
                <a:cubicBezTo>
                  <a:pt x="1657" y="166"/>
                  <a:pt x="1657" y="166"/>
                  <a:pt x="1657" y="166"/>
                </a:cubicBezTo>
                <a:cubicBezTo>
                  <a:pt x="1676" y="160"/>
                  <a:pt x="1700" y="157"/>
                  <a:pt x="1719" y="157"/>
                </a:cubicBezTo>
                <a:cubicBezTo>
                  <a:pt x="1719" y="264"/>
                  <a:pt x="1719" y="264"/>
                  <a:pt x="1719" y="264"/>
                </a:cubicBezTo>
                <a:cubicBezTo>
                  <a:pt x="1817" y="264"/>
                  <a:pt x="1817" y="264"/>
                  <a:pt x="1817" y="264"/>
                </a:cubicBezTo>
                <a:cubicBezTo>
                  <a:pt x="1816" y="283"/>
                  <a:pt x="1815" y="301"/>
                  <a:pt x="1812" y="317"/>
                </a:cubicBezTo>
                <a:cubicBezTo>
                  <a:pt x="1719" y="317"/>
                  <a:pt x="1719" y="317"/>
                  <a:pt x="1719" y="317"/>
                </a:cubicBezTo>
                <a:cubicBezTo>
                  <a:pt x="1719" y="455"/>
                  <a:pt x="1719" y="455"/>
                  <a:pt x="1719" y="455"/>
                </a:cubicBezTo>
                <a:cubicBezTo>
                  <a:pt x="1719" y="492"/>
                  <a:pt x="1737" y="506"/>
                  <a:pt x="1767" y="506"/>
                </a:cubicBezTo>
                <a:close/>
                <a:moveTo>
                  <a:pt x="2100" y="270"/>
                </a:moveTo>
                <a:cubicBezTo>
                  <a:pt x="2100" y="552"/>
                  <a:pt x="2100" y="552"/>
                  <a:pt x="2100" y="552"/>
                </a:cubicBezTo>
                <a:cubicBezTo>
                  <a:pt x="2043" y="552"/>
                  <a:pt x="2043" y="552"/>
                  <a:pt x="2043" y="552"/>
                </a:cubicBezTo>
                <a:cubicBezTo>
                  <a:pt x="2040" y="518"/>
                  <a:pt x="2040" y="518"/>
                  <a:pt x="2040" y="518"/>
                </a:cubicBezTo>
                <a:cubicBezTo>
                  <a:pt x="2024" y="543"/>
                  <a:pt x="2000" y="559"/>
                  <a:pt x="1960" y="559"/>
                </a:cubicBezTo>
                <a:cubicBezTo>
                  <a:pt x="1886" y="559"/>
                  <a:pt x="1836" y="505"/>
                  <a:pt x="1836" y="410"/>
                </a:cubicBezTo>
                <a:cubicBezTo>
                  <a:pt x="1836" y="311"/>
                  <a:pt x="1889" y="254"/>
                  <a:pt x="1993" y="254"/>
                </a:cubicBezTo>
                <a:cubicBezTo>
                  <a:pt x="2034" y="254"/>
                  <a:pt x="2067" y="259"/>
                  <a:pt x="2100" y="270"/>
                </a:cubicBezTo>
                <a:close/>
                <a:moveTo>
                  <a:pt x="2038" y="488"/>
                </a:moveTo>
                <a:cubicBezTo>
                  <a:pt x="2038" y="311"/>
                  <a:pt x="2038" y="311"/>
                  <a:pt x="2038" y="311"/>
                </a:cubicBezTo>
                <a:cubicBezTo>
                  <a:pt x="2025" y="309"/>
                  <a:pt x="2011" y="307"/>
                  <a:pt x="1993" y="307"/>
                </a:cubicBezTo>
                <a:cubicBezTo>
                  <a:pt x="1929" y="307"/>
                  <a:pt x="1899" y="347"/>
                  <a:pt x="1899" y="410"/>
                </a:cubicBezTo>
                <a:cubicBezTo>
                  <a:pt x="1899" y="468"/>
                  <a:pt x="1922" y="508"/>
                  <a:pt x="1978" y="508"/>
                </a:cubicBezTo>
                <a:cubicBezTo>
                  <a:pt x="2002" y="508"/>
                  <a:pt x="2022" y="500"/>
                  <a:pt x="2038" y="488"/>
                </a:cubicBezTo>
                <a:close/>
                <a:moveTo>
                  <a:pt x="2418" y="363"/>
                </a:moveTo>
                <a:cubicBezTo>
                  <a:pt x="2418" y="552"/>
                  <a:pt x="2418" y="552"/>
                  <a:pt x="2418" y="552"/>
                </a:cubicBezTo>
                <a:cubicBezTo>
                  <a:pt x="2356" y="552"/>
                  <a:pt x="2356" y="552"/>
                  <a:pt x="2356" y="552"/>
                </a:cubicBezTo>
                <a:cubicBezTo>
                  <a:pt x="2356" y="373"/>
                  <a:pt x="2356" y="373"/>
                  <a:pt x="2356" y="373"/>
                </a:cubicBezTo>
                <a:cubicBezTo>
                  <a:pt x="2356" y="329"/>
                  <a:pt x="2341" y="307"/>
                  <a:pt x="2279" y="307"/>
                </a:cubicBezTo>
                <a:cubicBezTo>
                  <a:pt x="2264" y="307"/>
                  <a:pt x="2247" y="309"/>
                  <a:pt x="2230" y="312"/>
                </a:cubicBezTo>
                <a:cubicBezTo>
                  <a:pt x="2230" y="552"/>
                  <a:pt x="2230" y="552"/>
                  <a:pt x="2230" y="552"/>
                </a:cubicBezTo>
                <a:cubicBezTo>
                  <a:pt x="2168" y="552"/>
                  <a:pt x="2168" y="552"/>
                  <a:pt x="2168" y="552"/>
                </a:cubicBezTo>
                <a:cubicBezTo>
                  <a:pt x="2168" y="270"/>
                  <a:pt x="2168" y="270"/>
                  <a:pt x="2168" y="270"/>
                </a:cubicBezTo>
                <a:cubicBezTo>
                  <a:pt x="2207" y="261"/>
                  <a:pt x="2251" y="254"/>
                  <a:pt x="2281" y="254"/>
                </a:cubicBezTo>
                <a:cubicBezTo>
                  <a:pt x="2384" y="254"/>
                  <a:pt x="2418" y="294"/>
                  <a:pt x="2418" y="363"/>
                </a:cubicBezTo>
                <a:close/>
                <a:moveTo>
                  <a:pt x="2733" y="157"/>
                </a:moveTo>
                <a:cubicBezTo>
                  <a:pt x="2733" y="552"/>
                  <a:pt x="2733" y="552"/>
                  <a:pt x="2733" y="552"/>
                </a:cubicBezTo>
                <a:cubicBezTo>
                  <a:pt x="2676" y="552"/>
                  <a:pt x="2676" y="552"/>
                  <a:pt x="2676" y="552"/>
                </a:cubicBezTo>
                <a:cubicBezTo>
                  <a:pt x="2672" y="516"/>
                  <a:pt x="2672" y="516"/>
                  <a:pt x="2672" y="516"/>
                </a:cubicBezTo>
                <a:cubicBezTo>
                  <a:pt x="2656" y="543"/>
                  <a:pt x="2632" y="559"/>
                  <a:pt x="2591" y="559"/>
                </a:cubicBezTo>
                <a:cubicBezTo>
                  <a:pt x="2517" y="559"/>
                  <a:pt x="2467" y="505"/>
                  <a:pt x="2467" y="410"/>
                </a:cubicBezTo>
                <a:cubicBezTo>
                  <a:pt x="2467" y="311"/>
                  <a:pt x="2520" y="254"/>
                  <a:pt x="2625" y="254"/>
                </a:cubicBezTo>
                <a:cubicBezTo>
                  <a:pt x="2641" y="254"/>
                  <a:pt x="2656" y="256"/>
                  <a:pt x="2671" y="259"/>
                </a:cubicBezTo>
                <a:cubicBezTo>
                  <a:pt x="2671" y="166"/>
                  <a:pt x="2671" y="166"/>
                  <a:pt x="2671" y="166"/>
                </a:cubicBezTo>
                <a:cubicBezTo>
                  <a:pt x="2690" y="159"/>
                  <a:pt x="2712" y="157"/>
                  <a:pt x="2733" y="157"/>
                </a:cubicBezTo>
                <a:close/>
                <a:moveTo>
                  <a:pt x="2671" y="487"/>
                </a:moveTo>
                <a:cubicBezTo>
                  <a:pt x="2671" y="313"/>
                  <a:pt x="2671" y="313"/>
                  <a:pt x="2671" y="313"/>
                </a:cubicBezTo>
                <a:cubicBezTo>
                  <a:pt x="2655" y="310"/>
                  <a:pt x="2638" y="307"/>
                  <a:pt x="2621" y="307"/>
                </a:cubicBezTo>
                <a:cubicBezTo>
                  <a:pt x="2560" y="307"/>
                  <a:pt x="2531" y="346"/>
                  <a:pt x="2531" y="410"/>
                </a:cubicBezTo>
                <a:cubicBezTo>
                  <a:pt x="2531" y="468"/>
                  <a:pt x="2554" y="508"/>
                  <a:pt x="2609" y="508"/>
                </a:cubicBezTo>
                <a:cubicBezTo>
                  <a:pt x="2634" y="508"/>
                  <a:pt x="2654" y="500"/>
                  <a:pt x="2671" y="487"/>
                </a:cubicBezTo>
                <a:close/>
                <a:moveTo>
                  <a:pt x="3045" y="432"/>
                </a:moveTo>
                <a:cubicBezTo>
                  <a:pt x="2847" y="432"/>
                  <a:pt x="2847" y="432"/>
                  <a:pt x="2847" y="432"/>
                </a:cubicBezTo>
                <a:cubicBezTo>
                  <a:pt x="2854" y="482"/>
                  <a:pt x="2884" y="506"/>
                  <a:pt x="2939" y="506"/>
                </a:cubicBezTo>
                <a:cubicBezTo>
                  <a:pt x="2973" y="506"/>
                  <a:pt x="3007" y="499"/>
                  <a:pt x="3038" y="485"/>
                </a:cubicBezTo>
                <a:cubicBezTo>
                  <a:pt x="3036" y="501"/>
                  <a:pt x="3033" y="522"/>
                  <a:pt x="3029" y="541"/>
                </a:cubicBezTo>
                <a:cubicBezTo>
                  <a:pt x="3001" y="554"/>
                  <a:pt x="2971" y="559"/>
                  <a:pt x="2937" y="559"/>
                </a:cubicBezTo>
                <a:cubicBezTo>
                  <a:pt x="2834" y="559"/>
                  <a:pt x="2783" y="502"/>
                  <a:pt x="2783" y="405"/>
                </a:cubicBezTo>
                <a:cubicBezTo>
                  <a:pt x="2783" y="321"/>
                  <a:pt x="2822" y="254"/>
                  <a:pt x="2921" y="254"/>
                </a:cubicBezTo>
                <a:cubicBezTo>
                  <a:pt x="3010" y="254"/>
                  <a:pt x="3048" y="313"/>
                  <a:pt x="3048" y="384"/>
                </a:cubicBezTo>
                <a:cubicBezTo>
                  <a:pt x="3048" y="401"/>
                  <a:pt x="3047" y="415"/>
                  <a:pt x="3045" y="432"/>
                </a:cubicBezTo>
                <a:close/>
                <a:moveTo>
                  <a:pt x="2845" y="380"/>
                </a:moveTo>
                <a:cubicBezTo>
                  <a:pt x="2985" y="380"/>
                  <a:pt x="2985" y="380"/>
                  <a:pt x="2985" y="380"/>
                </a:cubicBezTo>
                <a:cubicBezTo>
                  <a:pt x="2985" y="333"/>
                  <a:pt x="2960" y="306"/>
                  <a:pt x="2918" y="306"/>
                </a:cubicBezTo>
                <a:cubicBezTo>
                  <a:pt x="2874" y="306"/>
                  <a:pt x="2850" y="332"/>
                  <a:pt x="2845" y="380"/>
                </a:cubicBezTo>
                <a:close/>
                <a:moveTo>
                  <a:pt x="3262" y="257"/>
                </a:moveTo>
                <a:cubicBezTo>
                  <a:pt x="3262" y="275"/>
                  <a:pt x="3260" y="298"/>
                  <a:pt x="3256" y="310"/>
                </a:cubicBezTo>
                <a:cubicBezTo>
                  <a:pt x="3241" y="308"/>
                  <a:pt x="3227" y="307"/>
                  <a:pt x="3209" y="307"/>
                </a:cubicBezTo>
                <a:cubicBezTo>
                  <a:pt x="3194" y="307"/>
                  <a:pt x="3179" y="309"/>
                  <a:pt x="3164" y="311"/>
                </a:cubicBezTo>
                <a:cubicBezTo>
                  <a:pt x="3164" y="552"/>
                  <a:pt x="3164" y="552"/>
                  <a:pt x="3164" y="552"/>
                </a:cubicBezTo>
                <a:cubicBezTo>
                  <a:pt x="3102" y="552"/>
                  <a:pt x="3102" y="552"/>
                  <a:pt x="3102" y="552"/>
                </a:cubicBezTo>
                <a:cubicBezTo>
                  <a:pt x="3102" y="270"/>
                  <a:pt x="3102" y="270"/>
                  <a:pt x="3102" y="270"/>
                </a:cubicBezTo>
                <a:cubicBezTo>
                  <a:pt x="3128" y="261"/>
                  <a:pt x="3173" y="254"/>
                  <a:pt x="3208" y="254"/>
                </a:cubicBezTo>
                <a:cubicBezTo>
                  <a:pt x="3227" y="254"/>
                  <a:pt x="3248" y="255"/>
                  <a:pt x="3262" y="257"/>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solidFill>
                <a:prstClr val="black"/>
              </a:solidFill>
            </a:endParaRPr>
          </a:p>
        </p:txBody>
      </p:sp>
    </p:spTree>
    <p:extLst>
      <p:ext uri="{BB962C8B-B14F-4D97-AF65-F5344CB8AC3E}">
        <p14:creationId xmlns:p14="http://schemas.microsoft.com/office/powerpoint/2010/main" val="3491167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amp; Chart 3 ">
    <p:spTree>
      <p:nvGrpSpPr>
        <p:cNvPr id="1" name=""/>
        <p:cNvGrpSpPr/>
        <p:nvPr/>
      </p:nvGrpSpPr>
      <p:grpSpPr>
        <a:xfrm>
          <a:off x="0" y="0"/>
          <a:ext cx="0" cy="0"/>
          <a:chOff x="0" y="0"/>
          <a:chExt cx="0" cy="0"/>
        </a:xfrm>
      </p:grpSpPr>
      <p:graphicFrame>
        <p:nvGraphicFramePr>
          <p:cNvPr id="2" name="Objeto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2" name="Objeto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0"/>
            <a:ext cx="2743200" cy="365125"/>
          </a:xfrm>
        </p:spPr>
        <p:txBody>
          <a:bodyPr/>
          <a:lstStyle>
            <a:lvl1pPr>
              <a:defRPr lang="es-ES" sz="1300" kern="1200" smtClean="0">
                <a:solidFill>
                  <a:schemeClr val="accent1"/>
                </a:solidFill>
                <a:latin typeface="+mn-lt"/>
                <a:ea typeface="+mn-ea"/>
                <a:cs typeface="+mn-cs"/>
              </a:defRPr>
            </a:lvl1pPr>
          </a:lstStyle>
          <a:p>
            <a:fld id="{BC0D97B6-E32F-4D7D-B839-7C3B51F2640F}" type="slidenum">
              <a:rPr>
                <a:solidFill>
                  <a:srgbClr val="EC0000"/>
                </a:solidFill>
              </a:rPr>
              <a:pPr/>
              <a:t>‹Nº›</a:t>
            </a:fld>
            <a:endParaRPr>
              <a:solidFill>
                <a:srgbClr val="EC0000"/>
              </a:solidFill>
            </a:endParaRPr>
          </a:p>
        </p:txBody>
      </p:sp>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lang="en-US" sz="1600" kern="1200" dirty="0">
                <a:solidFill>
                  <a:schemeClr val="accent1"/>
                </a:solidFill>
                <a:latin typeface="+mn-lt"/>
                <a:ea typeface="+mn-ea"/>
                <a:cs typeface="+mn-cs"/>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a:t>Edit Master text styles</a:t>
            </a:r>
          </a:p>
        </p:txBody>
      </p:sp>
      <p:sp>
        <p:nvSpPr>
          <p:cNvPr id="13" name="Marcador de texto 16">
            <a:extLst>
              <a:ext uri="{FF2B5EF4-FFF2-40B4-BE49-F238E27FC236}">
                <a16:creationId xmlns:a16="http://schemas.microsoft.com/office/drawing/2014/main" id="{3C0F691A-2EF3-4A5F-A7E8-E01ADBCA2384}"/>
              </a:ext>
            </a:extLst>
          </p:cNvPr>
          <p:cNvSpPr>
            <a:spLocks noGrp="1"/>
          </p:cNvSpPr>
          <p:nvPr>
            <p:ph type="body" sz="quarter" idx="16"/>
          </p:nvPr>
        </p:nvSpPr>
        <p:spPr>
          <a:xfrm>
            <a:off x="711024" y="1087459"/>
            <a:ext cx="3911401" cy="657546"/>
          </a:xfrm>
        </p:spPr>
        <p:txBody>
          <a:bodyPr>
            <a:noAutofit/>
          </a:bodyPr>
          <a:lstStyle>
            <a:lvl1pPr marL="0" indent="0">
              <a:spcBef>
                <a:spcPts val="0"/>
              </a:spcBef>
              <a:spcAft>
                <a:spcPts val="2200"/>
              </a:spcAft>
              <a:buFontTx/>
              <a:buNone/>
              <a:defRPr lang="en-US" sz="1600" kern="1200" dirty="0">
                <a:solidFill>
                  <a:schemeClr val="tx1"/>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a:t>Edit Master text styles</a:t>
            </a:r>
          </a:p>
        </p:txBody>
      </p:sp>
      <p:sp>
        <p:nvSpPr>
          <p:cNvPr id="9" name="Marcador de texto 16">
            <a:extLst>
              <a:ext uri="{FF2B5EF4-FFF2-40B4-BE49-F238E27FC236}">
                <a16:creationId xmlns:a16="http://schemas.microsoft.com/office/drawing/2014/main" id="{714DD14E-5956-4FB9-8BE1-1064DD293193}"/>
              </a:ext>
            </a:extLst>
          </p:cNvPr>
          <p:cNvSpPr>
            <a:spLocks noGrp="1"/>
          </p:cNvSpPr>
          <p:nvPr>
            <p:ph type="body" sz="quarter" idx="19"/>
          </p:nvPr>
        </p:nvSpPr>
        <p:spPr>
          <a:xfrm>
            <a:off x="5024062" y="1087459"/>
            <a:ext cx="6445625" cy="657546"/>
          </a:xfrm>
        </p:spPr>
        <p:txBody>
          <a:bodyPr>
            <a:noAutofit/>
          </a:bodyPr>
          <a:lstStyle>
            <a:lvl1pPr marL="0" indent="0">
              <a:spcBef>
                <a:spcPts val="0"/>
              </a:spcBef>
              <a:spcAft>
                <a:spcPts val="2200"/>
              </a:spcAft>
              <a:buFontTx/>
              <a:buNone/>
              <a:defRPr lang="en-US" sz="1600" kern="1200" dirty="0">
                <a:solidFill>
                  <a:schemeClr val="tx1"/>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a:t>Edit Master text styles</a:t>
            </a:r>
          </a:p>
        </p:txBody>
      </p:sp>
      <p:sp>
        <p:nvSpPr>
          <p:cNvPr id="16" name="Marcador de gráfico 4">
            <a:extLst>
              <a:ext uri="{FF2B5EF4-FFF2-40B4-BE49-F238E27FC236}">
                <a16:creationId xmlns:a16="http://schemas.microsoft.com/office/drawing/2014/main" id="{9BA63F5F-FC37-4202-A6A3-A0F3EFAC9EB6}"/>
              </a:ext>
            </a:extLst>
          </p:cNvPr>
          <p:cNvSpPr>
            <a:spLocks noGrp="1"/>
          </p:cNvSpPr>
          <p:nvPr>
            <p:ph type="chart" sz="quarter" idx="20" hasCustomPrompt="1"/>
          </p:nvPr>
        </p:nvSpPr>
        <p:spPr>
          <a:xfrm>
            <a:off x="711024" y="1838325"/>
            <a:ext cx="3911600" cy="4183064"/>
          </a:xfrm>
        </p:spPr>
        <p:txBody>
          <a:bodyPr>
            <a:normAutofit/>
          </a:bodyPr>
          <a:lstStyle>
            <a:lvl1pPr marL="0" indent="0" algn="ctr">
              <a:buFontTx/>
              <a:buNone/>
              <a:defRPr sz="1400">
                <a:solidFill>
                  <a:schemeClr val="tx2"/>
                </a:solidFill>
                <a:latin typeface="+mn-lt"/>
                <a:ea typeface="+mn-ea"/>
                <a:cs typeface="+mn-cs"/>
              </a:defRPr>
            </a:lvl1pPr>
          </a:lstStyle>
          <a:p>
            <a:r>
              <a:rPr lang="es-ES" err="1"/>
              <a:t>Insert</a:t>
            </a:r>
            <a:r>
              <a:rPr lang="es-ES"/>
              <a:t> </a:t>
            </a:r>
            <a:r>
              <a:rPr lang="es-ES" err="1"/>
              <a:t>graphic</a:t>
            </a:r>
            <a:r>
              <a:rPr lang="es-ES"/>
              <a:t> </a:t>
            </a:r>
            <a:r>
              <a:rPr lang="es-ES" err="1"/>
              <a:t>here</a:t>
            </a:r>
            <a:endParaRPr lang="es-ES"/>
          </a:p>
        </p:txBody>
      </p:sp>
      <p:sp>
        <p:nvSpPr>
          <p:cNvPr id="17" name="Marcador de gráfico 4">
            <a:extLst>
              <a:ext uri="{FF2B5EF4-FFF2-40B4-BE49-F238E27FC236}">
                <a16:creationId xmlns:a16="http://schemas.microsoft.com/office/drawing/2014/main" id="{0CABFB2C-905F-4A94-BBC0-7C32FA7695A4}"/>
              </a:ext>
            </a:extLst>
          </p:cNvPr>
          <p:cNvSpPr>
            <a:spLocks noGrp="1"/>
          </p:cNvSpPr>
          <p:nvPr>
            <p:ph type="chart" sz="quarter" idx="21" hasCustomPrompt="1"/>
          </p:nvPr>
        </p:nvSpPr>
        <p:spPr>
          <a:xfrm>
            <a:off x="5024063" y="1838325"/>
            <a:ext cx="6445625" cy="4183064"/>
          </a:xfrm>
        </p:spPr>
        <p:txBody>
          <a:bodyPr>
            <a:normAutofit/>
          </a:bodyPr>
          <a:lstStyle>
            <a:lvl1pPr marL="0" indent="0" algn="ctr">
              <a:buFontTx/>
              <a:buNone/>
              <a:defRPr sz="1400">
                <a:solidFill>
                  <a:schemeClr val="tx2"/>
                </a:solidFill>
                <a:latin typeface="+mn-lt"/>
                <a:ea typeface="+mn-ea"/>
                <a:cs typeface="+mn-cs"/>
              </a:defRPr>
            </a:lvl1pPr>
          </a:lstStyle>
          <a:p>
            <a:r>
              <a:rPr lang="es-ES" err="1"/>
              <a:t>Insert</a:t>
            </a:r>
            <a:r>
              <a:rPr lang="es-ES"/>
              <a:t> </a:t>
            </a:r>
            <a:r>
              <a:rPr lang="es-ES" err="1"/>
              <a:t>graphic</a:t>
            </a:r>
            <a:r>
              <a:rPr lang="es-ES"/>
              <a:t> </a:t>
            </a:r>
            <a:r>
              <a:rPr lang="es-ES" err="1"/>
              <a:t>here</a:t>
            </a:r>
            <a:endParaRPr lang="es-ES"/>
          </a:p>
        </p:txBody>
      </p:sp>
      <p:sp>
        <p:nvSpPr>
          <p:cNvPr id="18" name="Freeform 5">
            <a:extLst>
              <a:ext uri="{FF2B5EF4-FFF2-40B4-BE49-F238E27FC236}">
                <a16:creationId xmlns:a16="http://schemas.microsoft.com/office/drawing/2014/main" id="{34787238-C762-46E6-973B-84C929DECB22}"/>
              </a:ext>
            </a:extLst>
          </p:cNvPr>
          <p:cNvSpPr>
            <a:spLocks noEditPoints="1"/>
          </p:cNvSpPr>
          <p:nvPr userDrawn="1"/>
        </p:nvSpPr>
        <p:spPr bwMode="auto">
          <a:xfrm>
            <a:off x="832642" y="6262326"/>
            <a:ext cx="1171705" cy="206714"/>
          </a:xfrm>
          <a:custGeom>
            <a:avLst/>
            <a:gdLst>
              <a:gd name="T0" fmla="*/ 319 w 3262"/>
              <a:gd name="T1" fmla="*/ 39 h 572"/>
              <a:gd name="T2" fmla="*/ 300 w 3262"/>
              <a:gd name="T3" fmla="*/ 137 h 572"/>
              <a:gd name="T4" fmla="*/ 371 w 3262"/>
              <a:gd name="T5" fmla="*/ 405 h 572"/>
              <a:gd name="T6" fmla="*/ 244 w 3262"/>
              <a:gd name="T7" fmla="*/ 170 h 572"/>
              <a:gd name="T8" fmla="*/ 225 w 3262"/>
              <a:gd name="T9" fmla="*/ 267 h 572"/>
              <a:gd name="T10" fmla="*/ 300 w 3262"/>
              <a:gd name="T11" fmla="*/ 528 h 572"/>
              <a:gd name="T12" fmla="*/ 187 w 3262"/>
              <a:gd name="T13" fmla="*/ 333 h 572"/>
              <a:gd name="T14" fmla="*/ 300 w 3262"/>
              <a:gd name="T15" fmla="*/ 572 h 572"/>
              <a:gd name="T16" fmla="*/ 714 w 3262"/>
              <a:gd name="T17" fmla="*/ 540 h 572"/>
              <a:gd name="T18" fmla="*/ 910 w 3262"/>
              <a:gd name="T19" fmla="*/ 455 h 572"/>
              <a:gd name="T20" fmla="*/ 717 w 3262"/>
              <a:gd name="T21" fmla="*/ 258 h 572"/>
              <a:gd name="T22" fmla="*/ 945 w 3262"/>
              <a:gd name="T23" fmla="*/ 226 h 572"/>
              <a:gd name="T24" fmla="*/ 842 w 3262"/>
              <a:gd name="T25" fmla="*/ 322 h 572"/>
              <a:gd name="T26" fmla="*/ 829 w 3262"/>
              <a:gd name="T27" fmla="*/ 561 h 572"/>
              <a:gd name="T28" fmla="*/ 1277 w 3262"/>
              <a:gd name="T29" fmla="*/ 552 h 572"/>
              <a:gd name="T30" fmla="*/ 1138 w 3262"/>
              <a:gd name="T31" fmla="*/ 559 h 572"/>
              <a:gd name="T32" fmla="*/ 1277 w 3262"/>
              <a:gd name="T33" fmla="*/ 270 h 572"/>
              <a:gd name="T34" fmla="*/ 1171 w 3262"/>
              <a:gd name="T35" fmla="*/ 307 h 572"/>
              <a:gd name="T36" fmla="*/ 1215 w 3262"/>
              <a:gd name="T37" fmla="*/ 488 h 572"/>
              <a:gd name="T38" fmla="*/ 1533 w 3262"/>
              <a:gd name="T39" fmla="*/ 552 h 572"/>
              <a:gd name="T40" fmla="*/ 1407 w 3262"/>
              <a:gd name="T41" fmla="*/ 312 h 572"/>
              <a:gd name="T42" fmla="*/ 1345 w 3262"/>
              <a:gd name="T43" fmla="*/ 270 h 572"/>
              <a:gd name="T44" fmla="*/ 1767 w 3262"/>
              <a:gd name="T45" fmla="*/ 506 h 572"/>
              <a:gd name="T46" fmla="*/ 1756 w 3262"/>
              <a:gd name="T47" fmla="*/ 559 h 572"/>
              <a:gd name="T48" fmla="*/ 1719 w 3262"/>
              <a:gd name="T49" fmla="*/ 157 h 572"/>
              <a:gd name="T50" fmla="*/ 1812 w 3262"/>
              <a:gd name="T51" fmla="*/ 317 h 572"/>
              <a:gd name="T52" fmla="*/ 1767 w 3262"/>
              <a:gd name="T53" fmla="*/ 506 h 572"/>
              <a:gd name="T54" fmla="*/ 2043 w 3262"/>
              <a:gd name="T55" fmla="*/ 552 h 572"/>
              <a:gd name="T56" fmla="*/ 1836 w 3262"/>
              <a:gd name="T57" fmla="*/ 410 h 572"/>
              <a:gd name="T58" fmla="*/ 2038 w 3262"/>
              <a:gd name="T59" fmla="*/ 488 h 572"/>
              <a:gd name="T60" fmla="*/ 1899 w 3262"/>
              <a:gd name="T61" fmla="*/ 410 h 572"/>
              <a:gd name="T62" fmla="*/ 2418 w 3262"/>
              <a:gd name="T63" fmla="*/ 363 h 572"/>
              <a:gd name="T64" fmla="*/ 2356 w 3262"/>
              <a:gd name="T65" fmla="*/ 373 h 572"/>
              <a:gd name="T66" fmla="*/ 2230 w 3262"/>
              <a:gd name="T67" fmla="*/ 552 h 572"/>
              <a:gd name="T68" fmla="*/ 2281 w 3262"/>
              <a:gd name="T69" fmla="*/ 254 h 572"/>
              <a:gd name="T70" fmla="*/ 2733 w 3262"/>
              <a:gd name="T71" fmla="*/ 552 h 572"/>
              <a:gd name="T72" fmla="*/ 2591 w 3262"/>
              <a:gd name="T73" fmla="*/ 559 h 572"/>
              <a:gd name="T74" fmla="*/ 2671 w 3262"/>
              <a:gd name="T75" fmla="*/ 259 h 572"/>
              <a:gd name="T76" fmla="*/ 2671 w 3262"/>
              <a:gd name="T77" fmla="*/ 487 h 572"/>
              <a:gd name="T78" fmla="*/ 2531 w 3262"/>
              <a:gd name="T79" fmla="*/ 410 h 572"/>
              <a:gd name="T80" fmla="*/ 3045 w 3262"/>
              <a:gd name="T81" fmla="*/ 432 h 572"/>
              <a:gd name="T82" fmla="*/ 3038 w 3262"/>
              <a:gd name="T83" fmla="*/ 485 h 572"/>
              <a:gd name="T84" fmla="*/ 2783 w 3262"/>
              <a:gd name="T85" fmla="*/ 405 h 572"/>
              <a:gd name="T86" fmla="*/ 3045 w 3262"/>
              <a:gd name="T87" fmla="*/ 432 h 572"/>
              <a:gd name="T88" fmla="*/ 2918 w 3262"/>
              <a:gd name="T89" fmla="*/ 306 h 572"/>
              <a:gd name="T90" fmla="*/ 3256 w 3262"/>
              <a:gd name="T91" fmla="*/ 310 h 572"/>
              <a:gd name="T92" fmla="*/ 3164 w 3262"/>
              <a:gd name="T93" fmla="*/ 552 h 572"/>
              <a:gd name="T94" fmla="*/ 3208 w 3262"/>
              <a:gd name="T95" fmla="*/ 254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262" h="572">
                <a:moveTo>
                  <a:pt x="430" y="262"/>
                </a:moveTo>
                <a:cubicBezTo>
                  <a:pt x="429" y="241"/>
                  <a:pt x="424" y="221"/>
                  <a:pt x="413" y="202"/>
                </a:cubicBezTo>
                <a:cubicBezTo>
                  <a:pt x="319" y="39"/>
                  <a:pt x="319" y="39"/>
                  <a:pt x="319" y="39"/>
                </a:cubicBezTo>
                <a:cubicBezTo>
                  <a:pt x="312" y="27"/>
                  <a:pt x="307" y="14"/>
                  <a:pt x="304" y="0"/>
                </a:cubicBezTo>
                <a:cubicBezTo>
                  <a:pt x="300" y="7"/>
                  <a:pt x="300" y="7"/>
                  <a:pt x="300" y="7"/>
                </a:cubicBezTo>
                <a:cubicBezTo>
                  <a:pt x="277" y="47"/>
                  <a:pt x="277" y="97"/>
                  <a:pt x="300" y="137"/>
                </a:cubicBezTo>
                <a:cubicBezTo>
                  <a:pt x="375" y="267"/>
                  <a:pt x="375" y="267"/>
                  <a:pt x="375" y="267"/>
                </a:cubicBezTo>
                <a:cubicBezTo>
                  <a:pt x="399" y="308"/>
                  <a:pt x="399" y="357"/>
                  <a:pt x="375" y="398"/>
                </a:cubicBezTo>
                <a:cubicBezTo>
                  <a:pt x="371" y="405"/>
                  <a:pt x="371" y="405"/>
                  <a:pt x="371" y="405"/>
                </a:cubicBezTo>
                <a:cubicBezTo>
                  <a:pt x="369" y="391"/>
                  <a:pt x="364" y="378"/>
                  <a:pt x="356" y="365"/>
                </a:cubicBezTo>
                <a:cubicBezTo>
                  <a:pt x="288" y="246"/>
                  <a:pt x="288" y="246"/>
                  <a:pt x="288" y="246"/>
                </a:cubicBezTo>
                <a:cubicBezTo>
                  <a:pt x="244" y="170"/>
                  <a:pt x="244" y="170"/>
                  <a:pt x="244" y="170"/>
                </a:cubicBezTo>
                <a:cubicBezTo>
                  <a:pt x="236" y="157"/>
                  <a:pt x="232" y="144"/>
                  <a:pt x="229" y="130"/>
                </a:cubicBezTo>
                <a:cubicBezTo>
                  <a:pt x="225" y="137"/>
                  <a:pt x="225" y="137"/>
                  <a:pt x="225" y="137"/>
                </a:cubicBezTo>
                <a:cubicBezTo>
                  <a:pt x="202" y="177"/>
                  <a:pt x="202" y="227"/>
                  <a:pt x="225" y="267"/>
                </a:cubicBezTo>
                <a:cubicBezTo>
                  <a:pt x="225" y="267"/>
                  <a:pt x="225" y="267"/>
                  <a:pt x="225" y="267"/>
                </a:cubicBezTo>
                <a:cubicBezTo>
                  <a:pt x="300" y="398"/>
                  <a:pt x="300" y="398"/>
                  <a:pt x="300" y="398"/>
                </a:cubicBezTo>
                <a:cubicBezTo>
                  <a:pt x="323" y="438"/>
                  <a:pt x="323" y="488"/>
                  <a:pt x="300" y="528"/>
                </a:cubicBezTo>
                <a:cubicBezTo>
                  <a:pt x="296" y="535"/>
                  <a:pt x="296" y="535"/>
                  <a:pt x="296" y="535"/>
                </a:cubicBezTo>
                <a:cubicBezTo>
                  <a:pt x="293" y="521"/>
                  <a:pt x="288" y="508"/>
                  <a:pt x="281" y="495"/>
                </a:cubicBezTo>
                <a:cubicBezTo>
                  <a:pt x="187" y="333"/>
                  <a:pt x="187" y="333"/>
                  <a:pt x="187" y="333"/>
                </a:cubicBezTo>
                <a:cubicBezTo>
                  <a:pt x="175" y="311"/>
                  <a:pt x="169" y="286"/>
                  <a:pt x="170" y="262"/>
                </a:cubicBezTo>
                <a:cubicBezTo>
                  <a:pt x="69" y="288"/>
                  <a:pt x="0" y="344"/>
                  <a:pt x="0" y="409"/>
                </a:cubicBezTo>
                <a:cubicBezTo>
                  <a:pt x="0" y="499"/>
                  <a:pt x="134" y="572"/>
                  <a:pt x="300" y="572"/>
                </a:cubicBezTo>
                <a:cubicBezTo>
                  <a:pt x="466" y="572"/>
                  <a:pt x="600" y="499"/>
                  <a:pt x="600" y="409"/>
                </a:cubicBezTo>
                <a:cubicBezTo>
                  <a:pt x="600" y="344"/>
                  <a:pt x="531" y="288"/>
                  <a:pt x="430" y="262"/>
                </a:cubicBezTo>
                <a:close/>
                <a:moveTo>
                  <a:pt x="714" y="540"/>
                </a:moveTo>
                <a:cubicBezTo>
                  <a:pt x="715" y="517"/>
                  <a:pt x="718" y="501"/>
                  <a:pt x="725" y="483"/>
                </a:cubicBezTo>
                <a:cubicBezTo>
                  <a:pt x="756" y="498"/>
                  <a:pt x="797" y="505"/>
                  <a:pt x="828" y="505"/>
                </a:cubicBezTo>
                <a:cubicBezTo>
                  <a:pt x="880" y="505"/>
                  <a:pt x="910" y="488"/>
                  <a:pt x="910" y="455"/>
                </a:cubicBezTo>
                <a:cubicBezTo>
                  <a:pt x="910" y="422"/>
                  <a:pt x="888" y="407"/>
                  <a:pt x="835" y="384"/>
                </a:cubicBezTo>
                <a:cubicBezTo>
                  <a:pt x="806" y="371"/>
                  <a:pt x="806" y="371"/>
                  <a:pt x="806" y="371"/>
                </a:cubicBezTo>
                <a:cubicBezTo>
                  <a:pt x="753" y="348"/>
                  <a:pt x="717" y="318"/>
                  <a:pt x="717" y="258"/>
                </a:cubicBezTo>
                <a:cubicBezTo>
                  <a:pt x="717" y="194"/>
                  <a:pt x="762" y="153"/>
                  <a:pt x="853" y="153"/>
                </a:cubicBezTo>
                <a:cubicBezTo>
                  <a:pt x="890" y="153"/>
                  <a:pt x="924" y="158"/>
                  <a:pt x="956" y="169"/>
                </a:cubicBezTo>
                <a:cubicBezTo>
                  <a:pt x="955" y="192"/>
                  <a:pt x="951" y="209"/>
                  <a:pt x="945" y="226"/>
                </a:cubicBezTo>
                <a:cubicBezTo>
                  <a:pt x="915" y="214"/>
                  <a:pt x="879" y="209"/>
                  <a:pt x="853" y="209"/>
                </a:cubicBezTo>
                <a:cubicBezTo>
                  <a:pt x="804" y="209"/>
                  <a:pt x="781" y="228"/>
                  <a:pt x="781" y="258"/>
                </a:cubicBezTo>
                <a:cubicBezTo>
                  <a:pt x="781" y="288"/>
                  <a:pt x="803" y="305"/>
                  <a:pt x="842" y="322"/>
                </a:cubicBezTo>
                <a:cubicBezTo>
                  <a:pt x="873" y="335"/>
                  <a:pt x="873" y="335"/>
                  <a:pt x="873" y="335"/>
                </a:cubicBezTo>
                <a:cubicBezTo>
                  <a:pt x="945" y="365"/>
                  <a:pt x="974" y="397"/>
                  <a:pt x="974" y="452"/>
                </a:cubicBezTo>
                <a:cubicBezTo>
                  <a:pt x="974" y="517"/>
                  <a:pt x="925" y="561"/>
                  <a:pt x="829" y="561"/>
                </a:cubicBezTo>
                <a:cubicBezTo>
                  <a:pt x="783" y="561"/>
                  <a:pt x="745" y="555"/>
                  <a:pt x="714" y="540"/>
                </a:cubicBezTo>
                <a:close/>
                <a:moveTo>
                  <a:pt x="1277" y="270"/>
                </a:moveTo>
                <a:cubicBezTo>
                  <a:pt x="1277" y="552"/>
                  <a:pt x="1277" y="552"/>
                  <a:pt x="1277" y="552"/>
                </a:cubicBezTo>
                <a:cubicBezTo>
                  <a:pt x="1220" y="552"/>
                  <a:pt x="1220" y="552"/>
                  <a:pt x="1220" y="552"/>
                </a:cubicBezTo>
                <a:cubicBezTo>
                  <a:pt x="1217" y="518"/>
                  <a:pt x="1217" y="518"/>
                  <a:pt x="1217" y="518"/>
                </a:cubicBezTo>
                <a:cubicBezTo>
                  <a:pt x="1201" y="543"/>
                  <a:pt x="1177" y="559"/>
                  <a:pt x="1138" y="559"/>
                </a:cubicBezTo>
                <a:cubicBezTo>
                  <a:pt x="1063" y="559"/>
                  <a:pt x="1013" y="505"/>
                  <a:pt x="1013" y="410"/>
                </a:cubicBezTo>
                <a:cubicBezTo>
                  <a:pt x="1013" y="311"/>
                  <a:pt x="1066" y="254"/>
                  <a:pt x="1171" y="254"/>
                </a:cubicBezTo>
                <a:cubicBezTo>
                  <a:pt x="1211" y="254"/>
                  <a:pt x="1245" y="259"/>
                  <a:pt x="1277" y="270"/>
                </a:cubicBezTo>
                <a:close/>
                <a:moveTo>
                  <a:pt x="1215" y="488"/>
                </a:moveTo>
                <a:cubicBezTo>
                  <a:pt x="1215" y="311"/>
                  <a:pt x="1215" y="311"/>
                  <a:pt x="1215" y="311"/>
                </a:cubicBezTo>
                <a:cubicBezTo>
                  <a:pt x="1202" y="309"/>
                  <a:pt x="1188" y="307"/>
                  <a:pt x="1171" y="307"/>
                </a:cubicBezTo>
                <a:cubicBezTo>
                  <a:pt x="1107" y="307"/>
                  <a:pt x="1077" y="347"/>
                  <a:pt x="1077" y="410"/>
                </a:cubicBezTo>
                <a:cubicBezTo>
                  <a:pt x="1077" y="468"/>
                  <a:pt x="1100" y="508"/>
                  <a:pt x="1155" y="508"/>
                </a:cubicBezTo>
                <a:cubicBezTo>
                  <a:pt x="1179" y="508"/>
                  <a:pt x="1199" y="500"/>
                  <a:pt x="1215" y="488"/>
                </a:cubicBezTo>
                <a:close/>
                <a:moveTo>
                  <a:pt x="1595" y="363"/>
                </a:moveTo>
                <a:cubicBezTo>
                  <a:pt x="1595" y="552"/>
                  <a:pt x="1595" y="552"/>
                  <a:pt x="1595" y="552"/>
                </a:cubicBezTo>
                <a:cubicBezTo>
                  <a:pt x="1533" y="552"/>
                  <a:pt x="1533" y="552"/>
                  <a:pt x="1533" y="552"/>
                </a:cubicBezTo>
                <a:cubicBezTo>
                  <a:pt x="1533" y="373"/>
                  <a:pt x="1533" y="373"/>
                  <a:pt x="1533" y="373"/>
                </a:cubicBezTo>
                <a:cubicBezTo>
                  <a:pt x="1533" y="329"/>
                  <a:pt x="1518" y="307"/>
                  <a:pt x="1456" y="307"/>
                </a:cubicBezTo>
                <a:cubicBezTo>
                  <a:pt x="1442" y="307"/>
                  <a:pt x="1424" y="309"/>
                  <a:pt x="1407" y="312"/>
                </a:cubicBezTo>
                <a:cubicBezTo>
                  <a:pt x="1407" y="552"/>
                  <a:pt x="1407" y="552"/>
                  <a:pt x="1407" y="552"/>
                </a:cubicBezTo>
                <a:cubicBezTo>
                  <a:pt x="1345" y="552"/>
                  <a:pt x="1345" y="552"/>
                  <a:pt x="1345" y="552"/>
                </a:cubicBezTo>
                <a:cubicBezTo>
                  <a:pt x="1345" y="270"/>
                  <a:pt x="1345" y="270"/>
                  <a:pt x="1345" y="270"/>
                </a:cubicBezTo>
                <a:cubicBezTo>
                  <a:pt x="1385" y="261"/>
                  <a:pt x="1428" y="254"/>
                  <a:pt x="1458" y="254"/>
                </a:cubicBezTo>
                <a:cubicBezTo>
                  <a:pt x="1562" y="254"/>
                  <a:pt x="1595" y="294"/>
                  <a:pt x="1595" y="363"/>
                </a:cubicBezTo>
                <a:close/>
                <a:moveTo>
                  <a:pt x="1767" y="506"/>
                </a:moveTo>
                <a:cubicBezTo>
                  <a:pt x="1785" y="506"/>
                  <a:pt x="1802" y="503"/>
                  <a:pt x="1816" y="498"/>
                </a:cubicBezTo>
                <a:cubicBezTo>
                  <a:pt x="1814" y="515"/>
                  <a:pt x="1812" y="534"/>
                  <a:pt x="1808" y="550"/>
                </a:cubicBezTo>
                <a:cubicBezTo>
                  <a:pt x="1791" y="557"/>
                  <a:pt x="1773" y="559"/>
                  <a:pt x="1756" y="559"/>
                </a:cubicBezTo>
                <a:cubicBezTo>
                  <a:pt x="1696" y="559"/>
                  <a:pt x="1657" y="531"/>
                  <a:pt x="1657" y="463"/>
                </a:cubicBezTo>
                <a:cubicBezTo>
                  <a:pt x="1657" y="166"/>
                  <a:pt x="1657" y="166"/>
                  <a:pt x="1657" y="166"/>
                </a:cubicBezTo>
                <a:cubicBezTo>
                  <a:pt x="1676" y="160"/>
                  <a:pt x="1700" y="157"/>
                  <a:pt x="1719" y="157"/>
                </a:cubicBezTo>
                <a:cubicBezTo>
                  <a:pt x="1719" y="264"/>
                  <a:pt x="1719" y="264"/>
                  <a:pt x="1719" y="264"/>
                </a:cubicBezTo>
                <a:cubicBezTo>
                  <a:pt x="1817" y="264"/>
                  <a:pt x="1817" y="264"/>
                  <a:pt x="1817" y="264"/>
                </a:cubicBezTo>
                <a:cubicBezTo>
                  <a:pt x="1816" y="283"/>
                  <a:pt x="1815" y="301"/>
                  <a:pt x="1812" y="317"/>
                </a:cubicBezTo>
                <a:cubicBezTo>
                  <a:pt x="1719" y="317"/>
                  <a:pt x="1719" y="317"/>
                  <a:pt x="1719" y="317"/>
                </a:cubicBezTo>
                <a:cubicBezTo>
                  <a:pt x="1719" y="455"/>
                  <a:pt x="1719" y="455"/>
                  <a:pt x="1719" y="455"/>
                </a:cubicBezTo>
                <a:cubicBezTo>
                  <a:pt x="1719" y="492"/>
                  <a:pt x="1737" y="506"/>
                  <a:pt x="1767" y="506"/>
                </a:cubicBezTo>
                <a:close/>
                <a:moveTo>
                  <a:pt x="2100" y="270"/>
                </a:moveTo>
                <a:cubicBezTo>
                  <a:pt x="2100" y="552"/>
                  <a:pt x="2100" y="552"/>
                  <a:pt x="2100" y="552"/>
                </a:cubicBezTo>
                <a:cubicBezTo>
                  <a:pt x="2043" y="552"/>
                  <a:pt x="2043" y="552"/>
                  <a:pt x="2043" y="552"/>
                </a:cubicBezTo>
                <a:cubicBezTo>
                  <a:pt x="2040" y="518"/>
                  <a:pt x="2040" y="518"/>
                  <a:pt x="2040" y="518"/>
                </a:cubicBezTo>
                <a:cubicBezTo>
                  <a:pt x="2024" y="543"/>
                  <a:pt x="2000" y="559"/>
                  <a:pt x="1960" y="559"/>
                </a:cubicBezTo>
                <a:cubicBezTo>
                  <a:pt x="1886" y="559"/>
                  <a:pt x="1836" y="505"/>
                  <a:pt x="1836" y="410"/>
                </a:cubicBezTo>
                <a:cubicBezTo>
                  <a:pt x="1836" y="311"/>
                  <a:pt x="1889" y="254"/>
                  <a:pt x="1993" y="254"/>
                </a:cubicBezTo>
                <a:cubicBezTo>
                  <a:pt x="2034" y="254"/>
                  <a:pt x="2067" y="259"/>
                  <a:pt x="2100" y="270"/>
                </a:cubicBezTo>
                <a:close/>
                <a:moveTo>
                  <a:pt x="2038" y="488"/>
                </a:moveTo>
                <a:cubicBezTo>
                  <a:pt x="2038" y="311"/>
                  <a:pt x="2038" y="311"/>
                  <a:pt x="2038" y="311"/>
                </a:cubicBezTo>
                <a:cubicBezTo>
                  <a:pt x="2025" y="309"/>
                  <a:pt x="2011" y="307"/>
                  <a:pt x="1993" y="307"/>
                </a:cubicBezTo>
                <a:cubicBezTo>
                  <a:pt x="1929" y="307"/>
                  <a:pt x="1899" y="347"/>
                  <a:pt x="1899" y="410"/>
                </a:cubicBezTo>
                <a:cubicBezTo>
                  <a:pt x="1899" y="468"/>
                  <a:pt x="1922" y="508"/>
                  <a:pt x="1978" y="508"/>
                </a:cubicBezTo>
                <a:cubicBezTo>
                  <a:pt x="2002" y="508"/>
                  <a:pt x="2022" y="500"/>
                  <a:pt x="2038" y="488"/>
                </a:cubicBezTo>
                <a:close/>
                <a:moveTo>
                  <a:pt x="2418" y="363"/>
                </a:moveTo>
                <a:cubicBezTo>
                  <a:pt x="2418" y="552"/>
                  <a:pt x="2418" y="552"/>
                  <a:pt x="2418" y="552"/>
                </a:cubicBezTo>
                <a:cubicBezTo>
                  <a:pt x="2356" y="552"/>
                  <a:pt x="2356" y="552"/>
                  <a:pt x="2356" y="552"/>
                </a:cubicBezTo>
                <a:cubicBezTo>
                  <a:pt x="2356" y="373"/>
                  <a:pt x="2356" y="373"/>
                  <a:pt x="2356" y="373"/>
                </a:cubicBezTo>
                <a:cubicBezTo>
                  <a:pt x="2356" y="329"/>
                  <a:pt x="2341" y="307"/>
                  <a:pt x="2279" y="307"/>
                </a:cubicBezTo>
                <a:cubicBezTo>
                  <a:pt x="2264" y="307"/>
                  <a:pt x="2247" y="309"/>
                  <a:pt x="2230" y="312"/>
                </a:cubicBezTo>
                <a:cubicBezTo>
                  <a:pt x="2230" y="552"/>
                  <a:pt x="2230" y="552"/>
                  <a:pt x="2230" y="552"/>
                </a:cubicBezTo>
                <a:cubicBezTo>
                  <a:pt x="2168" y="552"/>
                  <a:pt x="2168" y="552"/>
                  <a:pt x="2168" y="552"/>
                </a:cubicBezTo>
                <a:cubicBezTo>
                  <a:pt x="2168" y="270"/>
                  <a:pt x="2168" y="270"/>
                  <a:pt x="2168" y="270"/>
                </a:cubicBezTo>
                <a:cubicBezTo>
                  <a:pt x="2207" y="261"/>
                  <a:pt x="2251" y="254"/>
                  <a:pt x="2281" y="254"/>
                </a:cubicBezTo>
                <a:cubicBezTo>
                  <a:pt x="2384" y="254"/>
                  <a:pt x="2418" y="294"/>
                  <a:pt x="2418" y="363"/>
                </a:cubicBezTo>
                <a:close/>
                <a:moveTo>
                  <a:pt x="2733" y="157"/>
                </a:moveTo>
                <a:cubicBezTo>
                  <a:pt x="2733" y="552"/>
                  <a:pt x="2733" y="552"/>
                  <a:pt x="2733" y="552"/>
                </a:cubicBezTo>
                <a:cubicBezTo>
                  <a:pt x="2676" y="552"/>
                  <a:pt x="2676" y="552"/>
                  <a:pt x="2676" y="552"/>
                </a:cubicBezTo>
                <a:cubicBezTo>
                  <a:pt x="2672" y="516"/>
                  <a:pt x="2672" y="516"/>
                  <a:pt x="2672" y="516"/>
                </a:cubicBezTo>
                <a:cubicBezTo>
                  <a:pt x="2656" y="543"/>
                  <a:pt x="2632" y="559"/>
                  <a:pt x="2591" y="559"/>
                </a:cubicBezTo>
                <a:cubicBezTo>
                  <a:pt x="2517" y="559"/>
                  <a:pt x="2467" y="505"/>
                  <a:pt x="2467" y="410"/>
                </a:cubicBezTo>
                <a:cubicBezTo>
                  <a:pt x="2467" y="311"/>
                  <a:pt x="2520" y="254"/>
                  <a:pt x="2625" y="254"/>
                </a:cubicBezTo>
                <a:cubicBezTo>
                  <a:pt x="2641" y="254"/>
                  <a:pt x="2656" y="256"/>
                  <a:pt x="2671" y="259"/>
                </a:cubicBezTo>
                <a:cubicBezTo>
                  <a:pt x="2671" y="166"/>
                  <a:pt x="2671" y="166"/>
                  <a:pt x="2671" y="166"/>
                </a:cubicBezTo>
                <a:cubicBezTo>
                  <a:pt x="2690" y="159"/>
                  <a:pt x="2712" y="157"/>
                  <a:pt x="2733" y="157"/>
                </a:cubicBezTo>
                <a:close/>
                <a:moveTo>
                  <a:pt x="2671" y="487"/>
                </a:moveTo>
                <a:cubicBezTo>
                  <a:pt x="2671" y="313"/>
                  <a:pt x="2671" y="313"/>
                  <a:pt x="2671" y="313"/>
                </a:cubicBezTo>
                <a:cubicBezTo>
                  <a:pt x="2655" y="310"/>
                  <a:pt x="2638" y="307"/>
                  <a:pt x="2621" y="307"/>
                </a:cubicBezTo>
                <a:cubicBezTo>
                  <a:pt x="2560" y="307"/>
                  <a:pt x="2531" y="346"/>
                  <a:pt x="2531" y="410"/>
                </a:cubicBezTo>
                <a:cubicBezTo>
                  <a:pt x="2531" y="468"/>
                  <a:pt x="2554" y="508"/>
                  <a:pt x="2609" y="508"/>
                </a:cubicBezTo>
                <a:cubicBezTo>
                  <a:pt x="2634" y="508"/>
                  <a:pt x="2654" y="500"/>
                  <a:pt x="2671" y="487"/>
                </a:cubicBezTo>
                <a:close/>
                <a:moveTo>
                  <a:pt x="3045" y="432"/>
                </a:moveTo>
                <a:cubicBezTo>
                  <a:pt x="2847" y="432"/>
                  <a:pt x="2847" y="432"/>
                  <a:pt x="2847" y="432"/>
                </a:cubicBezTo>
                <a:cubicBezTo>
                  <a:pt x="2854" y="482"/>
                  <a:pt x="2884" y="506"/>
                  <a:pt x="2939" y="506"/>
                </a:cubicBezTo>
                <a:cubicBezTo>
                  <a:pt x="2973" y="506"/>
                  <a:pt x="3007" y="499"/>
                  <a:pt x="3038" y="485"/>
                </a:cubicBezTo>
                <a:cubicBezTo>
                  <a:pt x="3036" y="501"/>
                  <a:pt x="3033" y="522"/>
                  <a:pt x="3029" y="541"/>
                </a:cubicBezTo>
                <a:cubicBezTo>
                  <a:pt x="3001" y="554"/>
                  <a:pt x="2971" y="559"/>
                  <a:pt x="2937" y="559"/>
                </a:cubicBezTo>
                <a:cubicBezTo>
                  <a:pt x="2834" y="559"/>
                  <a:pt x="2783" y="502"/>
                  <a:pt x="2783" y="405"/>
                </a:cubicBezTo>
                <a:cubicBezTo>
                  <a:pt x="2783" y="321"/>
                  <a:pt x="2822" y="254"/>
                  <a:pt x="2921" y="254"/>
                </a:cubicBezTo>
                <a:cubicBezTo>
                  <a:pt x="3010" y="254"/>
                  <a:pt x="3048" y="313"/>
                  <a:pt x="3048" y="384"/>
                </a:cubicBezTo>
                <a:cubicBezTo>
                  <a:pt x="3048" y="401"/>
                  <a:pt x="3047" y="415"/>
                  <a:pt x="3045" y="432"/>
                </a:cubicBezTo>
                <a:close/>
                <a:moveTo>
                  <a:pt x="2845" y="380"/>
                </a:moveTo>
                <a:cubicBezTo>
                  <a:pt x="2985" y="380"/>
                  <a:pt x="2985" y="380"/>
                  <a:pt x="2985" y="380"/>
                </a:cubicBezTo>
                <a:cubicBezTo>
                  <a:pt x="2985" y="333"/>
                  <a:pt x="2960" y="306"/>
                  <a:pt x="2918" y="306"/>
                </a:cubicBezTo>
                <a:cubicBezTo>
                  <a:pt x="2874" y="306"/>
                  <a:pt x="2850" y="332"/>
                  <a:pt x="2845" y="380"/>
                </a:cubicBezTo>
                <a:close/>
                <a:moveTo>
                  <a:pt x="3262" y="257"/>
                </a:moveTo>
                <a:cubicBezTo>
                  <a:pt x="3262" y="275"/>
                  <a:pt x="3260" y="298"/>
                  <a:pt x="3256" y="310"/>
                </a:cubicBezTo>
                <a:cubicBezTo>
                  <a:pt x="3241" y="308"/>
                  <a:pt x="3227" y="307"/>
                  <a:pt x="3209" y="307"/>
                </a:cubicBezTo>
                <a:cubicBezTo>
                  <a:pt x="3194" y="307"/>
                  <a:pt x="3179" y="309"/>
                  <a:pt x="3164" y="311"/>
                </a:cubicBezTo>
                <a:cubicBezTo>
                  <a:pt x="3164" y="552"/>
                  <a:pt x="3164" y="552"/>
                  <a:pt x="3164" y="552"/>
                </a:cubicBezTo>
                <a:cubicBezTo>
                  <a:pt x="3102" y="552"/>
                  <a:pt x="3102" y="552"/>
                  <a:pt x="3102" y="552"/>
                </a:cubicBezTo>
                <a:cubicBezTo>
                  <a:pt x="3102" y="270"/>
                  <a:pt x="3102" y="270"/>
                  <a:pt x="3102" y="270"/>
                </a:cubicBezTo>
                <a:cubicBezTo>
                  <a:pt x="3128" y="261"/>
                  <a:pt x="3173" y="254"/>
                  <a:pt x="3208" y="254"/>
                </a:cubicBezTo>
                <a:cubicBezTo>
                  <a:pt x="3227" y="254"/>
                  <a:pt x="3248" y="255"/>
                  <a:pt x="3262" y="257"/>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solidFill>
                <a:prstClr val="black"/>
              </a:solidFill>
            </a:endParaRPr>
          </a:p>
        </p:txBody>
      </p:sp>
    </p:spTree>
    <p:extLst>
      <p:ext uri="{BB962C8B-B14F-4D97-AF65-F5344CB8AC3E}">
        <p14:creationId xmlns:p14="http://schemas.microsoft.com/office/powerpoint/2010/main" val="4160480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ank you - Contact ">
    <p:spTree>
      <p:nvGrpSpPr>
        <p:cNvPr id="1" name=""/>
        <p:cNvGrpSpPr/>
        <p:nvPr/>
      </p:nvGrpSpPr>
      <p:grpSpPr>
        <a:xfrm>
          <a:off x="0" y="0"/>
          <a:ext cx="0" cy="0"/>
          <a:chOff x="0" y="0"/>
          <a:chExt cx="0" cy="0"/>
        </a:xfrm>
      </p:grpSpPr>
      <p:graphicFrame>
        <p:nvGraphicFramePr>
          <p:cNvPr id="2" name="Objeto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2" name="Objeto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Forma libre: forma 18">
            <a:extLst>
              <a:ext uri="{FF2B5EF4-FFF2-40B4-BE49-F238E27FC236}">
                <a16:creationId xmlns:a16="http://schemas.microsoft.com/office/drawing/2014/main" id="{B61CF4CC-ED27-4967-A11A-B838DFD4D9A3}"/>
              </a:ext>
            </a:extLst>
          </p:cNvPr>
          <p:cNvSpPr/>
          <p:nvPr userDrawn="1"/>
        </p:nvSpPr>
        <p:spPr>
          <a:xfrm>
            <a:off x="0" y="5229922"/>
            <a:ext cx="12192000" cy="1628078"/>
          </a:xfrm>
          <a:custGeom>
            <a:avLst/>
            <a:gdLst>
              <a:gd name="connsiteX0" fmla="*/ 8943278 w 12192000"/>
              <a:gd name="connsiteY0" fmla="*/ 0 h 1628078"/>
              <a:gd name="connsiteX1" fmla="*/ 12192000 w 12192000"/>
              <a:gd name="connsiteY1" fmla="*/ 0 h 1628078"/>
              <a:gd name="connsiteX2" fmla="*/ 12192000 w 12192000"/>
              <a:gd name="connsiteY2" fmla="*/ 1628078 h 1628078"/>
              <a:gd name="connsiteX3" fmla="*/ 0 w 12192000"/>
              <a:gd name="connsiteY3" fmla="*/ 1628078 h 1628078"/>
              <a:gd name="connsiteX4" fmla="*/ 0 w 12192000"/>
              <a:gd name="connsiteY4" fmla="*/ 1226634 h 1628078"/>
              <a:gd name="connsiteX5" fmla="*/ 8943278 w 12192000"/>
              <a:gd name="connsiteY5" fmla="*/ 1226634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1628078">
                <a:moveTo>
                  <a:pt x="8943278" y="0"/>
                </a:moveTo>
                <a:lnTo>
                  <a:pt x="12192000" y="0"/>
                </a:lnTo>
                <a:lnTo>
                  <a:pt x="12192000" y="1628078"/>
                </a:lnTo>
                <a:lnTo>
                  <a:pt x="0" y="1628078"/>
                </a:lnTo>
                <a:lnTo>
                  <a:pt x="0" y="1226634"/>
                </a:lnTo>
                <a:lnTo>
                  <a:pt x="8943278" y="1226634"/>
                </a:lnTo>
                <a:close/>
              </a:path>
            </a:pathLst>
          </a:cu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rgbClr val="FFFFFF"/>
              </a:solidFill>
            </a:endParaRPr>
          </a:p>
        </p:txBody>
      </p:sp>
      <p:pic>
        <p:nvPicPr>
          <p:cNvPr id="1026" name="Picture 2" descr="Resultado de imagen de DJSI Member Log">
            <a:extLst>
              <a:ext uri="{FF2B5EF4-FFF2-40B4-BE49-F238E27FC236}">
                <a16:creationId xmlns:a16="http://schemas.microsoft.com/office/drawing/2014/main" id="{892B8B9E-DEBC-4365-A4A8-EB9654BA3099}"/>
              </a:ext>
            </a:extLst>
          </p:cNvPr>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5796918" y="5573143"/>
            <a:ext cx="1347482" cy="455449"/>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upo 19">
            <a:extLst>
              <a:ext uri="{FF2B5EF4-FFF2-40B4-BE49-F238E27FC236}">
                <a16:creationId xmlns:a16="http://schemas.microsoft.com/office/drawing/2014/main" id="{246620ED-93B0-4966-8E36-4B883B49E634}"/>
              </a:ext>
            </a:extLst>
          </p:cNvPr>
          <p:cNvGrpSpPr/>
          <p:nvPr userDrawn="1"/>
        </p:nvGrpSpPr>
        <p:grpSpPr>
          <a:xfrm>
            <a:off x="7612559" y="5573576"/>
            <a:ext cx="578707" cy="455017"/>
            <a:chOff x="2203451" y="-4230356"/>
            <a:chExt cx="6896100" cy="5422158"/>
          </a:xfrm>
        </p:grpSpPr>
        <p:pic>
          <p:nvPicPr>
            <p:cNvPr id="22" name="Imagen 21" descr="Imagen relacionada">
              <a:extLst>
                <a:ext uri="{FF2B5EF4-FFF2-40B4-BE49-F238E27FC236}">
                  <a16:creationId xmlns:a16="http://schemas.microsoft.com/office/drawing/2014/main" id="{E4D48186-AF8E-4052-97D2-CCAFD0E1AC76}"/>
                </a:ext>
              </a:extLst>
            </p:cNvPr>
            <p:cNvPicPr>
              <a:picLocks noChangeAspect="1" noChangeArrowheads="1"/>
            </p:cNvPicPr>
            <p:nvPr userDrawn="1"/>
          </p:nvPicPr>
          <p:blipFill>
            <a:blip r:embed="rId6" cstate="print">
              <a:extLst>
                <a:ext uri="{28A0092B-C50C-407E-A947-70E740481C1C}">
                  <a14:useLocalDpi xmlns:a14="http://schemas.microsoft.com/office/drawing/2010/main" val="0"/>
                </a:ext>
              </a:extLst>
            </a:blip>
            <a:srcRect l="22544" t="3352" r="22378" b="28229"/>
            <a:stretch>
              <a:fillRect/>
            </a:stretch>
          </p:blipFill>
          <p:spPr bwMode="auto">
            <a:xfrm>
              <a:off x="3758085" y="-4230356"/>
              <a:ext cx="3798276" cy="3838472"/>
            </a:xfrm>
            <a:custGeom>
              <a:avLst/>
              <a:gdLst>
                <a:gd name="connsiteX0" fmla="*/ 1899138 w 3798276"/>
                <a:gd name="connsiteY0" fmla="*/ 0 h 3838472"/>
                <a:gd name="connsiteX1" fmla="*/ 3798276 w 3798276"/>
                <a:gd name="connsiteY1" fmla="*/ 1919236 h 3838472"/>
                <a:gd name="connsiteX2" fmla="*/ 1899138 w 3798276"/>
                <a:gd name="connsiteY2" fmla="*/ 3838472 h 3838472"/>
                <a:gd name="connsiteX3" fmla="*/ 0 w 3798276"/>
                <a:gd name="connsiteY3" fmla="*/ 1919236 h 3838472"/>
                <a:gd name="connsiteX4" fmla="*/ 1899138 w 3798276"/>
                <a:gd name="connsiteY4" fmla="*/ 0 h 3838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8276" h="3838472">
                  <a:moveTo>
                    <a:pt x="1899138" y="0"/>
                  </a:moveTo>
                  <a:cubicBezTo>
                    <a:pt x="2948003" y="0"/>
                    <a:pt x="3798276" y="859271"/>
                    <a:pt x="3798276" y="1919236"/>
                  </a:cubicBezTo>
                  <a:cubicBezTo>
                    <a:pt x="3798276" y="2979201"/>
                    <a:pt x="2948003" y="3838472"/>
                    <a:pt x="1899138" y="3838472"/>
                  </a:cubicBezTo>
                  <a:cubicBezTo>
                    <a:pt x="850273" y="3838472"/>
                    <a:pt x="0" y="2979201"/>
                    <a:pt x="0" y="1919236"/>
                  </a:cubicBezTo>
                  <a:cubicBezTo>
                    <a:pt x="0" y="859271"/>
                    <a:pt x="850273" y="0"/>
                    <a:pt x="1899138" y="0"/>
                  </a:cubicBezTo>
                  <a:close/>
                </a:path>
              </a:pathLst>
            </a:custGeom>
            <a:noFill/>
            <a:extLst>
              <a:ext uri="{909E8E84-426E-40DD-AFC4-6F175D3DCCD1}">
                <a14:hiddenFill xmlns:a14="http://schemas.microsoft.com/office/drawing/2010/main">
                  <a:solidFill>
                    <a:srgbClr val="FFFFFF"/>
                  </a:solidFill>
                </a14:hiddenFill>
              </a:ext>
            </a:extLst>
          </p:spPr>
        </p:pic>
        <p:pic>
          <p:nvPicPr>
            <p:cNvPr id="24" name="Imagen 23" descr="Imagen relacionada">
              <a:extLst>
                <a:ext uri="{FF2B5EF4-FFF2-40B4-BE49-F238E27FC236}">
                  <a16:creationId xmlns:a16="http://schemas.microsoft.com/office/drawing/2014/main" id="{411507B2-E393-4DDC-B151-70751F9943CB}"/>
                </a:ext>
              </a:extLst>
            </p:cNvPr>
            <p:cNvPicPr>
              <a:picLocks noChangeAspect="1" noChangeArrowheads="1"/>
            </p:cNvPicPr>
            <p:nvPr userDrawn="1"/>
          </p:nvPicPr>
          <p:blipFill>
            <a:blip r:embed="rId6" cstate="print">
              <a:extLst>
                <a:ext uri="{28A0092B-C50C-407E-A947-70E740481C1C}">
                  <a14:useLocalDpi xmlns:a14="http://schemas.microsoft.com/office/drawing/2010/main" val="0"/>
                </a:ext>
              </a:extLst>
            </a:blip>
            <a:srcRect t="78757"/>
            <a:stretch>
              <a:fillRect/>
            </a:stretch>
          </p:blipFill>
          <p:spPr bwMode="auto">
            <a:xfrm>
              <a:off x="2203451" y="0"/>
              <a:ext cx="6896100" cy="1191802"/>
            </a:xfrm>
            <a:custGeom>
              <a:avLst/>
              <a:gdLst>
                <a:gd name="connsiteX0" fmla="*/ 0 w 6896100"/>
                <a:gd name="connsiteY0" fmla="*/ 0 h 1191802"/>
                <a:gd name="connsiteX1" fmla="*/ 6896100 w 6896100"/>
                <a:gd name="connsiteY1" fmla="*/ 0 h 1191802"/>
                <a:gd name="connsiteX2" fmla="*/ 6896100 w 6896100"/>
                <a:gd name="connsiteY2" fmla="*/ 1191802 h 1191802"/>
                <a:gd name="connsiteX3" fmla="*/ 0 w 6896100"/>
                <a:gd name="connsiteY3" fmla="*/ 1191802 h 1191802"/>
              </a:gdLst>
              <a:ahLst/>
              <a:cxnLst>
                <a:cxn ang="0">
                  <a:pos x="connsiteX0" y="connsiteY0"/>
                </a:cxn>
                <a:cxn ang="0">
                  <a:pos x="connsiteX1" y="connsiteY1"/>
                </a:cxn>
                <a:cxn ang="0">
                  <a:pos x="connsiteX2" y="connsiteY2"/>
                </a:cxn>
                <a:cxn ang="0">
                  <a:pos x="connsiteX3" y="connsiteY3"/>
                </a:cxn>
              </a:cxnLst>
              <a:rect l="l" t="t" r="r" b="b"/>
              <a:pathLst>
                <a:path w="6896100" h="1191802">
                  <a:moveTo>
                    <a:pt x="0" y="0"/>
                  </a:moveTo>
                  <a:lnTo>
                    <a:pt x="6896100" y="0"/>
                  </a:lnTo>
                  <a:lnTo>
                    <a:pt x="6896100" y="1191802"/>
                  </a:lnTo>
                  <a:lnTo>
                    <a:pt x="0" y="1191802"/>
                  </a:lnTo>
                  <a:close/>
                </a:path>
              </a:pathLst>
            </a:custGeom>
            <a:noFill/>
            <a:extLst>
              <a:ext uri="{909E8E84-426E-40DD-AFC4-6F175D3DCCD1}">
                <a14:hiddenFill xmlns:a14="http://schemas.microsoft.com/office/drawing/2010/main">
                  <a:solidFill>
                    <a:srgbClr val="FFFFFF"/>
                  </a:solidFill>
                </a14:hiddenFill>
              </a:ext>
            </a:extLst>
          </p:spPr>
        </p:pic>
      </p:grpSp>
      <p:sp>
        <p:nvSpPr>
          <p:cNvPr id="28" name="CuadroTexto 27">
            <a:extLst>
              <a:ext uri="{FF2B5EF4-FFF2-40B4-BE49-F238E27FC236}">
                <a16:creationId xmlns:a16="http://schemas.microsoft.com/office/drawing/2014/main" id="{68E35268-345F-47C7-ADB2-CE92421E8EED}"/>
              </a:ext>
            </a:extLst>
          </p:cNvPr>
          <p:cNvSpPr txBox="1"/>
          <p:nvPr userDrawn="1"/>
        </p:nvSpPr>
        <p:spPr>
          <a:xfrm>
            <a:off x="721506" y="628193"/>
            <a:ext cx="3365478" cy="769441"/>
          </a:xfrm>
          <a:prstGeom prst="rect">
            <a:avLst/>
          </a:prstGeom>
          <a:noFill/>
        </p:spPr>
        <p:txBody>
          <a:bodyPr wrap="square" rtlCol="0">
            <a:spAutoFit/>
          </a:bodyPr>
          <a:lstStyle/>
          <a:p>
            <a:r>
              <a:rPr lang="en-GB" sz="4400">
                <a:solidFill>
                  <a:srgbClr val="EC0000"/>
                </a:solidFill>
              </a:rPr>
              <a:t>Thank You.</a:t>
            </a:r>
          </a:p>
        </p:txBody>
      </p:sp>
      <p:sp>
        <p:nvSpPr>
          <p:cNvPr id="31" name="Forma libre: forma 30">
            <a:extLst>
              <a:ext uri="{FF2B5EF4-FFF2-40B4-BE49-F238E27FC236}">
                <a16:creationId xmlns:a16="http://schemas.microsoft.com/office/drawing/2014/main" id="{073BDF73-2FC7-4E8C-B95B-B68B9F5D3BE9}"/>
              </a:ext>
            </a:extLst>
          </p:cNvPr>
          <p:cNvSpPr/>
          <p:nvPr userDrawn="1"/>
        </p:nvSpPr>
        <p:spPr>
          <a:xfrm>
            <a:off x="0" y="5229922"/>
            <a:ext cx="12196689" cy="1628078"/>
          </a:xfrm>
          <a:custGeom>
            <a:avLst/>
            <a:gdLst>
              <a:gd name="connsiteX0" fmla="*/ 8932985 w 12196689"/>
              <a:gd name="connsiteY0" fmla="*/ 0 h 1628078"/>
              <a:gd name="connsiteX1" fmla="*/ 12196689 w 12196689"/>
              <a:gd name="connsiteY1" fmla="*/ 0 h 1628078"/>
              <a:gd name="connsiteX2" fmla="*/ 12196689 w 12196689"/>
              <a:gd name="connsiteY2" fmla="*/ 1628078 h 1628078"/>
              <a:gd name="connsiteX3" fmla="*/ 0 w 12196689"/>
              <a:gd name="connsiteY3" fmla="*/ 1628078 h 1628078"/>
              <a:gd name="connsiteX4" fmla="*/ 0 w 12196689"/>
              <a:gd name="connsiteY4" fmla="*/ 1213081 h 1628078"/>
              <a:gd name="connsiteX5" fmla="*/ 8932985 w 12196689"/>
              <a:gd name="connsiteY5" fmla="*/ 1213081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6689" h="1628078">
                <a:moveTo>
                  <a:pt x="8932985" y="0"/>
                </a:moveTo>
                <a:lnTo>
                  <a:pt x="12196689" y="0"/>
                </a:lnTo>
                <a:lnTo>
                  <a:pt x="12196689" y="1628078"/>
                </a:lnTo>
                <a:lnTo>
                  <a:pt x="0" y="1628078"/>
                </a:lnTo>
                <a:lnTo>
                  <a:pt x="0" y="1213081"/>
                </a:lnTo>
                <a:lnTo>
                  <a:pt x="8932985" y="121308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a:solidFill>
                <a:srgbClr val="FFFFFF"/>
              </a:solidFill>
            </a:endParaRPr>
          </a:p>
        </p:txBody>
      </p:sp>
      <p:sp>
        <p:nvSpPr>
          <p:cNvPr id="13" name="CuadroTexto 22">
            <a:extLst>
              <a:ext uri="{FF2B5EF4-FFF2-40B4-BE49-F238E27FC236}">
                <a16:creationId xmlns:a16="http://schemas.microsoft.com/office/drawing/2014/main" id="{ED8DE98D-F6CC-430D-8114-C2C3604EE89D}"/>
              </a:ext>
            </a:extLst>
          </p:cNvPr>
          <p:cNvSpPr txBox="1"/>
          <p:nvPr userDrawn="1"/>
        </p:nvSpPr>
        <p:spPr>
          <a:xfrm>
            <a:off x="719288" y="1895911"/>
            <a:ext cx="3365478" cy="1169551"/>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solidFill>
                  <a:srgbClr val="595959"/>
                </a:solidFill>
              </a:rPr>
              <a:t>Our purpose is to help people and businesses prosper.</a:t>
            </a:r>
          </a:p>
          <a:p>
            <a:endParaRPr lang="en-US" sz="1400">
              <a:solidFill>
                <a:srgbClr val="595959"/>
              </a:solidFill>
            </a:endParaRPr>
          </a:p>
          <a:p>
            <a:r>
              <a:rPr lang="en-US" sz="1400">
                <a:solidFill>
                  <a:srgbClr val="595959"/>
                </a:solidFill>
              </a:rPr>
              <a:t>Our culture is based on believing </a:t>
            </a:r>
            <a:br>
              <a:rPr lang="en-US" sz="1400">
                <a:solidFill>
                  <a:srgbClr val="595959"/>
                </a:solidFill>
              </a:rPr>
            </a:br>
            <a:r>
              <a:rPr lang="en-US" sz="1400">
                <a:solidFill>
                  <a:srgbClr val="595959"/>
                </a:solidFill>
              </a:rPr>
              <a:t>that everything we do should be:</a:t>
            </a:r>
          </a:p>
        </p:txBody>
      </p:sp>
      <p:sp>
        <p:nvSpPr>
          <p:cNvPr id="18" name="Freeform 5">
            <a:extLst>
              <a:ext uri="{FF2B5EF4-FFF2-40B4-BE49-F238E27FC236}">
                <a16:creationId xmlns:a16="http://schemas.microsoft.com/office/drawing/2014/main" id="{9CE02EA9-2BA7-4D33-B913-E344024014FE}"/>
              </a:ext>
            </a:extLst>
          </p:cNvPr>
          <p:cNvSpPr>
            <a:spLocks noEditPoints="1"/>
          </p:cNvSpPr>
          <p:nvPr userDrawn="1"/>
        </p:nvSpPr>
        <p:spPr bwMode="auto">
          <a:xfrm>
            <a:off x="822325" y="5727700"/>
            <a:ext cx="1898650" cy="334963"/>
          </a:xfrm>
          <a:custGeom>
            <a:avLst/>
            <a:gdLst>
              <a:gd name="T0" fmla="*/ 319 w 3262"/>
              <a:gd name="T1" fmla="*/ 39 h 572"/>
              <a:gd name="T2" fmla="*/ 300 w 3262"/>
              <a:gd name="T3" fmla="*/ 137 h 572"/>
              <a:gd name="T4" fmla="*/ 371 w 3262"/>
              <a:gd name="T5" fmla="*/ 405 h 572"/>
              <a:gd name="T6" fmla="*/ 244 w 3262"/>
              <a:gd name="T7" fmla="*/ 170 h 572"/>
              <a:gd name="T8" fmla="*/ 225 w 3262"/>
              <a:gd name="T9" fmla="*/ 267 h 572"/>
              <a:gd name="T10" fmla="*/ 300 w 3262"/>
              <a:gd name="T11" fmla="*/ 528 h 572"/>
              <a:gd name="T12" fmla="*/ 187 w 3262"/>
              <a:gd name="T13" fmla="*/ 333 h 572"/>
              <a:gd name="T14" fmla="*/ 300 w 3262"/>
              <a:gd name="T15" fmla="*/ 572 h 572"/>
              <a:gd name="T16" fmla="*/ 714 w 3262"/>
              <a:gd name="T17" fmla="*/ 540 h 572"/>
              <a:gd name="T18" fmla="*/ 910 w 3262"/>
              <a:gd name="T19" fmla="*/ 455 h 572"/>
              <a:gd name="T20" fmla="*/ 717 w 3262"/>
              <a:gd name="T21" fmla="*/ 258 h 572"/>
              <a:gd name="T22" fmla="*/ 945 w 3262"/>
              <a:gd name="T23" fmla="*/ 226 h 572"/>
              <a:gd name="T24" fmla="*/ 842 w 3262"/>
              <a:gd name="T25" fmla="*/ 322 h 572"/>
              <a:gd name="T26" fmla="*/ 829 w 3262"/>
              <a:gd name="T27" fmla="*/ 561 h 572"/>
              <a:gd name="T28" fmla="*/ 1277 w 3262"/>
              <a:gd name="T29" fmla="*/ 552 h 572"/>
              <a:gd name="T30" fmla="*/ 1138 w 3262"/>
              <a:gd name="T31" fmla="*/ 559 h 572"/>
              <a:gd name="T32" fmla="*/ 1277 w 3262"/>
              <a:gd name="T33" fmla="*/ 270 h 572"/>
              <a:gd name="T34" fmla="*/ 1171 w 3262"/>
              <a:gd name="T35" fmla="*/ 307 h 572"/>
              <a:gd name="T36" fmla="*/ 1215 w 3262"/>
              <a:gd name="T37" fmla="*/ 488 h 572"/>
              <a:gd name="T38" fmla="*/ 1533 w 3262"/>
              <a:gd name="T39" fmla="*/ 552 h 572"/>
              <a:gd name="T40" fmla="*/ 1407 w 3262"/>
              <a:gd name="T41" fmla="*/ 312 h 572"/>
              <a:gd name="T42" fmla="*/ 1345 w 3262"/>
              <a:gd name="T43" fmla="*/ 270 h 572"/>
              <a:gd name="T44" fmla="*/ 1767 w 3262"/>
              <a:gd name="T45" fmla="*/ 506 h 572"/>
              <a:gd name="T46" fmla="*/ 1756 w 3262"/>
              <a:gd name="T47" fmla="*/ 559 h 572"/>
              <a:gd name="T48" fmla="*/ 1719 w 3262"/>
              <a:gd name="T49" fmla="*/ 157 h 572"/>
              <a:gd name="T50" fmla="*/ 1812 w 3262"/>
              <a:gd name="T51" fmla="*/ 317 h 572"/>
              <a:gd name="T52" fmla="*/ 1767 w 3262"/>
              <a:gd name="T53" fmla="*/ 506 h 572"/>
              <a:gd name="T54" fmla="*/ 2043 w 3262"/>
              <a:gd name="T55" fmla="*/ 552 h 572"/>
              <a:gd name="T56" fmla="*/ 1836 w 3262"/>
              <a:gd name="T57" fmla="*/ 410 h 572"/>
              <a:gd name="T58" fmla="*/ 2038 w 3262"/>
              <a:gd name="T59" fmla="*/ 488 h 572"/>
              <a:gd name="T60" fmla="*/ 1899 w 3262"/>
              <a:gd name="T61" fmla="*/ 410 h 572"/>
              <a:gd name="T62" fmla="*/ 2418 w 3262"/>
              <a:gd name="T63" fmla="*/ 363 h 572"/>
              <a:gd name="T64" fmla="*/ 2356 w 3262"/>
              <a:gd name="T65" fmla="*/ 373 h 572"/>
              <a:gd name="T66" fmla="*/ 2230 w 3262"/>
              <a:gd name="T67" fmla="*/ 552 h 572"/>
              <a:gd name="T68" fmla="*/ 2281 w 3262"/>
              <a:gd name="T69" fmla="*/ 254 h 572"/>
              <a:gd name="T70" fmla="*/ 2733 w 3262"/>
              <a:gd name="T71" fmla="*/ 552 h 572"/>
              <a:gd name="T72" fmla="*/ 2591 w 3262"/>
              <a:gd name="T73" fmla="*/ 559 h 572"/>
              <a:gd name="T74" fmla="*/ 2671 w 3262"/>
              <a:gd name="T75" fmla="*/ 259 h 572"/>
              <a:gd name="T76" fmla="*/ 2671 w 3262"/>
              <a:gd name="T77" fmla="*/ 487 h 572"/>
              <a:gd name="T78" fmla="*/ 2531 w 3262"/>
              <a:gd name="T79" fmla="*/ 410 h 572"/>
              <a:gd name="T80" fmla="*/ 3045 w 3262"/>
              <a:gd name="T81" fmla="*/ 432 h 572"/>
              <a:gd name="T82" fmla="*/ 3038 w 3262"/>
              <a:gd name="T83" fmla="*/ 485 h 572"/>
              <a:gd name="T84" fmla="*/ 2783 w 3262"/>
              <a:gd name="T85" fmla="*/ 405 h 572"/>
              <a:gd name="T86" fmla="*/ 3045 w 3262"/>
              <a:gd name="T87" fmla="*/ 432 h 572"/>
              <a:gd name="T88" fmla="*/ 2918 w 3262"/>
              <a:gd name="T89" fmla="*/ 306 h 572"/>
              <a:gd name="T90" fmla="*/ 3256 w 3262"/>
              <a:gd name="T91" fmla="*/ 310 h 572"/>
              <a:gd name="T92" fmla="*/ 3164 w 3262"/>
              <a:gd name="T93" fmla="*/ 552 h 572"/>
              <a:gd name="T94" fmla="*/ 3208 w 3262"/>
              <a:gd name="T95" fmla="*/ 254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262" h="572">
                <a:moveTo>
                  <a:pt x="430" y="262"/>
                </a:moveTo>
                <a:cubicBezTo>
                  <a:pt x="429" y="241"/>
                  <a:pt x="424" y="221"/>
                  <a:pt x="413" y="202"/>
                </a:cubicBezTo>
                <a:cubicBezTo>
                  <a:pt x="319" y="39"/>
                  <a:pt x="319" y="39"/>
                  <a:pt x="319" y="39"/>
                </a:cubicBezTo>
                <a:cubicBezTo>
                  <a:pt x="312" y="27"/>
                  <a:pt x="307" y="14"/>
                  <a:pt x="304" y="0"/>
                </a:cubicBezTo>
                <a:cubicBezTo>
                  <a:pt x="300" y="7"/>
                  <a:pt x="300" y="7"/>
                  <a:pt x="300" y="7"/>
                </a:cubicBezTo>
                <a:cubicBezTo>
                  <a:pt x="277" y="47"/>
                  <a:pt x="277" y="97"/>
                  <a:pt x="300" y="137"/>
                </a:cubicBezTo>
                <a:cubicBezTo>
                  <a:pt x="375" y="267"/>
                  <a:pt x="375" y="267"/>
                  <a:pt x="375" y="267"/>
                </a:cubicBezTo>
                <a:cubicBezTo>
                  <a:pt x="399" y="308"/>
                  <a:pt x="399" y="357"/>
                  <a:pt x="375" y="398"/>
                </a:cubicBezTo>
                <a:cubicBezTo>
                  <a:pt x="371" y="405"/>
                  <a:pt x="371" y="405"/>
                  <a:pt x="371" y="405"/>
                </a:cubicBezTo>
                <a:cubicBezTo>
                  <a:pt x="369" y="391"/>
                  <a:pt x="364" y="378"/>
                  <a:pt x="356" y="365"/>
                </a:cubicBezTo>
                <a:cubicBezTo>
                  <a:pt x="288" y="246"/>
                  <a:pt x="288" y="246"/>
                  <a:pt x="288" y="246"/>
                </a:cubicBezTo>
                <a:cubicBezTo>
                  <a:pt x="244" y="170"/>
                  <a:pt x="244" y="170"/>
                  <a:pt x="244" y="170"/>
                </a:cubicBezTo>
                <a:cubicBezTo>
                  <a:pt x="236" y="157"/>
                  <a:pt x="232" y="144"/>
                  <a:pt x="229" y="130"/>
                </a:cubicBezTo>
                <a:cubicBezTo>
                  <a:pt x="225" y="137"/>
                  <a:pt x="225" y="137"/>
                  <a:pt x="225" y="137"/>
                </a:cubicBezTo>
                <a:cubicBezTo>
                  <a:pt x="202" y="177"/>
                  <a:pt x="202" y="227"/>
                  <a:pt x="225" y="267"/>
                </a:cubicBezTo>
                <a:cubicBezTo>
                  <a:pt x="225" y="267"/>
                  <a:pt x="225" y="267"/>
                  <a:pt x="225" y="267"/>
                </a:cubicBezTo>
                <a:cubicBezTo>
                  <a:pt x="300" y="398"/>
                  <a:pt x="300" y="398"/>
                  <a:pt x="300" y="398"/>
                </a:cubicBezTo>
                <a:cubicBezTo>
                  <a:pt x="323" y="438"/>
                  <a:pt x="323" y="488"/>
                  <a:pt x="300" y="528"/>
                </a:cubicBezTo>
                <a:cubicBezTo>
                  <a:pt x="296" y="535"/>
                  <a:pt x="296" y="535"/>
                  <a:pt x="296" y="535"/>
                </a:cubicBezTo>
                <a:cubicBezTo>
                  <a:pt x="293" y="521"/>
                  <a:pt x="288" y="508"/>
                  <a:pt x="281" y="495"/>
                </a:cubicBezTo>
                <a:cubicBezTo>
                  <a:pt x="187" y="333"/>
                  <a:pt x="187" y="333"/>
                  <a:pt x="187" y="333"/>
                </a:cubicBezTo>
                <a:cubicBezTo>
                  <a:pt x="175" y="311"/>
                  <a:pt x="169" y="286"/>
                  <a:pt x="170" y="262"/>
                </a:cubicBezTo>
                <a:cubicBezTo>
                  <a:pt x="69" y="288"/>
                  <a:pt x="0" y="344"/>
                  <a:pt x="0" y="409"/>
                </a:cubicBezTo>
                <a:cubicBezTo>
                  <a:pt x="0" y="499"/>
                  <a:pt x="134" y="572"/>
                  <a:pt x="300" y="572"/>
                </a:cubicBezTo>
                <a:cubicBezTo>
                  <a:pt x="466" y="572"/>
                  <a:pt x="600" y="499"/>
                  <a:pt x="600" y="409"/>
                </a:cubicBezTo>
                <a:cubicBezTo>
                  <a:pt x="600" y="344"/>
                  <a:pt x="531" y="288"/>
                  <a:pt x="430" y="262"/>
                </a:cubicBezTo>
                <a:close/>
                <a:moveTo>
                  <a:pt x="714" y="540"/>
                </a:moveTo>
                <a:cubicBezTo>
                  <a:pt x="715" y="517"/>
                  <a:pt x="718" y="501"/>
                  <a:pt x="725" y="483"/>
                </a:cubicBezTo>
                <a:cubicBezTo>
                  <a:pt x="756" y="498"/>
                  <a:pt x="797" y="505"/>
                  <a:pt x="828" y="505"/>
                </a:cubicBezTo>
                <a:cubicBezTo>
                  <a:pt x="880" y="505"/>
                  <a:pt x="910" y="488"/>
                  <a:pt x="910" y="455"/>
                </a:cubicBezTo>
                <a:cubicBezTo>
                  <a:pt x="910" y="422"/>
                  <a:pt x="888" y="407"/>
                  <a:pt x="835" y="384"/>
                </a:cubicBezTo>
                <a:cubicBezTo>
                  <a:pt x="806" y="371"/>
                  <a:pt x="806" y="371"/>
                  <a:pt x="806" y="371"/>
                </a:cubicBezTo>
                <a:cubicBezTo>
                  <a:pt x="753" y="348"/>
                  <a:pt x="717" y="318"/>
                  <a:pt x="717" y="258"/>
                </a:cubicBezTo>
                <a:cubicBezTo>
                  <a:pt x="717" y="194"/>
                  <a:pt x="762" y="153"/>
                  <a:pt x="853" y="153"/>
                </a:cubicBezTo>
                <a:cubicBezTo>
                  <a:pt x="890" y="153"/>
                  <a:pt x="924" y="158"/>
                  <a:pt x="956" y="169"/>
                </a:cubicBezTo>
                <a:cubicBezTo>
                  <a:pt x="955" y="192"/>
                  <a:pt x="951" y="209"/>
                  <a:pt x="945" y="226"/>
                </a:cubicBezTo>
                <a:cubicBezTo>
                  <a:pt x="915" y="214"/>
                  <a:pt x="879" y="209"/>
                  <a:pt x="853" y="209"/>
                </a:cubicBezTo>
                <a:cubicBezTo>
                  <a:pt x="804" y="209"/>
                  <a:pt x="781" y="228"/>
                  <a:pt x="781" y="258"/>
                </a:cubicBezTo>
                <a:cubicBezTo>
                  <a:pt x="781" y="288"/>
                  <a:pt x="803" y="305"/>
                  <a:pt x="842" y="322"/>
                </a:cubicBezTo>
                <a:cubicBezTo>
                  <a:pt x="873" y="335"/>
                  <a:pt x="873" y="335"/>
                  <a:pt x="873" y="335"/>
                </a:cubicBezTo>
                <a:cubicBezTo>
                  <a:pt x="945" y="365"/>
                  <a:pt x="974" y="397"/>
                  <a:pt x="974" y="452"/>
                </a:cubicBezTo>
                <a:cubicBezTo>
                  <a:pt x="974" y="517"/>
                  <a:pt x="925" y="561"/>
                  <a:pt x="829" y="561"/>
                </a:cubicBezTo>
                <a:cubicBezTo>
                  <a:pt x="783" y="561"/>
                  <a:pt x="745" y="555"/>
                  <a:pt x="714" y="540"/>
                </a:cubicBezTo>
                <a:close/>
                <a:moveTo>
                  <a:pt x="1277" y="270"/>
                </a:moveTo>
                <a:cubicBezTo>
                  <a:pt x="1277" y="552"/>
                  <a:pt x="1277" y="552"/>
                  <a:pt x="1277" y="552"/>
                </a:cubicBezTo>
                <a:cubicBezTo>
                  <a:pt x="1220" y="552"/>
                  <a:pt x="1220" y="552"/>
                  <a:pt x="1220" y="552"/>
                </a:cubicBezTo>
                <a:cubicBezTo>
                  <a:pt x="1217" y="518"/>
                  <a:pt x="1217" y="518"/>
                  <a:pt x="1217" y="518"/>
                </a:cubicBezTo>
                <a:cubicBezTo>
                  <a:pt x="1201" y="543"/>
                  <a:pt x="1177" y="559"/>
                  <a:pt x="1138" y="559"/>
                </a:cubicBezTo>
                <a:cubicBezTo>
                  <a:pt x="1063" y="559"/>
                  <a:pt x="1013" y="505"/>
                  <a:pt x="1013" y="410"/>
                </a:cubicBezTo>
                <a:cubicBezTo>
                  <a:pt x="1013" y="311"/>
                  <a:pt x="1066" y="254"/>
                  <a:pt x="1171" y="254"/>
                </a:cubicBezTo>
                <a:cubicBezTo>
                  <a:pt x="1211" y="254"/>
                  <a:pt x="1245" y="259"/>
                  <a:pt x="1277" y="270"/>
                </a:cubicBezTo>
                <a:close/>
                <a:moveTo>
                  <a:pt x="1215" y="488"/>
                </a:moveTo>
                <a:cubicBezTo>
                  <a:pt x="1215" y="311"/>
                  <a:pt x="1215" y="311"/>
                  <a:pt x="1215" y="311"/>
                </a:cubicBezTo>
                <a:cubicBezTo>
                  <a:pt x="1202" y="309"/>
                  <a:pt x="1188" y="307"/>
                  <a:pt x="1171" y="307"/>
                </a:cubicBezTo>
                <a:cubicBezTo>
                  <a:pt x="1107" y="307"/>
                  <a:pt x="1077" y="347"/>
                  <a:pt x="1077" y="410"/>
                </a:cubicBezTo>
                <a:cubicBezTo>
                  <a:pt x="1077" y="468"/>
                  <a:pt x="1100" y="508"/>
                  <a:pt x="1155" y="508"/>
                </a:cubicBezTo>
                <a:cubicBezTo>
                  <a:pt x="1179" y="508"/>
                  <a:pt x="1199" y="500"/>
                  <a:pt x="1215" y="488"/>
                </a:cubicBezTo>
                <a:close/>
                <a:moveTo>
                  <a:pt x="1595" y="363"/>
                </a:moveTo>
                <a:cubicBezTo>
                  <a:pt x="1595" y="552"/>
                  <a:pt x="1595" y="552"/>
                  <a:pt x="1595" y="552"/>
                </a:cubicBezTo>
                <a:cubicBezTo>
                  <a:pt x="1533" y="552"/>
                  <a:pt x="1533" y="552"/>
                  <a:pt x="1533" y="552"/>
                </a:cubicBezTo>
                <a:cubicBezTo>
                  <a:pt x="1533" y="373"/>
                  <a:pt x="1533" y="373"/>
                  <a:pt x="1533" y="373"/>
                </a:cubicBezTo>
                <a:cubicBezTo>
                  <a:pt x="1533" y="329"/>
                  <a:pt x="1518" y="307"/>
                  <a:pt x="1456" y="307"/>
                </a:cubicBezTo>
                <a:cubicBezTo>
                  <a:pt x="1442" y="307"/>
                  <a:pt x="1424" y="309"/>
                  <a:pt x="1407" y="312"/>
                </a:cubicBezTo>
                <a:cubicBezTo>
                  <a:pt x="1407" y="552"/>
                  <a:pt x="1407" y="552"/>
                  <a:pt x="1407" y="552"/>
                </a:cubicBezTo>
                <a:cubicBezTo>
                  <a:pt x="1345" y="552"/>
                  <a:pt x="1345" y="552"/>
                  <a:pt x="1345" y="552"/>
                </a:cubicBezTo>
                <a:cubicBezTo>
                  <a:pt x="1345" y="270"/>
                  <a:pt x="1345" y="270"/>
                  <a:pt x="1345" y="270"/>
                </a:cubicBezTo>
                <a:cubicBezTo>
                  <a:pt x="1385" y="261"/>
                  <a:pt x="1428" y="254"/>
                  <a:pt x="1458" y="254"/>
                </a:cubicBezTo>
                <a:cubicBezTo>
                  <a:pt x="1562" y="254"/>
                  <a:pt x="1595" y="294"/>
                  <a:pt x="1595" y="363"/>
                </a:cubicBezTo>
                <a:close/>
                <a:moveTo>
                  <a:pt x="1767" y="506"/>
                </a:moveTo>
                <a:cubicBezTo>
                  <a:pt x="1785" y="506"/>
                  <a:pt x="1802" y="503"/>
                  <a:pt x="1816" y="498"/>
                </a:cubicBezTo>
                <a:cubicBezTo>
                  <a:pt x="1814" y="515"/>
                  <a:pt x="1812" y="534"/>
                  <a:pt x="1808" y="550"/>
                </a:cubicBezTo>
                <a:cubicBezTo>
                  <a:pt x="1791" y="557"/>
                  <a:pt x="1773" y="559"/>
                  <a:pt x="1756" y="559"/>
                </a:cubicBezTo>
                <a:cubicBezTo>
                  <a:pt x="1696" y="559"/>
                  <a:pt x="1657" y="531"/>
                  <a:pt x="1657" y="463"/>
                </a:cubicBezTo>
                <a:cubicBezTo>
                  <a:pt x="1657" y="166"/>
                  <a:pt x="1657" y="166"/>
                  <a:pt x="1657" y="166"/>
                </a:cubicBezTo>
                <a:cubicBezTo>
                  <a:pt x="1676" y="160"/>
                  <a:pt x="1700" y="157"/>
                  <a:pt x="1719" y="157"/>
                </a:cubicBezTo>
                <a:cubicBezTo>
                  <a:pt x="1719" y="264"/>
                  <a:pt x="1719" y="264"/>
                  <a:pt x="1719" y="264"/>
                </a:cubicBezTo>
                <a:cubicBezTo>
                  <a:pt x="1817" y="264"/>
                  <a:pt x="1817" y="264"/>
                  <a:pt x="1817" y="264"/>
                </a:cubicBezTo>
                <a:cubicBezTo>
                  <a:pt x="1816" y="283"/>
                  <a:pt x="1815" y="301"/>
                  <a:pt x="1812" y="317"/>
                </a:cubicBezTo>
                <a:cubicBezTo>
                  <a:pt x="1719" y="317"/>
                  <a:pt x="1719" y="317"/>
                  <a:pt x="1719" y="317"/>
                </a:cubicBezTo>
                <a:cubicBezTo>
                  <a:pt x="1719" y="455"/>
                  <a:pt x="1719" y="455"/>
                  <a:pt x="1719" y="455"/>
                </a:cubicBezTo>
                <a:cubicBezTo>
                  <a:pt x="1719" y="492"/>
                  <a:pt x="1737" y="506"/>
                  <a:pt x="1767" y="506"/>
                </a:cubicBezTo>
                <a:close/>
                <a:moveTo>
                  <a:pt x="2100" y="270"/>
                </a:moveTo>
                <a:cubicBezTo>
                  <a:pt x="2100" y="552"/>
                  <a:pt x="2100" y="552"/>
                  <a:pt x="2100" y="552"/>
                </a:cubicBezTo>
                <a:cubicBezTo>
                  <a:pt x="2043" y="552"/>
                  <a:pt x="2043" y="552"/>
                  <a:pt x="2043" y="552"/>
                </a:cubicBezTo>
                <a:cubicBezTo>
                  <a:pt x="2040" y="518"/>
                  <a:pt x="2040" y="518"/>
                  <a:pt x="2040" y="518"/>
                </a:cubicBezTo>
                <a:cubicBezTo>
                  <a:pt x="2024" y="543"/>
                  <a:pt x="2000" y="559"/>
                  <a:pt x="1960" y="559"/>
                </a:cubicBezTo>
                <a:cubicBezTo>
                  <a:pt x="1886" y="559"/>
                  <a:pt x="1836" y="505"/>
                  <a:pt x="1836" y="410"/>
                </a:cubicBezTo>
                <a:cubicBezTo>
                  <a:pt x="1836" y="311"/>
                  <a:pt x="1889" y="254"/>
                  <a:pt x="1993" y="254"/>
                </a:cubicBezTo>
                <a:cubicBezTo>
                  <a:pt x="2034" y="254"/>
                  <a:pt x="2067" y="259"/>
                  <a:pt x="2100" y="270"/>
                </a:cubicBezTo>
                <a:close/>
                <a:moveTo>
                  <a:pt x="2038" y="488"/>
                </a:moveTo>
                <a:cubicBezTo>
                  <a:pt x="2038" y="311"/>
                  <a:pt x="2038" y="311"/>
                  <a:pt x="2038" y="311"/>
                </a:cubicBezTo>
                <a:cubicBezTo>
                  <a:pt x="2025" y="309"/>
                  <a:pt x="2011" y="307"/>
                  <a:pt x="1993" y="307"/>
                </a:cubicBezTo>
                <a:cubicBezTo>
                  <a:pt x="1929" y="307"/>
                  <a:pt x="1899" y="347"/>
                  <a:pt x="1899" y="410"/>
                </a:cubicBezTo>
                <a:cubicBezTo>
                  <a:pt x="1899" y="468"/>
                  <a:pt x="1922" y="508"/>
                  <a:pt x="1978" y="508"/>
                </a:cubicBezTo>
                <a:cubicBezTo>
                  <a:pt x="2002" y="508"/>
                  <a:pt x="2022" y="500"/>
                  <a:pt x="2038" y="488"/>
                </a:cubicBezTo>
                <a:close/>
                <a:moveTo>
                  <a:pt x="2418" y="363"/>
                </a:moveTo>
                <a:cubicBezTo>
                  <a:pt x="2418" y="552"/>
                  <a:pt x="2418" y="552"/>
                  <a:pt x="2418" y="552"/>
                </a:cubicBezTo>
                <a:cubicBezTo>
                  <a:pt x="2356" y="552"/>
                  <a:pt x="2356" y="552"/>
                  <a:pt x="2356" y="552"/>
                </a:cubicBezTo>
                <a:cubicBezTo>
                  <a:pt x="2356" y="373"/>
                  <a:pt x="2356" y="373"/>
                  <a:pt x="2356" y="373"/>
                </a:cubicBezTo>
                <a:cubicBezTo>
                  <a:pt x="2356" y="329"/>
                  <a:pt x="2341" y="307"/>
                  <a:pt x="2279" y="307"/>
                </a:cubicBezTo>
                <a:cubicBezTo>
                  <a:pt x="2264" y="307"/>
                  <a:pt x="2247" y="309"/>
                  <a:pt x="2230" y="312"/>
                </a:cubicBezTo>
                <a:cubicBezTo>
                  <a:pt x="2230" y="552"/>
                  <a:pt x="2230" y="552"/>
                  <a:pt x="2230" y="552"/>
                </a:cubicBezTo>
                <a:cubicBezTo>
                  <a:pt x="2168" y="552"/>
                  <a:pt x="2168" y="552"/>
                  <a:pt x="2168" y="552"/>
                </a:cubicBezTo>
                <a:cubicBezTo>
                  <a:pt x="2168" y="270"/>
                  <a:pt x="2168" y="270"/>
                  <a:pt x="2168" y="270"/>
                </a:cubicBezTo>
                <a:cubicBezTo>
                  <a:pt x="2207" y="261"/>
                  <a:pt x="2251" y="254"/>
                  <a:pt x="2281" y="254"/>
                </a:cubicBezTo>
                <a:cubicBezTo>
                  <a:pt x="2384" y="254"/>
                  <a:pt x="2418" y="294"/>
                  <a:pt x="2418" y="363"/>
                </a:cubicBezTo>
                <a:close/>
                <a:moveTo>
                  <a:pt x="2733" y="157"/>
                </a:moveTo>
                <a:cubicBezTo>
                  <a:pt x="2733" y="552"/>
                  <a:pt x="2733" y="552"/>
                  <a:pt x="2733" y="552"/>
                </a:cubicBezTo>
                <a:cubicBezTo>
                  <a:pt x="2676" y="552"/>
                  <a:pt x="2676" y="552"/>
                  <a:pt x="2676" y="552"/>
                </a:cubicBezTo>
                <a:cubicBezTo>
                  <a:pt x="2672" y="516"/>
                  <a:pt x="2672" y="516"/>
                  <a:pt x="2672" y="516"/>
                </a:cubicBezTo>
                <a:cubicBezTo>
                  <a:pt x="2656" y="543"/>
                  <a:pt x="2632" y="559"/>
                  <a:pt x="2591" y="559"/>
                </a:cubicBezTo>
                <a:cubicBezTo>
                  <a:pt x="2517" y="559"/>
                  <a:pt x="2467" y="505"/>
                  <a:pt x="2467" y="410"/>
                </a:cubicBezTo>
                <a:cubicBezTo>
                  <a:pt x="2467" y="311"/>
                  <a:pt x="2520" y="254"/>
                  <a:pt x="2625" y="254"/>
                </a:cubicBezTo>
                <a:cubicBezTo>
                  <a:pt x="2641" y="254"/>
                  <a:pt x="2656" y="256"/>
                  <a:pt x="2671" y="259"/>
                </a:cubicBezTo>
                <a:cubicBezTo>
                  <a:pt x="2671" y="166"/>
                  <a:pt x="2671" y="166"/>
                  <a:pt x="2671" y="166"/>
                </a:cubicBezTo>
                <a:cubicBezTo>
                  <a:pt x="2690" y="159"/>
                  <a:pt x="2712" y="157"/>
                  <a:pt x="2733" y="157"/>
                </a:cubicBezTo>
                <a:close/>
                <a:moveTo>
                  <a:pt x="2671" y="487"/>
                </a:moveTo>
                <a:cubicBezTo>
                  <a:pt x="2671" y="313"/>
                  <a:pt x="2671" y="313"/>
                  <a:pt x="2671" y="313"/>
                </a:cubicBezTo>
                <a:cubicBezTo>
                  <a:pt x="2655" y="310"/>
                  <a:pt x="2638" y="307"/>
                  <a:pt x="2621" y="307"/>
                </a:cubicBezTo>
                <a:cubicBezTo>
                  <a:pt x="2560" y="307"/>
                  <a:pt x="2531" y="346"/>
                  <a:pt x="2531" y="410"/>
                </a:cubicBezTo>
                <a:cubicBezTo>
                  <a:pt x="2531" y="468"/>
                  <a:pt x="2554" y="508"/>
                  <a:pt x="2609" y="508"/>
                </a:cubicBezTo>
                <a:cubicBezTo>
                  <a:pt x="2634" y="508"/>
                  <a:pt x="2654" y="500"/>
                  <a:pt x="2671" y="487"/>
                </a:cubicBezTo>
                <a:close/>
                <a:moveTo>
                  <a:pt x="3045" y="432"/>
                </a:moveTo>
                <a:cubicBezTo>
                  <a:pt x="2847" y="432"/>
                  <a:pt x="2847" y="432"/>
                  <a:pt x="2847" y="432"/>
                </a:cubicBezTo>
                <a:cubicBezTo>
                  <a:pt x="2854" y="482"/>
                  <a:pt x="2884" y="506"/>
                  <a:pt x="2939" y="506"/>
                </a:cubicBezTo>
                <a:cubicBezTo>
                  <a:pt x="2973" y="506"/>
                  <a:pt x="3007" y="499"/>
                  <a:pt x="3038" y="485"/>
                </a:cubicBezTo>
                <a:cubicBezTo>
                  <a:pt x="3036" y="501"/>
                  <a:pt x="3033" y="522"/>
                  <a:pt x="3029" y="541"/>
                </a:cubicBezTo>
                <a:cubicBezTo>
                  <a:pt x="3001" y="554"/>
                  <a:pt x="2971" y="559"/>
                  <a:pt x="2937" y="559"/>
                </a:cubicBezTo>
                <a:cubicBezTo>
                  <a:pt x="2834" y="559"/>
                  <a:pt x="2783" y="502"/>
                  <a:pt x="2783" y="405"/>
                </a:cubicBezTo>
                <a:cubicBezTo>
                  <a:pt x="2783" y="321"/>
                  <a:pt x="2822" y="254"/>
                  <a:pt x="2921" y="254"/>
                </a:cubicBezTo>
                <a:cubicBezTo>
                  <a:pt x="3010" y="254"/>
                  <a:pt x="3048" y="313"/>
                  <a:pt x="3048" y="384"/>
                </a:cubicBezTo>
                <a:cubicBezTo>
                  <a:pt x="3048" y="401"/>
                  <a:pt x="3047" y="415"/>
                  <a:pt x="3045" y="432"/>
                </a:cubicBezTo>
                <a:close/>
                <a:moveTo>
                  <a:pt x="2845" y="380"/>
                </a:moveTo>
                <a:cubicBezTo>
                  <a:pt x="2985" y="380"/>
                  <a:pt x="2985" y="380"/>
                  <a:pt x="2985" y="380"/>
                </a:cubicBezTo>
                <a:cubicBezTo>
                  <a:pt x="2985" y="333"/>
                  <a:pt x="2960" y="306"/>
                  <a:pt x="2918" y="306"/>
                </a:cubicBezTo>
                <a:cubicBezTo>
                  <a:pt x="2874" y="306"/>
                  <a:pt x="2850" y="332"/>
                  <a:pt x="2845" y="380"/>
                </a:cubicBezTo>
                <a:close/>
                <a:moveTo>
                  <a:pt x="3262" y="257"/>
                </a:moveTo>
                <a:cubicBezTo>
                  <a:pt x="3262" y="275"/>
                  <a:pt x="3260" y="298"/>
                  <a:pt x="3256" y="310"/>
                </a:cubicBezTo>
                <a:cubicBezTo>
                  <a:pt x="3241" y="308"/>
                  <a:pt x="3227" y="307"/>
                  <a:pt x="3209" y="307"/>
                </a:cubicBezTo>
                <a:cubicBezTo>
                  <a:pt x="3194" y="307"/>
                  <a:pt x="3179" y="309"/>
                  <a:pt x="3164" y="311"/>
                </a:cubicBezTo>
                <a:cubicBezTo>
                  <a:pt x="3164" y="552"/>
                  <a:pt x="3164" y="552"/>
                  <a:pt x="3164" y="552"/>
                </a:cubicBezTo>
                <a:cubicBezTo>
                  <a:pt x="3102" y="552"/>
                  <a:pt x="3102" y="552"/>
                  <a:pt x="3102" y="552"/>
                </a:cubicBezTo>
                <a:cubicBezTo>
                  <a:pt x="3102" y="270"/>
                  <a:pt x="3102" y="270"/>
                  <a:pt x="3102" y="270"/>
                </a:cubicBezTo>
                <a:cubicBezTo>
                  <a:pt x="3128" y="261"/>
                  <a:pt x="3173" y="254"/>
                  <a:pt x="3208" y="254"/>
                </a:cubicBezTo>
                <a:cubicBezTo>
                  <a:pt x="3227" y="254"/>
                  <a:pt x="3248" y="255"/>
                  <a:pt x="3262" y="257"/>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solidFill>
                <a:prstClr val="black"/>
              </a:solidFill>
            </a:endParaRPr>
          </a:p>
        </p:txBody>
      </p:sp>
      <p:sp>
        <p:nvSpPr>
          <p:cNvPr id="26" name="Freeform: Shape 14">
            <a:extLst>
              <a:ext uri="{FF2B5EF4-FFF2-40B4-BE49-F238E27FC236}">
                <a16:creationId xmlns:a16="http://schemas.microsoft.com/office/drawing/2014/main" id="{6FC69640-7BF1-490D-A976-C772DE62F1E0}"/>
              </a:ext>
            </a:extLst>
          </p:cNvPr>
          <p:cNvSpPr/>
          <p:nvPr userDrawn="1"/>
        </p:nvSpPr>
        <p:spPr>
          <a:xfrm>
            <a:off x="820236" y="3464157"/>
            <a:ext cx="2446172" cy="248603"/>
          </a:xfrm>
          <a:custGeom>
            <a:avLst/>
            <a:gdLst/>
            <a:ahLst/>
            <a:cxnLst/>
            <a:rect l="l" t="t" r="r" b="b"/>
            <a:pathLst>
              <a:path w="2446172" h="248603">
                <a:moveTo>
                  <a:pt x="2218258" y="75686"/>
                </a:moveTo>
                <a:cubicBezTo>
                  <a:pt x="2202560" y="75848"/>
                  <a:pt x="2190935" y="80359"/>
                  <a:pt x="2183385" y="89222"/>
                </a:cubicBezTo>
                <a:cubicBezTo>
                  <a:pt x="2175835" y="98084"/>
                  <a:pt x="2172083" y="110330"/>
                  <a:pt x="2172129" y="125959"/>
                </a:cubicBezTo>
                <a:cubicBezTo>
                  <a:pt x="2172037" y="140289"/>
                  <a:pt x="2175052" y="151821"/>
                  <a:pt x="2181175" y="160557"/>
                </a:cubicBezTo>
                <a:cubicBezTo>
                  <a:pt x="2187298" y="169292"/>
                  <a:pt x="2197081" y="173781"/>
                  <a:pt x="2210524" y="174023"/>
                </a:cubicBezTo>
                <a:cubicBezTo>
                  <a:pt x="2216451" y="173988"/>
                  <a:pt x="2221861" y="173090"/>
                  <a:pt x="2226752" y="171329"/>
                </a:cubicBezTo>
                <a:cubicBezTo>
                  <a:pt x="2231644" y="169568"/>
                  <a:pt x="2236086" y="167151"/>
                  <a:pt x="2240080" y="164078"/>
                </a:cubicBezTo>
                <a:lnTo>
                  <a:pt x="2240080" y="77344"/>
                </a:lnTo>
                <a:cubicBezTo>
                  <a:pt x="2236926" y="76791"/>
                  <a:pt x="2233566" y="76377"/>
                  <a:pt x="2229998" y="76101"/>
                </a:cubicBezTo>
                <a:cubicBezTo>
                  <a:pt x="2226430" y="75825"/>
                  <a:pt x="2222517" y="75686"/>
                  <a:pt x="2218258" y="75686"/>
                </a:cubicBezTo>
                <a:close/>
                <a:moveTo>
                  <a:pt x="1789633" y="75686"/>
                </a:moveTo>
                <a:cubicBezTo>
                  <a:pt x="1773935" y="75848"/>
                  <a:pt x="1762310" y="80359"/>
                  <a:pt x="1754760" y="89222"/>
                </a:cubicBezTo>
                <a:cubicBezTo>
                  <a:pt x="1747210" y="98084"/>
                  <a:pt x="1743458" y="110330"/>
                  <a:pt x="1743504" y="125959"/>
                </a:cubicBezTo>
                <a:cubicBezTo>
                  <a:pt x="1743412" y="140289"/>
                  <a:pt x="1746427" y="151821"/>
                  <a:pt x="1752550" y="160557"/>
                </a:cubicBezTo>
                <a:cubicBezTo>
                  <a:pt x="1758673" y="169292"/>
                  <a:pt x="1768456" y="173781"/>
                  <a:pt x="1781899" y="174023"/>
                </a:cubicBezTo>
                <a:cubicBezTo>
                  <a:pt x="1787826" y="173988"/>
                  <a:pt x="1793236" y="173090"/>
                  <a:pt x="1798127" y="171329"/>
                </a:cubicBezTo>
                <a:cubicBezTo>
                  <a:pt x="1803019" y="169568"/>
                  <a:pt x="1807461" y="167151"/>
                  <a:pt x="1811455" y="164078"/>
                </a:cubicBezTo>
                <a:lnTo>
                  <a:pt x="1811455" y="77344"/>
                </a:lnTo>
                <a:cubicBezTo>
                  <a:pt x="1808302" y="76791"/>
                  <a:pt x="1804941" y="76377"/>
                  <a:pt x="1801373" y="76101"/>
                </a:cubicBezTo>
                <a:cubicBezTo>
                  <a:pt x="1797805" y="75825"/>
                  <a:pt x="1793892" y="75686"/>
                  <a:pt x="1789633" y="75686"/>
                </a:cubicBezTo>
                <a:close/>
                <a:moveTo>
                  <a:pt x="1469508" y="75686"/>
                </a:moveTo>
                <a:cubicBezTo>
                  <a:pt x="1455466" y="75859"/>
                  <a:pt x="1445085" y="80210"/>
                  <a:pt x="1438363" y="88738"/>
                </a:cubicBezTo>
                <a:cubicBezTo>
                  <a:pt x="1431642" y="97267"/>
                  <a:pt x="1428304" y="108937"/>
                  <a:pt x="1428350" y="123750"/>
                </a:cubicBezTo>
                <a:cubicBezTo>
                  <a:pt x="1428460" y="140663"/>
                  <a:pt x="1432108" y="153104"/>
                  <a:pt x="1439296" y="161075"/>
                </a:cubicBezTo>
                <a:cubicBezTo>
                  <a:pt x="1446483" y="169045"/>
                  <a:pt x="1456554" y="172993"/>
                  <a:pt x="1469508" y="172918"/>
                </a:cubicBezTo>
                <a:cubicBezTo>
                  <a:pt x="1483031" y="172762"/>
                  <a:pt x="1493136" y="168446"/>
                  <a:pt x="1499823" y="159970"/>
                </a:cubicBezTo>
                <a:cubicBezTo>
                  <a:pt x="1506510" y="151493"/>
                  <a:pt x="1509848" y="139788"/>
                  <a:pt x="1509836" y="124855"/>
                </a:cubicBezTo>
                <a:cubicBezTo>
                  <a:pt x="1509710" y="108062"/>
                  <a:pt x="1506096" y="95655"/>
                  <a:pt x="1498995" y="87633"/>
                </a:cubicBezTo>
                <a:cubicBezTo>
                  <a:pt x="1491894" y="79611"/>
                  <a:pt x="1482064" y="75629"/>
                  <a:pt x="1469508" y="75686"/>
                </a:cubicBezTo>
                <a:close/>
                <a:moveTo>
                  <a:pt x="523075" y="75686"/>
                </a:moveTo>
                <a:cubicBezTo>
                  <a:pt x="519478" y="75698"/>
                  <a:pt x="515968" y="75882"/>
                  <a:pt x="512544" y="76239"/>
                </a:cubicBezTo>
                <a:cubicBezTo>
                  <a:pt x="509120" y="76596"/>
                  <a:pt x="505817" y="77056"/>
                  <a:pt x="502634" y="77620"/>
                </a:cubicBezTo>
                <a:lnTo>
                  <a:pt x="502634" y="169879"/>
                </a:lnTo>
                <a:cubicBezTo>
                  <a:pt x="510092" y="171859"/>
                  <a:pt x="517551" y="172872"/>
                  <a:pt x="525009" y="172918"/>
                </a:cubicBezTo>
                <a:cubicBezTo>
                  <a:pt x="540212" y="172877"/>
                  <a:pt x="551653" y="168746"/>
                  <a:pt x="559330" y="160522"/>
                </a:cubicBezTo>
                <a:cubicBezTo>
                  <a:pt x="567006" y="152299"/>
                  <a:pt x="570851" y="140225"/>
                  <a:pt x="570862" y="124302"/>
                </a:cubicBezTo>
                <a:cubicBezTo>
                  <a:pt x="571012" y="109346"/>
                  <a:pt x="567329" y="97549"/>
                  <a:pt x="559813" y="88911"/>
                </a:cubicBezTo>
                <a:cubicBezTo>
                  <a:pt x="552297" y="80273"/>
                  <a:pt x="540051" y="75865"/>
                  <a:pt x="523075" y="75686"/>
                </a:cubicBezTo>
                <a:close/>
                <a:moveTo>
                  <a:pt x="1101204" y="75134"/>
                </a:moveTo>
                <a:cubicBezTo>
                  <a:pt x="1090460" y="75163"/>
                  <a:pt x="1082185" y="78213"/>
                  <a:pt x="1076379" y="84284"/>
                </a:cubicBezTo>
                <a:cubicBezTo>
                  <a:pt x="1070572" y="90355"/>
                  <a:pt x="1067062" y="99275"/>
                  <a:pt x="1065848" y="111043"/>
                </a:cubicBezTo>
                <a:lnTo>
                  <a:pt x="1134351" y="111043"/>
                </a:lnTo>
                <a:cubicBezTo>
                  <a:pt x="1134282" y="99637"/>
                  <a:pt x="1131382" y="90821"/>
                  <a:pt x="1125650" y="84595"/>
                </a:cubicBezTo>
                <a:cubicBezTo>
                  <a:pt x="1119919" y="78368"/>
                  <a:pt x="1111770" y="75215"/>
                  <a:pt x="1101204" y="75134"/>
                </a:cubicBezTo>
                <a:close/>
                <a:moveTo>
                  <a:pt x="748779" y="75134"/>
                </a:moveTo>
                <a:cubicBezTo>
                  <a:pt x="738035" y="75163"/>
                  <a:pt x="729760" y="78213"/>
                  <a:pt x="723954" y="84284"/>
                </a:cubicBezTo>
                <a:cubicBezTo>
                  <a:pt x="718147" y="90355"/>
                  <a:pt x="714637" y="99275"/>
                  <a:pt x="713423" y="111043"/>
                </a:cubicBezTo>
                <a:lnTo>
                  <a:pt x="781926" y="111043"/>
                </a:lnTo>
                <a:cubicBezTo>
                  <a:pt x="781857" y="99637"/>
                  <a:pt x="778957" y="90821"/>
                  <a:pt x="773225" y="84595"/>
                </a:cubicBezTo>
                <a:cubicBezTo>
                  <a:pt x="767494" y="78368"/>
                  <a:pt x="759345" y="75215"/>
                  <a:pt x="748779" y="75134"/>
                </a:cubicBezTo>
                <a:close/>
                <a:moveTo>
                  <a:pt x="2301050" y="53036"/>
                </a:moveTo>
                <a:lnTo>
                  <a:pt x="2331434" y="53036"/>
                </a:lnTo>
                <a:lnTo>
                  <a:pt x="2331434" y="195568"/>
                </a:lnTo>
                <a:lnTo>
                  <a:pt x="2301050" y="195568"/>
                </a:lnTo>
                <a:close/>
                <a:moveTo>
                  <a:pt x="157925" y="53036"/>
                </a:moveTo>
                <a:lnTo>
                  <a:pt x="188309" y="53036"/>
                </a:lnTo>
                <a:lnTo>
                  <a:pt x="188309" y="195568"/>
                </a:lnTo>
                <a:lnTo>
                  <a:pt x="157925" y="195568"/>
                </a:lnTo>
                <a:close/>
                <a:moveTo>
                  <a:pt x="2419655" y="49721"/>
                </a:moveTo>
                <a:cubicBezTo>
                  <a:pt x="2424454" y="49716"/>
                  <a:pt x="2429219" y="49796"/>
                  <a:pt x="2433950" y="49963"/>
                </a:cubicBezTo>
                <a:cubicBezTo>
                  <a:pt x="2438680" y="50130"/>
                  <a:pt x="2442754" y="50418"/>
                  <a:pt x="2446172" y="50826"/>
                </a:cubicBezTo>
                <a:cubicBezTo>
                  <a:pt x="2446161" y="55534"/>
                  <a:pt x="2445908" y="60275"/>
                  <a:pt x="2445413" y="65052"/>
                </a:cubicBezTo>
                <a:cubicBezTo>
                  <a:pt x="2444918" y="69828"/>
                  <a:pt x="2444250" y="73741"/>
                  <a:pt x="2443410" y="76791"/>
                </a:cubicBezTo>
                <a:cubicBezTo>
                  <a:pt x="2439848" y="76383"/>
                  <a:pt x="2436200" y="76095"/>
                  <a:pt x="2432465" y="75928"/>
                </a:cubicBezTo>
                <a:cubicBezTo>
                  <a:pt x="2428730" y="75761"/>
                  <a:pt x="2424736" y="75681"/>
                  <a:pt x="2420484" y="75686"/>
                </a:cubicBezTo>
                <a:cubicBezTo>
                  <a:pt x="2413026" y="75686"/>
                  <a:pt x="2405567" y="76239"/>
                  <a:pt x="2398109" y="77344"/>
                </a:cubicBezTo>
                <a:lnTo>
                  <a:pt x="2398109" y="195568"/>
                </a:lnTo>
                <a:lnTo>
                  <a:pt x="2367725" y="195568"/>
                </a:lnTo>
                <a:lnTo>
                  <a:pt x="2367725" y="57456"/>
                </a:lnTo>
                <a:cubicBezTo>
                  <a:pt x="2374498" y="55200"/>
                  <a:pt x="2382635" y="53358"/>
                  <a:pt x="2392136" y="51931"/>
                </a:cubicBezTo>
                <a:cubicBezTo>
                  <a:pt x="2401637" y="50504"/>
                  <a:pt x="2410810" y="49767"/>
                  <a:pt x="2419655" y="49721"/>
                </a:cubicBezTo>
                <a:close/>
                <a:moveTo>
                  <a:pt x="2218258" y="49721"/>
                </a:moveTo>
                <a:cubicBezTo>
                  <a:pt x="2228133" y="49698"/>
                  <a:pt x="2237318" y="50297"/>
                  <a:pt x="2245812" y="51517"/>
                </a:cubicBezTo>
                <a:cubicBezTo>
                  <a:pt x="2254306" y="52737"/>
                  <a:pt x="2262523" y="54716"/>
                  <a:pt x="2270465" y="57456"/>
                </a:cubicBezTo>
                <a:lnTo>
                  <a:pt x="2270465" y="195568"/>
                </a:lnTo>
                <a:lnTo>
                  <a:pt x="2242566" y="195568"/>
                </a:lnTo>
                <a:lnTo>
                  <a:pt x="2240909" y="178995"/>
                </a:lnTo>
                <a:cubicBezTo>
                  <a:pt x="2237111" y="185141"/>
                  <a:pt x="2232069" y="189975"/>
                  <a:pt x="2225785" y="193496"/>
                </a:cubicBezTo>
                <a:cubicBezTo>
                  <a:pt x="2219501" y="197018"/>
                  <a:pt x="2211560" y="198814"/>
                  <a:pt x="2201961" y="198883"/>
                </a:cubicBezTo>
                <a:cubicBezTo>
                  <a:pt x="2183477" y="198745"/>
                  <a:pt x="2168791" y="192392"/>
                  <a:pt x="2157903" y="179823"/>
                </a:cubicBezTo>
                <a:cubicBezTo>
                  <a:pt x="2147015" y="167255"/>
                  <a:pt x="2141445" y="149300"/>
                  <a:pt x="2141191" y="125959"/>
                </a:cubicBezTo>
                <a:cubicBezTo>
                  <a:pt x="2141209" y="101514"/>
                  <a:pt x="2147665" y="82730"/>
                  <a:pt x="2160562" y="69610"/>
                </a:cubicBezTo>
                <a:cubicBezTo>
                  <a:pt x="2173458" y="56489"/>
                  <a:pt x="2192690" y="49859"/>
                  <a:pt x="2218258" y="49721"/>
                </a:cubicBezTo>
                <a:close/>
                <a:moveTo>
                  <a:pt x="1789633" y="49721"/>
                </a:moveTo>
                <a:cubicBezTo>
                  <a:pt x="1799508" y="49698"/>
                  <a:pt x="1808693" y="50297"/>
                  <a:pt x="1817187" y="51517"/>
                </a:cubicBezTo>
                <a:cubicBezTo>
                  <a:pt x="1825681" y="52737"/>
                  <a:pt x="1833899" y="54716"/>
                  <a:pt x="1841840" y="57456"/>
                </a:cubicBezTo>
                <a:lnTo>
                  <a:pt x="1841840" y="195568"/>
                </a:lnTo>
                <a:lnTo>
                  <a:pt x="1813941" y="195568"/>
                </a:lnTo>
                <a:lnTo>
                  <a:pt x="1812284" y="178995"/>
                </a:lnTo>
                <a:cubicBezTo>
                  <a:pt x="1808486" y="185141"/>
                  <a:pt x="1803445" y="189975"/>
                  <a:pt x="1797160" y="193496"/>
                </a:cubicBezTo>
                <a:cubicBezTo>
                  <a:pt x="1790876" y="197018"/>
                  <a:pt x="1782935" y="198814"/>
                  <a:pt x="1773336" y="198883"/>
                </a:cubicBezTo>
                <a:cubicBezTo>
                  <a:pt x="1754852" y="198745"/>
                  <a:pt x="1740166" y="192392"/>
                  <a:pt x="1729278" y="179823"/>
                </a:cubicBezTo>
                <a:cubicBezTo>
                  <a:pt x="1718390" y="167255"/>
                  <a:pt x="1712820" y="149300"/>
                  <a:pt x="1712567" y="125959"/>
                </a:cubicBezTo>
                <a:cubicBezTo>
                  <a:pt x="1712584" y="101514"/>
                  <a:pt x="1719041" y="82730"/>
                  <a:pt x="1731937" y="69610"/>
                </a:cubicBezTo>
                <a:cubicBezTo>
                  <a:pt x="1744833" y="56489"/>
                  <a:pt x="1764065" y="49859"/>
                  <a:pt x="1789633" y="49721"/>
                </a:cubicBezTo>
                <a:close/>
                <a:moveTo>
                  <a:pt x="1622870" y="49721"/>
                </a:moveTo>
                <a:cubicBezTo>
                  <a:pt x="1647903" y="49842"/>
                  <a:pt x="1665443" y="54503"/>
                  <a:pt x="1675491" y="63705"/>
                </a:cubicBezTo>
                <a:cubicBezTo>
                  <a:pt x="1685538" y="72907"/>
                  <a:pt x="1690372" y="85924"/>
                  <a:pt x="1689992" y="102757"/>
                </a:cubicBezTo>
                <a:lnTo>
                  <a:pt x="1689992" y="195568"/>
                </a:lnTo>
                <a:lnTo>
                  <a:pt x="1659608" y="195568"/>
                </a:lnTo>
                <a:lnTo>
                  <a:pt x="1659608" y="108005"/>
                </a:lnTo>
                <a:cubicBezTo>
                  <a:pt x="1659941" y="97111"/>
                  <a:pt x="1657478" y="88997"/>
                  <a:pt x="1652219" y="83662"/>
                </a:cubicBezTo>
                <a:cubicBezTo>
                  <a:pt x="1646959" y="78328"/>
                  <a:pt x="1636900" y="75669"/>
                  <a:pt x="1622041" y="75686"/>
                </a:cubicBezTo>
                <a:cubicBezTo>
                  <a:pt x="1618416" y="75692"/>
                  <a:pt x="1614548" y="75888"/>
                  <a:pt x="1610440" y="76273"/>
                </a:cubicBezTo>
                <a:cubicBezTo>
                  <a:pt x="1606331" y="76659"/>
                  <a:pt x="1602187" y="77200"/>
                  <a:pt x="1598009" y="77896"/>
                </a:cubicBezTo>
                <a:lnTo>
                  <a:pt x="1598009" y="195568"/>
                </a:lnTo>
                <a:lnTo>
                  <a:pt x="1567625" y="195568"/>
                </a:lnTo>
                <a:lnTo>
                  <a:pt x="1567625" y="57456"/>
                </a:lnTo>
                <a:cubicBezTo>
                  <a:pt x="1577471" y="55079"/>
                  <a:pt x="1587265" y="53203"/>
                  <a:pt x="1597008" y="51828"/>
                </a:cubicBezTo>
                <a:cubicBezTo>
                  <a:pt x="1606751" y="50452"/>
                  <a:pt x="1615371" y="49750"/>
                  <a:pt x="1622870" y="49721"/>
                </a:cubicBezTo>
                <a:close/>
                <a:moveTo>
                  <a:pt x="1470336" y="49721"/>
                </a:moveTo>
                <a:cubicBezTo>
                  <a:pt x="1485815" y="49861"/>
                  <a:pt x="1498777" y="53111"/>
                  <a:pt x="1509223" y="59471"/>
                </a:cubicBezTo>
                <a:cubicBezTo>
                  <a:pt x="1519668" y="65831"/>
                  <a:pt x="1527535" y="74462"/>
                  <a:pt x="1532825" y="85365"/>
                </a:cubicBezTo>
                <a:cubicBezTo>
                  <a:pt x="1538114" y="96267"/>
                  <a:pt x="1540764" y="108602"/>
                  <a:pt x="1540774" y="122369"/>
                </a:cubicBezTo>
                <a:cubicBezTo>
                  <a:pt x="1540555" y="146705"/>
                  <a:pt x="1534018" y="165500"/>
                  <a:pt x="1521162" y="178753"/>
                </a:cubicBezTo>
                <a:cubicBezTo>
                  <a:pt x="1508306" y="192006"/>
                  <a:pt x="1490443" y="198716"/>
                  <a:pt x="1467574" y="198883"/>
                </a:cubicBezTo>
                <a:cubicBezTo>
                  <a:pt x="1452360" y="198743"/>
                  <a:pt x="1439544" y="195493"/>
                  <a:pt x="1429128" y="189133"/>
                </a:cubicBezTo>
                <a:cubicBezTo>
                  <a:pt x="1418711" y="182773"/>
                  <a:pt x="1410827" y="174142"/>
                  <a:pt x="1405475" y="163240"/>
                </a:cubicBezTo>
                <a:cubicBezTo>
                  <a:pt x="1400122" y="152337"/>
                  <a:pt x="1397435" y="140003"/>
                  <a:pt x="1397413" y="126236"/>
                </a:cubicBezTo>
                <a:cubicBezTo>
                  <a:pt x="1397655" y="101899"/>
                  <a:pt x="1404215" y="83104"/>
                  <a:pt x="1417094" y="69851"/>
                </a:cubicBezTo>
                <a:cubicBezTo>
                  <a:pt x="1429973" y="56598"/>
                  <a:pt x="1447720" y="49888"/>
                  <a:pt x="1470336" y="49721"/>
                </a:cubicBezTo>
                <a:close/>
                <a:moveTo>
                  <a:pt x="1329662" y="49721"/>
                </a:moveTo>
                <a:cubicBezTo>
                  <a:pt x="1338351" y="49704"/>
                  <a:pt x="1346454" y="50222"/>
                  <a:pt x="1353969" y="51275"/>
                </a:cubicBezTo>
                <a:cubicBezTo>
                  <a:pt x="1361485" y="52328"/>
                  <a:pt x="1368483" y="54020"/>
                  <a:pt x="1374963" y="56351"/>
                </a:cubicBezTo>
                <a:cubicBezTo>
                  <a:pt x="1374709" y="60316"/>
                  <a:pt x="1374249" y="64263"/>
                  <a:pt x="1373581" y="68194"/>
                </a:cubicBezTo>
                <a:cubicBezTo>
                  <a:pt x="1372914" y="72124"/>
                  <a:pt x="1371901" y="76279"/>
                  <a:pt x="1370543" y="80659"/>
                </a:cubicBezTo>
                <a:cubicBezTo>
                  <a:pt x="1364092" y="78604"/>
                  <a:pt x="1357589" y="77119"/>
                  <a:pt x="1351035" y="76204"/>
                </a:cubicBezTo>
                <a:cubicBezTo>
                  <a:pt x="1344480" y="75289"/>
                  <a:pt x="1337632" y="74841"/>
                  <a:pt x="1330490" y="74858"/>
                </a:cubicBezTo>
                <a:cubicBezTo>
                  <a:pt x="1321018" y="74933"/>
                  <a:pt x="1314550" y="76302"/>
                  <a:pt x="1311086" y="78967"/>
                </a:cubicBezTo>
                <a:cubicBezTo>
                  <a:pt x="1307621" y="81631"/>
                  <a:pt x="1305987" y="85141"/>
                  <a:pt x="1306182" y="89498"/>
                </a:cubicBezTo>
                <a:cubicBezTo>
                  <a:pt x="1306165" y="94504"/>
                  <a:pt x="1307926" y="98510"/>
                  <a:pt x="1311465" y="101514"/>
                </a:cubicBezTo>
                <a:cubicBezTo>
                  <a:pt x="1315004" y="104517"/>
                  <a:pt x="1320425" y="107142"/>
                  <a:pt x="1327728" y="109386"/>
                </a:cubicBezTo>
                <a:lnTo>
                  <a:pt x="1342368" y="114082"/>
                </a:lnTo>
                <a:cubicBezTo>
                  <a:pt x="1355414" y="118104"/>
                  <a:pt x="1364955" y="123456"/>
                  <a:pt x="1370992" y="130137"/>
                </a:cubicBezTo>
                <a:cubicBezTo>
                  <a:pt x="1377029" y="136819"/>
                  <a:pt x="1380009" y="145554"/>
                  <a:pt x="1379935" y="156344"/>
                </a:cubicBezTo>
                <a:cubicBezTo>
                  <a:pt x="1379865" y="169114"/>
                  <a:pt x="1375032" y="179346"/>
                  <a:pt x="1365433" y="187040"/>
                </a:cubicBezTo>
                <a:cubicBezTo>
                  <a:pt x="1355834" y="194734"/>
                  <a:pt x="1341885" y="198681"/>
                  <a:pt x="1323585" y="198883"/>
                </a:cubicBezTo>
                <a:cubicBezTo>
                  <a:pt x="1313428" y="198906"/>
                  <a:pt x="1304393" y="198169"/>
                  <a:pt x="1296480" y="196673"/>
                </a:cubicBezTo>
                <a:cubicBezTo>
                  <a:pt x="1288567" y="195177"/>
                  <a:pt x="1281397" y="192783"/>
                  <a:pt x="1274969" y="189491"/>
                </a:cubicBezTo>
                <a:cubicBezTo>
                  <a:pt x="1275245" y="183863"/>
                  <a:pt x="1275729" y="178960"/>
                  <a:pt x="1276419" y="174782"/>
                </a:cubicBezTo>
                <a:cubicBezTo>
                  <a:pt x="1277110" y="170604"/>
                  <a:pt x="1278008" y="166944"/>
                  <a:pt x="1279112" y="163802"/>
                </a:cubicBezTo>
                <a:cubicBezTo>
                  <a:pt x="1285661" y="166985"/>
                  <a:pt x="1292866" y="169390"/>
                  <a:pt x="1300727" y="171019"/>
                </a:cubicBezTo>
                <a:cubicBezTo>
                  <a:pt x="1308588" y="172647"/>
                  <a:pt x="1315931" y="173464"/>
                  <a:pt x="1322756" y="173470"/>
                </a:cubicBezTo>
                <a:cubicBezTo>
                  <a:pt x="1331497" y="173516"/>
                  <a:pt x="1338184" y="172250"/>
                  <a:pt x="1342817" y="169672"/>
                </a:cubicBezTo>
                <a:cubicBezTo>
                  <a:pt x="1347449" y="167094"/>
                  <a:pt x="1349786" y="162928"/>
                  <a:pt x="1349826" y="157173"/>
                </a:cubicBezTo>
                <a:cubicBezTo>
                  <a:pt x="1349757" y="152189"/>
                  <a:pt x="1347823" y="148345"/>
                  <a:pt x="1344025" y="145640"/>
                </a:cubicBezTo>
                <a:cubicBezTo>
                  <a:pt x="1340227" y="142936"/>
                  <a:pt x="1334979" y="140611"/>
                  <a:pt x="1328281" y="138666"/>
                </a:cubicBezTo>
                <a:lnTo>
                  <a:pt x="1314193" y="134246"/>
                </a:lnTo>
                <a:cubicBezTo>
                  <a:pt x="1300434" y="129821"/>
                  <a:pt x="1290731" y="123963"/>
                  <a:pt x="1285086" y="116671"/>
                </a:cubicBezTo>
                <a:cubicBezTo>
                  <a:pt x="1279440" y="109380"/>
                  <a:pt x="1276713" y="100691"/>
                  <a:pt x="1276903" y="90603"/>
                </a:cubicBezTo>
                <a:cubicBezTo>
                  <a:pt x="1276926" y="77781"/>
                  <a:pt x="1281368" y="67791"/>
                  <a:pt x="1290231" y="60632"/>
                </a:cubicBezTo>
                <a:cubicBezTo>
                  <a:pt x="1299093" y="53473"/>
                  <a:pt x="1312236" y="49836"/>
                  <a:pt x="1329662" y="49721"/>
                </a:cubicBezTo>
                <a:close/>
                <a:moveTo>
                  <a:pt x="1238555" y="49721"/>
                </a:moveTo>
                <a:cubicBezTo>
                  <a:pt x="1243354" y="49716"/>
                  <a:pt x="1248119" y="49796"/>
                  <a:pt x="1252850" y="49963"/>
                </a:cubicBezTo>
                <a:cubicBezTo>
                  <a:pt x="1257580" y="50130"/>
                  <a:pt x="1261654" y="50418"/>
                  <a:pt x="1265073" y="50826"/>
                </a:cubicBezTo>
                <a:cubicBezTo>
                  <a:pt x="1265061" y="55534"/>
                  <a:pt x="1264808" y="60275"/>
                  <a:pt x="1264313" y="65052"/>
                </a:cubicBezTo>
                <a:cubicBezTo>
                  <a:pt x="1263818" y="69828"/>
                  <a:pt x="1263151" y="73741"/>
                  <a:pt x="1262310" y="76791"/>
                </a:cubicBezTo>
                <a:cubicBezTo>
                  <a:pt x="1258748" y="76383"/>
                  <a:pt x="1255100" y="76095"/>
                  <a:pt x="1251365" y="75928"/>
                </a:cubicBezTo>
                <a:cubicBezTo>
                  <a:pt x="1247630" y="75761"/>
                  <a:pt x="1243636" y="75681"/>
                  <a:pt x="1239384" y="75686"/>
                </a:cubicBezTo>
                <a:cubicBezTo>
                  <a:pt x="1231926" y="75686"/>
                  <a:pt x="1224468" y="76239"/>
                  <a:pt x="1217010" y="77344"/>
                </a:cubicBezTo>
                <a:lnTo>
                  <a:pt x="1217010" y="195568"/>
                </a:lnTo>
                <a:lnTo>
                  <a:pt x="1186625" y="195568"/>
                </a:lnTo>
                <a:lnTo>
                  <a:pt x="1186625" y="57456"/>
                </a:lnTo>
                <a:cubicBezTo>
                  <a:pt x="1193398" y="55200"/>
                  <a:pt x="1201535" y="53358"/>
                  <a:pt x="1211036" y="51931"/>
                </a:cubicBezTo>
                <a:cubicBezTo>
                  <a:pt x="1220537" y="50504"/>
                  <a:pt x="1229710" y="49767"/>
                  <a:pt x="1238555" y="49721"/>
                </a:cubicBezTo>
                <a:close/>
                <a:moveTo>
                  <a:pt x="1102862" y="49721"/>
                </a:moveTo>
                <a:cubicBezTo>
                  <a:pt x="1124425" y="50182"/>
                  <a:pt x="1140204" y="56374"/>
                  <a:pt x="1150200" y="68297"/>
                </a:cubicBezTo>
                <a:cubicBezTo>
                  <a:pt x="1160196" y="80221"/>
                  <a:pt x="1165133" y="95114"/>
                  <a:pt x="1165012" y="112977"/>
                </a:cubicBezTo>
                <a:cubicBezTo>
                  <a:pt x="1165012" y="117201"/>
                  <a:pt x="1164874" y="121183"/>
                  <a:pt x="1164598" y="124924"/>
                </a:cubicBezTo>
                <a:cubicBezTo>
                  <a:pt x="1164322" y="128664"/>
                  <a:pt x="1163908" y="132508"/>
                  <a:pt x="1163355" y="136456"/>
                </a:cubicBezTo>
                <a:lnTo>
                  <a:pt x="1066400" y="136456"/>
                </a:lnTo>
                <a:cubicBezTo>
                  <a:pt x="1068288" y="148731"/>
                  <a:pt x="1072937" y="157881"/>
                  <a:pt x="1080349" y="163906"/>
                </a:cubicBezTo>
                <a:cubicBezTo>
                  <a:pt x="1087762" y="169931"/>
                  <a:pt x="1098212" y="172935"/>
                  <a:pt x="1111701" y="172918"/>
                </a:cubicBezTo>
                <a:cubicBezTo>
                  <a:pt x="1120028" y="172912"/>
                  <a:pt x="1128303" y="172026"/>
                  <a:pt x="1136527" y="170259"/>
                </a:cubicBezTo>
                <a:cubicBezTo>
                  <a:pt x="1144750" y="168492"/>
                  <a:pt x="1152680" y="165880"/>
                  <a:pt x="1160317" y="162421"/>
                </a:cubicBezTo>
                <a:cubicBezTo>
                  <a:pt x="1159758" y="166507"/>
                  <a:pt x="1159079" y="170973"/>
                  <a:pt x="1158279" y="175818"/>
                </a:cubicBezTo>
                <a:cubicBezTo>
                  <a:pt x="1157479" y="180663"/>
                  <a:pt x="1156593" y="185405"/>
                  <a:pt x="1155621" y="190044"/>
                </a:cubicBezTo>
                <a:cubicBezTo>
                  <a:pt x="1148732" y="193191"/>
                  <a:pt x="1141585" y="195459"/>
                  <a:pt x="1134179" y="196846"/>
                </a:cubicBezTo>
                <a:cubicBezTo>
                  <a:pt x="1126772" y="198233"/>
                  <a:pt x="1119004" y="198912"/>
                  <a:pt x="1110872" y="198883"/>
                </a:cubicBezTo>
                <a:cubicBezTo>
                  <a:pt x="1085494" y="198693"/>
                  <a:pt x="1066573" y="192029"/>
                  <a:pt x="1054108" y="178891"/>
                </a:cubicBezTo>
                <a:cubicBezTo>
                  <a:pt x="1041643" y="165753"/>
                  <a:pt x="1035428" y="147281"/>
                  <a:pt x="1035463" y="123473"/>
                </a:cubicBezTo>
                <a:cubicBezTo>
                  <a:pt x="1035400" y="109606"/>
                  <a:pt x="1037644" y="97135"/>
                  <a:pt x="1042194" y="86060"/>
                </a:cubicBezTo>
                <a:cubicBezTo>
                  <a:pt x="1046745" y="74986"/>
                  <a:pt x="1053982" y="66198"/>
                  <a:pt x="1063904" y="59696"/>
                </a:cubicBezTo>
                <a:cubicBezTo>
                  <a:pt x="1073826" y="53195"/>
                  <a:pt x="1086812" y="49870"/>
                  <a:pt x="1102862" y="49721"/>
                </a:cubicBezTo>
                <a:close/>
                <a:moveTo>
                  <a:pt x="750437" y="49721"/>
                </a:moveTo>
                <a:cubicBezTo>
                  <a:pt x="772000" y="50182"/>
                  <a:pt x="787779" y="56374"/>
                  <a:pt x="797775" y="68297"/>
                </a:cubicBezTo>
                <a:cubicBezTo>
                  <a:pt x="807771" y="80221"/>
                  <a:pt x="812708" y="95114"/>
                  <a:pt x="812587" y="112977"/>
                </a:cubicBezTo>
                <a:cubicBezTo>
                  <a:pt x="812587" y="117201"/>
                  <a:pt x="812449" y="121183"/>
                  <a:pt x="812173" y="124924"/>
                </a:cubicBezTo>
                <a:cubicBezTo>
                  <a:pt x="811897" y="128664"/>
                  <a:pt x="811482" y="132508"/>
                  <a:pt x="810930" y="136456"/>
                </a:cubicBezTo>
                <a:lnTo>
                  <a:pt x="713975" y="136456"/>
                </a:lnTo>
                <a:cubicBezTo>
                  <a:pt x="715863" y="148731"/>
                  <a:pt x="720512" y="157881"/>
                  <a:pt x="727924" y="163906"/>
                </a:cubicBezTo>
                <a:cubicBezTo>
                  <a:pt x="735337" y="169931"/>
                  <a:pt x="745787" y="172935"/>
                  <a:pt x="759276" y="172918"/>
                </a:cubicBezTo>
                <a:cubicBezTo>
                  <a:pt x="767603" y="172912"/>
                  <a:pt x="775878" y="172026"/>
                  <a:pt x="784102" y="170259"/>
                </a:cubicBezTo>
                <a:cubicBezTo>
                  <a:pt x="792325" y="168492"/>
                  <a:pt x="800255" y="165880"/>
                  <a:pt x="807892" y="162421"/>
                </a:cubicBezTo>
                <a:cubicBezTo>
                  <a:pt x="807333" y="166507"/>
                  <a:pt x="806654" y="170973"/>
                  <a:pt x="805854" y="175818"/>
                </a:cubicBezTo>
                <a:cubicBezTo>
                  <a:pt x="805055" y="180663"/>
                  <a:pt x="804168" y="185405"/>
                  <a:pt x="803196" y="190044"/>
                </a:cubicBezTo>
                <a:cubicBezTo>
                  <a:pt x="796307" y="193191"/>
                  <a:pt x="789160" y="195459"/>
                  <a:pt x="781754" y="196846"/>
                </a:cubicBezTo>
                <a:cubicBezTo>
                  <a:pt x="774347" y="198233"/>
                  <a:pt x="766579" y="198912"/>
                  <a:pt x="758447" y="198883"/>
                </a:cubicBezTo>
                <a:cubicBezTo>
                  <a:pt x="733069" y="198693"/>
                  <a:pt x="714148" y="192029"/>
                  <a:pt x="701683" y="178891"/>
                </a:cubicBezTo>
                <a:cubicBezTo>
                  <a:pt x="689218" y="165753"/>
                  <a:pt x="683003" y="147281"/>
                  <a:pt x="683038" y="123473"/>
                </a:cubicBezTo>
                <a:cubicBezTo>
                  <a:pt x="682975" y="109606"/>
                  <a:pt x="685219" y="97135"/>
                  <a:pt x="689769" y="86060"/>
                </a:cubicBezTo>
                <a:cubicBezTo>
                  <a:pt x="694320" y="74986"/>
                  <a:pt x="701557" y="66198"/>
                  <a:pt x="711479" y="59696"/>
                </a:cubicBezTo>
                <a:cubicBezTo>
                  <a:pt x="721401" y="53195"/>
                  <a:pt x="734387" y="49870"/>
                  <a:pt x="750437" y="49721"/>
                </a:cubicBezTo>
                <a:close/>
                <a:moveTo>
                  <a:pt x="525285" y="49721"/>
                </a:moveTo>
                <a:cubicBezTo>
                  <a:pt x="551302" y="49859"/>
                  <a:pt x="570534" y="56213"/>
                  <a:pt x="582981" y="68781"/>
                </a:cubicBezTo>
                <a:cubicBezTo>
                  <a:pt x="595429" y="81349"/>
                  <a:pt x="601609" y="99304"/>
                  <a:pt x="601523" y="122645"/>
                </a:cubicBezTo>
                <a:cubicBezTo>
                  <a:pt x="601437" y="147091"/>
                  <a:pt x="595049" y="165874"/>
                  <a:pt x="582360" y="178995"/>
                </a:cubicBezTo>
                <a:cubicBezTo>
                  <a:pt x="569671" y="192115"/>
                  <a:pt x="551198" y="198745"/>
                  <a:pt x="526942" y="198883"/>
                </a:cubicBezTo>
                <a:cubicBezTo>
                  <a:pt x="517597" y="198837"/>
                  <a:pt x="509494" y="197824"/>
                  <a:pt x="502634" y="195844"/>
                </a:cubicBezTo>
                <a:lnTo>
                  <a:pt x="502634" y="248603"/>
                </a:lnTo>
                <a:lnTo>
                  <a:pt x="472250" y="248603"/>
                </a:lnTo>
                <a:lnTo>
                  <a:pt x="472250" y="57456"/>
                </a:lnTo>
                <a:cubicBezTo>
                  <a:pt x="479587" y="55200"/>
                  <a:pt x="487908" y="53358"/>
                  <a:pt x="497213" y="51931"/>
                </a:cubicBezTo>
                <a:cubicBezTo>
                  <a:pt x="506519" y="50504"/>
                  <a:pt x="515876" y="49767"/>
                  <a:pt x="525285" y="49721"/>
                </a:cubicBezTo>
                <a:close/>
                <a:moveTo>
                  <a:pt x="283988" y="49721"/>
                </a:moveTo>
                <a:cubicBezTo>
                  <a:pt x="293788" y="49704"/>
                  <a:pt x="302432" y="50567"/>
                  <a:pt x="309919" y="52311"/>
                </a:cubicBezTo>
                <a:cubicBezTo>
                  <a:pt x="317405" y="54055"/>
                  <a:pt x="323770" y="56782"/>
                  <a:pt x="329013" y="60494"/>
                </a:cubicBezTo>
                <a:cubicBezTo>
                  <a:pt x="336925" y="57024"/>
                  <a:pt x="344924" y="54365"/>
                  <a:pt x="353010" y="52518"/>
                </a:cubicBezTo>
                <a:cubicBezTo>
                  <a:pt x="361095" y="50671"/>
                  <a:pt x="369025" y="49739"/>
                  <a:pt x="376800" y="49721"/>
                </a:cubicBezTo>
                <a:cubicBezTo>
                  <a:pt x="399813" y="49842"/>
                  <a:pt x="416006" y="54503"/>
                  <a:pt x="425381" y="63705"/>
                </a:cubicBezTo>
                <a:cubicBezTo>
                  <a:pt x="434755" y="72907"/>
                  <a:pt x="439278" y="85924"/>
                  <a:pt x="438950" y="102757"/>
                </a:cubicBezTo>
                <a:lnTo>
                  <a:pt x="438950" y="195568"/>
                </a:lnTo>
                <a:lnTo>
                  <a:pt x="408565" y="195568"/>
                </a:lnTo>
                <a:lnTo>
                  <a:pt x="408565" y="107176"/>
                </a:lnTo>
                <a:cubicBezTo>
                  <a:pt x="408715" y="96800"/>
                  <a:pt x="406137" y="88963"/>
                  <a:pt x="400831" y="83662"/>
                </a:cubicBezTo>
                <a:cubicBezTo>
                  <a:pt x="395525" y="78362"/>
                  <a:pt x="386594" y="75704"/>
                  <a:pt x="374037" y="75686"/>
                </a:cubicBezTo>
                <a:cubicBezTo>
                  <a:pt x="369031" y="75698"/>
                  <a:pt x="363990" y="76227"/>
                  <a:pt x="358914" y="77275"/>
                </a:cubicBezTo>
                <a:cubicBezTo>
                  <a:pt x="353838" y="78322"/>
                  <a:pt x="348935" y="79818"/>
                  <a:pt x="344205" y="81763"/>
                </a:cubicBezTo>
                <a:cubicBezTo>
                  <a:pt x="346093" y="87794"/>
                  <a:pt x="347013" y="94792"/>
                  <a:pt x="346967" y="102757"/>
                </a:cubicBezTo>
                <a:lnTo>
                  <a:pt x="346967" y="195568"/>
                </a:lnTo>
                <a:lnTo>
                  <a:pt x="316582" y="195568"/>
                </a:lnTo>
                <a:lnTo>
                  <a:pt x="316582" y="106900"/>
                </a:lnTo>
                <a:cubicBezTo>
                  <a:pt x="316738" y="96657"/>
                  <a:pt x="314079" y="88899"/>
                  <a:pt x="308607" y="83628"/>
                </a:cubicBezTo>
                <a:cubicBezTo>
                  <a:pt x="303134" y="78357"/>
                  <a:pt x="293915" y="75710"/>
                  <a:pt x="280949" y="75686"/>
                </a:cubicBezTo>
                <a:cubicBezTo>
                  <a:pt x="276639" y="75686"/>
                  <a:pt x="272277" y="75894"/>
                  <a:pt x="267863" y="76308"/>
                </a:cubicBezTo>
                <a:cubicBezTo>
                  <a:pt x="263450" y="76722"/>
                  <a:pt x="259157" y="77344"/>
                  <a:pt x="254984" y="78173"/>
                </a:cubicBezTo>
                <a:lnTo>
                  <a:pt x="254984" y="195568"/>
                </a:lnTo>
                <a:lnTo>
                  <a:pt x="224600" y="195568"/>
                </a:lnTo>
                <a:lnTo>
                  <a:pt x="224600" y="57456"/>
                </a:lnTo>
                <a:cubicBezTo>
                  <a:pt x="234360" y="55079"/>
                  <a:pt x="244327" y="53203"/>
                  <a:pt x="254501" y="51828"/>
                </a:cubicBezTo>
                <a:cubicBezTo>
                  <a:pt x="264675" y="50452"/>
                  <a:pt x="274504" y="49750"/>
                  <a:pt x="283988" y="49721"/>
                </a:cubicBezTo>
                <a:close/>
                <a:moveTo>
                  <a:pt x="944528" y="28452"/>
                </a:moveTo>
                <a:cubicBezTo>
                  <a:pt x="941173" y="28435"/>
                  <a:pt x="937593" y="28538"/>
                  <a:pt x="933789" y="28763"/>
                </a:cubicBezTo>
                <a:cubicBezTo>
                  <a:pt x="929986" y="28987"/>
                  <a:pt x="926199" y="29436"/>
                  <a:pt x="922430" y="30109"/>
                </a:cubicBezTo>
                <a:lnTo>
                  <a:pt x="922430" y="101375"/>
                </a:lnTo>
                <a:lnTo>
                  <a:pt x="945633" y="101375"/>
                </a:lnTo>
                <a:cubicBezTo>
                  <a:pt x="960790" y="101312"/>
                  <a:pt x="972047" y="98193"/>
                  <a:pt x="979401" y="92018"/>
                </a:cubicBezTo>
                <a:cubicBezTo>
                  <a:pt x="986756" y="85844"/>
                  <a:pt x="990416" y="76993"/>
                  <a:pt x="990381" y="65466"/>
                </a:cubicBezTo>
                <a:cubicBezTo>
                  <a:pt x="990439" y="52927"/>
                  <a:pt x="986733" y="43616"/>
                  <a:pt x="979263" y="37533"/>
                </a:cubicBezTo>
                <a:cubicBezTo>
                  <a:pt x="971793" y="31450"/>
                  <a:pt x="960215" y="28423"/>
                  <a:pt x="944528" y="28452"/>
                </a:cubicBezTo>
                <a:close/>
                <a:moveTo>
                  <a:pt x="2005917" y="4420"/>
                </a:moveTo>
                <a:lnTo>
                  <a:pt x="2120275" y="4420"/>
                </a:lnTo>
                <a:cubicBezTo>
                  <a:pt x="2119998" y="8558"/>
                  <a:pt x="2119584" y="13127"/>
                  <a:pt x="2119032" y="18128"/>
                </a:cubicBezTo>
                <a:cubicBezTo>
                  <a:pt x="2118479" y="23129"/>
                  <a:pt x="2117789" y="27767"/>
                  <a:pt x="2116960" y="32043"/>
                </a:cubicBezTo>
                <a:lnTo>
                  <a:pt x="2036855" y="32043"/>
                </a:lnTo>
                <a:lnTo>
                  <a:pt x="2036855" y="85631"/>
                </a:lnTo>
                <a:lnTo>
                  <a:pt x="2115026" y="85631"/>
                </a:lnTo>
                <a:cubicBezTo>
                  <a:pt x="2114750" y="89636"/>
                  <a:pt x="2114336" y="94124"/>
                  <a:pt x="2113783" y="99097"/>
                </a:cubicBezTo>
                <a:cubicBezTo>
                  <a:pt x="2113231" y="104069"/>
                  <a:pt x="2112540" y="108695"/>
                  <a:pt x="2111712" y="112977"/>
                </a:cubicBezTo>
                <a:lnTo>
                  <a:pt x="2036855" y="112977"/>
                </a:lnTo>
                <a:lnTo>
                  <a:pt x="2036855" y="195568"/>
                </a:lnTo>
                <a:lnTo>
                  <a:pt x="2005917" y="195568"/>
                </a:lnTo>
                <a:close/>
                <a:moveTo>
                  <a:pt x="1902809" y="2211"/>
                </a:moveTo>
                <a:lnTo>
                  <a:pt x="1902809" y="195568"/>
                </a:lnTo>
                <a:lnTo>
                  <a:pt x="1872425" y="195568"/>
                </a:lnTo>
                <a:lnTo>
                  <a:pt x="1872425" y="6630"/>
                </a:lnTo>
                <a:cubicBezTo>
                  <a:pt x="1876488" y="5479"/>
                  <a:pt x="1881345" y="4466"/>
                  <a:pt x="1886996" y="3592"/>
                </a:cubicBezTo>
                <a:cubicBezTo>
                  <a:pt x="1892647" y="2717"/>
                  <a:pt x="1897918" y="2257"/>
                  <a:pt x="1902809" y="2211"/>
                </a:cubicBezTo>
                <a:close/>
                <a:moveTo>
                  <a:pt x="655034" y="2211"/>
                </a:moveTo>
                <a:lnTo>
                  <a:pt x="655034" y="195568"/>
                </a:lnTo>
                <a:lnTo>
                  <a:pt x="624650" y="195568"/>
                </a:lnTo>
                <a:lnTo>
                  <a:pt x="624650" y="6630"/>
                </a:lnTo>
                <a:cubicBezTo>
                  <a:pt x="628712" y="5479"/>
                  <a:pt x="633569" y="4466"/>
                  <a:pt x="639221" y="3592"/>
                </a:cubicBezTo>
                <a:cubicBezTo>
                  <a:pt x="644872" y="2717"/>
                  <a:pt x="650143" y="2257"/>
                  <a:pt x="655034" y="2211"/>
                </a:cubicBezTo>
                <a:close/>
                <a:moveTo>
                  <a:pt x="943423" y="1382"/>
                </a:moveTo>
                <a:cubicBezTo>
                  <a:pt x="963261" y="1532"/>
                  <a:pt x="978921" y="4393"/>
                  <a:pt x="990401" y="9965"/>
                </a:cubicBezTo>
                <a:cubicBezTo>
                  <a:pt x="1001882" y="15538"/>
                  <a:pt x="1010032" y="22921"/>
                  <a:pt x="1014852" y="32115"/>
                </a:cubicBezTo>
                <a:cubicBezTo>
                  <a:pt x="1019673" y="41308"/>
                  <a:pt x="1022012" y="51413"/>
                  <a:pt x="1021871" y="62428"/>
                </a:cubicBezTo>
                <a:cubicBezTo>
                  <a:pt x="1021715" y="83283"/>
                  <a:pt x="1015051" y="99373"/>
                  <a:pt x="1001879" y="110698"/>
                </a:cubicBezTo>
                <a:cubicBezTo>
                  <a:pt x="988706" y="122023"/>
                  <a:pt x="969958" y="127755"/>
                  <a:pt x="945633" y="127893"/>
                </a:cubicBezTo>
                <a:lnTo>
                  <a:pt x="922430" y="127893"/>
                </a:lnTo>
                <a:lnTo>
                  <a:pt x="922430" y="195292"/>
                </a:lnTo>
                <a:lnTo>
                  <a:pt x="891492" y="195292"/>
                </a:lnTo>
                <a:lnTo>
                  <a:pt x="891492" y="6906"/>
                </a:lnTo>
                <a:cubicBezTo>
                  <a:pt x="898473" y="5347"/>
                  <a:pt x="906610" y="4046"/>
                  <a:pt x="915904" y="3005"/>
                </a:cubicBezTo>
                <a:cubicBezTo>
                  <a:pt x="925198" y="1963"/>
                  <a:pt x="934371" y="1422"/>
                  <a:pt x="943423" y="1382"/>
                </a:cubicBezTo>
                <a:close/>
                <a:moveTo>
                  <a:pt x="2316242" y="1106"/>
                </a:moveTo>
                <a:cubicBezTo>
                  <a:pt x="2321738" y="1215"/>
                  <a:pt x="2326215" y="2999"/>
                  <a:pt x="2329673" y="6458"/>
                </a:cubicBezTo>
                <a:cubicBezTo>
                  <a:pt x="2333132" y="9916"/>
                  <a:pt x="2334916" y="14393"/>
                  <a:pt x="2335025" y="19889"/>
                </a:cubicBezTo>
                <a:cubicBezTo>
                  <a:pt x="2334916" y="25385"/>
                  <a:pt x="2333132" y="29862"/>
                  <a:pt x="2329673" y="33320"/>
                </a:cubicBezTo>
                <a:cubicBezTo>
                  <a:pt x="2326215" y="36779"/>
                  <a:pt x="2321738" y="38563"/>
                  <a:pt x="2316242" y="38672"/>
                </a:cubicBezTo>
                <a:cubicBezTo>
                  <a:pt x="2310614" y="38563"/>
                  <a:pt x="2306056" y="36779"/>
                  <a:pt x="2302569" y="33320"/>
                </a:cubicBezTo>
                <a:cubicBezTo>
                  <a:pt x="2299082" y="29862"/>
                  <a:pt x="2297286" y="25385"/>
                  <a:pt x="2297183" y="19889"/>
                </a:cubicBezTo>
                <a:cubicBezTo>
                  <a:pt x="2297286" y="14393"/>
                  <a:pt x="2299082" y="9916"/>
                  <a:pt x="2302569" y="6458"/>
                </a:cubicBezTo>
                <a:cubicBezTo>
                  <a:pt x="2306056" y="2999"/>
                  <a:pt x="2310614" y="1215"/>
                  <a:pt x="2316242" y="1106"/>
                </a:cubicBezTo>
                <a:close/>
                <a:moveTo>
                  <a:pt x="173117" y="1106"/>
                </a:moveTo>
                <a:cubicBezTo>
                  <a:pt x="178613" y="1215"/>
                  <a:pt x="183090" y="2999"/>
                  <a:pt x="186549" y="6458"/>
                </a:cubicBezTo>
                <a:cubicBezTo>
                  <a:pt x="190007" y="9916"/>
                  <a:pt x="191791" y="14393"/>
                  <a:pt x="191900" y="19889"/>
                </a:cubicBezTo>
                <a:cubicBezTo>
                  <a:pt x="191791" y="25385"/>
                  <a:pt x="190007" y="29862"/>
                  <a:pt x="186549" y="33320"/>
                </a:cubicBezTo>
                <a:cubicBezTo>
                  <a:pt x="183090" y="36779"/>
                  <a:pt x="178613" y="38563"/>
                  <a:pt x="173117" y="38672"/>
                </a:cubicBezTo>
                <a:cubicBezTo>
                  <a:pt x="167489" y="38563"/>
                  <a:pt x="162931" y="36779"/>
                  <a:pt x="159444" y="33320"/>
                </a:cubicBezTo>
                <a:cubicBezTo>
                  <a:pt x="155957" y="29862"/>
                  <a:pt x="154161" y="25385"/>
                  <a:pt x="154058" y="19889"/>
                </a:cubicBezTo>
                <a:cubicBezTo>
                  <a:pt x="154161" y="14393"/>
                  <a:pt x="155957" y="9916"/>
                  <a:pt x="159444" y="6458"/>
                </a:cubicBezTo>
                <a:cubicBezTo>
                  <a:pt x="162931" y="2999"/>
                  <a:pt x="167489" y="1215"/>
                  <a:pt x="173117" y="1106"/>
                </a:cubicBezTo>
                <a:close/>
                <a:moveTo>
                  <a:pt x="68228" y="1"/>
                </a:moveTo>
                <a:cubicBezTo>
                  <a:pt x="77205" y="-11"/>
                  <a:pt x="85906" y="634"/>
                  <a:pt x="94331" y="1934"/>
                </a:cubicBezTo>
                <a:cubicBezTo>
                  <a:pt x="102756" y="3235"/>
                  <a:pt x="110904" y="5261"/>
                  <a:pt x="118777" y="8011"/>
                </a:cubicBezTo>
                <a:cubicBezTo>
                  <a:pt x="118357" y="13496"/>
                  <a:pt x="117678" y="18479"/>
                  <a:pt x="116740" y="22962"/>
                </a:cubicBezTo>
                <a:cubicBezTo>
                  <a:pt x="115802" y="27445"/>
                  <a:pt x="114639" y="31669"/>
                  <a:pt x="113252" y="35634"/>
                </a:cubicBezTo>
                <a:cubicBezTo>
                  <a:pt x="105633" y="32883"/>
                  <a:pt x="97807" y="30857"/>
                  <a:pt x="89773" y="29557"/>
                </a:cubicBezTo>
                <a:cubicBezTo>
                  <a:pt x="81740" y="28256"/>
                  <a:pt x="74466" y="27612"/>
                  <a:pt x="67951" y="27623"/>
                </a:cubicBezTo>
                <a:cubicBezTo>
                  <a:pt x="55976" y="27710"/>
                  <a:pt x="47125" y="29885"/>
                  <a:pt x="41399" y="34149"/>
                </a:cubicBezTo>
                <a:cubicBezTo>
                  <a:pt x="35673" y="38413"/>
                  <a:pt x="32831" y="44249"/>
                  <a:pt x="32871" y="51655"/>
                </a:cubicBezTo>
                <a:cubicBezTo>
                  <a:pt x="32917" y="58710"/>
                  <a:pt x="35518" y="64626"/>
                  <a:pt x="40674" y="69402"/>
                </a:cubicBezTo>
                <a:cubicBezTo>
                  <a:pt x="45831" y="74179"/>
                  <a:pt x="53266" y="78575"/>
                  <a:pt x="62979" y="82592"/>
                </a:cubicBezTo>
                <a:lnTo>
                  <a:pt x="77896" y="88945"/>
                </a:lnTo>
                <a:cubicBezTo>
                  <a:pt x="95315" y="96190"/>
                  <a:pt x="107987" y="104282"/>
                  <a:pt x="115911" y="113219"/>
                </a:cubicBezTo>
                <a:cubicBezTo>
                  <a:pt x="123835" y="122156"/>
                  <a:pt x="127737" y="133216"/>
                  <a:pt x="127616" y="146400"/>
                </a:cubicBezTo>
                <a:cubicBezTo>
                  <a:pt x="127593" y="162530"/>
                  <a:pt x="121631" y="175432"/>
                  <a:pt x="109731" y="185106"/>
                </a:cubicBezTo>
                <a:cubicBezTo>
                  <a:pt x="97830" y="194780"/>
                  <a:pt x="80128" y="199740"/>
                  <a:pt x="56626" y="199988"/>
                </a:cubicBezTo>
                <a:cubicBezTo>
                  <a:pt x="45324" y="199999"/>
                  <a:pt x="34989" y="199148"/>
                  <a:pt x="25620" y="197433"/>
                </a:cubicBezTo>
                <a:cubicBezTo>
                  <a:pt x="16251" y="195718"/>
                  <a:pt x="7711" y="193071"/>
                  <a:pt x="0" y="189491"/>
                </a:cubicBezTo>
                <a:cubicBezTo>
                  <a:pt x="271" y="183926"/>
                  <a:pt x="835" y="178966"/>
                  <a:pt x="1692" y="174610"/>
                </a:cubicBezTo>
                <a:cubicBezTo>
                  <a:pt x="2550" y="170253"/>
                  <a:pt x="3735" y="165914"/>
                  <a:pt x="5248" y="161592"/>
                </a:cubicBezTo>
                <a:cubicBezTo>
                  <a:pt x="13173" y="165183"/>
                  <a:pt x="21632" y="167877"/>
                  <a:pt x="30627" y="169672"/>
                </a:cubicBezTo>
                <a:cubicBezTo>
                  <a:pt x="39621" y="171467"/>
                  <a:pt x="48012" y="172365"/>
                  <a:pt x="55798" y="172365"/>
                </a:cubicBezTo>
                <a:cubicBezTo>
                  <a:pt x="68705" y="172359"/>
                  <a:pt x="78592" y="170299"/>
                  <a:pt x="85457" y="166185"/>
                </a:cubicBezTo>
                <a:cubicBezTo>
                  <a:pt x="92323" y="162070"/>
                  <a:pt x="95787" y="155936"/>
                  <a:pt x="95850" y="147781"/>
                </a:cubicBezTo>
                <a:cubicBezTo>
                  <a:pt x="95954" y="140030"/>
                  <a:pt x="93123" y="133642"/>
                  <a:pt x="87356" y="128618"/>
                </a:cubicBezTo>
                <a:cubicBezTo>
                  <a:pt x="81590" y="123594"/>
                  <a:pt x="72268" y="118381"/>
                  <a:pt x="59388" y="112977"/>
                </a:cubicBezTo>
                <a:lnTo>
                  <a:pt x="45301" y="106900"/>
                </a:lnTo>
                <a:cubicBezTo>
                  <a:pt x="32123" y="101473"/>
                  <a:pt x="21603" y="94510"/>
                  <a:pt x="13742" y="86010"/>
                </a:cubicBezTo>
                <a:cubicBezTo>
                  <a:pt x="5881" y="77511"/>
                  <a:pt x="1853" y="66059"/>
                  <a:pt x="1657" y="51655"/>
                </a:cubicBezTo>
                <a:cubicBezTo>
                  <a:pt x="1634" y="35726"/>
                  <a:pt x="7136" y="23181"/>
                  <a:pt x="18162" y="14019"/>
                </a:cubicBezTo>
                <a:cubicBezTo>
                  <a:pt x="29188" y="4858"/>
                  <a:pt x="45877" y="185"/>
                  <a:pt x="68228" y="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Tree>
    <p:extLst>
      <p:ext uri="{BB962C8B-B14F-4D97-AF65-F5344CB8AC3E}">
        <p14:creationId xmlns:p14="http://schemas.microsoft.com/office/powerpoint/2010/main" val="184289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128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Separador blanco">
    <p:spTree>
      <p:nvGrpSpPr>
        <p:cNvPr id="1" name=""/>
        <p:cNvGrpSpPr/>
        <p:nvPr/>
      </p:nvGrpSpPr>
      <p:grpSpPr>
        <a:xfrm>
          <a:off x="0" y="0"/>
          <a:ext cx="0" cy="0"/>
          <a:chOff x="0" y="0"/>
          <a:chExt cx="0" cy="0"/>
        </a:xfrm>
      </p:grpSpPr>
      <p:sp>
        <p:nvSpPr>
          <p:cNvPr id="7" name="Forma libre: forma 6">
            <a:extLst>
              <a:ext uri="{FF2B5EF4-FFF2-40B4-BE49-F238E27FC236}">
                <a16:creationId xmlns:a16="http://schemas.microsoft.com/office/drawing/2014/main" id="{49C540BB-A189-4361-ABD8-4DA84C6612C3}"/>
              </a:ext>
            </a:extLst>
          </p:cNvPr>
          <p:cNvSpPr/>
          <p:nvPr userDrawn="1"/>
        </p:nvSpPr>
        <p:spPr>
          <a:xfrm>
            <a:off x="8925340" y="0"/>
            <a:ext cx="3266660" cy="6858000"/>
          </a:xfrm>
          <a:custGeom>
            <a:avLst/>
            <a:gdLst>
              <a:gd name="connsiteX0" fmla="*/ 1630018 w 3266660"/>
              <a:gd name="connsiteY0" fmla="*/ 0 h 6858000"/>
              <a:gd name="connsiteX1" fmla="*/ 3266660 w 3266660"/>
              <a:gd name="connsiteY1" fmla="*/ 0 h 6858000"/>
              <a:gd name="connsiteX2" fmla="*/ 3266660 w 3266660"/>
              <a:gd name="connsiteY2" fmla="*/ 6858000 h 6858000"/>
              <a:gd name="connsiteX3" fmla="*/ 0 w 3266660"/>
              <a:gd name="connsiteY3" fmla="*/ 6858000 h 6858000"/>
              <a:gd name="connsiteX4" fmla="*/ 0 w 3266660"/>
              <a:gd name="connsiteY4" fmla="*/ 2822713 h 6858000"/>
              <a:gd name="connsiteX5" fmla="*/ 1630018 w 3266660"/>
              <a:gd name="connsiteY5" fmla="*/ 282271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66660" h="6858000">
                <a:moveTo>
                  <a:pt x="1630018" y="0"/>
                </a:moveTo>
                <a:lnTo>
                  <a:pt x="3266660" y="0"/>
                </a:lnTo>
                <a:lnTo>
                  <a:pt x="3266660" y="6858000"/>
                </a:lnTo>
                <a:lnTo>
                  <a:pt x="0" y="6858000"/>
                </a:lnTo>
                <a:lnTo>
                  <a:pt x="0" y="2822713"/>
                </a:lnTo>
                <a:lnTo>
                  <a:pt x="1630018" y="2822713"/>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a:p>
        </p:txBody>
      </p:sp>
      <p:sp>
        <p:nvSpPr>
          <p:cNvPr id="2" name="Título 1">
            <a:extLst>
              <a:ext uri="{FF2B5EF4-FFF2-40B4-BE49-F238E27FC236}">
                <a16:creationId xmlns:a16="http://schemas.microsoft.com/office/drawing/2014/main" id="{B045CB15-1F44-40E1-909E-6233010BC133}"/>
              </a:ext>
            </a:extLst>
          </p:cNvPr>
          <p:cNvSpPr>
            <a:spLocks noGrp="1"/>
          </p:cNvSpPr>
          <p:nvPr>
            <p:ph type="title"/>
          </p:nvPr>
        </p:nvSpPr>
        <p:spPr>
          <a:xfrm>
            <a:off x="722519" y="626373"/>
            <a:ext cx="4386194" cy="2852737"/>
          </a:xfrm>
        </p:spPr>
        <p:txBody>
          <a:bodyPr anchor="t">
            <a:normAutofit/>
          </a:bodyPr>
          <a:lstStyle>
            <a:lvl1pPr>
              <a:lnSpc>
                <a:spcPct val="100000"/>
              </a:lnSpc>
              <a:defRPr sz="4000">
                <a:solidFill>
                  <a:schemeClr val="accent1"/>
                </a:solidFill>
              </a:defRPr>
            </a:lvl1pPr>
          </a:lstStyle>
          <a:p>
            <a:r>
              <a:rPr lang="es-ES"/>
              <a:t>Haga clic para modificar el estilo de título del patrón</a:t>
            </a:r>
          </a:p>
        </p:txBody>
      </p:sp>
      <p:sp>
        <p:nvSpPr>
          <p:cNvPr id="14" name="Marcador de texto 13">
            <a:extLst>
              <a:ext uri="{FF2B5EF4-FFF2-40B4-BE49-F238E27FC236}">
                <a16:creationId xmlns:a16="http://schemas.microsoft.com/office/drawing/2014/main" id="{6E38BAEA-EEE9-4346-9DB7-91D26BC942D7}"/>
              </a:ext>
            </a:extLst>
          </p:cNvPr>
          <p:cNvSpPr>
            <a:spLocks noGrp="1"/>
          </p:cNvSpPr>
          <p:nvPr>
            <p:ph type="body" sz="quarter" idx="14" hasCustomPrompt="1"/>
          </p:nvPr>
        </p:nvSpPr>
        <p:spPr>
          <a:xfrm>
            <a:off x="8945217" y="3270526"/>
            <a:ext cx="2958754" cy="2364961"/>
          </a:xfrm>
        </p:spPr>
        <p:txBody>
          <a:bodyPr>
            <a:noAutofit/>
          </a:bodyPr>
          <a:lstStyle>
            <a:lvl1pPr marL="0" indent="0" algn="r">
              <a:buFontTx/>
              <a:buNone/>
              <a:defRPr sz="16600">
                <a:solidFill>
                  <a:schemeClr val="bg1"/>
                </a:solidFill>
              </a:defRPr>
            </a:lvl1pPr>
            <a:lvl2pPr>
              <a:defRPr sz="13800">
                <a:solidFill>
                  <a:schemeClr val="tx1"/>
                </a:solidFill>
              </a:defRPr>
            </a:lvl2pPr>
            <a:lvl3pPr>
              <a:defRPr sz="11500">
                <a:solidFill>
                  <a:schemeClr val="tx1"/>
                </a:solidFill>
              </a:defRPr>
            </a:lvl3pPr>
            <a:lvl4pPr>
              <a:defRPr sz="9600">
                <a:solidFill>
                  <a:schemeClr val="tx1"/>
                </a:solidFill>
              </a:defRPr>
            </a:lvl4pPr>
            <a:lvl5pPr>
              <a:defRPr sz="9600">
                <a:solidFill>
                  <a:schemeClr val="tx1"/>
                </a:solidFill>
              </a:defRPr>
            </a:lvl5pPr>
          </a:lstStyle>
          <a:p>
            <a:pPr lvl="0"/>
            <a:r>
              <a:rPr lang="es-ES"/>
              <a:t>00</a:t>
            </a:r>
          </a:p>
        </p:txBody>
      </p:sp>
    </p:spTree>
    <p:extLst>
      <p:ext uri="{BB962C8B-B14F-4D97-AF65-F5344CB8AC3E}">
        <p14:creationId xmlns:p14="http://schemas.microsoft.com/office/powerpoint/2010/main" val="634803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tulo y contenido ">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B5AEF2-F43E-4C92-A186-61C1E43CE82B}"/>
              </a:ext>
            </a:extLst>
          </p:cNvPr>
          <p:cNvSpPr>
            <a:spLocks noGrp="1"/>
          </p:cNvSpPr>
          <p:nvPr>
            <p:ph type="title" hasCustomPrompt="1"/>
          </p:nvPr>
        </p:nvSpPr>
        <p:spPr>
          <a:xfrm>
            <a:off x="722243" y="1087457"/>
            <a:ext cx="5297557" cy="1606047"/>
          </a:xfrm>
        </p:spPr>
        <p:txBody>
          <a:bodyPr anchor="t">
            <a:normAutofit/>
          </a:bodyPr>
          <a:lstStyle>
            <a:lvl1pPr>
              <a:defRPr sz="3600">
                <a:solidFill>
                  <a:schemeClr val="accent1"/>
                </a:solidFill>
              </a:defRPr>
            </a:lvl1pPr>
          </a:lstStyle>
          <a:p>
            <a:r>
              <a:rPr lang="es-ES"/>
              <a:t>Aquí Haga clic para modificar el estilo de título del patrón</a:t>
            </a:r>
          </a:p>
        </p:txBody>
      </p:sp>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850317" y="331745"/>
            <a:ext cx="2743200" cy="365125"/>
          </a:xfrm>
        </p:spPr>
        <p:txBody>
          <a:bodyPr/>
          <a:lstStyle>
            <a:lvl1pPr>
              <a:defRPr sz="1300">
                <a:solidFill>
                  <a:schemeClr val="accent1"/>
                </a:solidFill>
              </a:defRPr>
            </a:lvl1pPr>
          </a:lstStyle>
          <a:p>
            <a:fld id="{BC0D97B6-E32F-4D7D-B839-7C3B51F2640F}" type="slidenum">
              <a:rPr lang="es-ES" smtClean="0"/>
              <a:pPr/>
              <a:t>‹Nº›</a:t>
            </a:fld>
            <a:endParaRPr lang="es-ES"/>
          </a:p>
        </p:txBody>
      </p:sp>
      <p:sp>
        <p:nvSpPr>
          <p:cNvPr id="18" name="Marcador de texto 16">
            <a:extLst>
              <a:ext uri="{FF2B5EF4-FFF2-40B4-BE49-F238E27FC236}">
                <a16:creationId xmlns:a16="http://schemas.microsoft.com/office/drawing/2014/main" id="{07C8BA77-3119-41AC-B33B-745A751CC066}"/>
              </a:ext>
            </a:extLst>
          </p:cNvPr>
          <p:cNvSpPr>
            <a:spLocks noGrp="1"/>
          </p:cNvSpPr>
          <p:nvPr>
            <p:ph type="body" sz="quarter" idx="15"/>
          </p:nvPr>
        </p:nvSpPr>
        <p:spPr>
          <a:xfrm>
            <a:off x="711025" y="3093562"/>
            <a:ext cx="5308776" cy="3083401"/>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s-ES"/>
              <a:t>Editar los estilos de texto del patrón</a:t>
            </a:r>
          </a:p>
        </p:txBody>
      </p:sp>
      <p:sp>
        <p:nvSpPr>
          <p:cNvPr id="20" name="Marcador de texto 16">
            <a:extLst>
              <a:ext uri="{FF2B5EF4-FFF2-40B4-BE49-F238E27FC236}">
                <a16:creationId xmlns:a16="http://schemas.microsoft.com/office/drawing/2014/main" id="{81AA2FC0-CE4E-483D-AF92-BEA6CD796B9C}"/>
              </a:ext>
            </a:extLst>
          </p:cNvPr>
          <p:cNvSpPr>
            <a:spLocks noGrp="1"/>
          </p:cNvSpPr>
          <p:nvPr>
            <p:ph type="body" sz="quarter" idx="16"/>
          </p:nvPr>
        </p:nvSpPr>
        <p:spPr>
          <a:xfrm>
            <a:off x="6399971" y="1087458"/>
            <a:ext cx="5081004" cy="5089506"/>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s-ES"/>
              <a:t>Editar los estilos de texto del patrón</a:t>
            </a:r>
          </a:p>
        </p:txBody>
      </p:sp>
      <p:cxnSp>
        <p:nvCxnSpPr>
          <p:cNvPr id="4" name="Conector recto 3"/>
          <p:cNvCxnSpPr/>
          <p:nvPr userDrawn="1"/>
        </p:nvCxnSpPr>
        <p:spPr>
          <a:xfrm>
            <a:off x="0" y="606458"/>
            <a:ext cx="12192000"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Freeform 5">
            <a:extLst>
              <a:ext uri="{FF2B5EF4-FFF2-40B4-BE49-F238E27FC236}">
                <a16:creationId xmlns:a16="http://schemas.microsoft.com/office/drawing/2014/main" id="{752D66E3-4903-A96D-A489-09937C20B5B7}"/>
              </a:ext>
            </a:extLst>
          </p:cNvPr>
          <p:cNvSpPr>
            <a:spLocks noEditPoints="1"/>
          </p:cNvSpPr>
          <p:nvPr userDrawn="1"/>
        </p:nvSpPr>
        <p:spPr bwMode="auto">
          <a:xfrm>
            <a:off x="285062" y="6489910"/>
            <a:ext cx="1171575" cy="206375"/>
          </a:xfrm>
          <a:custGeom>
            <a:avLst/>
            <a:gdLst>
              <a:gd name="T0" fmla="*/ 41153817 w 3262"/>
              <a:gd name="T1" fmla="*/ 5085051 h 572"/>
              <a:gd name="T2" fmla="*/ 38702919 w 3262"/>
              <a:gd name="T3" fmla="*/ 17862983 h 572"/>
              <a:gd name="T4" fmla="*/ 47862538 w 3262"/>
              <a:gd name="T5" fmla="*/ 52806744 h 572"/>
              <a:gd name="T6" fmla="*/ 31478087 w 3262"/>
              <a:gd name="T7" fmla="*/ 22165830 h 572"/>
              <a:gd name="T8" fmla="*/ 29027189 w 3262"/>
              <a:gd name="T9" fmla="*/ 34813514 h 572"/>
              <a:gd name="T10" fmla="*/ 38702919 w 3262"/>
              <a:gd name="T11" fmla="*/ 68844463 h 572"/>
              <a:gd name="T12" fmla="*/ 24124676 w 3262"/>
              <a:gd name="T13" fmla="*/ 43418847 h 572"/>
              <a:gd name="T14" fmla="*/ 38702919 w 3262"/>
              <a:gd name="T15" fmla="*/ 74581472 h 572"/>
              <a:gd name="T16" fmla="*/ 92112660 w 3262"/>
              <a:gd name="T17" fmla="*/ 70409233 h 572"/>
              <a:gd name="T18" fmla="*/ 117398136 w 3262"/>
              <a:gd name="T19" fmla="*/ 59326318 h 572"/>
              <a:gd name="T20" fmla="*/ 92499474 w 3262"/>
              <a:gd name="T21" fmla="*/ 33639847 h 572"/>
              <a:gd name="T22" fmla="*/ 121913477 w 3262"/>
              <a:gd name="T23" fmla="*/ 29467608 h 572"/>
              <a:gd name="T24" fmla="*/ 108625690 w 3262"/>
              <a:gd name="T25" fmla="*/ 41984685 h 572"/>
              <a:gd name="T26" fmla="*/ 106948420 w 3262"/>
              <a:gd name="T27" fmla="*/ 73147310 h 572"/>
              <a:gd name="T28" fmla="*/ 164744564 w 3262"/>
              <a:gd name="T29" fmla="*/ 71973642 h 572"/>
              <a:gd name="T30" fmla="*/ 146812498 w 3262"/>
              <a:gd name="T31" fmla="*/ 72886455 h 572"/>
              <a:gd name="T32" fmla="*/ 164744564 w 3262"/>
              <a:gd name="T33" fmla="*/ 35204616 h 572"/>
              <a:gd name="T34" fmla="*/ 151069604 w 3262"/>
              <a:gd name="T35" fmla="*/ 40028813 h 572"/>
              <a:gd name="T36" fmla="*/ 156746104 w 3262"/>
              <a:gd name="T37" fmla="*/ 63628804 h 572"/>
              <a:gd name="T38" fmla="*/ 197770983 w 3262"/>
              <a:gd name="T39" fmla="*/ 71973642 h 572"/>
              <a:gd name="T40" fmla="*/ 181515828 w 3262"/>
              <a:gd name="T41" fmla="*/ 40680770 h 572"/>
              <a:gd name="T42" fmla="*/ 173517369 w 3262"/>
              <a:gd name="T43" fmla="*/ 35204616 h 572"/>
              <a:gd name="T44" fmla="*/ 227958972 w 3262"/>
              <a:gd name="T45" fmla="*/ 65975778 h 572"/>
              <a:gd name="T46" fmla="*/ 226539937 w 3262"/>
              <a:gd name="T47" fmla="*/ 72886455 h 572"/>
              <a:gd name="T48" fmla="*/ 221766721 w 3262"/>
              <a:gd name="T49" fmla="*/ 20470813 h 572"/>
              <a:gd name="T50" fmla="*/ 233764410 w 3262"/>
              <a:gd name="T51" fmla="*/ 41332727 h 572"/>
              <a:gd name="T52" fmla="*/ 227958972 w 3262"/>
              <a:gd name="T53" fmla="*/ 65975778 h 572"/>
              <a:gd name="T54" fmla="*/ 263565586 w 3262"/>
              <a:gd name="T55" fmla="*/ 71973642 h 572"/>
              <a:gd name="T56" fmla="*/ 236860715 w 3262"/>
              <a:gd name="T57" fmla="*/ 53458702 h 572"/>
              <a:gd name="T58" fmla="*/ 262920537 w 3262"/>
              <a:gd name="T59" fmla="*/ 63628804 h 572"/>
              <a:gd name="T60" fmla="*/ 244988472 w 3262"/>
              <a:gd name="T61" fmla="*/ 53458702 h 572"/>
              <a:gd name="T62" fmla="*/ 311944235 w 3262"/>
              <a:gd name="T63" fmla="*/ 47330591 h 572"/>
              <a:gd name="T64" fmla="*/ 303945416 w 3262"/>
              <a:gd name="T65" fmla="*/ 48634506 h 572"/>
              <a:gd name="T66" fmla="*/ 287690262 w 3262"/>
              <a:gd name="T67" fmla="*/ 71973642 h 572"/>
              <a:gd name="T68" fmla="*/ 294269686 w 3262"/>
              <a:gd name="T69" fmla="*/ 33118497 h 572"/>
              <a:gd name="T70" fmla="*/ 352581941 w 3262"/>
              <a:gd name="T71" fmla="*/ 71973642 h 572"/>
              <a:gd name="T72" fmla="*/ 334262703 w 3262"/>
              <a:gd name="T73" fmla="*/ 72886455 h 572"/>
              <a:gd name="T74" fmla="*/ 344583481 w 3262"/>
              <a:gd name="T75" fmla="*/ 33770455 h 572"/>
              <a:gd name="T76" fmla="*/ 344583481 w 3262"/>
              <a:gd name="T77" fmla="*/ 63498557 h 572"/>
              <a:gd name="T78" fmla="*/ 326522119 w 3262"/>
              <a:gd name="T79" fmla="*/ 53458702 h 572"/>
              <a:gd name="T80" fmla="*/ 392832833 w 3262"/>
              <a:gd name="T81" fmla="*/ 56327386 h 572"/>
              <a:gd name="T82" fmla="*/ 391929908 w 3262"/>
              <a:gd name="T83" fmla="*/ 63237702 h 572"/>
              <a:gd name="T84" fmla="*/ 359032427 w 3262"/>
              <a:gd name="T85" fmla="*/ 52806744 h 572"/>
              <a:gd name="T86" fmla="*/ 392832833 w 3262"/>
              <a:gd name="T87" fmla="*/ 56327386 h 572"/>
              <a:gd name="T88" fmla="*/ 376448741 w 3262"/>
              <a:gd name="T89" fmla="*/ 39898565 h 572"/>
              <a:gd name="T90" fmla="*/ 420053814 w 3262"/>
              <a:gd name="T91" fmla="*/ 40419915 h 572"/>
              <a:gd name="T92" fmla="*/ 408185062 w 3262"/>
              <a:gd name="T93" fmla="*/ 71973642 h 572"/>
              <a:gd name="T94" fmla="*/ 413861203 w 3262"/>
              <a:gd name="T95" fmla="*/ 33118497 h 57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3262" h="572">
                <a:moveTo>
                  <a:pt x="430" y="262"/>
                </a:moveTo>
                <a:cubicBezTo>
                  <a:pt x="429" y="241"/>
                  <a:pt x="424" y="221"/>
                  <a:pt x="413" y="202"/>
                </a:cubicBezTo>
                <a:cubicBezTo>
                  <a:pt x="319" y="39"/>
                  <a:pt x="319" y="39"/>
                  <a:pt x="319" y="39"/>
                </a:cubicBezTo>
                <a:cubicBezTo>
                  <a:pt x="312" y="27"/>
                  <a:pt x="307" y="14"/>
                  <a:pt x="304" y="0"/>
                </a:cubicBezTo>
                <a:cubicBezTo>
                  <a:pt x="300" y="7"/>
                  <a:pt x="300" y="7"/>
                  <a:pt x="300" y="7"/>
                </a:cubicBezTo>
                <a:cubicBezTo>
                  <a:pt x="277" y="47"/>
                  <a:pt x="277" y="97"/>
                  <a:pt x="300" y="137"/>
                </a:cubicBezTo>
                <a:cubicBezTo>
                  <a:pt x="375" y="267"/>
                  <a:pt x="375" y="267"/>
                  <a:pt x="375" y="267"/>
                </a:cubicBezTo>
                <a:cubicBezTo>
                  <a:pt x="399" y="308"/>
                  <a:pt x="399" y="357"/>
                  <a:pt x="375" y="398"/>
                </a:cubicBezTo>
                <a:cubicBezTo>
                  <a:pt x="371" y="405"/>
                  <a:pt x="371" y="405"/>
                  <a:pt x="371" y="405"/>
                </a:cubicBezTo>
                <a:cubicBezTo>
                  <a:pt x="369" y="391"/>
                  <a:pt x="364" y="378"/>
                  <a:pt x="356" y="365"/>
                </a:cubicBezTo>
                <a:cubicBezTo>
                  <a:pt x="288" y="246"/>
                  <a:pt x="288" y="246"/>
                  <a:pt x="288" y="246"/>
                </a:cubicBezTo>
                <a:cubicBezTo>
                  <a:pt x="244" y="170"/>
                  <a:pt x="244" y="170"/>
                  <a:pt x="244" y="170"/>
                </a:cubicBezTo>
                <a:cubicBezTo>
                  <a:pt x="236" y="157"/>
                  <a:pt x="232" y="144"/>
                  <a:pt x="229" y="130"/>
                </a:cubicBezTo>
                <a:cubicBezTo>
                  <a:pt x="225" y="137"/>
                  <a:pt x="225" y="137"/>
                  <a:pt x="225" y="137"/>
                </a:cubicBezTo>
                <a:cubicBezTo>
                  <a:pt x="202" y="177"/>
                  <a:pt x="202" y="227"/>
                  <a:pt x="225" y="267"/>
                </a:cubicBezTo>
                <a:cubicBezTo>
                  <a:pt x="225" y="267"/>
                  <a:pt x="225" y="267"/>
                  <a:pt x="225" y="267"/>
                </a:cubicBezTo>
                <a:cubicBezTo>
                  <a:pt x="300" y="398"/>
                  <a:pt x="300" y="398"/>
                  <a:pt x="300" y="398"/>
                </a:cubicBezTo>
                <a:cubicBezTo>
                  <a:pt x="323" y="438"/>
                  <a:pt x="323" y="488"/>
                  <a:pt x="300" y="528"/>
                </a:cubicBezTo>
                <a:cubicBezTo>
                  <a:pt x="296" y="535"/>
                  <a:pt x="296" y="535"/>
                  <a:pt x="296" y="535"/>
                </a:cubicBezTo>
                <a:cubicBezTo>
                  <a:pt x="293" y="521"/>
                  <a:pt x="288" y="508"/>
                  <a:pt x="281" y="495"/>
                </a:cubicBezTo>
                <a:cubicBezTo>
                  <a:pt x="187" y="333"/>
                  <a:pt x="187" y="333"/>
                  <a:pt x="187" y="333"/>
                </a:cubicBezTo>
                <a:cubicBezTo>
                  <a:pt x="175" y="311"/>
                  <a:pt x="169" y="286"/>
                  <a:pt x="170" y="262"/>
                </a:cubicBezTo>
                <a:cubicBezTo>
                  <a:pt x="69" y="288"/>
                  <a:pt x="0" y="344"/>
                  <a:pt x="0" y="409"/>
                </a:cubicBezTo>
                <a:cubicBezTo>
                  <a:pt x="0" y="499"/>
                  <a:pt x="134" y="572"/>
                  <a:pt x="300" y="572"/>
                </a:cubicBezTo>
                <a:cubicBezTo>
                  <a:pt x="466" y="572"/>
                  <a:pt x="600" y="499"/>
                  <a:pt x="600" y="409"/>
                </a:cubicBezTo>
                <a:cubicBezTo>
                  <a:pt x="600" y="344"/>
                  <a:pt x="531" y="288"/>
                  <a:pt x="430" y="262"/>
                </a:cubicBezTo>
                <a:close/>
                <a:moveTo>
                  <a:pt x="714" y="540"/>
                </a:moveTo>
                <a:cubicBezTo>
                  <a:pt x="715" y="517"/>
                  <a:pt x="718" y="501"/>
                  <a:pt x="725" y="483"/>
                </a:cubicBezTo>
                <a:cubicBezTo>
                  <a:pt x="756" y="498"/>
                  <a:pt x="797" y="505"/>
                  <a:pt x="828" y="505"/>
                </a:cubicBezTo>
                <a:cubicBezTo>
                  <a:pt x="880" y="505"/>
                  <a:pt x="910" y="488"/>
                  <a:pt x="910" y="455"/>
                </a:cubicBezTo>
                <a:cubicBezTo>
                  <a:pt x="910" y="422"/>
                  <a:pt x="888" y="407"/>
                  <a:pt x="835" y="384"/>
                </a:cubicBezTo>
                <a:cubicBezTo>
                  <a:pt x="806" y="371"/>
                  <a:pt x="806" y="371"/>
                  <a:pt x="806" y="371"/>
                </a:cubicBezTo>
                <a:cubicBezTo>
                  <a:pt x="753" y="348"/>
                  <a:pt x="717" y="318"/>
                  <a:pt x="717" y="258"/>
                </a:cubicBezTo>
                <a:cubicBezTo>
                  <a:pt x="717" y="194"/>
                  <a:pt x="762" y="153"/>
                  <a:pt x="853" y="153"/>
                </a:cubicBezTo>
                <a:cubicBezTo>
                  <a:pt x="890" y="153"/>
                  <a:pt x="924" y="158"/>
                  <a:pt x="956" y="169"/>
                </a:cubicBezTo>
                <a:cubicBezTo>
                  <a:pt x="955" y="192"/>
                  <a:pt x="951" y="209"/>
                  <a:pt x="945" y="226"/>
                </a:cubicBezTo>
                <a:cubicBezTo>
                  <a:pt x="915" y="214"/>
                  <a:pt x="879" y="209"/>
                  <a:pt x="853" y="209"/>
                </a:cubicBezTo>
                <a:cubicBezTo>
                  <a:pt x="804" y="209"/>
                  <a:pt x="781" y="228"/>
                  <a:pt x="781" y="258"/>
                </a:cubicBezTo>
                <a:cubicBezTo>
                  <a:pt x="781" y="288"/>
                  <a:pt x="803" y="305"/>
                  <a:pt x="842" y="322"/>
                </a:cubicBezTo>
                <a:cubicBezTo>
                  <a:pt x="873" y="335"/>
                  <a:pt x="873" y="335"/>
                  <a:pt x="873" y="335"/>
                </a:cubicBezTo>
                <a:cubicBezTo>
                  <a:pt x="945" y="365"/>
                  <a:pt x="974" y="397"/>
                  <a:pt x="974" y="452"/>
                </a:cubicBezTo>
                <a:cubicBezTo>
                  <a:pt x="974" y="517"/>
                  <a:pt x="925" y="561"/>
                  <a:pt x="829" y="561"/>
                </a:cubicBezTo>
                <a:cubicBezTo>
                  <a:pt x="783" y="561"/>
                  <a:pt x="745" y="555"/>
                  <a:pt x="714" y="540"/>
                </a:cubicBezTo>
                <a:close/>
                <a:moveTo>
                  <a:pt x="1277" y="270"/>
                </a:moveTo>
                <a:cubicBezTo>
                  <a:pt x="1277" y="552"/>
                  <a:pt x="1277" y="552"/>
                  <a:pt x="1277" y="552"/>
                </a:cubicBezTo>
                <a:cubicBezTo>
                  <a:pt x="1220" y="552"/>
                  <a:pt x="1220" y="552"/>
                  <a:pt x="1220" y="552"/>
                </a:cubicBezTo>
                <a:cubicBezTo>
                  <a:pt x="1217" y="518"/>
                  <a:pt x="1217" y="518"/>
                  <a:pt x="1217" y="518"/>
                </a:cubicBezTo>
                <a:cubicBezTo>
                  <a:pt x="1201" y="543"/>
                  <a:pt x="1177" y="559"/>
                  <a:pt x="1138" y="559"/>
                </a:cubicBezTo>
                <a:cubicBezTo>
                  <a:pt x="1063" y="559"/>
                  <a:pt x="1013" y="505"/>
                  <a:pt x="1013" y="410"/>
                </a:cubicBezTo>
                <a:cubicBezTo>
                  <a:pt x="1013" y="311"/>
                  <a:pt x="1066" y="254"/>
                  <a:pt x="1171" y="254"/>
                </a:cubicBezTo>
                <a:cubicBezTo>
                  <a:pt x="1211" y="254"/>
                  <a:pt x="1245" y="259"/>
                  <a:pt x="1277" y="270"/>
                </a:cubicBezTo>
                <a:close/>
                <a:moveTo>
                  <a:pt x="1215" y="488"/>
                </a:moveTo>
                <a:cubicBezTo>
                  <a:pt x="1215" y="311"/>
                  <a:pt x="1215" y="311"/>
                  <a:pt x="1215" y="311"/>
                </a:cubicBezTo>
                <a:cubicBezTo>
                  <a:pt x="1202" y="309"/>
                  <a:pt x="1188" y="307"/>
                  <a:pt x="1171" y="307"/>
                </a:cubicBezTo>
                <a:cubicBezTo>
                  <a:pt x="1107" y="307"/>
                  <a:pt x="1077" y="347"/>
                  <a:pt x="1077" y="410"/>
                </a:cubicBezTo>
                <a:cubicBezTo>
                  <a:pt x="1077" y="468"/>
                  <a:pt x="1100" y="508"/>
                  <a:pt x="1155" y="508"/>
                </a:cubicBezTo>
                <a:cubicBezTo>
                  <a:pt x="1179" y="508"/>
                  <a:pt x="1199" y="500"/>
                  <a:pt x="1215" y="488"/>
                </a:cubicBezTo>
                <a:close/>
                <a:moveTo>
                  <a:pt x="1595" y="363"/>
                </a:moveTo>
                <a:cubicBezTo>
                  <a:pt x="1595" y="552"/>
                  <a:pt x="1595" y="552"/>
                  <a:pt x="1595" y="552"/>
                </a:cubicBezTo>
                <a:cubicBezTo>
                  <a:pt x="1533" y="552"/>
                  <a:pt x="1533" y="552"/>
                  <a:pt x="1533" y="552"/>
                </a:cubicBezTo>
                <a:cubicBezTo>
                  <a:pt x="1533" y="373"/>
                  <a:pt x="1533" y="373"/>
                  <a:pt x="1533" y="373"/>
                </a:cubicBezTo>
                <a:cubicBezTo>
                  <a:pt x="1533" y="329"/>
                  <a:pt x="1518" y="307"/>
                  <a:pt x="1456" y="307"/>
                </a:cubicBezTo>
                <a:cubicBezTo>
                  <a:pt x="1442" y="307"/>
                  <a:pt x="1424" y="309"/>
                  <a:pt x="1407" y="312"/>
                </a:cubicBezTo>
                <a:cubicBezTo>
                  <a:pt x="1407" y="552"/>
                  <a:pt x="1407" y="552"/>
                  <a:pt x="1407" y="552"/>
                </a:cubicBezTo>
                <a:cubicBezTo>
                  <a:pt x="1345" y="552"/>
                  <a:pt x="1345" y="552"/>
                  <a:pt x="1345" y="552"/>
                </a:cubicBezTo>
                <a:cubicBezTo>
                  <a:pt x="1345" y="270"/>
                  <a:pt x="1345" y="270"/>
                  <a:pt x="1345" y="270"/>
                </a:cubicBezTo>
                <a:cubicBezTo>
                  <a:pt x="1385" y="261"/>
                  <a:pt x="1428" y="254"/>
                  <a:pt x="1458" y="254"/>
                </a:cubicBezTo>
                <a:cubicBezTo>
                  <a:pt x="1562" y="254"/>
                  <a:pt x="1595" y="294"/>
                  <a:pt x="1595" y="363"/>
                </a:cubicBezTo>
                <a:close/>
                <a:moveTo>
                  <a:pt x="1767" y="506"/>
                </a:moveTo>
                <a:cubicBezTo>
                  <a:pt x="1785" y="506"/>
                  <a:pt x="1802" y="503"/>
                  <a:pt x="1816" y="498"/>
                </a:cubicBezTo>
                <a:cubicBezTo>
                  <a:pt x="1814" y="515"/>
                  <a:pt x="1812" y="534"/>
                  <a:pt x="1808" y="550"/>
                </a:cubicBezTo>
                <a:cubicBezTo>
                  <a:pt x="1791" y="557"/>
                  <a:pt x="1773" y="559"/>
                  <a:pt x="1756" y="559"/>
                </a:cubicBezTo>
                <a:cubicBezTo>
                  <a:pt x="1696" y="559"/>
                  <a:pt x="1657" y="531"/>
                  <a:pt x="1657" y="463"/>
                </a:cubicBezTo>
                <a:cubicBezTo>
                  <a:pt x="1657" y="166"/>
                  <a:pt x="1657" y="166"/>
                  <a:pt x="1657" y="166"/>
                </a:cubicBezTo>
                <a:cubicBezTo>
                  <a:pt x="1676" y="160"/>
                  <a:pt x="1700" y="157"/>
                  <a:pt x="1719" y="157"/>
                </a:cubicBezTo>
                <a:cubicBezTo>
                  <a:pt x="1719" y="264"/>
                  <a:pt x="1719" y="264"/>
                  <a:pt x="1719" y="264"/>
                </a:cubicBezTo>
                <a:cubicBezTo>
                  <a:pt x="1817" y="264"/>
                  <a:pt x="1817" y="264"/>
                  <a:pt x="1817" y="264"/>
                </a:cubicBezTo>
                <a:cubicBezTo>
                  <a:pt x="1816" y="283"/>
                  <a:pt x="1815" y="301"/>
                  <a:pt x="1812" y="317"/>
                </a:cubicBezTo>
                <a:cubicBezTo>
                  <a:pt x="1719" y="317"/>
                  <a:pt x="1719" y="317"/>
                  <a:pt x="1719" y="317"/>
                </a:cubicBezTo>
                <a:cubicBezTo>
                  <a:pt x="1719" y="455"/>
                  <a:pt x="1719" y="455"/>
                  <a:pt x="1719" y="455"/>
                </a:cubicBezTo>
                <a:cubicBezTo>
                  <a:pt x="1719" y="492"/>
                  <a:pt x="1737" y="506"/>
                  <a:pt x="1767" y="506"/>
                </a:cubicBezTo>
                <a:close/>
                <a:moveTo>
                  <a:pt x="2100" y="270"/>
                </a:moveTo>
                <a:cubicBezTo>
                  <a:pt x="2100" y="552"/>
                  <a:pt x="2100" y="552"/>
                  <a:pt x="2100" y="552"/>
                </a:cubicBezTo>
                <a:cubicBezTo>
                  <a:pt x="2043" y="552"/>
                  <a:pt x="2043" y="552"/>
                  <a:pt x="2043" y="552"/>
                </a:cubicBezTo>
                <a:cubicBezTo>
                  <a:pt x="2040" y="518"/>
                  <a:pt x="2040" y="518"/>
                  <a:pt x="2040" y="518"/>
                </a:cubicBezTo>
                <a:cubicBezTo>
                  <a:pt x="2024" y="543"/>
                  <a:pt x="2000" y="559"/>
                  <a:pt x="1960" y="559"/>
                </a:cubicBezTo>
                <a:cubicBezTo>
                  <a:pt x="1886" y="559"/>
                  <a:pt x="1836" y="505"/>
                  <a:pt x="1836" y="410"/>
                </a:cubicBezTo>
                <a:cubicBezTo>
                  <a:pt x="1836" y="311"/>
                  <a:pt x="1889" y="254"/>
                  <a:pt x="1993" y="254"/>
                </a:cubicBezTo>
                <a:cubicBezTo>
                  <a:pt x="2034" y="254"/>
                  <a:pt x="2067" y="259"/>
                  <a:pt x="2100" y="270"/>
                </a:cubicBezTo>
                <a:close/>
                <a:moveTo>
                  <a:pt x="2038" y="488"/>
                </a:moveTo>
                <a:cubicBezTo>
                  <a:pt x="2038" y="311"/>
                  <a:pt x="2038" y="311"/>
                  <a:pt x="2038" y="311"/>
                </a:cubicBezTo>
                <a:cubicBezTo>
                  <a:pt x="2025" y="309"/>
                  <a:pt x="2011" y="307"/>
                  <a:pt x="1993" y="307"/>
                </a:cubicBezTo>
                <a:cubicBezTo>
                  <a:pt x="1929" y="307"/>
                  <a:pt x="1899" y="347"/>
                  <a:pt x="1899" y="410"/>
                </a:cubicBezTo>
                <a:cubicBezTo>
                  <a:pt x="1899" y="468"/>
                  <a:pt x="1922" y="508"/>
                  <a:pt x="1978" y="508"/>
                </a:cubicBezTo>
                <a:cubicBezTo>
                  <a:pt x="2002" y="508"/>
                  <a:pt x="2022" y="500"/>
                  <a:pt x="2038" y="488"/>
                </a:cubicBezTo>
                <a:close/>
                <a:moveTo>
                  <a:pt x="2418" y="363"/>
                </a:moveTo>
                <a:cubicBezTo>
                  <a:pt x="2418" y="552"/>
                  <a:pt x="2418" y="552"/>
                  <a:pt x="2418" y="552"/>
                </a:cubicBezTo>
                <a:cubicBezTo>
                  <a:pt x="2356" y="552"/>
                  <a:pt x="2356" y="552"/>
                  <a:pt x="2356" y="552"/>
                </a:cubicBezTo>
                <a:cubicBezTo>
                  <a:pt x="2356" y="373"/>
                  <a:pt x="2356" y="373"/>
                  <a:pt x="2356" y="373"/>
                </a:cubicBezTo>
                <a:cubicBezTo>
                  <a:pt x="2356" y="329"/>
                  <a:pt x="2341" y="307"/>
                  <a:pt x="2279" y="307"/>
                </a:cubicBezTo>
                <a:cubicBezTo>
                  <a:pt x="2264" y="307"/>
                  <a:pt x="2247" y="309"/>
                  <a:pt x="2230" y="312"/>
                </a:cubicBezTo>
                <a:cubicBezTo>
                  <a:pt x="2230" y="552"/>
                  <a:pt x="2230" y="552"/>
                  <a:pt x="2230" y="552"/>
                </a:cubicBezTo>
                <a:cubicBezTo>
                  <a:pt x="2168" y="552"/>
                  <a:pt x="2168" y="552"/>
                  <a:pt x="2168" y="552"/>
                </a:cubicBezTo>
                <a:cubicBezTo>
                  <a:pt x="2168" y="270"/>
                  <a:pt x="2168" y="270"/>
                  <a:pt x="2168" y="270"/>
                </a:cubicBezTo>
                <a:cubicBezTo>
                  <a:pt x="2207" y="261"/>
                  <a:pt x="2251" y="254"/>
                  <a:pt x="2281" y="254"/>
                </a:cubicBezTo>
                <a:cubicBezTo>
                  <a:pt x="2384" y="254"/>
                  <a:pt x="2418" y="294"/>
                  <a:pt x="2418" y="363"/>
                </a:cubicBezTo>
                <a:close/>
                <a:moveTo>
                  <a:pt x="2733" y="157"/>
                </a:moveTo>
                <a:cubicBezTo>
                  <a:pt x="2733" y="552"/>
                  <a:pt x="2733" y="552"/>
                  <a:pt x="2733" y="552"/>
                </a:cubicBezTo>
                <a:cubicBezTo>
                  <a:pt x="2676" y="552"/>
                  <a:pt x="2676" y="552"/>
                  <a:pt x="2676" y="552"/>
                </a:cubicBezTo>
                <a:cubicBezTo>
                  <a:pt x="2672" y="516"/>
                  <a:pt x="2672" y="516"/>
                  <a:pt x="2672" y="516"/>
                </a:cubicBezTo>
                <a:cubicBezTo>
                  <a:pt x="2656" y="543"/>
                  <a:pt x="2632" y="559"/>
                  <a:pt x="2591" y="559"/>
                </a:cubicBezTo>
                <a:cubicBezTo>
                  <a:pt x="2517" y="559"/>
                  <a:pt x="2467" y="505"/>
                  <a:pt x="2467" y="410"/>
                </a:cubicBezTo>
                <a:cubicBezTo>
                  <a:pt x="2467" y="311"/>
                  <a:pt x="2520" y="254"/>
                  <a:pt x="2625" y="254"/>
                </a:cubicBezTo>
                <a:cubicBezTo>
                  <a:pt x="2641" y="254"/>
                  <a:pt x="2656" y="256"/>
                  <a:pt x="2671" y="259"/>
                </a:cubicBezTo>
                <a:cubicBezTo>
                  <a:pt x="2671" y="166"/>
                  <a:pt x="2671" y="166"/>
                  <a:pt x="2671" y="166"/>
                </a:cubicBezTo>
                <a:cubicBezTo>
                  <a:pt x="2690" y="159"/>
                  <a:pt x="2712" y="157"/>
                  <a:pt x="2733" y="157"/>
                </a:cubicBezTo>
                <a:close/>
                <a:moveTo>
                  <a:pt x="2671" y="487"/>
                </a:moveTo>
                <a:cubicBezTo>
                  <a:pt x="2671" y="313"/>
                  <a:pt x="2671" y="313"/>
                  <a:pt x="2671" y="313"/>
                </a:cubicBezTo>
                <a:cubicBezTo>
                  <a:pt x="2655" y="310"/>
                  <a:pt x="2638" y="307"/>
                  <a:pt x="2621" y="307"/>
                </a:cubicBezTo>
                <a:cubicBezTo>
                  <a:pt x="2560" y="307"/>
                  <a:pt x="2531" y="346"/>
                  <a:pt x="2531" y="410"/>
                </a:cubicBezTo>
                <a:cubicBezTo>
                  <a:pt x="2531" y="468"/>
                  <a:pt x="2554" y="508"/>
                  <a:pt x="2609" y="508"/>
                </a:cubicBezTo>
                <a:cubicBezTo>
                  <a:pt x="2634" y="508"/>
                  <a:pt x="2654" y="500"/>
                  <a:pt x="2671" y="487"/>
                </a:cubicBezTo>
                <a:close/>
                <a:moveTo>
                  <a:pt x="3045" y="432"/>
                </a:moveTo>
                <a:cubicBezTo>
                  <a:pt x="2847" y="432"/>
                  <a:pt x="2847" y="432"/>
                  <a:pt x="2847" y="432"/>
                </a:cubicBezTo>
                <a:cubicBezTo>
                  <a:pt x="2854" y="482"/>
                  <a:pt x="2884" y="506"/>
                  <a:pt x="2939" y="506"/>
                </a:cubicBezTo>
                <a:cubicBezTo>
                  <a:pt x="2973" y="506"/>
                  <a:pt x="3007" y="499"/>
                  <a:pt x="3038" y="485"/>
                </a:cubicBezTo>
                <a:cubicBezTo>
                  <a:pt x="3036" y="501"/>
                  <a:pt x="3033" y="522"/>
                  <a:pt x="3029" y="541"/>
                </a:cubicBezTo>
                <a:cubicBezTo>
                  <a:pt x="3001" y="554"/>
                  <a:pt x="2971" y="559"/>
                  <a:pt x="2937" y="559"/>
                </a:cubicBezTo>
                <a:cubicBezTo>
                  <a:pt x="2834" y="559"/>
                  <a:pt x="2783" y="502"/>
                  <a:pt x="2783" y="405"/>
                </a:cubicBezTo>
                <a:cubicBezTo>
                  <a:pt x="2783" y="321"/>
                  <a:pt x="2822" y="254"/>
                  <a:pt x="2921" y="254"/>
                </a:cubicBezTo>
                <a:cubicBezTo>
                  <a:pt x="3010" y="254"/>
                  <a:pt x="3048" y="313"/>
                  <a:pt x="3048" y="384"/>
                </a:cubicBezTo>
                <a:cubicBezTo>
                  <a:pt x="3048" y="401"/>
                  <a:pt x="3047" y="415"/>
                  <a:pt x="3045" y="432"/>
                </a:cubicBezTo>
                <a:close/>
                <a:moveTo>
                  <a:pt x="2845" y="380"/>
                </a:moveTo>
                <a:cubicBezTo>
                  <a:pt x="2985" y="380"/>
                  <a:pt x="2985" y="380"/>
                  <a:pt x="2985" y="380"/>
                </a:cubicBezTo>
                <a:cubicBezTo>
                  <a:pt x="2985" y="333"/>
                  <a:pt x="2960" y="306"/>
                  <a:pt x="2918" y="306"/>
                </a:cubicBezTo>
                <a:cubicBezTo>
                  <a:pt x="2874" y="306"/>
                  <a:pt x="2850" y="332"/>
                  <a:pt x="2845" y="380"/>
                </a:cubicBezTo>
                <a:close/>
                <a:moveTo>
                  <a:pt x="3262" y="257"/>
                </a:moveTo>
                <a:cubicBezTo>
                  <a:pt x="3262" y="275"/>
                  <a:pt x="3260" y="298"/>
                  <a:pt x="3256" y="310"/>
                </a:cubicBezTo>
                <a:cubicBezTo>
                  <a:pt x="3241" y="308"/>
                  <a:pt x="3227" y="307"/>
                  <a:pt x="3209" y="307"/>
                </a:cubicBezTo>
                <a:cubicBezTo>
                  <a:pt x="3194" y="307"/>
                  <a:pt x="3179" y="309"/>
                  <a:pt x="3164" y="311"/>
                </a:cubicBezTo>
                <a:cubicBezTo>
                  <a:pt x="3164" y="552"/>
                  <a:pt x="3164" y="552"/>
                  <a:pt x="3164" y="552"/>
                </a:cubicBezTo>
                <a:cubicBezTo>
                  <a:pt x="3102" y="552"/>
                  <a:pt x="3102" y="552"/>
                  <a:pt x="3102" y="552"/>
                </a:cubicBezTo>
                <a:cubicBezTo>
                  <a:pt x="3102" y="270"/>
                  <a:pt x="3102" y="270"/>
                  <a:pt x="3102" y="270"/>
                </a:cubicBezTo>
                <a:cubicBezTo>
                  <a:pt x="3128" y="261"/>
                  <a:pt x="3173" y="254"/>
                  <a:pt x="3208" y="254"/>
                </a:cubicBezTo>
                <a:cubicBezTo>
                  <a:pt x="3227" y="254"/>
                  <a:pt x="3248" y="255"/>
                  <a:pt x="3262" y="257"/>
                </a:cubicBezTo>
                <a:close/>
              </a:path>
            </a:pathLst>
          </a:custGeom>
          <a:solidFill>
            <a:srgbClr val="C00000"/>
          </a:solidFill>
          <a:ln>
            <a:noFill/>
          </a:ln>
        </p:spPr>
        <p:txBody>
          <a:bodyPr/>
          <a:lstStyle/>
          <a:p>
            <a:endParaRPr lang="es-ES">
              <a:solidFill>
                <a:srgbClr val="FF0000"/>
              </a:solidFill>
            </a:endParaRPr>
          </a:p>
        </p:txBody>
      </p:sp>
    </p:spTree>
    <p:extLst>
      <p:ext uri="{BB962C8B-B14F-4D97-AF65-F5344CB8AC3E}">
        <p14:creationId xmlns:p14="http://schemas.microsoft.com/office/powerpoint/2010/main" val="2062930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F4E7F-4DA4-46DA-9139-9F3297CD530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s-ES"/>
          </a:p>
        </p:txBody>
      </p:sp>
      <p:sp>
        <p:nvSpPr>
          <p:cNvPr id="3" name="Subtitle 2">
            <a:extLst>
              <a:ext uri="{FF2B5EF4-FFF2-40B4-BE49-F238E27FC236}">
                <a16:creationId xmlns:a16="http://schemas.microsoft.com/office/drawing/2014/main" id="{863B4F09-EE8E-418C-B7ED-0026FED403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s-ES"/>
          </a:p>
        </p:txBody>
      </p:sp>
      <p:sp>
        <p:nvSpPr>
          <p:cNvPr id="5" name="Footer Placeholder 4">
            <a:extLst>
              <a:ext uri="{FF2B5EF4-FFF2-40B4-BE49-F238E27FC236}">
                <a16:creationId xmlns:a16="http://schemas.microsoft.com/office/drawing/2014/main" id="{34616D68-2AE7-4EB3-BF5A-64DFD6105AD0}"/>
              </a:ext>
            </a:extLst>
          </p:cNvPr>
          <p:cNvSpPr>
            <a:spLocks noGrp="1"/>
          </p:cNvSpPr>
          <p:nvPr>
            <p:ph type="ftr" sz="quarter" idx="11"/>
          </p:nvPr>
        </p:nvSpPr>
        <p:spPr/>
        <p:txBody>
          <a:bodyPr/>
          <a:lstStyle/>
          <a:p>
            <a:r>
              <a:rPr lang="es-ES"/>
              <a:t>xxxxx</a:t>
            </a:r>
          </a:p>
        </p:txBody>
      </p:sp>
      <p:sp>
        <p:nvSpPr>
          <p:cNvPr id="6" name="Slide Number Placeholder 5">
            <a:extLst>
              <a:ext uri="{FF2B5EF4-FFF2-40B4-BE49-F238E27FC236}">
                <a16:creationId xmlns:a16="http://schemas.microsoft.com/office/drawing/2014/main" id="{0F8F6FCB-8DB4-4686-9B10-A7633EF07F01}"/>
              </a:ext>
            </a:extLst>
          </p:cNvPr>
          <p:cNvSpPr>
            <a:spLocks noGrp="1"/>
          </p:cNvSpPr>
          <p:nvPr>
            <p:ph type="sldNum" sz="quarter" idx="12"/>
          </p:nvPr>
        </p:nvSpPr>
        <p:spPr>
          <a:xfrm>
            <a:off x="8610600" y="6356350"/>
            <a:ext cx="2743200" cy="365125"/>
          </a:xfrm>
          <a:prstGeom prst="rect">
            <a:avLst/>
          </a:prstGeom>
        </p:spPr>
        <p:txBody>
          <a:bodyPr/>
          <a:lstStyle/>
          <a:p>
            <a:fld id="{921A6315-1B6D-4306-AE81-37B8137F3D65}" type="slidenum">
              <a:rPr lang="es-ES" smtClean="0"/>
              <a:t>‹Nº›</a:t>
            </a:fld>
            <a:endParaRPr lang="es-ES"/>
          </a:p>
        </p:txBody>
      </p:sp>
      <p:sp>
        <p:nvSpPr>
          <p:cNvPr id="8" name="Freeform 5">
            <a:extLst>
              <a:ext uri="{FF2B5EF4-FFF2-40B4-BE49-F238E27FC236}">
                <a16:creationId xmlns:a16="http://schemas.microsoft.com/office/drawing/2014/main" id="{0DFC1BBA-4F02-CBAC-A84E-25B61C00D129}"/>
              </a:ext>
            </a:extLst>
          </p:cNvPr>
          <p:cNvSpPr>
            <a:spLocks noEditPoints="1"/>
          </p:cNvSpPr>
          <p:nvPr userDrawn="1"/>
        </p:nvSpPr>
        <p:spPr bwMode="auto">
          <a:xfrm>
            <a:off x="832642" y="6262326"/>
            <a:ext cx="1171705" cy="206714"/>
          </a:xfrm>
          <a:custGeom>
            <a:avLst/>
            <a:gdLst>
              <a:gd name="T0" fmla="*/ 319 w 3262"/>
              <a:gd name="T1" fmla="*/ 39 h 572"/>
              <a:gd name="T2" fmla="*/ 300 w 3262"/>
              <a:gd name="T3" fmla="*/ 137 h 572"/>
              <a:gd name="T4" fmla="*/ 371 w 3262"/>
              <a:gd name="T5" fmla="*/ 405 h 572"/>
              <a:gd name="T6" fmla="*/ 244 w 3262"/>
              <a:gd name="T7" fmla="*/ 170 h 572"/>
              <a:gd name="T8" fmla="*/ 225 w 3262"/>
              <a:gd name="T9" fmla="*/ 267 h 572"/>
              <a:gd name="T10" fmla="*/ 300 w 3262"/>
              <a:gd name="T11" fmla="*/ 528 h 572"/>
              <a:gd name="T12" fmla="*/ 187 w 3262"/>
              <a:gd name="T13" fmla="*/ 333 h 572"/>
              <a:gd name="T14" fmla="*/ 300 w 3262"/>
              <a:gd name="T15" fmla="*/ 572 h 572"/>
              <a:gd name="T16" fmla="*/ 714 w 3262"/>
              <a:gd name="T17" fmla="*/ 540 h 572"/>
              <a:gd name="T18" fmla="*/ 910 w 3262"/>
              <a:gd name="T19" fmla="*/ 455 h 572"/>
              <a:gd name="T20" fmla="*/ 717 w 3262"/>
              <a:gd name="T21" fmla="*/ 258 h 572"/>
              <a:gd name="T22" fmla="*/ 945 w 3262"/>
              <a:gd name="T23" fmla="*/ 226 h 572"/>
              <a:gd name="T24" fmla="*/ 842 w 3262"/>
              <a:gd name="T25" fmla="*/ 322 h 572"/>
              <a:gd name="T26" fmla="*/ 829 w 3262"/>
              <a:gd name="T27" fmla="*/ 561 h 572"/>
              <a:gd name="T28" fmla="*/ 1277 w 3262"/>
              <a:gd name="T29" fmla="*/ 552 h 572"/>
              <a:gd name="T30" fmla="*/ 1138 w 3262"/>
              <a:gd name="T31" fmla="*/ 559 h 572"/>
              <a:gd name="T32" fmla="*/ 1277 w 3262"/>
              <a:gd name="T33" fmla="*/ 270 h 572"/>
              <a:gd name="T34" fmla="*/ 1171 w 3262"/>
              <a:gd name="T35" fmla="*/ 307 h 572"/>
              <a:gd name="T36" fmla="*/ 1215 w 3262"/>
              <a:gd name="T37" fmla="*/ 488 h 572"/>
              <a:gd name="T38" fmla="*/ 1533 w 3262"/>
              <a:gd name="T39" fmla="*/ 552 h 572"/>
              <a:gd name="T40" fmla="*/ 1407 w 3262"/>
              <a:gd name="T41" fmla="*/ 312 h 572"/>
              <a:gd name="T42" fmla="*/ 1345 w 3262"/>
              <a:gd name="T43" fmla="*/ 270 h 572"/>
              <a:gd name="T44" fmla="*/ 1767 w 3262"/>
              <a:gd name="T45" fmla="*/ 506 h 572"/>
              <a:gd name="T46" fmla="*/ 1756 w 3262"/>
              <a:gd name="T47" fmla="*/ 559 h 572"/>
              <a:gd name="T48" fmla="*/ 1719 w 3262"/>
              <a:gd name="T49" fmla="*/ 157 h 572"/>
              <a:gd name="T50" fmla="*/ 1812 w 3262"/>
              <a:gd name="T51" fmla="*/ 317 h 572"/>
              <a:gd name="T52" fmla="*/ 1767 w 3262"/>
              <a:gd name="T53" fmla="*/ 506 h 572"/>
              <a:gd name="T54" fmla="*/ 2043 w 3262"/>
              <a:gd name="T55" fmla="*/ 552 h 572"/>
              <a:gd name="T56" fmla="*/ 1836 w 3262"/>
              <a:gd name="T57" fmla="*/ 410 h 572"/>
              <a:gd name="T58" fmla="*/ 2038 w 3262"/>
              <a:gd name="T59" fmla="*/ 488 h 572"/>
              <a:gd name="T60" fmla="*/ 1899 w 3262"/>
              <a:gd name="T61" fmla="*/ 410 h 572"/>
              <a:gd name="T62" fmla="*/ 2418 w 3262"/>
              <a:gd name="T63" fmla="*/ 363 h 572"/>
              <a:gd name="T64" fmla="*/ 2356 w 3262"/>
              <a:gd name="T65" fmla="*/ 373 h 572"/>
              <a:gd name="T66" fmla="*/ 2230 w 3262"/>
              <a:gd name="T67" fmla="*/ 552 h 572"/>
              <a:gd name="T68" fmla="*/ 2281 w 3262"/>
              <a:gd name="T69" fmla="*/ 254 h 572"/>
              <a:gd name="T70" fmla="*/ 2733 w 3262"/>
              <a:gd name="T71" fmla="*/ 552 h 572"/>
              <a:gd name="T72" fmla="*/ 2591 w 3262"/>
              <a:gd name="T73" fmla="*/ 559 h 572"/>
              <a:gd name="T74" fmla="*/ 2671 w 3262"/>
              <a:gd name="T75" fmla="*/ 259 h 572"/>
              <a:gd name="T76" fmla="*/ 2671 w 3262"/>
              <a:gd name="T77" fmla="*/ 487 h 572"/>
              <a:gd name="T78" fmla="*/ 2531 w 3262"/>
              <a:gd name="T79" fmla="*/ 410 h 572"/>
              <a:gd name="T80" fmla="*/ 3045 w 3262"/>
              <a:gd name="T81" fmla="*/ 432 h 572"/>
              <a:gd name="T82" fmla="*/ 3038 w 3262"/>
              <a:gd name="T83" fmla="*/ 485 h 572"/>
              <a:gd name="T84" fmla="*/ 2783 w 3262"/>
              <a:gd name="T85" fmla="*/ 405 h 572"/>
              <a:gd name="T86" fmla="*/ 3045 w 3262"/>
              <a:gd name="T87" fmla="*/ 432 h 572"/>
              <a:gd name="T88" fmla="*/ 2918 w 3262"/>
              <a:gd name="T89" fmla="*/ 306 h 572"/>
              <a:gd name="T90" fmla="*/ 3256 w 3262"/>
              <a:gd name="T91" fmla="*/ 310 h 572"/>
              <a:gd name="T92" fmla="*/ 3164 w 3262"/>
              <a:gd name="T93" fmla="*/ 552 h 572"/>
              <a:gd name="T94" fmla="*/ 3208 w 3262"/>
              <a:gd name="T95" fmla="*/ 254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262" h="572">
                <a:moveTo>
                  <a:pt x="430" y="262"/>
                </a:moveTo>
                <a:cubicBezTo>
                  <a:pt x="429" y="241"/>
                  <a:pt x="424" y="221"/>
                  <a:pt x="413" y="202"/>
                </a:cubicBezTo>
                <a:cubicBezTo>
                  <a:pt x="319" y="39"/>
                  <a:pt x="319" y="39"/>
                  <a:pt x="319" y="39"/>
                </a:cubicBezTo>
                <a:cubicBezTo>
                  <a:pt x="312" y="27"/>
                  <a:pt x="307" y="14"/>
                  <a:pt x="304" y="0"/>
                </a:cubicBezTo>
                <a:cubicBezTo>
                  <a:pt x="300" y="7"/>
                  <a:pt x="300" y="7"/>
                  <a:pt x="300" y="7"/>
                </a:cubicBezTo>
                <a:cubicBezTo>
                  <a:pt x="277" y="47"/>
                  <a:pt x="277" y="97"/>
                  <a:pt x="300" y="137"/>
                </a:cubicBezTo>
                <a:cubicBezTo>
                  <a:pt x="375" y="267"/>
                  <a:pt x="375" y="267"/>
                  <a:pt x="375" y="267"/>
                </a:cubicBezTo>
                <a:cubicBezTo>
                  <a:pt x="399" y="308"/>
                  <a:pt x="399" y="357"/>
                  <a:pt x="375" y="398"/>
                </a:cubicBezTo>
                <a:cubicBezTo>
                  <a:pt x="371" y="405"/>
                  <a:pt x="371" y="405"/>
                  <a:pt x="371" y="405"/>
                </a:cubicBezTo>
                <a:cubicBezTo>
                  <a:pt x="369" y="391"/>
                  <a:pt x="364" y="378"/>
                  <a:pt x="356" y="365"/>
                </a:cubicBezTo>
                <a:cubicBezTo>
                  <a:pt x="288" y="246"/>
                  <a:pt x="288" y="246"/>
                  <a:pt x="288" y="246"/>
                </a:cubicBezTo>
                <a:cubicBezTo>
                  <a:pt x="244" y="170"/>
                  <a:pt x="244" y="170"/>
                  <a:pt x="244" y="170"/>
                </a:cubicBezTo>
                <a:cubicBezTo>
                  <a:pt x="236" y="157"/>
                  <a:pt x="232" y="144"/>
                  <a:pt x="229" y="130"/>
                </a:cubicBezTo>
                <a:cubicBezTo>
                  <a:pt x="225" y="137"/>
                  <a:pt x="225" y="137"/>
                  <a:pt x="225" y="137"/>
                </a:cubicBezTo>
                <a:cubicBezTo>
                  <a:pt x="202" y="177"/>
                  <a:pt x="202" y="227"/>
                  <a:pt x="225" y="267"/>
                </a:cubicBezTo>
                <a:cubicBezTo>
                  <a:pt x="225" y="267"/>
                  <a:pt x="225" y="267"/>
                  <a:pt x="225" y="267"/>
                </a:cubicBezTo>
                <a:cubicBezTo>
                  <a:pt x="300" y="398"/>
                  <a:pt x="300" y="398"/>
                  <a:pt x="300" y="398"/>
                </a:cubicBezTo>
                <a:cubicBezTo>
                  <a:pt x="323" y="438"/>
                  <a:pt x="323" y="488"/>
                  <a:pt x="300" y="528"/>
                </a:cubicBezTo>
                <a:cubicBezTo>
                  <a:pt x="296" y="535"/>
                  <a:pt x="296" y="535"/>
                  <a:pt x="296" y="535"/>
                </a:cubicBezTo>
                <a:cubicBezTo>
                  <a:pt x="293" y="521"/>
                  <a:pt x="288" y="508"/>
                  <a:pt x="281" y="495"/>
                </a:cubicBezTo>
                <a:cubicBezTo>
                  <a:pt x="187" y="333"/>
                  <a:pt x="187" y="333"/>
                  <a:pt x="187" y="333"/>
                </a:cubicBezTo>
                <a:cubicBezTo>
                  <a:pt x="175" y="311"/>
                  <a:pt x="169" y="286"/>
                  <a:pt x="170" y="262"/>
                </a:cubicBezTo>
                <a:cubicBezTo>
                  <a:pt x="69" y="288"/>
                  <a:pt x="0" y="344"/>
                  <a:pt x="0" y="409"/>
                </a:cubicBezTo>
                <a:cubicBezTo>
                  <a:pt x="0" y="499"/>
                  <a:pt x="134" y="572"/>
                  <a:pt x="300" y="572"/>
                </a:cubicBezTo>
                <a:cubicBezTo>
                  <a:pt x="466" y="572"/>
                  <a:pt x="600" y="499"/>
                  <a:pt x="600" y="409"/>
                </a:cubicBezTo>
                <a:cubicBezTo>
                  <a:pt x="600" y="344"/>
                  <a:pt x="531" y="288"/>
                  <a:pt x="430" y="262"/>
                </a:cubicBezTo>
                <a:close/>
                <a:moveTo>
                  <a:pt x="714" y="540"/>
                </a:moveTo>
                <a:cubicBezTo>
                  <a:pt x="715" y="517"/>
                  <a:pt x="718" y="501"/>
                  <a:pt x="725" y="483"/>
                </a:cubicBezTo>
                <a:cubicBezTo>
                  <a:pt x="756" y="498"/>
                  <a:pt x="797" y="505"/>
                  <a:pt x="828" y="505"/>
                </a:cubicBezTo>
                <a:cubicBezTo>
                  <a:pt x="880" y="505"/>
                  <a:pt x="910" y="488"/>
                  <a:pt x="910" y="455"/>
                </a:cubicBezTo>
                <a:cubicBezTo>
                  <a:pt x="910" y="422"/>
                  <a:pt x="888" y="407"/>
                  <a:pt x="835" y="384"/>
                </a:cubicBezTo>
                <a:cubicBezTo>
                  <a:pt x="806" y="371"/>
                  <a:pt x="806" y="371"/>
                  <a:pt x="806" y="371"/>
                </a:cubicBezTo>
                <a:cubicBezTo>
                  <a:pt x="753" y="348"/>
                  <a:pt x="717" y="318"/>
                  <a:pt x="717" y="258"/>
                </a:cubicBezTo>
                <a:cubicBezTo>
                  <a:pt x="717" y="194"/>
                  <a:pt x="762" y="153"/>
                  <a:pt x="853" y="153"/>
                </a:cubicBezTo>
                <a:cubicBezTo>
                  <a:pt x="890" y="153"/>
                  <a:pt x="924" y="158"/>
                  <a:pt x="956" y="169"/>
                </a:cubicBezTo>
                <a:cubicBezTo>
                  <a:pt x="955" y="192"/>
                  <a:pt x="951" y="209"/>
                  <a:pt x="945" y="226"/>
                </a:cubicBezTo>
                <a:cubicBezTo>
                  <a:pt x="915" y="214"/>
                  <a:pt x="879" y="209"/>
                  <a:pt x="853" y="209"/>
                </a:cubicBezTo>
                <a:cubicBezTo>
                  <a:pt x="804" y="209"/>
                  <a:pt x="781" y="228"/>
                  <a:pt x="781" y="258"/>
                </a:cubicBezTo>
                <a:cubicBezTo>
                  <a:pt x="781" y="288"/>
                  <a:pt x="803" y="305"/>
                  <a:pt x="842" y="322"/>
                </a:cubicBezTo>
                <a:cubicBezTo>
                  <a:pt x="873" y="335"/>
                  <a:pt x="873" y="335"/>
                  <a:pt x="873" y="335"/>
                </a:cubicBezTo>
                <a:cubicBezTo>
                  <a:pt x="945" y="365"/>
                  <a:pt x="974" y="397"/>
                  <a:pt x="974" y="452"/>
                </a:cubicBezTo>
                <a:cubicBezTo>
                  <a:pt x="974" y="517"/>
                  <a:pt x="925" y="561"/>
                  <a:pt x="829" y="561"/>
                </a:cubicBezTo>
                <a:cubicBezTo>
                  <a:pt x="783" y="561"/>
                  <a:pt x="745" y="555"/>
                  <a:pt x="714" y="540"/>
                </a:cubicBezTo>
                <a:close/>
                <a:moveTo>
                  <a:pt x="1277" y="270"/>
                </a:moveTo>
                <a:cubicBezTo>
                  <a:pt x="1277" y="552"/>
                  <a:pt x="1277" y="552"/>
                  <a:pt x="1277" y="552"/>
                </a:cubicBezTo>
                <a:cubicBezTo>
                  <a:pt x="1220" y="552"/>
                  <a:pt x="1220" y="552"/>
                  <a:pt x="1220" y="552"/>
                </a:cubicBezTo>
                <a:cubicBezTo>
                  <a:pt x="1217" y="518"/>
                  <a:pt x="1217" y="518"/>
                  <a:pt x="1217" y="518"/>
                </a:cubicBezTo>
                <a:cubicBezTo>
                  <a:pt x="1201" y="543"/>
                  <a:pt x="1177" y="559"/>
                  <a:pt x="1138" y="559"/>
                </a:cubicBezTo>
                <a:cubicBezTo>
                  <a:pt x="1063" y="559"/>
                  <a:pt x="1013" y="505"/>
                  <a:pt x="1013" y="410"/>
                </a:cubicBezTo>
                <a:cubicBezTo>
                  <a:pt x="1013" y="311"/>
                  <a:pt x="1066" y="254"/>
                  <a:pt x="1171" y="254"/>
                </a:cubicBezTo>
                <a:cubicBezTo>
                  <a:pt x="1211" y="254"/>
                  <a:pt x="1245" y="259"/>
                  <a:pt x="1277" y="270"/>
                </a:cubicBezTo>
                <a:close/>
                <a:moveTo>
                  <a:pt x="1215" y="488"/>
                </a:moveTo>
                <a:cubicBezTo>
                  <a:pt x="1215" y="311"/>
                  <a:pt x="1215" y="311"/>
                  <a:pt x="1215" y="311"/>
                </a:cubicBezTo>
                <a:cubicBezTo>
                  <a:pt x="1202" y="309"/>
                  <a:pt x="1188" y="307"/>
                  <a:pt x="1171" y="307"/>
                </a:cubicBezTo>
                <a:cubicBezTo>
                  <a:pt x="1107" y="307"/>
                  <a:pt x="1077" y="347"/>
                  <a:pt x="1077" y="410"/>
                </a:cubicBezTo>
                <a:cubicBezTo>
                  <a:pt x="1077" y="468"/>
                  <a:pt x="1100" y="508"/>
                  <a:pt x="1155" y="508"/>
                </a:cubicBezTo>
                <a:cubicBezTo>
                  <a:pt x="1179" y="508"/>
                  <a:pt x="1199" y="500"/>
                  <a:pt x="1215" y="488"/>
                </a:cubicBezTo>
                <a:close/>
                <a:moveTo>
                  <a:pt x="1595" y="363"/>
                </a:moveTo>
                <a:cubicBezTo>
                  <a:pt x="1595" y="552"/>
                  <a:pt x="1595" y="552"/>
                  <a:pt x="1595" y="552"/>
                </a:cubicBezTo>
                <a:cubicBezTo>
                  <a:pt x="1533" y="552"/>
                  <a:pt x="1533" y="552"/>
                  <a:pt x="1533" y="552"/>
                </a:cubicBezTo>
                <a:cubicBezTo>
                  <a:pt x="1533" y="373"/>
                  <a:pt x="1533" y="373"/>
                  <a:pt x="1533" y="373"/>
                </a:cubicBezTo>
                <a:cubicBezTo>
                  <a:pt x="1533" y="329"/>
                  <a:pt x="1518" y="307"/>
                  <a:pt x="1456" y="307"/>
                </a:cubicBezTo>
                <a:cubicBezTo>
                  <a:pt x="1442" y="307"/>
                  <a:pt x="1424" y="309"/>
                  <a:pt x="1407" y="312"/>
                </a:cubicBezTo>
                <a:cubicBezTo>
                  <a:pt x="1407" y="552"/>
                  <a:pt x="1407" y="552"/>
                  <a:pt x="1407" y="552"/>
                </a:cubicBezTo>
                <a:cubicBezTo>
                  <a:pt x="1345" y="552"/>
                  <a:pt x="1345" y="552"/>
                  <a:pt x="1345" y="552"/>
                </a:cubicBezTo>
                <a:cubicBezTo>
                  <a:pt x="1345" y="270"/>
                  <a:pt x="1345" y="270"/>
                  <a:pt x="1345" y="270"/>
                </a:cubicBezTo>
                <a:cubicBezTo>
                  <a:pt x="1385" y="261"/>
                  <a:pt x="1428" y="254"/>
                  <a:pt x="1458" y="254"/>
                </a:cubicBezTo>
                <a:cubicBezTo>
                  <a:pt x="1562" y="254"/>
                  <a:pt x="1595" y="294"/>
                  <a:pt x="1595" y="363"/>
                </a:cubicBezTo>
                <a:close/>
                <a:moveTo>
                  <a:pt x="1767" y="506"/>
                </a:moveTo>
                <a:cubicBezTo>
                  <a:pt x="1785" y="506"/>
                  <a:pt x="1802" y="503"/>
                  <a:pt x="1816" y="498"/>
                </a:cubicBezTo>
                <a:cubicBezTo>
                  <a:pt x="1814" y="515"/>
                  <a:pt x="1812" y="534"/>
                  <a:pt x="1808" y="550"/>
                </a:cubicBezTo>
                <a:cubicBezTo>
                  <a:pt x="1791" y="557"/>
                  <a:pt x="1773" y="559"/>
                  <a:pt x="1756" y="559"/>
                </a:cubicBezTo>
                <a:cubicBezTo>
                  <a:pt x="1696" y="559"/>
                  <a:pt x="1657" y="531"/>
                  <a:pt x="1657" y="463"/>
                </a:cubicBezTo>
                <a:cubicBezTo>
                  <a:pt x="1657" y="166"/>
                  <a:pt x="1657" y="166"/>
                  <a:pt x="1657" y="166"/>
                </a:cubicBezTo>
                <a:cubicBezTo>
                  <a:pt x="1676" y="160"/>
                  <a:pt x="1700" y="157"/>
                  <a:pt x="1719" y="157"/>
                </a:cubicBezTo>
                <a:cubicBezTo>
                  <a:pt x="1719" y="264"/>
                  <a:pt x="1719" y="264"/>
                  <a:pt x="1719" y="264"/>
                </a:cubicBezTo>
                <a:cubicBezTo>
                  <a:pt x="1817" y="264"/>
                  <a:pt x="1817" y="264"/>
                  <a:pt x="1817" y="264"/>
                </a:cubicBezTo>
                <a:cubicBezTo>
                  <a:pt x="1816" y="283"/>
                  <a:pt x="1815" y="301"/>
                  <a:pt x="1812" y="317"/>
                </a:cubicBezTo>
                <a:cubicBezTo>
                  <a:pt x="1719" y="317"/>
                  <a:pt x="1719" y="317"/>
                  <a:pt x="1719" y="317"/>
                </a:cubicBezTo>
                <a:cubicBezTo>
                  <a:pt x="1719" y="455"/>
                  <a:pt x="1719" y="455"/>
                  <a:pt x="1719" y="455"/>
                </a:cubicBezTo>
                <a:cubicBezTo>
                  <a:pt x="1719" y="492"/>
                  <a:pt x="1737" y="506"/>
                  <a:pt x="1767" y="506"/>
                </a:cubicBezTo>
                <a:close/>
                <a:moveTo>
                  <a:pt x="2100" y="270"/>
                </a:moveTo>
                <a:cubicBezTo>
                  <a:pt x="2100" y="552"/>
                  <a:pt x="2100" y="552"/>
                  <a:pt x="2100" y="552"/>
                </a:cubicBezTo>
                <a:cubicBezTo>
                  <a:pt x="2043" y="552"/>
                  <a:pt x="2043" y="552"/>
                  <a:pt x="2043" y="552"/>
                </a:cubicBezTo>
                <a:cubicBezTo>
                  <a:pt x="2040" y="518"/>
                  <a:pt x="2040" y="518"/>
                  <a:pt x="2040" y="518"/>
                </a:cubicBezTo>
                <a:cubicBezTo>
                  <a:pt x="2024" y="543"/>
                  <a:pt x="2000" y="559"/>
                  <a:pt x="1960" y="559"/>
                </a:cubicBezTo>
                <a:cubicBezTo>
                  <a:pt x="1886" y="559"/>
                  <a:pt x="1836" y="505"/>
                  <a:pt x="1836" y="410"/>
                </a:cubicBezTo>
                <a:cubicBezTo>
                  <a:pt x="1836" y="311"/>
                  <a:pt x="1889" y="254"/>
                  <a:pt x="1993" y="254"/>
                </a:cubicBezTo>
                <a:cubicBezTo>
                  <a:pt x="2034" y="254"/>
                  <a:pt x="2067" y="259"/>
                  <a:pt x="2100" y="270"/>
                </a:cubicBezTo>
                <a:close/>
                <a:moveTo>
                  <a:pt x="2038" y="488"/>
                </a:moveTo>
                <a:cubicBezTo>
                  <a:pt x="2038" y="311"/>
                  <a:pt x="2038" y="311"/>
                  <a:pt x="2038" y="311"/>
                </a:cubicBezTo>
                <a:cubicBezTo>
                  <a:pt x="2025" y="309"/>
                  <a:pt x="2011" y="307"/>
                  <a:pt x="1993" y="307"/>
                </a:cubicBezTo>
                <a:cubicBezTo>
                  <a:pt x="1929" y="307"/>
                  <a:pt x="1899" y="347"/>
                  <a:pt x="1899" y="410"/>
                </a:cubicBezTo>
                <a:cubicBezTo>
                  <a:pt x="1899" y="468"/>
                  <a:pt x="1922" y="508"/>
                  <a:pt x="1978" y="508"/>
                </a:cubicBezTo>
                <a:cubicBezTo>
                  <a:pt x="2002" y="508"/>
                  <a:pt x="2022" y="500"/>
                  <a:pt x="2038" y="488"/>
                </a:cubicBezTo>
                <a:close/>
                <a:moveTo>
                  <a:pt x="2418" y="363"/>
                </a:moveTo>
                <a:cubicBezTo>
                  <a:pt x="2418" y="552"/>
                  <a:pt x="2418" y="552"/>
                  <a:pt x="2418" y="552"/>
                </a:cubicBezTo>
                <a:cubicBezTo>
                  <a:pt x="2356" y="552"/>
                  <a:pt x="2356" y="552"/>
                  <a:pt x="2356" y="552"/>
                </a:cubicBezTo>
                <a:cubicBezTo>
                  <a:pt x="2356" y="373"/>
                  <a:pt x="2356" y="373"/>
                  <a:pt x="2356" y="373"/>
                </a:cubicBezTo>
                <a:cubicBezTo>
                  <a:pt x="2356" y="329"/>
                  <a:pt x="2341" y="307"/>
                  <a:pt x="2279" y="307"/>
                </a:cubicBezTo>
                <a:cubicBezTo>
                  <a:pt x="2264" y="307"/>
                  <a:pt x="2247" y="309"/>
                  <a:pt x="2230" y="312"/>
                </a:cubicBezTo>
                <a:cubicBezTo>
                  <a:pt x="2230" y="552"/>
                  <a:pt x="2230" y="552"/>
                  <a:pt x="2230" y="552"/>
                </a:cubicBezTo>
                <a:cubicBezTo>
                  <a:pt x="2168" y="552"/>
                  <a:pt x="2168" y="552"/>
                  <a:pt x="2168" y="552"/>
                </a:cubicBezTo>
                <a:cubicBezTo>
                  <a:pt x="2168" y="270"/>
                  <a:pt x="2168" y="270"/>
                  <a:pt x="2168" y="270"/>
                </a:cubicBezTo>
                <a:cubicBezTo>
                  <a:pt x="2207" y="261"/>
                  <a:pt x="2251" y="254"/>
                  <a:pt x="2281" y="254"/>
                </a:cubicBezTo>
                <a:cubicBezTo>
                  <a:pt x="2384" y="254"/>
                  <a:pt x="2418" y="294"/>
                  <a:pt x="2418" y="363"/>
                </a:cubicBezTo>
                <a:close/>
                <a:moveTo>
                  <a:pt x="2733" y="157"/>
                </a:moveTo>
                <a:cubicBezTo>
                  <a:pt x="2733" y="552"/>
                  <a:pt x="2733" y="552"/>
                  <a:pt x="2733" y="552"/>
                </a:cubicBezTo>
                <a:cubicBezTo>
                  <a:pt x="2676" y="552"/>
                  <a:pt x="2676" y="552"/>
                  <a:pt x="2676" y="552"/>
                </a:cubicBezTo>
                <a:cubicBezTo>
                  <a:pt x="2672" y="516"/>
                  <a:pt x="2672" y="516"/>
                  <a:pt x="2672" y="516"/>
                </a:cubicBezTo>
                <a:cubicBezTo>
                  <a:pt x="2656" y="543"/>
                  <a:pt x="2632" y="559"/>
                  <a:pt x="2591" y="559"/>
                </a:cubicBezTo>
                <a:cubicBezTo>
                  <a:pt x="2517" y="559"/>
                  <a:pt x="2467" y="505"/>
                  <a:pt x="2467" y="410"/>
                </a:cubicBezTo>
                <a:cubicBezTo>
                  <a:pt x="2467" y="311"/>
                  <a:pt x="2520" y="254"/>
                  <a:pt x="2625" y="254"/>
                </a:cubicBezTo>
                <a:cubicBezTo>
                  <a:pt x="2641" y="254"/>
                  <a:pt x="2656" y="256"/>
                  <a:pt x="2671" y="259"/>
                </a:cubicBezTo>
                <a:cubicBezTo>
                  <a:pt x="2671" y="166"/>
                  <a:pt x="2671" y="166"/>
                  <a:pt x="2671" y="166"/>
                </a:cubicBezTo>
                <a:cubicBezTo>
                  <a:pt x="2690" y="159"/>
                  <a:pt x="2712" y="157"/>
                  <a:pt x="2733" y="157"/>
                </a:cubicBezTo>
                <a:close/>
                <a:moveTo>
                  <a:pt x="2671" y="487"/>
                </a:moveTo>
                <a:cubicBezTo>
                  <a:pt x="2671" y="313"/>
                  <a:pt x="2671" y="313"/>
                  <a:pt x="2671" y="313"/>
                </a:cubicBezTo>
                <a:cubicBezTo>
                  <a:pt x="2655" y="310"/>
                  <a:pt x="2638" y="307"/>
                  <a:pt x="2621" y="307"/>
                </a:cubicBezTo>
                <a:cubicBezTo>
                  <a:pt x="2560" y="307"/>
                  <a:pt x="2531" y="346"/>
                  <a:pt x="2531" y="410"/>
                </a:cubicBezTo>
                <a:cubicBezTo>
                  <a:pt x="2531" y="468"/>
                  <a:pt x="2554" y="508"/>
                  <a:pt x="2609" y="508"/>
                </a:cubicBezTo>
                <a:cubicBezTo>
                  <a:pt x="2634" y="508"/>
                  <a:pt x="2654" y="500"/>
                  <a:pt x="2671" y="487"/>
                </a:cubicBezTo>
                <a:close/>
                <a:moveTo>
                  <a:pt x="3045" y="432"/>
                </a:moveTo>
                <a:cubicBezTo>
                  <a:pt x="2847" y="432"/>
                  <a:pt x="2847" y="432"/>
                  <a:pt x="2847" y="432"/>
                </a:cubicBezTo>
                <a:cubicBezTo>
                  <a:pt x="2854" y="482"/>
                  <a:pt x="2884" y="506"/>
                  <a:pt x="2939" y="506"/>
                </a:cubicBezTo>
                <a:cubicBezTo>
                  <a:pt x="2973" y="506"/>
                  <a:pt x="3007" y="499"/>
                  <a:pt x="3038" y="485"/>
                </a:cubicBezTo>
                <a:cubicBezTo>
                  <a:pt x="3036" y="501"/>
                  <a:pt x="3033" y="522"/>
                  <a:pt x="3029" y="541"/>
                </a:cubicBezTo>
                <a:cubicBezTo>
                  <a:pt x="3001" y="554"/>
                  <a:pt x="2971" y="559"/>
                  <a:pt x="2937" y="559"/>
                </a:cubicBezTo>
                <a:cubicBezTo>
                  <a:pt x="2834" y="559"/>
                  <a:pt x="2783" y="502"/>
                  <a:pt x="2783" y="405"/>
                </a:cubicBezTo>
                <a:cubicBezTo>
                  <a:pt x="2783" y="321"/>
                  <a:pt x="2822" y="254"/>
                  <a:pt x="2921" y="254"/>
                </a:cubicBezTo>
                <a:cubicBezTo>
                  <a:pt x="3010" y="254"/>
                  <a:pt x="3048" y="313"/>
                  <a:pt x="3048" y="384"/>
                </a:cubicBezTo>
                <a:cubicBezTo>
                  <a:pt x="3048" y="401"/>
                  <a:pt x="3047" y="415"/>
                  <a:pt x="3045" y="432"/>
                </a:cubicBezTo>
                <a:close/>
                <a:moveTo>
                  <a:pt x="2845" y="380"/>
                </a:moveTo>
                <a:cubicBezTo>
                  <a:pt x="2985" y="380"/>
                  <a:pt x="2985" y="380"/>
                  <a:pt x="2985" y="380"/>
                </a:cubicBezTo>
                <a:cubicBezTo>
                  <a:pt x="2985" y="333"/>
                  <a:pt x="2960" y="306"/>
                  <a:pt x="2918" y="306"/>
                </a:cubicBezTo>
                <a:cubicBezTo>
                  <a:pt x="2874" y="306"/>
                  <a:pt x="2850" y="332"/>
                  <a:pt x="2845" y="380"/>
                </a:cubicBezTo>
                <a:close/>
                <a:moveTo>
                  <a:pt x="3262" y="257"/>
                </a:moveTo>
                <a:cubicBezTo>
                  <a:pt x="3262" y="275"/>
                  <a:pt x="3260" y="298"/>
                  <a:pt x="3256" y="310"/>
                </a:cubicBezTo>
                <a:cubicBezTo>
                  <a:pt x="3241" y="308"/>
                  <a:pt x="3227" y="307"/>
                  <a:pt x="3209" y="307"/>
                </a:cubicBezTo>
                <a:cubicBezTo>
                  <a:pt x="3194" y="307"/>
                  <a:pt x="3179" y="309"/>
                  <a:pt x="3164" y="311"/>
                </a:cubicBezTo>
                <a:cubicBezTo>
                  <a:pt x="3164" y="552"/>
                  <a:pt x="3164" y="552"/>
                  <a:pt x="3164" y="552"/>
                </a:cubicBezTo>
                <a:cubicBezTo>
                  <a:pt x="3102" y="552"/>
                  <a:pt x="3102" y="552"/>
                  <a:pt x="3102" y="552"/>
                </a:cubicBezTo>
                <a:cubicBezTo>
                  <a:pt x="3102" y="270"/>
                  <a:pt x="3102" y="270"/>
                  <a:pt x="3102" y="270"/>
                </a:cubicBezTo>
                <a:cubicBezTo>
                  <a:pt x="3128" y="261"/>
                  <a:pt x="3173" y="254"/>
                  <a:pt x="3208" y="254"/>
                </a:cubicBezTo>
                <a:cubicBezTo>
                  <a:pt x="3227" y="254"/>
                  <a:pt x="3248" y="255"/>
                  <a:pt x="3262" y="257"/>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a:solidFill>
                <a:prstClr val="black"/>
              </a:solidFill>
            </a:endParaRPr>
          </a:p>
        </p:txBody>
      </p:sp>
    </p:spTree>
    <p:extLst>
      <p:ext uri="{BB962C8B-B14F-4D97-AF65-F5344CB8AC3E}">
        <p14:creationId xmlns:p14="http://schemas.microsoft.com/office/powerpoint/2010/main" val="114249209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3_Header &amp; Content ">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6E87BA73-1D79-754F-DBB3-A5B0226D6518}"/>
              </a:ext>
            </a:extLst>
          </p:cNvPr>
          <p:cNvGraphicFramePr>
            <a:graphicFrameLocks noChangeAspect="1"/>
          </p:cNvGraphicFramePr>
          <p:nvPr userDrawn="1">
            <p:custDataLst>
              <p:tags r:id="rId1"/>
            </p:custDataLst>
            <p:extLst>
              <p:ext uri="{D42A27DB-BD31-4B8C-83A1-F6EECF244321}">
                <p14:modId xmlns:p14="http://schemas.microsoft.com/office/powerpoint/2010/main" val="22932464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08" imgH="408" progId="TCLayout.ActiveDocument.1">
                  <p:embed/>
                </p:oleObj>
              </mc:Choice>
              <mc:Fallback>
                <p:oleObj name="Diapositiva de think-cell" r:id="rId3" imgW="408" imgH="408" progId="TCLayout.ActiveDocument.1">
                  <p:embed/>
                  <p:pic>
                    <p:nvPicPr>
                      <p:cNvPr id="2" name="think-cell data - do not delete" hidden="1">
                        <a:extLst>
                          <a:ext uri="{FF2B5EF4-FFF2-40B4-BE49-F238E27FC236}">
                            <a16:creationId xmlns:a16="http://schemas.microsoft.com/office/drawing/2014/main" id="{6E87BA73-1D79-754F-DBB3-A5B0226D651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CuadroTexto 2">
            <a:extLst>
              <a:ext uri="{FF2B5EF4-FFF2-40B4-BE49-F238E27FC236}">
                <a16:creationId xmlns:a16="http://schemas.microsoft.com/office/drawing/2014/main" id="{408A7361-5E86-43BD-984F-C0489E52B69D}"/>
              </a:ext>
            </a:extLst>
          </p:cNvPr>
          <p:cNvSpPr txBox="1"/>
          <p:nvPr userDrawn="1"/>
        </p:nvSpPr>
        <p:spPr>
          <a:xfrm>
            <a:off x="11473842" y="6565612"/>
            <a:ext cx="718159" cy="292388"/>
          </a:xfrm>
          <a:prstGeom prst="rect">
            <a:avLst/>
          </a:prstGeom>
          <a:noFill/>
        </p:spPr>
        <p:txBody>
          <a:bodyPr wrap="square" rtlCol="0" anchor="ctr" anchorCtr="0">
            <a:spAutoFit/>
          </a:bodyPr>
          <a:lstStyle/>
          <a:p>
            <a:pPr algn="r" rtl="0"/>
            <a:fld id="{DB0C6F71-F88D-45D5-A0AB-EA235CD66EB9}" type="slidenum">
              <a:rPr lang="en-US" sz="1298" smtClean="0">
                <a:solidFill>
                  <a:srgbClr val="EC0000"/>
                </a:solidFill>
                <a:latin typeface="Santander Text" panose="020B0504020201020104" pitchFamily="34" charset="0"/>
              </a:rPr>
              <a:pPr algn="r" rtl="0"/>
              <a:t>‹Nº›</a:t>
            </a:fld>
            <a:endParaRPr lang="en-US" sz="1298">
              <a:solidFill>
                <a:srgbClr val="EC0000"/>
              </a:solidFill>
              <a:latin typeface="Santander Text" panose="020B0504020201020104" pitchFamily="34" charset="0"/>
            </a:endParaRPr>
          </a:p>
        </p:txBody>
      </p:sp>
      <p:pic>
        <p:nvPicPr>
          <p:cNvPr id="4" name="Gráfico 10">
            <a:extLst>
              <a:ext uri="{FF2B5EF4-FFF2-40B4-BE49-F238E27FC236}">
                <a16:creationId xmlns:a16="http://schemas.microsoft.com/office/drawing/2014/main" id="{E12E4889-A349-4B2D-8405-AF91FD06C77B}"/>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224819" y="6497438"/>
            <a:ext cx="1172108" cy="205543"/>
          </a:xfrm>
          <a:prstGeom prst="rect">
            <a:avLst/>
          </a:prstGeom>
        </p:spPr>
      </p:pic>
      <p:sp>
        <p:nvSpPr>
          <p:cNvPr id="5" name="Título 1">
            <a:extLst>
              <a:ext uri="{FF2B5EF4-FFF2-40B4-BE49-F238E27FC236}">
                <a16:creationId xmlns:a16="http://schemas.microsoft.com/office/drawing/2014/main" id="{93B03E12-73F5-3943-77CF-1B22C89BD272}"/>
              </a:ext>
            </a:extLst>
          </p:cNvPr>
          <p:cNvSpPr>
            <a:spLocks noGrp="1"/>
          </p:cNvSpPr>
          <p:nvPr>
            <p:ph type="title"/>
          </p:nvPr>
        </p:nvSpPr>
        <p:spPr>
          <a:xfrm>
            <a:off x="701458" y="354687"/>
            <a:ext cx="11104322" cy="484559"/>
          </a:xfrm>
        </p:spPr>
        <p:txBody>
          <a:bodyPr vert="horz" anchor="t">
            <a:noAutofit/>
          </a:bodyPr>
          <a:lstStyle>
            <a:lvl1pPr rtl="0">
              <a:defRPr sz="2795">
                <a:solidFill>
                  <a:schemeClr val="accent1"/>
                </a:solidFill>
              </a:defRPr>
            </a:lvl1pPr>
          </a:lstStyle>
          <a:p>
            <a:r>
              <a:rPr lang="en-US"/>
              <a:t>Click to edit Master title style</a:t>
            </a:r>
          </a:p>
        </p:txBody>
      </p:sp>
      <p:sp>
        <p:nvSpPr>
          <p:cNvPr id="6" name="Marcador de texto 14">
            <a:extLst>
              <a:ext uri="{FF2B5EF4-FFF2-40B4-BE49-F238E27FC236}">
                <a16:creationId xmlns:a16="http://schemas.microsoft.com/office/drawing/2014/main" id="{AB941473-C807-2304-5860-F7BEB93B06C6}"/>
              </a:ext>
            </a:extLst>
          </p:cNvPr>
          <p:cNvSpPr>
            <a:spLocks noGrp="1"/>
          </p:cNvSpPr>
          <p:nvPr>
            <p:ph type="body" sz="quarter" idx="14" hasCustomPrompt="1"/>
          </p:nvPr>
        </p:nvSpPr>
        <p:spPr>
          <a:xfrm>
            <a:off x="701458" y="23950"/>
            <a:ext cx="11104323" cy="304800"/>
          </a:xfrm>
        </p:spPr>
        <p:txBody>
          <a:bodyPr>
            <a:noAutofit/>
          </a:bodyPr>
          <a:lstStyle>
            <a:lvl1pPr marL="0" indent="0" rtl="0">
              <a:buFontTx/>
              <a:buNone/>
              <a:defRPr sz="1298">
                <a:solidFill>
                  <a:schemeClr val="accent1"/>
                </a:solidFill>
              </a:defRPr>
            </a:lvl1pPr>
            <a:lvl2pPr marL="456377" indent="0">
              <a:buFontTx/>
              <a:buNone/>
              <a:defRPr sz="1098"/>
            </a:lvl2pPr>
            <a:lvl3pPr marL="912754" indent="0">
              <a:buFontTx/>
              <a:buNone/>
              <a:defRPr sz="1048"/>
            </a:lvl3pPr>
            <a:lvl4pPr marL="1369131" indent="0">
              <a:buFontTx/>
              <a:buNone/>
              <a:defRPr sz="998"/>
            </a:lvl4pPr>
            <a:lvl5pPr marL="1825508" indent="0">
              <a:buFontTx/>
              <a:buNone/>
              <a:defRPr sz="998"/>
            </a:lvl5pPr>
          </a:lstStyle>
          <a:p>
            <a:pPr lvl="0"/>
            <a:r>
              <a:rPr lang="en-US"/>
              <a:t>Edit Master text styles</a:t>
            </a:r>
          </a:p>
        </p:txBody>
      </p:sp>
    </p:spTree>
    <p:extLst>
      <p:ext uri="{BB962C8B-B14F-4D97-AF65-F5344CB8AC3E}">
        <p14:creationId xmlns:p14="http://schemas.microsoft.com/office/powerpoint/2010/main" val="396392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2.xml"/><Relationship Id="rId5" Type="http://schemas.openxmlformats.org/officeDocument/2006/relationships/slideLayout" Target="../slideLayouts/slideLayout5.xml"/><Relationship Id="rId10" Type="http://schemas.openxmlformats.org/officeDocument/2006/relationships/tags" Target="../tags/tag1.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18" Type="http://schemas.openxmlformats.org/officeDocument/2006/relationships/oleObject" Target="../embeddings/oleObject4.bin"/><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tags" Target="../tags/tag8.xml"/><Relationship Id="rId2" Type="http://schemas.openxmlformats.org/officeDocument/2006/relationships/slideLayout" Target="../slideLayouts/slideLayout10.xml"/><Relationship Id="rId16" Type="http://schemas.openxmlformats.org/officeDocument/2006/relationships/theme" Target="../theme/theme2.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5" Type="http://schemas.openxmlformats.org/officeDocument/2006/relationships/slideLayout" Target="../slideLayouts/slideLayout23.xml"/><Relationship Id="rId10" Type="http://schemas.openxmlformats.org/officeDocument/2006/relationships/slideLayout" Target="../slideLayouts/slideLayout18.xml"/><Relationship Id="rId19" Type="http://schemas.openxmlformats.org/officeDocument/2006/relationships/image" Target="../media/image4.emf"/><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Objeto 7" hidden="1">
            <a:extLst>
              <a:ext uri="{FF2B5EF4-FFF2-40B4-BE49-F238E27FC236}">
                <a16:creationId xmlns:a16="http://schemas.microsoft.com/office/drawing/2014/main" id="{6CDFD9EE-73C0-428F-87EC-EFFCDC0F834F}"/>
              </a:ext>
            </a:extLst>
          </p:cNvPr>
          <p:cNvGraphicFramePr>
            <a:graphicFrameLocks noChangeAspect="1"/>
          </p:cNvGraphicFramePr>
          <p:nvPr userDrawn="1">
            <p:custDataLst>
              <p:tags r:id="rId10"/>
            </p:custDataLst>
            <p:extLst>
              <p:ext uri="{D42A27DB-BD31-4B8C-83A1-F6EECF244321}">
                <p14:modId xmlns:p14="http://schemas.microsoft.com/office/powerpoint/2010/main" val="33778217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2" imgW="270" imgH="270" progId="TCLayout.ActiveDocument.1">
                  <p:embed/>
                </p:oleObj>
              </mc:Choice>
              <mc:Fallback>
                <p:oleObj name="think-cell Slide" r:id="rId12" imgW="270" imgH="270" progId="TCLayout.ActiveDocument.1">
                  <p:embed/>
                  <p:pic>
                    <p:nvPicPr>
                      <p:cNvPr id="8" name="Objeto 7" hidden="1">
                        <a:extLst>
                          <a:ext uri="{FF2B5EF4-FFF2-40B4-BE49-F238E27FC236}">
                            <a16:creationId xmlns:a16="http://schemas.microsoft.com/office/drawing/2014/main" id="{6CDFD9EE-73C0-428F-87EC-EFFCDC0F834F}"/>
                          </a:ext>
                        </a:extLst>
                      </p:cNvPr>
                      <p:cNvPicPr/>
                      <p:nvPr/>
                    </p:nvPicPr>
                    <p:blipFill>
                      <a:blip r:embed="rId13"/>
                      <a:stretch>
                        <a:fillRect/>
                      </a:stretch>
                    </p:blipFill>
                    <p:spPr>
                      <a:xfrm>
                        <a:off x="1588" y="1588"/>
                        <a:ext cx="1588" cy="1588"/>
                      </a:xfrm>
                      <a:prstGeom prst="rect">
                        <a:avLst/>
                      </a:prstGeom>
                    </p:spPr>
                  </p:pic>
                </p:oleObj>
              </mc:Fallback>
            </mc:AlternateContent>
          </a:graphicData>
        </a:graphic>
      </p:graphicFrame>
      <p:sp>
        <p:nvSpPr>
          <p:cNvPr id="7" name="Rectángulo 6" hidden="1">
            <a:extLst>
              <a:ext uri="{FF2B5EF4-FFF2-40B4-BE49-F238E27FC236}">
                <a16:creationId xmlns:a16="http://schemas.microsoft.com/office/drawing/2014/main" id="{8EF7E07F-4CDE-4932-9E55-9F76642DA5EF}"/>
              </a:ext>
            </a:extLst>
          </p:cNvPr>
          <p:cNvSpPr/>
          <p:nvPr userDrawn="1">
            <p:custDataLst>
              <p:tags r:id="rId11"/>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lang="en-US" sz="4400" b="0" i="0" baseline="0">
              <a:latin typeface="Santander Headline" panose="020B0504020201020104"/>
              <a:ea typeface="+mj-ea"/>
              <a:cs typeface="+mj-cs"/>
              <a:sym typeface="santander Headline" panose="020B0504020201020104"/>
            </a:endParaRPr>
          </a:p>
        </p:txBody>
      </p:sp>
      <p:sp>
        <p:nvSpPr>
          <p:cNvPr id="2" name="Marcador de título 1">
            <a:extLst>
              <a:ext uri="{FF2B5EF4-FFF2-40B4-BE49-F238E27FC236}">
                <a16:creationId xmlns:a16="http://schemas.microsoft.com/office/drawing/2014/main" id="{A508141E-100E-4635-9FC3-353399DFCC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Marcador de texto 2">
            <a:extLst>
              <a:ext uri="{FF2B5EF4-FFF2-40B4-BE49-F238E27FC236}">
                <a16:creationId xmlns:a16="http://schemas.microsoft.com/office/drawing/2014/main" id="{70BD3726-4CCC-4808-AF74-D4FC34B77C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Marcador de fecha 3">
            <a:extLst>
              <a:ext uri="{FF2B5EF4-FFF2-40B4-BE49-F238E27FC236}">
                <a16:creationId xmlns:a16="http://schemas.microsoft.com/office/drawing/2014/main" id="{289DA10A-F167-488F-8E2B-A0FE565022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Marcador de pie de página 4">
            <a:extLst>
              <a:ext uri="{FF2B5EF4-FFF2-40B4-BE49-F238E27FC236}">
                <a16:creationId xmlns:a16="http://schemas.microsoft.com/office/drawing/2014/main" id="{0C937220-A8C8-4E71-8BA2-4260C5636D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err="1"/>
              <a:t>xxxxx</a:t>
            </a:r>
            <a:endParaRPr lang="en-US"/>
          </a:p>
        </p:txBody>
      </p:sp>
      <p:sp>
        <p:nvSpPr>
          <p:cNvPr id="9" name="MSIPCMContentMarking" descr="{&quot;HashCode&quot;:-665463564,&quot;Placement&quot;:&quot;Header&quot;,&quot;Top&quot;:0.0,&quot;Left&quot;:0.0,&quot;SlideWidth&quot;:960,&quot;SlideHeight&quot;:540}"/>
          <p:cNvSpPr txBox="1"/>
          <p:nvPr userDrawn="1"/>
        </p:nvSpPr>
        <p:spPr>
          <a:xfrm>
            <a:off x="0" y="0"/>
            <a:ext cx="907183" cy="262344"/>
          </a:xfrm>
          <a:prstGeom prst="rect">
            <a:avLst/>
          </a:prstGeom>
          <a:noFill/>
        </p:spPr>
        <p:txBody>
          <a:bodyPr vert="horz" wrap="square" lIns="0" tIns="0" rIns="0" bIns="0" rtlCol="0" anchor="ctr" anchorCtr="1">
            <a:spAutoFit/>
          </a:bodyPr>
          <a:lstStyle/>
          <a:p>
            <a:pPr algn="l">
              <a:spcBef>
                <a:spcPts val="0"/>
              </a:spcBef>
              <a:spcAft>
                <a:spcPts val="0"/>
              </a:spcAft>
            </a:pPr>
            <a:r>
              <a:rPr lang="es-ES" sz="1000">
                <a:solidFill>
                  <a:srgbClr val="000000"/>
                </a:solidFill>
                <a:latin typeface="Calibri" panose="020F0502020204030204" pitchFamily="34" charset="0"/>
              </a:rPr>
              <a:t>Confidential</a:t>
            </a:r>
          </a:p>
        </p:txBody>
      </p:sp>
    </p:spTree>
    <p:extLst>
      <p:ext uri="{BB962C8B-B14F-4D97-AF65-F5344CB8AC3E}">
        <p14:creationId xmlns:p14="http://schemas.microsoft.com/office/powerpoint/2010/main" val="26439521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8" r:id="rId7"/>
    <p:sldLayoutId id="2147483682" r:id="rId8"/>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93">
          <p15:clr>
            <a:srgbClr val="F26B43"/>
          </p15:clr>
        </p15:guide>
        <p15:guide id="2" pos="7225">
          <p15:clr>
            <a:srgbClr val="F26B43"/>
          </p15:clr>
        </p15:guide>
        <p15:guide id="3" pos="52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Objeto 7" hidden="1"/>
          <p:cNvGraphicFramePr>
            <a:graphicFrameLocks noChangeAspect="1"/>
          </p:cNvGraphicFramePr>
          <p:nvPr userDrawn="1">
            <p:custDataLst>
              <p:tags r:id="rId17"/>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8" imgW="425" imgH="426" progId="TCLayout.ActiveDocument.1">
                  <p:embed/>
                </p:oleObj>
              </mc:Choice>
              <mc:Fallback>
                <p:oleObj name="think-cell Slide" r:id="rId18" imgW="425" imgH="426" progId="TCLayout.ActiveDocument.1">
                  <p:embed/>
                  <p:pic>
                    <p:nvPicPr>
                      <p:cNvPr id="8" name="Objeto 7" hidden="1"/>
                      <p:cNvPicPr/>
                      <p:nvPr/>
                    </p:nvPicPr>
                    <p:blipFill>
                      <a:blip r:embed="rId19"/>
                      <a:stretch>
                        <a:fillRect/>
                      </a:stretch>
                    </p:blipFill>
                    <p:spPr>
                      <a:xfrm>
                        <a:off x="1588" y="1588"/>
                        <a:ext cx="1588" cy="1588"/>
                      </a:xfrm>
                      <a:prstGeom prst="rect">
                        <a:avLst/>
                      </a:prstGeom>
                    </p:spPr>
                  </p:pic>
                </p:oleObj>
              </mc:Fallback>
            </mc:AlternateContent>
          </a:graphicData>
        </a:graphic>
      </p:graphicFrame>
      <p:sp>
        <p:nvSpPr>
          <p:cNvPr id="2" name="Marcador de título 1">
            <a:extLst>
              <a:ext uri="{FF2B5EF4-FFF2-40B4-BE49-F238E27FC236}">
                <a16:creationId xmlns:a16="http://schemas.microsoft.com/office/drawing/2014/main" id="{A508141E-100E-4635-9FC3-353399DFCC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noProof="0"/>
              <a:t>Click to edit Master title style</a:t>
            </a:r>
          </a:p>
        </p:txBody>
      </p:sp>
      <p:sp>
        <p:nvSpPr>
          <p:cNvPr id="3" name="Marcador de texto 2">
            <a:extLst>
              <a:ext uri="{FF2B5EF4-FFF2-40B4-BE49-F238E27FC236}">
                <a16:creationId xmlns:a16="http://schemas.microsoft.com/office/drawing/2014/main" id="{70BD3726-4CCC-4808-AF74-D4FC34B77C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GB" noProof="0"/>
              <a:t>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4" name="Marcador de fecha 3">
            <a:extLst>
              <a:ext uri="{FF2B5EF4-FFF2-40B4-BE49-F238E27FC236}">
                <a16:creationId xmlns:a16="http://schemas.microsoft.com/office/drawing/2014/main" id="{289DA10A-F167-488F-8E2B-A0FE565022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mn-lt"/>
                <a:ea typeface="+mn-ea"/>
                <a:cs typeface="+mn-cs"/>
              </a:defRPr>
            </a:lvl1pPr>
          </a:lstStyle>
          <a:p>
            <a:endParaRPr lang="en-GB">
              <a:solidFill>
                <a:prstClr val="black">
                  <a:tint val="75000"/>
                </a:prstClr>
              </a:solidFill>
            </a:endParaRPr>
          </a:p>
        </p:txBody>
      </p:sp>
      <p:sp>
        <p:nvSpPr>
          <p:cNvPr id="5" name="Marcador de pie de página 4">
            <a:extLst>
              <a:ext uri="{FF2B5EF4-FFF2-40B4-BE49-F238E27FC236}">
                <a16:creationId xmlns:a16="http://schemas.microsoft.com/office/drawing/2014/main" id="{0C937220-A8C8-4E71-8BA2-4260C5636D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mn-lt"/>
                <a:ea typeface="+mn-ea"/>
                <a:cs typeface="+mn-cs"/>
              </a:defRPr>
            </a:lvl1pPr>
          </a:lstStyle>
          <a:p>
            <a:r>
              <a:rPr lang="en-GB">
                <a:solidFill>
                  <a:prstClr val="black">
                    <a:tint val="75000"/>
                  </a:prstClr>
                </a:solidFill>
              </a:rPr>
              <a:t>xxxxx</a:t>
            </a:r>
          </a:p>
        </p:txBody>
      </p:sp>
      <p:sp>
        <p:nvSpPr>
          <p:cNvPr id="6" name="Marcador de número de diapositiva 5">
            <a:extLst>
              <a:ext uri="{FF2B5EF4-FFF2-40B4-BE49-F238E27FC236}">
                <a16:creationId xmlns:a16="http://schemas.microsoft.com/office/drawing/2014/main" id="{2D5E98D6-3F4E-4F5E-9BFB-DDFD9AC1E7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mn-lt"/>
                <a:ea typeface="+mn-ea"/>
                <a:cs typeface="+mn-cs"/>
              </a:defRPr>
            </a:lvl1pPr>
          </a:lstStyle>
          <a:p>
            <a:fld id="{BC0D97B6-E32F-4D7D-B839-7C3B51F2640F}" type="slidenum">
              <a:rPr lang="en-GB" smtClean="0">
                <a:solidFill>
                  <a:prstClr val="black">
                    <a:tint val="75000"/>
                  </a:prstClr>
                </a:solidFill>
              </a:rPr>
              <a:pPr/>
              <a:t>‹Nº›</a:t>
            </a:fld>
            <a:endParaRPr lang="en-GB">
              <a:solidFill>
                <a:prstClr val="black">
                  <a:tint val="75000"/>
                </a:prstClr>
              </a:solidFill>
            </a:endParaRPr>
          </a:p>
        </p:txBody>
      </p:sp>
      <p:sp>
        <p:nvSpPr>
          <p:cNvPr id="7" name="MSIPCMContentMarking" descr="{&quot;HashCode&quot;:-665463564,&quot;Placement&quot;:&quot;Header&quot;,&quot;Top&quot;:0.0,&quot;Left&quot;:0.0,&quot;SlideWidth&quot;:960,&quot;SlideHeight&quot;:540}">
            <a:extLst>
              <a:ext uri="{FF2B5EF4-FFF2-40B4-BE49-F238E27FC236}">
                <a16:creationId xmlns:a16="http://schemas.microsoft.com/office/drawing/2014/main" id="{F636F980-92F0-3989-C1B3-3BC63F8EDB03}"/>
              </a:ext>
            </a:extLst>
          </p:cNvPr>
          <p:cNvSpPr txBox="1"/>
          <p:nvPr userDrawn="1"/>
        </p:nvSpPr>
        <p:spPr>
          <a:xfrm>
            <a:off x="0" y="0"/>
            <a:ext cx="907183" cy="262344"/>
          </a:xfrm>
          <a:prstGeom prst="rect">
            <a:avLst/>
          </a:prstGeom>
          <a:noFill/>
        </p:spPr>
        <p:txBody>
          <a:bodyPr vert="horz" wrap="square" lIns="0" tIns="0" rIns="0" bIns="0" rtlCol="0" anchor="ctr" anchorCtr="1">
            <a:spAutoFit/>
          </a:bodyPr>
          <a:lstStyle/>
          <a:p>
            <a:pPr algn="l">
              <a:spcBef>
                <a:spcPts val="0"/>
              </a:spcBef>
              <a:spcAft>
                <a:spcPts val="0"/>
              </a:spcAft>
            </a:pPr>
            <a:r>
              <a:rPr lang="es-ES" sz="1000">
                <a:solidFill>
                  <a:srgbClr val="000000"/>
                </a:solidFill>
                <a:latin typeface="Calibri" panose="020F0502020204030204" pitchFamily="34" charset="0"/>
              </a:rPr>
              <a:t>Confidential</a:t>
            </a:r>
          </a:p>
        </p:txBody>
      </p:sp>
      <p:sp>
        <p:nvSpPr>
          <p:cNvPr id="10" name="Marcador de número de diapositiva 5">
            <a:extLst>
              <a:ext uri="{FF2B5EF4-FFF2-40B4-BE49-F238E27FC236}">
                <a16:creationId xmlns:a16="http://schemas.microsoft.com/office/drawing/2014/main" id="{1ABFF171-75A9-93BB-7508-D0FCAF433B33}"/>
              </a:ext>
            </a:extLst>
          </p:cNvPr>
          <p:cNvSpPr txBox="1">
            <a:spLocks/>
          </p:cNvSpPr>
          <p:nvPr userDrawn="1"/>
        </p:nvSpPr>
        <p:spPr>
          <a:xfrm>
            <a:off x="10521545" y="6386607"/>
            <a:ext cx="2743200" cy="365125"/>
          </a:xfrm>
          <a:prstGeom prst="rect">
            <a:avLst/>
          </a:prstGeom>
        </p:spPr>
        <p:txBody>
          <a:bodyPr/>
          <a:lstStyle>
            <a:defPPr>
              <a:defRPr lang="es-ES"/>
            </a:defPPr>
            <a:lvl1pPr marL="0" algn="l" defTabSz="914400" rtl="0" eaLnBrk="1" latinLnBrk="0" hangingPunct="1">
              <a:defRPr lang="es-ES" sz="1300" kern="1200" smtClean="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C0D97B6-E32F-4D7D-B839-7C3B51F2640F}" type="slidenum">
              <a:rPr lang="es-ES" smtClean="0">
                <a:solidFill>
                  <a:srgbClr val="EC0000"/>
                </a:solidFill>
              </a:rPr>
              <a:pPr/>
              <a:t>‹Nº›</a:t>
            </a:fld>
            <a:endParaRPr lang="es-ES">
              <a:solidFill>
                <a:srgbClr val="EC0000"/>
              </a:solidFill>
            </a:endParaRPr>
          </a:p>
        </p:txBody>
      </p:sp>
    </p:spTree>
    <p:extLst>
      <p:ext uri="{BB962C8B-B14F-4D97-AF65-F5344CB8AC3E}">
        <p14:creationId xmlns:p14="http://schemas.microsoft.com/office/powerpoint/2010/main" val="1725667980"/>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3" r:id="rId13"/>
    <p:sldLayoutId id="2147483684" r:id="rId14"/>
    <p:sldLayoutId id="2147483685" r:id="rId15"/>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93">
          <p15:clr>
            <a:srgbClr val="F26B43"/>
          </p15:clr>
        </p15:guide>
        <p15:guide id="2" pos="7225">
          <p15:clr>
            <a:srgbClr val="F26B43"/>
          </p15:clr>
        </p15:guide>
        <p15:guide id="3" pos="52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hyperlink" Target="https://santandernet.sharepoint.com/sites/SantanderPlatforms" TargetMode="External"/><Relationship Id="rId4" Type="http://schemas.openxmlformats.org/officeDocument/2006/relationships/image" Target="../media/image9.emf"/></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4.xml"/><Relationship Id="rId5" Type="http://schemas.openxmlformats.org/officeDocument/2006/relationships/image" Target="../media/image9.emf"/><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2.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3.xml"/><Relationship Id="rId1" Type="http://schemas.openxmlformats.org/officeDocument/2006/relationships/tags" Target="../tags/tag21.xml"/><Relationship Id="rId6" Type="http://schemas.openxmlformats.org/officeDocument/2006/relationships/image" Target="../media/image14.png"/><Relationship Id="rId5" Type="http://schemas.openxmlformats.org/officeDocument/2006/relationships/image" Target="../media/image13.emf"/><Relationship Id="rId4" Type="http://schemas.openxmlformats.org/officeDocument/2006/relationships/oleObject" Target="../embeddings/oleObject16.bin"/></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8.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8.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8.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8.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8.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8.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8.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8.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8.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8.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8.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8.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8.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8.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8.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8.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8.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8.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8.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8.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8.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8.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8.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8.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8.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8.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8.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8.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antander Text"/>
              <a:ea typeface="+mn-ea"/>
              <a:cs typeface="+mn-cs"/>
            </a:endParaRPr>
          </a:p>
        </p:txBody>
      </p:sp>
      <p:sp>
        <p:nvSpPr>
          <p:cNvPr id="9" name="Marcador de texto 8">
            <a:extLst>
              <a:ext uri="{FF2B5EF4-FFF2-40B4-BE49-F238E27FC236}">
                <a16:creationId xmlns:a16="http://schemas.microsoft.com/office/drawing/2014/main" id="{56EFDD7C-5AE6-4038-81BB-BEA78EFF9100}"/>
              </a:ext>
            </a:extLst>
          </p:cNvPr>
          <p:cNvSpPr txBox="1">
            <a:spLocks/>
          </p:cNvSpPr>
          <p:nvPr/>
        </p:nvSpPr>
        <p:spPr>
          <a:xfrm>
            <a:off x="529936" y="416807"/>
            <a:ext cx="4624235" cy="258532"/>
          </a:xfrm>
          <a:prstGeom prst="rect">
            <a:avLst/>
          </a:prstGeom>
          <a:noFill/>
        </p:spPr>
        <p:txBody>
          <a:bodyPr vert="horz" wrap="square" lIns="91440" tIns="45720" rIns="91440" bIns="45720" rtlCol="0" anchor="t">
            <a:sp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300" kern="1200">
                <a:solidFill>
                  <a:schemeClr val="tx2"/>
                </a:solidFill>
                <a:latin typeface="Santander Text" panose="020B0504020201020104"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300" kern="1200">
                <a:solidFill>
                  <a:schemeClr val="tx2"/>
                </a:solidFill>
                <a:latin typeface="Santander Text" panose="020B05040202010201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300" kern="1200">
                <a:solidFill>
                  <a:schemeClr val="tx2"/>
                </a:solidFill>
                <a:latin typeface="Santander Text" panose="020B05040202010201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300" kern="1200">
                <a:solidFill>
                  <a:schemeClr val="tx2"/>
                </a:solidFill>
                <a:latin typeface="Santander Text" panose="020B05040202010201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300" kern="1200">
                <a:solidFill>
                  <a:schemeClr val="tx2"/>
                </a:solidFill>
                <a:latin typeface="Santander Text" panose="020B05040202010201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595959"/>
                </a:solidFill>
                <a:effectLst/>
                <a:uLnTx/>
                <a:uFillTx/>
                <a:latin typeface="Santander Headline"/>
              </a:rPr>
              <a:t>Global CTO	</a:t>
            </a:r>
            <a:r>
              <a:rPr lang="en-US" sz="1200">
                <a:solidFill>
                  <a:srgbClr val="595959"/>
                </a:solidFill>
                <a:latin typeface="Santander Headline"/>
              </a:rPr>
              <a:t>	</a:t>
            </a:r>
            <a:r>
              <a:rPr kumimoji="0" lang="en-US" sz="1200" b="0" i="0" u="none" strike="noStrike" kern="1200" cap="none" spc="0" normalizeH="0" baseline="0" noProof="0">
                <a:ln>
                  <a:noFill/>
                </a:ln>
                <a:solidFill>
                  <a:srgbClr val="595959"/>
                </a:solidFill>
                <a:effectLst/>
                <a:uLnTx/>
                <a:uFillTx/>
                <a:latin typeface="Santander Headline"/>
              </a:rPr>
              <a:t>	</a:t>
            </a:r>
            <a:r>
              <a:rPr lang="en-US" sz="1200">
                <a:solidFill>
                  <a:srgbClr val="595959"/>
                </a:solidFill>
                <a:latin typeface="Santander Headline"/>
              </a:rPr>
              <a:t>Sep 2025</a:t>
            </a:r>
            <a:endParaRPr lang="es-ES">
              <a:ea typeface="+mn-ea"/>
              <a:cs typeface="+mn-cs"/>
            </a:endParaRPr>
          </a:p>
        </p:txBody>
      </p:sp>
      <p:sp>
        <p:nvSpPr>
          <p:cNvPr id="5" name="CuadroTexto 7">
            <a:extLst>
              <a:ext uri="{FF2B5EF4-FFF2-40B4-BE49-F238E27FC236}">
                <a16:creationId xmlns:a16="http://schemas.microsoft.com/office/drawing/2014/main" id="{34143654-AC9B-C0FE-127A-C0B1996214A6}"/>
              </a:ext>
            </a:extLst>
          </p:cNvPr>
          <p:cNvSpPr txBox="1"/>
          <p:nvPr/>
        </p:nvSpPr>
        <p:spPr>
          <a:xfrm>
            <a:off x="5031441" y="269074"/>
            <a:ext cx="6855759"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antander Text"/>
                <a:ea typeface="+mn-ea"/>
                <a:cs typeface="+mn-cs"/>
              </a:rPr>
              <a:t>- For Approval -   </a:t>
            </a:r>
          </a:p>
        </p:txBody>
      </p:sp>
      <p:sp>
        <p:nvSpPr>
          <p:cNvPr id="6" name="TextBox 7">
            <a:extLst>
              <a:ext uri="{FF2B5EF4-FFF2-40B4-BE49-F238E27FC236}">
                <a16:creationId xmlns:a16="http://schemas.microsoft.com/office/drawing/2014/main" id="{061189DD-6978-4177-8B9B-E2025DA1E9E0}"/>
              </a:ext>
            </a:extLst>
          </p:cNvPr>
          <p:cNvSpPr txBox="1"/>
          <p:nvPr/>
        </p:nvSpPr>
        <p:spPr>
          <a:xfrm>
            <a:off x="411129" y="1763634"/>
            <a:ext cx="4587241" cy="2893100"/>
          </a:xfrm>
          <a:prstGeom prst="rect">
            <a:avLst/>
          </a:prstGeom>
          <a:noFill/>
          <a:ln>
            <a:solidFill>
              <a:schemeClr val="bg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000" i="0" u="none" strike="noStrike" kern="1200" cap="none" spc="0" normalizeH="0" baseline="0" noProof="0">
                <a:ln>
                  <a:noFill/>
                </a:ln>
                <a:solidFill>
                  <a:srgbClr val="EC0000"/>
                </a:solidFill>
                <a:effectLst/>
                <a:uLnTx/>
                <a:uFillTx/>
                <a:latin typeface="Santander Text" panose="020B0504020201020104" pitchFamily="34" charset="0"/>
                <a:ea typeface="+mn-ea"/>
                <a:cs typeface="+mn-cs"/>
              </a:rPr>
              <a:t>Blueprint Framework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5000">
              <a:solidFill>
                <a:srgbClr val="EC0000"/>
              </a:solidFill>
              <a:latin typeface="Santander Text" panose="020B05040202010201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i="0" u="none" strike="noStrike" kern="1200" cap="none" spc="0" normalizeH="0" baseline="0" noProof="0">
                <a:ln>
                  <a:noFill/>
                </a:ln>
                <a:solidFill>
                  <a:srgbClr val="EC0000"/>
                </a:solidFill>
                <a:effectLst/>
                <a:uLnTx/>
                <a:uFillTx/>
                <a:latin typeface="Santander Text" panose="020B0504020201020104" pitchFamily="34" charset="0"/>
                <a:ea typeface="+mn-ea"/>
                <a:cs typeface="+mn-cs"/>
              </a:rPr>
              <a:t>Version – v2.2</a:t>
            </a:r>
          </a:p>
        </p:txBody>
      </p:sp>
      <p:pic>
        <p:nvPicPr>
          <p:cNvPr id="18" name="Picture 17" descr="A picture containing colorfulness, light&#10;&#10;Description automatically generated">
            <a:extLst>
              <a:ext uri="{FF2B5EF4-FFF2-40B4-BE49-F238E27FC236}">
                <a16:creationId xmlns:a16="http://schemas.microsoft.com/office/drawing/2014/main" id="{5A783764-DFC4-0D62-2DDA-1806B5A2D5AB}"/>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3285" t="310" r="18620"/>
          <a:stretch/>
        </p:blipFill>
        <p:spPr>
          <a:xfrm>
            <a:off x="5154171" y="10634"/>
            <a:ext cx="7083065" cy="6836732"/>
          </a:xfrm>
          <a:prstGeom prst="rect">
            <a:avLst/>
          </a:prstGeom>
          <a:ln w="9525">
            <a:solidFill>
              <a:schemeClr val="tx1"/>
            </a:solidFill>
          </a:ln>
        </p:spPr>
      </p:pic>
      <p:sp>
        <p:nvSpPr>
          <p:cNvPr id="20" name="Rectangle 19">
            <a:extLst>
              <a:ext uri="{FF2B5EF4-FFF2-40B4-BE49-F238E27FC236}">
                <a16:creationId xmlns:a16="http://schemas.microsoft.com/office/drawing/2014/main" id="{2CFAE836-D2C0-4B54-4130-C80FFBDC5628}"/>
              </a:ext>
            </a:extLst>
          </p:cNvPr>
          <p:cNvSpPr/>
          <p:nvPr/>
        </p:nvSpPr>
        <p:spPr>
          <a:xfrm>
            <a:off x="5284381" y="136526"/>
            <a:ext cx="6831786" cy="65849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antander Text"/>
              <a:ea typeface="+mn-ea"/>
              <a:cs typeface="+mn-cs"/>
            </a:endParaRPr>
          </a:p>
        </p:txBody>
      </p:sp>
      <p:sp>
        <p:nvSpPr>
          <p:cNvPr id="21" name="Rectangle 20">
            <a:extLst>
              <a:ext uri="{FF2B5EF4-FFF2-40B4-BE49-F238E27FC236}">
                <a16:creationId xmlns:a16="http://schemas.microsoft.com/office/drawing/2014/main" id="{94F8A9C2-446B-3513-93A2-4103E9E99107}"/>
              </a:ext>
            </a:extLst>
          </p:cNvPr>
          <p:cNvSpPr/>
          <p:nvPr/>
        </p:nvSpPr>
        <p:spPr>
          <a:xfrm>
            <a:off x="5379227" y="136524"/>
            <a:ext cx="6663774" cy="6584950"/>
          </a:xfrm>
          <a:prstGeom prst="rect">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antander Text"/>
              <a:ea typeface="+mn-ea"/>
              <a:cs typeface="+mn-cs"/>
            </a:endParaRPr>
          </a:p>
        </p:txBody>
      </p:sp>
      <p:sp>
        <p:nvSpPr>
          <p:cNvPr id="2" name="CuadroTexto 1">
            <a:extLst>
              <a:ext uri="{FF2B5EF4-FFF2-40B4-BE49-F238E27FC236}">
                <a16:creationId xmlns:a16="http://schemas.microsoft.com/office/drawing/2014/main" id="{21A547BB-986F-DB8B-5798-CD1FD657B70D}"/>
              </a:ext>
            </a:extLst>
          </p:cNvPr>
          <p:cNvSpPr txBox="1"/>
          <p:nvPr/>
        </p:nvSpPr>
        <p:spPr>
          <a:xfrm rot="1740000">
            <a:off x="1299558" y="1832251"/>
            <a:ext cx="7397749"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4800" dirty="0">
                <a:solidFill>
                  <a:srgbClr val="FF0000"/>
                </a:solidFill>
              </a:rPr>
              <a:t>OBSOLETE VERSION.</a:t>
            </a:r>
            <a:endParaRPr lang="es-ES" sz="4800" dirty="0"/>
          </a:p>
          <a:p>
            <a:r>
              <a:rPr lang="es-ES" sz="4800" dirty="0">
                <a:solidFill>
                  <a:srgbClr val="FF0000"/>
                </a:solidFill>
              </a:rPr>
              <a:t>UPDATING IN PROCESS</a:t>
            </a:r>
            <a:endParaRPr lang="es-ES" sz="4800" dirty="0"/>
          </a:p>
        </p:txBody>
      </p:sp>
    </p:spTree>
    <p:extLst>
      <p:ext uri="{BB962C8B-B14F-4D97-AF65-F5344CB8AC3E}">
        <p14:creationId xmlns:p14="http://schemas.microsoft.com/office/powerpoint/2010/main" val="22440571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37984-C012-43D8-9FB6-F2C335E214DF}"/>
              </a:ext>
            </a:extLst>
          </p:cNvPr>
          <p:cNvSpPr>
            <a:spLocks noGrp="1"/>
          </p:cNvSpPr>
          <p:nvPr>
            <p:ph type="title"/>
          </p:nvPr>
        </p:nvSpPr>
        <p:spPr>
          <a:xfrm>
            <a:off x="643647" y="528204"/>
            <a:ext cx="10758733" cy="836992"/>
          </a:xfrm>
        </p:spPr>
        <p:txBody>
          <a:bodyPr/>
          <a:lstStyle/>
          <a:p>
            <a:r>
              <a:rPr lang="en-US"/>
              <a:t>Changelog</a:t>
            </a:r>
          </a:p>
        </p:txBody>
      </p:sp>
      <p:sp>
        <p:nvSpPr>
          <p:cNvPr id="3" name="Text Placeholder 2">
            <a:extLst>
              <a:ext uri="{FF2B5EF4-FFF2-40B4-BE49-F238E27FC236}">
                <a16:creationId xmlns:a16="http://schemas.microsoft.com/office/drawing/2014/main" id="{AA5B9125-ED74-45DB-9812-3EF7553A7506}"/>
              </a:ext>
            </a:extLst>
          </p:cNvPr>
          <p:cNvSpPr>
            <a:spLocks noGrp="1"/>
          </p:cNvSpPr>
          <p:nvPr>
            <p:ph type="body" sz="quarter" idx="14"/>
          </p:nvPr>
        </p:nvSpPr>
        <p:spPr>
          <a:xfrm>
            <a:off x="643647" y="273194"/>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graphicFrame>
        <p:nvGraphicFramePr>
          <p:cNvPr id="4" name="Tabla 3">
            <a:extLst>
              <a:ext uri="{FF2B5EF4-FFF2-40B4-BE49-F238E27FC236}">
                <a16:creationId xmlns:a16="http://schemas.microsoft.com/office/drawing/2014/main" id="{3FB59787-EED3-2D33-A598-F97F9F82468D}"/>
              </a:ext>
            </a:extLst>
          </p:cNvPr>
          <p:cNvGraphicFramePr>
            <a:graphicFrameLocks noGrp="1"/>
          </p:cNvGraphicFramePr>
          <p:nvPr>
            <p:extLst>
              <p:ext uri="{D42A27DB-BD31-4B8C-83A1-F6EECF244321}">
                <p14:modId xmlns:p14="http://schemas.microsoft.com/office/powerpoint/2010/main" val="396932914"/>
              </p:ext>
            </p:extLst>
          </p:nvPr>
        </p:nvGraphicFramePr>
        <p:xfrm>
          <a:off x="398584" y="1019907"/>
          <a:ext cx="11586152" cy="5299918"/>
        </p:xfrm>
        <a:graphic>
          <a:graphicData uri="http://schemas.openxmlformats.org/drawingml/2006/table">
            <a:tbl>
              <a:tblPr firstRow="1" firstCol="1" bandRow="1"/>
              <a:tblGrid>
                <a:gridCol w="810908">
                  <a:extLst>
                    <a:ext uri="{9D8B030D-6E8A-4147-A177-3AD203B41FA5}">
                      <a16:colId xmlns:a16="http://schemas.microsoft.com/office/drawing/2014/main" val="72792070"/>
                    </a:ext>
                  </a:extLst>
                </a:gridCol>
                <a:gridCol w="1010695">
                  <a:extLst>
                    <a:ext uri="{9D8B030D-6E8A-4147-A177-3AD203B41FA5}">
                      <a16:colId xmlns:a16="http://schemas.microsoft.com/office/drawing/2014/main" val="3787282367"/>
                    </a:ext>
                  </a:extLst>
                </a:gridCol>
                <a:gridCol w="1128220">
                  <a:extLst>
                    <a:ext uri="{9D8B030D-6E8A-4147-A177-3AD203B41FA5}">
                      <a16:colId xmlns:a16="http://schemas.microsoft.com/office/drawing/2014/main" val="1219100910"/>
                    </a:ext>
                  </a:extLst>
                </a:gridCol>
                <a:gridCol w="7132597">
                  <a:extLst>
                    <a:ext uri="{9D8B030D-6E8A-4147-A177-3AD203B41FA5}">
                      <a16:colId xmlns:a16="http://schemas.microsoft.com/office/drawing/2014/main" val="3627748944"/>
                    </a:ext>
                  </a:extLst>
                </a:gridCol>
                <a:gridCol w="1503732">
                  <a:extLst>
                    <a:ext uri="{9D8B030D-6E8A-4147-A177-3AD203B41FA5}">
                      <a16:colId xmlns:a16="http://schemas.microsoft.com/office/drawing/2014/main" val="2505747642"/>
                    </a:ext>
                  </a:extLst>
                </a:gridCol>
              </a:tblGrid>
              <a:tr h="293970">
                <a:tc>
                  <a:txBody>
                    <a:bodyPr/>
                    <a:lstStyle/>
                    <a:p>
                      <a:pPr algn="ctr">
                        <a:spcAft>
                          <a:spcPts val="0"/>
                        </a:spcAft>
                      </a:pPr>
                      <a:r>
                        <a:rPr lang="es-ES" sz="1400" b="1" err="1">
                          <a:solidFill>
                            <a:srgbClr val="FFFFFF"/>
                          </a:solidFill>
                          <a:effectLst/>
                          <a:latin typeface="Santander Text"/>
                          <a:ea typeface="Calibri"/>
                        </a:rPr>
                        <a:t>Version</a:t>
                      </a:r>
                      <a:endParaRPr lang="en-US" sz="1400">
                        <a:effectLst/>
                        <a:latin typeface="Santander Text"/>
                        <a:ea typeface="Calibri"/>
                      </a:endParaRPr>
                    </a:p>
                  </a:txBody>
                  <a:tcPr marL="90782" marR="90782" marT="45391" marB="45391"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B0000"/>
                    </a:solidFill>
                  </a:tcPr>
                </a:tc>
                <a:tc>
                  <a:txBody>
                    <a:bodyPr/>
                    <a:lstStyle/>
                    <a:p>
                      <a:pPr algn="ctr">
                        <a:spcAft>
                          <a:spcPts val="0"/>
                        </a:spcAft>
                      </a:pPr>
                      <a:r>
                        <a:rPr lang="es-ES" sz="1400" b="1">
                          <a:solidFill>
                            <a:srgbClr val="FFFFFF"/>
                          </a:solidFill>
                          <a:effectLst/>
                          <a:latin typeface="Santander Text"/>
                          <a:ea typeface="Calibri"/>
                        </a:rPr>
                        <a:t>Date</a:t>
                      </a:r>
                      <a:endParaRPr lang="en-US" sz="1400">
                        <a:effectLst/>
                        <a:latin typeface="Santander Text"/>
                        <a:ea typeface="Calibri"/>
                      </a:endParaRPr>
                    </a:p>
                  </a:txBody>
                  <a:tcPr marL="90782" marR="90782" marT="45391" marB="45391"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B0000"/>
                    </a:solidFill>
                  </a:tcPr>
                </a:tc>
                <a:tc>
                  <a:txBody>
                    <a:bodyPr/>
                    <a:lstStyle/>
                    <a:p>
                      <a:pPr algn="ctr">
                        <a:spcAft>
                          <a:spcPts val="0"/>
                        </a:spcAft>
                      </a:pPr>
                      <a:r>
                        <a:rPr lang="es-ES" sz="1400" b="1" err="1">
                          <a:solidFill>
                            <a:srgbClr val="FFFFFF"/>
                          </a:solidFill>
                          <a:effectLst/>
                          <a:latin typeface="Santander Text" panose="020B0504020201020104" pitchFamily="34" charset="0"/>
                          <a:ea typeface="Calibri" panose="020F0502020204030204" pitchFamily="34" charset="0"/>
                        </a:rPr>
                        <a:t>Owner</a:t>
                      </a:r>
                      <a:endParaRPr lang="en-US" sz="1400">
                        <a:effectLst/>
                        <a:latin typeface="Calibri" panose="020F0502020204030204" pitchFamily="34" charset="0"/>
                        <a:ea typeface="Calibri" panose="020F0502020204030204" pitchFamily="34" charset="0"/>
                      </a:endParaRPr>
                    </a:p>
                  </a:txBody>
                  <a:tcPr marL="90782" marR="90782" marT="45391" marB="45391"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B0000"/>
                    </a:solidFill>
                  </a:tcPr>
                </a:tc>
                <a:tc>
                  <a:txBody>
                    <a:bodyPr/>
                    <a:lstStyle/>
                    <a:p>
                      <a:pPr algn="ctr">
                        <a:spcAft>
                          <a:spcPts val="0"/>
                        </a:spcAft>
                      </a:pPr>
                      <a:r>
                        <a:rPr lang="es-ES" sz="1400" b="1" err="1">
                          <a:solidFill>
                            <a:srgbClr val="FFFFFF"/>
                          </a:solidFill>
                          <a:effectLst/>
                          <a:latin typeface="Santander Text"/>
                          <a:ea typeface="Calibri"/>
                        </a:rPr>
                        <a:t>Description</a:t>
                      </a:r>
                      <a:r>
                        <a:rPr lang="es-ES" sz="1400" b="1">
                          <a:solidFill>
                            <a:srgbClr val="FFFFFF"/>
                          </a:solidFill>
                          <a:effectLst/>
                          <a:latin typeface="Santander Text"/>
                          <a:ea typeface="Calibri"/>
                        </a:rPr>
                        <a:t> </a:t>
                      </a:r>
                      <a:r>
                        <a:rPr lang="es-ES" sz="1400" b="1" err="1">
                          <a:solidFill>
                            <a:srgbClr val="FFFFFF"/>
                          </a:solidFill>
                          <a:effectLst/>
                          <a:latin typeface="Santander Text"/>
                          <a:ea typeface="Calibri"/>
                        </a:rPr>
                        <a:t>of</a:t>
                      </a:r>
                      <a:r>
                        <a:rPr lang="es-ES" sz="1400" b="1">
                          <a:solidFill>
                            <a:srgbClr val="FFFFFF"/>
                          </a:solidFill>
                          <a:effectLst/>
                          <a:latin typeface="Santander Text"/>
                          <a:ea typeface="Calibri"/>
                        </a:rPr>
                        <a:t> Change</a:t>
                      </a:r>
                      <a:endParaRPr lang="en-US" sz="1400">
                        <a:effectLst/>
                        <a:latin typeface="Santander Text"/>
                        <a:ea typeface="Calibri"/>
                      </a:endParaRPr>
                    </a:p>
                  </a:txBody>
                  <a:tcPr marL="90782" marR="90782" marT="45391" marB="45391"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B0000"/>
                    </a:solidFill>
                  </a:tcPr>
                </a:tc>
                <a:tc>
                  <a:txBody>
                    <a:bodyPr/>
                    <a:lstStyle/>
                    <a:p>
                      <a:pPr algn="ctr">
                        <a:spcAft>
                          <a:spcPts val="0"/>
                        </a:spcAft>
                      </a:pPr>
                      <a:r>
                        <a:rPr lang="en-US" sz="1400" b="1" kern="1200">
                          <a:solidFill>
                            <a:srgbClr val="FFFFFF"/>
                          </a:solidFill>
                          <a:effectLst/>
                          <a:latin typeface="Santander Text"/>
                          <a:ea typeface="Calibri"/>
                          <a:cs typeface="+mn-cs"/>
                        </a:rPr>
                        <a:t>Approved by</a:t>
                      </a:r>
                    </a:p>
                  </a:txBody>
                  <a:tcPr marL="90782" marR="90782" marT="45391" marB="45391"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B0000"/>
                    </a:solidFill>
                  </a:tcPr>
                </a:tc>
                <a:extLst>
                  <a:ext uri="{0D108BD9-81ED-4DB2-BD59-A6C34878D82A}">
                    <a16:rowId xmlns:a16="http://schemas.microsoft.com/office/drawing/2014/main" val="3000321827"/>
                  </a:ext>
                </a:extLst>
              </a:tr>
              <a:tr h="441273">
                <a:tc>
                  <a:txBody>
                    <a:bodyPr/>
                    <a:lstStyle/>
                    <a:p>
                      <a:pPr algn="ctr">
                        <a:spcAft>
                          <a:spcPts val="0"/>
                        </a:spcAft>
                      </a:pPr>
                      <a:r>
                        <a:rPr lang="es-ES" sz="1200">
                          <a:solidFill>
                            <a:srgbClr val="000000"/>
                          </a:solidFill>
                          <a:effectLst/>
                          <a:latin typeface="Santander Text"/>
                          <a:ea typeface="Calibri"/>
                        </a:rPr>
                        <a:t>V1.0</a:t>
                      </a:r>
                      <a:endParaRPr lang="en-US" sz="1100">
                        <a:effectLst/>
                        <a:latin typeface="Santander Text"/>
                        <a:ea typeface="Calibri"/>
                      </a:endParaRP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1">
                        <a:lumMod val="95000"/>
                      </a:schemeClr>
                    </a:solidFill>
                  </a:tcPr>
                </a:tc>
                <a:tc>
                  <a:txBody>
                    <a:bodyPr/>
                    <a:lstStyle/>
                    <a:p>
                      <a:pPr algn="ctr">
                        <a:spcAft>
                          <a:spcPts val="0"/>
                        </a:spcAft>
                      </a:pPr>
                      <a:r>
                        <a:rPr lang="en-US" sz="1200" kern="1200">
                          <a:solidFill>
                            <a:srgbClr val="000000"/>
                          </a:solidFill>
                          <a:effectLst/>
                          <a:latin typeface="Santander Text"/>
                          <a:ea typeface="Calibri"/>
                          <a:cs typeface="+mn-cs"/>
                        </a:rPr>
                        <a:t>29/09/2023</a:t>
                      </a: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1">
                        <a:lumMod val="95000"/>
                      </a:schemeClr>
                    </a:solidFill>
                  </a:tcPr>
                </a:tc>
                <a:tc>
                  <a:txBody>
                    <a:bodyPr/>
                    <a:lstStyle/>
                    <a:p>
                      <a:pPr algn="l">
                        <a:spcAft>
                          <a:spcPts val="0"/>
                        </a:spcAft>
                      </a:pPr>
                      <a:r>
                        <a:rPr lang="en-US" sz="1200">
                          <a:solidFill>
                            <a:srgbClr val="000000"/>
                          </a:solidFill>
                          <a:effectLst/>
                          <a:latin typeface="Santander Text"/>
                          <a:ea typeface="Calibri"/>
                        </a:rPr>
                        <a:t>Platform  Governance</a:t>
                      </a:r>
                      <a:endParaRPr lang="en-US" sz="1100">
                        <a:effectLst/>
                        <a:latin typeface="Santander Text"/>
                        <a:ea typeface="Calibri"/>
                      </a:endParaRP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1">
                        <a:lumMod val="95000"/>
                      </a:schemeClr>
                    </a:solidFill>
                  </a:tcPr>
                </a:tc>
                <a:tc>
                  <a:txBody>
                    <a:bodyPr/>
                    <a:lstStyle/>
                    <a:p>
                      <a:pPr algn="l">
                        <a:spcAft>
                          <a:spcPts val="0"/>
                        </a:spcAft>
                      </a:pPr>
                      <a:r>
                        <a:rPr lang="en-US" sz="1200">
                          <a:solidFill>
                            <a:srgbClr val="000000"/>
                          </a:solidFill>
                          <a:effectLst/>
                          <a:latin typeface="Santander Text"/>
                          <a:ea typeface="Calibri"/>
                        </a:rPr>
                        <a:t>First version of the document</a:t>
                      </a:r>
                      <a:endParaRPr lang="en-US" sz="1100">
                        <a:effectLst/>
                        <a:latin typeface="Santander Text"/>
                        <a:ea typeface="Calibri"/>
                      </a:endParaRP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1">
                        <a:lumMod val="95000"/>
                      </a:schemeClr>
                    </a:solidFill>
                  </a:tcPr>
                </a:tc>
                <a:tc>
                  <a:txBody>
                    <a:bodyPr/>
                    <a:lstStyle/>
                    <a:p>
                      <a:pPr algn="l">
                        <a:spcAft>
                          <a:spcPts val="0"/>
                        </a:spcAft>
                      </a:pPr>
                      <a:r>
                        <a:rPr lang="en-US" sz="1200" kern="1200">
                          <a:solidFill>
                            <a:srgbClr val="000000"/>
                          </a:solidFill>
                          <a:effectLst/>
                          <a:latin typeface="Santander Text"/>
                          <a:ea typeface="Calibri"/>
                          <a:cs typeface="+mn-cs"/>
                        </a:rPr>
                        <a:t>Head of Platform Governance &amp; SD</a:t>
                      </a:r>
                      <a:endParaRPr lang="en-US" sz="1200" kern="1200">
                        <a:solidFill>
                          <a:srgbClr val="000000"/>
                        </a:solidFill>
                        <a:effectLst/>
                        <a:latin typeface="Santander Text" panose="020B0504020201020104" pitchFamily="34" charset="0"/>
                        <a:ea typeface="Calibri" panose="020F0502020204030204" pitchFamily="34" charset="0"/>
                        <a:cs typeface="+mn-cs"/>
                      </a:endParaRP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491131067"/>
                  </a:ext>
                </a:extLst>
              </a:tr>
              <a:tr h="441273">
                <a:tc>
                  <a:txBody>
                    <a:bodyPr/>
                    <a:lstStyle/>
                    <a:p>
                      <a:pPr marL="0" algn="ctr" defTabSz="914400" rtl="0" eaLnBrk="1" latinLnBrk="0" hangingPunct="1">
                        <a:spcAft>
                          <a:spcPts val="0"/>
                        </a:spcAft>
                      </a:pPr>
                      <a:r>
                        <a:rPr lang="en-US" sz="1200" kern="1200">
                          <a:solidFill>
                            <a:srgbClr val="000000"/>
                          </a:solidFill>
                          <a:effectLst/>
                          <a:latin typeface="Santander Text"/>
                          <a:ea typeface="Calibri"/>
                          <a:cs typeface="+mn-cs"/>
                        </a:rPr>
                        <a:t>V1.1</a:t>
                      </a: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a:solidFill>
                            <a:srgbClr val="000000"/>
                          </a:solidFill>
                          <a:effectLst/>
                          <a:latin typeface="Santander Text"/>
                          <a:ea typeface="Calibri"/>
                          <a:cs typeface="+mn-cs"/>
                        </a:rPr>
                        <a:t>09/10/2023</a:t>
                      </a: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algn="l" rtl="0" eaLnBrk="1" latinLnBrk="0" hangingPunct="1">
                        <a:spcAft>
                          <a:spcPts val="0"/>
                        </a:spcAft>
                      </a:pPr>
                      <a:r>
                        <a:rPr lang="en-US" sz="1200" kern="1200">
                          <a:solidFill>
                            <a:srgbClr val="000000"/>
                          </a:solidFill>
                          <a:effectLst/>
                          <a:latin typeface="Santander Text"/>
                          <a:ea typeface="Calibri"/>
                          <a:cs typeface="+mn-cs"/>
                        </a:rPr>
                        <a:t>Platform  Governance</a:t>
                      </a: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rgbClr val="000000"/>
                          </a:solidFill>
                          <a:effectLst/>
                          <a:latin typeface="Santander Text"/>
                          <a:ea typeface="Calibri"/>
                          <a:cs typeface="+mn-cs"/>
                        </a:rPr>
                        <a:t>Detailed comments about the Framework are included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rgbClr val="000000"/>
                          </a:solidFill>
                          <a:effectLst/>
                          <a:latin typeface="Santander Text"/>
                          <a:ea typeface="Calibri"/>
                          <a:cs typeface="+mn-cs"/>
                        </a:rPr>
                        <a:t>Annex added with components description by platform</a:t>
                      </a:r>
                      <a:endParaRPr lang="en-US" sz="1200" kern="1200">
                        <a:solidFill>
                          <a:srgbClr val="000000"/>
                        </a:solidFill>
                        <a:effectLst/>
                        <a:latin typeface="Santander Text" panose="020B0504020201020104" pitchFamily="34" charset="0"/>
                        <a:ea typeface="Calibri" panose="020F0502020204030204" pitchFamily="34" charset="0"/>
                        <a:cs typeface="+mn-cs"/>
                      </a:endParaRP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kern="1200">
                          <a:solidFill>
                            <a:srgbClr val="000000"/>
                          </a:solidFill>
                          <a:effectLst/>
                          <a:latin typeface="Santander Text"/>
                          <a:ea typeface="Calibri"/>
                          <a:cs typeface="+mn-cs"/>
                        </a:rPr>
                        <a:t>Head of Platform Governance &amp;SD</a:t>
                      </a:r>
                      <a:endParaRPr lang="en-US" sz="1200" kern="1200">
                        <a:solidFill>
                          <a:srgbClr val="000000"/>
                        </a:solidFill>
                        <a:effectLst/>
                        <a:latin typeface="Santander Text" panose="020B0504020201020104" pitchFamily="34" charset="0"/>
                        <a:ea typeface="Calibri" panose="020F0502020204030204" pitchFamily="34" charset="0"/>
                        <a:cs typeface="+mn-cs"/>
                      </a:endParaRP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321405015"/>
                  </a:ext>
                </a:extLst>
              </a:tr>
              <a:tr h="441273">
                <a:tc>
                  <a:txBody>
                    <a:bodyPr/>
                    <a:lstStyle/>
                    <a:p>
                      <a:pPr marL="0" algn="ctr" defTabSz="914400" rtl="0" eaLnBrk="1" latinLnBrk="0" hangingPunct="1">
                        <a:spcAft>
                          <a:spcPts val="0"/>
                        </a:spcAft>
                      </a:pPr>
                      <a:r>
                        <a:rPr lang="en-US" sz="1200" kern="1200">
                          <a:solidFill>
                            <a:srgbClr val="000000"/>
                          </a:solidFill>
                          <a:effectLst/>
                          <a:latin typeface="Santander Text"/>
                          <a:ea typeface="Calibri"/>
                          <a:cs typeface="+mn-cs"/>
                        </a:rPr>
                        <a:t>V.1.1.1</a:t>
                      </a: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a:solidFill>
                            <a:srgbClr val="000000"/>
                          </a:solidFill>
                          <a:effectLst/>
                          <a:latin typeface="Santander Text"/>
                          <a:ea typeface="Calibri"/>
                          <a:cs typeface="+mn-cs"/>
                        </a:rPr>
                        <a:t>19/10/2023</a:t>
                      </a: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algn="l" defTabSz="914400" rtl="0" eaLnBrk="1" latinLnBrk="0" hangingPunct="1">
                        <a:spcAft>
                          <a:spcPts val="0"/>
                        </a:spcAft>
                      </a:pPr>
                      <a:r>
                        <a:rPr lang="en-US" sz="1200" kern="1200">
                          <a:solidFill>
                            <a:srgbClr val="000000"/>
                          </a:solidFill>
                          <a:effectLst/>
                          <a:latin typeface="Santander Text"/>
                          <a:ea typeface="Calibri"/>
                          <a:cs typeface="+mn-cs"/>
                        </a:rPr>
                        <a:t>Platform Governance</a:t>
                      </a: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kern="1200">
                          <a:solidFill>
                            <a:srgbClr val="000000"/>
                          </a:solidFill>
                          <a:effectLst/>
                          <a:latin typeface="Santander Text"/>
                          <a:ea typeface="Calibri"/>
                          <a:cs typeface="+mn-cs"/>
                        </a:rPr>
                        <a:t>Minor orthographic corrections in page number 3 and 6 and others related to format</a:t>
                      </a: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kern="1200">
                          <a:solidFill>
                            <a:srgbClr val="000000"/>
                          </a:solidFill>
                          <a:effectLst/>
                          <a:latin typeface="Santander Text"/>
                          <a:ea typeface="Calibri"/>
                          <a:cs typeface="+mn-cs"/>
                        </a:rPr>
                        <a:t>Head of Platform Governance &amp;SD</a:t>
                      </a:r>
                      <a:endParaRPr lang="en-US" sz="1200" kern="1200">
                        <a:solidFill>
                          <a:srgbClr val="000000"/>
                        </a:solidFill>
                        <a:effectLst/>
                        <a:latin typeface="Santander Text"/>
                        <a:ea typeface="Calibri" panose="020F0502020204030204" pitchFamily="34" charset="0"/>
                        <a:cs typeface="+mn-cs"/>
                      </a:endParaRP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379965641"/>
                  </a:ext>
                </a:extLst>
              </a:tr>
              <a:tr h="441273">
                <a:tc>
                  <a:txBody>
                    <a:bodyPr/>
                    <a:lstStyle/>
                    <a:p>
                      <a:pPr marL="0" algn="ctr" defTabSz="914400" rtl="0" eaLnBrk="1" latinLnBrk="0" hangingPunct="1">
                        <a:spcAft>
                          <a:spcPts val="0"/>
                        </a:spcAft>
                      </a:pPr>
                      <a:r>
                        <a:rPr lang="en-US" sz="1200" kern="1200">
                          <a:solidFill>
                            <a:srgbClr val="000000"/>
                          </a:solidFill>
                          <a:effectLst/>
                          <a:latin typeface="Santander Text"/>
                          <a:ea typeface="Calibri"/>
                          <a:cs typeface="+mn-cs"/>
                        </a:rPr>
                        <a:t>V1.2</a:t>
                      </a: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a:solidFill>
                            <a:srgbClr val="000000"/>
                          </a:solidFill>
                          <a:effectLst/>
                          <a:latin typeface="Santander Text"/>
                          <a:ea typeface="Calibri"/>
                          <a:cs typeface="+mn-cs"/>
                        </a:rPr>
                        <a:t>30/10/2023</a:t>
                      </a: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algn="l" defTabSz="914400" rtl="0" eaLnBrk="1" latinLnBrk="0" hangingPunct="1">
                        <a:spcAft>
                          <a:spcPts val="0"/>
                        </a:spcAft>
                      </a:pPr>
                      <a:r>
                        <a:rPr lang="en-US" sz="1200" kern="1200">
                          <a:solidFill>
                            <a:srgbClr val="000000"/>
                          </a:solidFill>
                          <a:effectLst/>
                          <a:latin typeface="Santander Text"/>
                          <a:ea typeface="Calibri"/>
                          <a:cs typeface="+mn-cs"/>
                        </a:rPr>
                        <a:t>Platform Governance</a:t>
                      </a: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kern="1200">
                          <a:solidFill>
                            <a:srgbClr val="000000"/>
                          </a:solidFill>
                          <a:effectLst/>
                          <a:latin typeface="Santander Text"/>
                          <a:ea typeface="Calibri"/>
                          <a:cs typeface="+mn-cs"/>
                        </a:rPr>
                        <a:t>Summary of detailed architecture components included in page 7, 8</a:t>
                      </a: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kern="1200">
                          <a:solidFill>
                            <a:srgbClr val="000000"/>
                          </a:solidFill>
                          <a:effectLst/>
                          <a:latin typeface="Santander Text"/>
                          <a:ea typeface="Calibri"/>
                          <a:cs typeface="+mn-cs"/>
                        </a:rPr>
                        <a:t>Head of Platform Governance &amp;SD</a:t>
                      </a:r>
                      <a:endParaRPr lang="en-US" sz="1200" kern="1200">
                        <a:solidFill>
                          <a:srgbClr val="000000"/>
                        </a:solidFill>
                        <a:effectLst/>
                        <a:latin typeface="Santander Text"/>
                        <a:ea typeface="Calibri" panose="020F0502020204030204" pitchFamily="34" charset="0"/>
                        <a:cs typeface="+mn-cs"/>
                      </a:endParaRP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7078524"/>
                  </a:ext>
                </a:extLst>
              </a:tr>
              <a:tr h="441273">
                <a:tc>
                  <a:txBody>
                    <a:bodyPr/>
                    <a:lstStyle/>
                    <a:p>
                      <a:pPr marL="0" algn="ctr" defTabSz="914400" rtl="0" eaLnBrk="1" latinLnBrk="0" hangingPunct="1">
                        <a:spcAft>
                          <a:spcPts val="0"/>
                        </a:spcAft>
                      </a:pPr>
                      <a:r>
                        <a:rPr lang="en-US" sz="1200" kern="1200">
                          <a:solidFill>
                            <a:srgbClr val="000000"/>
                          </a:solidFill>
                          <a:effectLst/>
                          <a:latin typeface="Santander Text"/>
                          <a:ea typeface="Calibri"/>
                          <a:cs typeface="+mn-cs"/>
                        </a:rPr>
                        <a:t>V1.4</a:t>
                      </a: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a:solidFill>
                            <a:srgbClr val="000000"/>
                          </a:solidFill>
                          <a:effectLst/>
                          <a:latin typeface="Santander Text" panose="020B0504020201020104" pitchFamily="34" charset="0"/>
                          <a:ea typeface="Calibri" panose="020F0502020204030204" pitchFamily="34" charset="0"/>
                          <a:cs typeface="+mn-cs"/>
                        </a:rPr>
                        <a:t>9/2/2024</a:t>
                      </a: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rgbClr val="000000"/>
                          </a:solidFill>
                          <a:effectLst/>
                          <a:latin typeface="Santander Text" panose="020B0504020201020104" pitchFamily="34" charset="0"/>
                          <a:ea typeface="Calibri" panose="020F0502020204030204" pitchFamily="34" charset="0"/>
                          <a:cs typeface="+mn-cs"/>
                        </a:rPr>
                        <a:t>Platform Governance</a:t>
                      </a: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kern="1200">
                          <a:solidFill>
                            <a:srgbClr val="000000"/>
                          </a:solidFill>
                          <a:effectLst/>
                          <a:latin typeface="Santander Text"/>
                          <a:ea typeface="Calibri" panose="020F0502020204030204" pitchFamily="34" charset="0"/>
                          <a:cs typeface="+mn-cs"/>
                        </a:rPr>
                        <a:t>Framework alignment with Tech Stack and Blueprint recently delivered</a:t>
                      </a: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kern="1200">
                          <a:solidFill>
                            <a:srgbClr val="000000"/>
                          </a:solidFill>
                          <a:effectLst/>
                          <a:latin typeface="Santander Text"/>
                          <a:ea typeface="Calibri"/>
                          <a:cs typeface="+mn-cs"/>
                        </a:rPr>
                        <a:t>Head of Platform Governance &amp;SD</a:t>
                      </a:r>
                      <a:endParaRPr lang="en-US" sz="1200" kern="1200">
                        <a:solidFill>
                          <a:srgbClr val="000000"/>
                        </a:solidFill>
                        <a:effectLst/>
                        <a:latin typeface="Santander Text"/>
                        <a:ea typeface="Calibri" panose="020F0502020204030204" pitchFamily="34" charset="0"/>
                        <a:cs typeface="+mn-cs"/>
                      </a:endParaRP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810428291"/>
                  </a:ext>
                </a:extLst>
              </a:tr>
              <a:tr h="441273">
                <a:tc>
                  <a:txBody>
                    <a:bodyPr/>
                    <a:lstStyle/>
                    <a:p>
                      <a:pPr marL="0" algn="ctr" defTabSz="914400" rtl="0" eaLnBrk="1" latinLnBrk="0" hangingPunct="1">
                        <a:spcAft>
                          <a:spcPts val="0"/>
                        </a:spcAft>
                      </a:pPr>
                      <a:r>
                        <a:rPr lang="en-US" sz="1200" kern="1200">
                          <a:solidFill>
                            <a:srgbClr val="000000"/>
                          </a:solidFill>
                          <a:effectLst/>
                          <a:latin typeface="Santander Text" panose="020B0504020201020104" pitchFamily="34" charset="0"/>
                          <a:ea typeface="Calibri" panose="020F0502020204030204" pitchFamily="34" charset="0"/>
                          <a:cs typeface="+mn-cs"/>
                        </a:rPr>
                        <a:t>V1.5</a:t>
                      </a: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a:solidFill>
                            <a:srgbClr val="000000"/>
                          </a:solidFill>
                          <a:effectLst/>
                          <a:latin typeface="Santander Text" panose="020B0504020201020104" pitchFamily="34" charset="0"/>
                          <a:ea typeface="Calibri" panose="020F0502020204030204" pitchFamily="34" charset="0"/>
                          <a:cs typeface="+mn-cs"/>
                        </a:rPr>
                        <a:t>14/3/2024</a:t>
                      </a: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algn="l" defTabSz="914400" rtl="0" eaLnBrk="1" latinLnBrk="0" hangingPunct="1">
                        <a:spcAft>
                          <a:spcPts val="0"/>
                        </a:spcAft>
                      </a:pPr>
                      <a:r>
                        <a:rPr lang="en-US" sz="1200" kern="1200">
                          <a:solidFill>
                            <a:srgbClr val="000000"/>
                          </a:solidFill>
                          <a:effectLst/>
                          <a:latin typeface="Santander Text" panose="020B0504020201020104" pitchFamily="34" charset="0"/>
                          <a:ea typeface="Calibri" panose="020F0502020204030204" pitchFamily="34" charset="0"/>
                          <a:cs typeface="+mn-cs"/>
                        </a:rPr>
                        <a:t>Platform Governance</a:t>
                      </a: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kern="1200">
                          <a:solidFill>
                            <a:srgbClr val="000000"/>
                          </a:solidFill>
                          <a:effectLst/>
                          <a:latin typeface="Santander Text"/>
                          <a:ea typeface="Calibri" panose="020F0502020204030204" pitchFamily="34" charset="0"/>
                          <a:cs typeface="+mn-cs"/>
                        </a:rPr>
                        <a:t>Some corrections have been made in slides related to Component 4 to match with breakdown file (page 8)</a:t>
                      </a: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kern="1200">
                          <a:solidFill>
                            <a:srgbClr val="000000"/>
                          </a:solidFill>
                          <a:effectLst/>
                          <a:latin typeface="Santander Text"/>
                          <a:ea typeface="Calibri"/>
                          <a:cs typeface="+mn-cs"/>
                        </a:rPr>
                        <a:t>Head of Platform Governance &amp;SD</a:t>
                      </a:r>
                      <a:endParaRPr lang="en-US" sz="1200" kern="1200">
                        <a:solidFill>
                          <a:srgbClr val="000000"/>
                        </a:solidFill>
                        <a:effectLst/>
                        <a:latin typeface="Santander Text"/>
                        <a:ea typeface="Calibri" panose="020F0502020204030204" pitchFamily="34" charset="0"/>
                        <a:cs typeface="+mn-cs"/>
                      </a:endParaRP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89106094"/>
                  </a:ext>
                </a:extLst>
              </a:tr>
              <a:tr h="618037">
                <a:tc>
                  <a:txBody>
                    <a:bodyPr/>
                    <a:lstStyle/>
                    <a:p>
                      <a:pPr marL="0" algn="ctr" defTabSz="914400" rtl="0" eaLnBrk="1" latinLnBrk="0" hangingPunct="1">
                        <a:spcAft>
                          <a:spcPts val="0"/>
                        </a:spcAft>
                      </a:pPr>
                      <a:r>
                        <a:rPr lang="en-US" sz="1200" kern="1200">
                          <a:solidFill>
                            <a:srgbClr val="000000"/>
                          </a:solidFill>
                          <a:effectLst/>
                          <a:latin typeface="Santander Text"/>
                          <a:ea typeface="Calibri"/>
                          <a:cs typeface="+mn-cs"/>
                        </a:rPr>
                        <a:t>V1.6</a:t>
                      </a: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a:solidFill>
                            <a:srgbClr val="000000"/>
                          </a:solidFill>
                          <a:effectLst/>
                          <a:latin typeface="Santander Text"/>
                          <a:ea typeface="Calibri"/>
                          <a:cs typeface="+mn-cs"/>
                        </a:rPr>
                        <a:t>30/4/2024</a:t>
                      </a: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rgbClr val="000000"/>
                          </a:solidFill>
                          <a:effectLst/>
                          <a:latin typeface="Santander Text"/>
                          <a:ea typeface="Calibri"/>
                          <a:cs typeface="+mn-cs"/>
                        </a:rPr>
                        <a:t>Platform Governance</a:t>
                      </a:r>
                    </a:p>
                    <a:p>
                      <a:pPr marL="0" algn="l" defTabSz="914400" rtl="0" eaLnBrk="1" latinLnBrk="0" hangingPunct="1">
                        <a:spcAft>
                          <a:spcPts val="0"/>
                        </a:spcAft>
                      </a:pPr>
                      <a:endParaRPr lang="en-US" sz="1200" kern="1200">
                        <a:solidFill>
                          <a:srgbClr val="000000"/>
                        </a:solidFill>
                        <a:effectLst/>
                        <a:latin typeface="Santander Text" panose="020B0504020201020104" pitchFamily="34" charset="0"/>
                        <a:ea typeface="Calibri" panose="020F0502020204030204" pitchFamily="34" charset="0"/>
                        <a:cs typeface="+mn-cs"/>
                      </a:endParaRP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kern="1200">
                          <a:solidFill>
                            <a:srgbClr val="000000"/>
                          </a:solidFill>
                          <a:effectLst/>
                          <a:latin typeface="Santander Text"/>
                          <a:ea typeface="Calibri"/>
                          <a:cs typeface="+mn-cs"/>
                        </a:rPr>
                        <a:t>Change of structure mainly in Assisted and Digital Channels (see Changelog in breakdown excel file): pages 3,8,9,22,24 (Assisted) and 8,9,10,26,28 and 29 (Digital). Renaming Module “ NBX Models Manager” to Propensity Model </a:t>
                      </a: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rgbClr val="000000"/>
                          </a:solidFill>
                          <a:effectLst/>
                          <a:latin typeface="+mn-lt"/>
                          <a:ea typeface="Calibri"/>
                          <a:cs typeface="+mn-cs"/>
                        </a:rPr>
                        <a:t>Head of Platform Governance &amp;SD</a:t>
                      </a:r>
                      <a:endParaRPr lang="en-US" sz="1200" kern="1200">
                        <a:solidFill>
                          <a:srgbClr val="000000"/>
                        </a:solidFill>
                        <a:effectLst/>
                        <a:latin typeface="Santander Text" panose="020B0504020201020104" pitchFamily="34" charset="0"/>
                        <a:ea typeface="Calibri" panose="020F0502020204030204" pitchFamily="34" charset="0"/>
                        <a:cs typeface="+mn-cs"/>
                      </a:endParaRPr>
                    </a:p>
                    <a:p>
                      <a:pPr marL="0" marR="0" lvl="0" indent="0" algn="l" rtl="0" eaLnBrk="1" fontAlgn="auto" latinLnBrk="0" hangingPunct="1">
                        <a:lnSpc>
                          <a:spcPct val="100000"/>
                        </a:lnSpc>
                        <a:spcBef>
                          <a:spcPts val="0"/>
                        </a:spcBef>
                        <a:spcAft>
                          <a:spcPts val="0"/>
                        </a:spcAft>
                        <a:buClrTx/>
                        <a:buSzTx/>
                        <a:buFontTx/>
                        <a:buNone/>
                      </a:pPr>
                      <a:endParaRPr lang="en-US" sz="1200" kern="1200">
                        <a:solidFill>
                          <a:srgbClr val="000000"/>
                        </a:solidFill>
                        <a:effectLst/>
                        <a:latin typeface="Santander Text"/>
                        <a:ea typeface="Calibri" panose="020F0502020204030204" pitchFamily="34" charset="0"/>
                        <a:cs typeface="+mn-cs"/>
                      </a:endParaRP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69968960"/>
                  </a:ext>
                </a:extLst>
              </a:tr>
              <a:tr h="794800">
                <a:tc>
                  <a:txBody>
                    <a:bodyPr/>
                    <a:lstStyle/>
                    <a:p>
                      <a:pPr marL="0" algn="ctr" defTabSz="914400" rtl="0" eaLnBrk="1" latinLnBrk="0" hangingPunct="1">
                        <a:spcAft>
                          <a:spcPts val="0"/>
                        </a:spcAft>
                      </a:pPr>
                      <a:r>
                        <a:rPr lang="en-US" sz="1200" kern="1200">
                          <a:solidFill>
                            <a:srgbClr val="000000"/>
                          </a:solidFill>
                          <a:effectLst/>
                          <a:latin typeface="Santander Text" panose="020B0504020201020104" pitchFamily="34" charset="0"/>
                          <a:ea typeface="Calibri" panose="020F0502020204030204" pitchFamily="34" charset="0"/>
                          <a:cs typeface="+mn-cs"/>
                        </a:rPr>
                        <a:t>V1.8</a:t>
                      </a: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a:solidFill>
                            <a:srgbClr val="000000"/>
                          </a:solidFill>
                          <a:effectLst/>
                          <a:latin typeface="Santander Text" panose="020B0504020201020104" pitchFamily="34" charset="0"/>
                          <a:ea typeface="Calibri" panose="020F0502020204030204" pitchFamily="34" charset="0"/>
                          <a:cs typeface="+mn-cs"/>
                        </a:rPr>
                        <a:t>5/3/2025</a:t>
                      </a: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rgbClr val="000000"/>
                          </a:solidFill>
                          <a:effectLst/>
                          <a:latin typeface="Santander Text" panose="020B0504020201020104" pitchFamily="34" charset="0"/>
                          <a:ea typeface="Calibri" panose="020F0502020204030204" pitchFamily="34" charset="0"/>
                          <a:cs typeface="+mn-cs"/>
                        </a:rPr>
                        <a:t>Platform Governance</a:t>
                      </a: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kern="1200">
                          <a:solidFill>
                            <a:srgbClr val="000000"/>
                          </a:solidFill>
                          <a:effectLst/>
                          <a:latin typeface="Santander Text"/>
                          <a:ea typeface="Calibri" panose="020F0502020204030204" pitchFamily="34" charset="0"/>
                          <a:cs typeface="+mn-cs"/>
                        </a:rPr>
                        <a:t>Change of structure with new component map and blueprint delivery of Assisted Channels, Digital Channels, Gravity+ and Customer Interactions. Business Support Function structure has also been reviewed. Trade Finance component included in CIB and some minor renames (Customer Interactions, Investments, One P&amp;C)</a:t>
                      </a: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rgbClr val="000000"/>
                          </a:solidFill>
                          <a:effectLst/>
                          <a:latin typeface="+mn-lt"/>
                          <a:ea typeface="Calibri"/>
                          <a:cs typeface="+mn-cs"/>
                        </a:rPr>
                        <a:t>Head of Platform Governance &amp;SD</a:t>
                      </a:r>
                      <a:endParaRPr lang="en-US" sz="1200" kern="1200">
                        <a:solidFill>
                          <a:srgbClr val="000000"/>
                        </a:solidFill>
                        <a:effectLst/>
                        <a:latin typeface="Santander Text" panose="020B0504020201020104" pitchFamily="34" charset="0"/>
                        <a:ea typeface="Calibri" panose="020F0502020204030204" pitchFamily="34" charset="0"/>
                        <a:cs typeface="+mn-cs"/>
                      </a:endParaRP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946757570"/>
                  </a:ext>
                </a:extLst>
              </a:tr>
              <a:tr h="794800">
                <a:tc>
                  <a:txBody>
                    <a:bodyPr/>
                    <a:lstStyle/>
                    <a:p>
                      <a:pPr marL="0" algn="ctr" defTabSz="914400" rtl="0" eaLnBrk="1" latinLnBrk="0" hangingPunct="1">
                        <a:spcAft>
                          <a:spcPts val="0"/>
                        </a:spcAft>
                      </a:pPr>
                      <a:r>
                        <a:rPr lang="en-US" sz="1200" kern="1200">
                          <a:solidFill>
                            <a:srgbClr val="000000"/>
                          </a:solidFill>
                          <a:effectLst/>
                          <a:latin typeface="Santander Text" panose="020B0504020201020104" pitchFamily="34" charset="0"/>
                          <a:ea typeface="Calibri" panose="020F0502020204030204" pitchFamily="34" charset="0"/>
                          <a:cs typeface="+mn-cs"/>
                        </a:rPr>
                        <a:t>V1.9</a:t>
                      </a: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a:solidFill>
                            <a:srgbClr val="000000"/>
                          </a:solidFill>
                          <a:effectLst/>
                          <a:latin typeface="Santander Text"/>
                          <a:ea typeface="Calibri"/>
                          <a:cs typeface="+mn-cs"/>
                        </a:rPr>
                        <a:t>21/3/2025</a:t>
                      </a:r>
                      <a:endParaRPr lang="en-US" sz="1200" kern="1200">
                        <a:solidFill>
                          <a:srgbClr val="000000"/>
                        </a:solidFill>
                        <a:effectLst/>
                        <a:latin typeface="Santander Text" panose="020B0504020201020104" pitchFamily="34" charset="0"/>
                        <a:ea typeface="Calibri" panose="020F0502020204030204" pitchFamily="34" charset="0"/>
                        <a:cs typeface="+mn-cs"/>
                      </a:endParaRP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rgbClr val="000000"/>
                          </a:solidFill>
                          <a:effectLst/>
                          <a:latin typeface="Santander Text" panose="020B0504020201020104" pitchFamily="34" charset="0"/>
                          <a:ea typeface="Calibri" panose="020F0502020204030204" pitchFamily="34" charset="0"/>
                          <a:cs typeface="+mn-cs"/>
                        </a:rPr>
                        <a:t>Platform Governance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a:solidFill>
                          <a:srgbClr val="000000"/>
                        </a:solidFill>
                        <a:effectLst/>
                        <a:latin typeface="Santander Text" panose="020B0504020201020104" pitchFamily="34" charset="0"/>
                        <a:ea typeface="Calibri" panose="020F0502020204030204" pitchFamily="34" charset="0"/>
                        <a:cs typeface="+mn-cs"/>
                      </a:endParaRP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kern="1200">
                          <a:solidFill>
                            <a:srgbClr val="000000"/>
                          </a:solidFill>
                          <a:effectLst/>
                          <a:latin typeface="Santander Text"/>
                          <a:ea typeface="Calibri"/>
                          <a:cs typeface="+mn-cs"/>
                        </a:rPr>
                        <a:t>Digital Channels (R&amp;C) renamed to Digital Channels Individuals and moved to DCB Business Segment. Getnet and Getnet (Front) renamed to Merchants and Merchants (Front). Compliance component renamed to One FCC / Compliance. Rearrangement and new transversal situation for Global Support Functions and Global Technology (+</a:t>
                      </a:r>
                      <a:r>
                        <a:rPr lang="en-US" sz="1200" kern="1200" err="1">
                          <a:solidFill>
                            <a:srgbClr val="000000"/>
                          </a:solidFill>
                          <a:effectLst/>
                          <a:latin typeface="Santander Text"/>
                          <a:ea typeface="Calibri"/>
                          <a:cs typeface="+mn-cs"/>
                        </a:rPr>
                        <a:t>Graviry</a:t>
                      </a:r>
                      <a:r>
                        <a:rPr lang="en-US" sz="1200" kern="1200">
                          <a:solidFill>
                            <a:srgbClr val="000000"/>
                          </a:solidFill>
                          <a:effectLst/>
                          <a:latin typeface="Santander Text"/>
                          <a:ea typeface="Calibri"/>
                          <a:cs typeface="+mn-cs"/>
                        </a:rPr>
                        <a:t>+). Esthetical changes in the map on page 3 and 4</a:t>
                      </a:r>
                      <a:endParaRPr lang="en-US" sz="1200" kern="1200">
                        <a:solidFill>
                          <a:srgbClr val="000000"/>
                        </a:solidFill>
                        <a:effectLst/>
                        <a:latin typeface="Santander Text"/>
                        <a:ea typeface="Calibri" panose="020F0502020204030204" pitchFamily="34" charset="0"/>
                        <a:cs typeface="+mn-cs"/>
                      </a:endParaRP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rgbClr val="000000"/>
                          </a:solidFill>
                          <a:effectLst/>
                          <a:latin typeface="+mn-lt"/>
                          <a:ea typeface="Calibri"/>
                          <a:cs typeface="+mn-cs"/>
                        </a:rPr>
                        <a:t>Head of Platform Governance &amp;SD</a:t>
                      </a:r>
                      <a:endParaRPr lang="en-US" sz="1200" kern="1200">
                        <a:solidFill>
                          <a:srgbClr val="000000"/>
                        </a:solidFill>
                        <a:effectLst/>
                        <a:latin typeface="Santander Text" panose="020B0504020201020104" pitchFamily="34" charset="0"/>
                        <a:ea typeface="Calibri" panose="020F0502020204030204" pitchFamily="34"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a:solidFill>
                          <a:srgbClr val="000000"/>
                        </a:solidFill>
                        <a:effectLst/>
                        <a:latin typeface="Santander Text" panose="020B0504020201020104" pitchFamily="34" charset="0"/>
                        <a:ea typeface="Calibri" panose="020F0502020204030204" pitchFamily="34" charset="0"/>
                        <a:cs typeface="+mn-cs"/>
                      </a:endParaRP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02802643"/>
                  </a:ext>
                </a:extLst>
              </a:tr>
            </a:tbl>
          </a:graphicData>
        </a:graphic>
      </p:graphicFrame>
    </p:spTree>
    <p:extLst>
      <p:ext uri="{BB962C8B-B14F-4D97-AF65-F5344CB8AC3E}">
        <p14:creationId xmlns:p14="http://schemas.microsoft.com/office/powerpoint/2010/main" val="3393963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B2806-0552-1EA1-DAF7-DE2C14F793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74FD4E-8D4D-188D-BEEF-F9F8A4E092F2}"/>
              </a:ext>
            </a:extLst>
          </p:cNvPr>
          <p:cNvSpPr>
            <a:spLocks noGrp="1"/>
          </p:cNvSpPr>
          <p:nvPr>
            <p:ph type="title"/>
          </p:nvPr>
        </p:nvSpPr>
        <p:spPr>
          <a:xfrm>
            <a:off x="643647" y="528204"/>
            <a:ext cx="10758733" cy="836992"/>
          </a:xfrm>
        </p:spPr>
        <p:txBody>
          <a:bodyPr/>
          <a:lstStyle/>
          <a:p>
            <a:r>
              <a:rPr lang="en-US"/>
              <a:t>Changelog</a:t>
            </a:r>
          </a:p>
        </p:txBody>
      </p:sp>
      <p:sp>
        <p:nvSpPr>
          <p:cNvPr id="3" name="Text Placeholder 2">
            <a:extLst>
              <a:ext uri="{FF2B5EF4-FFF2-40B4-BE49-F238E27FC236}">
                <a16:creationId xmlns:a16="http://schemas.microsoft.com/office/drawing/2014/main" id="{6D569EDE-2331-D966-7EB4-C279EDFBFCC5}"/>
              </a:ext>
            </a:extLst>
          </p:cNvPr>
          <p:cNvSpPr>
            <a:spLocks noGrp="1"/>
          </p:cNvSpPr>
          <p:nvPr>
            <p:ph type="body" sz="quarter" idx="14"/>
          </p:nvPr>
        </p:nvSpPr>
        <p:spPr>
          <a:xfrm>
            <a:off x="643647" y="273194"/>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graphicFrame>
        <p:nvGraphicFramePr>
          <p:cNvPr id="4" name="Tabla 3">
            <a:extLst>
              <a:ext uri="{FF2B5EF4-FFF2-40B4-BE49-F238E27FC236}">
                <a16:creationId xmlns:a16="http://schemas.microsoft.com/office/drawing/2014/main" id="{629A818C-7949-37F8-F714-1A601546AA2B}"/>
              </a:ext>
            </a:extLst>
          </p:cNvPr>
          <p:cNvGraphicFramePr>
            <a:graphicFrameLocks noGrp="1"/>
          </p:cNvGraphicFramePr>
          <p:nvPr>
            <p:extLst>
              <p:ext uri="{D42A27DB-BD31-4B8C-83A1-F6EECF244321}">
                <p14:modId xmlns:p14="http://schemas.microsoft.com/office/powerpoint/2010/main" val="193738826"/>
              </p:ext>
            </p:extLst>
          </p:nvPr>
        </p:nvGraphicFramePr>
        <p:xfrm>
          <a:off x="471736" y="1129635"/>
          <a:ext cx="11586152" cy="2860335"/>
        </p:xfrm>
        <a:graphic>
          <a:graphicData uri="http://schemas.openxmlformats.org/drawingml/2006/table">
            <a:tbl>
              <a:tblPr firstRow="1" firstCol="1" bandRow="1"/>
              <a:tblGrid>
                <a:gridCol w="810908">
                  <a:extLst>
                    <a:ext uri="{9D8B030D-6E8A-4147-A177-3AD203B41FA5}">
                      <a16:colId xmlns:a16="http://schemas.microsoft.com/office/drawing/2014/main" val="72792070"/>
                    </a:ext>
                  </a:extLst>
                </a:gridCol>
                <a:gridCol w="1010695">
                  <a:extLst>
                    <a:ext uri="{9D8B030D-6E8A-4147-A177-3AD203B41FA5}">
                      <a16:colId xmlns:a16="http://schemas.microsoft.com/office/drawing/2014/main" val="3787282367"/>
                    </a:ext>
                  </a:extLst>
                </a:gridCol>
                <a:gridCol w="974794">
                  <a:extLst>
                    <a:ext uri="{9D8B030D-6E8A-4147-A177-3AD203B41FA5}">
                      <a16:colId xmlns:a16="http://schemas.microsoft.com/office/drawing/2014/main" val="1219100910"/>
                    </a:ext>
                  </a:extLst>
                </a:gridCol>
                <a:gridCol w="7286023">
                  <a:extLst>
                    <a:ext uri="{9D8B030D-6E8A-4147-A177-3AD203B41FA5}">
                      <a16:colId xmlns:a16="http://schemas.microsoft.com/office/drawing/2014/main" val="3627748944"/>
                    </a:ext>
                  </a:extLst>
                </a:gridCol>
                <a:gridCol w="1503732">
                  <a:extLst>
                    <a:ext uri="{9D8B030D-6E8A-4147-A177-3AD203B41FA5}">
                      <a16:colId xmlns:a16="http://schemas.microsoft.com/office/drawing/2014/main" val="2505747642"/>
                    </a:ext>
                  </a:extLst>
                </a:gridCol>
              </a:tblGrid>
              <a:tr h="393429">
                <a:tc>
                  <a:txBody>
                    <a:bodyPr/>
                    <a:lstStyle/>
                    <a:p>
                      <a:pPr algn="ctr">
                        <a:spcAft>
                          <a:spcPts val="0"/>
                        </a:spcAft>
                      </a:pPr>
                      <a:r>
                        <a:rPr lang="es-ES" sz="1400" b="1" err="1">
                          <a:solidFill>
                            <a:srgbClr val="FFFFFF"/>
                          </a:solidFill>
                          <a:effectLst/>
                          <a:latin typeface="Santander Text"/>
                          <a:ea typeface="Calibri"/>
                        </a:rPr>
                        <a:t>Version</a:t>
                      </a:r>
                      <a:endParaRPr lang="en-US" sz="1400">
                        <a:effectLst/>
                        <a:latin typeface="Santander Text"/>
                        <a:ea typeface="Calibri"/>
                      </a:endParaRPr>
                    </a:p>
                  </a:txBody>
                  <a:tcPr marL="90782" marR="90782" marT="45391" marB="45391"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B0000"/>
                    </a:solidFill>
                  </a:tcPr>
                </a:tc>
                <a:tc>
                  <a:txBody>
                    <a:bodyPr/>
                    <a:lstStyle/>
                    <a:p>
                      <a:pPr algn="ctr">
                        <a:spcAft>
                          <a:spcPts val="0"/>
                        </a:spcAft>
                      </a:pPr>
                      <a:r>
                        <a:rPr lang="es-ES" sz="1400" b="1">
                          <a:solidFill>
                            <a:srgbClr val="FFFFFF"/>
                          </a:solidFill>
                          <a:effectLst/>
                          <a:latin typeface="Santander Text"/>
                          <a:ea typeface="Calibri"/>
                        </a:rPr>
                        <a:t>Date</a:t>
                      </a:r>
                      <a:endParaRPr lang="en-US" sz="1400">
                        <a:effectLst/>
                        <a:latin typeface="Santander Text"/>
                        <a:ea typeface="Calibri"/>
                      </a:endParaRPr>
                    </a:p>
                  </a:txBody>
                  <a:tcPr marL="90782" marR="90782" marT="45391" marB="45391"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B0000"/>
                    </a:solidFill>
                  </a:tcPr>
                </a:tc>
                <a:tc>
                  <a:txBody>
                    <a:bodyPr/>
                    <a:lstStyle/>
                    <a:p>
                      <a:pPr algn="ctr">
                        <a:spcAft>
                          <a:spcPts val="0"/>
                        </a:spcAft>
                      </a:pPr>
                      <a:r>
                        <a:rPr lang="es-ES" sz="1400" b="1" err="1">
                          <a:solidFill>
                            <a:srgbClr val="FFFFFF"/>
                          </a:solidFill>
                          <a:effectLst/>
                          <a:latin typeface="Santander Text" panose="020B0504020201020104" pitchFamily="34" charset="0"/>
                          <a:ea typeface="Calibri" panose="020F0502020204030204" pitchFamily="34" charset="0"/>
                        </a:rPr>
                        <a:t>Owner</a:t>
                      </a:r>
                      <a:endParaRPr lang="en-US" sz="1400">
                        <a:effectLst/>
                        <a:latin typeface="Calibri" panose="020F0502020204030204" pitchFamily="34" charset="0"/>
                        <a:ea typeface="Calibri" panose="020F0502020204030204" pitchFamily="34" charset="0"/>
                      </a:endParaRPr>
                    </a:p>
                  </a:txBody>
                  <a:tcPr marL="90782" marR="90782" marT="45391" marB="45391"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B0000"/>
                    </a:solidFill>
                  </a:tcPr>
                </a:tc>
                <a:tc>
                  <a:txBody>
                    <a:bodyPr/>
                    <a:lstStyle/>
                    <a:p>
                      <a:pPr algn="ctr">
                        <a:spcAft>
                          <a:spcPts val="0"/>
                        </a:spcAft>
                      </a:pPr>
                      <a:r>
                        <a:rPr lang="es-ES" sz="1400" b="1" err="1">
                          <a:solidFill>
                            <a:srgbClr val="FFFFFF"/>
                          </a:solidFill>
                          <a:effectLst/>
                          <a:latin typeface="Santander Text"/>
                          <a:ea typeface="Calibri"/>
                        </a:rPr>
                        <a:t>Description</a:t>
                      </a:r>
                      <a:r>
                        <a:rPr lang="es-ES" sz="1400" b="1">
                          <a:solidFill>
                            <a:srgbClr val="FFFFFF"/>
                          </a:solidFill>
                          <a:effectLst/>
                          <a:latin typeface="Santander Text"/>
                          <a:ea typeface="Calibri"/>
                        </a:rPr>
                        <a:t> </a:t>
                      </a:r>
                      <a:r>
                        <a:rPr lang="es-ES" sz="1400" b="1" err="1">
                          <a:solidFill>
                            <a:srgbClr val="FFFFFF"/>
                          </a:solidFill>
                          <a:effectLst/>
                          <a:latin typeface="Santander Text"/>
                          <a:ea typeface="Calibri"/>
                        </a:rPr>
                        <a:t>of</a:t>
                      </a:r>
                      <a:r>
                        <a:rPr lang="es-ES" sz="1400" b="1">
                          <a:solidFill>
                            <a:srgbClr val="FFFFFF"/>
                          </a:solidFill>
                          <a:effectLst/>
                          <a:latin typeface="Santander Text"/>
                          <a:ea typeface="Calibri"/>
                        </a:rPr>
                        <a:t> Change</a:t>
                      </a:r>
                      <a:endParaRPr lang="en-US" sz="1400">
                        <a:effectLst/>
                        <a:latin typeface="Santander Text"/>
                        <a:ea typeface="Calibri"/>
                      </a:endParaRPr>
                    </a:p>
                  </a:txBody>
                  <a:tcPr marL="90782" marR="90782" marT="45391" marB="45391"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B0000"/>
                    </a:solidFill>
                  </a:tcPr>
                </a:tc>
                <a:tc>
                  <a:txBody>
                    <a:bodyPr/>
                    <a:lstStyle/>
                    <a:p>
                      <a:pPr algn="ctr">
                        <a:spcAft>
                          <a:spcPts val="0"/>
                        </a:spcAft>
                      </a:pPr>
                      <a:r>
                        <a:rPr lang="en-US" sz="1400" b="1" kern="1200">
                          <a:solidFill>
                            <a:srgbClr val="FFFFFF"/>
                          </a:solidFill>
                          <a:effectLst/>
                          <a:latin typeface="Santander Text"/>
                          <a:ea typeface="Calibri"/>
                          <a:cs typeface="+mn-cs"/>
                        </a:rPr>
                        <a:t>Approved by</a:t>
                      </a:r>
                    </a:p>
                  </a:txBody>
                  <a:tcPr marL="90782" marR="90782" marT="45391" marB="45391"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B0000"/>
                    </a:solidFill>
                  </a:tcPr>
                </a:tc>
                <a:extLst>
                  <a:ext uri="{0D108BD9-81ED-4DB2-BD59-A6C34878D82A}">
                    <a16:rowId xmlns:a16="http://schemas.microsoft.com/office/drawing/2014/main" val="3000321827"/>
                  </a:ext>
                </a:extLst>
              </a:tr>
              <a:tr h="441273">
                <a:tc>
                  <a:txBody>
                    <a:bodyPr/>
                    <a:lstStyle/>
                    <a:p>
                      <a:pPr algn="ctr">
                        <a:spcAft>
                          <a:spcPts val="0"/>
                        </a:spcAft>
                      </a:pPr>
                      <a:r>
                        <a:rPr lang="es-ES" sz="1200">
                          <a:solidFill>
                            <a:srgbClr val="000000"/>
                          </a:solidFill>
                          <a:effectLst/>
                          <a:latin typeface="Santander Text"/>
                          <a:ea typeface="Calibri"/>
                        </a:rPr>
                        <a:t>V2.0</a:t>
                      </a:r>
                      <a:endParaRPr lang="en-US" sz="1100">
                        <a:effectLst/>
                        <a:latin typeface="Santander Text"/>
                        <a:ea typeface="Calibri"/>
                      </a:endParaRP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1">
                        <a:lumMod val="95000"/>
                      </a:schemeClr>
                    </a:solidFill>
                  </a:tcPr>
                </a:tc>
                <a:tc>
                  <a:txBody>
                    <a:bodyPr/>
                    <a:lstStyle/>
                    <a:p>
                      <a:pPr algn="ctr">
                        <a:spcAft>
                          <a:spcPts val="0"/>
                        </a:spcAft>
                      </a:pPr>
                      <a:r>
                        <a:rPr lang="en-US" sz="1200" kern="1200">
                          <a:solidFill>
                            <a:srgbClr val="000000"/>
                          </a:solidFill>
                          <a:effectLst/>
                          <a:latin typeface="Santander Text"/>
                          <a:ea typeface="Calibri"/>
                          <a:cs typeface="+mn-cs"/>
                        </a:rPr>
                        <a:t>09/05/2025</a:t>
                      </a: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1">
                        <a:lumMod val="95000"/>
                      </a:schemeClr>
                    </a:solidFill>
                  </a:tcPr>
                </a:tc>
                <a:tc>
                  <a:txBody>
                    <a:bodyPr/>
                    <a:lstStyle/>
                    <a:p>
                      <a:pPr algn="l">
                        <a:spcAft>
                          <a:spcPts val="0"/>
                        </a:spcAft>
                      </a:pPr>
                      <a:r>
                        <a:rPr lang="en-US" sz="1200">
                          <a:solidFill>
                            <a:srgbClr val="000000"/>
                          </a:solidFill>
                          <a:effectLst/>
                          <a:latin typeface="Santander Text"/>
                          <a:ea typeface="Calibri"/>
                        </a:rPr>
                        <a:t>Global CTO Platform  </a:t>
                      </a:r>
                    </a:p>
                    <a:p>
                      <a:pPr algn="l">
                        <a:spcAft>
                          <a:spcPts val="0"/>
                        </a:spcAft>
                      </a:pPr>
                      <a:r>
                        <a:rPr lang="en-US" sz="1200">
                          <a:solidFill>
                            <a:srgbClr val="000000"/>
                          </a:solidFill>
                          <a:effectLst/>
                          <a:latin typeface="Santander Text"/>
                          <a:ea typeface="Calibri"/>
                        </a:rPr>
                        <a:t>Governance</a:t>
                      </a:r>
                      <a:endParaRPr lang="en-US" sz="1100">
                        <a:effectLst/>
                        <a:latin typeface="Santander Text"/>
                        <a:ea typeface="Calibri"/>
                      </a:endParaRP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1">
                        <a:lumMod val="95000"/>
                      </a:schemeClr>
                    </a:solidFill>
                  </a:tcPr>
                </a:tc>
                <a:tc>
                  <a:txBody>
                    <a:bodyPr/>
                    <a:lstStyle/>
                    <a:p>
                      <a:pPr algn="l">
                        <a:spcAft>
                          <a:spcPts val="0"/>
                        </a:spcAft>
                      </a:pPr>
                      <a:r>
                        <a:rPr lang="en-US" sz="1100">
                          <a:effectLst/>
                          <a:latin typeface="Santander Text"/>
                          <a:ea typeface="Calibri"/>
                        </a:rPr>
                        <a:t>New component breakdown structure for SCIB added (structure and module definitions)</a:t>
                      </a: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1">
                        <a:lumMod val="95000"/>
                      </a:schemeClr>
                    </a:solidFill>
                  </a:tcPr>
                </a:tc>
                <a:tc>
                  <a:txBody>
                    <a:bodyPr/>
                    <a:lstStyle/>
                    <a:p>
                      <a:pPr algn="l">
                        <a:spcAft>
                          <a:spcPts val="0"/>
                        </a:spcAft>
                      </a:pPr>
                      <a:r>
                        <a:rPr lang="en-US" sz="1200" kern="1200">
                          <a:solidFill>
                            <a:srgbClr val="000000"/>
                          </a:solidFill>
                          <a:effectLst/>
                          <a:latin typeface="Santander Text"/>
                          <a:ea typeface="Calibri"/>
                          <a:cs typeface="+mn-cs"/>
                        </a:rPr>
                        <a:t>Head of Platform Governance &amp; SD</a:t>
                      </a:r>
                      <a:endParaRPr lang="en-US" sz="1200" kern="1200">
                        <a:solidFill>
                          <a:srgbClr val="000000"/>
                        </a:solidFill>
                        <a:effectLst/>
                        <a:latin typeface="Santander Text" panose="020B0504020201020104" pitchFamily="34" charset="0"/>
                        <a:ea typeface="Calibri" panose="020F0502020204030204" pitchFamily="34" charset="0"/>
                        <a:cs typeface="+mn-cs"/>
                      </a:endParaRP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491131067"/>
                  </a:ext>
                </a:extLst>
              </a:tr>
              <a:tr h="441273">
                <a:tc>
                  <a:txBody>
                    <a:bodyPr/>
                    <a:lstStyle/>
                    <a:p>
                      <a:pPr marL="0" algn="ctr" defTabSz="914400" rtl="0" eaLnBrk="1" latinLnBrk="0" hangingPunct="1">
                        <a:spcAft>
                          <a:spcPts val="0"/>
                        </a:spcAft>
                      </a:pPr>
                      <a:r>
                        <a:rPr lang="en-US" sz="1200" kern="1200">
                          <a:solidFill>
                            <a:srgbClr val="000000"/>
                          </a:solidFill>
                          <a:effectLst/>
                          <a:latin typeface="Santander Text"/>
                          <a:ea typeface="Calibri"/>
                          <a:cs typeface="+mn-cs"/>
                        </a:rPr>
                        <a:t>V2.1</a:t>
                      </a: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a:solidFill>
                            <a:srgbClr val="000000"/>
                          </a:solidFill>
                          <a:effectLst/>
                          <a:latin typeface="Santander Text"/>
                          <a:ea typeface="Calibri"/>
                          <a:cs typeface="+mn-cs"/>
                        </a:rPr>
                        <a:t>30/06/2025</a:t>
                      </a: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1">
                        <a:lumMod val="95000"/>
                      </a:schemeClr>
                    </a:solidFill>
                  </a:tcPr>
                </a:tc>
                <a:tc>
                  <a:txBody>
                    <a:bodyPr/>
                    <a:lstStyle/>
                    <a:p>
                      <a:pPr algn="l">
                        <a:spcAft>
                          <a:spcPts val="0"/>
                        </a:spcAft>
                      </a:pPr>
                      <a:r>
                        <a:rPr lang="en-US" sz="1200">
                          <a:solidFill>
                            <a:srgbClr val="000000"/>
                          </a:solidFill>
                          <a:effectLst/>
                          <a:latin typeface="+mn-lt"/>
                          <a:ea typeface="Calibri"/>
                        </a:rPr>
                        <a:t>Global CTO Platform  </a:t>
                      </a:r>
                    </a:p>
                    <a:p>
                      <a:pPr algn="l">
                        <a:spcAft>
                          <a:spcPts val="0"/>
                        </a:spcAft>
                      </a:pPr>
                      <a:r>
                        <a:rPr lang="en-US" sz="1200">
                          <a:solidFill>
                            <a:srgbClr val="000000"/>
                          </a:solidFill>
                          <a:effectLst/>
                          <a:latin typeface="+mn-lt"/>
                          <a:ea typeface="Calibri"/>
                        </a:rPr>
                        <a:t>Governance</a:t>
                      </a:r>
                      <a:endParaRPr lang="en-US" sz="1100">
                        <a:effectLst/>
                        <a:latin typeface="+mn-lt"/>
                        <a:ea typeface="Calibri"/>
                      </a:endParaRPr>
                    </a:p>
                    <a:p>
                      <a:pPr marL="0" algn="l" rtl="0" eaLnBrk="1" latinLnBrk="0" hangingPunct="1">
                        <a:spcAft>
                          <a:spcPts val="0"/>
                        </a:spcAft>
                      </a:pPr>
                      <a:endParaRPr lang="en-US" sz="1200" kern="1200">
                        <a:solidFill>
                          <a:srgbClr val="000000"/>
                        </a:solidFill>
                        <a:effectLst/>
                        <a:latin typeface="Santander Text"/>
                        <a:ea typeface="Calibri"/>
                        <a:cs typeface="+mn-cs"/>
                      </a:endParaRP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a:solidFill>
                            <a:srgbClr val="000000"/>
                          </a:solidFill>
                          <a:effectLst/>
                          <a:latin typeface="Santander Text" panose="020B0504020201020104" pitchFamily="34" charset="0"/>
                          <a:ea typeface="Calibri" panose="020F0502020204030204" pitchFamily="34" charset="0"/>
                          <a:cs typeface="+mn-cs"/>
                        </a:rPr>
                        <a:t>Inclusion of Eco Workflow module into the SCIB map (</a:t>
                      </a:r>
                      <a:r>
                        <a:rPr lang="en-GB" sz="1200" b="0" kern="1200">
                          <a:solidFill>
                            <a:srgbClr val="000000"/>
                          </a:solidFill>
                          <a:effectLst/>
                          <a:latin typeface="Santander Text" panose="020B0504020201020104" pitchFamily="34" charset="0"/>
                          <a:ea typeface="Calibri" panose="020F0502020204030204" pitchFamily="34" charset="0"/>
                          <a:cs typeface="+mn-cs"/>
                        </a:rPr>
                        <a:t>Credit &amp; Counter Party Risk management Services aggregation) and new description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kern="1200">
                          <a:solidFill>
                            <a:srgbClr val="000000"/>
                          </a:solidFill>
                          <a:effectLst/>
                          <a:latin typeface="Santander Text" panose="020B0504020201020104" pitchFamily="34" charset="0"/>
                          <a:ea typeface="Calibri" panose="020F0502020204030204" pitchFamily="34" charset="0"/>
                          <a:cs typeface="+mn-cs"/>
                        </a:rPr>
                        <a:t>Breakdown of Enterprise Service Management module aggregation in </a:t>
                      </a:r>
                      <a:r>
                        <a:rPr lang="en-GB" sz="1200" b="0" kern="1200" err="1">
                          <a:solidFill>
                            <a:srgbClr val="000000"/>
                          </a:solidFill>
                          <a:effectLst/>
                          <a:latin typeface="Santander Text" panose="020B0504020201020104" pitchFamily="34" charset="0"/>
                          <a:ea typeface="Calibri" panose="020F0502020204030204" pitchFamily="34" charset="0"/>
                          <a:cs typeface="+mn-cs"/>
                        </a:rPr>
                        <a:t>pag</a:t>
                      </a:r>
                      <a:r>
                        <a:rPr lang="en-GB" sz="1200" b="0" kern="1200">
                          <a:solidFill>
                            <a:srgbClr val="000000"/>
                          </a:solidFill>
                          <a:effectLst/>
                          <a:latin typeface="Santander Text" panose="020B0504020201020104" pitchFamily="34" charset="0"/>
                          <a:ea typeface="Calibri" panose="020F0502020204030204" pitchFamily="34" charset="0"/>
                          <a:cs typeface="+mn-cs"/>
                        </a:rPr>
                        <a:t> 29 (Global Tech Hub &amp; Infra Hub)</a:t>
                      </a:r>
                      <a:endParaRPr lang="en-US" sz="1200" b="0" kern="1200">
                        <a:solidFill>
                          <a:srgbClr val="000000"/>
                        </a:solidFill>
                        <a:effectLst/>
                        <a:latin typeface="Santander Text" panose="020B0504020201020104" pitchFamily="34" charset="0"/>
                        <a:ea typeface="Calibri" panose="020F0502020204030204" pitchFamily="34" charset="0"/>
                        <a:cs typeface="+mn-cs"/>
                      </a:endParaRP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rgbClr val="000000"/>
                          </a:solidFill>
                          <a:effectLst/>
                          <a:latin typeface="+mn-lt"/>
                          <a:ea typeface="Calibri"/>
                          <a:cs typeface="+mn-cs"/>
                        </a:rPr>
                        <a:t>Head of Platform Governance &amp; SD</a:t>
                      </a:r>
                      <a:endParaRPr lang="en-US" sz="1200" kern="1200">
                        <a:solidFill>
                          <a:srgbClr val="000000"/>
                        </a:solidFill>
                        <a:effectLst/>
                        <a:latin typeface="Santander Text" panose="020B0504020201020104" pitchFamily="34" charset="0"/>
                        <a:ea typeface="Calibri" panose="020F0502020204030204" pitchFamily="34" charset="0"/>
                        <a:cs typeface="+mn-cs"/>
                      </a:endParaRPr>
                    </a:p>
                    <a:p>
                      <a:pPr marL="0" marR="0" lvl="0" indent="0" algn="l" rtl="0" eaLnBrk="1" fontAlgn="auto" latinLnBrk="0" hangingPunct="1">
                        <a:lnSpc>
                          <a:spcPct val="100000"/>
                        </a:lnSpc>
                        <a:spcBef>
                          <a:spcPts val="0"/>
                        </a:spcBef>
                        <a:spcAft>
                          <a:spcPts val="0"/>
                        </a:spcAft>
                        <a:buClrTx/>
                        <a:buSzTx/>
                        <a:buFontTx/>
                        <a:buNone/>
                      </a:pPr>
                      <a:endParaRPr lang="en-US" sz="1200" kern="1200">
                        <a:solidFill>
                          <a:srgbClr val="000000"/>
                        </a:solidFill>
                        <a:effectLst/>
                        <a:latin typeface="Santander Text" panose="020B0504020201020104" pitchFamily="34" charset="0"/>
                        <a:ea typeface="Calibri" panose="020F0502020204030204" pitchFamily="34" charset="0"/>
                        <a:cs typeface="+mn-cs"/>
                      </a:endParaRP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321405015"/>
                  </a:ext>
                </a:extLst>
              </a:tr>
              <a:tr h="441273">
                <a:tc>
                  <a:txBody>
                    <a:bodyPr/>
                    <a:lstStyle/>
                    <a:p>
                      <a:pPr marL="0" algn="ctr" defTabSz="914400" rtl="0" eaLnBrk="1" latinLnBrk="0" hangingPunct="1">
                        <a:spcAft>
                          <a:spcPts val="0"/>
                        </a:spcAft>
                      </a:pPr>
                      <a:r>
                        <a:rPr lang="en-US" sz="1200" kern="1200">
                          <a:solidFill>
                            <a:srgbClr val="000000"/>
                          </a:solidFill>
                          <a:effectLst/>
                          <a:latin typeface="Santander Text"/>
                          <a:ea typeface="Calibri"/>
                          <a:cs typeface="+mn-cs"/>
                        </a:rPr>
                        <a:t>V2.2</a:t>
                      </a: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a:solidFill>
                            <a:srgbClr val="000000"/>
                          </a:solidFill>
                          <a:effectLst/>
                          <a:latin typeface="Santander Text"/>
                          <a:ea typeface="Calibri"/>
                          <a:cs typeface="+mn-cs"/>
                        </a:rPr>
                        <a:t>30/09/2025</a:t>
                      </a: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1">
                        <a:lumMod val="95000"/>
                      </a:schemeClr>
                    </a:solidFill>
                  </a:tcPr>
                </a:tc>
                <a:tc>
                  <a:txBody>
                    <a:bodyPr/>
                    <a:lstStyle/>
                    <a:p>
                      <a:pPr algn="l">
                        <a:spcAft>
                          <a:spcPts val="0"/>
                        </a:spcAft>
                      </a:pPr>
                      <a:r>
                        <a:rPr lang="en-US" sz="1200">
                          <a:solidFill>
                            <a:srgbClr val="000000"/>
                          </a:solidFill>
                          <a:effectLst/>
                          <a:latin typeface="+mn-lt"/>
                          <a:ea typeface="Calibri"/>
                        </a:rPr>
                        <a:t>Global CTO Platform  </a:t>
                      </a:r>
                    </a:p>
                    <a:p>
                      <a:pPr algn="l">
                        <a:spcAft>
                          <a:spcPts val="0"/>
                        </a:spcAft>
                      </a:pPr>
                      <a:r>
                        <a:rPr lang="en-US" sz="1200">
                          <a:solidFill>
                            <a:srgbClr val="000000"/>
                          </a:solidFill>
                          <a:effectLst/>
                          <a:latin typeface="+mn-lt"/>
                          <a:ea typeface="Calibri"/>
                        </a:rPr>
                        <a:t>Governance</a:t>
                      </a:r>
                      <a:endParaRPr lang="en-US" sz="1100">
                        <a:effectLst/>
                        <a:latin typeface="+mn-lt"/>
                        <a:ea typeface="Calibri"/>
                      </a:endParaRP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rgbClr val="000000"/>
                          </a:solidFill>
                          <a:effectLst/>
                          <a:latin typeface="Santander Text" panose="020B0504020201020104" pitchFamily="34" charset="0"/>
                          <a:ea typeface="Calibri" panose="020F0502020204030204" pitchFamily="34" charset="0"/>
                          <a:cs typeface="+mn-cs"/>
                        </a:rPr>
                        <a:t>-DCB Zinia related component modules included in DCB. Domain view for Zinia included as well as module explanations in annexes (DCB)</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rgbClr val="000000"/>
                          </a:solidFill>
                          <a:effectLst/>
                          <a:latin typeface="Santander Text" panose="020B0504020201020104" pitchFamily="34" charset="0"/>
                          <a:ea typeface="Calibri" panose="020F0502020204030204" pitchFamily="34" charset="0"/>
                          <a:cs typeface="+mn-cs"/>
                        </a:rPr>
                        <a:t>-GBO is replaced by BOX in SCIB (Domains and components)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rgbClr val="000000"/>
                          </a:solidFill>
                          <a:effectLst/>
                          <a:latin typeface="Santander Text"/>
                          <a:ea typeface="Calibri"/>
                          <a:cs typeface="+mn-cs"/>
                        </a:rPr>
                        <a:t>-Payments component breakdown has been updated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rgbClr val="000000"/>
                          </a:solidFill>
                          <a:effectLst/>
                          <a:latin typeface="Santander Text"/>
                          <a:ea typeface="Calibri"/>
                          <a:cs typeface="+mn-cs"/>
                        </a:rPr>
                        <a:t>-Domain map updated</a:t>
                      </a: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rgbClr val="000000"/>
                          </a:solidFill>
                          <a:effectLst/>
                          <a:latin typeface="+mn-lt"/>
                          <a:ea typeface="Calibri"/>
                          <a:cs typeface="+mn-cs"/>
                        </a:rPr>
                        <a:t>Head of Platform Governance &amp; SD</a:t>
                      </a:r>
                      <a:endParaRPr lang="en-US" sz="1200" kern="1200" dirty="0">
                        <a:solidFill>
                          <a:srgbClr val="000000"/>
                        </a:solidFill>
                        <a:effectLst/>
                        <a:latin typeface="Santander Text" panose="020B0504020201020104" pitchFamily="34" charset="0"/>
                        <a:ea typeface="Calibri" panose="020F0502020204030204" pitchFamily="34" charset="0"/>
                        <a:cs typeface="+mn-cs"/>
                      </a:endParaRPr>
                    </a:p>
                    <a:p>
                      <a:pPr marL="0" marR="0" lvl="0" indent="0" algn="l" rtl="0" eaLnBrk="1" fontAlgn="auto" latinLnBrk="0" hangingPunct="1">
                        <a:lnSpc>
                          <a:spcPct val="100000"/>
                        </a:lnSpc>
                        <a:spcBef>
                          <a:spcPts val="0"/>
                        </a:spcBef>
                        <a:spcAft>
                          <a:spcPts val="0"/>
                        </a:spcAft>
                        <a:buClrTx/>
                        <a:buSzTx/>
                        <a:buFontTx/>
                        <a:buNone/>
                      </a:pPr>
                      <a:endParaRPr lang="en-US" sz="1200" kern="1200" dirty="0">
                        <a:solidFill>
                          <a:srgbClr val="000000"/>
                        </a:solidFill>
                        <a:effectLst/>
                        <a:latin typeface="Santander Text" panose="020B0504020201020104" pitchFamily="34" charset="0"/>
                        <a:ea typeface="Calibri" panose="020F0502020204030204" pitchFamily="34" charset="0"/>
                        <a:cs typeface="+mn-cs"/>
                      </a:endParaRPr>
                    </a:p>
                  </a:txBody>
                  <a:tcPr marL="90782" marR="90782" marT="45391" marB="453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30216990"/>
                  </a:ext>
                </a:extLst>
              </a:tr>
            </a:tbl>
          </a:graphicData>
        </a:graphic>
      </p:graphicFrame>
    </p:spTree>
    <p:extLst>
      <p:ext uri="{BB962C8B-B14F-4D97-AF65-F5344CB8AC3E}">
        <p14:creationId xmlns:p14="http://schemas.microsoft.com/office/powerpoint/2010/main" val="1914224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E6601-07D0-4E95-1613-29364198B5E8}"/>
            </a:ext>
          </a:extLst>
        </p:cNvPr>
        <p:cNvGrpSpPr/>
        <p:nvPr/>
      </p:nvGrpSpPr>
      <p:grpSpPr>
        <a:xfrm>
          <a:off x="0" y="0"/>
          <a:ext cx="0" cy="0"/>
          <a:chOff x="0" y="0"/>
          <a:chExt cx="0" cy="0"/>
        </a:xfrm>
      </p:grpSpPr>
      <p:pic>
        <p:nvPicPr>
          <p:cNvPr id="3" name="Imagen 2" descr="Escala de tiempo&#10;&#10;El contenido generado por inteligencia artificial puede ser incorrecto.">
            <a:extLst>
              <a:ext uri="{FF2B5EF4-FFF2-40B4-BE49-F238E27FC236}">
                <a16:creationId xmlns:a16="http://schemas.microsoft.com/office/drawing/2014/main" id="{C4BE9A70-BDBF-E869-019C-9AFD8F469D34}"/>
              </a:ext>
            </a:extLst>
          </p:cNvPr>
          <p:cNvPicPr>
            <a:picLocks noChangeAspect="1"/>
          </p:cNvPicPr>
          <p:nvPr/>
        </p:nvPicPr>
        <p:blipFill>
          <a:blip r:embed="rId3"/>
          <a:stretch>
            <a:fillRect/>
          </a:stretch>
        </p:blipFill>
        <p:spPr>
          <a:xfrm>
            <a:off x="2969334" y="2823785"/>
            <a:ext cx="3078144" cy="1869058"/>
          </a:xfrm>
          <a:prstGeom prst="rect">
            <a:avLst/>
          </a:prstGeom>
        </p:spPr>
      </p:pic>
      <p:sp>
        <p:nvSpPr>
          <p:cNvPr id="2" name="TextBox 73">
            <a:extLst>
              <a:ext uri="{FF2B5EF4-FFF2-40B4-BE49-F238E27FC236}">
                <a16:creationId xmlns:a16="http://schemas.microsoft.com/office/drawing/2014/main" id="{2D4A10CF-673C-C4D8-FD46-287D0CD0000C}"/>
              </a:ext>
            </a:extLst>
          </p:cNvPr>
          <p:cNvSpPr txBox="1"/>
          <p:nvPr/>
        </p:nvSpPr>
        <p:spPr>
          <a:xfrm>
            <a:off x="2775690" y="1448703"/>
            <a:ext cx="8976044" cy="4567899"/>
          </a:xfrm>
          <a:prstGeom prst="rect">
            <a:avLst/>
          </a:prstGeom>
          <a:solidFill>
            <a:schemeClr val="bg1"/>
          </a:solidFill>
          <a:ln>
            <a:solidFill>
              <a:schemeClr val="bg1">
                <a:lumMod val="95000"/>
              </a:schemeClr>
            </a:solidFill>
          </a:ln>
        </p:spPr>
        <p:txBody>
          <a:bodyPr wrap="square" lIns="91420" tIns="45711" rIns="91420" bIns="45711" rtlCol="0">
            <a:spAutoFit/>
          </a:bodyPr>
          <a:lstStyle/>
          <a:p>
            <a:pPr marL="285750" indent="-285750" defTabSz="912947">
              <a:lnSpc>
                <a:spcPts val="2500"/>
              </a:lnSpc>
              <a:spcBef>
                <a:spcPts val="600"/>
              </a:spcBef>
              <a:buClr>
                <a:srgbClr val="EC0000"/>
              </a:buClr>
              <a:buFont typeface="Wingdings" panose="05000000000000000000" pitchFamily="2" charset="2"/>
              <a:buChar char="§"/>
              <a:defRPr/>
            </a:pPr>
            <a:r>
              <a:rPr lang="en-US" b="1"/>
              <a:t>Framework</a:t>
            </a:r>
            <a:r>
              <a:rPr lang="en-US"/>
              <a:t>: covers all the components of the One Santander Platform (OSP)* and describes at high level the modules of each platform component</a:t>
            </a:r>
            <a:endParaRPr lang="en-US" b="1"/>
          </a:p>
          <a:p>
            <a:pPr marL="285750" indent="-285750" defTabSz="912947">
              <a:lnSpc>
                <a:spcPts val="2500"/>
              </a:lnSpc>
              <a:spcBef>
                <a:spcPts val="600"/>
              </a:spcBef>
              <a:buClr>
                <a:srgbClr val="EC0000"/>
              </a:buClr>
              <a:buFont typeface="Wingdings" panose="05000000000000000000" pitchFamily="2" charset="2"/>
              <a:buChar char="§"/>
              <a:defRPr/>
            </a:pPr>
            <a:r>
              <a:rPr lang="en-US"/>
              <a:t>The </a:t>
            </a:r>
            <a:r>
              <a:rPr lang="en-US" b="1"/>
              <a:t>structure of the One Santander Platform </a:t>
            </a:r>
            <a:r>
              <a:rPr lang="en-US"/>
              <a:t>can be visualized in any of these two views:</a:t>
            </a:r>
          </a:p>
          <a:p>
            <a:pPr marL="271463" indent="-271463" defTabSz="912947">
              <a:lnSpc>
                <a:spcPts val="2500"/>
              </a:lnSpc>
              <a:spcBef>
                <a:spcPts val="600"/>
              </a:spcBef>
              <a:buClr>
                <a:srgbClr val="EC0000"/>
              </a:buClr>
              <a:buFont typeface="Arial" panose="020B0604020202020204" pitchFamily="34" charset="0"/>
              <a:buChar char="•"/>
              <a:defRPr/>
            </a:pPr>
            <a:endParaRPr lang="en-US"/>
          </a:p>
          <a:p>
            <a:pPr marL="342900" indent="-342900" defTabSz="912947">
              <a:lnSpc>
                <a:spcPts val="2500"/>
              </a:lnSpc>
              <a:spcBef>
                <a:spcPts val="600"/>
              </a:spcBef>
              <a:buClr>
                <a:srgbClr val="EC0000"/>
              </a:buClr>
              <a:buFont typeface="Arial" panose="020B0604020202020204" pitchFamily="34" charset="0"/>
              <a:buChar char="•"/>
              <a:defRPr/>
            </a:pPr>
            <a:endParaRPr lang="en-US"/>
          </a:p>
          <a:p>
            <a:pPr marL="342900" indent="-342900" defTabSz="912947">
              <a:lnSpc>
                <a:spcPts val="2500"/>
              </a:lnSpc>
              <a:spcBef>
                <a:spcPts val="600"/>
              </a:spcBef>
              <a:buClr>
                <a:srgbClr val="EC0000"/>
              </a:buClr>
              <a:buFont typeface="Arial" panose="020B0604020202020204" pitchFamily="34" charset="0"/>
              <a:buChar char="•"/>
              <a:defRPr/>
            </a:pPr>
            <a:endParaRPr lang="en-US"/>
          </a:p>
          <a:p>
            <a:pPr marL="342900" indent="-342900" defTabSz="912947">
              <a:lnSpc>
                <a:spcPts val="2500"/>
              </a:lnSpc>
              <a:spcBef>
                <a:spcPts val="600"/>
              </a:spcBef>
              <a:buClr>
                <a:srgbClr val="EC0000"/>
              </a:buClr>
              <a:buFont typeface="Arial" panose="020B0604020202020204" pitchFamily="34" charset="0"/>
              <a:buChar char="•"/>
              <a:defRPr/>
            </a:pPr>
            <a:endParaRPr lang="en-US"/>
          </a:p>
          <a:p>
            <a:pPr marL="342900" indent="-342900" defTabSz="912947">
              <a:lnSpc>
                <a:spcPts val="2500"/>
              </a:lnSpc>
              <a:spcBef>
                <a:spcPts val="600"/>
              </a:spcBef>
              <a:buClr>
                <a:srgbClr val="EC0000"/>
              </a:buClr>
              <a:buFont typeface="Arial" panose="020B0604020202020204" pitchFamily="34" charset="0"/>
              <a:buChar char="•"/>
              <a:defRPr/>
            </a:pPr>
            <a:endParaRPr lang="en-US"/>
          </a:p>
          <a:p>
            <a:pPr marL="342900" indent="-342900" defTabSz="912947">
              <a:lnSpc>
                <a:spcPts val="2500"/>
              </a:lnSpc>
              <a:spcBef>
                <a:spcPts val="600"/>
              </a:spcBef>
              <a:buClr>
                <a:srgbClr val="EC0000"/>
              </a:buClr>
              <a:buFont typeface="Arial" panose="020B0604020202020204" pitchFamily="34" charset="0"/>
              <a:buChar char="•"/>
              <a:defRPr/>
            </a:pPr>
            <a:endParaRPr lang="en-US"/>
          </a:p>
          <a:p>
            <a:pPr marL="342900" indent="-342900" defTabSz="912947">
              <a:lnSpc>
                <a:spcPts val="2500"/>
              </a:lnSpc>
              <a:spcBef>
                <a:spcPts val="600"/>
              </a:spcBef>
              <a:buClr>
                <a:srgbClr val="EC0000"/>
              </a:buClr>
              <a:buFont typeface="Arial" panose="020B0604020202020204" pitchFamily="34" charset="0"/>
              <a:buChar char="•"/>
              <a:defRPr/>
            </a:pPr>
            <a:endParaRPr lang="en-US"/>
          </a:p>
          <a:p>
            <a:pPr defTabSz="912947">
              <a:lnSpc>
                <a:spcPts val="2000"/>
              </a:lnSpc>
              <a:spcBef>
                <a:spcPts val="600"/>
              </a:spcBef>
              <a:buClr>
                <a:srgbClr val="EC0000"/>
              </a:buClr>
              <a:defRPr/>
            </a:pPr>
            <a:endParaRPr lang="en-US"/>
          </a:p>
        </p:txBody>
      </p:sp>
      <p:sp>
        <p:nvSpPr>
          <p:cNvPr id="16" name="Title 1">
            <a:extLst>
              <a:ext uri="{FF2B5EF4-FFF2-40B4-BE49-F238E27FC236}">
                <a16:creationId xmlns:a16="http://schemas.microsoft.com/office/drawing/2014/main" id="{E3ACAC52-9A27-2434-02AD-C7017654ABC0}"/>
              </a:ext>
            </a:extLst>
          </p:cNvPr>
          <p:cNvSpPr>
            <a:spLocks noGrp="1"/>
          </p:cNvSpPr>
          <p:nvPr>
            <p:ph type="title"/>
          </p:nvPr>
        </p:nvSpPr>
        <p:spPr>
          <a:xfrm>
            <a:off x="711024" y="641900"/>
            <a:ext cx="10758733" cy="446980"/>
          </a:xfrm>
        </p:spPr>
        <p:txBody>
          <a:bodyPr/>
          <a:lstStyle/>
          <a:p>
            <a:r>
              <a:rPr lang="en-AU"/>
              <a:t>One Santander Platform| </a:t>
            </a:r>
            <a:r>
              <a:rPr lang="en-US">
                <a:solidFill>
                  <a:schemeClr val="bg1">
                    <a:lumMod val="75000"/>
                  </a:schemeClr>
                </a:solidFill>
              </a:rPr>
              <a:t>Different views for the Framework</a:t>
            </a:r>
          </a:p>
        </p:txBody>
      </p:sp>
      <p:sp>
        <p:nvSpPr>
          <p:cNvPr id="17" name="Text Placeholder 2">
            <a:extLst>
              <a:ext uri="{FF2B5EF4-FFF2-40B4-BE49-F238E27FC236}">
                <a16:creationId xmlns:a16="http://schemas.microsoft.com/office/drawing/2014/main" id="{F824E1DF-10BD-092C-535F-0641F7DA558F}"/>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grpSp>
        <p:nvGrpSpPr>
          <p:cNvPr id="6" name="Grupo 5">
            <a:extLst>
              <a:ext uri="{FF2B5EF4-FFF2-40B4-BE49-F238E27FC236}">
                <a16:creationId xmlns:a16="http://schemas.microsoft.com/office/drawing/2014/main" id="{CA36B958-E9A3-F1B2-9673-9A7DF0753EE8}"/>
              </a:ext>
            </a:extLst>
          </p:cNvPr>
          <p:cNvGrpSpPr/>
          <p:nvPr/>
        </p:nvGrpSpPr>
        <p:grpSpPr>
          <a:xfrm>
            <a:off x="495333" y="3025752"/>
            <a:ext cx="1562577" cy="1286235"/>
            <a:chOff x="1101768" y="1633511"/>
            <a:chExt cx="1563819" cy="836993"/>
          </a:xfrm>
          <a:solidFill>
            <a:srgbClr val="DEEDF1"/>
          </a:solidFill>
        </p:grpSpPr>
        <p:sp>
          <p:nvSpPr>
            <p:cNvPr id="7" name="CuadroTexto 6">
              <a:extLst>
                <a:ext uri="{FF2B5EF4-FFF2-40B4-BE49-F238E27FC236}">
                  <a16:creationId xmlns:a16="http://schemas.microsoft.com/office/drawing/2014/main" id="{6BBF6EC8-0D16-90AA-F898-7CBCB1E54FB8}"/>
                </a:ext>
              </a:extLst>
            </p:cNvPr>
            <p:cNvSpPr txBox="1"/>
            <p:nvPr/>
          </p:nvSpPr>
          <p:spPr>
            <a:xfrm>
              <a:off x="1101768" y="1633511"/>
              <a:ext cx="1563819" cy="836993"/>
            </a:xfrm>
            <a:prstGeom prst="rect">
              <a:avLst/>
            </a:prstGeom>
            <a:grpFill/>
            <a:ln w="12700">
              <a:solidFill>
                <a:schemeClr val="bg1">
                  <a:lumMod val="85000"/>
                </a:schemeClr>
              </a:solidFill>
            </a:ln>
          </p:spPr>
          <p:txBody>
            <a:bodyPr wrap="square" rtlCol="0">
              <a:spAutoFit/>
            </a:bodyPr>
            <a:lstStyle/>
            <a:p>
              <a:endParaRPr lang="es-ES"/>
            </a:p>
          </p:txBody>
        </p:sp>
        <p:sp>
          <p:nvSpPr>
            <p:cNvPr id="8" name="CuadroTexto 7">
              <a:extLst>
                <a:ext uri="{FF2B5EF4-FFF2-40B4-BE49-F238E27FC236}">
                  <a16:creationId xmlns:a16="http://schemas.microsoft.com/office/drawing/2014/main" id="{820493B4-C101-6086-E71C-B2A5B52FDCFD}"/>
                </a:ext>
              </a:extLst>
            </p:cNvPr>
            <p:cNvSpPr txBox="1"/>
            <p:nvPr/>
          </p:nvSpPr>
          <p:spPr>
            <a:xfrm>
              <a:off x="1165725" y="1797117"/>
              <a:ext cx="1361932" cy="420588"/>
            </a:xfrm>
            <a:prstGeom prst="rect">
              <a:avLst/>
            </a:prstGeom>
            <a:grpFill/>
          </p:spPr>
          <p:txBody>
            <a:bodyPr wrap="square" rtlCol="0">
              <a:spAutoFit/>
            </a:bodyPr>
            <a:lstStyle/>
            <a:p>
              <a:pPr marL="182563" indent="-182563"/>
              <a:r>
                <a:rPr lang="en-AU" b="1">
                  <a:solidFill>
                    <a:schemeClr val="tx1">
                      <a:lumMod val="75000"/>
                      <a:lumOff val="25000"/>
                    </a:schemeClr>
                  </a:solidFill>
                </a:rPr>
                <a:t>Blueprint</a:t>
              </a:r>
            </a:p>
            <a:p>
              <a:pPr marL="182563" indent="-182563"/>
              <a:r>
                <a:rPr lang="en-AU" b="1">
                  <a:solidFill>
                    <a:schemeClr val="tx1">
                      <a:lumMod val="75000"/>
                      <a:lumOff val="25000"/>
                    </a:schemeClr>
                  </a:solidFill>
                </a:rPr>
                <a:t>Framework</a:t>
              </a:r>
            </a:p>
          </p:txBody>
        </p:sp>
      </p:grpSp>
      <p:sp>
        <p:nvSpPr>
          <p:cNvPr id="10" name="Flecha: cheurón 9">
            <a:extLst>
              <a:ext uri="{FF2B5EF4-FFF2-40B4-BE49-F238E27FC236}">
                <a16:creationId xmlns:a16="http://schemas.microsoft.com/office/drawing/2014/main" id="{74251EF1-AFC3-BA00-5023-468C0A161788}"/>
              </a:ext>
            </a:extLst>
          </p:cNvPr>
          <p:cNvSpPr/>
          <p:nvPr/>
        </p:nvSpPr>
        <p:spPr>
          <a:xfrm>
            <a:off x="2321672" y="3242635"/>
            <a:ext cx="304800" cy="836992"/>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108" name="CuadroTexto 107">
            <a:extLst>
              <a:ext uri="{FF2B5EF4-FFF2-40B4-BE49-F238E27FC236}">
                <a16:creationId xmlns:a16="http://schemas.microsoft.com/office/drawing/2014/main" id="{441CF694-97D6-D00E-6F95-497D1413FF37}"/>
              </a:ext>
            </a:extLst>
          </p:cNvPr>
          <p:cNvSpPr txBox="1"/>
          <p:nvPr/>
        </p:nvSpPr>
        <p:spPr>
          <a:xfrm>
            <a:off x="3314473" y="2999686"/>
            <a:ext cx="3270151" cy="369332"/>
          </a:xfrm>
          <a:prstGeom prst="rect">
            <a:avLst/>
          </a:prstGeom>
          <a:noFill/>
        </p:spPr>
        <p:txBody>
          <a:bodyPr wrap="square">
            <a:spAutoFit/>
          </a:bodyPr>
          <a:lstStyle/>
          <a:p>
            <a:pPr algn="ctr"/>
            <a:r>
              <a:rPr lang="en-US" b="1" u="sng" kern="600"/>
              <a:t>View by Platform Component </a:t>
            </a:r>
            <a:endParaRPr lang="en-US" b="1" u="sng"/>
          </a:p>
        </p:txBody>
      </p:sp>
      <p:pic>
        <p:nvPicPr>
          <p:cNvPr id="9" name="Imagen 8">
            <a:extLst>
              <a:ext uri="{FF2B5EF4-FFF2-40B4-BE49-F238E27FC236}">
                <a16:creationId xmlns:a16="http://schemas.microsoft.com/office/drawing/2014/main" id="{73B65367-0403-29A8-3957-9BFCA109E21F}"/>
              </a:ext>
            </a:extLst>
          </p:cNvPr>
          <p:cNvPicPr>
            <a:picLocks noChangeAspect="1"/>
          </p:cNvPicPr>
          <p:nvPr/>
        </p:nvPicPr>
        <p:blipFill>
          <a:blip r:embed="rId4"/>
          <a:stretch>
            <a:fillRect/>
          </a:stretch>
        </p:blipFill>
        <p:spPr>
          <a:xfrm>
            <a:off x="3039498" y="3509594"/>
            <a:ext cx="3807799" cy="2286358"/>
          </a:xfrm>
          <a:prstGeom prst="rect">
            <a:avLst/>
          </a:prstGeom>
        </p:spPr>
      </p:pic>
      <p:sp>
        <p:nvSpPr>
          <p:cNvPr id="18" name="CuadroTexto 17">
            <a:extLst>
              <a:ext uri="{FF2B5EF4-FFF2-40B4-BE49-F238E27FC236}">
                <a16:creationId xmlns:a16="http://schemas.microsoft.com/office/drawing/2014/main" id="{B47D2E8A-3F51-0D3F-EBB4-8323E9E4B83B}"/>
              </a:ext>
            </a:extLst>
          </p:cNvPr>
          <p:cNvSpPr txBox="1"/>
          <p:nvPr/>
        </p:nvSpPr>
        <p:spPr>
          <a:xfrm>
            <a:off x="7370633" y="3004138"/>
            <a:ext cx="3704066" cy="369332"/>
          </a:xfrm>
          <a:prstGeom prst="rect">
            <a:avLst/>
          </a:prstGeom>
          <a:noFill/>
        </p:spPr>
        <p:txBody>
          <a:bodyPr wrap="square">
            <a:spAutoFit/>
          </a:bodyPr>
          <a:lstStyle/>
          <a:p>
            <a:pPr algn="ctr"/>
            <a:r>
              <a:rPr lang="en-US" b="1" u="sng" kern="600" dirty="0"/>
              <a:t>View by Domain</a:t>
            </a:r>
            <a:endParaRPr lang="en-US" b="1" u="sng" dirty="0"/>
          </a:p>
        </p:txBody>
      </p:sp>
      <p:sp>
        <p:nvSpPr>
          <p:cNvPr id="5" name="CuadroTexto 4">
            <a:extLst>
              <a:ext uri="{FF2B5EF4-FFF2-40B4-BE49-F238E27FC236}">
                <a16:creationId xmlns:a16="http://schemas.microsoft.com/office/drawing/2014/main" id="{DB9B5763-6E16-A559-67EB-C016F3C875E4}"/>
              </a:ext>
            </a:extLst>
          </p:cNvPr>
          <p:cNvSpPr txBox="1"/>
          <p:nvPr/>
        </p:nvSpPr>
        <p:spPr>
          <a:xfrm>
            <a:off x="2775690" y="6367011"/>
            <a:ext cx="6629400" cy="307777"/>
          </a:xfrm>
          <a:prstGeom prst="rect">
            <a:avLst/>
          </a:prstGeom>
          <a:noFill/>
        </p:spPr>
        <p:txBody>
          <a:bodyPr wrap="square">
            <a:spAutoFit/>
          </a:bodyPr>
          <a:lstStyle/>
          <a:p>
            <a:r>
              <a:rPr lang="es-ES" sz="1400"/>
              <a:t>*</a:t>
            </a:r>
            <a:r>
              <a:rPr lang="es-ES" sz="1400">
                <a:hlinkClick r:id="rId5"/>
              </a:rPr>
              <a:t>https://santandernet.sharepoint.com/sites/SantanderPlatforms</a:t>
            </a:r>
            <a:endParaRPr lang="es-ES" sz="1400"/>
          </a:p>
        </p:txBody>
      </p:sp>
      <p:pic>
        <p:nvPicPr>
          <p:cNvPr id="1026" name="Picture 2">
            <a:extLst>
              <a:ext uri="{FF2B5EF4-FFF2-40B4-BE49-F238E27FC236}">
                <a16:creationId xmlns:a16="http://schemas.microsoft.com/office/drawing/2014/main" id="{E4E15DAB-F9C9-B70B-47FD-73A741909DE8}"/>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5397" t="10486" r="22969" b="14941"/>
          <a:stretch>
            <a:fillRect/>
          </a:stretch>
        </p:blipFill>
        <p:spPr bwMode="auto">
          <a:xfrm>
            <a:off x="7300117" y="3429000"/>
            <a:ext cx="3704770" cy="2053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04811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Imagen 13">
            <a:extLst>
              <a:ext uri="{FF2B5EF4-FFF2-40B4-BE49-F238E27FC236}">
                <a16:creationId xmlns:a16="http://schemas.microsoft.com/office/drawing/2014/main" id="{D8192C61-727D-FB04-A936-193BE699AF89}"/>
              </a:ext>
            </a:extLst>
          </p:cNvPr>
          <p:cNvPicPr>
            <a:picLocks noChangeAspect="1"/>
          </p:cNvPicPr>
          <p:nvPr/>
        </p:nvPicPr>
        <p:blipFill>
          <a:blip r:embed="rId3"/>
          <a:srcRect l="2605" t="3012" b="-1"/>
          <a:stretch/>
        </p:blipFill>
        <p:spPr>
          <a:xfrm>
            <a:off x="6482069" y="3623615"/>
            <a:ext cx="5416069" cy="2517357"/>
          </a:xfrm>
          <a:prstGeom prst="rect">
            <a:avLst/>
          </a:prstGeom>
        </p:spPr>
      </p:pic>
      <p:pic>
        <p:nvPicPr>
          <p:cNvPr id="3" name="Imagen 2" descr="Escala de tiempo&#10;&#10;El contenido generado por inteligencia artificial puede ser incorrecto.">
            <a:extLst>
              <a:ext uri="{FF2B5EF4-FFF2-40B4-BE49-F238E27FC236}">
                <a16:creationId xmlns:a16="http://schemas.microsoft.com/office/drawing/2014/main" id="{CE1566A7-C3D2-A223-08C3-D00356C8EB3D}"/>
              </a:ext>
            </a:extLst>
          </p:cNvPr>
          <p:cNvPicPr>
            <a:picLocks noChangeAspect="1"/>
          </p:cNvPicPr>
          <p:nvPr/>
        </p:nvPicPr>
        <p:blipFill>
          <a:blip r:embed="rId4"/>
          <a:stretch>
            <a:fillRect/>
          </a:stretch>
        </p:blipFill>
        <p:spPr>
          <a:xfrm>
            <a:off x="1134781" y="3894364"/>
            <a:ext cx="3823657" cy="2321736"/>
          </a:xfrm>
          <a:prstGeom prst="rect">
            <a:avLst/>
          </a:prstGeom>
        </p:spPr>
      </p:pic>
      <p:sp>
        <p:nvSpPr>
          <p:cNvPr id="16" name="Title 1">
            <a:extLst>
              <a:ext uri="{FF2B5EF4-FFF2-40B4-BE49-F238E27FC236}">
                <a16:creationId xmlns:a16="http://schemas.microsoft.com/office/drawing/2014/main" id="{1BCD5989-E3E2-83B5-0228-0EC69A434188}"/>
              </a:ext>
            </a:extLst>
          </p:cNvPr>
          <p:cNvSpPr>
            <a:spLocks noGrp="1"/>
          </p:cNvSpPr>
          <p:nvPr>
            <p:ph type="title"/>
          </p:nvPr>
        </p:nvSpPr>
        <p:spPr>
          <a:xfrm>
            <a:off x="711024" y="641900"/>
            <a:ext cx="10758733" cy="446980"/>
          </a:xfrm>
        </p:spPr>
        <p:txBody>
          <a:bodyPr/>
          <a:lstStyle/>
          <a:p>
            <a:r>
              <a:rPr lang="en-AU"/>
              <a:t>One Santander Platform| </a:t>
            </a:r>
            <a:r>
              <a:rPr lang="en-US">
                <a:solidFill>
                  <a:schemeClr val="bg1">
                    <a:lumMod val="75000"/>
                  </a:schemeClr>
                </a:solidFill>
              </a:rPr>
              <a:t>Framework view by Platform Component</a:t>
            </a:r>
          </a:p>
        </p:txBody>
      </p:sp>
      <p:sp>
        <p:nvSpPr>
          <p:cNvPr id="17" name="Text Placeholder 2">
            <a:extLst>
              <a:ext uri="{FF2B5EF4-FFF2-40B4-BE49-F238E27FC236}">
                <a16:creationId xmlns:a16="http://schemas.microsoft.com/office/drawing/2014/main" id="{C5F67029-F219-FC96-7D6C-5F6C446E76B2}"/>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23" name="CuadroTexto 22">
            <a:extLst>
              <a:ext uri="{FF2B5EF4-FFF2-40B4-BE49-F238E27FC236}">
                <a16:creationId xmlns:a16="http://schemas.microsoft.com/office/drawing/2014/main" id="{91FB552B-D565-6E9B-2175-FBFF703E338F}"/>
              </a:ext>
            </a:extLst>
          </p:cNvPr>
          <p:cNvSpPr txBox="1"/>
          <p:nvPr/>
        </p:nvSpPr>
        <p:spPr>
          <a:xfrm>
            <a:off x="6338119" y="2792688"/>
            <a:ext cx="2402775" cy="461665"/>
          </a:xfrm>
          <a:prstGeom prst="rect">
            <a:avLst/>
          </a:prstGeom>
          <a:noFill/>
        </p:spPr>
        <p:txBody>
          <a:bodyPr wrap="square">
            <a:spAutoFit/>
          </a:bodyPr>
          <a:lstStyle/>
          <a:p>
            <a:pPr algn="ctr"/>
            <a:r>
              <a:rPr lang="en-US" sz="1200" b="1" kern="600"/>
              <a:t>Module aggregation per </a:t>
            </a:r>
          </a:p>
          <a:p>
            <a:pPr algn="ctr"/>
            <a:r>
              <a:rPr lang="en-US" sz="1200" b="1" kern="600"/>
              <a:t>Platform Component</a:t>
            </a:r>
            <a:r>
              <a:rPr lang="en-US" sz="1200" b="1"/>
              <a:t> </a:t>
            </a:r>
          </a:p>
        </p:txBody>
      </p:sp>
      <p:sp>
        <p:nvSpPr>
          <p:cNvPr id="72" name="CuadroTexto 71">
            <a:extLst>
              <a:ext uri="{FF2B5EF4-FFF2-40B4-BE49-F238E27FC236}">
                <a16:creationId xmlns:a16="http://schemas.microsoft.com/office/drawing/2014/main" id="{3C1D73E6-6993-09DB-6A56-CA935CFCDC01}"/>
              </a:ext>
            </a:extLst>
          </p:cNvPr>
          <p:cNvSpPr txBox="1"/>
          <p:nvPr/>
        </p:nvSpPr>
        <p:spPr>
          <a:xfrm>
            <a:off x="9000746" y="2789611"/>
            <a:ext cx="1883071" cy="461665"/>
          </a:xfrm>
          <a:prstGeom prst="rect">
            <a:avLst/>
          </a:prstGeom>
          <a:noFill/>
        </p:spPr>
        <p:txBody>
          <a:bodyPr wrap="square">
            <a:spAutoFit/>
          </a:bodyPr>
          <a:lstStyle/>
          <a:p>
            <a:pPr algn="ctr"/>
            <a:r>
              <a:rPr lang="en-US" sz="1200" b="1" kern="600"/>
              <a:t>Modules per module aggregation</a:t>
            </a:r>
            <a:endParaRPr lang="en-US" sz="1200" b="1"/>
          </a:p>
        </p:txBody>
      </p:sp>
      <p:sp>
        <p:nvSpPr>
          <p:cNvPr id="108" name="CuadroTexto 107">
            <a:extLst>
              <a:ext uri="{FF2B5EF4-FFF2-40B4-BE49-F238E27FC236}">
                <a16:creationId xmlns:a16="http://schemas.microsoft.com/office/drawing/2014/main" id="{05049FA4-14B9-2BC4-E4AD-F4A375A3A725}"/>
              </a:ext>
            </a:extLst>
          </p:cNvPr>
          <p:cNvSpPr txBox="1"/>
          <p:nvPr/>
        </p:nvSpPr>
        <p:spPr>
          <a:xfrm>
            <a:off x="2733035" y="3039682"/>
            <a:ext cx="2501023" cy="461665"/>
          </a:xfrm>
          <a:prstGeom prst="rect">
            <a:avLst/>
          </a:prstGeom>
          <a:noFill/>
        </p:spPr>
        <p:txBody>
          <a:bodyPr wrap="square">
            <a:spAutoFit/>
          </a:bodyPr>
          <a:lstStyle/>
          <a:p>
            <a:pPr algn="ctr"/>
            <a:r>
              <a:rPr lang="en-US" sz="1200" b="1" u="sng" kern="600"/>
              <a:t>Platform Component </a:t>
            </a:r>
            <a:r>
              <a:rPr lang="en-US" sz="1200" b="1" kern="600"/>
              <a:t>of the Santander Platform Map</a:t>
            </a:r>
            <a:endParaRPr lang="en-US" sz="1200" b="1"/>
          </a:p>
        </p:txBody>
      </p:sp>
      <p:cxnSp>
        <p:nvCxnSpPr>
          <p:cNvPr id="110" name="Conector recto de flecha 109">
            <a:extLst>
              <a:ext uri="{FF2B5EF4-FFF2-40B4-BE49-F238E27FC236}">
                <a16:creationId xmlns:a16="http://schemas.microsoft.com/office/drawing/2014/main" id="{AA773466-4418-173A-DAEA-44EC8843AD45}"/>
              </a:ext>
            </a:extLst>
          </p:cNvPr>
          <p:cNvCxnSpPr>
            <a:cxnSpLocks/>
          </p:cNvCxnSpPr>
          <p:nvPr/>
        </p:nvCxnSpPr>
        <p:spPr>
          <a:xfrm>
            <a:off x="7539507" y="3221211"/>
            <a:ext cx="3961" cy="321586"/>
          </a:xfrm>
          <a:prstGeom prst="straightConnector1">
            <a:avLst/>
          </a:prstGeom>
          <a:ln>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14" name="Conector recto de flecha 113">
            <a:extLst>
              <a:ext uri="{FF2B5EF4-FFF2-40B4-BE49-F238E27FC236}">
                <a16:creationId xmlns:a16="http://schemas.microsoft.com/office/drawing/2014/main" id="{1A3A6EE7-8614-5A10-E718-E6AEA3FFE680}"/>
              </a:ext>
            </a:extLst>
          </p:cNvPr>
          <p:cNvCxnSpPr>
            <a:cxnSpLocks/>
          </p:cNvCxnSpPr>
          <p:nvPr/>
        </p:nvCxnSpPr>
        <p:spPr>
          <a:xfrm>
            <a:off x="9960316" y="3291902"/>
            <a:ext cx="0" cy="274195"/>
          </a:xfrm>
          <a:prstGeom prst="straightConnector1">
            <a:avLst/>
          </a:prstGeom>
          <a:ln>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9" name="Imagen 8">
            <a:extLst>
              <a:ext uri="{FF2B5EF4-FFF2-40B4-BE49-F238E27FC236}">
                <a16:creationId xmlns:a16="http://schemas.microsoft.com/office/drawing/2014/main" id="{C61E279B-4FEC-2287-42E6-BA2DF051560B}"/>
              </a:ext>
            </a:extLst>
          </p:cNvPr>
          <p:cNvPicPr>
            <a:picLocks noChangeAspect="1"/>
          </p:cNvPicPr>
          <p:nvPr/>
        </p:nvPicPr>
        <p:blipFill>
          <a:blip r:embed="rId5"/>
          <a:stretch>
            <a:fillRect/>
          </a:stretch>
        </p:blipFill>
        <p:spPr>
          <a:xfrm>
            <a:off x="1774763" y="3535773"/>
            <a:ext cx="4485110" cy="2693042"/>
          </a:xfrm>
          <a:prstGeom prst="rect">
            <a:avLst/>
          </a:prstGeom>
        </p:spPr>
      </p:pic>
      <p:grpSp>
        <p:nvGrpSpPr>
          <p:cNvPr id="11" name="Grupo 10">
            <a:extLst>
              <a:ext uri="{FF2B5EF4-FFF2-40B4-BE49-F238E27FC236}">
                <a16:creationId xmlns:a16="http://schemas.microsoft.com/office/drawing/2014/main" id="{9C20B3E9-2E63-3A50-190F-37C3F99C9173}"/>
              </a:ext>
            </a:extLst>
          </p:cNvPr>
          <p:cNvGrpSpPr/>
          <p:nvPr/>
        </p:nvGrpSpPr>
        <p:grpSpPr>
          <a:xfrm>
            <a:off x="1918133" y="3395439"/>
            <a:ext cx="1142230" cy="481368"/>
            <a:chOff x="3161546" y="2490432"/>
            <a:chExt cx="1142230" cy="481368"/>
          </a:xfrm>
        </p:grpSpPr>
        <p:sp>
          <p:nvSpPr>
            <p:cNvPr id="13" name="Elipse 12">
              <a:extLst>
                <a:ext uri="{FF2B5EF4-FFF2-40B4-BE49-F238E27FC236}">
                  <a16:creationId xmlns:a16="http://schemas.microsoft.com/office/drawing/2014/main" id="{317F56A2-C050-200C-2358-BB7D303DFCED}"/>
                </a:ext>
              </a:extLst>
            </p:cNvPr>
            <p:cNvSpPr/>
            <p:nvPr/>
          </p:nvSpPr>
          <p:spPr>
            <a:xfrm>
              <a:off x="3161546" y="2825442"/>
              <a:ext cx="571229" cy="146358"/>
            </a:xfrm>
            <a:prstGeom prst="ellipse">
              <a:avLst/>
            </a:prstGeom>
            <a:noFill/>
            <a:ln w="285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a:solidFill>
                  <a:srgbClr val="FF0000"/>
                </a:solidFill>
              </a:endParaRPr>
            </a:p>
          </p:txBody>
        </p:sp>
        <p:cxnSp>
          <p:nvCxnSpPr>
            <p:cNvPr id="73" name="Conector recto de flecha 72">
              <a:extLst>
                <a:ext uri="{FF2B5EF4-FFF2-40B4-BE49-F238E27FC236}">
                  <a16:creationId xmlns:a16="http://schemas.microsoft.com/office/drawing/2014/main" id="{17EC0031-ECE4-6DC0-32F0-8ADB14002626}"/>
                </a:ext>
              </a:extLst>
            </p:cNvPr>
            <p:cNvCxnSpPr>
              <a:cxnSpLocks/>
              <a:stCxn id="13" idx="7"/>
            </p:cNvCxnSpPr>
            <p:nvPr/>
          </p:nvCxnSpPr>
          <p:spPr>
            <a:xfrm flipV="1">
              <a:off x="3649120" y="2490432"/>
              <a:ext cx="654656" cy="356444"/>
            </a:xfrm>
            <a:prstGeom prst="straightConnector1">
              <a:avLst/>
            </a:prstGeom>
            <a:ln>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grpSp>
      <p:sp>
        <p:nvSpPr>
          <p:cNvPr id="5" name="Rectángulo 4">
            <a:extLst>
              <a:ext uri="{FF2B5EF4-FFF2-40B4-BE49-F238E27FC236}">
                <a16:creationId xmlns:a16="http://schemas.microsoft.com/office/drawing/2014/main" id="{9D2365C2-898A-59AA-C275-DBE3F5EBFCA1}"/>
              </a:ext>
            </a:extLst>
          </p:cNvPr>
          <p:cNvSpPr/>
          <p:nvPr/>
        </p:nvSpPr>
        <p:spPr>
          <a:xfrm rot="2142845">
            <a:off x="3124110" y="5118926"/>
            <a:ext cx="3668655" cy="584775"/>
          </a:xfrm>
          <a:prstGeom prst="rect">
            <a:avLst/>
          </a:prstGeom>
          <a:noFill/>
        </p:spPr>
        <p:txBody>
          <a:bodyPr wrap="square" lIns="91440" tIns="45720" rIns="91440" bIns="45720">
            <a:spAutoFit/>
          </a:bodyPr>
          <a:lstStyle/>
          <a:p>
            <a:pPr algn="ctr"/>
            <a:r>
              <a:rPr lang="es-ES" sz="3200" b="1" err="1">
                <a:ln w="22225">
                  <a:solidFill>
                    <a:schemeClr val="accent2"/>
                  </a:solidFill>
                  <a:prstDash val="solid"/>
                </a:ln>
                <a:solidFill>
                  <a:schemeClr val="accent2">
                    <a:lumMod val="40000"/>
                    <a:lumOff val="60000"/>
                  </a:schemeClr>
                </a:solidFill>
              </a:rPr>
              <a:t>Example</a:t>
            </a:r>
            <a:endParaRPr lang="es-ES" sz="3200" b="1">
              <a:ln w="22225">
                <a:solidFill>
                  <a:schemeClr val="accent2"/>
                </a:solidFill>
                <a:prstDash val="solid"/>
              </a:ln>
              <a:solidFill>
                <a:schemeClr val="accent2">
                  <a:lumMod val="40000"/>
                  <a:lumOff val="60000"/>
                </a:schemeClr>
              </a:solidFill>
            </a:endParaRPr>
          </a:p>
        </p:txBody>
      </p:sp>
      <p:sp>
        <p:nvSpPr>
          <p:cNvPr id="19" name="CuadroTexto 18">
            <a:extLst>
              <a:ext uri="{FF2B5EF4-FFF2-40B4-BE49-F238E27FC236}">
                <a16:creationId xmlns:a16="http://schemas.microsoft.com/office/drawing/2014/main" id="{06B534F6-2365-0EDB-D2D6-2165210D26A9}"/>
              </a:ext>
            </a:extLst>
          </p:cNvPr>
          <p:cNvSpPr txBox="1"/>
          <p:nvPr/>
        </p:nvSpPr>
        <p:spPr>
          <a:xfrm>
            <a:off x="874153" y="1218838"/>
            <a:ext cx="10432473" cy="1828386"/>
          </a:xfrm>
          <a:prstGeom prst="rect">
            <a:avLst/>
          </a:prstGeom>
          <a:noFill/>
        </p:spPr>
        <p:txBody>
          <a:bodyPr wrap="square" rtlCol="0">
            <a:spAutoFit/>
          </a:bodyPr>
          <a:lstStyle/>
          <a:p>
            <a:pPr marL="342900" indent="-342900" defTabSz="912947">
              <a:lnSpc>
                <a:spcPts val="2500"/>
              </a:lnSpc>
              <a:spcBef>
                <a:spcPts val="600"/>
              </a:spcBef>
              <a:buClr>
                <a:srgbClr val="EC0000"/>
              </a:buClr>
              <a:buFont typeface="Wingdings" panose="05000000000000000000" pitchFamily="2" charset="2"/>
              <a:buChar char="§"/>
              <a:defRPr/>
            </a:pPr>
            <a:r>
              <a:rPr lang="en-US"/>
              <a:t>Every Platform Component is divided into lines of </a:t>
            </a:r>
            <a:r>
              <a:rPr lang="en-US" b="1"/>
              <a:t>module aggregation and modules</a:t>
            </a:r>
          </a:p>
          <a:p>
            <a:pPr marL="342900" marR="0" lvl="0" indent="-342900" defTabSz="912947" fontAlgn="auto">
              <a:lnSpc>
                <a:spcPts val="2500"/>
              </a:lnSpc>
              <a:spcBef>
                <a:spcPts val="600"/>
              </a:spcBef>
              <a:spcAft>
                <a:spcPts val="0"/>
              </a:spcAft>
              <a:buClr>
                <a:srgbClr val="EC0000"/>
              </a:buClr>
              <a:buSzTx/>
              <a:buFont typeface="Wingdings" panose="05000000000000000000" pitchFamily="2" charset="2"/>
              <a:buChar char="§"/>
              <a:tabLst/>
              <a:defRPr/>
            </a:pPr>
            <a:r>
              <a:rPr lang="en-US"/>
              <a:t>The structure of the framework presented in next slides are aligned </a:t>
            </a:r>
            <a:r>
              <a:rPr lang="en-US" b="1"/>
              <a:t>with latest version of Blueprints published  </a:t>
            </a:r>
            <a:r>
              <a:rPr lang="en-US"/>
              <a:t>in the One Santander Platform Portal</a:t>
            </a:r>
          </a:p>
          <a:p>
            <a:pPr marL="342900" marR="0" lvl="0" indent="-342900" defTabSz="912947" fontAlgn="auto">
              <a:lnSpc>
                <a:spcPts val="2500"/>
              </a:lnSpc>
              <a:spcBef>
                <a:spcPts val="600"/>
              </a:spcBef>
              <a:spcAft>
                <a:spcPts val="0"/>
              </a:spcAft>
              <a:buClr>
                <a:srgbClr val="EC0000"/>
              </a:buClr>
              <a:buSzTx/>
              <a:buFont typeface="Wingdings" panose="05000000000000000000" pitchFamily="2" charset="2"/>
              <a:buChar char="§"/>
              <a:tabLst/>
              <a:defRPr/>
            </a:pPr>
            <a:r>
              <a:rPr lang="en-US"/>
              <a:t>The strategic solution/technology which covers each module is specified in the </a:t>
            </a:r>
            <a:r>
              <a:rPr lang="en-US" b="1"/>
              <a:t>Global Tech Stack file</a:t>
            </a:r>
            <a:r>
              <a:rPr lang="en-US"/>
              <a:t>, located in the One Santander Platform Portal*</a:t>
            </a:r>
          </a:p>
        </p:txBody>
      </p:sp>
    </p:spTree>
    <p:extLst>
      <p:ext uri="{BB962C8B-B14F-4D97-AF65-F5344CB8AC3E}">
        <p14:creationId xmlns:p14="http://schemas.microsoft.com/office/powerpoint/2010/main" val="2287456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FAA078-DD8C-2DDB-996D-6AA050F4A4BE}"/>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D6483C14-FED2-8B76-4F65-980BC449D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antander Text"/>
              <a:ea typeface="+mn-ea"/>
              <a:cs typeface="+mn-cs"/>
            </a:endParaRPr>
          </a:p>
        </p:txBody>
      </p:sp>
      <p:sp>
        <p:nvSpPr>
          <p:cNvPr id="5" name="CuadroTexto 7">
            <a:extLst>
              <a:ext uri="{FF2B5EF4-FFF2-40B4-BE49-F238E27FC236}">
                <a16:creationId xmlns:a16="http://schemas.microsoft.com/office/drawing/2014/main" id="{448D9923-3218-2549-E2B3-7E81AB60A6A6}"/>
              </a:ext>
            </a:extLst>
          </p:cNvPr>
          <p:cNvSpPr txBox="1"/>
          <p:nvPr/>
        </p:nvSpPr>
        <p:spPr>
          <a:xfrm>
            <a:off x="5031441" y="269074"/>
            <a:ext cx="6855759"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antander Text"/>
                <a:ea typeface="+mn-ea"/>
                <a:cs typeface="+mn-cs"/>
              </a:rPr>
              <a:t>- For Approval -   </a:t>
            </a:r>
          </a:p>
        </p:txBody>
      </p:sp>
      <p:sp>
        <p:nvSpPr>
          <p:cNvPr id="6" name="TextBox 7">
            <a:extLst>
              <a:ext uri="{FF2B5EF4-FFF2-40B4-BE49-F238E27FC236}">
                <a16:creationId xmlns:a16="http://schemas.microsoft.com/office/drawing/2014/main" id="{9D6A78EA-C30B-831E-3A4B-D9D2CF6AB2FD}"/>
              </a:ext>
            </a:extLst>
          </p:cNvPr>
          <p:cNvSpPr txBox="1"/>
          <p:nvPr/>
        </p:nvSpPr>
        <p:spPr>
          <a:xfrm>
            <a:off x="352212" y="2272064"/>
            <a:ext cx="6204461" cy="2400657"/>
          </a:xfrm>
          <a:prstGeom prst="rect">
            <a:avLst/>
          </a:prstGeom>
          <a:noFill/>
          <a:ln>
            <a:solidFill>
              <a:schemeClr val="bg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000" i="0" u="none" strike="noStrike" kern="1200" cap="none" spc="0" normalizeH="0" baseline="0" noProof="0">
                <a:ln>
                  <a:noFill/>
                </a:ln>
                <a:solidFill>
                  <a:srgbClr val="EC0000"/>
                </a:solidFill>
                <a:effectLst/>
                <a:uLnTx/>
                <a:uFillTx/>
                <a:latin typeface="Santander Text" panose="020B0504020201020104" pitchFamily="34" charset="0"/>
                <a:ea typeface="+mn-ea"/>
                <a:cs typeface="+mn-cs"/>
              </a:rPr>
              <a:t>Framework Structure. View by Platform Component</a:t>
            </a:r>
          </a:p>
        </p:txBody>
      </p:sp>
      <p:pic>
        <p:nvPicPr>
          <p:cNvPr id="18" name="Picture 17" descr="A picture containing colorfulness, light&#10;&#10;Description automatically generated">
            <a:extLst>
              <a:ext uri="{FF2B5EF4-FFF2-40B4-BE49-F238E27FC236}">
                <a16:creationId xmlns:a16="http://schemas.microsoft.com/office/drawing/2014/main" id="{A76CB15B-336D-3F06-2888-5C9D93332FD0}"/>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3285" t="310" r="18620"/>
          <a:stretch/>
        </p:blipFill>
        <p:spPr>
          <a:xfrm>
            <a:off x="6662789" y="815147"/>
            <a:ext cx="5274095" cy="5090674"/>
          </a:xfrm>
          <a:prstGeom prst="rect">
            <a:avLst/>
          </a:prstGeom>
          <a:ln w="9525">
            <a:solidFill>
              <a:schemeClr val="tx1"/>
            </a:solidFill>
          </a:ln>
        </p:spPr>
      </p:pic>
      <p:sp>
        <p:nvSpPr>
          <p:cNvPr id="20" name="Rectangle 19">
            <a:extLst>
              <a:ext uri="{FF2B5EF4-FFF2-40B4-BE49-F238E27FC236}">
                <a16:creationId xmlns:a16="http://schemas.microsoft.com/office/drawing/2014/main" id="{9A7C2565-43F2-1248-6308-256638DF15B8}"/>
              </a:ext>
            </a:extLst>
          </p:cNvPr>
          <p:cNvSpPr/>
          <p:nvPr/>
        </p:nvSpPr>
        <p:spPr>
          <a:xfrm>
            <a:off x="5284381" y="136526"/>
            <a:ext cx="6831786" cy="65849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antander Text"/>
              <a:ea typeface="+mn-ea"/>
              <a:cs typeface="+mn-cs"/>
            </a:endParaRPr>
          </a:p>
        </p:txBody>
      </p:sp>
      <p:sp>
        <p:nvSpPr>
          <p:cNvPr id="21" name="Rectangle 20">
            <a:extLst>
              <a:ext uri="{FF2B5EF4-FFF2-40B4-BE49-F238E27FC236}">
                <a16:creationId xmlns:a16="http://schemas.microsoft.com/office/drawing/2014/main" id="{68A20AE8-F840-C40F-F7AB-AB507CF05CFB}"/>
              </a:ext>
            </a:extLst>
          </p:cNvPr>
          <p:cNvSpPr/>
          <p:nvPr/>
        </p:nvSpPr>
        <p:spPr>
          <a:xfrm>
            <a:off x="5379227" y="136524"/>
            <a:ext cx="6663774" cy="6584950"/>
          </a:xfrm>
          <a:prstGeom prst="rect">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antander Text"/>
              <a:ea typeface="+mn-ea"/>
              <a:cs typeface="+mn-cs"/>
            </a:endParaRPr>
          </a:p>
        </p:txBody>
      </p:sp>
    </p:spTree>
    <p:extLst>
      <p:ext uri="{BB962C8B-B14F-4D97-AF65-F5344CB8AC3E}">
        <p14:creationId xmlns:p14="http://schemas.microsoft.com/office/powerpoint/2010/main" val="37466640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Rectangle 2">
            <a:extLst>
              <a:ext uri="{FF2B5EF4-FFF2-40B4-BE49-F238E27FC236}">
                <a16:creationId xmlns:a16="http://schemas.microsoft.com/office/drawing/2014/main" id="{0EEC18B1-4890-0F25-8CB5-5006352FB825}"/>
              </a:ext>
            </a:extLst>
          </p:cNvPr>
          <p:cNvSpPr>
            <a:spLocks noChangeArrowheads="1"/>
          </p:cNvSpPr>
          <p:nvPr/>
        </p:nvSpPr>
        <p:spPr bwMode="auto">
          <a:xfrm>
            <a:off x="152400" y="2553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a:ln>
                <a:noFill/>
              </a:ln>
              <a:solidFill>
                <a:schemeClr val="tx1"/>
              </a:solidFill>
              <a:effectLst/>
              <a:latin typeface="Arial" panose="020B0604020202020204" pitchFamily="34" charset="0"/>
            </a:endParaRPr>
          </a:p>
        </p:txBody>
      </p:sp>
      <p:sp>
        <p:nvSpPr>
          <p:cNvPr id="176" name="Title 1">
            <a:extLst>
              <a:ext uri="{FF2B5EF4-FFF2-40B4-BE49-F238E27FC236}">
                <a16:creationId xmlns:a16="http://schemas.microsoft.com/office/drawing/2014/main" id="{80A5362B-14C0-67F5-917F-8BB8566CCE36}"/>
              </a:ext>
            </a:extLst>
          </p:cNvPr>
          <p:cNvSpPr>
            <a:spLocks noGrp="1"/>
          </p:cNvSpPr>
          <p:nvPr>
            <p:ph type="title"/>
          </p:nvPr>
        </p:nvSpPr>
        <p:spPr>
          <a:xfrm>
            <a:off x="711024" y="307364"/>
            <a:ext cx="11253178" cy="476278"/>
          </a:xfrm>
        </p:spPr>
        <p:txBody>
          <a:bodyPr/>
          <a:lstStyle/>
          <a:p>
            <a:r>
              <a:rPr lang="en-AU"/>
              <a:t>One Santander Platform| </a:t>
            </a:r>
            <a:r>
              <a:rPr lang="en-US">
                <a:solidFill>
                  <a:schemeClr val="bg1">
                    <a:lumMod val="75000"/>
                  </a:schemeClr>
                </a:solidFill>
              </a:rPr>
              <a:t>Framework view by Platform Component</a:t>
            </a:r>
          </a:p>
        </p:txBody>
      </p:sp>
      <p:sp>
        <p:nvSpPr>
          <p:cNvPr id="92" name="Text Placeholder 2">
            <a:extLst>
              <a:ext uri="{FF2B5EF4-FFF2-40B4-BE49-F238E27FC236}">
                <a16:creationId xmlns:a16="http://schemas.microsoft.com/office/drawing/2014/main" id="{659C0978-678B-1AAC-7B9D-5167CB6A1C54}"/>
              </a:ext>
            </a:extLst>
          </p:cNvPr>
          <p:cNvSpPr>
            <a:spLocks noGrp="1"/>
          </p:cNvSpPr>
          <p:nvPr>
            <p:ph type="body" sz="quarter" idx="14"/>
          </p:nvPr>
        </p:nvSpPr>
        <p:spPr>
          <a:xfrm>
            <a:off x="938337" y="57073"/>
            <a:ext cx="6922898" cy="280214"/>
          </a:xfrm>
        </p:spPr>
        <p:txBody>
          <a:bodyPr/>
          <a:lstStyle/>
          <a:p>
            <a:r>
              <a:rPr lang="en-GB" b="0">
                <a:solidFill>
                  <a:schemeClr val="bg1">
                    <a:lumMod val="75000"/>
                  </a:schemeClr>
                </a:solidFill>
                <a:latin typeface="Santander Text" panose="020B0504020201020104" pitchFamily="34" charset="0"/>
              </a:rPr>
              <a:t>Platform Governance &amp; SD</a:t>
            </a:r>
          </a:p>
        </p:txBody>
      </p:sp>
      <p:pic>
        <p:nvPicPr>
          <p:cNvPr id="4" name="Imagen 3">
            <a:extLst>
              <a:ext uri="{FF2B5EF4-FFF2-40B4-BE49-F238E27FC236}">
                <a16:creationId xmlns:a16="http://schemas.microsoft.com/office/drawing/2014/main" id="{EC14733B-BC19-56FA-ADF0-C4CABF90281B}"/>
              </a:ext>
            </a:extLst>
          </p:cNvPr>
          <p:cNvPicPr>
            <a:picLocks noChangeAspect="1"/>
          </p:cNvPicPr>
          <p:nvPr/>
        </p:nvPicPr>
        <p:blipFill>
          <a:blip r:embed="rId3"/>
          <a:stretch>
            <a:fillRect/>
          </a:stretch>
        </p:blipFill>
        <p:spPr>
          <a:xfrm>
            <a:off x="1659467" y="851376"/>
            <a:ext cx="8735024" cy="5344704"/>
          </a:xfrm>
          <a:prstGeom prst="rect">
            <a:avLst/>
          </a:prstGeom>
        </p:spPr>
      </p:pic>
    </p:spTree>
    <p:extLst>
      <p:ext uri="{BB962C8B-B14F-4D97-AF65-F5344CB8AC3E}">
        <p14:creationId xmlns:p14="http://schemas.microsoft.com/office/powerpoint/2010/main" val="2639042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7F133-7726-CA3A-BDE9-2FD244C34E0D}"/>
            </a:ext>
          </a:extLst>
        </p:cNvPr>
        <p:cNvGrpSpPr/>
        <p:nvPr/>
      </p:nvGrpSpPr>
      <p:grpSpPr>
        <a:xfrm>
          <a:off x="0" y="0"/>
          <a:ext cx="0" cy="0"/>
          <a:chOff x="0" y="0"/>
          <a:chExt cx="0" cy="0"/>
        </a:xfrm>
      </p:grpSpPr>
      <p:sp>
        <p:nvSpPr>
          <p:cNvPr id="41" name="Text Placeholder 2">
            <a:extLst>
              <a:ext uri="{FF2B5EF4-FFF2-40B4-BE49-F238E27FC236}">
                <a16:creationId xmlns:a16="http://schemas.microsoft.com/office/drawing/2014/main" id="{07EAC8EC-DDCC-FAD4-1EC0-E0761B360819}"/>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42" name="Título 1">
            <a:extLst>
              <a:ext uri="{FF2B5EF4-FFF2-40B4-BE49-F238E27FC236}">
                <a16:creationId xmlns:a16="http://schemas.microsoft.com/office/drawing/2014/main" id="{D77FFF31-4E11-1CA9-B525-838B78DE123F}"/>
              </a:ext>
            </a:extLst>
          </p:cNvPr>
          <p:cNvSpPr txBox="1">
            <a:spLocks/>
          </p:cNvSpPr>
          <p:nvPr/>
        </p:nvSpPr>
        <p:spPr>
          <a:xfrm>
            <a:off x="560848" y="632620"/>
            <a:ext cx="10758733" cy="425595"/>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lang="en-US" sz="2800" b="1" kern="1200" dirty="0">
                <a:solidFill>
                  <a:schemeClr val="accent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s-ES" sz="2800" b="1" i="0" u="none" strike="noStrike" kern="1200" cap="none" spc="0" normalizeH="0" baseline="0" noProof="0" err="1">
                <a:ln>
                  <a:noFill/>
                </a:ln>
                <a:solidFill>
                  <a:srgbClr val="EC0000"/>
                </a:solidFill>
                <a:effectLst/>
                <a:uLnTx/>
                <a:uFillTx/>
                <a:latin typeface="Santander Headline"/>
                <a:ea typeface="+mj-ea"/>
                <a:cs typeface="+mj-cs"/>
              </a:rPr>
              <a:t>Retail</a:t>
            </a:r>
            <a:r>
              <a:rPr kumimoji="0" lang="es-ES" sz="2800" b="1" i="0" u="none" strike="noStrike" kern="1200" cap="none" spc="0" normalizeH="0" baseline="0" noProof="0">
                <a:ln>
                  <a:noFill/>
                </a:ln>
                <a:solidFill>
                  <a:srgbClr val="EC0000"/>
                </a:solidFill>
                <a:effectLst/>
                <a:uLnTx/>
                <a:uFillTx/>
                <a:latin typeface="Santander Headline"/>
                <a:ea typeface="+mj-ea"/>
                <a:cs typeface="+mj-cs"/>
              </a:rPr>
              <a:t> &amp; </a:t>
            </a:r>
            <a:r>
              <a:rPr kumimoji="0" lang="es-ES" sz="2800" b="1" i="0" u="none" strike="noStrike" kern="1200" cap="none" spc="0" normalizeH="0" baseline="0" noProof="0" err="1">
                <a:ln>
                  <a:noFill/>
                </a:ln>
                <a:solidFill>
                  <a:srgbClr val="EC0000"/>
                </a:solidFill>
                <a:effectLst/>
                <a:uLnTx/>
                <a:uFillTx/>
                <a:latin typeface="Santander Headline"/>
                <a:ea typeface="+mj-ea"/>
                <a:cs typeface="+mj-cs"/>
              </a:rPr>
              <a:t>Commercial</a:t>
            </a:r>
            <a:r>
              <a:rPr kumimoji="0" lang="es-ES" sz="2800" b="1" i="0" u="none" strike="noStrike" kern="1200" cap="none" spc="0" normalizeH="0" baseline="0" noProof="0">
                <a:ln>
                  <a:noFill/>
                </a:ln>
                <a:solidFill>
                  <a:srgbClr val="EC0000"/>
                </a:solidFill>
                <a:effectLst/>
                <a:uLnTx/>
                <a:uFillTx/>
                <a:latin typeface="Santander Headline"/>
                <a:ea typeface="+mj-ea"/>
                <a:cs typeface="+mj-cs"/>
              </a:rPr>
              <a:t>. </a:t>
            </a:r>
            <a:r>
              <a:rPr kumimoji="0" lang="en-AU" sz="2800" b="1" i="0" u="none" strike="noStrike" kern="1200" cap="none" spc="0" normalizeH="0" baseline="0" noProof="0">
                <a:ln>
                  <a:noFill/>
                </a:ln>
                <a:solidFill>
                  <a:srgbClr val="BFBFBF"/>
                </a:solidFill>
                <a:effectLst/>
                <a:uLnTx/>
                <a:uFillTx/>
                <a:latin typeface="Santander Headline"/>
                <a:ea typeface="+mj-ea"/>
                <a:cs typeface="+mj-cs"/>
              </a:rPr>
              <a:t>Assisted Channels</a:t>
            </a:r>
          </a:p>
        </p:txBody>
      </p:sp>
      <p:sp>
        <p:nvSpPr>
          <p:cNvPr id="104" name="Rectángulo 51">
            <a:extLst>
              <a:ext uri="{FF2B5EF4-FFF2-40B4-BE49-F238E27FC236}">
                <a16:creationId xmlns:a16="http://schemas.microsoft.com/office/drawing/2014/main" id="{D0656CEF-1CDC-A47A-B62D-71E13375383B}"/>
              </a:ext>
            </a:extLst>
          </p:cNvPr>
          <p:cNvSpPr/>
          <p:nvPr/>
        </p:nvSpPr>
        <p:spPr>
          <a:xfrm>
            <a:off x="4651660" y="1079414"/>
            <a:ext cx="7062857" cy="240476"/>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Santander Text" panose="020B0504020201020104" pitchFamily="34" charset="0"/>
                <a:ea typeface="+mn-ea"/>
                <a:cs typeface="+mn-cs"/>
              </a:rPr>
              <a:t>Modules</a:t>
            </a:r>
          </a:p>
        </p:txBody>
      </p:sp>
      <p:grpSp>
        <p:nvGrpSpPr>
          <p:cNvPr id="167" name="Group 166">
            <a:extLst>
              <a:ext uri="{FF2B5EF4-FFF2-40B4-BE49-F238E27FC236}">
                <a16:creationId xmlns:a16="http://schemas.microsoft.com/office/drawing/2014/main" id="{597C6ED6-A696-5081-41E5-88C0A1857FD8}"/>
              </a:ext>
            </a:extLst>
          </p:cNvPr>
          <p:cNvGrpSpPr/>
          <p:nvPr/>
        </p:nvGrpSpPr>
        <p:grpSpPr>
          <a:xfrm>
            <a:off x="807963" y="1379024"/>
            <a:ext cx="10906552" cy="477412"/>
            <a:chOff x="493004" y="1099425"/>
            <a:chExt cx="10906552" cy="477412"/>
          </a:xfrm>
        </p:grpSpPr>
        <p:sp>
          <p:nvSpPr>
            <p:cNvPr id="107" name="Rectángulo 64">
              <a:extLst>
                <a:ext uri="{FF2B5EF4-FFF2-40B4-BE49-F238E27FC236}">
                  <a16:creationId xmlns:a16="http://schemas.microsoft.com/office/drawing/2014/main" id="{45AA5838-3F1B-0F39-E00F-D9BC94994182}"/>
                </a:ext>
              </a:extLst>
            </p:cNvPr>
            <p:cNvSpPr/>
            <p:nvPr/>
          </p:nvSpPr>
          <p:spPr>
            <a:xfrm>
              <a:off x="493004" y="1108837"/>
              <a:ext cx="3732783" cy="468000"/>
            </a:xfrm>
            <a:prstGeom prst="rect">
              <a:avLst/>
            </a:prstGeom>
            <a:solidFill>
              <a:srgbClr val="DEEDF1"/>
            </a:solidFill>
            <a:ln w="12700" cap="flat" cmpd="sng" algn="ctr">
              <a:noFill/>
              <a:prstDash val="solid"/>
              <a:miter lim="800000"/>
            </a:ln>
            <a:effectLst/>
          </p:spPr>
          <p:txBody>
            <a:bodyPr lIns="72000" rIns="36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55600" marR="0" lvl="0" indent="-355600" algn="l" defTabSz="914400" rtl="0" eaLnBrk="1" fontAlgn="auto" latinLnBrk="0" hangingPunct="1">
                <a:lnSpc>
                  <a:spcPct val="100000"/>
                </a:lnSpc>
                <a:spcBef>
                  <a:spcPts val="0"/>
                </a:spcBef>
                <a:spcAft>
                  <a:spcPts val="300"/>
                </a:spcAft>
                <a:buClrTx/>
                <a:buSzTx/>
                <a:buFontTx/>
                <a:buNone/>
                <a:tabLst/>
                <a:defRPr/>
              </a:pPr>
              <a:r>
                <a:rPr kumimoji="0" lang="en-US" sz="10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1 - Global Container  (Agent Desktop) </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900" b="0" i="1"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Single Container to integrate the building blocks that supports customer lifecycle services.</a:t>
              </a:r>
            </a:p>
          </p:txBody>
        </p:sp>
        <p:sp>
          <p:nvSpPr>
            <p:cNvPr id="108" name="Rectángulo 65">
              <a:extLst>
                <a:ext uri="{FF2B5EF4-FFF2-40B4-BE49-F238E27FC236}">
                  <a16:creationId xmlns:a16="http://schemas.microsoft.com/office/drawing/2014/main" id="{352F1E39-01E9-02CF-37C2-DA087E3AEAFA}"/>
                </a:ext>
              </a:extLst>
            </p:cNvPr>
            <p:cNvSpPr/>
            <p:nvPr/>
          </p:nvSpPr>
          <p:spPr>
            <a:xfrm>
              <a:off x="6314807" y="1108837"/>
              <a:ext cx="1771501" cy="46800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100" b="0"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Dual Omnichannel View</a:t>
              </a:r>
            </a:p>
          </p:txBody>
        </p:sp>
        <p:sp>
          <p:nvSpPr>
            <p:cNvPr id="109" name="Rectángulo 66">
              <a:extLst>
                <a:ext uri="{FF2B5EF4-FFF2-40B4-BE49-F238E27FC236}">
                  <a16:creationId xmlns:a16="http://schemas.microsoft.com/office/drawing/2014/main" id="{CB99CDD4-1E0D-2A26-2548-03A0A248A231}"/>
                </a:ext>
              </a:extLst>
            </p:cNvPr>
            <p:cNvSpPr/>
            <p:nvPr/>
          </p:nvSpPr>
          <p:spPr>
            <a:xfrm>
              <a:off x="8148042" y="1099425"/>
              <a:ext cx="1648485" cy="46800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100" b="0"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Menu Bar</a:t>
              </a:r>
            </a:p>
          </p:txBody>
        </p:sp>
        <p:sp>
          <p:nvSpPr>
            <p:cNvPr id="110" name="Rectángulo 69">
              <a:extLst>
                <a:ext uri="{FF2B5EF4-FFF2-40B4-BE49-F238E27FC236}">
                  <a16:creationId xmlns:a16="http://schemas.microsoft.com/office/drawing/2014/main" id="{2720418A-75C7-7DF2-1763-2535FB65C260}"/>
                </a:ext>
              </a:extLst>
            </p:cNvPr>
            <p:cNvSpPr/>
            <p:nvPr/>
          </p:nvSpPr>
          <p:spPr>
            <a:xfrm>
              <a:off x="4336699" y="1108837"/>
              <a:ext cx="1939047" cy="46800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100" b="0"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Container</a:t>
              </a:r>
            </a:p>
          </p:txBody>
        </p:sp>
        <p:sp>
          <p:nvSpPr>
            <p:cNvPr id="111" name="Rectángulo 70">
              <a:extLst>
                <a:ext uri="{FF2B5EF4-FFF2-40B4-BE49-F238E27FC236}">
                  <a16:creationId xmlns:a16="http://schemas.microsoft.com/office/drawing/2014/main" id="{5CB7EBAF-4850-43B5-D6FD-1E3336F430DE}"/>
                </a:ext>
              </a:extLst>
            </p:cNvPr>
            <p:cNvSpPr/>
            <p:nvPr/>
          </p:nvSpPr>
          <p:spPr>
            <a:xfrm>
              <a:off x="9858262" y="1108837"/>
              <a:ext cx="1541294" cy="46800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100" b="0"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Device Management</a:t>
              </a:r>
            </a:p>
          </p:txBody>
        </p:sp>
      </p:grpSp>
      <p:grpSp>
        <p:nvGrpSpPr>
          <p:cNvPr id="163" name="Group 162">
            <a:extLst>
              <a:ext uri="{FF2B5EF4-FFF2-40B4-BE49-F238E27FC236}">
                <a16:creationId xmlns:a16="http://schemas.microsoft.com/office/drawing/2014/main" id="{12F43ACC-90A3-F974-B6B9-B3AA00AF453A}"/>
              </a:ext>
            </a:extLst>
          </p:cNvPr>
          <p:cNvGrpSpPr/>
          <p:nvPr/>
        </p:nvGrpSpPr>
        <p:grpSpPr>
          <a:xfrm>
            <a:off x="807964" y="3907697"/>
            <a:ext cx="10906551" cy="468000"/>
            <a:chOff x="493004" y="3905684"/>
            <a:chExt cx="10906551" cy="468000"/>
          </a:xfrm>
        </p:grpSpPr>
        <p:sp>
          <p:nvSpPr>
            <p:cNvPr id="113" name="Rectángulo 78">
              <a:extLst>
                <a:ext uri="{FF2B5EF4-FFF2-40B4-BE49-F238E27FC236}">
                  <a16:creationId xmlns:a16="http://schemas.microsoft.com/office/drawing/2014/main" id="{8C5D2611-EA3F-3359-0831-AA9B55926996}"/>
                </a:ext>
              </a:extLst>
            </p:cNvPr>
            <p:cNvSpPr/>
            <p:nvPr/>
          </p:nvSpPr>
          <p:spPr>
            <a:xfrm>
              <a:off x="493004" y="3905684"/>
              <a:ext cx="3732783" cy="468000"/>
            </a:xfrm>
            <a:prstGeom prst="rect">
              <a:avLst/>
            </a:prstGeom>
            <a:solidFill>
              <a:srgbClr val="DEEDF1"/>
            </a:solidFill>
            <a:ln w="12700" cap="flat" cmpd="sng" algn="ctr">
              <a:noFill/>
              <a:prstDash val="solid"/>
              <a:miter lim="800000"/>
            </a:ln>
            <a:effectLst/>
          </p:spPr>
          <p:txBody>
            <a:bodyPr lIns="72000" rIns="36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55600" marR="0" lvl="0" indent="-355600" algn="l" defTabSz="914400" rtl="0" eaLnBrk="1" fontAlgn="auto" latinLnBrk="0" hangingPunct="1">
                <a:lnSpc>
                  <a:spcPct val="100000"/>
                </a:lnSpc>
                <a:spcBef>
                  <a:spcPts val="0"/>
                </a:spcBef>
                <a:spcAft>
                  <a:spcPts val="300"/>
                </a:spcAft>
                <a:buClrTx/>
                <a:buSzTx/>
                <a:buFontTx/>
                <a:buNone/>
                <a:tabLst/>
                <a:defRPr/>
              </a:pPr>
              <a:r>
                <a:rPr kumimoji="0" lang="en-US" sz="10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5 Digital Assistant</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900" b="0" i="1"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Mainly based on Genesys Cloud and AI, provides Voice and Assisted interaction capabilities &amp; tools customers vs agents</a:t>
              </a:r>
            </a:p>
          </p:txBody>
        </p:sp>
        <p:sp>
          <p:nvSpPr>
            <p:cNvPr id="117" name="Rectángulo 9">
              <a:extLst>
                <a:ext uri="{FF2B5EF4-FFF2-40B4-BE49-F238E27FC236}">
                  <a16:creationId xmlns:a16="http://schemas.microsoft.com/office/drawing/2014/main" id="{0AA7C8DD-BCF9-E297-186F-C5E5F03BA6A2}"/>
                </a:ext>
              </a:extLst>
            </p:cNvPr>
            <p:cNvSpPr/>
            <p:nvPr/>
          </p:nvSpPr>
          <p:spPr>
            <a:xfrm>
              <a:off x="4336700" y="3905684"/>
              <a:ext cx="1710000" cy="468000"/>
            </a:xfrm>
            <a:prstGeom prst="rect">
              <a:avLst/>
            </a:prstGeom>
            <a:solidFill>
              <a:schemeClr val="bg1"/>
            </a:solidFill>
            <a:ln w="12700" cap="flat" cmpd="sng" algn="ctr">
              <a:solidFill>
                <a:srgbClr val="0070C0"/>
              </a:solidFill>
              <a:prstDash val="solid"/>
              <a:miter lim="800000"/>
            </a:ln>
            <a:effectLst/>
          </p:spPr>
          <p:txBody>
            <a:bodyPr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1B39"/>
                  </a:solidFill>
                  <a:effectLst/>
                  <a:uLnTx/>
                  <a:uFillTx/>
                  <a:latin typeface="Santander Text" panose="020B0504020201020104" pitchFamily="34" charset="0"/>
                  <a:ea typeface="+mn-ea"/>
                  <a:cs typeface="+mn-cs"/>
                </a:rPr>
                <a:t>IVR</a:t>
              </a:r>
            </a:p>
          </p:txBody>
        </p:sp>
        <p:sp>
          <p:nvSpPr>
            <p:cNvPr id="118" name="Rectángulo 10">
              <a:extLst>
                <a:ext uri="{FF2B5EF4-FFF2-40B4-BE49-F238E27FC236}">
                  <a16:creationId xmlns:a16="http://schemas.microsoft.com/office/drawing/2014/main" id="{0A51587A-5F87-8915-4670-8574446B5F9B}"/>
                </a:ext>
              </a:extLst>
            </p:cNvPr>
            <p:cNvSpPr/>
            <p:nvPr/>
          </p:nvSpPr>
          <p:spPr>
            <a:xfrm>
              <a:off x="8763492" y="3905684"/>
              <a:ext cx="2636063" cy="468000"/>
            </a:xfrm>
            <a:prstGeom prst="rect">
              <a:avLst/>
            </a:prstGeom>
            <a:solidFill>
              <a:schemeClr val="bg1"/>
            </a:solidFill>
            <a:ln w="12700" cap="flat" cmpd="sng" algn="ctr">
              <a:solidFill>
                <a:srgbClr val="0070C0"/>
              </a:solidFill>
              <a:prstDash val="solid"/>
              <a:miter lim="800000"/>
            </a:ln>
            <a:effectLst/>
          </p:spPr>
          <p:txBody>
            <a:bodyPr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1B39"/>
                  </a:solidFill>
                  <a:effectLst/>
                  <a:uLnTx/>
                  <a:uFillTx/>
                  <a:latin typeface="Santander Text" panose="020B0504020201020104" pitchFamily="34" charset="0"/>
                  <a:ea typeface="+mn-ea"/>
                  <a:cs typeface="+mn-cs"/>
                </a:rPr>
                <a:t>Bot</a:t>
              </a:r>
            </a:p>
          </p:txBody>
        </p:sp>
        <p:sp>
          <p:nvSpPr>
            <p:cNvPr id="119" name="Rectángulo 12">
              <a:extLst>
                <a:ext uri="{FF2B5EF4-FFF2-40B4-BE49-F238E27FC236}">
                  <a16:creationId xmlns:a16="http://schemas.microsoft.com/office/drawing/2014/main" id="{CF7020B6-20B9-B8B4-38E5-5A0E8184A102}"/>
                </a:ext>
              </a:extLst>
            </p:cNvPr>
            <p:cNvSpPr/>
            <p:nvPr/>
          </p:nvSpPr>
          <p:spPr>
            <a:xfrm>
              <a:off x="6120671" y="3905684"/>
              <a:ext cx="2587130" cy="468000"/>
            </a:xfrm>
            <a:prstGeom prst="rect">
              <a:avLst/>
            </a:prstGeom>
            <a:solidFill>
              <a:schemeClr val="bg1"/>
            </a:solidFill>
            <a:ln w="12700" cap="flat" cmpd="sng" algn="ctr">
              <a:solidFill>
                <a:srgbClr val="0070C0"/>
              </a:solidFill>
              <a:prstDash val="solid"/>
              <a:miter lim="800000"/>
            </a:ln>
            <a:effectLst/>
          </p:spPr>
          <p:txBody>
            <a:bodyPr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1B39"/>
                  </a:solidFill>
                  <a:effectLst/>
                  <a:uLnTx/>
                  <a:uFillTx/>
                  <a:latin typeface="Santander Text" panose="020B0504020201020104" pitchFamily="34" charset="0"/>
                  <a:ea typeface="+mn-ea"/>
                  <a:cs typeface="+mn-cs"/>
                </a:rPr>
                <a:t>Digital Assist</a:t>
              </a:r>
            </a:p>
          </p:txBody>
        </p:sp>
      </p:grpSp>
      <p:grpSp>
        <p:nvGrpSpPr>
          <p:cNvPr id="165" name="Group 164">
            <a:extLst>
              <a:ext uri="{FF2B5EF4-FFF2-40B4-BE49-F238E27FC236}">
                <a16:creationId xmlns:a16="http://schemas.microsoft.com/office/drawing/2014/main" id="{8DAD47C7-294B-24C2-59A7-7A8A5DF1383D}"/>
              </a:ext>
            </a:extLst>
          </p:cNvPr>
          <p:cNvGrpSpPr/>
          <p:nvPr/>
        </p:nvGrpSpPr>
        <p:grpSpPr>
          <a:xfrm>
            <a:off x="807964" y="2648067"/>
            <a:ext cx="10906551" cy="468000"/>
            <a:chOff x="493004" y="2499513"/>
            <a:chExt cx="10906551" cy="468000"/>
          </a:xfrm>
        </p:grpSpPr>
        <p:sp>
          <p:nvSpPr>
            <p:cNvPr id="105" name="Rectángulo 58">
              <a:extLst>
                <a:ext uri="{FF2B5EF4-FFF2-40B4-BE49-F238E27FC236}">
                  <a16:creationId xmlns:a16="http://schemas.microsoft.com/office/drawing/2014/main" id="{00496364-4549-D30C-7391-B54577D40206}"/>
                </a:ext>
              </a:extLst>
            </p:cNvPr>
            <p:cNvSpPr/>
            <p:nvPr/>
          </p:nvSpPr>
          <p:spPr>
            <a:xfrm>
              <a:off x="493004" y="2499513"/>
              <a:ext cx="3732783" cy="468000"/>
            </a:xfrm>
            <a:prstGeom prst="rect">
              <a:avLst/>
            </a:prstGeom>
            <a:solidFill>
              <a:srgbClr val="DEEDF1"/>
            </a:solidFill>
            <a:ln w="12700" cap="flat" cmpd="sng" algn="ctr">
              <a:noFill/>
              <a:prstDash val="solid"/>
              <a:miter lim="800000"/>
            </a:ln>
            <a:effectLst/>
          </p:spPr>
          <p:txBody>
            <a:bodyPr lIns="72000" rIns="36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55600" marR="0" lvl="0" indent="-355600" algn="l" defTabSz="914400" rtl="0" eaLnBrk="1" fontAlgn="auto" latinLnBrk="0" hangingPunct="1">
                <a:lnSpc>
                  <a:spcPct val="100000"/>
                </a:lnSpc>
                <a:spcBef>
                  <a:spcPts val="0"/>
                </a:spcBef>
                <a:spcAft>
                  <a:spcPts val="300"/>
                </a:spcAft>
                <a:buClrTx/>
                <a:buSzTx/>
                <a:buFontTx/>
                <a:buNone/>
                <a:tabLst/>
                <a:defRPr/>
              </a:pPr>
              <a:r>
                <a:rPr kumimoji="0" lang="en-US" sz="10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3 – Customer View</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900" b="0" i="1"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Tune the customer Experience during any Real-time interaction with the Bank. Status Indicators, Ratings, Alerts…</a:t>
              </a:r>
            </a:p>
          </p:txBody>
        </p:sp>
        <p:sp>
          <p:nvSpPr>
            <p:cNvPr id="128" name="Rectángulo 21">
              <a:extLst>
                <a:ext uri="{FF2B5EF4-FFF2-40B4-BE49-F238E27FC236}">
                  <a16:creationId xmlns:a16="http://schemas.microsoft.com/office/drawing/2014/main" id="{BDBB69D1-EA3C-9E32-378C-65ECBE5113AF}"/>
                </a:ext>
              </a:extLst>
            </p:cNvPr>
            <p:cNvSpPr/>
            <p:nvPr/>
          </p:nvSpPr>
          <p:spPr>
            <a:xfrm>
              <a:off x="4336700" y="2499513"/>
              <a:ext cx="734835" cy="46800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100" b="0"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Customer Search</a:t>
              </a:r>
              <a:endParaRPr kumimoji="0" lang="en-US" sz="800" b="0"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endParaRPr>
            </a:p>
          </p:txBody>
        </p:sp>
        <p:sp>
          <p:nvSpPr>
            <p:cNvPr id="129" name="Rectángulo 22">
              <a:extLst>
                <a:ext uri="{FF2B5EF4-FFF2-40B4-BE49-F238E27FC236}">
                  <a16:creationId xmlns:a16="http://schemas.microsoft.com/office/drawing/2014/main" id="{53B4C31C-F80F-B384-C38A-B5FB885AC452}"/>
                </a:ext>
              </a:extLst>
            </p:cNvPr>
            <p:cNvSpPr/>
            <p:nvPr/>
          </p:nvSpPr>
          <p:spPr>
            <a:xfrm>
              <a:off x="5158053" y="2499513"/>
              <a:ext cx="782162" cy="46800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100" kern="0">
                  <a:solidFill>
                    <a:srgbClr val="DEEDF1">
                      <a:lumMod val="25000"/>
                    </a:srgbClr>
                  </a:solidFill>
                  <a:latin typeface="Santander Text" panose="020B0504020201020104" pitchFamily="34" charset="0"/>
                </a:rPr>
                <a:t>Customer Profile</a:t>
              </a:r>
              <a:endParaRPr kumimoji="0" lang="en-US" sz="800" b="0"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endParaRPr>
            </a:p>
          </p:txBody>
        </p:sp>
        <p:sp>
          <p:nvSpPr>
            <p:cNvPr id="130" name="Rectángulo 23">
              <a:extLst>
                <a:ext uri="{FF2B5EF4-FFF2-40B4-BE49-F238E27FC236}">
                  <a16:creationId xmlns:a16="http://schemas.microsoft.com/office/drawing/2014/main" id="{70686AB4-1897-399A-D199-34CDE6CD738A}"/>
                </a:ext>
              </a:extLst>
            </p:cNvPr>
            <p:cNvSpPr/>
            <p:nvPr/>
          </p:nvSpPr>
          <p:spPr>
            <a:xfrm>
              <a:off x="5985065" y="2499513"/>
              <a:ext cx="895676" cy="46800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100" kern="0">
                  <a:solidFill>
                    <a:srgbClr val="DEEDF1">
                      <a:lumMod val="25000"/>
                    </a:srgbClr>
                  </a:solidFill>
                  <a:latin typeface="Santander Text" panose="020B0504020201020104" pitchFamily="34" charset="0"/>
                </a:rPr>
                <a:t>Interactions</a:t>
              </a:r>
              <a:endParaRPr kumimoji="0" lang="en-US" sz="800" b="0"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endParaRPr>
            </a:p>
          </p:txBody>
        </p:sp>
        <p:sp>
          <p:nvSpPr>
            <p:cNvPr id="131" name="Rectángulo 24">
              <a:extLst>
                <a:ext uri="{FF2B5EF4-FFF2-40B4-BE49-F238E27FC236}">
                  <a16:creationId xmlns:a16="http://schemas.microsoft.com/office/drawing/2014/main" id="{B69ACBEE-BEE3-C792-1566-324625573B35}"/>
                </a:ext>
              </a:extLst>
            </p:cNvPr>
            <p:cNvSpPr/>
            <p:nvPr/>
          </p:nvSpPr>
          <p:spPr>
            <a:xfrm>
              <a:off x="6925591" y="2499513"/>
              <a:ext cx="773902" cy="46800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100" kern="0">
                  <a:solidFill>
                    <a:srgbClr val="DEEDF1">
                      <a:lumMod val="25000"/>
                    </a:srgbClr>
                  </a:solidFill>
                  <a:latin typeface="Santander Text" panose="020B0504020201020104" pitchFamily="34" charset="0"/>
                </a:rPr>
                <a:t>Wrap Up</a:t>
              </a:r>
              <a:endParaRPr kumimoji="0" lang="en-US" sz="800" b="0"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endParaRPr>
            </a:p>
          </p:txBody>
        </p:sp>
        <p:sp>
          <p:nvSpPr>
            <p:cNvPr id="132" name="Rectángulo 25">
              <a:extLst>
                <a:ext uri="{FF2B5EF4-FFF2-40B4-BE49-F238E27FC236}">
                  <a16:creationId xmlns:a16="http://schemas.microsoft.com/office/drawing/2014/main" id="{1B5A1597-5146-E9E6-4BE2-A98E0A9EEF52}"/>
                </a:ext>
              </a:extLst>
            </p:cNvPr>
            <p:cNvSpPr/>
            <p:nvPr/>
          </p:nvSpPr>
          <p:spPr>
            <a:xfrm>
              <a:off x="7744343" y="2499513"/>
              <a:ext cx="963458" cy="46800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100" kern="0">
                  <a:solidFill>
                    <a:srgbClr val="DEEDF1">
                      <a:lumMod val="25000"/>
                    </a:srgbClr>
                  </a:solidFill>
                  <a:latin typeface="Santander Text" panose="020B0504020201020104" pitchFamily="34" charset="0"/>
                </a:rPr>
                <a:t>CRM Offers / Opportunities</a:t>
              </a:r>
              <a:endParaRPr kumimoji="0" lang="en-US" sz="800" b="0"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endParaRPr>
            </a:p>
          </p:txBody>
        </p:sp>
        <p:sp>
          <p:nvSpPr>
            <p:cNvPr id="133" name="Rectángulo 26">
              <a:extLst>
                <a:ext uri="{FF2B5EF4-FFF2-40B4-BE49-F238E27FC236}">
                  <a16:creationId xmlns:a16="http://schemas.microsoft.com/office/drawing/2014/main" id="{F2FAB9AF-084B-4E92-D5E4-E9910F23E096}"/>
                </a:ext>
              </a:extLst>
            </p:cNvPr>
            <p:cNvSpPr/>
            <p:nvPr/>
          </p:nvSpPr>
          <p:spPr>
            <a:xfrm>
              <a:off x="8746590" y="2499513"/>
              <a:ext cx="868680" cy="46800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100" kern="0">
                  <a:solidFill>
                    <a:srgbClr val="DEEDF1">
                      <a:lumMod val="25000"/>
                    </a:srgbClr>
                  </a:solidFill>
                  <a:latin typeface="Santander Text" panose="020B0504020201020104" pitchFamily="34" charset="0"/>
                </a:rPr>
                <a:t>Tasks</a:t>
              </a:r>
              <a:endParaRPr kumimoji="0" lang="en-US" sz="800" b="0"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endParaRPr>
            </a:p>
          </p:txBody>
        </p:sp>
        <p:sp>
          <p:nvSpPr>
            <p:cNvPr id="134" name="Rectángulo 27">
              <a:extLst>
                <a:ext uri="{FF2B5EF4-FFF2-40B4-BE49-F238E27FC236}">
                  <a16:creationId xmlns:a16="http://schemas.microsoft.com/office/drawing/2014/main" id="{473D2042-68F7-267F-D645-AB059A5673C5}"/>
                </a:ext>
              </a:extLst>
            </p:cNvPr>
            <p:cNvSpPr/>
            <p:nvPr/>
          </p:nvSpPr>
          <p:spPr>
            <a:xfrm>
              <a:off x="9660120" y="2499513"/>
              <a:ext cx="868680" cy="46800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100" kern="0">
                  <a:solidFill>
                    <a:srgbClr val="DEEDF1">
                      <a:lumMod val="25000"/>
                    </a:srgbClr>
                  </a:solidFill>
                  <a:latin typeface="Santander Text" panose="020B0504020201020104" pitchFamily="34" charset="0"/>
                </a:rPr>
                <a:t>Alerts</a:t>
              </a:r>
              <a:endParaRPr kumimoji="0" lang="en-US" sz="800" b="0"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endParaRPr>
            </a:p>
          </p:txBody>
        </p:sp>
        <p:sp>
          <p:nvSpPr>
            <p:cNvPr id="135" name="Rectángulo 28">
              <a:extLst>
                <a:ext uri="{FF2B5EF4-FFF2-40B4-BE49-F238E27FC236}">
                  <a16:creationId xmlns:a16="http://schemas.microsoft.com/office/drawing/2014/main" id="{66DED3A8-7195-B5E6-9110-4F9A6AFBD067}"/>
                </a:ext>
              </a:extLst>
            </p:cNvPr>
            <p:cNvSpPr/>
            <p:nvPr/>
          </p:nvSpPr>
          <p:spPr>
            <a:xfrm>
              <a:off x="10577642" y="2499513"/>
              <a:ext cx="821913" cy="46800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100" kern="0">
                  <a:solidFill>
                    <a:srgbClr val="DEEDF1">
                      <a:lumMod val="25000"/>
                    </a:srgbClr>
                  </a:solidFill>
                  <a:latin typeface="Santander Text" panose="020B0504020201020104" pitchFamily="34" charset="0"/>
                </a:rPr>
                <a:t>Processes View</a:t>
              </a:r>
              <a:endParaRPr kumimoji="0" lang="en-US" sz="800" b="0"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endParaRPr>
            </a:p>
          </p:txBody>
        </p:sp>
      </p:grpSp>
      <p:grpSp>
        <p:nvGrpSpPr>
          <p:cNvPr id="164" name="Group 163">
            <a:extLst>
              <a:ext uri="{FF2B5EF4-FFF2-40B4-BE49-F238E27FC236}">
                <a16:creationId xmlns:a16="http://schemas.microsoft.com/office/drawing/2014/main" id="{76D05089-835C-920B-C1BD-96B2D84E9CC0}"/>
              </a:ext>
            </a:extLst>
          </p:cNvPr>
          <p:cNvGrpSpPr/>
          <p:nvPr/>
        </p:nvGrpSpPr>
        <p:grpSpPr>
          <a:xfrm>
            <a:off x="807964" y="3277882"/>
            <a:ext cx="10906551" cy="468000"/>
            <a:chOff x="493004" y="3191119"/>
            <a:chExt cx="10906551" cy="468000"/>
          </a:xfrm>
        </p:grpSpPr>
        <p:sp>
          <p:nvSpPr>
            <p:cNvPr id="106" name="Rectángulo 61">
              <a:extLst>
                <a:ext uri="{FF2B5EF4-FFF2-40B4-BE49-F238E27FC236}">
                  <a16:creationId xmlns:a16="http://schemas.microsoft.com/office/drawing/2014/main" id="{4D86D0CD-0F75-A9DF-B6B6-F133843A4CD8}"/>
                </a:ext>
              </a:extLst>
            </p:cNvPr>
            <p:cNvSpPr/>
            <p:nvPr/>
          </p:nvSpPr>
          <p:spPr>
            <a:xfrm>
              <a:off x="493004" y="3191119"/>
              <a:ext cx="3732783" cy="468000"/>
            </a:xfrm>
            <a:prstGeom prst="rect">
              <a:avLst/>
            </a:prstGeom>
            <a:solidFill>
              <a:srgbClr val="DEEDF1"/>
            </a:solidFill>
            <a:ln w="12700" cap="flat" cmpd="sng" algn="ctr">
              <a:noFill/>
              <a:prstDash val="solid"/>
              <a:miter lim="800000"/>
            </a:ln>
            <a:effectLst/>
          </p:spPr>
          <p:txBody>
            <a:bodyPr lIns="72000" rIns="36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55600" marR="0" lvl="0" indent="-355600" algn="l" defTabSz="914400" rtl="0" eaLnBrk="1" fontAlgn="auto" latinLnBrk="0" hangingPunct="1">
                <a:lnSpc>
                  <a:spcPct val="100000"/>
                </a:lnSpc>
                <a:spcBef>
                  <a:spcPts val="0"/>
                </a:spcBef>
                <a:spcAft>
                  <a:spcPts val="300"/>
                </a:spcAft>
                <a:buClrTx/>
                <a:buSzTx/>
                <a:buFontTx/>
                <a:buNone/>
                <a:tabLst/>
                <a:defRPr/>
              </a:pPr>
              <a:r>
                <a:rPr kumimoji="0" lang="en-US" sz="10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4 – Interaction Manager</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900" b="0" i="1"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Organize, Supervise and controlling communications between Customers, focus in the continuous improvement</a:t>
              </a:r>
            </a:p>
          </p:txBody>
        </p:sp>
        <p:grpSp>
          <p:nvGrpSpPr>
            <p:cNvPr id="116" name="Group 115">
              <a:extLst>
                <a:ext uri="{FF2B5EF4-FFF2-40B4-BE49-F238E27FC236}">
                  <a16:creationId xmlns:a16="http://schemas.microsoft.com/office/drawing/2014/main" id="{66C376CA-B994-CA31-91C7-2DB4A538372D}"/>
                </a:ext>
              </a:extLst>
            </p:cNvPr>
            <p:cNvGrpSpPr/>
            <p:nvPr/>
          </p:nvGrpSpPr>
          <p:grpSpPr>
            <a:xfrm>
              <a:off x="4336701" y="3191119"/>
              <a:ext cx="6346593" cy="468000"/>
              <a:chOff x="4134671" y="3235067"/>
              <a:chExt cx="6462187" cy="665566"/>
            </a:xfrm>
          </p:grpSpPr>
          <p:sp>
            <p:nvSpPr>
              <p:cNvPr id="154" name="Rectángulo 79">
                <a:extLst>
                  <a:ext uri="{FF2B5EF4-FFF2-40B4-BE49-F238E27FC236}">
                    <a16:creationId xmlns:a16="http://schemas.microsoft.com/office/drawing/2014/main" id="{F13A8413-3F4B-A730-CB20-E44D472D6B8E}"/>
                  </a:ext>
                </a:extLst>
              </p:cNvPr>
              <p:cNvSpPr/>
              <p:nvPr/>
            </p:nvSpPr>
            <p:spPr>
              <a:xfrm>
                <a:off x="4134671" y="3245245"/>
                <a:ext cx="1257348" cy="648000"/>
              </a:xfrm>
              <a:prstGeom prst="rect">
                <a:avLst/>
              </a:prstGeom>
              <a:solidFill>
                <a:schemeClr val="bg1"/>
              </a:solidFill>
              <a:ln w="12700" cap="flat" cmpd="sng" algn="ctr">
                <a:solidFill>
                  <a:srgbClr val="0070C0"/>
                </a:solidFill>
                <a:prstDash val="solid"/>
                <a:miter lim="800000"/>
              </a:ln>
              <a:effectLst/>
            </p:spPr>
            <p:txBody>
              <a:bodyPr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1B39"/>
                    </a:solidFill>
                    <a:effectLst/>
                    <a:uLnTx/>
                    <a:uFillTx/>
                    <a:latin typeface="Santander Text" panose="020B0504020201020104" pitchFamily="34" charset="0"/>
                    <a:ea typeface="+mn-ea"/>
                    <a:cs typeface="+mn-cs"/>
                  </a:rPr>
                  <a:t>Appointment and Visit Manager</a:t>
                </a:r>
              </a:p>
            </p:txBody>
          </p:sp>
          <p:sp>
            <p:nvSpPr>
              <p:cNvPr id="155" name="Rectángulo 80">
                <a:extLst>
                  <a:ext uri="{FF2B5EF4-FFF2-40B4-BE49-F238E27FC236}">
                    <a16:creationId xmlns:a16="http://schemas.microsoft.com/office/drawing/2014/main" id="{4DB9EFEB-34B6-A36E-C592-024203A3F581}"/>
                  </a:ext>
                </a:extLst>
              </p:cNvPr>
              <p:cNvSpPr/>
              <p:nvPr/>
            </p:nvSpPr>
            <p:spPr>
              <a:xfrm>
                <a:off x="7703241" y="3245245"/>
                <a:ext cx="882141" cy="648000"/>
              </a:xfrm>
              <a:prstGeom prst="rect">
                <a:avLst/>
              </a:prstGeom>
              <a:solidFill>
                <a:schemeClr val="bg1"/>
              </a:solidFill>
              <a:ln w="12700" cap="flat" cmpd="sng" algn="ctr">
                <a:solidFill>
                  <a:srgbClr val="0070C0"/>
                </a:solidFill>
                <a:prstDash val="solid"/>
                <a:miter lim="800000"/>
              </a:ln>
              <a:effectLst/>
            </p:spPr>
            <p:txBody>
              <a:bodyPr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1B39"/>
                    </a:solidFill>
                    <a:effectLst/>
                    <a:uLnTx/>
                    <a:uFillTx/>
                    <a:latin typeface="Santander Text" panose="020B0504020201020104" pitchFamily="34" charset="0"/>
                    <a:ea typeface="+mn-ea"/>
                    <a:cs typeface="+mn-cs"/>
                  </a:rPr>
                  <a:t>Reporting</a:t>
                </a:r>
              </a:p>
            </p:txBody>
          </p:sp>
          <p:sp>
            <p:nvSpPr>
              <p:cNvPr id="156" name="Rectángulo 81">
                <a:extLst>
                  <a:ext uri="{FF2B5EF4-FFF2-40B4-BE49-F238E27FC236}">
                    <a16:creationId xmlns:a16="http://schemas.microsoft.com/office/drawing/2014/main" id="{448DBBE5-737F-4C97-82EF-EA8377200364}"/>
                  </a:ext>
                </a:extLst>
              </p:cNvPr>
              <p:cNvSpPr/>
              <p:nvPr/>
            </p:nvSpPr>
            <p:spPr>
              <a:xfrm>
                <a:off x="9633400" y="3235067"/>
                <a:ext cx="963458" cy="648000"/>
              </a:xfrm>
              <a:prstGeom prst="rect">
                <a:avLst/>
              </a:prstGeom>
              <a:solidFill>
                <a:schemeClr val="bg1"/>
              </a:solidFill>
              <a:ln w="12700" cap="flat" cmpd="sng" algn="ctr">
                <a:solidFill>
                  <a:srgbClr val="0070C0"/>
                </a:solidFill>
                <a:prstDash val="solid"/>
                <a:miter lim="800000"/>
              </a:ln>
              <a:effectLst/>
            </p:spPr>
            <p:txBody>
              <a:bodyPr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1B39"/>
                    </a:solidFill>
                    <a:effectLst/>
                    <a:uLnTx/>
                    <a:uFillTx/>
                    <a:latin typeface="Santander Text" panose="020B0504020201020104" pitchFamily="34" charset="0"/>
                    <a:ea typeface="+mn-ea"/>
                    <a:cs typeface="+mn-cs"/>
                  </a:rPr>
                  <a:t> Quality Manager</a:t>
                </a:r>
              </a:p>
            </p:txBody>
          </p:sp>
          <p:sp>
            <p:nvSpPr>
              <p:cNvPr id="157" name="Rectángulo 82">
                <a:extLst>
                  <a:ext uri="{FF2B5EF4-FFF2-40B4-BE49-F238E27FC236}">
                    <a16:creationId xmlns:a16="http://schemas.microsoft.com/office/drawing/2014/main" id="{19FE155D-851F-9A5C-FCD5-401592C959D8}"/>
                  </a:ext>
                </a:extLst>
              </p:cNvPr>
              <p:cNvSpPr/>
              <p:nvPr/>
            </p:nvSpPr>
            <p:spPr>
              <a:xfrm>
                <a:off x="5436181" y="3252633"/>
                <a:ext cx="1077231" cy="648000"/>
              </a:xfrm>
              <a:prstGeom prst="rect">
                <a:avLst/>
              </a:prstGeom>
              <a:solidFill>
                <a:schemeClr val="bg1"/>
              </a:solidFill>
              <a:ln w="12700" cap="flat" cmpd="sng" algn="ctr">
                <a:solidFill>
                  <a:srgbClr val="0070C0"/>
                </a:solidFill>
                <a:prstDash val="solid"/>
                <a:miter lim="800000"/>
              </a:ln>
              <a:effectLst/>
            </p:spPr>
            <p:txBody>
              <a:bodyPr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1B39"/>
                    </a:solidFill>
                    <a:effectLst/>
                    <a:uLnTx/>
                    <a:uFillTx/>
                    <a:latin typeface="Santander Text" panose="020B0504020201020104" pitchFamily="34" charset="0"/>
                    <a:ea typeface="+mn-ea"/>
                    <a:cs typeface="+mn-cs"/>
                  </a:rPr>
                  <a:t>Interaction Manager</a:t>
                </a:r>
              </a:p>
            </p:txBody>
          </p:sp>
          <p:sp>
            <p:nvSpPr>
              <p:cNvPr id="158" name="Rectángulo 82">
                <a:extLst>
                  <a:ext uri="{FF2B5EF4-FFF2-40B4-BE49-F238E27FC236}">
                    <a16:creationId xmlns:a16="http://schemas.microsoft.com/office/drawing/2014/main" id="{ED83B2CC-49B2-98AA-FDBB-A2B6AD20F9AC}"/>
                  </a:ext>
                </a:extLst>
              </p:cNvPr>
              <p:cNvSpPr/>
              <p:nvPr/>
            </p:nvSpPr>
            <p:spPr>
              <a:xfrm>
                <a:off x="6569305" y="3240387"/>
                <a:ext cx="1077231" cy="648000"/>
              </a:xfrm>
              <a:prstGeom prst="rect">
                <a:avLst/>
              </a:prstGeom>
              <a:solidFill>
                <a:schemeClr val="bg1"/>
              </a:solidFill>
              <a:ln w="12700" cap="flat" cmpd="sng" algn="ctr">
                <a:solidFill>
                  <a:srgbClr val="0070C0"/>
                </a:solidFill>
                <a:prstDash val="solid"/>
                <a:miter lim="800000"/>
              </a:ln>
              <a:effectLst/>
            </p:spPr>
            <p:txBody>
              <a:bodyPr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1B39"/>
                    </a:solidFill>
                    <a:effectLst/>
                    <a:uLnTx/>
                    <a:uFillTx/>
                    <a:latin typeface="Santander Text" panose="020B0504020201020104" pitchFamily="34" charset="0"/>
                    <a:ea typeface="+mn-ea"/>
                    <a:cs typeface="+mn-cs"/>
                  </a:rPr>
                  <a:t>CC Interactions</a:t>
                </a:r>
              </a:p>
            </p:txBody>
          </p:sp>
          <p:sp>
            <p:nvSpPr>
              <p:cNvPr id="159" name="Rectángulo 81">
                <a:extLst>
                  <a:ext uri="{FF2B5EF4-FFF2-40B4-BE49-F238E27FC236}">
                    <a16:creationId xmlns:a16="http://schemas.microsoft.com/office/drawing/2014/main" id="{FC1F0B17-DF6C-EC22-3A76-B4D6FB59DB1F}"/>
                  </a:ext>
                </a:extLst>
              </p:cNvPr>
              <p:cNvSpPr/>
              <p:nvPr/>
            </p:nvSpPr>
            <p:spPr>
              <a:xfrm>
                <a:off x="8642087" y="3238892"/>
                <a:ext cx="942931" cy="648000"/>
              </a:xfrm>
              <a:prstGeom prst="rect">
                <a:avLst/>
              </a:prstGeom>
              <a:solidFill>
                <a:schemeClr val="bg1"/>
              </a:solidFill>
              <a:ln w="12700" cap="flat" cmpd="sng" algn="ctr">
                <a:solidFill>
                  <a:srgbClr val="0070C0"/>
                </a:solidFill>
                <a:prstDash val="solid"/>
                <a:miter lim="800000"/>
              </a:ln>
              <a:effectLst/>
            </p:spPr>
            <p:txBody>
              <a:bodyPr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1B39"/>
                    </a:solidFill>
                    <a:effectLst/>
                    <a:uLnTx/>
                    <a:uFillTx/>
                    <a:latin typeface="Santander Text" panose="020B0504020201020104" pitchFamily="34" charset="0"/>
                    <a:ea typeface="+mn-ea"/>
                    <a:cs typeface="+mn-cs"/>
                  </a:rPr>
                  <a:t> Campaigns</a:t>
                </a:r>
              </a:p>
            </p:txBody>
          </p:sp>
        </p:grpSp>
        <p:sp>
          <p:nvSpPr>
            <p:cNvPr id="137" name="Rectángulo 81">
              <a:extLst>
                <a:ext uri="{FF2B5EF4-FFF2-40B4-BE49-F238E27FC236}">
                  <a16:creationId xmlns:a16="http://schemas.microsoft.com/office/drawing/2014/main" id="{BFFE1447-3C1A-902F-E110-C91F7C553A3A}"/>
                </a:ext>
              </a:extLst>
            </p:cNvPr>
            <p:cNvSpPr/>
            <p:nvPr/>
          </p:nvSpPr>
          <p:spPr>
            <a:xfrm>
              <a:off x="10730814" y="3191119"/>
              <a:ext cx="668741" cy="468000"/>
            </a:xfrm>
            <a:prstGeom prst="rect">
              <a:avLst/>
            </a:prstGeom>
            <a:solidFill>
              <a:schemeClr val="bg1"/>
            </a:solidFill>
            <a:ln w="12700" cap="flat" cmpd="sng" algn="ctr">
              <a:solidFill>
                <a:srgbClr val="0070C0"/>
              </a:solidFill>
              <a:prstDash val="solid"/>
              <a:miter lim="800000"/>
            </a:ln>
            <a:effectLst/>
          </p:spPr>
          <p:txBody>
            <a:bodyPr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1B39"/>
                  </a:solidFill>
                  <a:effectLst/>
                  <a:uLnTx/>
                  <a:uFillTx/>
                  <a:latin typeface="Santander Text" panose="020B0504020201020104" pitchFamily="34" charset="0"/>
                  <a:ea typeface="+mn-ea"/>
                  <a:cs typeface="+mn-cs"/>
                </a:rPr>
                <a:t> WFM</a:t>
              </a:r>
            </a:p>
          </p:txBody>
        </p:sp>
      </p:grpSp>
      <p:grpSp>
        <p:nvGrpSpPr>
          <p:cNvPr id="162" name="Group 161">
            <a:extLst>
              <a:ext uri="{FF2B5EF4-FFF2-40B4-BE49-F238E27FC236}">
                <a16:creationId xmlns:a16="http://schemas.microsoft.com/office/drawing/2014/main" id="{DEAAE935-00BD-FBC2-FB2F-31F50F75FCA6}"/>
              </a:ext>
            </a:extLst>
          </p:cNvPr>
          <p:cNvGrpSpPr/>
          <p:nvPr/>
        </p:nvGrpSpPr>
        <p:grpSpPr>
          <a:xfrm>
            <a:off x="807964" y="4537512"/>
            <a:ext cx="10906551" cy="468000"/>
            <a:chOff x="493004" y="4592017"/>
            <a:chExt cx="10906551" cy="468000"/>
          </a:xfrm>
        </p:grpSpPr>
        <p:sp>
          <p:nvSpPr>
            <p:cNvPr id="115" name="Rectángulo 88">
              <a:extLst>
                <a:ext uri="{FF2B5EF4-FFF2-40B4-BE49-F238E27FC236}">
                  <a16:creationId xmlns:a16="http://schemas.microsoft.com/office/drawing/2014/main" id="{DB2C7392-15D8-6718-3766-E03815EDABC1}"/>
                </a:ext>
              </a:extLst>
            </p:cNvPr>
            <p:cNvSpPr/>
            <p:nvPr/>
          </p:nvSpPr>
          <p:spPr>
            <a:xfrm>
              <a:off x="493004" y="4592017"/>
              <a:ext cx="3732783" cy="468000"/>
            </a:xfrm>
            <a:prstGeom prst="rect">
              <a:avLst/>
            </a:prstGeom>
            <a:solidFill>
              <a:srgbClr val="DEEDF1"/>
            </a:solidFill>
            <a:ln w="12700" cap="flat" cmpd="sng" algn="ctr">
              <a:noFill/>
              <a:prstDash val="solid"/>
              <a:miter lim="800000"/>
            </a:ln>
            <a:effectLst/>
          </p:spPr>
          <p:txBody>
            <a:bodyPr lIns="72000" rIns="36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55600" marR="0" lvl="0" indent="-355600" algn="l" defTabSz="914400" rtl="0" eaLnBrk="1" fontAlgn="auto" latinLnBrk="0" hangingPunct="1">
                <a:lnSpc>
                  <a:spcPct val="100000"/>
                </a:lnSpc>
                <a:spcBef>
                  <a:spcPts val="0"/>
                </a:spcBef>
                <a:spcAft>
                  <a:spcPts val="300"/>
                </a:spcAft>
                <a:buClrTx/>
                <a:buSzTx/>
                <a:buFontTx/>
                <a:buNone/>
                <a:tabLst/>
                <a:defRPr/>
              </a:pPr>
              <a:r>
                <a:rPr kumimoji="0" lang="en-US" sz="10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6 Customer Ops</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900" b="0" i="1"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Support to the registration and follow-up of customer requests, claims and complaints.</a:t>
              </a:r>
            </a:p>
          </p:txBody>
        </p:sp>
        <p:sp>
          <p:nvSpPr>
            <p:cNvPr id="138" name="Rectángulo 33">
              <a:extLst>
                <a:ext uri="{FF2B5EF4-FFF2-40B4-BE49-F238E27FC236}">
                  <a16:creationId xmlns:a16="http://schemas.microsoft.com/office/drawing/2014/main" id="{1E3DFC10-110F-9E44-E8F8-3D4BF229922D}"/>
                </a:ext>
              </a:extLst>
            </p:cNvPr>
            <p:cNvSpPr/>
            <p:nvPr/>
          </p:nvSpPr>
          <p:spPr>
            <a:xfrm>
              <a:off x="4336700" y="4592017"/>
              <a:ext cx="1710000" cy="468000"/>
            </a:xfrm>
            <a:prstGeom prst="rect">
              <a:avLst/>
            </a:prstGeom>
            <a:solidFill>
              <a:schemeClr val="bg1"/>
            </a:solidFill>
            <a:ln w="12700" cap="flat" cmpd="sng" algn="ctr">
              <a:solidFill>
                <a:srgbClr val="0070C0"/>
              </a:solidFill>
              <a:prstDash val="solid"/>
              <a:miter lim="800000"/>
            </a:ln>
            <a:effectLst/>
          </p:spPr>
          <p:txBody>
            <a:bodyPr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1B39"/>
                  </a:solidFill>
                  <a:effectLst/>
                  <a:uLnTx/>
                  <a:uFillTx/>
                  <a:latin typeface="Santander Text" panose="020B0504020201020104" pitchFamily="34" charset="0"/>
                  <a:ea typeface="+mn-ea"/>
                  <a:cs typeface="+mn-cs"/>
                </a:rPr>
                <a:t>Case and Request Solution</a:t>
              </a:r>
            </a:p>
          </p:txBody>
        </p:sp>
        <p:sp>
          <p:nvSpPr>
            <p:cNvPr id="139" name="Rectángulo 34">
              <a:extLst>
                <a:ext uri="{FF2B5EF4-FFF2-40B4-BE49-F238E27FC236}">
                  <a16:creationId xmlns:a16="http://schemas.microsoft.com/office/drawing/2014/main" id="{98303094-6948-6B7F-5768-B48D19609CA1}"/>
                </a:ext>
              </a:extLst>
            </p:cNvPr>
            <p:cNvSpPr/>
            <p:nvPr/>
          </p:nvSpPr>
          <p:spPr>
            <a:xfrm>
              <a:off x="8763492" y="4592017"/>
              <a:ext cx="2636063" cy="468000"/>
            </a:xfrm>
            <a:prstGeom prst="rect">
              <a:avLst/>
            </a:prstGeom>
            <a:solidFill>
              <a:schemeClr val="bg1"/>
            </a:solidFill>
            <a:ln w="12700" cap="flat" cmpd="sng" algn="ctr">
              <a:solidFill>
                <a:srgbClr val="0070C0"/>
              </a:solidFill>
              <a:prstDash val="solid"/>
              <a:miter lim="800000"/>
            </a:ln>
            <a:effectLst/>
          </p:spPr>
          <p:txBody>
            <a:bodyPr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kumimoji="0" lang="en-US" sz="1100" b="0"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Knowledge Base</a:t>
              </a:r>
            </a:p>
          </p:txBody>
        </p:sp>
        <p:sp>
          <p:nvSpPr>
            <p:cNvPr id="140" name="Rectángulo 35">
              <a:extLst>
                <a:ext uri="{FF2B5EF4-FFF2-40B4-BE49-F238E27FC236}">
                  <a16:creationId xmlns:a16="http://schemas.microsoft.com/office/drawing/2014/main" id="{8AA9CCC6-A636-2F47-82EF-A8111A47CBC5}"/>
                </a:ext>
              </a:extLst>
            </p:cNvPr>
            <p:cNvSpPr/>
            <p:nvPr/>
          </p:nvSpPr>
          <p:spPr>
            <a:xfrm>
              <a:off x="6120671" y="4592017"/>
              <a:ext cx="2587130" cy="468000"/>
            </a:xfrm>
            <a:prstGeom prst="rect">
              <a:avLst/>
            </a:prstGeom>
            <a:solidFill>
              <a:schemeClr val="bg1"/>
            </a:solidFill>
            <a:ln w="12700" cap="flat" cmpd="sng" algn="ctr">
              <a:solidFill>
                <a:srgbClr val="0070C0"/>
              </a:solidFill>
              <a:prstDash val="solid"/>
              <a:miter lim="800000"/>
            </a:ln>
            <a:effectLst/>
          </p:spPr>
          <p:txBody>
            <a:bodyPr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1B39"/>
                  </a:solidFill>
                  <a:effectLst/>
                  <a:uLnTx/>
                  <a:uFillTx/>
                  <a:latin typeface="Santander Text" panose="020B0504020201020104" pitchFamily="34" charset="0"/>
                  <a:ea typeface="+mn-ea"/>
                  <a:cs typeface="+mn-cs"/>
                </a:rPr>
                <a:t>Complaints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kern="0">
                  <a:solidFill>
                    <a:srgbClr val="001B39"/>
                  </a:solidFill>
                  <a:latin typeface="Santander Text" panose="020B0504020201020104" pitchFamily="34" charset="0"/>
                </a:rPr>
                <a:t>Solution</a:t>
              </a:r>
              <a:endParaRPr kumimoji="0" lang="en-US" sz="1100" b="0" i="0" u="none" strike="noStrike" kern="0" cap="none" spc="0" normalizeH="0" baseline="0" noProof="0">
                <a:ln>
                  <a:noFill/>
                </a:ln>
                <a:solidFill>
                  <a:srgbClr val="001B39"/>
                </a:solidFill>
                <a:effectLst/>
                <a:uLnTx/>
                <a:uFillTx/>
                <a:latin typeface="Santander Text" panose="020B0504020201020104" pitchFamily="34" charset="0"/>
                <a:ea typeface="+mn-ea"/>
                <a:cs typeface="+mn-cs"/>
              </a:endParaRPr>
            </a:p>
          </p:txBody>
        </p:sp>
      </p:grpSp>
      <p:grpSp>
        <p:nvGrpSpPr>
          <p:cNvPr id="161" name="Group 160">
            <a:extLst>
              <a:ext uri="{FF2B5EF4-FFF2-40B4-BE49-F238E27FC236}">
                <a16:creationId xmlns:a16="http://schemas.microsoft.com/office/drawing/2014/main" id="{A330F2AE-A145-9065-B0E2-D41E516C5792}"/>
              </a:ext>
            </a:extLst>
          </p:cNvPr>
          <p:cNvGrpSpPr/>
          <p:nvPr/>
        </p:nvGrpSpPr>
        <p:grpSpPr>
          <a:xfrm>
            <a:off x="809960" y="5167327"/>
            <a:ext cx="10902559" cy="468000"/>
            <a:chOff x="493004" y="5277434"/>
            <a:chExt cx="10902559" cy="468000"/>
          </a:xfrm>
        </p:grpSpPr>
        <p:sp>
          <p:nvSpPr>
            <p:cNvPr id="114" name="Rectángulo 83">
              <a:extLst>
                <a:ext uri="{FF2B5EF4-FFF2-40B4-BE49-F238E27FC236}">
                  <a16:creationId xmlns:a16="http://schemas.microsoft.com/office/drawing/2014/main" id="{D143449F-C98D-772F-B6DE-DDBBD6754ABD}"/>
                </a:ext>
              </a:extLst>
            </p:cNvPr>
            <p:cNvSpPr/>
            <p:nvPr/>
          </p:nvSpPr>
          <p:spPr>
            <a:xfrm>
              <a:off x="493004" y="5277434"/>
              <a:ext cx="3732783" cy="468000"/>
            </a:xfrm>
            <a:prstGeom prst="rect">
              <a:avLst/>
            </a:prstGeom>
            <a:solidFill>
              <a:srgbClr val="DEEDF1"/>
            </a:solidFill>
            <a:ln w="12700" cap="flat" cmpd="sng" algn="ctr">
              <a:noFill/>
              <a:prstDash val="solid"/>
              <a:miter lim="800000"/>
            </a:ln>
            <a:effectLst/>
          </p:spPr>
          <p:txBody>
            <a:bodyPr lIns="72000" rIns="36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55600" marR="0" lvl="0" indent="-355600" algn="l" defTabSz="914400" rtl="0" eaLnBrk="1" fontAlgn="auto" latinLnBrk="0" hangingPunct="1">
                <a:lnSpc>
                  <a:spcPct val="100000"/>
                </a:lnSpc>
                <a:spcBef>
                  <a:spcPts val="0"/>
                </a:spcBef>
                <a:spcAft>
                  <a:spcPts val="300"/>
                </a:spcAft>
                <a:buClrTx/>
                <a:buSzTx/>
                <a:buFontTx/>
                <a:buNone/>
                <a:tabLst/>
                <a:defRPr/>
              </a:pPr>
              <a:r>
                <a:rPr kumimoji="0" lang="en-US" sz="10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7 Transaction Omnichannel View</a:t>
              </a:r>
            </a:p>
            <a:p>
              <a:pPr marL="0" marR="0" lvl="0" indent="-355600" algn="l" defTabSz="914400" rtl="0" eaLnBrk="1" fontAlgn="auto" latinLnBrk="0" hangingPunct="1">
                <a:lnSpc>
                  <a:spcPct val="100000"/>
                </a:lnSpc>
                <a:spcBef>
                  <a:spcPts val="0"/>
                </a:spcBef>
                <a:spcAft>
                  <a:spcPts val="300"/>
                </a:spcAft>
                <a:buClrTx/>
                <a:buSzTx/>
                <a:buFontTx/>
                <a:buNone/>
                <a:tabLst/>
                <a:defRPr/>
              </a:pPr>
              <a:r>
                <a:rPr kumimoji="0" lang="en-US" sz="900" b="0" i="1"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Multichannel designed components to support the transactional operative at branch &amp; CC </a:t>
              </a:r>
            </a:p>
          </p:txBody>
        </p:sp>
        <p:sp>
          <p:nvSpPr>
            <p:cNvPr id="141" name="Rectángulo 36">
              <a:extLst>
                <a:ext uri="{FF2B5EF4-FFF2-40B4-BE49-F238E27FC236}">
                  <a16:creationId xmlns:a16="http://schemas.microsoft.com/office/drawing/2014/main" id="{CAEC1796-128E-A421-4553-895C42867555}"/>
                </a:ext>
              </a:extLst>
            </p:cNvPr>
            <p:cNvSpPr/>
            <p:nvPr/>
          </p:nvSpPr>
          <p:spPr>
            <a:xfrm>
              <a:off x="4336700" y="5277434"/>
              <a:ext cx="770423" cy="46800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100" b="0"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G. Position / Balance</a:t>
              </a:r>
              <a:endParaRPr kumimoji="0" lang="en-US" sz="800" b="0"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endParaRPr>
            </a:p>
          </p:txBody>
        </p:sp>
        <p:sp>
          <p:nvSpPr>
            <p:cNvPr id="142" name="Rectángulo 37">
              <a:extLst>
                <a:ext uri="{FF2B5EF4-FFF2-40B4-BE49-F238E27FC236}">
                  <a16:creationId xmlns:a16="http://schemas.microsoft.com/office/drawing/2014/main" id="{C95E7535-215B-9E8B-4155-04527027611A}"/>
                </a:ext>
              </a:extLst>
            </p:cNvPr>
            <p:cNvSpPr/>
            <p:nvPr/>
          </p:nvSpPr>
          <p:spPr>
            <a:xfrm>
              <a:off x="5158053" y="5277434"/>
              <a:ext cx="782162" cy="46800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100" kern="0">
                  <a:solidFill>
                    <a:srgbClr val="DEEDF1">
                      <a:lumMod val="25000"/>
                    </a:srgbClr>
                  </a:solidFill>
                  <a:latin typeface="Santander Text" panose="020B0504020201020104" pitchFamily="34" charset="0"/>
                </a:rPr>
                <a:t>Customer</a:t>
              </a:r>
              <a:endParaRPr kumimoji="0" lang="en-US" sz="800" b="0"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endParaRPr>
            </a:p>
          </p:txBody>
        </p:sp>
        <p:sp>
          <p:nvSpPr>
            <p:cNvPr id="143" name="Rectángulo 38">
              <a:extLst>
                <a:ext uri="{FF2B5EF4-FFF2-40B4-BE49-F238E27FC236}">
                  <a16:creationId xmlns:a16="http://schemas.microsoft.com/office/drawing/2014/main" id="{007ED94A-F293-5873-3BCF-483E5CBC24A6}"/>
                </a:ext>
              </a:extLst>
            </p:cNvPr>
            <p:cNvSpPr/>
            <p:nvPr/>
          </p:nvSpPr>
          <p:spPr>
            <a:xfrm>
              <a:off x="5985065" y="5277434"/>
              <a:ext cx="734835" cy="46800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100" kern="0">
                  <a:solidFill>
                    <a:srgbClr val="DEEDF1">
                      <a:lumMod val="25000"/>
                    </a:srgbClr>
                  </a:solidFill>
                  <a:latin typeface="Santander Text" panose="020B0504020201020104" pitchFamily="34" charset="0"/>
                </a:rPr>
                <a:t>Accounts</a:t>
              </a:r>
              <a:endParaRPr kumimoji="0" lang="en-US" sz="800" b="0"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endParaRPr>
            </a:p>
          </p:txBody>
        </p:sp>
        <p:sp>
          <p:nvSpPr>
            <p:cNvPr id="144" name="Rectángulo 39">
              <a:extLst>
                <a:ext uri="{FF2B5EF4-FFF2-40B4-BE49-F238E27FC236}">
                  <a16:creationId xmlns:a16="http://schemas.microsoft.com/office/drawing/2014/main" id="{C8C0F755-31E5-1CE8-15BA-07F9692026D0}"/>
                </a:ext>
              </a:extLst>
            </p:cNvPr>
            <p:cNvSpPr/>
            <p:nvPr/>
          </p:nvSpPr>
          <p:spPr>
            <a:xfrm>
              <a:off x="6750362" y="5277434"/>
              <a:ext cx="734835" cy="46800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100" kern="0">
                  <a:solidFill>
                    <a:srgbClr val="DEEDF1">
                      <a:lumMod val="25000"/>
                    </a:srgbClr>
                  </a:solidFill>
                  <a:latin typeface="Santander Text" panose="020B0504020201020104" pitchFamily="34" charset="0"/>
                </a:rPr>
                <a:t>Deposits</a:t>
              </a:r>
              <a:endParaRPr kumimoji="0" lang="en-US" sz="800" b="0"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endParaRPr>
            </a:p>
          </p:txBody>
        </p:sp>
        <p:sp>
          <p:nvSpPr>
            <p:cNvPr id="145" name="Rectángulo 40">
              <a:extLst>
                <a:ext uri="{FF2B5EF4-FFF2-40B4-BE49-F238E27FC236}">
                  <a16:creationId xmlns:a16="http://schemas.microsoft.com/office/drawing/2014/main" id="{9C9AC495-BFA7-622C-209B-F59CC9655B10}"/>
                </a:ext>
              </a:extLst>
            </p:cNvPr>
            <p:cNvSpPr/>
            <p:nvPr/>
          </p:nvSpPr>
          <p:spPr>
            <a:xfrm>
              <a:off x="8177614" y="5277434"/>
              <a:ext cx="680049" cy="46800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100" kern="0">
                  <a:solidFill>
                    <a:srgbClr val="DEEDF1">
                      <a:lumMod val="25000"/>
                    </a:srgbClr>
                  </a:solidFill>
                  <a:latin typeface="Santander Text" panose="020B0504020201020104" pitchFamily="34" charset="0"/>
                </a:rPr>
                <a:t>Pay</a:t>
              </a:r>
              <a:endParaRPr kumimoji="0" lang="en-US" sz="800" b="0"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endParaRPr>
            </a:p>
          </p:txBody>
        </p:sp>
        <p:sp>
          <p:nvSpPr>
            <p:cNvPr id="146" name="Rectángulo 41">
              <a:extLst>
                <a:ext uri="{FF2B5EF4-FFF2-40B4-BE49-F238E27FC236}">
                  <a16:creationId xmlns:a16="http://schemas.microsoft.com/office/drawing/2014/main" id="{20F574D1-99A9-139D-6406-7787F7146168}"/>
                </a:ext>
              </a:extLst>
            </p:cNvPr>
            <p:cNvSpPr/>
            <p:nvPr/>
          </p:nvSpPr>
          <p:spPr>
            <a:xfrm>
              <a:off x="8897676" y="5277434"/>
              <a:ext cx="752056" cy="46800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100" kern="0">
                  <a:solidFill>
                    <a:srgbClr val="DEEDF1">
                      <a:lumMod val="25000"/>
                    </a:srgbClr>
                  </a:solidFill>
                  <a:latin typeface="Santander Text" panose="020B0504020201020104" pitchFamily="34" charset="0"/>
                </a:rPr>
                <a:t>Loans</a:t>
              </a:r>
              <a:endParaRPr kumimoji="0" lang="en-US" sz="800" b="0"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endParaRPr>
            </a:p>
          </p:txBody>
        </p:sp>
        <p:sp>
          <p:nvSpPr>
            <p:cNvPr id="147" name="Rectángulo 42">
              <a:extLst>
                <a:ext uri="{FF2B5EF4-FFF2-40B4-BE49-F238E27FC236}">
                  <a16:creationId xmlns:a16="http://schemas.microsoft.com/office/drawing/2014/main" id="{E55A5F00-8982-7DCB-7C2E-05EDD9628BB7}"/>
                </a:ext>
              </a:extLst>
            </p:cNvPr>
            <p:cNvSpPr/>
            <p:nvPr/>
          </p:nvSpPr>
          <p:spPr>
            <a:xfrm>
              <a:off x="9679304" y="5277434"/>
              <a:ext cx="868680" cy="46800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100" kern="0">
                  <a:solidFill>
                    <a:srgbClr val="DEEDF1">
                      <a:lumMod val="25000"/>
                    </a:srgbClr>
                  </a:solidFill>
                  <a:latin typeface="Santander Text" panose="020B0504020201020104" pitchFamily="34" charset="0"/>
                </a:rPr>
                <a:t>Customer Security</a:t>
              </a:r>
              <a:endParaRPr kumimoji="0" lang="en-US" sz="800" b="0"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endParaRPr>
            </a:p>
          </p:txBody>
        </p:sp>
        <p:sp>
          <p:nvSpPr>
            <p:cNvPr id="148" name="Rectángulo 43">
              <a:extLst>
                <a:ext uri="{FF2B5EF4-FFF2-40B4-BE49-F238E27FC236}">
                  <a16:creationId xmlns:a16="http://schemas.microsoft.com/office/drawing/2014/main" id="{52DE2563-2685-0017-A9C0-84C246B0D315}"/>
                </a:ext>
              </a:extLst>
            </p:cNvPr>
            <p:cNvSpPr/>
            <p:nvPr/>
          </p:nvSpPr>
          <p:spPr>
            <a:xfrm>
              <a:off x="10573650" y="5277434"/>
              <a:ext cx="821913" cy="46800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100" kern="0">
                  <a:solidFill>
                    <a:srgbClr val="DEEDF1">
                      <a:lumMod val="25000"/>
                    </a:srgbClr>
                  </a:solidFill>
                  <a:latin typeface="Santander Text" panose="020B0504020201020104" pitchFamily="34" charset="0"/>
                </a:rPr>
                <a:t>Investment</a:t>
              </a:r>
              <a:endParaRPr kumimoji="0" lang="en-US" sz="800" b="0"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endParaRPr>
            </a:p>
          </p:txBody>
        </p:sp>
        <p:sp>
          <p:nvSpPr>
            <p:cNvPr id="149" name="Rectángulo 44">
              <a:extLst>
                <a:ext uri="{FF2B5EF4-FFF2-40B4-BE49-F238E27FC236}">
                  <a16:creationId xmlns:a16="http://schemas.microsoft.com/office/drawing/2014/main" id="{F7BC3761-02F5-E038-5BE6-96C422437C1A}"/>
                </a:ext>
              </a:extLst>
            </p:cNvPr>
            <p:cNvSpPr/>
            <p:nvPr/>
          </p:nvSpPr>
          <p:spPr>
            <a:xfrm>
              <a:off x="7536127" y="5277434"/>
              <a:ext cx="611915" cy="46800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100" kern="0">
                  <a:solidFill>
                    <a:srgbClr val="DEEDF1">
                      <a:lumMod val="25000"/>
                    </a:srgbClr>
                  </a:solidFill>
                  <a:latin typeface="Santander Text" panose="020B0504020201020104" pitchFamily="34" charset="0"/>
                </a:rPr>
                <a:t>Cards</a:t>
              </a:r>
              <a:endParaRPr kumimoji="0" lang="en-US" sz="800" b="0"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endParaRPr>
            </a:p>
          </p:txBody>
        </p:sp>
      </p:grpSp>
      <p:grpSp>
        <p:nvGrpSpPr>
          <p:cNvPr id="160" name="Group 159">
            <a:extLst>
              <a:ext uri="{FF2B5EF4-FFF2-40B4-BE49-F238E27FC236}">
                <a16:creationId xmlns:a16="http://schemas.microsoft.com/office/drawing/2014/main" id="{2D32FEF0-ECEB-F5B3-ED0F-FC5EDF5DE7C9}"/>
              </a:ext>
            </a:extLst>
          </p:cNvPr>
          <p:cNvGrpSpPr/>
          <p:nvPr/>
        </p:nvGrpSpPr>
        <p:grpSpPr>
          <a:xfrm>
            <a:off x="809960" y="5797141"/>
            <a:ext cx="10902559" cy="468000"/>
            <a:chOff x="493004" y="5949964"/>
            <a:chExt cx="10902559" cy="468000"/>
          </a:xfrm>
        </p:grpSpPr>
        <p:sp>
          <p:nvSpPr>
            <p:cNvPr id="136" name="Rectángulo 29">
              <a:extLst>
                <a:ext uri="{FF2B5EF4-FFF2-40B4-BE49-F238E27FC236}">
                  <a16:creationId xmlns:a16="http://schemas.microsoft.com/office/drawing/2014/main" id="{CB9DFBBE-68A0-4798-D935-637F932AC91A}"/>
                </a:ext>
              </a:extLst>
            </p:cNvPr>
            <p:cNvSpPr/>
            <p:nvPr/>
          </p:nvSpPr>
          <p:spPr>
            <a:xfrm>
              <a:off x="493004" y="5949964"/>
              <a:ext cx="3732783" cy="468000"/>
            </a:xfrm>
            <a:prstGeom prst="rect">
              <a:avLst/>
            </a:prstGeom>
            <a:solidFill>
              <a:srgbClr val="DEEDF1"/>
            </a:solidFill>
            <a:ln w="12700" cap="flat" cmpd="sng" algn="ctr">
              <a:noFill/>
              <a:prstDash val="solid"/>
              <a:miter lim="800000"/>
            </a:ln>
            <a:effectLst/>
          </p:spPr>
          <p:txBody>
            <a:bodyPr lIns="72000" rIns="36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55600" marR="0" lvl="0" indent="-355600" algn="l" defTabSz="914400" rtl="0" eaLnBrk="1" fontAlgn="auto" latinLnBrk="0" hangingPunct="1">
                <a:lnSpc>
                  <a:spcPct val="100000"/>
                </a:lnSpc>
                <a:spcBef>
                  <a:spcPts val="0"/>
                </a:spcBef>
                <a:spcAft>
                  <a:spcPts val="300"/>
                </a:spcAft>
                <a:buClrTx/>
                <a:buSzTx/>
                <a:buFontTx/>
                <a:buNone/>
                <a:tabLst/>
                <a:defRPr/>
              </a:pPr>
              <a:r>
                <a:rPr kumimoji="0" lang="en-US" sz="10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8 – Teller Solution</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900" b="0" i="1"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Transactional service for or carrying out deposits, withdrawals, cashing checks, and providing other financial services for customers at Branch</a:t>
              </a:r>
            </a:p>
          </p:txBody>
        </p:sp>
        <p:sp>
          <p:nvSpPr>
            <p:cNvPr id="150" name="Rectángulo 45">
              <a:extLst>
                <a:ext uri="{FF2B5EF4-FFF2-40B4-BE49-F238E27FC236}">
                  <a16:creationId xmlns:a16="http://schemas.microsoft.com/office/drawing/2014/main" id="{584AF4BE-B0CB-76EF-E8A2-11F8DBDADB21}"/>
                </a:ext>
              </a:extLst>
            </p:cNvPr>
            <p:cNvSpPr/>
            <p:nvPr/>
          </p:nvSpPr>
          <p:spPr>
            <a:xfrm>
              <a:off x="4336699" y="5949964"/>
              <a:ext cx="1736659" cy="468000"/>
            </a:xfrm>
            <a:prstGeom prst="rect">
              <a:avLst/>
            </a:prstGeom>
            <a:solidFill>
              <a:schemeClr val="bg1"/>
            </a:solidFill>
            <a:ln w="12700" cap="flat" cmpd="sng" algn="ctr">
              <a:solidFill>
                <a:srgbClr val="0070C0"/>
              </a:solidFill>
              <a:prstDash val="solid"/>
              <a:miter lim="800000"/>
            </a:ln>
            <a:effectLst/>
          </p:spPr>
          <p:txBody>
            <a:bodyPr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1B39"/>
                  </a:solidFill>
                  <a:effectLst/>
                  <a:uLnTx/>
                  <a:uFillTx/>
                  <a:latin typeface="Santander Text" panose="020B0504020201020104" pitchFamily="34" charset="0"/>
                  <a:ea typeface="+mn-ea"/>
                  <a:cs typeface="+mn-cs"/>
                </a:rPr>
                <a:t>Console</a:t>
              </a:r>
            </a:p>
          </p:txBody>
        </p:sp>
        <p:sp>
          <p:nvSpPr>
            <p:cNvPr id="151" name="Rectángulo 46">
              <a:extLst>
                <a:ext uri="{FF2B5EF4-FFF2-40B4-BE49-F238E27FC236}">
                  <a16:creationId xmlns:a16="http://schemas.microsoft.com/office/drawing/2014/main" id="{D2912455-88EF-2060-59D5-C2C237791DA8}"/>
                </a:ext>
              </a:extLst>
            </p:cNvPr>
            <p:cNvSpPr/>
            <p:nvPr/>
          </p:nvSpPr>
          <p:spPr>
            <a:xfrm>
              <a:off x="6120670" y="5949964"/>
              <a:ext cx="2613791" cy="468000"/>
            </a:xfrm>
            <a:prstGeom prst="rect">
              <a:avLst/>
            </a:prstGeom>
            <a:solidFill>
              <a:schemeClr val="bg1"/>
            </a:solidFill>
            <a:ln w="12700" cap="flat" cmpd="sng" algn="ctr">
              <a:solidFill>
                <a:srgbClr val="0070C0"/>
              </a:solidFill>
              <a:prstDash val="solid"/>
              <a:miter lim="800000"/>
            </a:ln>
            <a:effectLst/>
          </p:spPr>
          <p:txBody>
            <a:bodyPr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1B39"/>
                  </a:solidFill>
                  <a:effectLst/>
                  <a:uLnTx/>
                  <a:uFillTx/>
                  <a:latin typeface="Santander Text" panose="020B0504020201020104" pitchFamily="34" charset="0"/>
                  <a:ea typeface="+mn-ea"/>
                  <a:cs typeface="+mn-cs"/>
                </a:rPr>
                <a:t>Cash</a:t>
              </a:r>
            </a:p>
          </p:txBody>
        </p:sp>
        <p:sp>
          <p:nvSpPr>
            <p:cNvPr id="152" name="Rectángulo 47">
              <a:extLst>
                <a:ext uri="{FF2B5EF4-FFF2-40B4-BE49-F238E27FC236}">
                  <a16:creationId xmlns:a16="http://schemas.microsoft.com/office/drawing/2014/main" id="{26DEB798-3B51-EBDB-6B34-D21C1D33F931}"/>
                </a:ext>
              </a:extLst>
            </p:cNvPr>
            <p:cNvSpPr/>
            <p:nvPr/>
          </p:nvSpPr>
          <p:spPr>
            <a:xfrm>
              <a:off x="8781772" y="5949964"/>
              <a:ext cx="2613791" cy="468000"/>
            </a:xfrm>
            <a:prstGeom prst="rect">
              <a:avLst/>
            </a:prstGeom>
            <a:solidFill>
              <a:schemeClr val="bg1"/>
            </a:solidFill>
            <a:ln w="12700" cap="flat" cmpd="sng" algn="ctr">
              <a:solidFill>
                <a:srgbClr val="0070C0"/>
              </a:solidFill>
              <a:prstDash val="solid"/>
              <a:miter lim="800000"/>
            </a:ln>
            <a:effectLst/>
          </p:spPr>
          <p:txBody>
            <a:bodyPr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kumimoji="0" lang="en-US" sz="1100" b="0"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Cheques</a:t>
              </a:r>
            </a:p>
          </p:txBody>
        </p:sp>
      </p:grpSp>
      <p:grpSp>
        <p:nvGrpSpPr>
          <p:cNvPr id="166" name="Group 165">
            <a:extLst>
              <a:ext uri="{FF2B5EF4-FFF2-40B4-BE49-F238E27FC236}">
                <a16:creationId xmlns:a16="http://schemas.microsoft.com/office/drawing/2014/main" id="{70205040-0858-20C0-F7A3-5F4ED9DECFBD}"/>
              </a:ext>
            </a:extLst>
          </p:cNvPr>
          <p:cNvGrpSpPr/>
          <p:nvPr/>
        </p:nvGrpSpPr>
        <p:grpSpPr>
          <a:xfrm>
            <a:off x="807963" y="2018251"/>
            <a:ext cx="10906552" cy="468001"/>
            <a:chOff x="493003" y="1807375"/>
            <a:chExt cx="10906552" cy="468001"/>
          </a:xfrm>
        </p:grpSpPr>
        <p:sp>
          <p:nvSpPr>
            <p:cNvPr id="112" name="Rectángulo 72">
              <a:extLst>
                <a:ext uri="{FF2B5EF4-FFF2-40B4-BE49-F238E27FC236}">
                  <a16:creationId xmlns:a16="http://schemas.microsoft.com/office/drawing/2014/main" id="{415C6F33-7BD0-F286-FF99-F29DC98DDE2D}"/>
                </a:ext>
              </a:extLst>
            </p:cNvPr>
            <p:cNvSpPr/>
            <p:nvPr/>
          </p:nvSpPr>
          <p:spPr>
            <a:xfrm>
              <a:off x="4336700" y="1807376"/>
              <a:ext cx="734835" cy="46800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100" b="0"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Home</a:t>
              </a:r>
              <a:endParaRPr kumimoji="0" lang="en-US" sz="800" b="0"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endParaRPr>
            </a:p>
          </p:txBody>
        </p:sp>
        <p:sp>
          <p:nvSpPr>
            <p:cNvPr id="121" name="Rectángulo 13">
              <a:extLst>
                <a:ext uri="{FF2B5EF4-FFF2-40B4-BE49-F238E27FC236}">
                  <a16:creationId xmlns:a16="http://schemas.microsoft.com/office/drawing/2014/main" id="{E1CFECA5-969A-2C08-3C36-08EBE2E6C83B}"/>
                </a:ext>
              </a:extLst>
            </p:cNvPr>
            <p:cNvSpPr/>
            <p:nvPr/>
          </p:nvSpPr>
          <p:spPr>
            <a:xfrm>
              <a:off x="5158053" y="1807376"/>
              <a:ext cx="782162" cy="46800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100" kern="0">
                  <a:solidFill>
                    <a:srgbClr val="DEEDF1">
                      <a:lumMod val="25000"/>
                    </a:srgbClr>
                  </a:solidFill>
                  <a:latin typeface="Santander Text" panose="020B0504020201020104" pitchFamily="34" charset="0"/>
                </a:rPr>
                <a:t>Agenda</a:t>
              </a:r>
              <a:endParaRPr kumimoji="0" lang="en-US" sz="800" b="0"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endParaRPr>
            </a:p>
          </p:txBody>
        </p:sp>
        <p:sp>
          <p:nvSpPr>
            <p:cNvPr id="122" name="Rectángulo 14">
              <a:extLst>
                <a:ext uri="{FF2B5EF4-FFF2-40B4-BE49-F238E27FC236}">
                  <a16:creationId xmlns:a16="http://schemas.microsoft.com/office/drawing/2014/main" id="{3E65F2FC-A6CA-508C-A4CF-178AA59A6FF8}"/>
                </a:ext>
              </a:extLst>
            </p:cNvPr>
            <p:cNvSpPr/>
            <p:nvPr/>
          </p:nvSpPr>
          <p:spPr>
            <a:xfrm>
              <a:off x="5985065" y="1807376"/>
              <a:ext cx="895676" cy="46800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100" kern="0">
                  <a:solidFill>
                    <a:srgbClr val="DEEDF1">
                      <a:lumMod val="25000"/>
                    </a:srgbClr>
                  </a:solidFill>
                  <a:latin typeface="Santander Text" panose="020B0504020201020104" pitchFamily="34" charset="0"/>
                </a:rPr>
                <a:t>How I Am</a:t>
              </a:r>
              <a:endParaRPr kumimoji="0" lang="en-US" sz="800" b="0"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endParaRPr>
            </a:p>
          </p:txBody>
        </p:sp>
        <p:sp>
          <p:nvSpPr>
            <p:cNvPr id="123" name="Rectángulo 15">
              <a:extLst>
                <a:ext uri="{FF2B5EF4-FFF2-40B4-BE49-F238E27FC236}">
                  <a16:creationId xmlns:a16="http://schemas.microsoft.com/office/drawing/2014/main" id="{80CBA1E2-5F25-4796-DD16-F78C7D904964}"/>
                </a:ext>
              </a:extLst>
            </p:cNvPr>
            <p:cNvSpPr/>
            <p:nvPr/>
          </p:nvSpPr>
          <p:spPr>
            <a:xfrm>
              <a:off x="6925591" y="1807376"/>
              <a:ext cx="868680" cy="46800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100" kern="0">
                  <a:solidFill>
                    <a:srgbClr val="DEEDF1">
                      <a:lumMod val="25000"/>
                    </a:srgbClr>
                  </a:solidFill>
                  <a:latin typeface="Santander Text" panose="020B0504020201020104" pitchFamily="34" charset="0"/>
                </a:rPr>
                <a:t>My Customer</a:t>
              </a:r>
              <a:endParaRPr kumimoji="0" lang="en-US" sz="800" b="0"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endParaRPr>
            </a:p>
          </p:txBody>
        </p:sp>
        <p:sp>
          <p:nvSpPr>
            <p:cNvPr id="124" name="Rectángulo 16">
              <a:extLst>
                <a:ext uri="{FF2B5EF4-FFF2-40B4-BE49-F238E27FC236}">
                  <a16:creationId xmlns:a16="http://schemas.microsoft.com/office/drawing/2014/main" id="{09C15BB0-AB3A-3AE2-C81E-8B9E9AC42B9B}"/>
                </a:ext>
              </a:extLst>
            </p:cNvPr>
            <p:cNvSpPr/>
            <p:nvPr/>
          </p:nvSpPr>
          <p:spPr>
            <a:xfrm>
              <a:off x="7839121" y="1807376"/>
              <a:ext cx="868680" cy="46800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100" kern="0">
                  <a:solidFill>
                    <a:srgbClr val="DEEDF1">
                      <a:lumMod val="25000"/>
                    </a:srgbClr>
                  </a:solidFill>
                  <a:latin typeface="Santander Text" panose="020B0504020201020104" pitchFamily="34" charset="0"/>
                </a:rPr>
                <a:t>My Store</a:t>
              </a:r>
              <a:endParaRPr kumimoji="0" lang="en-US" sz="800" b="0"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endParaRPr>
            </a:p>
          </p:txBody>
        </p:sp>
        <p:sp>
          <p:nvSpPr>
            <p:cNvPr id="125" name="Rectángulo 17">
              <a:extLst>
                <a:ext uri="{FF2B5EF4-FFF2-40B4-BE49-F238E27FC236}">
                  <a16:creationId xmlns:a16="http://schemas.microsoft.com/office/drawing/2014/main" id="{BCDE329E-4627-C942-2541-09859043C669}"/>
                </a:ext>
              </a:extLst>
            </p:cNvPr>
            <p:cNvSpPr/>
            <p:nvPr/>
          </p:nvSpPr>
          <p:spPr>
            <a:xfrm>
              <a:off x="8746590" y="1807376"/>
              <a:ext cx="868680" cy="46800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100" kern="0">
                  <a:solidFill>
                    <a:srgbClr val="DEEDF1">
                      <a:lumMod val="25000"/>
                    </a:srgbClr>
                  </a:solidFill>
                  <a:latin typeface="Santander Text" panose="020B0504020201020104" pitchFamily="34" charset="0"/>
                </a:rPr>
                <a:t>Visit Map</a:t>
              </a:r>
              <a:endParaRPr kumimoji="0" lang="en-US" sz="800" b="0"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endParaRPr>
            </a:p>
          </p:txBody>
        </p:sp>
        <p:sp>
          <p:nvSpPr>
            <p:cNvPr id="126" name="Rectángulo 18">
              <a:extLst>
                <a:ext uri="{FF2B5EF4-FFF2-40B4-BE49-F238E27FC236}">
                  <a16:creationId xmlns:a16="http://schemas.microsoft.com/office/drawing/2014/main" id="{3406196E-5D51-36BF-75F4-EEAE52117691}"/>
                </a:ext>
              </a:extLst>
            </p:cNvPr>
            <p:cNvSpPr/>
            <p:nvPr/>
          </p:nvSpPr>
          <p:spPr>
            <a:xfrm>
              <a:off x="9660120" y="1807376"/>
              <a:ext cx="868680" cy="46800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100" kern="0">
                  <a:solidFill>
                    <a:srgbClr val="DEEDF1">
                      <a:lumMod val="25000"/>
                    </a:srgbClr>
                  </a:solidFill>
                  <a:latin typeface="Santander Text" panose="020B0504020201020104" pitchFamily="34" charset="0"/>
                </a:rPr>
                <a:t>NBC/Action</a:t>
              </a:r>
              <a:endParaRPr kumimoji="0" lang="en-US" sz="800" b="0"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endParaRPr>
            </a:p>
          </p:txBody>
        </p:sp>
        <p:sp>
          <p:nvSpPr>
            <p:cNvPr id="127" name="Rectángulo 19">
              <a:extLst>
                <a:ext uri="{FF2B5EF4-FFF2-40B4-BE49-F238E27FC236}">
                  <a16:creationId xmlns:a16="http://schemas.microsoft.com/office/drawing/2014/main" id="{41E04C4D-4AD7-8F71-10C9-44B12A5C9735}"/>
                </a:ext>
              </a:extLst>
            </p:cNvPr>
            <p:cNvSpPr/>
            <p:nvPr/>
          </p:nvSpPr>
          <p:spPr>
            <a:xfrm>
              <a:off x="10577642" y="1807376"/>
              <a:ext cx="821913" cy="46800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100" kern="0">
                  <a:solidFill>
                    <a:srgbClr val="DEEDF1">
                      <a:lumMod val="25000"/>
                    </a:srgbClr>
                  </a:solidFill>
                  <a:latin typeface="Santander Text" panose="020B0504020201020104" pitchFamily="34" charset="0"/>
                </a:rPr>
                <a:t>My Courses</a:t>
              </a:r>
              <a:endParaRPr kumimoji="0" lang="en-US" sz="800" b="0"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endParaRPr>
            </a:p>
          </p:txBody>
        </p:sp>
        <p:sp>
          <p:nvSpPr>
            <p:cNvPr id="153" name="Rectángulo 11">
              <a:extLst>
                <a:ext uri="{FF2B5EF4-FFF2-40B4-BE49-F238E27FC236}">
                  <a16:creationId xmlns:a16="http://schemas.microsoft.com/office/drawing/2014/main" id="{26146072-0771-26A2-6520-D70D2776DA8D}"/>
                </a:ext>
              </a:extLst>
            </p:cNvPr>
            <p:cNvSpPr/>
            <p:nvPr/>
          </p:nvSpPr>
          <p:spPr>
            <a:xfrm>
              <a:off x="493003" y="1807375"/>
              <a:ext cx="3732783" cy="468000"/>
            </a:xfrm>
            <a:prstGeom prst="rect">
              <a:avLst/>
            </a:prstGeom>
            <a:solidFill>
              <a:srgbClr val="DEEDF1"/>
            </a:solidFill>
            <a:ln w="12700" cap="flat" cmpd="sng" algn="ctr">
              <a:noFill/>
              <a:prstDash val="solid"/>
              <a:miter lim="800000"/>
            </a:ln>
            <a:effectLst/>
          </p:spPr>
          <p:txBody>
            <a:bodyPr lIns="72000" tIns="45720" rIns="36000" bIns="4572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55600" indent="-355600">
                <a:spcAft>
                  <a:spcPts val="300"/>
                </a:spcAft>
                <a:defRPr/>
              </a:pPr>
              <a:r>
                <a:rPr lang="en-US" sz="1000" b="1" kern="0">
                  <a:solidFill>
                    <a:srgbClr val="DEEDF1">
                      <a:lumMod val="25000"/>
                    </a:srgbClr>
                  </a:solidFill>
                  <a:latin typeface="Santander Text" panose="020B0504020201020104" pitchFamily="34" charset="0"/>
                </a:rPr>
                <a:t>2</a:t>
              </a:r>
              <a:r>
                <a:rPr kumimoji="0" lang="en-US" sz="1000" b="1" i="0" u="none" strike="noStrike" kern="0" cap="none" spc="0" normalizeH="0" baseline="0" noProof="0">
                  <a:ln>
                    <a:noFill/>
                  </a:ln>
                  <a:solidFill>
                    <a:srgbClr val="DEEDF1">
                      <a:lumMod val="25000"/>
                    </a:srgbClr>
                  </a:solidFill>
                  <a:effectLst/>
                  <a:uLnTx/>
                  <a:uFillTx/>
                  <a:latin typeface="Santander Text" panose="020B0504020201020104" pitchFamily="34" charset="0"/>
                </a:rPr>
                <a:t> – Commercial </a:t>
              </a:r>
              <a:r>
                <a:rPr kumimoji="0" lang="en-US" sz="10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Tools</a:t>
              </a:r>
              <a:r>
                <a:rPr kumimoji="0" lang="en-US" sz="1000" b="1" i="0" u="none" strike="noStrike" kern="0" cap="none" spc="0" normalizeH="0" baseline="0" noProof="0">
                  <a:ln>
                    <a:noFill/>
                  </a:ln>
                  <a:solidFill>
                    <a:srgbClr val="DEEDF1"/>
                  </a:solidFill>
                  <a:effectLst/>
                  <a:uLnTx/>
                  <a:uFillTx/>
                  <a:latin typeface="Santander Text"/>
                </a:rPr>
                <a:t> Tools</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900" b="0" i="1"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Set of Homebuilt capacities to manage commercial activities with customers (pre-sales and sales).</a:t>
              </a:r>
            </a:p>
          </p:txBody>
        </p:sp>
      </p:grpSp>
      <p:sp>
        <p:nvSpPr>
          <p:cNvPr id="2" name="Rectángulo 15">
            <a:extLst>
              <a:ext uri="{FF2B5EF4-FFF2-40B4-BE49-F238E27FC236}">
                <a16:creationId xmlns:a16="http://schemas.microsoft.com/office/drawing/2014/main" id="{B10B1BBA-18EC-90F0-E536-BAD8E4FE2FE2}"/>
              </a:ext>
            </a:extLst>
          </p:cNvPr>
          <p:cNvSpPr/>
          <p:nvPr/>
        </p:nvSpPr>
        <p:spPr>
          <a:xfrm>
            <a:off x="807962" y="1088695"/>
            <a:ext cx="3732783" cy="231195"/>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kern="0">
                <a:solidFill>
                  <a:prstClr val="white"/>
                </a:solidFill>
                <a:latin typeface="Santander Text" panose="020B0504020201020104" pitchFamily="34" charset="0"/>
              </a:rPr>
              <a:t>Module Aggregation</a:t>
            </a:r>
          </a:p>
        </p:txBody>
      </p:sp>
    </p:spTree>
    <p:extLst>
      <p:ext uri="{BB962C8B-B14F-4D97-AF65-F5344CB8AC3E}">
        <p14:creationId xmlns:p14="http://schemas.microsoft.com/office/powerpoint/2010/main" val="33621409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ítulo 1">
            <a:extLst>
              <a:ext uri="{FF2B5EF4-FFF2-40B4-BE49-F238E27FC236}">
                <a16:creationId xmlns:a16="http://schemas.microsoft.com/office/drawing/2014/main" id="{90F7556B-98F2-243B-3ED1-660B08175F84}"/>
              </a:ext>
            </a:extLst>
          </p:cNvPr>
          <p:cNvSpPr>
            <a:spLocks noGrp="1"/>
          </p:cNvSpPr>
          <p:nvPr>
            <p:ph type="title"/>
          </p:nvPr>
        </p:nvSpPr>
        <p:spPr>
          <a:xfrm>
            <a:off x="676645" y="630184"/>
            <a:ext cx="11253680" cy="836992"/>
          </a:xfrm>
        </p:spPr>
        <p:txBody>
          <a:bodyPr/>
          <a:lstStyle/>
          <a:p>
            <a:r>
              <a:rPr lang="es-ES" err="1"/>
              <a:t>Retail</a:t>
            </a:r>
            <a:r>
              <a:rPr lang="es-ES"/>
              <a:t> &amp; </a:t>
            </a:r>
            <a:r>
              <a:rPr lang="es-ES" err="1"/>
              <a:t>Commercial</a:t>
            </a:r>
            <a:r>
              <a:rPr lang="es-ES"/>
              <a:t>. </a:t>
            </a:r>
            <a:r>
              <a:rPr lang="en-US">
                <a:solidFill>
                  <a:schemeClr val="bg1">
                    <a:lumMod val="75000"/>
                  </a:schemeClr>
                </a:solidFill>
              </a:rPr>
              <a:t>Customer interactions</a:t>
            </a:r>
          </a:p>
        </p:txBody>
      </p:sp>
      <p:sp>
        <p:nvSpPr>
          <p:cNvPr id="3" name="Text Placeholder 2">
            <a:extLst>
              <a:ext uri="{FF2B5EF4-FFF2-40B4-BE49-F238E27FC236}">
                <a16:creationId xmlns:a16="http://schemas.microsoft.com/office/drawing/2014/main" id="{C458041E-452B-3D66-0BB6-63845CC4E8A6}"/>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13" name="Rectángulo 12">
            <a:extLst>
              <a:ext uri="{FF2B5EF4-FFF2-40B4-BE49-F238E27FC236}">
                <a16:creationId xmlns:a16="http://schemas.microsoft.com/office/drawing/2014/main" id="{42AF7887-73FF-5BEE-1060-A8565FEDBAFA}"/>
              </a:ext>
            </a:extLst>
          </p:cNvPr>
          <p:cNvSpPr/>
          <p:nvPr/>
        </p:nvSpPr>
        <p:spPr>
          <a:xfrm>
            <a:off x="676645" y="1700081"/>
            <a:ext cx="3619343" cy="676620"/>
          </a:xfrm>
          <a:prstGeom prst="rect">
            <a:avLst/>
          </a:prstGeom>
          <a:solidFill>
            <a:srgbClr val="DEEDF1"/>
          </a:solidFill>
          <a:ln w="12700" cap="flat" cmpd="sng" algn="ctr">
            <a:noFill/>
            <a:prstDash val="solid"/>
            <a:miter lim="800000"/>
          </a:ln>
          <a:effectLst/>
        </p:spPr>
        <p:txBody>
          <a:bodyPr lIns="72000" rIns="36000" rtlCol="0" anchor="ctr"/>
          <a:lstStyle/>
          <a:p>
            <a:pPr marL="355600" indent="-355600">
              <a:spcAft>
                <a:spcPts val="300"/>
              </a:spcAft>
              <a:defRPr/>
            </a:pPr>
            <a:r>
              <a:rPr lang="en-AU" sz="1100" b="1" kern="0">
                <a:solidFill>
                  <a:srgbClr val="DEEDF1">
                    <a:lumMod val="25000"/>
                  </a:srgbClr>
                </a:solidFill>
              </a:rPr>
              <a:t>1  – Customer Intelligence</a:t>
            </a:r>
          </a:p>
          <a:p>
            <a:pPr>
              <a:spcAft>
                <a:spcPts val="300"/>
              </a:spcAft>
              <a:defRPr/>
            </a:pPr>
            <a:r>
              <a:rPr lang="en-US" sz="1050" i="1" kern="0">
                <a:solidFill>
                  <a:srgbClr val="DEEDF1">
                    <a:lumMod val="25000"/>
                  </a:srgbClr>
                </a:solidFill>
              </a:rPr>
              <a:t>Models &amp; Engines to provide Next Best Experience and personalized pricing &amp; risk offer</a:t>
            </a:r>
          </a:p>
        </p:txBody>
      </p:sp>
      <p:sp>
        <p:nvSpPr>
          <p:cNvPr id="14" name="Rectángulo 13">
            <a:extLst>
              <a:ext uri="{FF2B5EF4-FFF2-40B4-BE49-F238E27FC236}">
                <a16:creationId xmlns:a16="http://schemas.microsoft.com/office/drawing/2014/main" id="{8D485D1F-2F27-3201-2601-63D10F750508}"/>
              </a:ext>
            </a:extLst>
          </p:cNvPr>
          <p:cNvSpPr/>
          <p:nvPr/>
        </p:nvSpPr>
        <p:spPr>
          <a:xfrm>
            <a:off x="676645" y="3255093"/>
            <a:ext cx="3619343" cy="676620"/>
          </a:xfrm>
          <a:prstGeom prst="rect">
            <a:avLst/>
          </a:prstGeom>
          <a:solidFill>
            <a:srgbClr val="DEEDF1"/>
          </a:solidFill>
          <a:ln w="12700" cap="flat" cmpd="sng" algn="ctr">
            <a:noFill/>
            <a:prstDash val="solid"/>
            <a:miter lim="800000"/>
          </a:ln>
          <a:effectLst/>
        </p:spPr>
        <p:txBody>
          <a:bodyPr lIns="72000" rIns="36000" rtlCol="0" anchor="ctr"/>
          <a:lstStyle/>
          <a:p>
            <a:pPr marL="355600" indent="-355600">
              <a:spcAft>
                <a:spcPts val="300"/>
              </a:spcAft>
              <a:defRPr/>
            </a:pPr>
            <a:r>
              <a:rPr lang="en-AU" sz="1100" b="1" kern="0">
                <a:solidFill>
                  <a:srgbClr val="DEEDF1">
                    <a:lumMod val="25000"/>
                  </a:srgbClr>
                </a:solidFill>
              </a:rPr>
              <a:t>3 - Campaign Management &amp; Comm.</a:t>
            </a:r>
          </a:p>
          <a:p>
            <a:pPr>
              <a:spcAft>
                <a:spcPts val="300"/>
              </a:spcAft>
              <a:defRPr/>
            </a:pPr>
            <a:r>
              <a:rPr lang="en-US" sz="1050" i="1" kern="0">
                <a:solidFill>
                  <a:srgbClr val="DEEDF1">
                    <a:lumMod val="25000"/>
                  </a:srgbClr>
                </a:solidFill>
              </a:rPr>
              <a:t>Management of marketing campaigns in an automated way through multiple channels </a:t>
            </a:r>
          </a:p>
        </p:txBody>
      </p:sp>
      <p:sp>
        <p:nvSpPr>
          <p:cNvPr id="15" name="Rectángulo 14">
            <a:extLst>
              <a:ext uri="{FF2B5EF4-FFF2-40B4-BE49-F238E27FC236}">
                <a16:creationId xmlns:a16="http://schemas.microsoft.com/office/drawing/2014/main" id="{5E42A8FE-407C-F51B-8F4B-5055A3600F4C}"/>
              </a:ext>
            </a:extLst>
          </p:cNvPr>
          <p:cNvSpPr/>
          <p:nvPr/>
        </p:nvSpPr>
        <p:spPr>
          <a:xfrm>
            <a:off x="676645" y="2477587"/>
            <a:ext cx="3619343" cy="676620"/>
          </a:xfrm>
          <a:prstGeom prst="rect">
            <a:avLst/>
          </a:prstGeom>
          <a:solidFill>
            <a:srgbClr val="DEEDF1"/>
          </a:solidFill>
          <a:ln w="12700" cap="flat" cmpd="sng" algn="ctr">
            <a:noFill/>
            <a:prstDash val="solid"/>
            <a:miter lim="800000"/>
          </a:ln>
          <a:effectLst/>
        </p:spPr>
        <p:txBody>
          <a:bodyPr lIns="72000" rIns="36000" rtlCol="0" anchor="ctr"/>
          <a:lstStyle/>
          <a:p>
            <a:pPr marL="355600" marR="0" lvl="0" indent="-355600" fontAlgn="auto">
              <a:lnSpc>
                <a:spcPct val="100000"/>
              </a:lnSpc>
              <a:spcBef>
                <a:spcPts val="0"/>
              </a:spcBef>
              <a:spcAft>
                <a:spcPts val="300"/>
              </a:spcAft>
              <a:buClrTx/>
              <a:buSzTx/>
              <a:buFontTx/>
              <a:buNone/>
              <a:tabLst/>
              <a:defRPr/>
            </a:pPr>
            <a:r>
              <a:rPr lang="en-AU" sz="1100" b="1" kern="0">
                <a:solidFill>
                  <a:srgbClr val="DEEDF1">
                    <a:lumMod val="25000"/>
                  </a:srgbClr>
                </a:solidFill>
              </a:rPr>
              <a:t>2 – Customer interaction Orchestration</a:t>
            </a:r>
          </a:p>
          <a:p>
            <a:pPr marR="0" lvl="0" indent="0" fontAlgn="auto">
              <a:lnSpc>
                <a:spcPct val="100000"/>
              </a:lnSpc>
              <a:spcBef>
                <a:spcPts val="0"/>
              </a:spcBef>
              <a:spcAft>
                <a:spcPts val="300"/>
              </a:spcAft>
              <a:buClrTx/>
              <a:buSzTx/>
              <a:buFontTx/>
              <a:buNone/>
              <a:tabLst/>
              <a:defRPr/>
            </a:pPr>
            <a:r>
              <a:rPr lang="en-AU" sz="1050" i="1" kern="0">
                <a:solidFill>
                  <a:srgbClr val="DEEDF1">
                    <a:lumMod val="25000"/>
                  </a:srgbClr>
                </a:solidFill>
              </a:rPr>
              <a:t>Real time decisioning, hyper-personalization and Customer omnichannel orchestration</a:t>
            </a:r>
          </a:p>
        </p:txBody>
      </p:sp>
      <p:sp>
        <p:nvSpPr>
          <p:cNvPr id="18" name="Rectángulo 17">
            <a:extLst>
              <a:ext uri="{FF2B5EF4-FFF2-40B4-BE49-F238E27FC236}">
                <a16:creationId xmlns:a16="http://schemas.microsoft.com/office/drawing/2014/main" id="{D31A56CF-C0EB-B626-F807-FF3520E8B78A}"/>
              </a:ext>
            </a:extLst>
          </p:cNvPr>
          <p:cNvSpPr/>
          <p:nvPr/>
        </p:nvSpPr>
        <p:spPr>
          <a:xfrm>
            <a:off x="4406901" y="1700081"/>
            <a:ext cx="3494742" cy="676620"/>
          </a:xfrm>
          <a:prstGeom prst="rect">
            <a:avLst/>
          </a:prstGeom>
          <a:noFill/>
          <a:ln w="12700" cap="flat" cmpd="sng" algn="ctr">
            <a:solidFill>
              <a:srgbClr val="0070C0"/>
            </a:solidFill>
            <a:prstDash val="solid"/>
            <a:miter lim="800000"/>
          </a:ln>
          <a:effectLst/>
        </p:spPr>
        <p:txBody>
          <a:bodyPr lIns="72000" rIns="72000" rtlCol="0" anchor="ctr"/>
          <a:lstStyle/>
          <a:p>
            <a:pPr algn="ctr">
              <a:spcAft>
                <a:spcPts val="600"/>
              </a:spcAft>
            </a:pPr>
            <a:r>
              <a:rPr lang="en-AU" sz="1100" kern="0">
                <a:solidFill>
                  <a:srgbClr val="DEEDF1">
                    <a:lumMod val="25000"/>
                  </a:srgbClr>
                </a:solidFill>
              </a:rPr>
              <a:t>Segmentation</a:t>
            </a:r>
          </a:p>
        </p:txBody>
      </p:sp>
      <p:sp>
        <p:nvSpPr>
          <p:cNvPr id="19" name="Rectángulo 18">
            <a:extLst>
              <a:ext uri="{FF2B5EF4-FFF2-40B4-BE49-F238E27FC236}">
                <a16:creationId xmlns:a16="http://schemas.microsoft.com/office/drawing/2014/main" id="{FDDBB7FD-5DD8-BCF8-97A6-6A443788235B}"/>
              </a:ext>
            </a:extLst>
          </p:cNvPr>
          <p:cNvSpPr/>
          <p:nvPr/>
        </p:nvSpPr>
        <p:spPr>
          <a:xfrm>
            <a:off x="7975015" y="1700081"/>
            <a:ext cx="3494742" cy="676620"/>
          </a:xfrm>
          <a:prstGeom prst="rect">
            <a:avLst/>
          </a:prstGeom>
          <a:noFill/>
          <a:ln w="12700" cap="flat" cmpd="sng" algn="ctr">
            <a:solidFill>
              <a:srgbClr val="0070C0"/>
            </a:solidFill>
            <a:prstDash val="solid"/>
            <a:miter lim="800000"/>
          </a:ln>
          <a:effectLst/>
        </p:spPr>
        <p:txBody>
          <a:bodyPr lIns="72000" rIns="72000" rtlCol="0" anchor="ctr"/>
          <a:lstStyle/>
          <a:p>
            <a:pPr algn="ctr">
              <a:spcAft>
                <a:spcPts val="600"/>
              </a:spcAft>
            </a:pPr>
            <a:r>
              <a:rPr lang="en-AU" sz="1100" kern="0">
                <a:solidFill>
                  <a:srgbClr val="DEEDF1">
                    <a:lumMod val="25000"/>
                  </a:srgbClr>
                </a:solidFill>
              </a:rPr>
              <a:t>Near Real Time Events processing</a:t>
            </a:r>
          </a:p>
        </p:txBody>
      </p:sp>
      <p:sp>
        <p:nvSpPr>
          <p:cNvPr id="21" name="Rectángulo 20">
            <a:extLst>
              <a:ext uri="{FF2B5EF4-FFF2-40B4-BE49-F238E27FC236}">
                <a16:creationId xmlns:a16="http://schemas.microsoft.com/office/drawing/2014/main" id="{1410C581-A3A2-2056-F401-4AC0B07FD68C}"/>
              </a:ext>
            </a:extLst>
          </p:cNvPr>
          <p:cNvSpPr/>
          <p:nvPr/>
        </p:nvSpPr>
        <p:spPr>
          <a:xfrm>
            <a:off x="4406901" y="3255093"/>
            <a:ext cx="3494742" cy="67662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p>
            <a:pPr algn="ctr"/>
            <a:r>
              <a:rPr lang="en-AU" sz="1100" kern="0">
                <a:solidFill>
                  <a:srgbClr val="001B39"/>
                </a:solidFill>
              </a:rPr>
              <a:t>Campaign Manager</a:t>
            </a:r>
          </a:p>
        </p:txBody>
      </p:sp>
      <p:sp>
        <p:nvSpPr>
          <p:cNvPr id="22" name="Rectángulo 21">
            <a:extLst>
              <a:ext uri="{FF2B5EF4-FFF2-40B4-BE49-F238E27FC236}">
                <a16:creationId xmlns:a16="http://schemas.microsoft.com/office/drawing/2014/main" id="{8E495707-18F3-C970-81D8-0E642596B67A}"/>
              </a:ext>
            </a:extLst>
          </p:cNvPr>
          <p:cNvSpPr/>
          <p:nvPr/>
        </p:nvSpPr>
        <p:spPr>
          <a:xfrm>
            <a:off x="7975015" y="3255093"/>
            <a:ext cx="3494742" cy="67662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p>
            <a:pPr algn="ctr"/>
            <a:r>
              <a:rPr lang="en-AU" sz="1100" kern="0">
                <a:solidFill>
                  <a:srgbClr val="001B39"/>
                </a:solidFill>
              </a:rPr>
              <a:t>Notifications Platform </a:t>
            </a:r>
          </a:p>
        </p:txBody>
      </p:sp>
      <p:sp>
        <p:nvSpPr>
          <p:cNvPr id="23" name="Rectángulo 262">
            <a:extLst>
              <a:ext uri="{FF2B5EF4-FFF2-40B4-BE49-F238E27FC236}">
                <a16:creationId xmlns:a16="http://schemas.microsoft.com/office/drawing/2014/main" id="{76B7AE67-15D5-C2AC-027D-0EC937F5F166}"/>
              </a:ext>
            </a:extLst>
          </p:cNvPr>
          <p:cNvSpPr/>
          <p:nvPr/>
        </p:nvSpPr>
        <p:spPr>
          <a:xfrm>
            <a:off x="4406899" y="2477586"/>
            <a:ext cx="1692000" cy="676620"/>
          </a:xfrm>
          <a:prstGeom prst="rect">
            <a:avLst/>
          </a:prstGeom>
          <a:solidFill>
            <a:schemeClr val="bg1"/>
          </a:solidFill>
          <a:ln w="12700" cap="flat" cmpd="sng" algn="ctr">
            <a:solidFill>
              <a:srgbClr val="0070C0"/>
            </a:solidFill>
            <a:prstDash val="solid"/>
            <a:miter lim="800000"/>
          </a:ln>
          <a:effectLst/>
        </p:spPr>
        <p:txBody>
          <a:bodyPr lIns="0" rIns="0" rtlCol="0" anchor="ctr"/>
          <a:lstStyle/>
          <a:p>
            <a:pPr algn="ctr">
              <a:spcAft>
                <a:spcPts val="600"/>
              </a:spcAft>
            </a:pPr>
            <a:r>
              <a:rPr lang="en-AU" sz="1100" kern="0">
                <a:solidFill>
                  <a:srgbClr val="DEEDF1">
                    <a:lumMod val="25000"/>
                  </a:srgbClr>
                </a:solidFill>
              </a:rPr>
              <a:t>Omnichannel Orchestration</a:t>
            </a:r>
          </a:p>
        </p:txBody>
      </p:sp>
      <p:sp>
        <p:nvSpPr>
          <p:cNvPr id="24" name="Rectángulo 23">
            <a:extLst>
              <a:ext uri="{FF2B5EF4-FFF2-40B4-BE49-F238E27FC236}">
                <a16:creationId xmlns:a16="http://schemas.microsoft.com/office/drawing/2014/main" id="{8A1DC700-20CA-41CA-B934-7C83965E32A7}"/>
              </a:ext>
            </a:extLst>
          </p:cNvPr>
          <p:cNvSpPr/>
          <p:nvPr/>
        </p:nvSpPr>
        <p:spPr>
          <a:xfrm>
            <a:off x="6197185" y="2477586"/>
            <a:ext cx="1692000" cy="67662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p>
            <a:pPr algn="ctr"/>
            <a:r>
              <a:rPr lang="en-AU" sz="1100" kern="0">
                <a:solidFill>
                  <a:srgbClr val="001B39"/>
                </a:solidFill>
              </a:rPr>
              <a:t>Digital Asset Management (DAM)</a:t>
            </a:r>
          </a:p>
        </p:txBody>
      </p:sp>
      <p:sp>
        <p:nvSpPr>
          <p:cNvPr id="25" name="Rectángulo 24">
            <a:extLst>
              <a:ext uri="{FF2B5EF4-FFF2-40B4-BE49-F238E27FC236}">
                <a16:creationId xmlns:a16="http://schemas.microsoft.com/office/drawing/2014/main" id="{7C1CF00C-B902-E04E-2824-9309B0DEBC83}"/>
              </a:ext>
            </a:extLst>
          </p:cNvPr>
          <p:cNvSpPr/>
          <p:nvPr/>
        </p:nvSpPr>
        <p:spPr>
          <a:xfrm>
            <a:off x="7987471" y="2477586"/>
            <a:ext cx="1692000" cy="67662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p>
            <a:pPr algn="ctr"/>
            <a:r>
              <a:rPr lang="en-AU" sz="1100" kern="0">
                <a:solidFill>
                  <a:srgbClr val="001B39"/>
                </a:solidFill>
              </a:rPr>
              <a:t>1:1 Personalization </a:t>
            </a:r>
          </a:p>
        </p:txBody>
      </p:sp>
      <p:sp>
        <p:nvSpPr>
          <p:cNvPr id="26" name="Rectángulo 25">
            <a:extLst>
              <a:ext uri="{FF2B5EF4-FFF2-40B4-BE49-F238E27FC236}">
                <a16:creationId xmlns:a16="http://schemas.microsoft.com/office/drawing/2014/main" id="{5028E30A-E9EC-44E9-1D5E-4394962A162E}"/>
              </a:ext>
            </a:extLst>
          </p:cNvPr>
          <p:cNvSpPr/>
          <p:nvPr/>
        </p:nvSpPr>
        <p:spPr>
          <a:xfrm>
            <a:off x="4395321" y="1358654"/>
            <a:ext cx="7062857" cy="240476"/>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600" b="1" i="0" u="none" strike="noStrike" kern="0" cap="none" spc="0" normalizeH="0" baseline="0" noProof="0">
                <a:ln>
                  <a:noFill/>
                </a:ln>
                <a:solidFill>
                  <a:prstClr val="white"/>
                </a:solidFill>
                <a:effectLst/>
                <a:uLnTx/>
                <a:uFillTx/>
                <a:ea typeface="+mn-ea"/>
                <a:cs typeface="+mn-cs"/>
              </a:rPr>
              <a:t>Modules</a:t>
            </a:r>
          </a:p>
        </p:txBody>
      </p:sp>
      <p:sp>
        <p:nvSpPr>
          <p:cNvPr id="32" name="Rectángulo 31">
            <a:extLst>
              <a:ext uri="{FF2B5EF4-FFF2-40B4-BE49-F238E27FC236}">
                <a16:creationId xmlns:a16="http://schemas.microsoft.com/office/drawing/2014/main" id="{7E9495DA-93B3-C926-020B-2B13E2A56969}"/>
              </a:ext>
            </a:extLst>
          </p:cNvPr>
          <p:cNvSpPr/>
          <p:nvPr/>
        </p:nvSpPr>
        <p:spPr>
          <a:xfrm>
            <a:off x="9777757" y="2477586"/>
            <a:ext cx="1692000" cy="67662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p>
            <a:pPr algn="ctr"/>
            <a:r>
              <a:rPr lang="en-AU" sz="1100" kern="0">
                <a:solidFill>
                  <a:srgbClr val="001B39"/>
                </a:solidFill>
              </a:rPr>
              <a:t>Interactions Analytics</a:t>
            </a:r>
          </a:p>
        </p:txBody>
      </p:sp>
      <p:sp>
        <p:nvSpPr>
          <p:cNvPr id="2" name="Rectángulo 15">
            <a:extLst>
              <a:ext uri="{FF2B5EF4-FFF2-40B4-BE49-F238E27FC236}">
                <a16:creationId xmlns:a16="http://schemas.microsoft.com/office/drawing/2014/main" id="{72185781-47FC-EC55-C10B-995F0FF267FD}"/>
              </a:ext>
            </a:extLst>
          </p:cNvPr>
          <p:cNvSpPr/>
          <p:nvPr/>
        </p:nvSpPr>
        <p:spPr>
          <a:xfrm>
            <a:off x="676645" y="1358654"/>
            <a:ext cx="3619342" cy="240476"/>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kern="0">
                <a:solidFill>
                  <a:prstClr val="white"/>
                </a:solidFill>
                <a:latin typeface="Santander Text" panose="020B0504020201020104" pitchFamily="34" charset="0"/>
              </a:rPr>
              <a:t>Module Aggregation</a:t>
            </a:r>
          </a:p>
        </p:txBody>
      </p:sp>
    </p:spTree>
    <p:extLst>
      <p:ext uri="{BB962C8B-B14F-4D97-AF65-F5344CB8AC3E}">
        <p14:creationId xmlns:p14="http://schemas.microsoft.com/office/powerpoint/2010/main" val="6641017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ángulo 40">
            <a:extLst>
              <a:ext uri="{FF2B5EF4-FFF2-40B4-BE49-F238E27FC236}">
                <a16:creationId xmlns:a16="http://schemas.microsoft.com/office/drawing/2014/main" id="{8B2819DB-F241-88BE-755C-9FBC4CADEC3A}"/>
              </a:ext>
            </a:extLst>
          </p:cNvPr>
          <p:cNvSpPr/>
          <p:nvPr/>
        </p:nvSpPr>
        <p:spPr>
          <a:xfrm>
            <a:off x="4426545" y="3775747"/>
            <a:ext cx="1356527" cy="1187999"/>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200" b="0" i="0" u="none" strike="noStrike" kern="0" cap="none" spc="0" normalizeH="0" baseline="0" noProof="0">
              <a:ln>
                <a:noFill/>
              </a:ln>
              <a:solidFill>
                <a:srgbClr val="DEEDF1">
                  <a:lumMod val="25000"/>
                </a:srgbClr>
              </a:solidFill>
              <a:effectLst/>
              <a:uLnTx/>
              <a:uFillTx/>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200" b="0" i="0" u="none" strike="noStrike" kern="0" cap="none" spc="0" normalizeH="0" baseline="0" noProof="0">
              <a:ln>
                <a:noFill/>
              </a:ln>
              <a:solidFill>
                <a:srgbClr val="DEEDF1">
                  <a:lumMod val="25000"/>
                </a:srgbClr>
              </a:solidFill>
              <a:effectLst/>
              <a:uLnTx/>
              <a:uFillTx/>
              <a:ea typeface="+mn-ea"/>
              <a:cs typeface="+mn-cs"/>
            </a:endParaRPr>
          </a:p>
          <a:p>
            <a:pPr marR="0" lvl="0" indent="0" algn="ctr" fontAlgn="auto">
              <a:lnSpc>
                <a:spcPct val="100000"/>
              </a:lnSpc>
              <a:spcBef>
                <a:spcPts val="0"/>
              </a:spcBef>
              <a:spcAft>
                <a:spcPts val="600"/>
              </a:spcAft>
              <a:buClrTx/>
              <a:buSzTx/>
              <a:buFontTx/>
              <a:buNone/>
              <a:tabLst/>
              <a:defRPr/>
            </a:pPr>
            <a:r>
              <a:rPr lang="en-AU" sz="1200" kern="0">
                <a:solidFill>
                  <a:srgbClr val="DEEDF1">
                    <a:lumMod val="25000"/>
                  </a:srgbClr>
                </a:solidFill>
              </a:rPr>
              <a:t>Journal Operational Control</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200" b="0" i="0" u="none" strike="noStrike" kern="0" cap="none" spc="0" normalizeH="0" baseline="0" noProof="0">
              <a:ln>
                <a:noFill/>
              </a:ln>
              <a:solidFill>
                <a:srgbClr val="DEEDF1">
                  <a:lumMod val="25000"/>
                </a:srgbClr>
              </a:solidFill>
              <a:effectLst/>
              <a:uLnTx/>
              <a:uFillTx/>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200" b="0" i="0" u="none" strike="noStrike" kern="0" cap="none" spc="0" normalizeH="0" baseline="0" noProof="0">
              <a:ln>
                <a:noFill/>
              </a:ln>
              <a:solidFill>
                <a:srgbClr val="DEEDF1">
                  <a:lumMod val="25000"/>
                </a:srgbClr>
              </a:solidFill>
              <a:effectLst/>
              <a:uLnTx/>
              <a:uFillTx/>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200" b="0" i="0" u="none" strike="noStrike" kern="0" cap="none" spc="0" normalizeH="0" baseline="0" noProof="0">
              <a:ln>
                <a:noFill/>
              </a:ln>
              <a:solidFill>
                <a:srgbClr val="DEEDF1">
                  <a:lumMod val="25000"/>
                </a:srgbClr>
              </a:solidFill>
              <a:effectLst/>
              <a:uLnTx/>
              <a:uFillTx/>
              <a:ea typeface="+mn-ea"/>
              <a:cs typeface="+mn-cs"/>
            </a:endParaRPr>
          </a:p>
        </p:txBody>
      </p:sp>
      <p:sp>
        <p:nvSpPr>
          <p:cNvPr id="42" name="Rectángulo 41">
            <a:extLst>
              <a:ext uri="{FF2B5EF4-FFF2-40B4-BE49-F238E27FC236}">
                <a16:creationId xmlns:a16="http://schemas.microsoft.com/office/drawing/2014/main" id="{3FCAFEB5-6B62-1160-BC53-59E22FFBB622}"/>
              </a:ext>
            </a:extLst>
          </p:cNvPr>
          <p:cNvSpPr/>
          <p:nvPr/>
        </p:nvSpPr>
        <p:spPr>
          <a:xfrm>
            <a:off x="5896658" y="3760086"/>
            <a:ext cx="1356527" cy="1187999"/>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200" b="0" i="0" u="none" strike="noStrike" kern="0" cap="none" spc="0" normalizeH="0" baseline="0" noProof="0">
              <a:ln>
                <a:noFill/>
              </a:ln>
              <a:solidFill>
                <a:srgbClr val="DEEDF1">
                  <a:lumMod val="25000"/>
                </a:srgbClr>
              </a:solidFill>
              <a:effectLst/>
              <a:uLnTx/>
              <a:uFillTx/>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200" b="0" i="0" u="none" strike="noStrike" kern="0" cap="none" spc="0" normalizeH="0" baseline="0" noProof="0">
              <a:ln>
                <a:noFill/>
              </a:ln>
              <a:solidFill>
                <a:srgbClr val="DEEDF1">
                  <a:lumMod val="25000"/>
                </a:srgbClr>
              </a:solidFill>
              <a:effectLst/>
              <a:uLnTx/>
              <a:uFillTx/>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200" b="0" i="0" u="none" strike="noStrike" kern="0" cap="none" spc="0" normalizeH="0" baseline="0" noProof="0">
              <a:ln>
                <a:noFill/>
              </a:ln>
              <a:solidFill>
                <a:srgbClr val="DEEDF1">
                  <a:lumMod val="25000"/>
                </a:srgbClr>
              </a:solidFill>
              <a:effectLst/>
              <a:uLnTx/>
              <a:uFillTx/>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200" b="0" i="0" u="none" strike="noStrike" kern="0" cap="none" spc="0" normalizeH="0" baseline="0" noProof="0">
                <a:ln>
                  <a:noFill/>
                </a:ln>
                <a:solidFill>
                  <a:srgbClr val="DEEDF1">
                    <a:lumMod val="25000"/>
                  </a:srgbClr>
                </a:solidFill>
                <a:effectLst/>
                <a:uLnTx/>
                <a:uFillTx/>
                <a:ea typeface="+mn-ea"/>
                <a:cs typeface="+mn-cs"/>
              </a:rPr>
              <a:t>Accounting</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200" b="0" i="0" u="none" strike="noStrike" kern="0" cap="none" spc="0" normalizeH="0" baseline="0" noProof="0">
                <a:ln>
                  <a:noFill/>
                </a:ln>
                <a:solidFill>
                  <a:srgbClr val="DEEDF1">
                    <a:lumMod val="25000"/>
                  </a:srgbClr>
                </a:solidFill>
                <a:effectLst/>
                <a:uLnTx/>
                <a:uFillTx/>
                <a:ea typeface="+mn-ea"/>
                <a:cs typeface="+mn-cs"/>
              </a:rPr>
              <a:t> Interface</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200" b="0" i="0" u="none" strike="noStrike" kern="0" cap="none" spc="0" normalizeH="0" baseline="0" noProof="0">
              <a:ln>
                <a:noFill/>
              </a:ln>
              <a:solidFill>
                <a:srgbClr val="DEEDF1">
                  <a:lumMod val="25000"/>
                </a:srgbClr>
              </a:solidFill>
              <a:effectLst/>
              <a:uLnTx/>
              <a:uFillTx/>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200" b="0" i="0" u="none" strike="noStrike" kern="0" cap="none" spc="0" normalizeH="0" baseline="0" noProof="0">
              <a:ln>
                <a:noFill/>
              </a:ln>
              <a:solidFill>
                <a:srgbClr val="DEEDF1">
                  <a:lumMod val="25000"/>
                </a:srgbClr>
              </a:solidFill>
              <a:effectLst/>
              <a:uLnTx/>
              <a:uFillTx/>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200" b="0" i="0" u="none" strike="noStrike" kern="0" cap="none" spc="0" normalizeH="0" baseline="0" noProof="0">
                <a:ln>
                  <a:noFill/>
                </a:ln>
                <a:solidFill>
                  <a:srgbClr val="DEEDF1">
                    <a:lumMod val="25000"/>
                  </a:srgbClr>
                </a:solidFill>
                <a:effectLst/>
                <a:uLnTx/>
                <a:uFillTx/>
                <a:ea typeface="+mn-ea"/>
                <a:cs typeface="+mn-cs"/>
              </a:rPr>
              <a:t> </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200" b="0" i="0" u="none" strike="noStrike" kern="0" cap="none" spc="0" normalizeH="0" baseline="0" noProof="0">
              <a:ln>
                <a:noFill/>
              </a:ln>
              <a:solidFill>
                <a:srgbClr val="DEEDF1">
                  <a:lumMod val="25000"/>
                </a:srgbClr>
              </a:solidFill>
              <a:effectLst/>
              <a:uLnTx/>
              <a:uFillTx/>
              <a:ea typeface="+mn-ea"/>
              <a:cs typeface="+mn-cs"/>
            </a:endParaRPr>
          </a:p>
        </p:txBody>
      </p:sp>
      <p:sp>
        <p:nvSpPr>
          <p:cNvPr id="43" name="Rectángulo 42">
            <a:extLst>
              <a:ext uri="{FF2B5EF4-FFF2-40B4-BE49-F238E27FC236}">
                <a16:creationId xmlns:a16="http://schemas.microsoft.com/office/drawing/2014/main" id="{F099811C-56A6-DE7F-4614-FE1C2C59C016}"/>
              </a:ext>
            </a:extLst>
          </p:cNvPr>
          <p:cNvSpPr/>
          <p:nvPr/>
        </p:nvSpPr>
        <p:spPr>
          <a:xfrm>
            <a:off x="8669087" y="3775747"/>
            <a:ext cx="1192788" cy="1187999"/>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200" b="0" i="0" u="none" strike="noStrike" kern="0" cap="none" spc="0" normalizeH="0" baseline="0" noProof="0">
              <a:ln>
                <a:noFill/>
              </a:ln>
              <a:solidFill>
                <a:srgbClr val="DEEDF1">
                  <a:lumMod val="25000"/>
                </a:srgbClr>
              </a:solidFill>
              <a:effectLst/>
              <a:uLnTx/>
              <a:uFillTx/>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200" b="0" i="0" u="none" strike="noStrike" kern="0" cap="none" spc="0" normalizeH="0" baseline="0" noProof="0">
                <a:ln>
                  <a:noFill/>
                </a:ln>
                <a:solidFill>
                  <a:srgbClr val="DEEDF1">
                    <a:lumMod val="25000"/>
                  </a:srgbClr>
                </a:solidFill>
                <a:effectLst/>
                <a:uLnTx/>
                <a:uFillTx/>
                <a:ea typeface="+mn-ea"/>
                <a:cs typeface="+mn-cs"/>
              </a:rPr>
              <a:t>Lending </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200" b="0" i="0" u="none" strike="noStrike" kern="0" cap="none" spc="0" normalizeH="0" baseline="0" noProof="0">
              <a:ln>
                <a:noFill/>
              </a:ln>
              <a:solidFill>
                <a:srgbClr val="DEEDF1">
                  <a:lumMod val="25000"/>
                </a:srgbClr>
              </a:solidFill>
              <a:effectLst/>
              <a:uLnTx/>
              <a:uFillTx/>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200" b="0" i="0" u="none" strike="noStrike" kern="0" cap="none" spc="0" normalizeH="0" baseline="0" noProof="0">
              <a:ln>
                <a:noFill/>
              </a:ln>
              <a:solidFill>
                <a:srgbClr val="DEEDF1">
                  <a:lumMod val="25000"/>
                </a:srgbClr>
              </a:solidFill>
              <a:effectLst/>
              <a:uLnTx/>
              <a:uFillTx/>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200" b="0" i="0" u="none" strike="noStrike" kern="0" cap="none" spc="0" normalizeH="0" baseline="0" noProof="0">
              <a:ln>
                <a:noFill/>
              </a:ln>
              <a:solidFill>
                <a:srgbClr val="DEEDF1">
                  <a:lumMod val="25000"/>
                </a:srgbClr>
              </a:solidFill>
              <a:effectLst/>
              <a:uLnTx/>
              <a:uFillTx/>
              <a:ea typeface="+mn-ea"/>
              <a:cs typeface="+mn-cs"/>
            </a:endParaRPr>
          </a:p>
        </p:txBody>
      </p:sp>
      <p:sp>
        <p:nvSpPr>
          <p:cNvPr id="44" name="Rectángulo 43">
            <a:extLst>
              <a:ext uri="{FF2B5EF4-FFF2-40B4-BE49-F238E27FC236}">
                <a16:creationId xmlns:a16="http://schemas.microsoft.com/office/drawing/2014/main" id="{F8DE6C7A-007F-934E-941B-49C91946D58E}"/>
              </a:ext>
            </a:extLst>
          </p:cNvPr>
          <p:cNvSpPr/>
          <p:nvPr/>
        </p:nvSpPr>
        <p:spPr>
          <a:xfrm>
            <a:off x="9994901" y="3758005"/>
            <a:ext cx="1271656" cy="1187999"/>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200" b="0" i="0" u="none" strike="noStrike" kern="0" cap="none" spc="0" normalizeH="0" baseline="0" noProof="0">
              <a:ln>
                <a:noFill/>
              </a:ln>
              <a:solidFill>
                <a:srgbClr val="DEEDF1">
                  <a:lumMod val="25000"/>
                </a:srgbClr>
              </a:solidFill>
              <a:effectLst/>
              <a:uLnTx/>
              <a:uFillTx/>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200" b="0" i="0" u="none" strike="noStrike" kern="0" cap="none" spc="0" normalizeH="0" baseline="0" noProof="0">
              <a:ln>
                <a:noFill/>
              </a:ln>
              <a:solidFill>
                <a:srgbClr val="DEEDF1">
                  <a:lumMod val="25000"/>
                </a:srgbClr>
              </a:solidFill>
              <a:effectLst/>
              <a:uLnTx/>
              <a:uFillTx/>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200" b="0" i="0" u="none" strike="noStrike" kern="0" cap="none" spc="0" normalizeH="0" baseline="0" noProof="0">
                <a:ln>
                  <a:noFill/>
                </a:ln>
                <a:solidFill>
                  <a:srgbClr val="DEEDF1">
                    <a:lumMod val="25000"/>
                  </a:srgbClr>
                </a:solidFill>
                <a:effectLst/>
                <a:uLnTx/>
                <a:uFillTx/>
                <a:ea typeface="+mn-ea"/>
                <a:cs typeface="+mn-cs"/>
              </a:rPr>
              <a:t>Persons Management Directory</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200" b="0" i="0" u="none" strike="noStrike" kern="0" cap="none" spc="0" normalizeH="0" baseline="0" noProof="0">
              <a:ln>
                <a:noFill/>
              </a:ln>
              <a:solidFill>
                <a:srgbClr val="DEEDF1">
                  <a:lumMod val="25000"/>
                </a:srgbClr>
              </a:solidFill>
              <a:effectLst/>
              <a:uLnTx/>
              <a:uFillTx/>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200" b="0" i="0" u="none" strike="noStrike" kern="0" cap="none" spc="0" normalizeH="0" baseline="0" noProof="0">
              <a:ln>
                <a:noFill/>
              </a:ln>
              <a:solidFill>
                <a:srgbClr val="DEEDF1">
                  <a:lumMod val="25000"/>
                </a:srgbClr>
              </a:solidFill>
              <a:effectLst/>
              <a:uLnTx/>
              <a:uFillTx/>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200" b="0" i="0" u="none" strike="noStrike" kern="0" cap="none" spc="0" normalizeH="0" baseline="0" noProof="0">
              <a:ln>
                <a:noFill/>
              </a:ln>
              <a:solidFill>
                <a:srgbClr val="DEEDF1">
                  <a:lumMod val="25000"/>
                </a:srgbClr>
              </a:solidFill>
              <a:effectLst/>
              <a:uLnTx/>
              <a:uFillTx/>
              <a:ea typeface="+mn-ea"/>
              <a:cs typeface="+mn-cs"/>
            </a:endParaRPr>
          </a:p>
        </p:txBody>
      </p:sp>
      <p:sp>
        <p:nvSpPr>
          <p:cNvPr id="46" name="Rectángulo 45">
            <a:extLst>
              <a:ext uri="{FF2B5EF4-FFF2-40B4-BE49-F238E27FC236}">
                <a16:creationId xmlns:a16="http://schemas.microsoft.com/office/drawing/2014/main" id="{122DD673-0121-8FF1-7E93-B8F0B5C211C1}"/>
              </a:ext>
            </a:extLst>
          </p:cNvPr>
          <p:cNvSpPr/>
          <p:nvPr/>
        </p:nvSpPr>
        <p:spPr>
          <a:xfrm>
            <a:off x="4418415" y="1871670"/>
            <a:ext cx="6871069" cy="394843"/>
          </a:xfrm>
          <a:prstGeom prst="rect">
            <a:avLst/>
          </a:prstGeom>
          <a:solidFill>
            <a:srgbClr val="DEEDF1">
              <a:lumMod val="25000"/>
            </a:srgbClr>
          </a:solidFill>
          <a:ln w="12700" cap="flat" cmpd="sng" algn="ctr">
            <a:noFill/>
            <a:prstDash val="solid"/>
            <a:miter lim="800000"/>
          </a:ln>
          <a:effectLst/>
        </p:spPr>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600" b="1" i="0" u="none" strike="noStrike" kern="0" cap="none" spc="0" normalizeH="0" baseline="0" noProof="0">
                <a:ln>
                  <a:noFill/>
                </a:ln>
                <a:solidFill>
                  <a:prstClr val="white"/>
                </a:solidFill>
                <a:effectLst/>
                <a:uLnTx/>
                <a:uFillTx/>
                <a:ea typeface="+mn-ea"/>
                <a:cs typeface="+mn-cs"/>
              </a:rPr>
              <a:t>Modules</a:t>
            </a:r>
          </a:p>
        </p:txBody>
      </p:sp>
      <p:sp>
        <p:nvSpPr>
          <p:cNvPr id="47" name="Rectángulo 46">
            <a:extLst>
              <a:ext uri="{FF2B5EF4-FFF2-40B4-BE49-F238E27FC236}">
                <a16:creationId xmlns:a16="http://schemas.microsoft.com/office/drawing/2014/main" id="{6E437F57-2B10-34FC-507B-C9A5F34BF253}"/>
              </a:ext>
            </a:extLst>
          </p:cNvPr>
          <p:cNvSpPr/>
          <p:nvPr/>
        </p:nvSpPr>
        <p:spPr>
          <a:xfrm>
            <a:off x="788202" y="2368611"/>
            <a:ext cx="3364034" cy="1188000"/>
          </a:xfrm>
          <a:prstGeom prst="rect">
            <a:avLst/>
          </a:prstGeom>
          <a:solidFill>
            <a:srgbClr val="DEEDF1"/>
          </a:solidFill>
          <a:ln w="12700" cap="flat" cmpd="sng" algn="ctr">
            <a:solidFill>
              <a:schemeClr val="bg1"/>
            </a:solidFill>
            <a:prstDash val="solid"/>
            <a:miter lim="800000"/>
          </a:ln>
          <a:effectLst/>
        </p:spPr>
        <p:txBody>
          <a:bodyPr rtlCol="0" anchor="ctr"/>
          <a:lstStyle/>
          <a:p>
            <a:pPr marL="355600" marR="0" lvl="0" indent="-355600" algn="l" defTabSz="914400" rtl="0" eaLnBrk="1" fontAlgn="auto" latinLnBrk="0" hangingPunct="1">
              <a:lnSpc>
                <a:spcPct val="100000"/>
              </a:lnSpc>
              <a:spcBef>
                <a:spcPts val="0"/>
              </a:spcBef>
              <a:spcAft>
                <a:spcPts val="600"/>
              </a:spcAft>
              <a:buClrTx/>
              <a:buSzTx/>
              <a:buFontTx/>
              <a:buNone/>
              <a:tabLst/>
              <a:defRPr/>
            </a:pPr>
            <a:r>
              <a:rPr kumimoji="0" lang="en-AU" sz="1600" b="1" i="0" u="none" strike="noStrike" kern="0" cap="none" spc="0" normalizeH="0" baseline="0" noProof="0">
                <a:ln>
                  <a:noFill/>
                </a:ln>
                <a:solidFill>
                  <a:srgbClr val="DEEDF1">
                    <a:lumMod val="25000"/>
                  </a:srgbClr>
                </a:solidFill>
                <a:effectLst/>
                <a:uLnTx/>
                <a:uFillTx/>
                <a:ea typeface="+mn-ea"/>
                <a:cs typeface="+mn-cs"/>
              </a:rPr>
              <a:t>1 - Gravity Zero   – </a:t>
            </a:r>
            <a:r>
              <a:rPr kumimoji="0" lang="en-AU" sz="1600" b="1" i="0" u="none" strike="noStrike" kern="0" cap="none" spc="0" normalizeH="0" baseline="0" noProof="0" err="1">
                <a:ln>
                  <a:noFill/>
                </a:ln>
                <a:solidFill>
                  <a:srgbClr val="DEEDF1">
                    <a:lumMod val="25000"/>
                  </a:srgbClr>
                </a:solidFill>
                <a:effectLst/>
                <a:uLnTx/>
                <a:uFillTx/>
                <a:ea typeface="+mn-ea"/>
                <a:cs typeface="+mn-cs"/>
              </a:rPr>
              <a:t>Replatforming</a:t>
            </a:r>
            <a:endParaRPr kumimoji="0" lang="en-AU" sz="1600" b="0" i="1" u="none" strike="noStrike" kern="0" cap="none" spc="0" normalizeH="0" baseline="0" noProof="0">
              <a:ln>
                <a:noFill/>
              </a:ln>
              <a:solidFill>
                <a:srgbClr val="DEEDF1">
                  <a:lumMod val="25000"/>
                </a:srgbClr>
              </a:solidFill>
              <a:effectLst/>
              <a:uLnTx/>
              <a:uFillTx/>
              <a:ea typeface="+mn-ea"/>
              <a:cs typeface="+mn-cs"/>
            </a:endParaRPr>
          </a:p>
        </p:txBody>
      </p:sp>
      <p:sp>
        <p:nvSpPr>
          <p:cNvPr id="48" name="Rectángulo 47">
            <a:extLst>
              <a:ext uri="{FF2B5EF4-FFF2-40B4-BE49-F238E27FC236}">
                <a16:creationId xmlns:a16="http://schemas.microsoft.com/office/drawing/2014/main" id="{1D8168BE-DE79-39C8-9F47-052057F2B410}"/>
              </a:ext>
            </a:extLst>
          </p:cNvPr>
          <p:cNvSpPr/>
          <p:nvPr/>
        </p:nvSpPr>
        <p:spPr>
          <a:xfrm>
            <a:off x="788202" y="3775748"/>
            <a:ext cx="3364034" cy="1188000"/>
          </a:xfrm>
          <a:prstGeom prst="rect">
            <a:avLst/>
          </a:prstGeom>
          <a:solidFill>
            <a:srgbClr val="DEEDF1"/>
          </a:solidFill>
          <a:ln w="12700" cap="flat" cmpd="sng" algn="ctr">
            <a:solidFill>
              <a:schemeClr val="bg1"/>
            </a:solidFill>
            <a:prstDash val="solid"/>
            <a:miter lim="800000"/>
          </a:ln>
          <a:effectLst/>
        </p:spPr>
        <p:txBody>
          <a:bodyPr rtlCol="0" anchor="ctr"/>
          <a:lstStyle/>
          <a:p>
            <a:pPr marL="355600" marR="0" lvl="0" indent="-355600" algn="l" defTabSz="914400" rtl="0" eaLnBrk="1" fontAlgn="auto" latinLnBrk="0" hangingPunct="1">
              <a:lnSpc>
                <a:spcPct val="100000"/>
              </a:lnSpc>
              <a:spcBef>
                <a:spcPts val="0"/>
              </a:spcBef>
              <a:spcAft>
                <a:spcPts val="600"/>
              </a:spcAft>
              <a:buClrTx/>
              <a:buSzTx/>
              <a:buFontTx/>
              <a:buNone/>
              <a:tabLst/>
              <a:defRPr/>
            </a:pPr>
            <a:r>
              <a:rPr kumimoji="0" lang="en-AU" sz="1600" b="1" i="0" u="none" strike="noStrike" kern="0" cap="none" spc="0" normalizeH="0" baseline="0" noProof="0">
                <a:ln>
                  <a:noFill/>
                </a:ln>
                <a:solidFill>
                  <a:srgbClr val="DEEDF1">
                    <a:lumMod val="25000"/>
                  </a:srgbClr>
                </a:solidFill>
                <a:effectLst/>
                <a:uLnTx/>
                <a:uFillTx/>
                <a:ea typeface="+mn-ea"/>
                <a:cs typeface="+mn-cs"/>
              </a:rPr>
              <a:t>2 - </a:t>
            </a:r>
            <a:r>
              <a:rPr kumimoji="0" lang="en-US" sz="1600" b="1" i="0" u="none" strike="noStrike" kern="0" cap="none" spc="0" normalizeH="0" baseline="0" noProof="0">
                <a:ln>
                  <a:noFill/>
                </a:ln>
                <a:solidFill>
                  <a:srgbClr val="DEEDF1">
                    <a:lumMod val="25000"/>
                  </a:srgbClr>
                </a:solidFill>
                <a:effectLst/>
                <a:uLnTx/>
                <a:uFillTx/>
                <a:ea typeface="+mn-ea"/>
                <a:cs typeface="+mn-cs"/>
              </a:rPr>
              <a:t>Lean Core - Reengineering</a:t>
            </a:r>
          </a:p>
        </p:txBody>
      </p:sp>
      <p:sp>
        <p:nvSpPr>
          <p:cNvPr id="51" name="Rectángulo 50">
            <a:extLst>
              <a:ext uri="{FF2B5EF4-FFF2-40B4-BE49-F238E27FC236}">
                <a16:creationId xmlns:a16="http://schemas.microsoft.com/office/drawing/2014/main" id="{590FC9F6-7A7D-EB34-3C7E-7D5A6B2A4EC2}"/>
              </a:ext>
            </a:extLst>
          </p:cNvPr>
          <p:cNvSpPr/>
          <p:nvPr/>
        </p:nvSpPr>
        <p:spPr>
          <a:xfrm>
            <a:off x="4410263" y="2402352"/>
            <a:ext cx="6856294" cy="1183751"/>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200" b="0" i="0" u="none" strike="noStrike" kern="0" cap="none" spc="0" normalizeH="0" baseline="0" noProof="0">
                <a:ln>
                  <a:noFill/>
                </a:ln>
                <a:solidFill>
                  <a:srgbClr val="DEEDF1">
                    <a:lumMod val="25000"/>
                  </a:srgbClr>
                </a:solidFill>
                <a:effectLst/>
                <a:uLnTx/>
                <a:uFillTx/>
                <a:ea typeface="+mn-ea"/>
                <a:cs typeface="+mn-cs"/>
              </a:rPr>
              <a:t>Gravity Zero -   Core Banking Platform   </a:t>
            </a:r>
          </a:p>
        </p:txBody>
      </p:sp>
      <p:sp>
        <p:nvSpPr>
          <p:cNvPr id="20" name="Text Placeholder 2">
            <a:extLst>
              <a:ext uri="{FF2B5EF4-FFF2-40B4-BE49-F238E27FC236}">
                <a16:creationId xmlns:a16="http://schemas.microsoft.com/office/drawing/2014/main" id="{035E1939-AC74-A3F7-7F70-70C45D168571}"/>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21" name="Título 1">
            <a:extLst>
              <a:ext uri="{FF2B5EF4-FFF2-40B4-BE49-F238E27FC236}">
                <a16:creationId xmlns:a16="http://schemas.microsoft.com/office/drawing/2014/main" id="{2C6BD604-D8D2-FE63-4B69-04BEF6B6BB26}"/>
              </a:ext>
            </a:extLst>
          </p:cNvPr>
          <p:cNvSpPr txBox="1">
            <a:spLocks/>
          </p:cNvSpPr>
          <p:nvPr/>
        </p:nvSpPr>
        <p:spPr>
          <a:xfrm>
            <a:off x="711024" y="660935"/>
            <a:ext cx="10758733" cy="836992"/>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lang="en-US" sz="2800" b="1" kern="1200" dirty="0">
                <a:solidFill>
                  <a:schemeClr val="accent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s-ES" sz="2800" b="1" i="0" u="none" strike="noStrike" kern="1200" cap="none" spc="0" normalizeH="0" baseline="0" noProof="0" err="1">
                <a:ln>
                  <a:noFill/>
                </a:ln>
                <a:solidFill>
                  <a:srgbClr val="EB0000"/>
                </a:solidFill>
                <a:effectLst/>
                <a:uLnTx/>
                <a:uFillTx/>
                <a:ea typeface="+mj-ea"/>
                <a:cs typeface="+mj-cs"/>
              </a:rPr>
              <a:t>Retail</a:t>
            </a:r>
            <a:r>
              <a:rPr kumimoji="0" lang="es-ES" sz="2800" b="1" i="0" u="none" strike="noStrike" kern="1200" cap="none" spc="0" normalizeH="0" baseline="0" noProof="0">
                <a:ln>
                  <a:noFill/>
                </a:ln>
                <a:solidFill>
                  <a:srgbClr val="EB0000"/>
                </a:solidFill>
                <a:effectLst/>
                <a:uLnTx/>
                <a:uFillTx/>
                <a:ea typeface="+mj-ea"/>
                <a:cs typeface="+mj-cs"/>
              </a:rPr>
              <a:t> &amp; </a:t>
            </a:r>
            <a:r>
              <a:rPr kumimoji="0" lang="es-ES" sz="2800" b="1" i="0" u="none" strike="noStrike" kern="1200" cap="none" spc="0" normalizeH="0" baseline="0" noProof="0" err="1">
                <a:ln>
                  <a:noFill/>
                </a:ln>
                <a:solidFill>
                  <a:srgbClr val="EB0000"/>
                </a:solidFill>
                <a:effectLst/>
                <a:uLnTx/>
                <a:uFillTx/>
                <a:ea typeface="+mj-ea"/>
                <a:cs typeface="+mj-cs"/>
              </a:rPr>
              <a:t>Commercial</a:t>
            </a:r>
            <a:r>
              <a:rPr kumimoji="0" lang="es-ES" sz="2800" b="1" i="0" u="none" strike="noStrike" kern="1200" cap="none" spc="0" normalizeH="0" baseline="0" noProof="0">
                <a:ln>
                  <a:noFill/>
                </a:ln>
                <a:solidFill>
                  <a:srgbClr val="EB0000"/>
                </a:solidFill>
                <a:effectLst/>
                <a:uLnTx/>
                <a:uFillTx/>
                <a:ea typeface="+mj-ea"/>
                <a:cs typeface="+mj-cs"/>
              </a:rPr>
              <a:t>. </a:t>
            </a:r>
            <a:r>
              <a:rPr lang="es-ES" err="1">
                <a:solidFill>
                  <a:schemeClr val="bg1">
                    <a:lumMod val="75000"/>
                  </a:schemeClr>
                </a:solidFill>
              </a:rPr>
              <a:t>Gravity</a:t>
            </a:r>
            <a:r>
              <a:rPr lang="es-ES">
                <a:solidFill>
                  <a:schemeClr val="bg1">
                    <a:lumMod val="75000"/>
                  </a:schemeClr>
                </a:solidFill>
              </a:rPr>
              <a:t>+</a:t>
            </a:r>
            <a:endParaRPr kumimoji="0" lang="es-ES" sz="2800" b="1" i="0" u="none" strike="noStrike" kern="1200" cap="none" spc="0" normalizeH="0" baseline="0" noProof="0">
              <a:ln>
                <a:noFill/>
              </a:ln>
              <a:solidFill>
                <a:srgbClr val="EB0000"/>
              </a:solidFill>
              <a:effectLst/>
              <a:uLnTx/>
              <a:uFillTx/>
              <a:ea typeface="+mj-ea"/>
              <a:cs typeface="+mj-cs"/>
            </a:endParaRPr>
          </a:p>
        </p:txBody>
      </p:sp>
      <p:sp>
        <p:nvSpPr>
          <p:cNvPr id="2" name="Rectángulo 1">
            <a:extLst>
              <a:ext uri="{FF2B5EF4-FFF2-40B4-BE49-F238E27FC236}">
                <a16:creationId xmlns:a16="http://schemas.microsoft.com/office/drawing/2014/main" id="{00BB711D-3A25-7926-8F3C-2E604EDD7318}"/>
              </a:ext>
            </a:extLst>
          </p:cNvPr>
          <p:cNvSpPr/>
          <p:nvPr/>
        </p:nvSpPr>
        <p:spPr>
          <a:xfrm>
            <a:off x="7364742" y="3760086"/>
            <a:ext cx="1192788" cy="1187999"/>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200" b="0" i="0" u="none" strike="noStrike" kern="0" cap="none" spc="0" normalizeH="0" baseline="0" noProof="0">
              <a:ln>
                <a:noFill/>
              </a:ln>
              <a:solidFill>
                <a:srgbClr val="DEEDF1">
                  <a:lumMod val="25000"/>
                </a:srgbClr>
              </a:solidFill>
              <a:effectLst/>
              <a:uLnTx/>
              <a:uFillTx/>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200" b="0" i="0" u="none" strike="noStrike" kern="0" cap="none" spc="0" normalizeH="0" baseline="0" noProof="0">
              <a:ln>
                <a:noFill/>
              </a:ln>
              <a:solidFill>
                <a:srgbClr val="DEEDF1">
                  <a:lumMod val="25000"/>
                </a:srgbClr>
              </a:solidFill>
              <a:effectLst/>
              <a:uLnTx/>
              <a:uFillTx/>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200" b="0" i="0" u="none" strike="noStrike" kern="0" cap="none" spc="0" normalizeH="0" baseline="0" noProof="0">
                <a:ln>
                  <a:noFill/>
                </a:ln>
                <a:solidFill>
                  <a:srgbClr val="DEEDF1">
                    <a:lumMod val="25000"/>
                  </a:srgbClr>
                </a:solidFill>
                <a:effectLst/>
                <a:uLnTx/>
                <a:uFillTx/>
                <a:ea typeface="+mn-ea"/>
                <a:cs typeface="+mn-cs"/>
              </a:rPr>
              <a:t>Accounts</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200" b="0" i="0" u="none" strike="noStrike" kern="0" cap="none" spc="0" normalizeH="0" baseline="0" noProof="0">
              <a:ln>
                <a:noFill/>
              </a:ln>
              <a:solidFill>
                <a:srgbClr val="DEEDF1">
                  <a:lumMod val="25000"/>
                </a:srgbClr>
              </a:solidFill>
              <a:effectLst/>
              <a:uLnTx/>
              <a:uFillTx/>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200" b="0" i="0" u="none" strike="noStrike" kern="0" cap="none" spc="0" normalizeH="0" baseline="0" noProof="0">
              <a:ln>
                <a:noFill/>
              </a:ln>
              <a:solidFill>
                <a:srgbClr val="DEEDF1">
                  <a:lumMod val="25000"/>
                </a:srgbClr>
              </a:solidFill>
              <a:effectLst/>
              <a:uLnTx/>
              <a:uFillTx/>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200" b="0" i="0" u="none" strike="noStrike" kern="0" cap="none" spc="0" normalizeH="0" baseline="0" noProof="0">
                <a:ln>
                  <a:noFill/>
                </a:ln>
                <a:solidFill>
                  <a:srgbClr val="DEEDF1">
                    <a:lumMod val="25000"/>
                  </a:srgbClr>
                </a:solidFill>
                <a:effectLst/>
                <a:uLnTx/>
                <a:uFillTx/>
                <a:ea typeface="+mn-ea"/>
                <a:cs typeface="+mn-cs"/>
              </a:rPr>
              <a:t> </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200" b="0" i="0" u="none" strike="noStrike" kern="0" cap="none" spc="0" normalizeH="0" baseline="0" noProof="0">
              <a:ln>
                <a:noFill/>
              </a:ln>
              <a:solidFill>
                <a:srgbClr val="DEEDF1">
                  <a:lumMod val="25000"/>
                </a:srgbClr>
              </a:solidFill>
              <a:effectLst/>
              <a:uLnTx/>
              <a:uFillTx/>
              <a:ea typeface="+mn-ea"/>
              <a:cs typeface="+mn-cs"/>
            </a:endParaRPr>
          </a:p>
        </p:txBody>
      </p:sp>
      <p:sp>
        <p:nvSpPr>
          <p:cNvPr id="3" name="Rectángulo 15">
            <a:extLst>
              <a:ext uri="{FF2B5EF4-FFF2-40B4-BE49-F238E27FC236}">
                <a16:creationId xmlns:a16="http://schemas.microsoft.com/office/drawing/2014/main" id="{B69903CE-B678-0A8C-D09A-8F6043406309}"/>
              </a:ext>
            </a:extLst>
          </p:cNvPr>
          <p:cNvSpPr/>
          <p:nvPr/>
        </p:nvSpPr>
        <p:spPr>
          <a:xfrm>
            <a:off x="788202" y="1871670"/>
            <a:ext cx="3364034" cy="369973"/>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kern="0">
                <a:solidFill>
                  <a:prstClr val="white"/>
                </a:solidFill>
                <a:latin typeface="Santander Text" panose="020B0504020201020104" pitchFamily="34" charset="0"/>
              </a:rPr>
              <a:t>Module Aggregation</a:t>
            </a:r>
          </a:p>
        </p:txBody>
      </p:sp>
    </p:spTree>
    <p:extLst>
      <p:ext uri="{BB962C8B-B14F-4D97-AF65-F5344CB8AC3E}">
        <p14:creationId xmlns:p14="http://schemas.microsoft.com/office/powerpoint/2010/main" val="192354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4094E-D406-D6B9-ECD6-152E92901DD3}"/>
            </a:ext>
          </a:extLst>
        </p:cNvPr>
        <p:cNvGrpSpPr/>
        <p:nvPr/>
      </p:nvGrpSpPr>
      <p:grpSpPr>
        <a:xfrm>
          <a:off x="0" y="0"/>
          <a:ext cx="0" cy="0"/>
          <a:chOff x="0" y="0"/>
          <a:chExt cx="0" cy="0"/>
        </a:xfrm>
      </p:grpSpPr>
      <p:sp>
        <p:nvSpPr>
          <p:cNvPr id="112" name="Text Placeholder 2">
            <a:extLst>
              <a:ext uri="{FF2B5EF4-FFF2-40B4-BE49-F238E27FC236}">
                <a16:creationId xmlns:a16="http://schemas.microsoft.com/office/drawing/2014/main" id="{6B8FB316-4149-D372-8221-F70EB63249B1}"/>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113" name="Título 1">
            <a:extLst>
              <a:ext uri="{FF2B5EF4-FFF2-40B4-BE49-F238E27FC236}">
                <a16:creationId xmlns:a16="http://schemas.microsoft.com/office/drawing/2014/main" id="{4C3CAD94-5B59-AE6B-1156-8B97832F12EF}"/>
              </a:ext>
            </a:extLst>
          </p:cNvPr>
          <p:cNvSpPr>
            <a:spLocks noGrp="1"/>
          </p:cNvSpPr>
          <p:nvPr>
            <p:ph type="title"/>
          </p:nvPr>
        </p:nvSpPr>
        <p:spPr>
          <a:xfrm>
            <a:off x="711024" y="641900"/>
            <a:ext cx="10758733" cy="445400"/>
          </a:xfrm>
        </p:spPr>
        <p:txBody>
          <a:bodyPr/>
          <a:lstStyle/>
          <a:p>
            <a:pPr>
              <a:defRPr/>
            </a:pPr>
            <a:r>
              <a:rPr kumimoji="0" lang="es-ES" sz="2800" b="1" i="0" u="none" strike="noStrike" kern="1200" cap="none" spc="0" normalizeH="0" baseline="0" noProof="0">
                <a:ln>
                  <a:noFill/>
                </a:ln>
                <a:solidFill>
                  <a:srgbClr val="EC0000"/>
                </a:solidFill>
                <a:effectLst/>
                <a:uLnTx/>
                <a:uFillTx/>
                <a:latin typeface="Santander Headline"/>
                <a:ea typeface="+mj-ea"/>
                <a:cs typeface="+mj-cs"/>
              </a:rPr>
              <a:t>DCB. </a:t>
            </a:r>
            <a:r>
              <a:rPr kumimoji="0" lang="en-AU" sz="2800" b="1" i="0" u="none" strike="noStrike" kern="1200" cap="none" spc="0" normalizeH="0" baseline="0" noProof="0">
                <a:ln>
                  <a:noFill/>
                </a:ln>
                <a:solidFill>
                  <a:srgbClr val="BFBFBF"/>
                </a:solidFill>
                <a:effectLst/>
                <a:uLnTx/>
                <a:uFillTx/>
                <a:latin typeface="Santander Headline"/>
                <a:ea typeface="+mj-ea"/>
                <a:cs typeface="+mj-cs"/>
              </a:rPr>
              <a:t>Digital Channels Individuals</a:t>
            </a:r>
            <a:br>
              <a:rPr kumimoji="0" lang="en-AU" sz="2800" b="1" i="0" u="none" strike="noStrike" kern="1200" cap="none" spc="0" normalizeH="0" baseline="0" noProof="0">
                <a:ln>
                  <a:noFill/>
                </a:ln>
                <a:solidFill>
                  <a:srgbClr val="BFBFBF"/>
                </a:solidFill>
                <a:effectLst/>
                <a:uLnTx/>
                <a:uFillTx/>
                <a:latin typeface="Santander Headline"/>
                <a:ea typeface="+mj-ea"/>
                <a:cs typeface="+mj-cs"/>
              </a:rPr>
            </a:br>
            <a:endParaRPr lang="en-US">
              <a:solidFill>
                <a:schemeClr val="bg1">
                  <a:lumMod val="75000"/>
                </a:schemeClr>
              </a:solidFill>
            </a:endParaRPr>
          </a:p>
        </p:txBody>
      </p:sp>
      <p:sp>
        <p:nvSpPr>
          <p:cNvPr id="15" name="Rectángulo 15">
            <a:extLst>
              <a:ext uri="{FF2B5EF4-FFF2-40B4-BE49-F238E27FC236}">
                <a16:creationId xmlns:a16="http://schemas.microsoft.com/office/drawing/2014/main" id="{B8D9F54C-E0CA-AF1F-CC72-A83C3417D858}"/>
              </a:ext>
            </a:extLst>
          </p:cNvPr>
          <p:cNvSpPr/>
          <p:nvPr/>
        </p:nvSpPr>
        <p:spPr>
          <a:xfrm>
            <a:off x="4318803" y="1290710"/>
            <a:ext cx="7551328" cy="240476"/>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kern="0">
                <a:solidFill>
                  <a:prstClr val="white"/>
                </a:solidFill>
                <a:latin typeface="Santander Text" panose="020B0504020201020104" pitchFamily="34" charset="0"/>
              </a:rPr>
              <a:t>Modules</a:t>
            </a:r>
          </a:p>
        </p:txBody>
      </p:sp>
      <p:grpSp>
        <p:nvGrpSpPr>
          <p:cNvPr id="117" name="Group 116">
            <a:extLst>
              <a:ext uri="{FF2B5EF4-FFF2-40B4-BE49-F238E27FC236}">
                <a16:creationId xmlns:a16="http://schemas.microsoft.com/office/drawing/2014/main" id="{DF7F52DB-022F-C8C3-01DF-47B720848623}"/>
              </a:ext>
            </a:extLst>
          </p:cNvPr>
          <p:cNvGrpSpPr/>
          <p:nvPr/>
        </p:nvGrpSpPr>
        <p:grpSpPr>
          <a:xfrm>
            <a:off x="588547" y="1587592"/>
            <a:ext cx="11255114" cy="396000"/>
            <a:chOff x="434543" y="844755"/>
            <a:chExt cx="11255114" cy="396000"/>
          </a:xfrm>
        </p:grpSpPr>
        <p:sp>
          <p:nvSpPr>
            <p:cNvPr id="8" name="Rectángulo 9">
              <a:extLst>
                <a:ext uri="{FF2B5EF4-FFF2-40B4-BE49-F238E27FC236}">
                  <a16:creationId xmlns:a16="http://schemas.microsoft.com/office/drawing/2014/main" id="{ACFB4AF7-0AE8-9820-E8B8-D2F0FDE7550C}"/>
                </a:ext>
              </a:extLst>
            </p:cNvPr>
            <p:cNvSpPr/>
            <p:nvPr/>
          </p:nvSpPr>
          <p:spPr>
            <a:xfrm>
              <a:off x="434543" y="844755"/>
              <a:ext cx="3619343" cy="396000"/>
            </a:xfrm>
            <a:prstGeom prst="rect">
              <a:avLst/>
            </a:prstGeom>
            <a:solidFill>
              <a:srgbClr val="DEEDF1"/>
            </a:solidFill>
            <a:ln w="12700" cap="flat" cmpd="sng" algn="ctr">
              <a:noFill/>
              <a:prstDash val="solid"/>
              <a:miter lim="800000"/>
            </a:ln>
            <a:effectLst/>
          </p:spPr>
          <p:txBody>
            <a:bodyPr lIns="72000" rIns="36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55600" indent="-355600">
                <a:spcAft>
                  <a:spcPts val="300"/>
                </a:spcAft>
              </a:pPr>
              <a:r>
                <a:rPr lang="en-GB" sz="900" b="1" kern="0">
                  <a:solidFill>
                    <a:srgbClr val="DEEDF1">
                      <a:lumMod val="25000"/>
                    </a:srgbClr>
                  </a:solidFill>
                  <a:latin typeface="Santander Text" panose="020B0504020201020104" pitchFamily="34" charset="0"/>
                </a:rPr>
                <a:t>1 - Global Container</a:t>
              </a:r>
            </a:p>
            <a:p>
              <a:pPr>
                <a:spcAft>
                  <a:spcPts val="300"/>
                </a:spcAft>
                <a:defRPr/>
              </a:pPr>
              <a:r>
                <a:rPr lang="en-GB" sz="800" i="1" kern="0">
                  <a:solidFill>
                    <a:srgbClr val="DEEDF1">
                      <a:lumMod val="25000"/>
                    </a:srgbClr>
                  </a:solidFill>
                  <a:latin typeface="Santander Text" panose="020B0504020201020104" pitchFamily="34" charset="0"/>
                </a:rPr>
                <a:t>Shell for Mobile and Web to integrate the </a:t>
              </a:r>
              <a:r>
                <a:rPr lang="en-GB" sz="800" i="1" kern="0" err="1">
                  <a:solidFill>
                    <a:srgbClr val="DEEDF1">
                      <a:lumMod val="25000"/>
                    </a:srgbClr>
                  </a:solidFill>
                  <a:latin typeface="Santander Text" panose="020B0504020201020104" pitchFamily="34" charset="0"/>
                </a:rPr>
                <a:t>MicroFronts</a:t>
              </a:r>
              <a:r>
                <a:rPr lang="en-GB" sz="800" i="1" kern="0">
                  <a:solidFill>
                    <a:srgbClr val="DEEDF1">
                      <a:lumMod val="25000"/>
                    </a:srgbClr>
                  </a:solidFill>
                  <a:latin typeface="Santander Text" panose="020B0504020201020104" pitchFamily="34" charset="0"/>
                </a:rPr>
                <a:t> for each channel</a:t>
              </a:r>
            </a:p>
          </p:txBody>
        </p:sp>
        <p:sp>
          <p:nvSpPr>
            <p:cNvPr id="22" name="Rectángulo 63">
              <a:extLst>
                <a:ext uri="{FF2B5EF4-FFF2-40B4-BE49-F238E27FC236}">
                  <a16:creationId xmlns:a16="http://schemas.microsoft.com/office/drawing/2014/main" id="{A4C60C1A-F8DA-0EF9-9F91-9BC88A74F1F5}"/>
                </a:ext>
              </a:extLst>
            </p:cNvPr>
            <p:cNvSpPr>
              <a:spLocks/>
            </p:cNvSpPr>
            <p:nvPr/>
          </p:nvSpPr>
          <p:spPr>
            <a:xfrm>
              <a:off x="4178830" y="844755"/>
              <a:ext cx="1476000"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600"/>
                </a:spcAft>
              </a:pPr>
              <a:r>
                <a:rPr lang="en-US" sz="1100" kern="0"/>
                <a:t>Mobile Shells</a:t>
              </a:r>
            </a:p>
          </p:txBody>
        </p:sp>
        <p:sp>
          <p:nvSpPr>
            <p:cNvPr id="23" name="Rectángulo 64">
              <a:extLst>
                <a:ext uri="{FF2B5EF4-FFF2-40B4-BE49-F238E27FC236}">
                  <a16:creationId xmlns:a16="http://schemas.microsoft.com/office/drawing/2014/main" id="{8D11F5D1-B1DD-D029-5247-EF6D5668E9A9}"/>
                </a:ext>
              </a:extLst>
            </p:cNvPr>
            <p:cNvSpPr>
              <a:spLocks/>
            </p:cNvSpPr>
            <p:nvPr/>
          </p:nvSpPr>
          <p:spPr>
            <a:xfrm>
              <a:off x="5714270" y="844755"/>
              <a:ext cx="1476000"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600"/>
                </a:spcAft>
              </a:pPr>
              <a:r>
                <a:rPr lang="en-US" sz="1100" kern="0"/>
                <a:t>Web Shells</a:t>
              </a:r>
            </a:p>
          </p:txBody>
        </p:sp>
        <p:sp>
          <p:nvSpPr>
            <p:cNvPr id="24" name="Rectángulo 65">
              <a:extLst>
                <a:ext uri="{FF2B5EF4-FFF2-40B4-BE49-F238E27FC236}">
                  <a16:creationId xmlns:a16="http://schemas.microsoft.com/office/drawing/2014/main" id="{A06F0215-D556-7C88-2963-A7C4F9BDD97A}"/>
                </a:ext>
              </a:extLst>
            </p:cNvPr>
            <p:cNvSpPr>
              <a:spLocks/>
            </p:cNvSpPr>
            <p:nvPr/>
          </p:nvSpPr>
          <p:spPr>
            <a:xfrm>
              <a:off x="7249710" y="844755"/>
              <a:ext cx="1926820"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kern="0"/>
                <a:t>Cross Channel Services</a:t>
              </a:r>
            </a:p>
            <a:p>
              <a:pPr algn="ctr"/>
              <a:r>
                <a:rPr lang="en-US" sz="900" kern="0"/>
                <a:t>(inc. Offline &amp; Data Synchronization)</a:t>
              </a:r>
            </a:p>
          </p:txBody>
        </p:sp>
        <p:sp>
          <p:nvSpPr>
            <p:cNvPr id="25" name="Rectángulo 66">
              <a:extLst>
                <a:ext uri="{FF2B5EF4-FFF2-40B4-BE49-F238E27FC236}">
                  <a16:creationId xmlns:a16="http://schemas.microsoft.com/office/drawing/2014/main" id="{C47BE92B-9E55-5DB1-7C50-AE055C9D0338}"/>
                </a:ext>
              </a:extLst>
            </p:cNvPr>
            <p:cNvSpPr/>
            <p:nvPr/>
          </p:nvSpPr>
          <p:spPr>
            <a:xfrm>
              <a:off x="10484235" y="844755"/>
              <a:ext cx="1205422" cy="396000"/>
            </a:xfrm>
            <a:prstGeom prst="rect">
              <a:avLst/>
            </a:prstGeom>
            <a:noFill/>
            <a:ln w="12700" cap="flat" cmpd="sng" algn="ctr">
              <a:solidFill>
                <a:srgbClr val="0070C0"/>
              </a:solidFill>
              <a:prstDash val="solid"/>
              <a:miter lim="800000"/>
            </a:ln>
            <a:effectLst/>
          </p:spPr>
          <p:txBody>
            <a:bodyPr lIns="72000" rIns="72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kern="0">
                  <a:solidFill>
                    <a:srgbClr val="DEEDF1">
                      <a:lumMod val="25000"/>
                    </a:srgbClr>
                  </a:solidFill>
                  <a:latin typeface="Santander Text" panose="020B0504020201020104" pitchFamily="34" charset="0"/>
                </a:rPr>
                <a:t>Security</a:t>
              </a:r>
            </a:p>
          </p:txBody>
        </p:sp>
        <p:sp>
          <p:nvSpPr>
            <p:cNvPr id="26" name="Rectángulo 67">
              <a:extLst>
                <a:ext uri="{FF2B5EF4-FFF2-40B4-BE49-F238E27FC236}">
                  <a16:creationId xmlns:a16="http://schemas.microsoft.com/office/drawing/2014/main" id="{61C2B040-345B-220D-E0FE-8BE3238C8071}"/>
                </a:ext>
              </a:extLst>
            </p:cNvPr>
            <p:cNvSpPr/>
            <p:nvPr/>
          </p:nvSpPr>
          <p:spPr>
            <a:xfrm>
              <a:off x="9217170" y="844755"/>
              <a:ext cx="1205422" cy="396000"/>
            </a:xfrm>
            <a:prstGeom prst="rect">
              <a:avLst/>
            </a:prstGeom>
            <a:noFill/>
            <a:ln w="12700" cap="flat" cmpd="sng" algn="ctr">
              <a:solidFill>
                <a:srgbClr val="0070C0"/>
              </a:solidFill>
              <a:prstDash val="solid"/>
              <a:miter lim="800000"/>
            </a:ln>
            <a:effectLst/>
          </p:spPr>
          <p:txBody>
            <a:bodyPr lIns="72000" rIns="72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Cloud</a:t>
              </a:r>
            </a:p>
          </p:txBody>
        </p:sp>
      </p:grpSp>
      <p:grpSp>
        <p:nvGrpSpPr>
          <p:cNvPr id="116" name="Group 115">
            <a:extLst>
              <a:ext uri="{FF2B5EF4-FFF2-40B4-BE49-F238E27FC236}">
                <a16:creationId xmlns:a16="http://schemas.microsoft.com/office/drawing/2014/main" id="{E403175C-007F-98F6-E703-62FF2458914D}"/>
              </a:ext>
            </a:extLst>
          </p:cNvPr>
          <p:cNvGrpSpPr/>
          <p:nvPr/>
        </p:nvGrpSpPr>
        <p:grpSpPr>
          <a:xfrm>
            <a:off x="588547" y="2137880"/>
            <a:ext cx="11300130" cy="396000"/>
            <a:chOff x="434543" y="1447602"/>
            <a:chExt cx="11300130" cy="396000"/>
          </a:xfrm>
        </p:grpSpPr>
        <p:sp>
          <p:nvSpPr>
            <p:cNvPr id="9" name="Rectángulo 10">
              <a:extLst>
                <a:ext uri="{FF2B5EF4-FFF2-40B4-BE49-F238E27FC236}">
                  <a16:creationId xmlns:a16="http://schemas.microsoft.com/office/drawing/2014/main" id="{BA246FD3-73C7-E6E7-2F0C-4C92C1A4E3F5}"/>
                </a:ext>
              </a:extLst>
            </p:cNvPr>
            <p:cNvSpPr/>
            <p:nvPr/>
          </p:nvSpPr>
          <p:spPr>
            <a:xfrm>
              <a:off x="434543" y="1447602"/>
              <a:ext cx="3619343" cy="396000"/>
            </a:xfrm>
            <a:prstGeom prst="rect">
              <a:avLst/>
            </a:prstGeom>
            <a:solidFill>
              <a:srgbClr val="DEEDF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36000"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55600" indent="-355600">
                <a:spcAft>
                  <a:spcPts val="300"/>
                </a:spcAft>
              </a:pPr>
              <a:r>
                <a:rPr lang="en-GB" sz="900" b="1">
                  <a:solidFill>
                    <a:srgbClr val="DEEDF1">
                      <a:lumMod val="25000"/>
                    </a:srgbClr>
                  </a:solidFill>
                  <a:latin typeface="Santander Text" panose="020B0504020201020104" pitchFamily="34" charset="0"/>
                </a:rPr>
                <a:t>2 – Advisory &amp; Added value Services </a:t>
              </a:r>
            </a:p>
            <a:p>
              <a:pPr>
                <a:spcAft>
                  <a:spcPts val="300"/>
                </a:spcAft>
              </a:pPr>
              <a:r>
                <a:rPr lang="en-GB" sz="800" i="1">
                  <a:solidFill>
                    <a:srgbClr val="DEEDF1">
                      <a:lumMod val="25000"/>
                    </a:srgbClr>
                  </a:solidFill>
                  <a:latin typeface="Santander Text" panose="020B0504020201020104" pitchFamily="34" charset="0"/>
                </a:rPr>
                <a:t>Set of capabilities to provide financial insights and tools to customers</a:t>
              </a:r>
              <a:endParaRPr lang="en-GB" sz="700" i="1">
                <a:solidFill>
                  <a:srgbClr val="DEEDF1">
                    <a:lumMod val="25000"/>
                  </a:srgbClr>
                </a:solidFill>
                <a:latin typeface="Santander Text" panose="020B0504020201020104" pitchFamily="34" charset="0"/>
              </a:endParaRPr>
            </a:p>
          </p:txBody>
        </p:sp>
        <p:sp>
          <p:nvSpPr>
            <p:cNvPr id="28" name="Rectángulo 68">
              <a:extLst>
                <a:ext uri="{FF2B5EF4-FFF2-40B4-BE49-F238E27FC236}">
                  <a16:creationId xmlns:a16="http://schemas.microsoft.com/office/drawing/2014/main" id="{78B31087-EE7C-91E1-1372-76724C331214}"/>
                </a:ext>
              </a:extLst>
            </p:cNvPr>
            <p:cNvSpPr/>
            <p:nvPr/>
          </p:nvSpPr>
          <p:spPr>
            <a:xfrm>
              <a:off x="4174579" y="1447602"/>
              <a:ext cx="756000"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PFM</a:t>
              </a:r>
            </a:p>
          </p:txBody>
        </p:sp>
        <p:sp>
          <p:nvSpPr>
            <p:cNvPr id="32" name="Rectángulo 69">
              <a:extLst>
                <a:ext uri="{FF2B5EF4-FFF2-40B4-BE49-F238E27FC236}">
                  <a16:creationId xmlns:a16="http://schemas.microsoft.com/office/drawing/2014/main" id="{7C80F5E7-29DC-9718-48E8-B551C1A48087}"/>
                </a:ext>
              </a:extLst>
            </p:cNvPr>
            <p:cNvSpPr/>
            <p:nvPr/>
          </p:nvSpPr>
          <p:spPr>
            <a:xfrm>
              <a:off x="4953091" y="1447602"/>
              <a:ext cx="756000"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Saving</a:t>
              </a:r>
            </a:p>
            <a:p>
              <a:pPr algn="ctr"/>
              <a:r>
                <a:rPr lang="en-GB" sz="1100" kern="0">
                  <a:solidFill>
                    <a:srgbClr val="DEEDF1">
                      <a:lumMod val="25000"/>
                    </a:srgbClr>
                  </a:solidFill>
                  <a:latin typeface="Santander Text" panose="020B0504020201020104" pitchFamily="34" charset="0"/>
                </a:rPr>
                <a:t>Goals</a:t>
              </a:r>
            </a:p>
          </p:txBody>
        </p:sp>
        <p:sp>
          <p:nvSpPr>
            <p:cNvPr id="33" name="Rectángulo 70">
              <a:extLst>
                <a:ext uri="{FF2B5EF4-FFF2-40B4-BE49-F238E27FC236}">
                  <a16:creationId xmlns:a16="http://schemas.microsoft.com/office/drawing/2014/main" id="{59503033-08CA-0EB6-622B-044C674EBE0E}"/>
                </a:ext>
              </a:extLst>
            </p:cNvPr>
            <p:cNvSpPr/>
            <p:nvPr/>
          </p:nvSpPr>
          <p:spPr>
            <a:xfrm>
              <a:off x="5731603" y="1447602"/>
              <a:ext cx="756000"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Timeline</a:t>
              </a:r>
            </a:p>
          </p:txBody>
        </p:sp>
        <p:sp>
          <p:nvSpPr>
            <p:cNvPr id="34" name="Rectángulo 71">
              <a:extLst>
                <a:ext uri="{FF2B5EF4-FFF2-40B4-BE49-F238E27FC236}">
                  <a16:creationId xmlns:a16="http://schemas.microsoft.com/office/drawing/2014/main" id="{EE40AC68-436A-1430-3F84-E780E31CD7C7}"/>
                </a:ext>
              </a:extLst>
            </p:cNvPr>
            <p:cNvSpPr/>
            <p:nvPr/>
          </p:nvSpPr>
          <p:spPr>
            <a:xfrm>
              <a:off x="6510115" y="1447602"/>
              <a:ext cx="828000"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Subscriptions</a:t>
              </a:r>
            </a:p>
          </p:txBody>
        </p:sp>
        <p:sp>
          <p:nvSpPr>
            <p:cNvPr id="35" name="Rectángulo 72">
              <a:extLst>
                <a:ext uri="{FF2B5EF4-FFF2-40B4-BE49-F238E27FC236}">
                  <a16:creationId xmlns:a16="http://schemas.microsoft.com/office/drawing/2014/main" id="{C84F9FFF-03A4-0F3B-74C8-7052D5810490}"/>
                </a:ext>
              </a:extLst>
            </p:cNvPr>
            <p:cNvSpPr/>
            <p:nvPr/>
          </p:nvSpPr>
          <p:spPr>
            <a:xfrm>
              <a:off x="7360627" y="1447602"/>
              <a:ext cx="1260000"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Financial Aggregator</a:t>
              </a:r>
            </a:p>
            <a:p>
              <a:pPr algn="ctr"/>
              <a:r>
                <a:rPr lang="en-GB" sz="1100" kern="0">
                  <a:solidFill>
                    <a:srgbClr val="DEEDF1">
                      <a:lumMod val="25000"/>
                    </a:srgbClr>
                  </a:solidFill>
                  <a:latin typeface="Santander Text" panose="020B0504020201020104" pitchFamily="34" charset="0"/>
                </a:rPr>
                <a:t>(+ Open Banking)</a:t>
              </a:r>
            </a:p>
          </p:txBody>
        </p:sp>
        <p:sp>
          <p:nvSpPr>
            <p:cNvPr id="36" name="Rectángulo 74">
              <a:extLst>
                <a:ext uri="{FF2B5EF4-FFF2-40B4-BE49-F238E27FC236}">
                  <a16:creationId xmlns:a16="http://schemas.microsoft.com/office/drawing/2014/main" id="{453CC35C-19A9-410D-AD8F-81744DFC3609}"/>
                </a:ext>
              </a:extLst>
            </p:cNvPr>
            <p:cNvSpPr/>
            <p:nvPr/>
          </p:nvSpPr>
          <p:spPr>
            <a:xfrm>
              <a:off x="8643139" y="1447602"/>
              <a:ext cx="756000"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Social Services </a:t>
              </a:r>
            </a:p>
          </p:txBody>
        </p:sp>
        <p:sp>
          <p:nvSpPr>
            <p:cNvPr id="37" name="Rectángulo 75">
              <a:extLst>
                <a:ext uri="{FF2B5EF4-FFF2-40B4-BE49-F238E27FC236}">
                  <a16:creationId xmlns:a16="http://schemas.microsoft.com/office/drawing/2014/main" id="{E2DDA5E5-8E0E-1AE0-6EA1-48C7BAFA07C8}"/>
                </a:ext>
              </a:extLst>
            </p:cNvPr>
            <p:cNvSpPr/>
            <p:nvPr/>
          </p:nvSpPr>
          <p:spPr>
            <a:xfrm>
              <a:off x="9421651" y="1447602"/>
              <a:ext cx="756000"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Third Party services</a:t>
              </a:r>
            </a:p>
          </p:txBody>
        </p:sp>
        <p:sp>
          <p:nvSpPr>
            <p:cNvPr id="38" name="Rectángulo 76">
              <a:extLst>
                <a:ext uri="{FF2B5EF4-FFF2-40B4-BE49-F238E27FC236}">
                  <a16:creationId xmlns:a16="http://schemas.microsoft.com/office/drawing/2014/main" id="{445A931E-0064-36D6-6EFA-7115A0959882}"/>
                </a:ext>
              </a:extLst>
            </p:cNvPr>
            <p:cNvSpPr/>
            <p:nvPr/>
          </p:nvSpPr>
          <p:spPr>
            <a:xfrm>
              <a:off x="10200163" y="1447602"/>
              <a:ext cx="756000"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Alerts &amp; Warnings</a:t>
              </a:r>
            </a:p>
          </p:txBody>
        </p:sp>
        <p:sp>
          <p:nvSpPr>
            <p:cNvPr id="39" name="Rectángulo 77">
              <a:extLst>
                <a:ext uri="{FF2B5EF4-FFF2-40B4-BE49-F238E27FC236}">
                  <a16:creationId xmlns:a16="http://schemas.microsoft.com/office/drawing/2014/main" id="{40413DB6-9C44-BD42-E2D4-2C1A23B4DA29}"/>
                </a:ext>
              </a:extLst>
            </p:cNvPr>
            <p:cNvSpPr/>
            <p:nvPr/>
          </p:nvSpPr>
          <p:spPr>
            <a:xfrm>
              <a:off x="10978673" y="1447602"/>
              <a:ext cx="756000"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Wallets</a:t>
              </a:r>
            </a:p>
          </p:txBody>
        </p:sp>
      </p:grpSp>
      <p:sp>
        <p:nvSpPr>
          <p:cNvPr id="10" name="Rectángulo 11">
            <a:extLst>
              <a:ext uri="{FF2B5EF4-FFF2-40B4-BE49-F238E27FC236}">
                <a16:creationId xmlns:a16="http://schemas.microsoft.com/office/drawing/2014/main" id="{53969D81-6E04-FC4A-738E-AEE9AF2B6D1F}"/>
              </a:ext>
            </a:extLst>
          </p:cNvPr>
          <p:cNvSpPr/>
          <p:nvPr/>
        </p:nvSpPr>
        <p:spPr>
          <a:xfrm>
            <a:off x="588547" y="3788744"/>
            <a:ext cx="3619343" cy="396000"/>
          </a:xfrm>
          <a:prstGeom prst="rect">
            <a:avLst/>
          </a:prstGeom>
          <a:solidFill>
            <a:srgbClr val="DEEDF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36000"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55600" indent="-355600">
              <a:spcAft>
                <a:spcPts val="300"/>
              </a:spcAft>
            </a:pPr>
            <a:r>
              <a:rPr lang="en-GB" sz="900" b="1">
                <a:solidFill>
                  <a:srgbClr val="DEEDF1">
                    <a:lumMod val="25000"/>
                  </a:srgbClr>
                </a:solidFill>
                <a:latin typeface="Santander Text" panose="020B0504020201020104" pitchFamily="34" charset="0"/>
              </a:rPr>
              <a:t>5 – Customer Services</a:t>
            </a:r>
          </a:p>
          <a:p>
            <a:pPr>
              <a:spcAft>
                <a:spcPts val="300"/>
              </a:spcAft>
            </a:pPr>
            <a:r>
              <a:rPr lang="en-GB" sz="800" i="1">
                <a:solidFill>
                  <a:srgbClr val="DEEDF1">
                    <a:lumMod val="25000"/>
                  </a:srgbClr>
                </a:solidFill>
                <a:latin typeface="Santander Text" panose="020B0504020201020104" pitchFamily="34" charset="0"/>
              </a:rPr>
              <a:t>Support to the registration and follow-up customer request, claims and complaints </a:t>
            </a:r>
          </a:p>
        </p:txBody>
      </p:sp>
      <p:sp>
        <p:nvSpPr>
          <p:cNvPr id="103" name="Rectángulo 100">
            <a:extLst>
              <a:ext uri="{FF2B5EF4-FFF2-40B4-BE49-F238E27FC236}">
                <a16:creationId xmlns:a16="http://schemas.microsoft.com/office/drawing/2014/main" id="{77C78A0B-3ED5-72D5-EF8F-E73A24A2EA2A}"/>
              </a:ext>
            </a:extLst>
          </p:cNvPr>
          <p:cNvSpPr/>
          <p:nvPr/>
        </p:nvSpPr>
        <p:spPr>
          <a:xfrm>
            <a:off x="7280204" y="3801819"/>
            <a:ext cx="2433173"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Case Management</a:t>
            </a:r>
          </a:p>
          <a:p>
            <a:pPr algn="ctr"/>
            <a:r>
              <a:rPr lang="en-GB" sz="1100" kern="0">
                <a:solidFill>
                  <a:srgbClr val="DEEDF1">
                    <a:lumMod val="25000"/>
                  </a:srgbClr>
                </a:solidFill>
                <a:latin typeface="Santander Text" panose="020B0504020201020104" pitchFamily="34" charset="0"/>
              </a:rPr>
              <a:t>(claims &amp; complains)</a:t>
            </a:r>
          </a:p>
        </p:txBody>
      </p:sp>
      <p:sp>
        <p:nvSpPr>
          <p:cNvPr id="104" name="Rectángulo 101">
            <a:extLst>
              <a:ext uri="{FF2B5EF4-FFF2-40B4-BE49-F238E27FC236}">
                <a16:creationId xmlns:a16="http://schemas.microsoft.com/office/drawing/2014/main" id="{F783AA9A-A9BC-C4DF-0574-2BBF962408BA}"/>
              </a:ext>
            </a:extLst>
          </p:cNvPr>
          <p:cNvSpPr/>
          <p:nvPr/>
        </p:nvSpPr>
        <p:spPr>
          <a:xfrm>
            <a:off x="4335550" y="3788744"/>
            <a:ext cx="2821237"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Customer Personal data</a:t>
            </a:r>
          </a:p>
        </p:txBody>
      </p:sp>
      <p:sp>
        <p:nvSpPr>
          <p:cNvPr id="41" name="Rectángulo 102">
            <a:extLst>
              <a:ext uri="{FF2B5EF4-FFF2-40B4-BE49-F238E27FC236}">
                <a16:creationId xmlns:a16="http://schemas.microsoft.com/office/drawing/2014/main" id="{57D926FF-18E7-D4F9-547E-F581600875A0}"/>
              </a:ext>
            </a:extLst>
          </p:cNvPr>
          <p:cNvSpPr/>
          <p:nvPr/>
        </p:nvSpPr>
        <p:spPr>
          <a:xfrm>
            <a:off x="9826656" y="3801819"/>
            <a:ext cx="2062021"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Supporting Tools</a:t>
            </a:r>
          </a:p>
        </p:txBody>
      </p:sp>
      <p:sp>
        <p:nvSpPr>
          <p:cNvPr id="11" name="Rectángulo 12">
            <a:extLst>
              <a:ext uri="{FF2B5EF4-FFF2-40B4-BE49-F238E27FC236}">
                <a16:creationId xmlns:a16="http://schemas.microsoft.com/office/drawing/2014/main" id="{72B6B212-FBF9-FE84-2BA4-B1F53DF31E80}"/>
              </a:ext>
            </a:extLst>
          </p:cNvPr>
          <p:cNvSpPr/>
          <p:nvPr/>
        </p:nvSpPr>
        <p:spPr>
          <a:xfrm>
            <a:off x="588547" y="4889320"/>
            <a:ext cx="3619343" cy="396000"/>
          </a:xfrm>
          <a:prstGeom prst="rect">
            <a:avLst/>
          </a:prstGeom>
          <a:solidFill>
            <a:srgbClr val="DEEDF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36000"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55600" indent="-355600">
              <a:spcAft>
                <a:spcPts val="300"/>
              </a:spcAft>
            </a:pPr>
            <a:r>
              <a:rPr lang="en-GB" sz="900" b="1">
                <a:solidFill>
                  <a:srgbClr val="DEEDF1">
                    <a:lumMod val="25000"/>
                  </a:srgbClr>
                </a:solidFill>
                <a:latin typeface="Santander Text" panose="020B0504020201020104" pitchFamily="34" charset="0"/>
              </a:rPr>
              <a:t>7 – UX capabilities </a:t>
            </a:r>
          </a:p>
          <a:p>
            <a:pPr indent="-355600">
              <a:spcAft>
                <a:spcPts val="300"/>
              </a:spcAft>
            </a:pPr>
            <a:r>
              <a:rPr lang="en-GB" sz="800" i="1">
                <a:solidFill>
                  <a:srgbClr val="DEEDF1">
                    <a:lumMod val="25000"/>
                  </a:srgbClr>
                </a:solidFill>
                <a:latin typeface="Santander Text" panose="020B0504020201020104" pitchFamily="34" charset="0"/>
              </a:rPr>
              <a:t>Set of Tool and libraries to customize UX and ensure a standard design of the Native and Web components </a:t>
            </a:r>
          </a:p>
        </p:txBody>
      </p:sp>
      <p:sp>
        <p:nvSpPr>
          <p:cNvPr id="42" name="Rectángulo 103">
            <a:extLst>
              <a:ext uri="{FF2B5EF4-FFF2-40B4-BE49-F238E27FC236}">
                <a16:creationId xmlns:a16="http://schemas.microsoft.com/office/drawing/2014/main" id="{74AAF184-98B6-6862-D9EC-914A6AEDA1D6}"/>
              </a:ext>
            </a:extLst>
          </p:cNvPr>
          <p:cNvSpPr/>
          <p:nvPr/>
        </p:nvSpPr>
        <p:spPr>
          <a:xfrm>
            <a:off x="4337556" y="4889320"/>
            <a:ext cx="1639998"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kern="0">
                <a:solidFill>
                  <a:srgbClr val="DEEDF1">
                    <a:lumMod val="25000"/>
                  </a:srgbClr>
                </a:solidFill>
              </a:rPr>
              <a:t>Accessibility</a:t>
            </a:r>
          </a:p>
        </p:txBody>
      </p:sp>
      <p:sp>
        <p:nvSpPr>
          <p:cNvPr id="43" name="Rectángulo 104">
            <a:extLst>
              <a:ext uri="{FF2B5EF4-FFF2-40B4-BE49-F238E27FC236}">
                <a16:creationId xmlns:a16="http://schemas.microsoft.com/office/drawing/2014/main" id="{BFFDF852-C177-4166-7048-63596F4C1C1C}"/>
              </a:ext>
            </a:extLst>
          </p:cNvPr>
          <p:cNvSpPr/>
          <p:nvPr/>
        </p:nvSpPr>
        <p:spPr>
          <a:xfrm>
            <a:off x="7542730" y="4861860"/>
            <a:ext cx="2018789"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kern="0">
                <a:solidFill>
                  <a:srgbClr val="DEEDF1">
                    <a:lumMod val="25000"/>
                  </a:srgbClr>
                </a:solidFill>
              </a:rPr>
              <a:t>Channel Personalization</a:t>
            </a:r>
          </a:p>
        </p:txBody>
      </p:sp>
      <p:sp>
        <p:nvSpPr>
          <p:cNvPr id="44" name="Rectángulo 105">
            <a:extLst>
              <a:ext uri="{FF2B5EF4-FFF2-40B4-BE49-F238E27FC236}">
                <a16:creationId xmlns:a16="http://schemas.microsoft.com/office/drawing/2014/main" id="{458531F0-F778-332F-6DD9-3FE094A46ED4}"/>
              </a:ext>
            </a:extLst>
          </p:cNvPr>
          <p:cNvSpPr/>
          <p:nvPr/>
        </p:nvSpPr>
        <p:spPr>
          <a:xfrm>
            <a:off x="9647597" y="4861860"/>
            <a:ext cx="2267150"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kern="0">
                <a:solidFill>
                  <a:srgbClr val="DEEDF1">
                    <a:lumMod val="25000"/>
                  </a:srgbClr>
                </a:solidFill>
              </a:rPr>
              <a:t>Style / Component Framework</a:t>
            </a:r>
          </a:p>
        </p:txBody>
      </p:sp>
      <p:sp>
        <p:nvSpPr>
          <p:cNvPr id="45" name="Rectángulo 106">
            <a:extLst>
              <a:ext uri="{FF2B5EF4-FFF2-40B4-BE49-F238E27FC236}">
                <a16:creationId xmlns:a16="http://schemas.microsoft.com/office/drawing/2014/main" id="{B68DD218-6858-378E-6996-3487FCC9172E}"/>
              </a:ext>
            </a:extLst>
          </p:cNvPr>
          <p:cNvSpPr/>
          <p:nvPr/>
        </p:nvSpPr>
        <p:spPr>
          <a:xfrm>
            <a:off x="6048667" y="4889320"/>
            <a:ext cx="1407412"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kern="0">
                <a:solidFill>
                  <a:srgbClr val="DEEDF1">
                    <a:lumMod val="25000"/>
                  </a:srgbClr>
                </a:solidFill>
              </a:rPr>
              <a:t>Internationalization &amp; Localization</a:t>
            </a:r>
          </a:p>
        </p:txBody>
      </p:sp>
      <p:grpSp>
        <p:nvGrpSpPr>
          <p:cNvPr id="110" name="Group 109">
            <a:extLst>
              <a:ext uri="{FF2B5EF4-FFF2-40B4-BE49-F238E27FC236}">
                <a16:creationId xmlns:a16="http://schemas.microsoft.com/office/drawing/2014/main" id="{A17A77BF-4CDB-5396-6999-FB4731C39DF1}"/>
              </a:ext>
            </a:extLst>
          </p:cNvPr>
          <p:cNvGrpSpPr/>
          <p:nvPr/>
        </p:nvGrpSpPr>
        <p:grpSpPr>
          <a:xfrm>
            <a:off x="588547" y="3238456"/>
            <a:ext cx="11322915" cy="396000"/>
            <a:chOff x="434543" y="2687923"/>
            <a:chExt cx="11322915" cy="396000"/>
          </a:xfrm>
        </p:grpSpPr>
        <p:sp>
          <p:nvSpPr>
            <p:cNvPr id="7" name="Rectángulo 8">
              <a:extLst>
                <a:ext uri="{FF2B5EF4-FFF2-40B4-BE49-F238E27FC236}">
                  <a16:creationId xmlns:a16="http://schemas.microsoft.com/office/drawing/2014/main" id="{C6243D03-162B-07FF-4438-F6EBF64DCEBF}"/>
                </a:ext>
              </a:extLst>
            </p:cNvPr>
            <p:cNvSpPr/>
            <p:nvPr/>
          </p:nvSpPr>
          <p:spPr>
            <a:xfrm>
              <a:off x="434543" y="2687923"/>
              <a:ext cx="3619343" cy="396000"/>
            </a:xfrm>
            <a:prstGeom prst="rect">
              <a:avLst/>
            </a:prstGeom>
            <a:solidFill>
              <a:srgbClr val="DEEDF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36000"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55600" indent="-355600">
                <a:spcAft>
                  <a:spcPts val="300"/>
                </a:spcAft>
              </a:pPr>
              <a:r>
                <a:rPr lang="en-GB" sz="900" b="1">
                  <a:solidFill>
                    <a:srgbClr val="DEEDF1">
                      <a:lumMod val="25000"/>
                    </a:srgbClr>
                  </a:solidFill>
                  <a:latin typeface="Santander Text" panose="020B0504020201020104" pitchFamily="34" charset="0"/>
                </a:rPr>
                <a:t>4 –Transactional Services </a:t>
              </a:r>
            </a:p>
            <a:p>
              <a:pPr>
                <a:spcAft>
                  <a:spcPts val="300"/>
                </a:spcAft>
              </a:pPr>
              <a:r>
                <a:rPr lang="en-GB" sz="800" i="1">
                  <a:solidFill>
                    <a:srgbClr val="DEEDF1">
                      <a:lumMod val="25000"/>
                    </a:srgbClr>
                  </a:solidFill>
                  <a:latin typeface="Santander Text" panose="020B0504020201020104" pitchFamily="34" charset="0"/>
                </a:rPr>
                <a:t>Multichannel designed components to support the transactional operative at web and APP (mainly Global and some Local) </a:t>
              </a:r>
            </a:p>
          </p:txBody>
        </p:sp>
        <p:sp>
          <p:nvSpPr>
            <p:cNvPr id="50" name="Rectángulo 114">
              <a:extLst>
                <a:ext uri="{FF2B5EF4-FFF2-40B4-BE49-F238E27FC236}">
                  <a16:creationId xmlns:a16="http://schemas.microsoft.com/office/drawing/2014/main" id="{ABC4C6CC-4EC6-2B73-710E-F58441B962F9}"/>
                </a:ext>
              </a:extLst>
            </p:cNvPr>
            <p:cNvSpPr/>
            <p:nvPr/>
          </p:nvSpPr>
          <p:spPr>
            <a:xfrm>
              <a:off x="4184866" y="2687923"/>
              <a:ext cx="900000" cy="396000"/>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Global Position</a:t>
              </a:r>
            </a:p>
          </p:txBody>
        </p:sp>
        <p:sp>
          <p:nvSpPr>
            <p:cNvPr id="51" name="Rectángulo 115">
              <a:extLst>
                <a:ext uri="{FF2B5EF4-FFF2-40B4-BE49-F238E27FC236}">
                  <a16:creationId xmlns:a16="http://schemas.microsoft.com/office/drawing/2014/main" id="{A53AFE88-EFA8-4DE2-670D-E46A32615777}"/>
                </a:ext>
              </a:extLst>
            </p:cNvPr>
            <p:cNvSpPr/>
            <p:nvPr/>
          </p:nvSpPr>
          <p:spPr>
            <a:xfrm>
              <a:off x="5158425" y="2687923"/>
              <a:ext cx="900000"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Accounts &amp; Deposits</a:t>
              </a:r>
            </a:p>
          </p:txBody>
        </p:sp>
        <p:sp>
          <p:nvSpPr>
            <p:cNvPr id="52" name="Rectángulo 116">
              <a:extLst>
                <a:ext uri="{FF2B5EF4-FFF2-40B4-BE49-F238E27FC236}">
                  <a16:creationId xmlns:a16="http://schemas.microsoft.com/office/drawing/2014/main" id="{FCF2E962-E8FB-6B49-AEE6-27C59E8B6995}"/>
                </a:ext>
              </a:extLst>
            </p:cNvPr>
            <p:cNvSpPr/>
            <p:nvPr/>
          </p:nvSpPr>
          <p:spPr>
            <a:xfrm>
              <a:off x="6102784" y="2687923"/>
              <a:ext cx="900000"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Cards</a:t>
              </a:r>
            </a:p>
          </p:txBody>
        </p:sp>
        <p:sp>
          <p:nvSpPr>
            <p:cNvPr id="53" name="Rectángulo 117">
              <a:extLst>
                <a:ext uri="{FF2B5EF4-FFF2-40B4-BE49-F238E27FC236}">
                  <a16:creationId xmlns:a16="http://schemas.microsoft.com/office/drawing/2014/main" id="{E96351F1-E95B-2E2A-DC28-6BECA098482C}"/>
                </a:ext>
              </a:extLst>
            </p:cNvPr>
            <p:cNvSpPr/>
            <p:nvPr/>
          </p:nvSpPr>
          <p:spPr>
            <a:xfrm>
              <a:off x="7056562" y="2687923"/>
              <a:ext cx="900000"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Payments</a:t>
              </a:r>
            </a:p>
          </p:txBody>
        </p:sp>
        <p:sp>
          <p:nvSpPr>
            <p:cNvPr id="54" name="Rectángulo 118">
              <a:extLst>
                <a:ext uri="{FF2B5EF4-FFF2-40B4-BE49-F238E27FC236}">
                  <a16:creationId xmlns:a16="http://schemas.microsoft.com/office/drawing/2014/main" id="{6C381D1B-1335-2E9A-88B4-05E1DB0DCE5D}"/>
                </a:ext>
              </a:extLst>
            </p:cNvPr>
            <p:cNvSpPr/>
            <p:nvPr/>
          </p:nvSpPr>
          <p:spPr>
            <a:xfrm>
              <a:off x="8010340" y="2687923"/>
              <a:ext cx="900000"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Loans</a:t>
              </a:r>
            </a:p>
          </p:txBody>
        </p:sp>
        <p:sp>
          <p:nvSpPr>
            <p:cNvPr id="55" name="Rectángulo 119">
              <a:extLst>
                <a:ext uri="{FF2B5EF4-FFF2-40B4-BE49-F238E27FC236}">
                  <a16:creationId xmlns:a16="http://schemas.microsoft.com/office/drawing/2014/main" id="{EBC7564E-9CCF-76A2-333C-33EF7FC58EA3}"/>
                </a:ext>
              </a:extLst>
            </p:cNvPr>
            <p:cNvSpPr/>
            <p:nvPr/>
          </p:nvSpPr>
          <p:spPr>
            <a:xfrm>
              <a:off x="8964118" y="2687923"/>
              <a:ext cx="900000"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Mortgages</a:t>
              </a:r>
            </a:p>
          </p:txBody>
        </p:sp>
        <p:sp>
          <p:nvSpPr>
            <p:cNvPr id="56" name="Rectángulo 120">
              <a:extLst>
                <a:ext uri="{FF2B5EF4-FFF2-40B4-BE49-F238E27FC236}">
                  <a16:creationId xmlns:a16="http://schemas.microsoft.com/office/drawing/2014/main" id="{A28B6AE3-4C32-02D8-0115-61D3A9AC75CA}"/>
                </a:ext>
              </a:extLst>
            </p:cNvPr>
            <p:cNvSpPr/>
            <p:nvPr/>
          </p:nvSpPr>
          <p:spPr>
            <a:xfrm>
              <a:off x="10857458" y="2687923"/>
              <a:ext cx="900000"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Local </a:t>
              </a:r>
            </a:p>
            <a:p>
              <a:pPr algn="ctr"/>
              <a:r>
                <a:rPr lang="en-GB" sz="1100" kern="0">
                  <a:solidFill>
                    <a:srgbClr val="DEEDF1">
                      <a:lumMod val="25000"/>
                    </a:srgbClr>
                  </a:solidFill>
                  <a:latin typeface="Santander Text" panose="020B0504020201020104" pitchFamily="34" charset="0"/>
                </a:rPr>
                <a:t>(Entity)</a:t>
              </a:r>
            </a:p>
          </p:txBody>
        </p:sp>
        <p:sp>
          <p:nvSpPr>
            <p:cNvPr id="57" name="Rectángulo 121">
              <a:extLst>
                <a:ext uri="{FF2B5EF4-FFF2-40B4-BE49-F238E27FC236}">
                  <a16:creationId xmlns:a16="http://schemas.microsoft.com/office/drawing/2014/main" id="{9608768F-C59F-9ECE-B329-B6BB1CF7C554}"/>
                </a:ext>
              </a:extLst>
            </p:cNvPr>
            <p:cNvSpPr/>
            <p:nvPr/>
          </p:nvSpPr>
          <p:spPr>
            <a:xfrm>
              <a:off x="9917896" y="2687923"/>
              <a:ext cx="885785"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kern="0">
                  <a:solidFill>
                    <a:srgbClr val="DEEDF1">
                      <a:lumMod val="25000"/>
                    </a:srgbClr>
                  </a:solidFill>
                  <a:latin typeface="Santander Text" panose="020B0504020201020104" pitchFamily="34" charset="0"/>
                </a:rPr>
                <a:t>W. &amp; Mgmt.</a:t>
              </a:r>
              <a:r>
                <a:rPr lang="en-GB" sz="1100" kern="0">
                  <a:solidFill>
                    <a:srgbClr val="DEEDF1">
                      <a:lumMod val="25000"/>
                    </a:srgbClr>
                  </a:solidFill>
                  <a:latin typeface="Santander Text" panose="020B0504020201020104" pitchFamily="34" charset="0"/>
                </a:rPr>
                <a:t> Investment</a:t>
              </a:r>
              <a:endParaRPr lang="en-US" sz="1100" kern="0">
                <a:solidFill>
                  <a:srgbClr val="DEEDF1">
                    <a:lumMod val="25000"/>
                  </a:srgbClr>
                </a:solidFill>
                <a:latin typeface="Santander Text" panose="020B0504020201020104" pitchFamily="34" charset="0"/>
              </a:endParaRPr>
            </a:p>
          </p:txBody>
        </p:sp>
      </p:grpSp>
      <p:grpSp>
        <p:nvGrpSpPr>
          <p:cNvPr id="106" name="Group 105">
            <a:extLst>
              <a:ext uri="{FF2B5EF4-FFF2-40B4-BE49-F238E27FC236}">
                <a16:creationId xmlns:a16="http://schemas.microsoft.com/office/drawing/2014/main" id="{F0235570-A46F-AB29-01B6-E4D67234ADD0}"/>
              </a:ext>
            </a:extLst>
          </p:cNvPr>
          <p:cNvGrpSpPr/>
          <p:nvPr/>
        </p:nvGrpSpPr>
        <p:grpSpPr>
          <a:xfrm>
            <a:off x="588547" y="5439608"/>
            <a:ext cx="11316759" cy="396000"/>
            <a:chOff x="434543" y="5162372"/>
            <a:chExt cx="11316759" cy="396000"/>
          </a:xfrm>
        </p:grpSpPr>
        <p:sp>
          <p:nvSpPr>
            <p:cNvPr id="13" name="Rectángulo 14">
              <a:extLst>
                <a:ext uri="{FF2B5EF4-FFF2-40B4-BE49-F238E27FC236}">
                  <a16:creationId xmlns:a16="http://schemas.microsoft.com/office/drawing/2014/main" id="{4A2D1452-8F51-4A5F-1E0E-6DDBCE09CBB8}"/>
                </a:ext>
              </a:extLst>
            </p:cNvPr>
            <p:cNvSpPr/>
            <p:nvPr/>
          </p:nvSpPr>
          <p:spPr>
            <a:xfrm>
              <a:off x="434543" y="5162372"/>
              <a:ext cx="3619342" cy="396000"/>
            </a:xfrm>
            <a:prstGeom prst="rect">
              <a:avLst/>
            </a:prstGeom>
            <a:solidFill>
              <a:srgbClr val="DEEDF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36000"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55600" indent="-355600">
                <a:spcAft>
                  <a:spcPts val="300"/>
                </a:spcAft>
              </a:pPr>
              <a:r>
                <a:rPr lang="en-GB" sz="900" b="1">
                  <a:solidFill>
                    <a:srgbClr val="DEEDF1">
                      <a:lumMod val="25000"/>
                    </a:srgbClr>
                  </a:solidFill>
                  <a:latin typeface="Santander Text" panose="020B0504020201020104" pitchFamily="34" charset="0"/>
                </a:rPr>
                <a:t>8 - Technical Services</a:t>
              </a:r>
            </a:p>
            <a:p>
              <a:pPr indent="-355600">
                <a:spcAft>
                  <a:spcPts val="300"/>
                </a:spcAft>
              </a:pPr>
              <a:r>
                <a:rPr lang="en-GB" sz="800" i="1">
                  <a:solidFill>
                    <a:srgbClr val="DEEDF1">
                      <a:lumMod val="25000"/>
                    </a:srgbClr>
                  </a:solidFill>
                  <a:latin typeface="Santander Text" panose="020B0504020201020104" pitchFamily="34" charset="0"/>
                </a:rPr>
                <a:t>Technical services to support servicing model </a:t>
              </a:r>
            </a:p>
          </p:txBody>
        </p:sp>
        <p:sp>
          <p:nvSpPr>
            <p:cNvPr id="17" name="Rectángulo 40">
              <a:extLst>
                <a:ext uri="{FF2B5EF4-FFF2-40B4-BE49-F238E27FC236}">
                  <a16:creationId xmlns:a16="http://schemas.microsoft.com/office/drawing/2014/main" id="{195D6556-DF5F-5F41-095F-61DB5A6C618B}"/>
                </a:ext>
              </a:extLst>
            </p:cNvPr>
            <p:cNvSpPr/>
            <p:nvPr/>
          </p:nvSpPr>
          <p:spPr>
            <a:xfrm>
              <a:off x="7293695" y="5162372"/>
              <a:ext cx="1620000" cy="396000"/>
            </a:xfrm>
            <a:prstGeom prst="rect">
              <a:avLst/>
            </a:prstGeom>
            <a:noFill/>
            <a:ln w="12700" cap="flat" cmpd="sng" algn="ctr">
              <a:solidFill>
                <a:srgbClr val="0070C0"/>
              </a:solidFill>
              <a:prstDash val="solid"/>
              <a:miter lim="800000"/>
            </a:ln>
            <a:effectLst/>
          </p:spPr>
          <p:txBody>
            <a:bodyPr lIns="72000" rIns="72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Analytics &amp; User Insights</a:t>
              </a:r>
            </a:p>
          </p:txBody>
        </p:sp>
        <p:sp>
          <p:nvSpPr>
            <p:cNvPr id="19" name="Rectángulo 4">
              <a:extLst>
                <a:ext uri="{FF2B5EF4-FFF2-40B4-BE49-F238E27FC236}">
                  <a16:creationId xmlns:a16="http://schemas.microsoft.com/office/drawing/2014/main" id="{657A93E8-4556-EB85-EA4B-75B16A9A0C48}"/>
                </a:ext>
              </a:extLst>
            </p:cNvPr>
            <p:cNvSpPr/>
            <p:nvPr/>
          </p:nvSpPr>
          <p:spPr>
            <a:xfrm>
              <a:off x="4164799" y="5162372"/>
              <a:ext cx="1440000" cy="39600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Configuration</a:t>
              </a:r>
            </a:p>
          </p:txBody>
        </p:sp>
        <p:sp>
          <p:nvSpPr>
            <p:cNvPr id="20" name="Rectángulo 5">
              <a:extLst>
                <a:ext uri="{FF2B5EF4-FFF2-40B4-BE49-F238E27FC236}">
                  <a16:creationId xmlns:a16="http://schemas.microsoft.com/office/drawing/2014/main" id="{80A81DAF-3D87-0CE1-54C3-E44EA7FCA240}"/>
                </a:ext>
              </a:extLst>
            </p:cNvPr>
            <p:cNvSpPr/>
            <p:nvPr/>
          </p:nvSpPr>
          <p:spPr>
            <a:xfrm>
              <a:off x="5639247" y="5162372"/>
              <a:ext cx="1620000" cy="396000"/>
            </a:xfrm>
            <a:prstGeom prst="rect">
              <a:avLst/>
            </a:prstGeom>
            <a:noFill/>
            <a:ln w="12700" cap="flat" cmpd="sng" algn="ctr">
              <a:solidFill>
                <a:srgbClr val="0070C0"/>
              </a:solidFill>
              <a:prstDash val="solid"/>
              <a:miter lim="800000"/>
            </a:ln>
            <a:effectLst/>
          </p:spPr>
          <p:txBody>
            <a:bodyPr lIns="72000" rIns="72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Offline and data synchronisation</a:t>
              </a:r>
            </a:p>
          </p:txBody>
        </p:sp>
        <p:sp>
          <p:nvSpPr>
            <p:cNvPr id="21" name="Rectángulo 45">
              <a:extLst>
                <a:ext uri="{FF2B5EF4-FFF2-40B4-BE49-F238E27FC236}">
                  <a16:creationId xmlns:a16="http://schemas.microsoft.com/office/drawing/2014/main" id="{87CF83BC-63EF-97D6-E518-F594EA4EAB8C}"/>
                </a:ext>
              </a:extLst>
            </p:cNvPr>
            <p:cNvSpPr/>
            <p:nvPr/>
          </p:nvSpPr>
          <p:spPr>
            <a:xfrm>
              <a:off x="8948143" y="5162372"/>
              <a:ext cx="1440000" cy="396000"/>
            </a:xfrm>
            <a:prstGeom prst="rect">
              <a:avLst/>
            </a:prstGeom>
            <a:noFill/>
            <a:ln w="12700" cap="flat" cmpd="sng" algn="ctr">
              <a:solidFill>
                <a:srgbClr val="0070C0"/>
              </a:solidFill>
              <a:prstDash val="solid"/>
              <a:miter lim="800000"/>
            </a:ln>
            <a:effectLst/>
          </p:spPr>
          <p:txBody>
            <a:bodyPr lIns="72000" rIns="72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Customer Security Configuration </a:t>
              </a:r>
            </a:p>
          </p:txBody>
        </p:sp>
        <p:sp>
          <p:nvSpPr>
            <p:cNvPr id="66" name="Rectángulo 1">
              <a:extLst>
                <a:ext uri="{FF2B5EF4-FFF2-40B4-BE49-F238E27FC236}">
                  <a16:creationId xmlns:a16="http://schemas.microsoft.com/office/drawing/2014/main" id="{F71C3D46-0AB1-3E37-D1AC-D6676BE2F290}"/>
                </a:ext>
              </a:extLst>
            </p:cNvPr>
            <p:cNvSpPr/>
            <p:nvPr/>
          </p:nvSpPr>
          <p:spPr>
            <a:xfrm>
              <a:off x="10422591" y="5162372"/>
              <a:ext cx="1328711" cy="396000"/>
            </a:xfrm>
            <a:prstGeom prst="rect">
              <a:avLst/>
            </a:prstGeom>
            <a:noFill/>
            <a:ln w="12700" cap="flat" cmpd="sng" algn="ctr">
              <a:solidFill>
                <a:srgbClr val="0070C0"/>
              </a:solidFill>
              <a:prstDash val="solid"/>
              <a:miter lim="800000"/>
            </a:ln>
            <a:effectLst/>
          </p:spPr>
          <p:txBody>
            <a:bodyPr lIns="72000" rIns="72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50" kern="0">
                  <a:solidFill>
                    <a:srgbClr val="DEEDF1">
                      <a:lumMod val="25000"/>
                    </a:srgbClr>
                  </a:solidFill>
                </a:rPr>
                <a:t>Fraud detection</a:t>
              </a:r>
            </a:p>
            <a:p>
              <a:pPr algn="ctr"/>
              <a:r>
                <a:rPr lang="en-US" sz="1050" kern="0">
                  <a:solidFill>
                    <a:srgbClr val="DEEDF1">
                      <a:lumMod val="25000"/>
                    </a:srgbClr>
                  </a:solidFill>
                </a:rPr>
                <a:t>&amp; KYC</a:t>
              </a:r>
            </a:p>
          </p:txBody>
        </p:sp>
      </p:grpSp>
      <p:sp>
        <p:nvSpPr>
          <p:cNvPr id="12" name="Rectángulo 13">
            <a:extLst>
              <a:ext uri="{FF2B5EF4-FFF2-40B4-BE49-F238E27FC236}">
                <a16:creationId xmlns:a16="http://schemas.microsoft.com/office/drawing/2014/main" id="{735C84E7-A16D-6A20-AE7C-522B4E9FAD08}"/>
              </a:ext>
            </a:extLst>
          </p:cNvPr>
          <p:cNvSpPr/>
          <p:nvPr/>
        </p:nvSpPr>
        <p:spPr>
          <a:xfrm>
            <a:off x="588547" y="4339032"/>
            <a:ext cx="3619343" cy="396000"/>
          </a:xfrm>
          <a:prstGeom prst="rect">
            <a:avLst/>
          </a:prstGeom>
          <a:solidFill>
            <a:srgbClr val="DEEDF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36000"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55600" indent="-355600">
              <a:spcAft>
                <a:spcPts val="300"/>
              </a:spcAft>
            </a:pPr>
            <a:r>
              <a:rPr lang="en-GB" sz="900" b="1">
                <a:solidFill>
                  <a:srgbClr val="DEEDF1">
                    <a:lumMod val="25000"/>
                  </a:srgbClr>
                </a:solidFill>
                <a:latin typeface="Santander Text" panose="020B0504020201020104" pitchFamily="34" charset="0"/>
              </a:rPr>
              <a:t>6 – Digital Interaction Services </a:t>
            </a:r>
          </a:p>
          <a:p>
            <a:pPr>
              <a:spcAft>
                <a:spcPts val="300"/>
              </a:spcAft>
            </a:pPr>
            <a:r>
              <a:rPr lang="en-GB" sz="800" i="1">
                <a:solidFill>
                  <a:srgbClr val="DEEDF1">
                    <a:lumMod val="25000"/>
                  </a:srgbClr>
                </a:solidFill>
                <a:latin typeface="Santander Text" panose="020B0504020201020104" pitchFamily="34" charset="0"/>
              </a:rPr>
              <a:t>Provides digital interaction capabilities &amp; tools to the customers </a:t>
            </a:r>
          </a:p>
        </p:txBody>
      </p:sp>
      <p:sp>
        <p:nvSpPr>
          <p:cNvPr id="79" name="Rectángulo 262">
            <a:extLst>
              <a:ext uri="{FF2B5EF4-FFF2-40B4-BE49-F238E27FC236}">
                <a16:creationId xmlns:a16="http://schemas.microsoft.com/office/drawing/2014/main" id="{B4CBB925-7CC3-B132-3884-BF743F0DFA08}"/>
              </a:ext>
            </a:extLst>
          </p:cNvPr>
          <p:cNvSpPr/>
          <p:nvPr/>
        </p:nvSpPr>
        <p:spPr>
          <a:xfrm>
            <a:off x="5775750" y="4339032"/>
            <a:ext cx="1476001" cy="396000"/>
          </a:xfrm>
          <a:prstGeom prst="rect">
            <a:avLst/>
          </a:prstGeom>
          <a:noFill/>
          <a:ln w="12700" cap="flat" cmpd="sng" algn="ctr">
            <a:solidFill>
              <a:srgbClr val="0070C0"/>
            </a:solidFill>
            <a:prstDash val="solid"/>
            <a:miter lim="800000"/>
          </a:ln>
          <a:effectLst/>
        </p:spPr>
        <p:txBody>
          <a:bodyPr lIns="72000" rIns="72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kern="0">
                <a:solidFill>
                  <a:srgbClr val="DEEDF1">
                    <a:lumMod val="25000"/>
                  </a:srgbClr>
                </a:solidFill>
                <a:latin typeface="Santander Text" panose="020B0504020201020104" pitchFamily="34" charset="0"/>
              </a:rPr>
              <a:t>Interaction Services</a:t>
            </a:r>
          </a:p>
        </p:txBody>
      </p:sp>
      <p:sp>
        <p:nvSpPr>
          <p:cNvPr id="94" name="Rectángulo 262">
            <a:extLst>
              <a:ext uri="{FF2B5EF4-FFF2-40B4-BE49-F238E27FC236}">
                <a16:creationId xmlns:a16="http://schemas.microsoft.com/office/drawing/2014/main" id="{6720325A-1E59-6580-E046-22D1E36AEF68}"/>
              </a:ext>
            </a:extLst>
          </p:cNvPr>
          <p:cNvSpPr/>
          <p:nvPr/>
        </p:nvSpPr>
        <p:spPr>
          <a:xfrm>
            <a:off x="10514792" y="4365182"/>
            <a:ext cx="1390514" cy="396000"/>
          </a:xfrm>
          <a:prstGeom prst="rect">
            <a:avLst/>
          </a:prstGeom>
          <a:noFill/>
          <a:ln w="12700" cap="flat" cmpd="sng" algn="ctr">
            <a:solidFill>
              <a:srgbClr val="0070C0"/>
            </a:solidFill>
            <a:prstDash val="solid"/>
            <a:miter lim="800000"/>
          </a:ln>
          <a:effectLst/>
        </p:spPr>
        <p:txBody>
          <a:bodyPr lIns="72000" rIns="72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kern="0">
                <a:solidFill>
                  <a:srgbClr val="DEEDF1">
                    <a:lumMod val="25000"/>
                  </a:srgbClr>
                </a:solidFill>
                <a:latin typeface="Santander Text" panose="020B0504020201020104" pitchFamily="34" charset="0"/>
              </a:rPr>
              <a:t>Voice of the Customers</a:t>
            </a:r>
          </a:p>
        </p:txBody>
      </p:sp>
      <p:sp>
        <p:nvSpPr>
          <p:cNvPr id="95" name="Rectángulo 262">
            <a:extLst>
              <a:ext uri="{FF2B5EF4-FFF2-40B4-BE49-F238E27FC236}">
                <a16:creationId xmlns:a16="http://schemas.microsoft.com/office/drawing/2014/main" id="{BA3595E9-BA9B-6320-693C-77B0DA04A91C}"/>
              </a:ext>
            </a:extLst>
          </p:cNvPr>
          <p:cNvSpPr/>
          <p:nvPr/>
        </p:nvSpPr>
        <p:spPr>
          <a:xfrm>
            <a:off x="9047307" y="4339032"/>
            <a:ext cx="1284348" cy="396000"/>
          </a:xfrm>
          <a:prstGeom prst="rect">
            <a:avLst/>
          </a:prstGeom>
          <a:noFill/>
          <a:ln w="12700" cap="flat" cmpd="sng" algn="ctr">
            <a:solidFill>
              <a:srgbClr val="0070C0"/>
            </a:solidFill>
            <a:prstDash val="solid"/>
            <a:miter lim="800000"/>
          </a:ln>
          <a:effectLst/>
        </p:spPr>
        <p:txBody>
          <a:bodyPr lIns="72000" rIns="72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kern="0">
                <a:solidFill>
                  <a:srgbClr val="DEEDF1">
                    <a:lumMod val="25000"/>
                  </a:srgbClr>
                </a:solidFill>
                <a:latin typeface="Santander Text" panose="020B0504020201020104" pitchFamily="34" charset="0"/>
              </a:rPr>
              <a:t>Push Notifications</a:t>
            </a:r>
          </a:p>
        </p:txBody>
      </p:sp>
      <p:sp>
        <p:nvSpPr>
          <p:cNvPr id="96" name="Rectángulo 262">
            <a:extLst>
              <a:ext uri="{FF2B5EF4-FFF2-40B4-BE49-F238E27FC236}">
                <a16:creationId xmlns:a16="http://schemas.microsoft.com/office/drawing/2014/main" id="{AFC5EC56-0001-D130-BE0C-1807F6493BDC}"/>
              </a:ext>
            </a:extLst>
          </p:cNvPr>
          <p:cNvSpPr/>
          <p:nvPr/>
        </p:nvSpPr>
        <p:spPr>
          <a:xfrm>
            <a:off x="7364386" y="4365182"/>
            <a:ext cx="1544863" cy="396000"/>
          </a:xfrm>
          <a:prstGeom prst="rect">
            <a:avLst/>
          </a:prstGeom>
          <a:noFill/>
          <a:ln w="12700" cap="flat" cmpd="sng" algn="ctr">
            <a:solidFill>
              <a:srgbClr val="0070C0"/>
            </a:solidFill>
            <a:prstDash val="solid"/>
            <a:miter lim="800000"/>
          </a:ln>
          <a:effectLst/>
        </p:spPr>
        <p:txBody>
          <a:bodyPr lIns="72000" rIns="72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kern="0">
                <a:solidFill>
                  <a:srgbClr val="DEEDF1">
                    <a:lumMod val="25000"/>
                  </a:srgbClr>
                </a:solidFill>
                <a:latin typeface="Santander Text" panose="020B0504020201020104" pitchFamily="34" charset="0"/>
              </a:rPr>
              <a:t>AI Interaction</a:t>
            </a:r>
          </a:p>
          <a:p>
            <a:pPr algn="ctr"/>
            <a:r>
              <a:rPr lang="en-US" sz="1100" kern="0">
                <a:solidFill>
                  <a:srgbClr val="DEEDF1">
                    <a:lumMod val="25000"/>
                  </a:srgbClr>
                </a:solidFill>
                <a:latin typeface="Santander Text" panose="020B0504020201020104" pitchFamily="34" charset="0"/>
              </a:rPr>
              <a:t>Services</a:t>
            </a:r>
          </a:p>
        </p:txBody>
      </p:sp>
      <p:sp>
        <p:nvSpPr>
          <p:cNvPr id="97" name="Rectángulo 262">
            <a:extLst>
              <a:ext uri="{FF2B5EF4-FFF2-40B4-BE49-F238E27FC236}">
                <a16:creationId xmlns:a16="http://schemas.microsoft.com/office/drawing/2014/main" id="{39D1CF9C-1321-353A-9692-6A46E3DAB832}"/>
              </a:ext>
            </a:extLst>
          </p:cNvPr>
          <p:cNvSpPr/>
          <p:nvPr/>
        </p:nvSpPr>
        <p:spPr>
          <a:xfrm>
            <a:off x="4328583" y="4352322"/>
            <a:ext cx="1284348" cy="39600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600"/>
              </a:spcAft>
            </a:pPr>
            <a:r>
              <a:rPr lang="en-US" sz="1100" kern="0">
                <a:solidFill>
                  <a:srgbClr val="DEEDF1">
                    <a:lumMod val="25000"/>
                  </a:srgbClr>
                </a:solidFill>
                <a:latin typeface="Santander Text" panose="020B0504020201020104" pitchFamily="34" charset="0"/>
              </a:rPr>
              <a:t>Digital Signature</a:t>
            </a:r>
          </a:p>
        </p:txBody>
      </p:sp>
      <p:sp>
        <p:nvSpPr>
          <p:cNvPr id="6" name="Rectángulo 7">
            <a:extLst>
              <a:ext uri="{FF2B5EF4-FFF2-40B4-BE49-F238E27FC236}">
                <a16:creationId xmlns:a16="http://schemas.microsoft.com/office/drawing/2014/main" id="{EED929F0-7568-9B2C-07B0-FEE07B59162A}"/>
              </a:ext>
            </a:extLst>
          </p:cNvPr>
          <p:cNvSpPr/>
          <p:nvPr/>
        </p:nvSpPr>
        <p:spPr>
          <a:xfrm>
            <a:off x="588547" y="2688168"/>
            <a:ext cx="3619343" cy="396000"/>
          </a:xfrm>
          <a:prstGeom prst="rect">
            <a:avLst/>
          </a:prstGeom>
          <a:solidFill>
            <a:srgbClr val="DEEDF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36000"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55600" indent="-355600">
              <a:spcAft>
                <a:spcPts val="300"/>
              </a:spcAft>
            </a:pPr>
            <a:r>
              <a:rPr lang="en-GB" sz="900" b="1">
                <a:solidFill>
                  <a:srgbClr val="DEEDF1">
                    <a:lumMod val="25000"/>
                  </a:srgbClr>
                </a:solidFill>
                <a:latin typeface="Santander Text" panose="020B0504020201020104" pitchFamily="34" charset="0"/>
              </a:rPr>
              <a:t>3 – Digital Sales</a:t>
            </a:r>
          </a:p>
          <a:p>
            <a:pPr>
              <a:spcAft>
                <a:spcPts val="300"/>
              </a:spcAft>
            </a:pPr>
            <a:r>
              <a:rPr lang="en-GB" sz="800" i="1">
                <a:solidFill>
                  <a:srgbClr val="DEEDF1">
                    <a:lumMod val="25000"/>
                  </a:srgbClr>
                </a:solidFill>
                <a:latin typeface="Santander Text" panose="020B0504020201020104" pitchFamily="34" charset="0"/>
              </a:rPr>
              <a:t>Advertising and Self-service customer onboarding and origination processes</a:t>
            </a:r>
          </a:p>
        </p:txBody>
      </p:sp>
      <p:sp>
        <p:nvSpPr>
          <p:cNvPr id="98" name="Rectángulo 24">
            <a:extLst>
              <a:ext uri="{FF2B5EF4-FFF2-40B4-BE49-F238E27FC236}">
                <a16:creationId xmlns:a16="http://schemas.microsoft.com/office/drawing/2014/main" id="{927845DB-C4DB-7296-D6A7-1482273BB12C}"/>
              </a:ext>
            </a:extLst>
          </p:cNvPr>
          <p:cNvSpPr/>
          <p:nvPr/>
        </p:nvSpPr>
        <p:spPr>
          <a:xfrm>
            <a:off x="4342377" y="2688168"/>
            <a:ext cx="1583670" cy="396000"/>
          </a:xfrm>
          <a:prstGeom prst="rect">
            <a:avLst/>
          </a:prstGeom>
          <a:noFill/>
          <a:ln w="12700" cap="flat" cmpd="sng" algn="ctr">
            <a:solidFill>
              <a:srgbClr val="0070C0"/>
            </a:solidFill>
            <a:prstDash val="solid"/>
            <a:miter lim="800000"/>
          </a:ln>
          <a:effectLst/>
        </p:spPr>
        <p:txBody>
          <a:bodyPr lIns="72000" rIns="72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600"/>
              </a:spcAft>
            </a:pPr>
            <a:r>
              <a:rPr lang="en-US" sz="1100" kern="0">
                <a:solidFill>
                  <a:srgbClr val="DEEDF1">
                    <a:lumMod val="25000"/>
                  </a:srgbClr>
                </a:solidFill>
                <a:latin typeface="Santander Text" panose="020B0504020201020104" pitchFamily="34" charset="0"/>
              </a:rPr>
              <a:t>Commercial Banners </a:t>
            </a:r>
          </a:p>
        </p:txBody>
      </p:sp>
      <p:sp>
        <p:nvSpPr>
          <p:cNvPr id="99" name="Rectángulo 25">
            <a:extLst>
              <a:ext uri="{FF2B5EF4-FFF2-40B4-BE49-F238E27FC236}">
                <a16:creationId xmlns:a16="http://schemas.microsoft.com/office/drawing/2014/main" id="{69CEAF42-F7F7-6B5F-19E7-3C220DA90162}"/>
              </a:ext>
            </a:extLst>
          </p:cNvPr>
          <p:cNvSpPr/>
          <p:nvPr/>
        </p:nvSpPr>
        <p:spPr>
          <a:xfrm>
            <a:off x="5968787" y="2680059"/>
            <a:ext cx="1476001" cy="396000"/>
          </a:xfrm>
          <a:prstGeom prst="rect">
            <a:avLst/>
          </a:prstGeom>
          <a:noFill/>
          <a:ln w="12700" cap="flat" cmpd="sng" algn="ctr">
            <a:solidFill>
              <a:srgbClr val="0070C0"/>
            </a:solidFill>
            <a:prstDash val="solid"/>
            <a:miter lim="800000"/>
          </a:ln>
          <a:effectLst/>
        </p:spPr>
        <p:txBody>
          <a:bodyPr lIns="72000" rIns="72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600"/>
              </a:spcAft>
            </a:pPr>
            <a:r>
              <a:rPr lang="en-US" sz="1100" kern="0">
                <a:solidFill>
                  <a:srgbClr val="DEEDF1">
                    <a:lumMod val="25000"/>
                  </a:srgbClr>
                </a:solidFill>
                <a:latin typeface="Santander Text" panose="020B0504020201020104" pitchFamily="34" charset="0"/>
              </a:rPr>
              <a:t>Customer Onboarding </a:t>
            </a:r>
          </a:p>
        </p:txBody>
      </p:sp>
      <p:sp>
        <p:nvSpPr>
          <p:cNvPr id="100" name="Rectángulo 26">
            <a:extLst>
              <a:ext uri="{FF2B5EF4-FFF2-40B4-BE49-F238E27FC236}">
                <a16:creationId xmlns:a16="http://schemas.microsoft.com/office/drawing/2014/main" id="{66357BE4-D1DE-72E1-D260-E130A108A371}"/>
              </a:ext>
            </a:extLst>
          </p:cNvPr>
          <p:cNvSpPr/>
          <p:nvPr/>
        </p:nvSpPr>
        <p:spPr>
          <a:xfrm>
            <a:off x="7518477" y="2688168"/>
            <a:ext cx="1583670" cy="396000"/>
          </a:xfrm>
          <a:prstGeom prst="rect">
            <a:avLst/>
          </a:prstGeom>
          <a:noFill/>
          <a:ln w="12700" cap="flat" cmpd="sng" algn="ctr">
            <a:solidFill>
              <a:srgbClr val="0070C0"/>
            </a:solidFill>
            <a:prstDash val="solid"/>
            <a:miter lim="800000"/>
          </a:ln>
          <a:effectLst/>
        </p:spPr>
        <p:txBody>
          <a:bodyPr lIns="72000" rIns="72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600"/>
              </a:spcAft>
            </a:pPr>
            <a:r>
              <a:rPr lang="en-US" sz="1100" kern="0">
                <a:solidFill>
                  <a:srgbClr val="DEEDF1">
                    <a:lumMod val="25000"/>
                  </a:srgbClr>
                </a:solidFill>
                <a:latin typeface="Santander Text" panose="020B0504020201020104" pitchFamily="34" charset="0"/>
              </a:rPr>
              <a:t>Products Sales </a:t>
            </a:r>
          </a:p>
        </p:txBody>
      </p:sp>
      <p:sp>
        <p:nvSpPr>
          <p:cNvPr id="101" name="Rectángulo 29">
            <a:extLst>
              <a:ext uri="{FF2B5EF4-FFF2-40B4-BE49-F238E27FC236}">
                <a16:creationId xmlns:a16="http://schemas.microsoft.com/office/drawing/2014/main" id="{86957B39-1104-1F28-B3FA-25EBE1FAA988}"/>
              </a:ext>
            </a:extLst>
          </p:cNvPr>
          <p:cNvSpPr/>
          <p:nvPr/>
        </p:nvSpPr>
        <p:spPr>
          <a:xfrm>
            <a:off x="10364075" y="2697906"/>
            <a:ext cx="1541231"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Public Web Site</a:t>
            </a:r>
          </a:p>
        </p:txBody>
      </p:sp>
      <p:sp>
        <p:nvSpPr>
          <p:cNvPr id="102" name="Rectángulo 30">
            <a:extLst>
              <a:ext uri="{FF2B5EF4-FFF2-40B4-BE49-F238E27FC236}">
                <a16:creationId xmlns:a16="http://schemas.microsoft.com/office/drawing/2014/main" id="{8E2E2FB8-C8D7-150B-209C-511A927F6DFB}"/>
              </a:ext>
            </a:extLst>
          </p:cNvPr>
          <p:cNvSpPr/>
          <p:nvPr/>
        </p:nvSpPr>
        <p:spPr>
          <a:xfrm>
            <a:off x="9136188" y="2688168"/>
            <a:ext cx="1155390"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kern="0">
                <a:solidFill>
                  <a:srgbClr val="DEEDF1">
                    <a:lumMod val="25000"/>
                  </a:srgbClr>
                </a:solidFill>
                <a:latin typeface="Santander Text" panose="020B0504020201020104" pitchFamily="34" charset="0"/>
              </a:rPr>
              <a:t>SEO</a:t>
            </a:r>
          </a:p>
        </p:txBody>
      </p:sp>
      <p:sp>
        <p:nvSpPr>
          <p:cNvPr id="2" name="Rectángulo 15">
            <a:extLst>
              <a:ext uri="{FF2B5EF4-FFF2-40B4-BE49-F238E27FC236}">
                <a16:creationId xmlns:a16="http://schemas.microsoft.com/office/drawing/2014/main" id="{FE9CD46A-0D65-6090-DF08-6A793C98468D}"/>
              </a:ext>
            </a:extLst>
          </p:cNvPr>
          <p:cNvSpPr/>
          <p:nvPr/>
        </p:nvSpPr>
        <p:spPr>
          <a:xfrm>
            <a:off x="587293" y="1290710"/>
            <a:ext cx="3619342" cy="240476"/>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kern="0">
                <a:solidFill>
                  <a:prstClr val="white"/>
                </a:solidFill>
                <a:latin typeface="Santander Text" panose="020B0504020201020104" pitchFamily="34" charset="0"/>
              </a:rPr>
              <a:t>Module Aggregation</a:t>
            </a:r>
          </a:p>
        </p:txBody>
      </p:sp>
    </p:spTree>
    <p:extLst>
      <p:ext uri="{BB962C8B-B14F-4D97-AF65-F5344CB8AC3E}">
        <p14:creationId xmlns:p14="http://schemas.microsoft.com/office/powerpoint/2010/main" val="10162386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12A25-4B46-47FE-4875-B39F80EE7499}"/>
            </a:ext>
          </a:extLst>
        </p:cNvPr>
        <p:cNvGrpSpPr/>
        <p:nvPr/>
      </p:nvGrpSpPr>
      <p:grpSpPr>
        <a:xfrm>
          <a:off x="0" y="0"/>
          <a:ext cx="0" cy="0"/>
          <a:chOff x="0" y="0"/>
          <a:chExt cx="0" cy="0"/>
        </a:xfrm>
      </p:grpSpPr>
      <p:sp>
        <p:nvSpPr>
          <p:cNvPr id="113" name="Título 1">
            <a:extLst>
              <a:ext uri="{FF2B5EF4-FFF2-40B4-BE49-F238E27FC236}">
                <a16:creationId xmlns:a16="http://schemas.microsoft.com/office/drawing/2014/main" id="{BE041F4E-82D8-13BA-F2D5-A53483B83A3F}"/>
              </a:ext>
            </a:extLst>
          </p:cNvPr>
          <p:cNvSpPr>
            <a:spLocks noGrp="1"/>
          </p:cNvSpPr>
          <p:nvPr>
            <p:ph type="title"/>
          </p:nvPr>
        </p:nvSpPr>
        <p:spPr>
          <a:xfrm>
            <a:off x="711024" y="641900"/>
            <a:ext cx="10758733" cy="445400"/>
          </a:xfrm>
        </p:spPr>
        <p:txBody>
          <a:bodyPr/>
          <a:lstStyle/>
          <a:p>
            <a:pPr>
              <a:defRPr/>
            </a:pPr>
            <a:r>
              <a:rPr kumimoji="0" lang="es-ES" sz="2800" b="1" i="0" u="none" strike="noStrike" kern="1200" cap="none" spc="0" normalizeH="0" baseline="0" noProof="0">
                <a:ln>
                  <a:noFill/>
                </a:ln>
                <a:solidFill>
                  <a:srgbClr val="EC0000"/>
                </a:solidFill>
                <a:effectLst/>
                <a:uLnTx/>
                <a:uFillTx/>
                <a:latin typeface="Santander Headline"/>
                <a:ea typeface="+mj-ea"/>
                <a:cs typeface="+mj-cs"/>
              </a:rPr>
              <a:t>DCB. </a:t>
            </a:r>
            <a:r>
              <a:rPr lang="en-AU">
                <a:solidFill>
                  <a:srgbClr val="BFBFBF"/>
                </a:solidFill>
                <a:latin typeface="Santander Headline"/>
              </a:rPr>
              <a:t>Digital Merchant Channels</a:t>
            </a:r>
            <a:endParaRPr lang="en-US">
              <a:solidFill>
                <a:schemeClr val="bg1">
                  <a:lumMod val="75000"/>
                </a:schemeClr>
              </a:solidFill>
            </a:endParaRPr>
          </a:p>
        </p:txBody>
      </p:sp>
      <p:sp>
        <p:nvSpPr>
          <p:cNvPr id="15" name="Rectángulo 15">
            <a:extLst>
              <a:ext uri="{FF2B5EF4-FFF2-40B4-BE49-F238E27FC236}">
                <a16:creationId xmlns:a16="http://schemas.microsoft.com/office/drawing/2014/main" id="{C111D5D8-C824-6F02-2167-6077E9DC1E4D}"/>
              </a:ext>
            </a:extLst>
          </p:cNvPr>
          <p:cNvSpPr/>
          <p:nvPr/>
        </p:nvSpPr>
        <p:spPr>
          <a:xfrm>
            <a:off x="4318803" y="1428496"/>
            <a:ext cx="7551328" cy="240476"/>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kern="0">
                <a:solidFill>
                  <a:prstClr val="white"/>
                </a:solidFill>
                <a:latin typeface="Santander Text" panose="020B0504020201020104" pitchFamily="34" charset="0"/>
              </a:rPr>
              <a:t>Modules</a:t>
            </a:r>
          </a:p>
        </p:txBody>
      </p:sp>
      <p:grpSp>
        <p:nvGrpSpPr>
          <p:cNvPr id="117" name="Group 116">
            <a:extLst>
              <a:ext uri="{FF2B5EF4-FFF2-40B4-BE49-F238E27FC236}">
                <a16:creationId xmlns:a16="http://schemas.microsoft.com/office/drawing/2014/main" id="{E4261B81-DD74-72EE-D963-0A45E23FBF63}"/>
              </a:ext>
            </a:extLst>
          </p:cNvPr>
          <p:cNvGrpSpPr/>
          <p:nvPr/>
        </p:nvGrpSpPr>
        <p:grpSpPr>
          <a:xfrm>
            <a:off x="588547" y="1725378"/>
            <a:ext cx="11255114" cy="396000"/>
            <a:chOff x="434543" y="844755"/>
            <a:chExt cx="11255114" cy="396000"/>
          </a:xfrm>
        </p:grpSpPr>
        <p:sp>
          <p:nvSpPr>
            <p:cNvPr id="8" name="Rectángulo 9">
              <a:extLst>
                <a:ext uri="{FF2B5EF4-FFF2-40B4-BE49-F238E27FC236}">
                  <a16:creationId xmlns:a16="http://schemas.microsoft.com/office/drawing/2014/main" id="{4B6664DB-6772-54E7-FE53-01B9111269FE}"/>
                </a:ext>
              </a:extLst>
            </p:cNvPr>
            <p:cNvSpPr/>
            <p:nvPr/>
          </p:nvSpPr>
          <p:spPr>
            <a:xfrm>
              <a:off x="434543" y="844755"/>
              <a:ext cx="3619343" cy="396000"/>
            </a:xfrm>
            <a:prstGeom prst="rect">
              <a:avLst/>
            </a:prstGeom>
            <a:solidFill>
              <a:srgbClr val="DEEDF1"/>
            </a:solidFill>
            <a:ln w="12700" cap="flat" cmpd="sng" algn="ctr">
              <a:noFill/>
              <a:prstDash val="solid"/>
              <a:miter lim="800000"/>
            </a:ln>
            <a:effectLst/>
          </p:spPr>
          <p:txBody>
            <a:bodyPr lIns="72000" tIns="45720" rIns="36000" bIns="4572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55600" indent="-355600">
                <a:spcAft>
                  <a:spcPts val="300"/>
                </a:spcAft>
              </a:pPr>
              <a:r>
                <a:rPr lang="en-GB" sz="900" b="1" kern="0">
                  <a:solidFill>
                    <a:srgbClr val="DEEDF1">
                      <a:lumMod val="25000"/>
                    </a:srgbClr>
                  </a:solidFill>
                  <a:latin typeface="Santander Text"/>
                </a:rPr>
                <a:t>1 – </a:t>
              </a:r>
              <a:r>
                <a:rPr lang="en-GB" sz="900" b="1" kern="0">
                  <a:solidFill>
                    <a:srgbClr val="DEEDF1">
                      <a:lumMod val="25000"/>
                    </a:srgbClr>
                  </a:solidFill>
                  <a:ea typeface="+mn-lt"/>
                  <a:cs typeface="+mn-lt"/>
                </a:rPr>
                <a:t>Checkout &amp; Acquisition: </a:t>
              </a:r>
              <a:endParaRPr lang="es-ES" sz="900" b="1" u="sng" kern="0">
                <a:solidFill>
                  <a:srgbClr val="DEEDF1">
                    <a:lumMod val="25000"/>
                  </a:srgbClr>
                </a:solidFill>
                <a:ea typeface="+mn-lt"/>
                <a:cs typeface="+mn-lt"/>
              </a:endParaRPr>
            </a:p>
            <a:p>
              <a:pPr>
                <a:spcAft>
                  <a:spcPts val="300"/>
                </a:spcAft>
              </a:pPr>
              <a:r>
                <a:rPr lang="en-US" sz="800" i="1">
                  <a:solidFill>
                    <a:srgbClr val="DEEDF1">
                      <a:lumMod val="25000"/>
                    </a:srgbClr>
                  </a:solidFill>
                  <a:latin typeface="Santander Text"/>
                </a:rPr>
                <a:t>Relevant services for checkout / linkup processes</a:t>
              </a:r>
              <a:endParaRPr lang="en-GB" sz="800" i="1">
                <a:solidFill>
                  <a:srgbClr val="DEEDF1">
                    <a:lumMod val="25000"/>
                  </a:srgbClr>
                </a:solidFill>
                <a:latin typeface="Santander Text"/>
              </a:endParaRPr>
            </a:p>
          </p:txBody>
        </p:sp>
        <p:sp>
          <p:nvSpPr>
            <p:cNvPr id="22" name="Rectángulo 63">
              <a:extLst>
                <a:ext uri="{FF2B5EF4-FFF2-40B4-BE49-F238E27FC236}">
                  <a16:creationId xmlns:a16="http://schemas.microsoft.com/office/drawing/2014/main" id="{EAF4069B-BE35-BEF0-DBB9-C8EF91A7D9A7}"/>
                </a:ext>
              </a:extLst>
            </p:cNvPr>
            <p:cNvSpPr>
              <a:spLocks/>
            </p:cNvSpPr>
            <p:nvPr/>
          </p:nvSpPr>
          <p:spPr>
            <a:xfrm>
              <a:off x="4178830" y="844755"/>
              <a:ext cx="1512000"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600"/>
                </a:spcAft>
              </a:pPr>
              <a:r>
                <a:rPr lang="es-ES" sz="1100" kern="0">
                  <a:solidFill>
                    <a:srgbClr val="053840"/>
                  </a:solidFill>
                </a:rPr>
                <a:t>Merchant Plugins</a:t>
              </a:r>
              <a:endParaRPr lang="en-US" sz="1100" kern="0">
                <a:solidFill>
                  <a:srgbClr val="053840"/>
                </a:solidFill>
              </a:endParaRPr>
            </a:p>
          </p:txBody>
        </p:sp>
        <p:sp>
          <p:nvSpPr>
            <p:cNvPr id="23" name="Rectángulo 64">
              <a:extLst>
                <a:ext uri="{FF2B5EF4-FFF2-40B4-BE49-F238E27FC236}">
                  <a16:creationId xmlns:a16="http://schemas.microsoft.com/office/drawing/2014/main" id="{8C268543-0BA2-4376-1E35-87695DC5AB0A}"/>
                </a:ext>
              </a:extLst>
            </p:cNvPr>
            <p:cNvSpPr>
              <a:spLocks/>
            </p:cNvSpPr>
            <p:nvPr/>
          </p:nvSpPr>
          <p:spPr>
            <a:xfrm>
              <a:off x="5733785" y="844755"/>
              <a:ext cx="1640320"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600"/>
                </a:spcAft>
              </a:pPr>
              <a:r>
                <a:rPr lang="es-ES" sz="1100" kern="0">
                  <a:solidFill>
                    <a:srgbClr val="053840"/>
                  </a:solidFill>
                </a:rPr>
                <a:t>Checkout Api Layer</a:t>
              </a:r>
              <a:endParaRPr lang="en-US"/>
            </a:p>
          </p:txBody>
        </p:sp>
        <p:sp>
          <p:nvSpPr>
            <p:cNvPr id="25" name="Rectángulo 66">
              <a:extLst>
                <a:ext uri="{FF2B5EF4-FFF2-40B4-BE49-F238E27FC236}">
                  <a16:creationId xmlns:a16="http://schemas.microsoft.com/office/drawing/2014/main" id="{9715E7FB-A712-E5EA-7975-9DEF01690F72}"/>
                </a:ext>
              </a:extLst>
            </p:cNvPr>
            <p:cNvSpPr/>
            <p:nvPr/>
          </p:nvSpPr>
          <p:spPr>
            <a:xfrm>
              <a:off x="10484235" y="844755"/>
              <a:ext cx="1205422" cy="396000"/>
            </a:xfrm>
            <a:prstGeom prst="rect">
              <a:avLst/>
            </a:prstGeom>
            <a:noFill/>
            <a:ln w="12700" cap="flat" cmpd="sng" algn="ctr">
              <a:solidFill>
                <a:srgbClr val="0070C0"/>
              </a:solidFill>
              <a:prstDash val="solid"/>
              <a:miter lim="800000"/>
            </a:ln>
            <a:effectLst/>
          </p:spPr>
          <p:txBody>
            <a:bodyPr lIns="72000" tIns="45720" rIns="72000" bIns="4572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kern="0">
                  <a:solidFill>
                    <a:srgbClr val="DEEDF1">
                      <a:lumMod val="25000"/>
                    </a:srgbClr>
                  </a:solidFill>
                  <a:latin typeface="Santander Text"/>
                </a:rPr>
                <a:t>Business Process Management </a:t>
              </a:r>
              <a:r>
                <a:rPr lang="en-GB" sz="1100" kern="0" baseline="30000">
                  <a:solidFill>
                    <a:srgbClr val="DEEDF1">
                      <a:lumMod val="25000"/>
                    </a:srgbClr>
                  </a:solidFill>
                </a:rPr>
                <a:t>(*)</a:t>
              </a:r>
              <a:endParaRPr lang="en-US" sz="1100" kern="0">
                <a:solidFill>
                  <a:srgbClr val="DEEDF1">
                    <a:lumMod val="25000"/>
                  </a:srgbClr>
                </a:solidFill>
                <a:latin typeface="Santander Text" panose="020B0504020201020104" pitchFamily="34" charset="0"/>
              </a:endParaRPr>
            </a:p>
          </p:txBody>
        </p:sp>
        <p:sp>
          <p:nvSpPr>
            <p:cNvPr id="26" name="Rectángulo 67">
              <a:extLst>
                <a:ext uri="{FF2B5EF4-FFF2-40B4-BE49-F238E27FC236}">
                  <a16:creationId xmlns:a16="http://schemas.microsoft.com/office/drawing/2014/main" id="{830E4757-FBE5-DC9F-C614-A29E665A4E7C}"/>
                </a:ext>
              </a:extLst>
            </p:cNvPr>
            <p:cNvSpPr/>
            <p:nvPr/>
          </p:nvSpPr>
          <p:spPr>
            <a:xfrm>
              <a:off x="7430503" y="844755"/>
              <a:ext cx="1277105" cy="396000"/>
            </a:xfrm>
            <a:prstGeom prst="rect">
              <a:avLst/>
            </a:prstGeom>
            <a:noFill/>
            <a:ln w="12700" cap="flat" cmpd="sng" algn="ctr">
              <a:solidFill>
                <a:srgbClr val="0070C0"/>
              </a:solidFill>
              <a:prstDash val="solid"/>
              <a:miter lim="800000"/>
            </a:ln>
            <a:effectLst/>
          </p:spPr>
          <p:txBody>
            <a:bodyPr lIns="72000" tIns="45720" rIns="72000" bIns="4572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a:rPr>
                <a:t>Risk &amp; Fraud</a:t>
              </a:r>
              <a:endParaRPr lang="en-GB" sz="1100" kern="0">
                <a:solidFill>
                  <a:srgbClr val="DEEDF1">
                    <a:lumMod val="25000"/>
                  </a:srgbClr>
                </a:solidFill>
                <a:latin typeface="Santander Text" panose="020B0504020201020104" pitchFamily="34" charset="0"/>
              </a:endParaRPr>
            </a:p>
          </p:txBody>
        </p:sp>
      </p:grpSp>
      <p:grpSp>
        <p:nvGrpSpPr>
          <p:cNvPr id="116" name="Group 115">
            <a:extLst>
              <a:ext uri="{FF2B5EF4-FFF2-40B4-BE49-F238E27FC236}">
                <a16:creationId xmlns:a16="http://schemas.microsoft.com/office/drawing/2014/main" id="{40CD1871-45BC-8F57-971E-770A1734B00E}"/>
              </a:ext>
            </a:extLst>
          </p:cNvPr>
          <p:cNvGrpSpPr/>
          <p:nvPr/>
        </p:nvGrpSpPr>
        <p:grpSpPr>
          <a:xfrm>
            <a:off x="588547" y="2275666"/>
            <a:ext cx="11263841" cy="396000"/>
            <a:chOff x="434543" y="1447602"/>
            <a:chExt cx="11263841" cy="396000"/>
          </a:xfrm>
        </p:grpSpPr>
        <p:sp>
          <p:nvSpPr>
            <p:cNvPr id="9" name="Rectángulo 10">
              <a:extLst>
                <a:ext uri="{FF2B5EF4-FFF2-40B4-BE49-F238E27FC236}">
                  <a16:creationId xmlns:a16="http://schemas.microsoft.com/office/drawing/2014/main" id="{7BF96B27-A8DB-2846-1B4F-C7C99D5C9CF3}"/>
                </a:ext>
              </a:extLst>
            </p:cNvPr>
            <p:cNvSpPr/>
            <p:nvPr/>
          </p:nvSpPr>
          <p:spPr>
            <a:xfrm>
              <a:off x="434543" y="1447602"/>
              <a:ext cx="3619343" cy="396000"/>
            </a:xfrm>
            <a:prstGeom prst="rect">
              <a:avLst/>
            </a:prstGeom>
            <a:solidFill>
              <a:srgbClr val="DEEDF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45720" rIns="36000" bIns="45720"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55600" indent="-355600">
                <a:spcAft>
                  <a:spcPts val="300"/>
                </a:spcAft>
              </a:pPr>
              <a:r>
                <a:rPr lang="en-GB" sz="900" b="1">
                  <a:solidFill>
                    <a:srgbClr val="DEEDF1">
                      <a:lumMod val="25000"/>
                    </a:srgbClr>
                  </a:solidFill>
                  <a:latin typeface="Santander Text"/>
                </a:rPr>
                <a:t>2 – Zinia Front:</a:t>
              </a:r>
              <a:endParaRPr lang="es-ES" sz="900" b="1" u="sng">
                <a:solidFill>
                  <a:srgbClr val="DEEDF1">
                    <a:lumMod val="25000"/>
                  </a:srgbClr>
                </a:solidFill>
                <a:ea typeface="+mn-lt"/>
                <a:cs typeface="+mn-lt"/>
              </a:endParaRPr>
            </a:p>
            <a:p>
              <a:r>
                <a:rPr lang="en-US" sz="800" i="1">
                  <a:solidFill>
                    <a:srgbClr val="DEEDF1">
                      <a:lumMod val="25000"/>
                    </a:srgbClr>
                  </a:solidFill>
                  <a:latin typeface="Santander Text"/>
                </a:rPr>
                <a:t>Digital Channels for  merchants</a:t>
              </a:r>
              <a:endParaRPr lang="en-GB" sz="800">
                <a:solidFill>
                  <a:srgbClr val="000000"/>
                </a:solidFill>
                <a:latin typeface="Santander Text"/>
              </a:endParaRPr>
            </a:p>
          </p:txBody>
        </p:sp>
        <p:sp>
          <p:nvSpPr>
            <p:cNvPr id="36" name="Rectángulo 74">
              <a:extLst>
                <a:ext uri="{FF2B5EF4-FFF2-40B4-BE49-F238E27FC236}">
                  <a16:creationId xmlns:a16="http://schemas.microsoft.com/office/drawing/2014/main" id="{8EB12D96-102F-5F66-8DF3-C05191EAA0BB}"/>
                </a:ext>
              </a:extLst>
            </p:cNvPr>
            <p:cNvSpPr/>
            <p:nvPr/>
          </p:nvSpPr>
          <p:spPr>
            <a:xfrm>
              <a:off x="4174384" y="1447602"/>
              <a:ext cx="7524000"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a:rPr>
                <a:t>Developer Portal</a:t>
              </a:r>
              <a:endParaRPr lang="en-US"/>
            </a:p>
          </p:txBody>
        </p:sp>
      </p:grpSp>
      <p:sp>
        <p:nvSpPr>
          <p:cNvPr id="2" name="Rectángulo 15">
            <a:extLst>
              <a:ext uri="{FF2B5EF4-FFF2-40B4-BE49-F238E27FC236}">
                <a16:creationId xmlns:a16="http://schemas.microsoft.com/office/drawing/2014/main" id="{4D6E5A7B-B277-52D0-5BF7-797BDA03734F}"/>
              </a:ext>
            </a:extLst>
          </p:cNvPr>
          <p:cNvSpPr/>
          <p:nvPr/>
        </p:nvSpPr>
        <p:spPr>
          <a:xfrm>
            <a:off x="587293" y="1428496"/>
            <a:ext cx="3619342" cy="240476"/>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kern="0">
                <a:solidFill>
                  <a:prstClr val="white"/>
                </a:solidFill>
                <a:latin typeface="Santander Text" panose="020B0504020201020104" pitchFamily="34" charset="0"/>
              </a:rPr>
              <a:t>Module Aggregation</a:t>
            </a:r>
          </a:p>
        </p:txBody>
      </p:sp>
      <p:sp>
        <p:nvSpPr>
          <p:cNvPr id="3" name="Rectángulo 67">
            <a:extLst>
              <a:ext uri="{FF2B5EF4-FFF2-40B4-BE49-F238E27FC236}">
                <a16:creationId xmlns:a16="http://schemas.microsoft.com/office/drawing/2014/main" id="{35B3AFBC-239C-D51F-5575-AD84414A1FEC}"/>
              </a:ext>
            </a:extLst>
          </p:cNvPr>
          <p:cNvSpPr/>
          <p:nvPr/>
        </p:nvSpPr>
        <p:spPr>
          <a:xfrm>
            <a:off x="8896386" y="1726011"/>
            <a:ext cx="951116" cy="396000"/>
          </a:xfrm>
          <a:prstGeom prst="rect">
            <a:avLst/>
          </a:prstGeom>
          <a:noFill/>
          <a:ln w="12700" cap="flat" cmpd="sng" algn="ctr">
            <a:solidFill>
              <a:srgbClr val="0070C0"/>
            </a:solidFill>
            <a:prstDash val="solid"/>
            <a:miter lim="800000"/>
          </a:ln>
          <a:effectLst/>
        </p:spPr>
        <p:txBody>
          <a:bodyPr lIns="72000" tIns="45720" rIns="72000" bIns="4572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a:rPr>
              <a:t>Security </a:t>
            </a:r>
            <a:r>
              <a:rPr lang="en-GB" sz="1100" kern="0" baseline="30000">
                <a:solidFill>
                  <a:srgbClr val="DEEDF1">
                    <a:lumMod val="25000"/>
                  </a:srgbClr>
                </a:solidFill>
                <a:latin typeface="Santander Text"/>
              </a:rPr>
              <a:t>(*)</a:t>
            </a:r>
            <a:endParaRPr lang="en-GB" sz="1100" kern="0" baseline="30000">
              <a:solidFill>
                <a:srgbClr val="DEEDF1">
                  <a:lumMod val="25000"/>
                </a:srgbClr>
              </a:solidFill>
              <a:latin typeface="Santander Text" panose="020B0504020201020104" pitchFamily="34" charset="0"/>
            </a:endParaRPr>
          </a:p>
        </p:txBody>
      </p:sp>
      <p:sp>
        <p:nvSpPr>
          <p:cNvPr id="5" name="Rectángulo 67">
            <a:extLst>
              <a:ext uri="{FF2B5EF4-FFF2-40B4-BE49-F238E27FC236}">
                <a16:creationId xmlns:a16="http://schemas.microsoft.com/office/drawing/2014/main" id="{58912FA8-D292-0308-C3A5-92A02E52CF19}"/>
              </a:ext>
            </a:extLst>
          </p:cNvPr>
          <p:cNvSpPr/>
          <p:nvPr/>
        </p:nvSpPr>
        <p:spPr>
          <a:xfrm>
            <a:off x="9882276" y="1727868"/>
            <a:ext cx="721560" cy="396000"/>
          </a:xfrm>
          <a:prstGeom prst="rect">
            <a:avLst/>
          </a:prstGeom>
          <a:noFill/>
          <a:ln w="12700" cap="flat" cmpd="sng" algn="ctr">
            <a:solidFill>
              <a:srgbClr val="0070C0"/>
            </a:solidFill>
            <a:prstDash val="solid"/>
            <a:miter lim="800000"/>
          </a:ln>
          <a:effectLst/>
        </p:spPr>
        <p:txBody>
          <a:bodyPr lIns="72000" tIns="45720" rIns="72000" bIns="4572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a:rPr>
              <a:t>AML </a:t>
            </a:r>
            <a:r>
              <a:rPr lang="en-GB" sz="1100" kern="0" baseline="30000">
                <a:solidFill>
                  <a:srgbClr val="DEEDF1">
                    <a:lumMod val="25000"/>
                  </a:srgbClr>
                </a:solidFill>
              </a:rPr>
              <a:t>(*)</a:t>
            </a:r>
            <a:endParaRPr lang="en-GB" sz="1100" kern="0">
              <a:solidFill>
                <a:srgbClr val="DEEDF1">
                  <a:lumMod val="25000"/>
                </a:srgbClr>
              </a:solidFill>
              <a:latin typeface="Santander Text" panose="020B0504020201020104" pitchFamily="34" charset="0"/>
            </a:endParaRPr>
          </a:p>
        </p:txBody>
      </p:sp>
      <p:sp>
        <p:nvSpPr>
          <p:cNvPr id="20" name="CuadroTexto 19">
            <a:extLst>
              <a:ext uri="{FF2B5EF4-FFF2-40B4-BE49-F238E27FC236}">
                <a16:creationId xmlns:a16="http://schemas.microsoft.com/office/drawing/2014/main" id="{CB5A87EA-1D06-A7AD-B17E-8C38E9019B03}"/>
              </a:ext>
            </a:extLst>
          </p:cNvPr>
          <p:cNvSpPr txBox="1"/>
          <p:nvPr/>
        </p:nvSpPr>
        <p:spPr>
          <a:xfrm>
            <a:off x="587293" y="5762442"/>
            <a:ext cx="2753718"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700">
                <a:solidFill>
                  <a:srgbClr val="053840"/>
                </a:solidFill>
              </a:rPr>
              <a:t>(*) Out of blueprint scope</a:t>
            </a:r>
          </a:p>
        </p:txBody>
      </p:sp>
      <p:sp>
        <p:nvSpPr>
          <p:cNvPr id="4" name="Text Placeholder 2">
            <a:extLst>
              <a:ext uri="{FF2B5EF4-FFF2-40B4-BE49-F238E27FC236}">
                <a16:creationId xmlns:a16="http://schemas.microsoft.com/office/drawing/2014/main" id="{49C2EB68-C237-E251-40B4-9211D2BCA1D2}"/>
              </a:ext>
            </a:extLst>
          </p:cNvPr>
          <p:cNvSpPr>
            <a:spLocks noGrp="1"/>
          </p:cNvSpPr>
          <p:nvPr>
            <p:ph type="body" sz="quarter" idx="14"/>
          </p:nvPr>
        </p:nvSpPr>
        <p:spPr>
          <a:xfrm>
            <a:off x="711024" y="367378"/>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Tree>
    <p:extLst>
      <p:ext uri="{BB962C8B-B14F-4D97-AF65-F5344CB8AC3E}">
        <p14:creationId xmlns:p14="http://schemas.microsoft.com/office/powerpoint/2010/main" val="26320568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60787-51DE-6137-1658-0276CB9C94AD}"/>
            </a:ext>
          </a:extLst>
        </p:cNvPr>
        <p:cNvGrpSpPr/>
        <p:nvPr/>
      </p:nvGrpSpPr>
      <p:grpSpPr>
        <a:xfrm>
          <a:off x="0" y="0"/>
          <a:ext cx="0" cy="0"/>
          <a:chOff x="0" y="0"/>
          <a:chExt cx="0" cy="0"/>
        </a:xfrm>
      </p:grpSpPr>
      <p:sp>
        <p:nvSpPr>
          <p:cNvPr id="113" name="Título 1">
            <a:extLst>
              <a:ext uri="{FF2B5EF4-FFF2-40B4-BE49-F238E27FC236}">
                <a16:creationId xmlns:a16="http://schemas.microsoft.com/office/drawing/2014/main" id="{187CAA18-6B35-2CB3-1722-44CFD6536E53}"/>
              </a:ext>
            </a:extLst>
          </p:cNvPr>
          <p:cNvSpPr>
            <a:spLocks noGrp="1"/>
          </p:cNvSpPr>
          <p:nvPr>
            <p:ph type="title"/>
          </p:nvPr>
        </p:nvSpPr>
        <p:spPr>
          <a:xfrm>
            <a:off x="711024" y="641900"/>
            <a:ext cx="10758733" cy="445400"/>
          </a:xfrm>
        </p:spPr>
        <p:txBody>
          <a:bodyPr/>
          <a:lstStyle/>
          <a:p>
            <a:pPr>
              <a:defRPr/>
            </a:pPr>
            <a:r>
              <a:rPr kumimoji="0" lang="es-ES" sz="2800" b="1" i="0" u="none" strike="noStrike" kern="1200" cap="none" spc="0" normalizeH="0" baseline="0" noProof="0">
                <a:ln>
                  <a:noFill/>
                </a:ln>
                <a:solidFill>
                  <a:srgbClr val="EC0000"/>
                </a:solidFill>
                <a:effectLst/>
                <a:uLnTx/>
                <a:uFillTx/>
                <a:latin typeface="Santander Headline"/>
                <a:ea typeface="+mj-ea"/>
                <a:cs typeface="+mj-cs"/>
              </a:rPr>
              <a:t>DCB. </a:t>
            </a:r>
            <a:r>
              <a:rPr lang="en-AU">
                <a:solidFill>
                  <a:srgbClr val="BFBFBF"/>
                </a:solidFill>
                <a:latin typeface="Santander Headline"/>
              </a:rPr>
              <a:t>Digital Customer Channels</a:t>
            </a:r>
            <a:endParaRPr lang="en-US">
              <a:solidFill>
                <a:schemeClr val="bg1">
                  <a:lumMod val="75000"/>
                </a:schemeClr>
              </a:solidFill>
            </a:endParaRPr>
          </a:p>
        </p:txBody>
      </p:sp>
      <p:sp>
        <p:nvSpPr>
          <p:cNvPr id="15" name="Rectángulo 15">
            <a:extLst>
              <a:ext uri="{FF2B5EF4-FFF2-40B4-BE49-F238E27FC236}">
                <a16:creationId xmlns:a16="http://schemas.microsoft.com/office/drawing/2014/main" id="{D090D6B1-1813-BCBD-A145-FFA078E87057}"/>
              </a:ext>
            </a:extLst>
          </p:cNvPr>
          <p:cNvSpPr/>
          <p:nvPr/>
        </p:nvSpPr>
        <p:spPr>
          <a:xfrm>
            <a:off x="4318803" y="1428496"/>
            <a:ext cx="7551328" cy="240476"/>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kern="0">
                <a:solidFill>
                  <a:prstClr val="white"/>
                </a:solidFill>
                <a:latin typeface="Santander Text" panose="020B0504020201020104" pitchFamily="34" charset="0"/>
              </a:rPr>
              <a:t>Modules</a:t>
            </a:r>
          </a:p>
        </p:txBody>
      </p:sp>
      <p:sp>
        <p:nvSpPr>
          <p:cNvPr id="2" name="Rectángulo 15">
            <a:extLst>
              <a:ext uri="{FF2B5EF4-FFF2-40B4-BE49-F238E27FC236}">
                <a16:creationId xmlns:a16="http://schemas.microsoft.com/office/drawing/2014/main" id="{E0E77C52-A011-14EF-3D02-0D327F079064}"/>
              </a:ext>
            </a:extLst>
          </p:cNvPr>
          <p:cNvSpPr/>
          <p:nvPr/>
        </p:nvSpPr>
        <p:spPr>
          <a:xfrm>
            <a:off x="587293" y="1428496"/>
            <a:ext cx="3619342" cy="240476"/>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kern="0">
                <a:solidFill>
                  <a:prstClr val="white"/>
                </a:solidFill>
                <a:latin typeface="Santander Text" panose="020B0504020201020104" pitchFamily="34" charset="0"/>
              </a:rPr>
              <a:t>Module Aggregation</a:t>
            </a:r>
          </a:p>
        </p:txBody>
      </p:sp>
      <p:sp>
        <p:nvSpPr>
          <p:cNvPr id="20" name="CuadroTexto 19">
            <a:extLst>
              <a:ext uri="{FF2B5EF4-FFF2-40B4-BE49-F238E27FC236}">
                <a16:creationId xmlns:a16="http://schemas.microsoft.com/office/drawing/2014/main" id="{8F037062-924C-8C2C-D7F0-0179BED0DB9F}"/>
              </a:ext>
            </a:extLst>
          </p:cNvPr>
          <p:cNvSpPr txBox="1"/>
          <p:nvPr/>
        </p:nvSpPr>
        <p:spPr>
          <a:xfrm>
            <a:off x="587293" y="5762442"/>
            <a:ext cx="2753718"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700">
                <a:solidFill>
                  <a:srgbClr val="053840"/>
                </a:solidFill>
              </a:rPr>
              <a:t>(*) Out of blueprint scope</a:t>
            </a:r>
          </a:p>
        </p:txBody>
      </p:sp>
      <p:grpSp>
        <p:nvGrpSpPr>
          <p:cNvPr id="4" name="Group 115">
            <a:extLst>
              <a:ext uri="{FF2B5EF4-FFF2-40B4-BE49-F238E27FC236}">
                <a16:creationId xmlns:a16="http://schemas.microsoft.com/office/drawing/2014/main" id="{8AB090BC-23BC-F8E5-B85F-4521143E9DBD}"/>
              </a:ext>
            </a:extLst>
          </p:cNvPr>
          <p:cNvGrpSpPr/>
          <p:nvPr/>
        </p:nvGrpSpPr>
        <p:grpSpPr>
          <a:xfrm>
            <a:off x="588547" y="1845272"/>
            <a:ext cx="11249590" cy="396000"/>
            <a:chOff x="434543" y="1447602"/>
            <a:chExt cx="11249590" cy="396000"/>
          </a:xfrm>
        </p:grpSpPr>
        <p:sp>
          <p:nvSpPr>
            <p:cNvPr id="6" name="Rectángulo 10">
              <a:extLst>
                <a:ext uri="{FF2B5EF4-FFF2-40B4-BE49-F238E27FC236}">
                  <a16:creationId xmlns:a16="http://schemas.microsoft.com/office/drawing/2014/main" id="{123E6CE7-C02E-B489-47EF-5E4E1195B946}"/>
                </a:ext>
              </a:extLst>
            </p:cNvPr>
            <p:cNvSpPr/>
            <p:nvPr/>
          </p:nvSpPr>
          <p:spPr>
            <a:xfrm>
              <a:off x="434543" y="1447602"/>
              <a:ext cx="3619343" cy="396000"/>
            </a:xfrm>
            <a:prstGeom prst="rect">
              <a:avLst/>
            </a:prstGeom>
            <a:solidFill>
              <a:srgbClr val="DEEDF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45720" rIns="36000" bIns="45720"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55600" indent="-355600">
                <a:spcAft>
                  <a:spcPts val="300"/>
                </a:spcAft>
              </a:pPr>
              <a:r>
                <a:rPr lang="en-GB" sz="900" b="1">
                  <a:solidFill>
                    <a:srgbClr val="DEEDF1">
                      <a:lumMod val="25000"/>
                    </a:srgbClr>
                  </a:solidFill>
                  <a:latin typeface="Santander Text"/>
                </a:rPr>
                <a:t>1 -  Zinia Front:</a:t>
              </a:r>
              <a:endParaRPr lang="es-ES" sz="900" b="1" u="sng">
                <a:solidFill>
                  <a:srgbClr val="DEEDF1">
                    <a:lumMod val="25000"/>
                  </a:srgbClr>
                </a:solidFill>
                <a:ea typeface="+mn-lt"/>
                <a:cs typeface="+mn-lt"/>
              </a:endParaRPr>
            </a:p>
            <a:p>
              <a:r>
                <a:rPr lang="en-US" sz="800" i="1">
                  <a:solidFill>
                    <a:srgbClr val="DEEDF1">
                      <a:lumMod val="25000"/>
                    </a:srgbClr>
                  </a:solidFill>
                  <a:latin typeface="Santander Text"/>
                </a:rPr>
                <a:t>Digital Channels for customers</a:t>
              </a:r>
              <a:endParaRPr lang="en-GB" sz="800">
                <a:solidFill>
                  <a:srgbClr val="000000"/>
                </a:solidFill>
                <a:latin typeface="Santander Text"/>
              </a:endParaRPr>
            </a:p>
          </p:txBody>
        </p:sp>
        <p:sp>
          <p:nvSpPr>
            <p:cNvPr id="7" name="Rectángulo 68">
              <a:extLst>
                <a:ext uri="{FF2B5EF4-FFF2-40B4-BE49-F238E27FC236}">
                  <a16:creationId xmlns:a16="http://schemas.microsoft.com/office/drawing/2014/main" id="{BC5DDAC6-1E8C-C817-03D9-77631643E387}"/>
                </a:ext>
              </a:extLst>
            </p:cNvPr>
            <p:cNvSpPr/>
            <p:nvPr/>
          </p:nvSpPr>
          <p:spPr>
            <a:xfrm>
              <a:off x="4205149" y="1447602"/>
              <a:ext cx="869862"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a:rPr>
                <a:t>Customer Front</a:t>
              </a:r>
              <a:endParaRPr lang="en-GB" sz="1100" kern="0">
                <a:solidFill>
                  <a:srgbClr val="DEEDF1">
                    <a:lumMod val="25000"/>
                  </a:srgbClr>
                </a:solidFill>
                <a:latin typeface="Santander Text" panose="020B0504020201020104" pitchFamily="34" charset="0"/>
              </a:endParaRPr>
            </a:p>
          </p:txBody>
        </p:sp>
        <p:sp>
          <p:nvSpPr>
            <p:cNvPr id="10" name="Rectángulo 69">
              <a:extLst>
                <a:ext uri="{FF2B5EF4-FFF2-40B4-BE49-F238E27FC236}">
                  <a16:creationId xmlns:a16="http://schemas.microsoft.com/office/drawing/2014/main" id="{D543F708-F872-CD09-6C03-BE72F7264C3B}"/>
                </a:ext>
              </a:extLst>
            </p:cNvPr>
            <p:cNvSpPr/>
            <p:nvPr/>
          </p:nvSpPr>
          <p:spPr>
            <a:xfrm>
              <a:off x="5111580" y="1447602"/>
              <a:ext cx="1220471"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224751"/>
                  </a:solidFill>
                </a:rPr>
                <a:t>Cobranded Front</a:t>
              </a:r>
            </a:p>
          </p:txBody>
        </p:sp>
        <p:sp>
          <p:nvSpPr>
            <p:cNvPr id="11" name="Rectángulo 70">
              <a:extLst>
                <a:ext uri="{FF2B5EF4-FFF2-40B4-BE49-F238E27FC236}">
                  <a16:creationId xmlns:a16="http://schemas.microsoft.com/office/drawing/2014/main" id="{F02A9DFA-97D3-7D5A-4582-A66CB602E4BE}"/>
                </a:ext>
              </a:extLst>
            </p:cNvPr>
            <p:cNvSpPr/>
            <p:nvPr/>
          </p:nvSpPr>
          <p:spPr>
            <a:xfrm>
              <a:off x="6365668" y="1447602"/>
              <a:ext cx="1603471"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224751"/>
                  </a:solidFill>
                </a:rPr>
                <a:t>Merchant /  </a:t>
              </a:r>
            </a:p>
            <a:p>
              <a:pPr algn="ctr"/>
              <a:r>
                <a:rPr lang="en-GB" sz="1100" kern="0">
                  <a:solidFill>
                    <a:srgbClr val="224751"/>
                  </a:solidFill>
                </a:rPr>
                <a:t>Ops Portal</a:t>
              </a:r>
            </a:p>
          </p:txBody>
        </p:sp>
        <p:sp>
          <p:nvSpPr>
            <p:cNvPr id="13" name="Rectángulo 72">
              <a:extLst>
                <a:ext uri="{FF2B5EF4-FFF2-40B4-BE49-F238E27FC236}">
                  <a16:creationId xmlns:a16="http://schemas.microsoft.com/office/drawing/2014/main" id="{360357DC-D1DD-43E2-AC50-4CA9917ECA34}"/>
                </a:ext>
              </a:extLst>
            </p:cNvPr>
            <p:cNvSpPr/>
            <p:nvPr/>
          </p:nvSpPr>
          <p:spPr>
            <a:xfrm>
              <a:off x="8002755" y="1447602"/>
              <a:ext cx="973049"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224751"/>
                  </a:solidFill>
                  <a:latin typeface="Santander Text"/>
                </a:rPr>
                <a:t>Public Site</a:t>
              </a:r>
              <a:endParaRPr lang="en-GB" sz="1100" kern="0">
                <a:solidFill>
                  <a:srgbClr val="224751"/>
                </a:solidFill>
                <a:latin typeface="Santander Text" panose="020B0504020201020104" pitchFamily="34" charset="0"/>
              </a:endParaRPr>
            </a:p>
          </p:txBody>
        </p:sp>
        <p:sp>
          <p:nvSpPr>
            <p:cNvPr id="14" name="Rectángulo 74">
              <a:extLst>
                <a:ext uri="{FF2B5EF4-FFF2-40B4-BE49-F238E27FC236}">
                  <a16:creationId xmlns:a16="http://schemas.microsoft.com/office/drawing/2014/main" id="{B7EA5E6B-8AE9-C765-C25A-3FFD2ED7C501}"/>
                </a:ext>
              </a:extLst>
            </p:cNvPr>
            <p:cNvSpPr/>
            <p:nvPr/>
          </p:nvSpPr>
          <p:spPr>
            <a:xfrm>
              <a:off x="9009420" y="1447602"/>
              <a:ext cx="1217708"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a:rPr>
                <a:t>Developer Portal</a:t>
              </a:r>
              <a:endParaRPr lang="en-US"/>
            </a:p>
          </p:txBody>
        </p:sp>
        <p:sp>
          <p:nvSpPr>
            <p:cNvPr id="16" name="Rectángulo 75">
              <a:extLst>
                <a:ext uri="{FF2B5EF4-FFF2-40B4-BE49-F238E27FC236}">
                  <a16:creationId xmlns:a16="http://schemas.microsoft.com/office/drawing/2014/main" id="{B3792E18-1D2B-C219-10D4-FDC548791ABE}"/>
                </a:ext>
              </a:extLst>
            </p:cNvPr>
            <p:cNvSpPr/>
            <p:nvPr/>
          </p:nvSpPr>
          <p:spPr>
            <a:xfrm>
              <a:off x="10260743" y="1447602"/>
              <a:ext cx="1423390"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a:rPr>
                <a:t>Campaign / </a:t>
              </a:r>
            </a:p>
            <a:p>
              <a:pPr algn="ctr"/>
              <a:r>
                <a:rPr lang="en-GB" sz="1100" kern="0">
                  <a:solidFill>
                    <a:srgbClr val="DEEDF1">
                      <a:lumMod val="25000"/>
                    </a:srgbClr>
                  </a:solidFill>
                  <a:latin typeface="Santander Text"/>
                </a:rPr>
                <a:t>Cross Products</a:t>
              </a:r>
              <a:r>
                <a:rPr lang="en-GB" sz="1100" kern="0" baseline="30000">
                  <a:solidFill>
                    <a:srgbClr val="DEEDF1">
                      <a:lumMod val="25000"/>
                    </a:srgbClr>
                  </a:solidFill>
                  <a:latin typeface="Santander Text"/>
                </a:rPr>
                <a:t> (*)</a:t>
              </a:r>
              <a:endParaRPr lang="en-US" baseline="30000"/>
            </a:p>
          </p:txBody>
        </p:sp>
      </p:grpSp>
    </p:spTree>
    <p:extLst>
      <p:ext uri="{BB962C8B-B14F-4D97-AF65-F5344CB8AC3E}">
        <p14:creationId xmlns:p14="http://schemas.microsoft.com/office/powerpoint/2010/main" val="40741942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E2C30-C669-0D5C-57B5-76889B8577EC}"/>
            </a:ext>
          </a:extLst>
        </p:cNvPr>
        <p:cNvGrpSpPr/>
        <p:nvPr/>
      </p:nvGrpSpPr>
      <p:grpSpPr>
        <a:xfrm>
          <a:off x="0" y="0"/>
          <a:ext cx="0" cy="0"/>
          <a:chOff x="0" y="0"/>
          <a:chExt cx="0" cy="0"/>
        </a:xfrm>
      </p:grpSpPr>
      <p:sp>
        <p:nvSpPr>
          <p:cNvPr id="113" name="Título 1">
            <a:extLst>
              <a:ext uri="{FF2B5EF4-FFF2-40B4-BE49-F238E27FC236}">
                <a16:creationId xmlns:a16="http://schemas.microsoft.com/office/drawing/2014/main" id="{E1CC19BC-B69B-C3AB-D102-637ED7399C4A}"/>
              </a:ext>
            </a:extLst>
          </p:cNvPr>
          <p:cNvSpPr>
            <a:spLocks noGrp="1"/>
          </p:cNvSpPr>
          <p:nvPr>
            <p:ph type="title"/>
          </p:nvPr>
        </p:nvSpPr>
        <p:spPr>
          <a:xfrm>
            <a:off x="711024" y="641900"/>
            <a:ext cx="10758733" cy="445400"/>
          </a:xfrm>
        </p:spPr>
        <p:txBody>
          <a:bodyPr/>
          <a:lstStyle/>
          <a:p>
            <a:pPr>
              <a:defRPr/>
            </a:pPr>
            <a:r>
              <a:rPr kumimoji="0" lang="es-ES" sz="2800" b="1" i="0" u="none" strike="noStrike" kern="1200" cap="none" spc="0" normalizeH="0" baseline="0" noProof="0">
                <a:ln>
                  <a:noFill/>
                </a:ln>
                <a:solidFill>
                  <a:srgbClr val="EC0000"/>
                </a:solidFill>
                <a:effectLst/>
                <a:uLnTx/>
                <a:uFillTx/>
                <a:latin typeface="Santander Headline"/>
                <a:ea typeface="+mj-ea"/>
                <a:cs typeface="+mj-cs"/>
              </a:rPr>
              <a:t>DCB. </a:t>
            </a:r>
            <a:r>
              <a:rPr lang="en-AU">
                <a:solidFill>
                  <a:srgbClr val="BFBFBF"/>
                </a:solidFill>
                <a:latin typeface="Santander Headline"/>
              </a:rPr>
              <a:t>Merchant &amp; Customer Assisted Channels</a:t>
            </a:r>
            <a:endParaRPr lang="en-US">
              <a:solidFill>
                <a:schemeClr val="bg1">
                  <a:lumMod val="75000"/>
                </a:schemeClr>
              </a:solidFill>
            </a:endParaRPr>
          </a:p>
        </p:txBody>
      </p:sp>
      <p:sp>
        <p:nvSpPr>
          <p:cNvPr id="15" name="Rectángulo 15">
            <a:extLst>
              <a:ext uri="{FF2B5EF4-FFF2-40B4-BE49-F238E27FC236}">
                <a16:creationId xmlns:a16="http://schemas.microsoft.com/office/drawing/2014/main" id="{093D0ABC-50A1-0ED2-32B6-B287985EF853}"/>
              </a:ext>
            </a:extLst>
          </p:cNvPr>
          <p:cNvSpPr/>
          <p:nvPr/>
        </p:nvSpPr>
        <p:spPr>
          <a:xfrm>
            <a:off x="4318803" y="1428496"/>
            <a:ext cx="7551328" cy="240476"/>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kern="0">
                <a:solidFill>
                  <a:prstClr val="white"/>
                </a:solidFill>
                <a:latin typeface="Santander Text" panose="020B0504020201020104" pitchFamily="34" charset="0"/>
              </a:rPr>
              <a:t>Modules</a:t>
            </a:r>
          </a:p>
        </p:txBody>
      </p:sp>
      <p:sp>
        <p:nvSpPr>
          <p:cNvPr id="2" name="Rectángulo 15">
            <a:extLst>
              <a:ext uri="{FF2B5EF4-FFF2-40B4-BE49-F238E27FC236}">
                <a16:creationId xmlns:a16="http://schemas.microsoft.com/office/drawing/2014/main" id="{77FDC343-E2CE-8020-62EB-A83559D39957}"/>
              </a:ext>
            </a:extLst>
          </p:cNvPr>
          <p:cNvSpPr/>
          <p:nvPr/>
        </p:nvSpPr>
        <p:spPr>
          <a:xfrm>
            <a:off x="587293" y="1428496"/>
            <a:ext cx="3619342" cy="240476"/>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kern="0">
                <a:solidFill>
                  <a:prstClr val="white"/>
                </a:solidFill>
                <a:latin typeface="Santander Text" panose="020B0504020201020104" pitchFamily="34" charset="0"/>
              </a:rPr>
              <a:t>Module Aggregation</a:t>
            </a:r>
          </a:p>
        </p:txBody>
      </p:sp>
      <p:sp>
        <p:nvSpPr>
          <p:cNvPr id="20" name="CuadroTexto 19">
            <a:extLst>
              <a:ext uri="{FF2B5EF4-FFF2-40B4-BE49-F238E27FC236}">
                <a16:creationId xmlns:a16="http://schemas.microsoft.com/office/drawing/2014/main" id="{8E2B3A19-12D2-5932-8513-2C082DC4BE60}"/>
              </a:ext>
            </a:extLst>
          </p:cNvPr>
          <p:cNvSpPr txBox="1"/>
          <p:nvPr/>
        </p:nvSpPr>
        <p:spPr>
          <a:xfrm>
            <a:off x="587293" y="5762442"/>
            <a:ext cx="2753718"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700">
                <a:solidFill>
                  <a:srgbClr val="053840"/>
                </a:solidFill>
              </a:rPr>
              <a:t>(*) Out of blueprint scope</a:t>
            </a:r>
          </a:p>
        </p:txBody>
      </p:sp>
      <p:grpSp>
        <p:nvGrpSpPr>
          <p:cNvPr id="4" name="Group 115">
            <a:extLst>
              <a:ext uri="{FF2B5EF4-FFF2-40B4-BE49-F238E27FC236}">
                <a16:creationId xmlns:a16="http://schemas.microsoft.com/office/drawing/2014/main" id="{F960AAA7-A277-1B3A-B8AA-71E43ACFFEC7}"/>
              </a:ext>
            </a:extLst>
          </p:cNvPr>
          <p:cNvGrpSpPr/>
          <p:nvPr/>
        </p:nvGrpSpPr>
        <p:grpSpPr>
          <a:xfrm>
            <a:off x="588547" y="1845272"/>
            <a:ext cx="11281584" cy="396000"/>
            <a:chOff x="434543" y="1447602"/>
            <a:chExt cx="11281584" cy="396000"/>
          </a:xfrm>
        </p:grpSpPr>
        <p:sp>
          <p:nvSpPr>
            <p:cNvPr id="6" name="Rectángulo 10">
              <a:extLst>
                <a:ext uri="{FF2B5EF4-FFF2-40B4-BE49-F238E27FC236}">
                  <a16:creationId xmlns:a16="http://schemas.microsoft.com/office/drawing/2014/main" id="{6E091625-5C78-7BC3-568A-D178147750A8}"/>
                </a:ext>
              </a:extLst>
            </p:cNvPr>
            <p:cNvSpPr/>
            <p:nvPr/>
          </p:nvSpPr>
          <p:spPr>
            <a:xfrm>
              <a:off x="434543" y="1447602"/>
              <a:ext cx="3619343" cy="396000"/>
            </a:xfrm>
            <a:prstGeom prst="rect">
              <a:avLst/>
            </a:prstGeom>
            <a:solidFill>
              <a:srgbClr val="DEEDF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45720" rIns="36000" bIns="45720"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55600" indent="-355600">
                <a:spcAft>
                  <a:spcPts val="300"/>
                </a:spcAft>
              </a:pPr>
              <a:r>
                <a:rPr lang="en-GB" sz="900" b="1">
                  <a:solidFill>
                    <a:srgbClr val="DEEDF1">
                      <a:lumMod val="25000"/>
                    </a:srgbClr>
                  </a:solidFill>
                  <a:latin typeface="Santander Text"/>
                </a:rPr>
                <a:t>1 -  Zinia Front:</a:t>
              </a:r>
              <a:endParaRPr lang="es-ES" sz="900" b="1" u="sng">
                <a:solidFill>
                  <a:srgbClr val="DEEDF1">
                    <a:lumMod val="25000"/>
                  </a:srgbClr>
                </a:solidFill>
                <a:ea typeface="+mn-lt"/>
                <a:cs typeface="+mn-lt"/>
              </a:endParaRPr>
            </a:p>
            <a:p>
              <a:r>
                <a:rPr lang="en-US" sz="800" i="1">
                  <a:solidFill>
                    <a:srgbClr val="DEEDF1">
                      <a:lumMod val="25000"/>
                    </a:srgbClr>
                  </a:solidFill>
                  <a:latin typeface="Santander Text"/>
                </a:rPr>
                <a:t>Assisted Channels for customers and  merchants</a:t>
              </a:r>
              <a:endParaRPr lang="en-GB" sz="800">
                <a:solidFill>
                  <a:srgbClr val="000000"/>
                </a:solidFill>
                <a:latin typeface="Santander Text"/>
              </a:endParaRPr>
            </a:p>
          </p:txBody>
        </p:sp>
        <p:sp>
          <p:nvSpPr>
            <p:cNvPr id="12" name="Rectángulo 71">
              <a:extLst>
                <a:ext uri="{FF2B5EF4-FFF2-40B4-BE49-F238E27FC236}">
                  <a16:creationId xmlns:a16="http://schemas.microsoft.com/office/drawing/2014/main" id="{B39AB985-A803-D4E5-C8D9-05946B2A27A1}"/>
                </a:ext>
              </a:extLst>
            </p:cNvPr>
            <p:cNvSpPr/>
            <p:nvPr/>
          </p:nvSpPr>
          <p:spPr>
            <a:xfrm>
              <a:off x="4164799" y="1447602"/>
              <a:ext cx="7551328"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a:rPr>
                <a:t>Assisted Channels</a:t>
              </a:r>
              <a:endParaRPr lang="en-GB" sz="1100" kern="0">
                <a:solidFill>
                  <a:srgbClr val="DEEDF1">
                    <a:lumMod val="25000"/>
                  </a:srgbClr>
                </a:solidFill>
                <a:latin typeface="Santander Text" panose="020B0504020201020104" pitchFamily="34" charset="0"/>
              </a:endParaRPr>
            </a:p>
          </p:txBody>
        </p:sp>
      </p:grpSp>
      <p:sp>
        <p:nvSpPr>
          <p:cNvPr id="3" name="Text Placeholder 2">
            <a:extLst>
              <a:ext uri="{FF2B5EF4-FFF2-40B4-BE49-F238E27FC236}">
                <a16:creationId xmlns:a16="http://schemas.microsoft.com/office/drawing/2014/main" id="{B095ECA5-1526-3EB4-360A-A99CF994DF97}"/>
              </a:ext>
            </a:extLst>
          </p:cNvPr>
          <p:cNvSpPr>
            <a:spLocks noGrp="1"/>
          </p:cNvSpPr>
          <p:nvPr>
            <p:ph type="body" sz="quarter" idx="14"/>
          </p:nvPr>
        </p:nvSpPr>
        <p:spPr>
          <a:xfrm>
            <a:off x="711024" y="367378"/>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Tree>
    <p:extLst>
      <p:ext uri="{BB962C8B-B14F-4D97-AF65-F5344CB8AC3E}">
        <p14:creationId xmlns:p14="http://schemas.microsoft.com/office/powerpoint/2010/main" val="26013258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6350A-441E-EBD8-1ED6-986081A5180B}"/>
            </a:ext>
          </a:extLst>
        </p:cNvPr>
        <p:cNvGrpSpPr/>
        <p:nvPr/>
      </p:nvGrpSpPr>
      <p:grpSpPr>
        <a:xfrm>
          <a:off x="0" y="0"/>
          <a:ext cx="0" cy="0"/>
          <a:chOff x="0" y="0"/>
          <a:chExt cx="0" cy="0"/>
        </a:xfrm>
      </p:grpSpPr>
      <p:sp>
        <p:nvSpPr>
          <p:cNvPr id="113" name="Título 1">
            <a:extLst>
              <a:ext uri="{FF2B5EF4-FFF2-40B4-BE49-F238E27FC236}">
                <a16:creationId xmlns:a16="http://schemas.microsoft.com/office/drawing/2014/main" id="{4F88A6D7-E8F5-0104-C8BB-8A7137704CD6}"/>
              </a:ext>
            </a:extLst>
          </p:cNvPr>
          <p:cNvSpPr>
            <a:spLocks noGrp="1"/>
          </p:cNvSpPr>
          <p:nvPr>
            <p:ph type="title"/>
          </p:nvPr>
        </p:nvSpPr>
        <p:spPr>
          <a:xfrm>
            <a:off x="711024" y="641900"/>
            <a:ext cx="10758733" cy="445400"/>
          </a:xfrm>
        </p:spPr>
        <p:txBody>
          <a:bodyPr/>
          <a:lstStyle/>
          <a:p>
            <a:pPr>
              <a:defRPr/>
            </a:pPr>
            <a:r>
              <a:rPr kumimoji="0" lang="es-ES" sz="2800" b="1" i="0" u="none" strike="noStrike" kern="1200" cap="none" spc="0" normalizeH="0" baseline="0" noProof="0">
                <a:ln>
                  <a:noFill/>
                </a:ln>
                <a:solidFill>
                  <a:srgbClr val="EC0000"/>
                </a:solidFill>
                <a:effectLst/>
                <a:uLnTx/>
                <a:uFillTx/>
                <a:latin typeface="Santander Headline"/>
                <a:ea typeface="+mj-ea"/>
                <a:cs typeface="+mj-cs"/>
              </a:rPr>
              <a:t>DCB. </a:t>
            </a:r>
            <a:r>
              <a:rPr lang="en-AU">
                <a:solidFill>
                  <a:srgbClr val="BFBFBF"/>
                </a:solidFill>
                <a:latin typeface="Santander Headline"/>
              </a:rPr>
              <a:t>Engine Co-Branded Card</a:t>
            </a:r>
            <a:endParaRPr lang="en-US">
              <a:solidFill>
                <a:schemeClr val="bg1">
                  <a:lumMod val="75000"/>
                </a:schemeClr>
              </a:solidFill>
            </a:endParaRPr>
          </a:p>
        </p:txBody>
      </p:sp>
      <p:sp>
        <p:nvSpPr>
          <p:cNvPr id="15" name="Rectángulo 15">
            <a:extLst>
              <a:ext uri="{FF2B5EF4-FFF2-40B4-BE49-F238E27FC236}">
                <a16:creationId xmlns:a16="http://schemas.microsoft.com/office/drawing/2014/main" id="{6445D349-7268-4BB9-7FF3-C1B2722D57CD}"/>
              </a:ext>
            </a:extLst>
          </p:cNvPr>
          <p:cNvSpPr/>
          <p:nvPr/>
        </p:nvSpPr>
        <p:spPr>
          <a:xfrm>
            <a:off x="4318803" y="1290710"/>
            <a:ext cx="7551328" cy="240476"/>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kern="0">
                <a:solidFill>
                  <a:prstClr val="white"/>
                </a:solidFill>
                <a:latin typeface="Santander Text" panose="020B0504020201020104" pitchFamily="34" charset="0"/>
              </a:rPr>
              <a:t>Modules</a:t>
            </a:r>
          </a:p>
        </p:txBody>
      </p:sp>
      <p:sp>
        <p:nvSpPr>
          <p:cNvPr id="6" name="Rectángulo 7">
            <a:extLst>
              <a:ext uri="{FF2B5EF4-FFF2-40B4-BE49-F238E27FC236}">
                <a16:creationId xmlns:a16="http://schemas.microsoft.com/office/drawing/2014/main" id="{2BC0DA3C-8FBF-21BB-AC3D-464BCF51FBF1}"/>
              </a:ext>
            </a:extLst>
          </p:cNvPr>
          <p:cNvSpPr/>
          <p:nvPr/>
        </p:nvSpPr>
        <p:spPr>
          <a:xfrm>
            <a:off x="588547" y="1627464"/>
            <a:ext cx="3619343" cy="396000"/>
          </a:xfrm>
          <a:prstGeom prst="rect">
            <a:avLst/>
          </a:prstGeom>
          <a:solidFill>
            <a:srgbClr val="DEEDF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45720" rIns="36000" bIns="45720"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55600" indent="-355600">
              <a:spcAft>
                <a:spcPts val="300"/>
              </a:spcAft>
            </a:pPr>
            <a:r>
              <a:rPr lang="en-GB" sz="900" b="1">
                <a:solidFill>
                  <a:srgbClr val="DEEDF1">
                    <a:lumMod val="25000"/>
                  </a:srgbClr>
                </a:solidFill>
                <a:latin typeface="Santander Text"/>
              </a:rPr>
              <a:t>1 – Core Processing:</a:t>
            </a:r>
            <a:endParaRPr lang="en-GB" sz="900" b="1">
              <a:solidFill>
                <a:srgbClr val="DEEDF1">
                  <a:lumMod val="25000"/>
                </a:srgbClr>
              </a:solidFill>
              <a:latin typeface="Santander Text" panose="020B0504020201020104" pitchFamily="34" charset="0"/>
            </a:endParaRPr>
          </a:p>
          <a:p>
            <a:r>
              <a:rPr lang="en-GB" sz="800" i="1">
                <a:solidFill>
                  <a:srgbClr val="DEEDF1">
                    <a:lumMod val="25000"/>
                  </a:srgbClr>
                </a:solidFill>
                <a:latin typeface="Santander Text"/>
              </a:rPr>
              <a:t>Order and Transaction manager</a:t>
            </a:r>
            <a:endParaRPr lang="en-GB" sz="800">
              <a:solidFill>
                <a:srgbClr val="000000"/>
              </a:solidFill>
              <a:latin typeface="Santander Text" panose="020B0504020201020104" pitchFamily="34" charset="0"/>
            </a:endParaRPr>
          </a:p>
        </p:txBody>
      </p:sp>
      <p:sp>
        <p:nvSpPr>
          <p:cNvPr id="99" name="Rectángulo 25">
            <a:extLst>
              <a:ext uri="{FF2B5EF4-FFF2-40B4-BE49-F238E27FC236}">
                <a16:creationId xmlns:a16="http://schemas.microsoft.com/office/drawing/2014/main" id="{C6B2B005-8ED0-0DA2-A2E9-75180A8B9135}"/>
              </a:ext>
            </a:extLst>
          </p:cNvPr>
          <p:cNvSpPr/>
          <p:nvPr/>
        </p:nvSpPr>
        <p:spPr>
          <a:xfrm>
            <a:off x="4318803" y="1628114"/>
            <a:ext cx="2042435" cy="396000"/>
          </a:xfrm>
          <a:prstGeom prst="rect">
            <a:avLst/>
          </a:prstGeom>
          <a:noFill/>
          <a:ln w="12700" cap="flat" cmpd="sng" algn="ctr">
            <a:solidFill>
              <a:srgbClr val="0070C0"/>
            </a:solidFill>
            <a:prstDash val="solid"/>
            <a:miter lim="800000"/>
          </a:ln>
          <a:effectLst/>
        </p:spPr>
        <p:txBody>
          <a:bodyPr lIns="72000" tIns="45720" rIns="72000" bIns="4572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600"/>
              </a:spcAft>
            </a:pPr>
            <a:r>
              <a:rPr lang="en-US" sz="1100" kern="0">
                <a:solidFill>
                  <a:srgbClr val="DEEDF1">
                    <a:lumMod val="25000"/>
                  </a:srgbClr>
                </a:solidFill>
                <a:latin typeface="Santander Text"/>
              </a:rPr>
              <a:t>Loyalty Program </a:t>
            </a:r>
          </a:p>
        </p:txBody>
      </p:sp>
      <p:sp>
        <p:nvSpPr>
          <p:cNvPr id="100" name="Rectángulo 26">
            <a:extLst>
              <a:ext uri="{FF2B5EF4-FFF2-40B4-BE49-F238E27FC236}">
                <a16:creationId xmlns:a16="http://schemas.microsoft.com/office/drawing/2014/main" id="{B4DDD685-744F-3B6F-B8A5-CBA5167B856F}"/>
              </a:ext>
            </a:extLst>
          </p:cNvPr>
          <p:cNvSpPr/>
          <p:nvPr/>
        </p:nvSpPr>
        <p:spPr>
          <a:xfrm>
            <a:off x="6393661" y="1627464"/>
            <a:ext cx="5476469" cy="396000"/>
          </a:xfrm>
          <a:prstGeom prst="rect">
            <a:avLst/>
          </a:prstGeom>
          <a:noFill/>
          <a:ln w="12700" cap="flat" cmpd="sng" algn="ctr">
            <a:solidFill>
              <a:srgbClr val="0070C0"/>
            </a:solidFill>
            <a:prstDash val="solid"/>
            <a:miter lim="800000"/>
          </a:ln>
          <a:effectLst/>
        </p:spPr>
        <p:txBody>
          <a:bodyPr lIns="72000" tIns="45720" rIns="72000" bIns="4572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600"/>
              </a:spcAft>
            </a:pPr>
            <a:r>
              <a:rPr lang="en-US" sz="1100" kern="0">
                <a:solidFill>
                  <a:srgbClr val="DEEDF1">
                    <a:lumMod val="25000"/>
                  </a:srgbClr>
                </a:solidFill>
                <a:latin typeface="Santander Text"/>
              </a:rPr>
              <a:t>Cobranded Card issuing</a:t>
            </a:r>
            <a:endParaRPr lang="en-US"/>
          </a:p>
        </p:txBody>
      </p:sp>
      <p:sp>
        <p:nvSpPr>
          <p:cNvPr id="2" name="Rectángulo 15">
            <a:extLst>
              <a:ext uri="{FF2B5EF4-FFF2-40B4-BE49-F238E27FC236}">
                <a16:creationId xmlns:a16="http://schemas.microsoft.com/office/drawing/2014/main" id="{E9291F8A-C983-7CAA-9702-4BF8653B38A7}"/>
              </a:ext>
            </a:extLst>
          </p:cNvPr>
          <p:cNvSpPr/>
          <p:nvPr/>
        </p:nvSpPr>
        <p:spPr>
          <a:xfrm>
            <a:off x="587293" y="1290710"/>
            <a:ext cx="3619342" cy="240476"/>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kern="0">
                <a:solidFill>
                  <a:prstClr val="white"/>
                </a:solidFill>
                <a:latin typeface="Santander Text" panose="020B0504020201020104" pitchFamily="34" charset="0"/>
              </a:rPr>
              <a:t>Module Aggregation</a:t>
            </a:r>
          </a:p>
        </p:txBody>
      </p:sp>
      <p:sp>
        <p:nvSpPr>
          <p:cNvPr id="20" name="CuadroTexto 19">
            <a:extLst>
              <a:ext uri="{FF2B5EF4-FFF2-40B4-BE49-F238E27FC236}">
                <a16:creationId xmlns:a16="http://schemas.microsoft.com/office/drawing/2014/main" id="{535E5913-5B5A-231B-BB28-51F4DC3DE774}"/>
              </a:ext>
            </a:extLst>
          </p:cNvPr>
          <p:cNvSpPr txBox="1"/>
          <p:nvPr/>
        </p:nvSpPr>
        <p:spPr>
          <a:xfrm>
            <a:off x="587293" y="5762442"/>
            <a:ext cx="2753718"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700">
                <a:solidFill>
                  <a:srgbClr val="053840"/>
                </a:solidFill>
              </a:rPr>
              <a:t>(*) Out of blueprint scope</a:t>
            </a:r>
          </a:p>
        </p:txBody>
      </p:sp>
      <p:sp>
        <p:nvSpPr>
          <p:cNvPr id="3" name="Text Placeholder 2">
            <a:extLst>
              <a:ext uri="{FF2B5EF4-FFF2-40B4-BE49-F238E27FC236}">
                <a16:creationId xmlns:a16="http://schemas.microsoft.com/office/drawing/2014/main" id="{1BAC4705-28D2-0566-14CA-2594E0626AFE}"/>
              </a:ext>
            </a:extLst>
          </p:cNvPr>
          <p:cNvSpPr>
            <a:spLocks noGrp="1"/>
          </p:cNvSpPr>
          <p:nvPr>
            <p:ph type="body" sz="quarter" idx="14"/>
          </p:nvPr>
        </p:nvSpPr>
        <p:spPr>
          <a:xfrm>
            <a:off x="711024" y="367378"/>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Tree>
    <p:extLst>
      <p:ext uri="{BB962C8B-B14F-4D97-AF65-F5344CB8AC3E}">
        <p14:creationId xmlns:p14="http://schemas.microsoft.com/office/powerpoint/2010/main" val="257659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9F24B-B818-85D0-B53F-54C8375D297A}"/>
            </a:ext>
          </a:extLst>
        </p:cNvPr>
        <p:cNvGrpSpPr/>
        <p:nvPr/>
      </p:nvGrpSpPr>
      <p:grpSpPr>
        <a:xfrm>
          <a:off x="0" y="0"/>
          <a:ext cx="0" cy="0"/>
          <a:chOff x="0" y="0"/>
          <a:chExt cx="0" cy="0"/>
        </a:xfrm>
      </p:grpSpPr>
      <p:sp>
        <p:nvSpPr>
          <p:cNvPr id="113" name="Título 1">
            <a:extLst>
              <a:ext uri="{FF2B5EF4-FFF2-40B4-BE49-F238E27FC236}">
                <a16:creationId xmlns:a16="http://schemas.microsoft.com/office/drawing/2014/main" id="{602FFA0D-FC13-7D40-C3D2-8C59314B0A8A}"/>
              </a:ext>
            </a:extLst>
          </p:cNvPr>
          <p:cNvSpPr>
            <a:spLocks noGrp="1"/>
          </p:cNvSpPr>
          <p:nvPr>
            <p:ph type="title"/>
          </p:nvPr>
        </p:nvSpPr>
        <p:spPr>
          <a:xfrm>
            <a:off x="711024" y="641900"/>
            <a:ext cx="10758733" cy="445400"/>
          </a:xfrm>
        </p:spPr>
        <p:txBody>
          <a:bodyPr/>
          <a:lstStyle/>
          <a:p>
            <a:pPr>
              <a:defRPr/>
            </a:pPr>
            <a:r>
              <a:rPr kumimoji="0" lang="es-ES" sz="2800" b="1" i="0" u="none" strike="noStrike" kern="1200" cap="none" spc="0" normalizeH="0" baseline="0" noProof="0">
                <a:ln>
                  <a:noFill/>
                </a:ln>
                <a:solidFill>
                  <a:srgbClr val="EC0000"/>
                </a:solidFill>
                <a:effectLst/>
                <a:uLnTx/>
                <a:uFillTx/>
                <a:latin typeface="Santander Headline"/>
                <a:ea typeface="+mj-ea"/>
                <a:cs typeface="+mj-cs"/>
              </a:rPr>
              <a:t>DCB. </a:t>
            </a:r>
            <a:r>
              <a:rPr kumimoji="0" lang="en-AU" sz="2800" b="1" i="0" u="none" strike="noStrike" kern="1200" cap="none" spc="0" normalizeH="0" baseline="0" noProof="0">
                <a:ln>
                  <a:noFill/>
                </a:ln>
                <a:solidFill>
                  <a:srgbClr val="BFBFBF"/>
                </a:solidFill>
                <a:effectLst/>
                <a:uLnTx/>
                <a:uFillTx/>
                <a:latin typeface="Santander Headline"/>
                <a:ea typeface="+mj-ea"/>
                <a:cs typeface="+mj-cs"/>
              </a:rPr>
              <a:t>Engine Check</a:t>
            </a:r>
            <a:r>
              <a:rPr lang="en-AU">
                <a:solidFill>
                  <a:srgbClr val="BFBFBF"/>
                </a:solidFill>
                <a:latin typeface="Santander Headline"/>
              </a:rPr>
              <a:t>out Lending</a:t>
            </a:r>
            <a:endParaRPr lang="en-US">
              <a:solidFill>
                <a:schemeClr val="bg1">
                  <a:lumMod val="75000"/>
                </a:schemeClr>
              </a:solidFill>
            </a:endParaRPr>
          </a:p>
        </p:txBody>
      </p:sp>
      <p:sp>
        <p:nvSpPr>
          <p:cNvPr id="15" name="Rectángulo 15">
            <a:extLst>
              <a:ext uri="{FF2B5EF4-FFF2-40B4-BE49-F238E27FC236}">
                <a16:creationId xmlns:a16="http://schemas.microsoft.com/office/drawing/2014/main" id="{219E7A11-CB5F-8644-51A9-D852A910BCE0}"/>
              </a:ext>
            </a:extLst>
          </p:cNvPr>
          <p:cNvSpPr/>
          <p:nvPr/>
        </p:nvSpPr>
        <p:spPr>
          <a:xfrm>
            <a:off x="4318803" y="1290710"/>
            <a:ext cx="7551328" cy="240476"/>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kern="0">
                <a:solidFill>
                  <a:prstClr val="white"/>
                </a:solidFill>
                <a:latin typeface="Santander Text" panose="020B0504020201020104" pitchFamily="34" charset="0"/>
              </a:rPr>
              <a:t>Modules</a:t>
            </a:r>
          </a:p>
        </p:txBody>
      </p:sp>
      <p:sp>
        <p:nvSpPr>
          <p:cNvPr id="7" name="Rectángulo 8">
            <a:extLst>
              <a:ext uri="{FF2B5EF4-FFF2-40B4-BE49-F238E27FC236}">
                <a16:creationId xmlns:a16="http://schemas.microsoft.com/office/drawing/2014/main" id="{1CB4D9FB-F8EA-4991-BCD7-18ECA4433774}"/>
              </a:ext>
            </a:extLst>
          </p:cNvPr>
          <p:cNvSpPr/>
          <p:nvPr/>
        </p:nvSpPr>
        <p:spPr>
          <a:xfrm>
            <a:off x="588547" y="2186896"/>
            <a:ext cx="3619343" cy="396000"/>
          </a:xfrm>
          <a:prstGeom prst="rect">
            <a:avLst/>
          </a:prstGeom>
          <a:solidFill>
            <a:srgbClr val="DEEDF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45720" rIns="36000" bIns="45720"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55600" indent="-355600">
              <a:spcAft>
                <a:spcPts val="300"/>
              </a:spcAft>
            </a:pPr>
            <a:r>
              <a:rPr lang="en-GB" sz="900" b="1">
                <a:solidFill>
                  <a:srgbClr val="DEEDF1">
                    <a:lumMod val="25000"/>
                  </a:srgbClr>
                </a:solidFill>
                <a:latin typeface="Santander Text"/>
              </a:rPr>
              <a:t>2 –Payment Gateways:</a:t>
            </a:r>
            <a:endParaRPr lang="en-GB" sz="900" b="1">
              <a:solidFill>
                <a:srgbClr val="DEEDF1">
                  <a:lumMod val="25000"/>
                </a:srgbClr>
              </a:solidFill>
              <a:latin typeface="Santander Text" panose="020B0504020201020104" pitchFamily="34" charset="0"/>
            </a:endParaRPr>
          </a:p>
          <a:p>
            <a:r>
              <a:rPr lang="en-GB" sz="800" i="1">
                <a:solidFill>
                  <a:srgbClr val="DEEDF1">
                    <a:lumMod val="25000"/>
                  </a:srgbClr>
                </a:solidFill>
                <a:latin typeface="Santander Text"/>
              </a:rPr>
              <a:t>Adaptors processing payments</a:t>
            </a:r>
            <a:endParaRPr lang="en-GB" sz="800">
              <a:solidFill>
                <a:srgbClr val="000000"/>
              </a:solidFill>
            </a:endParaRPr>
          </a:p>
        </p:txBody>
      </p:sp>
      <p:sp>
        <p:nvSpPr>
          <p:cNvPr id="6" name="Rectángulo 7">
            <a:extLst>
              <a:ext uri="{FF2B5EF4-FFF2-40B4-BE49-F238E27FC236}">
                <a16:creationId xmlns:a16="http://schemas.microsoft.com/office/drawing/2014/main" id="{CE880275-6922-D904-1301-4FC73617D453}"/>
              </a:ext>
            </a:extLst>
          </p:cNvPr>
          <p:cNvSpPr/>
          <p:nvPr/>
        </p:nvSpPr>
        <p:spPr>
          <a:xfrm>
            <a:off x="588547" y="1636608"/>
            <a:ext cx="3619343" cy="396000"/>
          </a:xfrm>
          <a:prstGeom prst="rect">
            <a:avLst/>
          </a:prstGeom>
          <a:solidFill>
            <a:srgbClr val="DEEDF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45720" rIns="36000" bIns="45720"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55600" indent="-355600">
              <a:spcAft>
                <a:spcPts val="300"/>
              </a:spcAft>
            </a:pPr>
            <a:r>
              <a:rPr lang="en-GB" sz="900" b="1">
                <a:solidFill>
                  <a:srgbClr val="DEEDF1">
                    <a:lumMod val="25000"/>
                  </a:srgbClr>
                </a:solidFill>
                <a:latin typeface="Santander Text"/>
              </a:rPr>
              <a:t>1 – Core Processing:</a:t>
            </a:r>
            <a:endParaRPr lang="en-GB" sz="900" b="1">
              <a:solidFill>
                <a:srgbClr val="DEEDF1">
                  <a:lumMod val="25000"/>
                </a:srgbClr>
              </a:solidFill>
              <a:latin typeface="Santander Text" panose="020B0504020201020104" pitchFamily="34" charset="0"/>
            </a:endParaRPr>
          </a:p>
          <a:p>
            <a:r>
              <a:rPr lang="en-GB" sz="800" i="1">
                <a:solidFill>
                  <a:srgbClr val="DEEDF1">
                    <a:lumMod val="25000"/>
                  </a:srgbClr>
                </a:solidFill>
                <a:latin typeface="Santander Text"/>
              </a:rPr>
              <a:t>Order and Transaction manager</a:t>
            </a:r>
            <a:endParaRPr lang="en-GB" sz="800">
              <a:solidFill>
                <a:srgbClr val="000000"/>
              </a:solidFill>
              <a:latin typeface="Santander Text" panose="020B0504020201020104" pitchFamily="34" charset="0"/>
            </a:endParaRPr>
          </a:p>
        </p:txBody>
      </p:sp>
      <p:sp>
        <p:nvSpPr>
          <p:cNvPr id="98" name="Rectángulo 24">
            <a:extLst>
              <a:ext uri="{FF2B5EF4-FFF2-40B4-BE49-F238E27FC236}">
                <a16:creationId xmlns:a16="http://schemas.microsoft.com/office/drawing/2014/main" id="{AD1889C3-0694-680F-A45A-85667621C47F}"/>
              </a:ext>
            </a:extLst>
          </p:cNvPr>
          <p:cNvSpPr/>
          <p:nvPr/>
        </p:nvSpPr>
        <p:spPr>
          <a:xfrm>
            <a:off x="4342377" y="1636608"/>
            <a:ext cx="1260000" cy="396000"/>
          </a:xfrm>
          <a:prstGeom prst="rect">
            <a:avLst/>
          </a:prstGeom>
          <a:noFill/>
          <a:ln w="12700" cap="flat" cmpd="sng" algn="ctr">
            <a:solidFill>
              <a:srgbClr val="0070C0"/>
            </a:solidFill>
            <a:prstDash val="solid"/>
            <a:miter lim="800000"/>
          </a:ln>
          <a:effectLst/>
        </p:spPr>
        <p:txBody>
          <a:bodyPr lIns="72000" tIns="45720" rIns="72000" bIns="4572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600"/>
              </a:spcAft>
            </a:pPr>
            <a:r>
              <a:rPr lang="en-US" sz="1100" kern="0">
                <a:solidFill>
                  <a:srgbClr val="224751"/>
                </a:solidFill>
                <a:ea typeface="+mn-lt"/>
                <a:cs typeface="+mn-lt"/>
              </a:rPr>
              <a:t>Installment Core</a:t>
            </a:r>
            <a:endParaRPr lang="en-US"/>
          </a:p>
        </p:txBody>
      </p:sp>
      <p:sp>
        <p:nvSpPr>
          <p:cNvPr id="101" name="Rectángulo 29">
            <a:extLst>
              <a:ext uri="{FF2B5EF4-FFF2-40B4-BE49-F238E27FC236}">
                <a16:creationId xmlns:a16="http://schemas.microsoft.com/office/drawing/2014/main" id="{70AB28FB-432F-497C-6AB6-335D4DF6B1EF}"/>
              </a:ext>
            </a:extLst>
          </p:cNvPr>
          <p:cNvSpPr/>
          <p:nvPr/>
        </p:nvSpPr>
        <p:spPr>
          <a:xfrm>
            <a:off x="9990928" y="1639522"/>
            <a:ext cx="1847210"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kern="0">
                <a:solidFill>
                  <a:srgbClr val="DEEDF1">
                    <a:lumMod val="25000"/>
                  </a:srgbClr>
                </a:solidFill>
              </a:rPr>
              <a:t>Reporting</a:t>
            </a:r>
          </a:p>
        </p:txBody>
      </p:sp>
      <p:sp>
        <p:nvSpPr>
          <p:cNvPr id="102" name="Rectángulo 30">
            <a:extLst>
              <a:ext uri="{FF2B5EF4-FFF2-40B4-BE49-F238E27FC236}">
                <a16:creationId xmlns:a16="http://schemas.microsoft.com/office/drawing/2014/main" id="{344A09F2-3DB2-01AA-CD68-C2BB6957600D}"/>
              </a:ext>
            </a:extLst>
          </p:cNvPr>
          <p:cNvSpPr/>
          <p:nvPr/>
        </p:nvSpPr>
        <p:spPr>
          <a:xfrm>
            <a:off x="5654074" y="1636608"/>
            <a:ext cx="1354230"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kern="0">
                <a:solidFill>
                  <a:srgbClr val="DEEDF1">
                    <a:lumMod val="25000"/>
                  </a:srgbClr>
                </a:solidFill>
                <a:latin typeface="Santander Text"/>
              </a:rPr>
              <a:t>Billing</a:t>
            </a:r>
            <a:r>
              <a:rPr lang="en-US" sz="1100" kern="0">
                <a:solidFill>
                  <a:srgbClr val="DEEDF1">
                    <a:lumMod val="25000"/>
                  </a:srgbClr>
                </a:solidFill>
              </a:rPr>
              <a:t> / Settlement</a:t>
            </a:r>
            <a:endParaRPr lang="en-US" sz="1100" kern="0">
              <a:solidFill>
                <a:srgbClr val="DEEDF1">
                  <a:lumMod val="25000"/>
                </a:srgbClr>
              </a:solidFill>
              <a:latin typeface="Santander Text" panose="020B0504020201020104" pitchFamily="34" charset="0"/>
            </a:endParaRPr>
          </a:p>
        </p:txBody>
      </p:sp>
      <p:sp>
        <p:nvSpPr>
          <p:cNvPr id="2" name="Rectángulo 15">
            <a:extLst>
              <a:ext uri="{FF2B5EF4-FFF2-40B4-BE49-F238E27FC236}">
                <a16:creationId xmlns:a16="http://schemas.microsoft.com/office/drawing/2014/main" id="{9AFE1387-5892-7C11-873D-4237FD5B1874}"/>
              </a:ext>
            </a:extLst>
          </p:cNvPr>
          <p:cNvSpPr/>
          <p:nvPr/>
        </p:nvSpPr>
        <p:spPr>
          <a:xfrm>
            <a:off x="587293" y="1290710"/>
            <a:ext cx="3619342" cy="240476"/>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kern="0">
                <a:solidFill>
                  <a:prstClr val="white"/>
                </a:solidFill>
                <a:latin typeface="Santander Text" panose="020B0504020201020104" pitchFamily="34" charset="0"/>
              </a:rPr>
              <a:t>Module Aggregation</a:t>
            </a:r>
          </a:p>
        </p:txBody>
      </p:sp>
      <p:sp>
        <p:nvSpPr>
          <p:cNvPr id="10" name="Rectángulo 30">
            <a:extLst>
              <a:ext uri="{FF2B5EF4-FFF2-40B4-BE49-F238E27FC236}">
                <a16:creationId xmlns:a16="http://schemas.microsoft.com/office/drawing/2014/main" id="{3797B992-B59F-6A7C-51BC-C330F5940518}"/>
              </a:ext>
            </a:extLst>
          </p:cNvPr>
          <p:cNvSpPr/>
          <p:nvPr/>
        </p:nvSpPr>
        <p:spPr>
          <a:xfrm>
            <a:off x="7050024" y="1636608"/>
            <a:ext cx="1472305"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kern="0">
                <a:solidFill>
                  <a:srgbClr val="DEEDF1">
                    <a:lumMod val="25000"/>
                  </a:srgbClr>
                </a:solidFill>
                <a:latin typeface="Santander Text"/>
              </a:rPr>
              <a:t>Finance &amp; Accounting</a:t>
            </a:r>
            <a:endParaRPr lang="en-US" sz="1100" kern="0">
              <a:solidFill>
                <a:srgbClr val="DEEDF1">
                  <a:lumMod val="25000"/>
                </a:srgbClr>
              </a:solidFill>
              <a:latin typeface="Santander Text" panose="020B0504020201020104" pitchFamily="34" charset="0"/>
            </a:endParaRPr>
          </a:p>
        </p:txBody>
      </p:sp>
      <p:sp>
        <p:nvSpPr>
          <p:cNvPr id="11" name="Rectángulo 30">
            <a:extLst>
              <a:ext uri="{FF2B5EF4-FFF2-40B4-BE49-F238E27FC236}">
                <a16:creationId xmlns:a16="http://schemas.microsoft.com/office/drawing/2014/main" id="{122A0271-1E25-F3FC-B90E-76E6B17360F7}"/>
              </a:ext>
            </a:extLst>
          </p:cNvPr>
          <p:cNvSpPr/>
          <p:nvPr/>
        </p:nvSpPr>
        <p:spPr>
          <a:xfrm>
            <a:off x="8590017" y="1636608"/>
            <a:ext cx="1352815"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rPr>
              <a:t>Collections</a:t>
            </a:r>
            <a:endParaRPr lang="en-US" sz="1100" kern="0">
              <a:solidFill>
                <a:srgbClr val="DEEDF1">
                  <a:lumMod val="25000"/>
                </a:srgbClr>
              </a:solidFill>
              <a:latin typeface="Santander Text" panose="020B0504020201020104" pitchFamily="34" charset="0"/>
            </a:endParaRPr>
          </a:p>
        </p:txBody>
      </p:sp>
      <p:sp>
        <p:nvSpPr>
          <p:cNvPr id="20" name="CuadroTexto 19">
            <a:extLst>
              <a:ext uri="{FF2B5EF4-FFF2-40B4-BE49-F238E27FC236}">
                <a16:creationId xmlns:a16="http://schemas.microsoft.com/office/drawing/2014/main" id="{4D284180-E1AB-E33E-655D-AEE15B13248D}"/>
              </a:ext>
            </a:extLst>
          </p:cNvPr>
          <p:cNvSpPr txBox="1"/>
          <p:nvPr/>
        </p:nvSpPr>
        <p:spPr>
          <a:xfrm>
            <a:off x="587293" y="5762442"/>
            <a:ext cx="2753718"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700">
                <a:solidFill>
                  <a:srgbClr val="053840"/>
                </a:solidFill>
              </a:rPr>
              <a:t>(*) Out of blueprint scope</a:t>
            </a:r>
          </a:p>
        </p:txBody>
      </p:sp>
      <p:sp>
        <p:nvSpPr>
          <p:cNvPr id="4" name="Rectángulo 117">
            <a:extLst>
              <a:ext uri="{FF2B5EF4-FFF2-40B4-BE49-F238E27FC236}">
                <a16:creationId xmlns:a16="http://schemas.microsoft.com/office/drawing/2014/main" id="{CE78ADBA-262D-50C6-6202-C61884CB3A1E}"/>
              </a:ext>
            </a:extLst>
          </p:cNvPr>
          <p:cNvSpPr/>
          <p:nvPr/>
        </p:nvSpPr>
        <p:spPr>
          <a:xfrm>
            <a:off x="4346495" y="2186896"/>
            <a:ext cx="7488000"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a:rPr>
              <a:t>Payment Processing Integration</a:t>
            </a:r>
            <a:endParaRPr lang="en-GB" sz="1100" kern="0">
              <a:solidFill>
                <a:srgbClr val="DEEDF1">
                  <a:lumMod val="25000"/>
                </a:srgbClr>
              </a:solidFill>
              <a:latin typeface="Santander Text" panose="020B0504020201020104" pitchFamily="34" charset="0"/>
            </a:endParaRPr>
          </a:p>
        </p:txBody>
      </p:sp>
      <p:sp>
        <p:nvSpPr>
          <p:cNvPr id="3" name="Text Placeholder 2">
            <a:extLst>
              <a:ext uri="{FF2B5EF4-FFF2-40B4-BE49-F238E27FC236}">
                <a16:creationId xmlns:a16="http://schemas.microsoft.com/office/drawing/2014/main" id="{D239EC2F-044B-79A3-B3EE-9B156351F060}"/>
              </a:ext>
            </a:extLst>
          </p:cNvPr>
          <p:cNvSpPr>
            <a:spLocks noGrp="1"/>
          </p:cNvSpPr>
          <p:nvPr>
            <p:ph type="body" sz="quarter" idx="14"/>
          </p:nvPr>
        </p:nvSpPr>
        <p:spPr>
          <a:xfrm>
            <a:off x="711024" y="367378"/>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Tree>
    <p:extLst>
      <p:ext uri="{BB962C8B-B14F-4D97-AF65-F5344CB8AC3E}">
        <p14:creationId xmlns:p14="http://schemas.microsoft.com/office/powerpoint/2010/main" val="23271594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50FDE-56AB-06CD-C657-8352245095E7}"/>
            </a:ext>
          </a:extLst>
        </p:cNvPr>
        <p:cNvGrpSpPr/>
        <p:nvPr/>
      </p:nvGrpSpPr>
      <p:grpSpPr>
        <a:xfrm>
          <a:off x="0" y="0"/>
          <a:ext cx="0" cy="0"/>
          <a:chOff x="0" y="0"/>
          <a:chExt cx="0" cy="0"/>
        </a:xfrm>
      </p:grpSpPr>
      <p:sp>
        <p:nvSpPr>
          <p:cNvPr id="113" name="Título 1">
            <a:extLst>
              <a:ext uri="{FF2B5EF4-FFF2-40B4-BE49-F238E27FC236}">
                <a16:creationId xmlns:a16="http://schemas.microsoft.com/office/drawing/2014/main" id="{E65A37A5-4313-9585-4FFF-63233FCFCBC1}"/>
              </a:ext>
            </a:extLst>
          </p:cNvPr>
          <p:cNvSpPr>
            <a:spLocks noGrp="1"/>
          </p:cNvSpPr>
          <p:nvPr>
            <p:ph type="title"/>
          </p:nvPr>
        </p:nvSpPr>
        <p:spPr>
          <a:xfrm>
            <a:off x="711024" y="641900"/>
            <a:ext cx="10758733" cy="445400"/>
          </a:xfrm>
        </p:spPr>
        <p:txBody>
          <a:bodyPr/>
          <a:lstStyle/>
          <a:p>
            <a:pPr>
              <a:defRPr/>
            </a:pPr>
            <a:r>
              <a:rPr kumimoji="0" lang="es-ES" sz="2800" b="1" i="0" u="none" strike="noStrike" kern="1200" cap="none" spc="0" normalizeH="0" baseline="0" noProof="0">
                <a:ln>
                  <a:noFill/>
                </a:ln>
                <a:solidFill>
                  <a:srgbClr val="EC0000"/>
                </a:solidFill>
                <a:effectLst/>
                <a:uLnTx/>
                <a:uFillTx/>
                <a:latin typeface="Santander Headline"/>
                <a:ea typeface="+mj-ea"/>
                <a:cs typeface="+mj-cs"/>
              </a:rPr>
              <a:t>DCB. </a:t>
            </a:r>
            <a:r>
              <a:rPr lang="en-AU">
                <a:solidFill>
                  <a:srgbClr val="BFBFBF"/>
                </a:solidFill>
                <a:latin typeface="Santander Headline"/>
              </a:rPr>
              <a:t>Engine BNPLs</a:t>
            </a:r>
            <a:endParaRPr lang="en-US">
              <a:solidFill>
                <a:schemeClr val="bg1">
                  <a:lumMod val="75000"/>
                </a:schemeClr>
              </a:solidFill>
            </a:endParaRPr>
          </a:p>
        </p:txBody>
      </p:sp>
      <p:sp>
        <p:nvSpPr>
          <p:cNvPr id="15" name="Rectángulo 15">
            <a:extLst>
              <a:ext uri="{FF2B5EF4-FFF2-40B4-BE49-F238E27FC236}">
                <a16:creationId xmlns:a16="http://schemas.microsoft.com/office/drawing/2014/main" id="{1FE58EE1-F859-B959-ACFD-5A1FA5543686}"/>
              </a:ext>
            </a:extLst>
          </p:cNvPr>
          <p:cNvSpPr/>
          <p:nvPr/>
        </p:nvSpPr>
        <p:spPr>
          <a:xfrm>
            <a:off x="4318803" y="1290710"/>
            <a:ext cx="7551328" cy="240476"/>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kern="0">
                <a:solidFill>
                  <a:prstClr val="white"/>
                </a:solidFill>
                <a:latin typeface="Santander Text" panose="020B0504020201020104" pitchFamily="34" charset="0"/>
              </a:rPr>
              <a:t>Modules</a:t>
            </a:r>
          </a:p>
        </p:txBody>
      </p:sp>
      <p:grpSp>
        <p:nvGrpSpPr>
          <p:cNvPr id="110" name="Group 109">
            <a:extLst>
              <a:ext uri="{FF2B5EF4-FFF2-40B4-BE49-F238E27FC236}">
                <a16:creationId xmlns:a16="http://schemas.microsoft.com/office/drawing/2014/main" id="{0450BCAB-27EF-09E4-ED2E-8FEC3E6759B1}"/>
              </a:ext>
            </a:extLst>
          </p:cNvPr>
          <p:cNvGrpSpPr/>
          <p:nvPr/>
        </p:nvGrpSpPr>
        <p:grpSpPr>
          <a:xfrm>
            <a:off x="588547" y="1706645"/>
            <a:ext cx="11249591" cy="400763"/>
            <a:chOff x="434543" y="2683160"/>
            <a:chExt cx="11249591" cy="400763"/>
          </a:xfrm>
        </p:grpSpPr>
        <p:sp>
          <p:nvSpPr>
            <p:cNvPr id="7" name="Rectángulo 8">
              <a:extLst>
                <a:ext uri="{FF2B5EF4-FFF2-40B4-BE49-F238E27FC236}">
                  <a16:creationId xmlns:a16="http://schemas.microsoft.com/office/drawing/2014/main" id="{8057A5BB-F214-0EBF-690B-53429FB93C2C}"/>
                </a:ext>
              </a:extLst>
            </p:cNvPr>
            <p:cNvSpPr/>
            <p:nvPr/>
          </p:nvSpPr>
          <p:spPr>
            <a:xfrm>
              <a:off x="434543" y="2687923"/>
              <a:ext cx="3619343" cy="396000"/>
            </a:xfrm>
            <a:prstGeom prst="rect">
              <a:avLst/>
            </a:prstGeom>
            <a:solidFill>
              <a:srgbClr val="DEEDF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45720" rIns="36000" bIns="45720"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55600" indent="-355600">
                <a:spcAft>
                  <a:spcPts val="300"/>
                </a:spcAft>
              </a:pPr>
              <a:r>
                <a:rPr lang="en-GB" sz="900" b="1">
                  <a:solidFill>
                    <a:srgbClr val="DEEDF1">
                      <a:lumMod val="25000"/>
                    </a:srgbClr>
                  </a:solidFill>
                  <a:latin typeface="Santander Text"/>
                </a:rPr>
                <a:t>1 –Payment Gateways:</a:t>
              </a:r>
              <a:endParaRPr lang="en-GB" sz="900" b="1">
                <a:solidFill>
                  <a:srgbClr val="DEEDF1">
                    <a:lumMod val="25000"/>
                  </a:srgbClr>
                </a:solidFill>
                <a:latin typeface="Santander Text" panose="020B0504020201020104" pitchFamily="34" charset="0"/>
              </a:endParaRPr>
            </a:p>
            <a:p>
              <a:r>
                <a:rPr lang="en-GB" sz="800" i="1">
                  <a:solidFill>
                    <a:srgbClr val="DEEDF1">
                      <a:lumMod val="25000"/>
                    </a:srgbClr>
                  </a:solidFill>
                  <a:latin typeface="Santander Text"/>
                </a:rPr>
                <a:t>Adaptors processing payments</a:t>
              </a:r>
              <a:endParaRPr lang="en-GB" sz="800">
                <a:solidFill>
                  <a:srgbClr val="000000"/>
                </a:solidFill>
              </a:endParaRPr>
            </a:p>
          </p:txBody>
        </p:sp>
        <p:sp>
          <p:nvSpPr>
            <p:cNvPr id="54" name="Rectángulo 118">
              <a:extLst>
                <a:ext uri="{FF2B5EF4-FFF2-40B4-BE49-F238E27FC236}">
                  <a16:creationId xmlns:a16="http://schemas.microsoft.com/office/drawing/2014/main" id="{AF395C93-D918-6D9C-654D-1B2672675066}"/>
                </a:ext>
              </a:extLst>
            </p:cNvPr>
            <p:cNvSpPr/>
            <p:nvPr/>
          </p:nvSpPr>
          <p:spPr>
            <a:xfrm>
              <a:off x="4171108" y="2687923"/>
              <a:ext cx="1001964"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a:rPr>
                <a:t>Pay Now</a:t>
              </a:r>
              <a:endParaRPr lang="en-GB" sz="1100" kern="0">
                <a:solidFill>
                  <a:srgbClr val="224751"/>
                </a:solidFill>
              </a:endParaRPr>
            </a:p>
          </p:txBody>
        </p:sp>
        <p:sp>
          <p:nvSpPr>
            <p:cNvPr id="55" name="Rectángulo 119">
              <a:extLst>
                <a:ext uri="{FF2B5EF4-FFF2-40B4-BE49-F238E27FC236}">
                  <a16:creationId xmlns:a16="http://schemas.microsoft.com/office/drawing/2014/main" id="{379A41D7-B4AE-B9F2-524F-DA046FC07E05}"/>
                </a:ext>
              </a:extLst>
            </p:cNvPr>
            <p:cNvSpPr/>
            <p:nvPr/>
          </p:nvSpPr>
          <p:spPr>
            <a:xfrm>
              <a:off x="5228765" y="2687923"/>
              <a:ext cx="1299382"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kern="0">
                  <a:solidFill>
                    <a:srgbClr val="DEEDF1">
                      <a:lumMod val="25000"/>
                    </a:srgbClr>
                  </a:solidFill>
                </a:rPr>
                <a:t>PSD2 Payments</a:t>
              </a:r>
              <a:endParaRPr lang="en-US" sz="1100"/>
            </a:p>
          </p:txBody>
        </p:sp>
        <p:sp>
          <p:nvSpPr>
            <p:cNvPr id="56" name="Rectángulo 120">
              <a:extLst>
                <a:ext uri="{FF2B5EF4-FFF2-40B4-BE49-F238E27FC236}">
                  <a16:creationId xmlns:a16="http://schemas.microsoft.com/office/drawing/2014/main" id="{1D75E5FE-9FDA-5745-7CDF-D587DC0A38CB}"/>
                </a:ext>
              </a:extLst>
            </p:cNvPr>
            <p:cNvSpPr/>
            <p:nvPr/>
          </p:nvSpPr>
          <p:spPr>
            <a:xfrm>
              <a:off x="10871946" y="2683160"/>
              <a:ext cx="812188"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a:rPr>
                <a:t>Insurance </a:t>
              </a:r>
              <a:r>
                <a:rPr lang="en-GB" sz="1100" kern="0" baseline="30000">
                  <a:solidFill>
                    <a:srgbClr val="DEEDF1">
                      <a:lumMod val="25000"/>
                    </a:srgbClr>
                  </a:solidFill>
                </a:rPr>
                <a:t>(*)</a:t>
              </a:r>
              <a:r>
                <a:rPr lang="en-GB" sz="1100" kern="0">
                  <a:solidFill>
                    <a:srgbClr val="DEEDF1">
                      <a:lumMod val="25000"/>
                    </a:srgbClr>
                  </a:solidFill>
                  <a:latin typeface="Santander Text"/>
                </a:rPr>
                <a:t> </a:t>
              </a:r>
              <a:endParaRPr lang="en-US"/>
            </a:p>
          </p:txBody>
        </p:sp>
        <p:sp>
          <p:nvSpPr>
            <p:cNvPr id="57" name="Rectángulo 121">
              <a:extLst>
                <a:ext uri="{FF2B5EF4-FFF2-40B4-BE49-F238E27FC236}">
                  <a16:creationId xmlns:a16="http://schemas.microsoft.com/office/drawing/2014/main" id="{291C817D-45AF-D29C-598E-418AB9B02FBB}"/>
                </a:ext>
              </a:extLst>
            </p:cNvPr>
            <p:cNvSpPr/>
            <p:nvPr/>
          </p:nvSpPr>
          <p:spPr>
            <a:xfrm>
              <a:off x="7920148" y="2687923"/>
              <a:ext cx="1485140"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kern="0">
                  <a:solidFill>
                    <a:srgbClr val="DEEDF1">
                      <a:lumMod val="25000"/>
                    </a:srgbClr>
                  </a:solidFill>
                </a:rPr>
                <a:t>Bank Transfer Payments</a:t>
              </a:r>
            </a:p>
          </p:txBody>
        </p:sp>
      </p:grpSp>
      <p:sp>
        <p:nvSpPr>
          <p:cNvPr id="2" name="Rectángulo 15">
            <a:extLst>
              <a:ext uri="{FF2B5EF4-FFF2-40B4-BE49-F238E27FC236}">
                <a16:creationId xmlns:a16="http://schemas.microsoft.com/office/drawing/2014/main" id="{6684284F-A95A-3C6C-D3B7-0C63CD03E0FA}"/>
              </a:ext>
            </a:extLst>
          </p:cNvPr>
          <p:cNvSpPr/>
          <p:nvPr/>
        </p:nvSpPr>
        <p:spPr>
          <a:xfrm>
            <a:off x="587293" y="1290710"/>
            <a:ext cx="3619342" cy="240476"/>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kern="0">
                <a:solidFill>
                  <a:prstClr val="white"/>
                </a:solidFill>
                <a:latin typeface="Santander Text" panose="020B0504020201020104" pitchFamily="34" charset="0"/>
              </a:rPr>
              <a:t>Module Aggregation</a:t>
            </a:r>
          </a:p>
        </p:txBody>
      </p:sp>
      <p:sp>
        <p:nvSpPr>
          <p:cNvPr id="18" name="Rectángulo 121">
            <a:extLst>
              <a:ext uri="{FF2B5EF4-FFF2-40B4-BE49-F238E27FC236}">
                <a16:creationId xmlns:a16="http://schemas.microsoft.com/office/drawing/2014/main" id="{829499E8-CF56-DD2F-8F06-83B7F877B8C2}"/>
              </a:ext>
            </a:extLst>
          </p:cNvPr>
          <p:cNvSpPr/>
          <p:nvPr/>
        </p:nvSpPr>
        <p:spPr>
          <a:xfrm>
            <a:off x="6729984" y="1711408"/>
            <a:ext cx="1299381"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kern="0">
                <a:solidFill>
                  <a:srgbClr val="DEEDF1">
                    <a:lumMod val="25000"/>
                  </a:srgbClr>
                </a:solidFill>
              </a:rPr>
              <a:t>Card Payments</a:t>
            </a:r>
          </a:p>
        </p:txBody>
      </p:sp>
      <p:sp>
        <p:nvSpPr>
          <p:cNvPr id="19" name="Rectángulo 121">
            <a:extLst>
              <a:ext uri="{FF2B5EF4-FFF2-40B4-BE49-F238E27FC236}">
                <a16:creationId xmlns:a16="http://schemas.microsoft.com/office/drawing/2014/main" id="{B751D728-4283-09C0-A5B8-68450082FC80}"/>
              </a:ext>
            </a:extLst>
          </p:cNvPr>
          <p:cNvSpPr/>
          <p:nvPr/>
        </p:nvSpPr>
        <p:spPr>
          <a:xfrm>
            <a:off x="9604079" y="1714322"/>
            <a:ext cx="1382754"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kern="0">
                <a:solidFill>
                  <a:srgbClr val="DEEDF1">
                    <a:lumMod val="25000"/>
                  </a:srgbClr>
                </a:solidFill>
              </a:rPr>
              <a:t>Direct Debit Payments</a:t>
            </a:r>
          </a:p>
        </p:txBody>
      </p:sp>
      <p:sp>
        <p:nvSpPr>
          <p:cNvPr id="20" name="CuadroTexto 19">
            <a:extLst>
              <a:ext uri="{FF2B5EF4-FFF2-40B4-BE49-F238E27FC236}">
                <a16:creationId xmlns:a16="http://schemas.microsoft.com/office/drawing/2014/main" id="{86C58153-1D21-ABE6-7354-0BA00DCD978B}"/>
              </a:ext>
            </a:extLst>
          </p:cNvPr>
          <p:cNvSpPr txBox="1"/>
          <p:nvPr/>
        </p:nvSpPr>
        <p:spPr>
          <a:xfrm>
            <a:off x="587293" y="5762442"/>
            <a:ext cx="2753718"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700">
                <a:solidFill>
                  <a:srgbClr val="053840"/>
                </a:solidFill>
              </a:rPr>
              <a:t>(*) Out of blueprint scope</a:t>
            </a:r>
          </a:p>
        </p:txBody>
      </p:sp>
      <p:sp>
        <p:nvSpPr>
          <p:cNvPr id="3" name="Text Placeholder 2">
            <a:extLst>
              <a:ext uri="{FF2B5EF4-FFF2-40B4-BE49-F238E27FC236}">
                <a16:creationId xmlns:a16="http://schemas.microsoft.com/office/drawing/2014/main" id="{001BA467-A003-3266-B500-091E99BC7B61}"/>
              </a:ext>
            </a:extLst>
          </p:cNvPr>
          <p:cNvSpPr>
            <a:spLocks noGrp="1"/>
          </p:cNvSpPr>
          <p:nvPr>
            <p:ph type="body" sz="quarter" idx="14"/>
          </p:nvPr>
        </p:nvSpPr>
        <p:spPr>
          <a:xfrm>
            <a:off x="711024" y="367378"/>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Tree>
    <p:extLst>
      <p:ext uri="{BB962C8B-B14F-4D97-AF65-F5344CB8AC3E}">
        <p14:creationId xmlns:p14="http://schemas.microsoft.com/office/powerpoint/2010/main" val="6849026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A5B9125-ED74-45DB-9812-3EF7553A7506}"/>
              </a:ext>
            </a:extLst>
          </p:cNvPr>
          <p:cNvSpPr>
            <a:spLocks noGrp="1"/>
          </p:cNvSpPr>
          <p:nvPr>
            <p:ph type="body" sz="quarter" idx="14"/>
          </p:nvPr>
        </p:nvSpPr>
        <p:spPr>
          <a:xfrm>
            <a:off x="711024" y="367378"/>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2" name="Título 1">
            <a:extLst>
              <a:ext uri="{FF2B5EF4-FFF2-40B4-BE49-F238E27FC236}">
                <a16:creationId xmlns:a16="http://schemas.microsoft.com/office/drawing/2014/main" id="{642B167B-5E91-F2D2-7F2E-3E3C317BFA97}"/>
              </a:ext>
            </a:extLst>
          </p:cNvPr>
          <p:cNvSpPr txBox="1">
            <a:spLocks/>
          </p:cNvSpPr>
          <p:nvPr/>
        </p:nvSpPr>
        <p:spPr>
          <a:xfrm>
            <a:off x="711024" y="641900"/>
            <a:ext cx="10758733" cy="836992"/>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lang="en-US" sz="2800" b="1" kern="1200" dirty="0">
                <a:solidFill>
                  <a:schemeClr val="accent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s-ES" sz="2800" b="1" i="0" u="none" strike="noStrike" kern="1200" cap="none" spc="0" normalizeH="0" baseline="0" noProof="0">
                <a:ln>
                  <a:noFill/>
                </a:ln>
                <a:solidFill>
                  <a:srgbClr val="EB0000"/>
                </a:solidFill>
                <a:effectLst/>
                <a:uLnTx/>
                <a:uFillTx/>
                <a:latin typeface="Santander Headline" panose="020B0504020201020104" pitchFamily="34" charset="0"/>
                <a:ea typeface="+mj-ea"/>
                <a:cs typeface="+mj-cs"/>
              </a:rPr>
              <a:t>Global </a:t>
            </a:r>
            <a:r>
              <a:rPr kumimoji="0" lang="es-ES" sz="2800" b="1" i="0" u="none" strike="noStrike" kern="1200" cap="none" spc="0" normalizeH="0" baseline="0" noProof="0" err="1">
                <a:ln>
                  <a:noFill/>
                </a:ln>
                <a:solidFill>
                  <a:srgbClr val="EB0000"/>
                </a:solidFill>
                <a:effectLst/>
                <a:uLnTx/>
                <a:uFillTx/>
                <a:latin typeface="Santander Headline" panose="020B0504020201020104" pitchFamily="34" charset="0"/>
                <a:ea typeface="+mj-ea"/>
                <a:cs typeface="+mj-cs"/>
              </a:rPr>
              <a:t>Cards</a:t>
            </a:r>
            <a:r>
              <a:rPr kumimoji="0" lang="es-ES" sz="2800" b="1" i="0" u="none" strike="noStrike" kern="1200" cap="none" spc="0" normalizeH="0" baseline="0" noProof="0">
                <a:ln>
                  <a:noFill/>
                </a:ln>
                <a:solidFill>
                  <a:srgbClr val="EB0000"/>
                </a:solidFill>
                <a:effectLst/>
                <a:uLnTx/>
                <a:uFillTx/>
                <a:latin typeface="Santander Headline" panose="020B0504020201020104" pitchFamily="34" charset="0"/>
                <a:ea typeface="+mj-ea"/>
                <a:cs typeface="+mj-cs"/>
              </a:rPr>
              <a:t>.  </a:t>
            </a:r>
            <a:r>
              <a:rPr lang="es-ES" err="1">
                <a:solidFill>
                  <a:schemeClr val="bg1">
                    <a:lumMod val="75000"/>
                  </a:schemeClr>
                </a:solidFill>
              </a:rPr>
              <a:t>Plard</a:t>
            </a:r>
            <a:r>
              <a:rPr lang="es-ES">
                <a:solidFill>
                  <a:schemeClr val="bg1">
                    <a:lumMod val="75000"/>
                  </a:schemeClr>
                </a:solidFill>
              </a:rPr>
              <a:t>  </a:t>
            </a:r>
          </a:p>
        </p:txBody>
      </p:sp>
      <p:sp>
        <p:nvSpPr>
          <p:cNvPr id="27" name="Rectángulo 26">
            <a:extLst>
              <a:ext uri="{FF2B5EF4-FFF2-40B4-BE49-F238E27FC236}">
                <a16:creationId xmlns:a16="http://schemas.microsoft.com/office/drawing/2014/main" id="{647B8FD2-0D6A-3D83-4A2F-E093CA086D4B}"/>
              </a:ext>
            </a:extLst>
          </p:cNvPr>
          <p:cNvSpPr/>
          <p:nvPr/>
        </p:nvSpPr>
        <p:spPr>
          <a:xfrm>
            <a:off x="4631732" y="1768615"/>
            <a:ext cx="1620000" cy="622088"/>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spcAft>
                <a:spcPts val="600"/>
              </a:spcAft>
            </a:pPr>
            <a:r>
              <a:rPr lang="en-AU" sz="1400" kern="0">
                <a:solidFill>
                  <a:srgbClr val="DEEDF1">
                    <a:lumMod val="25000"/>
                  </a:srgbClr>
                </a:solidFill>
              </a:rPr>
              <a:t>Cards Offering</a:t>
            </a:r>
          </a:p>
          <a:p>
            <a:pPr algn="ctr">
              <a:spcAft>
                <a:spcPts val="600"/>
              </a:spcAft>
            </a:pPr>
            <a:endParaRPr lang="en-AU" sz="1400" kern="0">
              <a:solidFill>
                <a:srgbClr val="DEEDF1">
                  <a:lumMod val="25000"/>
                </a:srgbClr>
              </a:solidFill>
            </a:endParaRPr>
          </a:p>
        </p:txBody>
      </p:sp>
      <p:sp>
        <p:nvSpPr>
          <p:cNvPr id="30" name="Rectángulo 29">
            <a:extLst>
              <a:ext uri="{FF2B5EF4-FFF2-40B4-BE49-F238E27FC236}">
                <a16:creationId xmlns:a16="http://schemas.microsoft.com/office/drawing/2014/main" id="{362A6B3A-63DD-5A99-9E49-6E1DBA625CD7}"/>
              </a:ext>
            </a:extLst>
          </p:cNvPr>
          <p:cNvSpPr/>
          <p:nvPr/>
        </p:nvSpPr>
        <p:spPr>
          <a:xfrm>
            <a:off x="6372259" y="1768615"/>
            <a:ext cx="1620000" cy="622088"/>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ea typeface="+mn-ea"/>
                <a:cs typeface="+mn-cs"/>
              </a:rPr>
              <a:t>Cards Management</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400" b="0" i="0" u="none" strike="noStrike" kern="0" cap="none" spc="0" normalizeH="0" baseline="0" noProof="0">
              <a:ln>
                <a:noFill/>
              </a:ln>
              <a:solidFill>
                <a:srgbClr val="DEEDF1">
                  <a:lumMod val="25000"/>
                </a:srgbClr>
              </a:solidFill>
              <a:effectLst/>
              <a:uLnTx/>
              <a:uFillTx/>
              <a:ea typeface="+mn-ea"/>
              <a:cs typeface="+mn-cs"/>
            </a:endParaRPr>
          </a:p>
        </p:txBody>
      </p:sp>
      <p:sp>
        <p:nvSpPr>
          <p:cNvPr id="31" name="Rectángulo 30">
            <a:extLst>
              <a:ext uri="{FF2B5EF4-FFF2-40B4-BE49-F238E27FC236}">
                <a16:creationId xmlns:a16="http://schemas.microsoft.com/office/drawing/2014/main" id="{1FE2099D-5C01-F625-5736-54F913C304C3}"/>
              </a:ext>
            </a:extLst>
          </p:cNvPr>
          <p:cNvSpPr/>
          <p:nvPr/>
        </p:nvSpPr>
        <p:spPr>
          <a:xfrm>
            <a:off x="8112786" y="1768615"/>
            <a:ext cx="1620000" cy="622088"/>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ea typeface="+mn-ea"/>
                <a:cs typeface="+mn-cs"/>
              </a:rPr>
              <a:t>3rd Parties Mg.</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400" b="0" i="0" u="none" strike="noStrike" kern="0" cap="none" spc="0" normalizeH="0" baseline="0" noProof="0">
              <a:ln>
                <a:noFill/>
              </a:ln>
              <a:solidFill>
                <a:srgbClr val="DEEDF1">
                  <a:lumMod val="25000"/>
                </a:srgbClr>
              </a:solidFill>
              <a:effectLst/>
              <a:uLnTx/>
              <a:uFillTx/>
              <a:ea typeface="+mn-ea"/>
              <a:cs typeface="+mn-cs"/>
            </a:endParaRPr>
          </a:p>
        </p:txBody>
      </p:sp>
      <p:sp>
        <p:nvSpPr>
          <p:cNvPr id="32" name="Rectángulo 31">
            <a:extLst>
              <a:ext uri="{FF2B5EF4-FFF2-40B4-BE49-F238E27FC236}">
                <a16:creationId xmlns:a16="http://schemas.microsoft.com/office/drawing/2014/main" id="{B2D71187-9AD5-DF17-367A-9D3F8E5C8EAC}"/>
              </a:ext>
            </a:extLst>
          </p:cNvPr>
          <p:cNvSpPr/>
          <p:nvPr/>
        </p:nvSpPr>
        <p:spPr>
          <a:xfrm>
            <a:off x="9853312" y="1768615"/>
            <a:ext cx="1620000" cy="622088"/>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ea typeface="+mn-ea"/>
                <a:cs typeface="+mn-cs"/>
              </a:rPr>
              <a:t>Cards Cash Mg.</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400" b="0" i="0" u="none" strike="noStrike" kern="0" cap="none" spc="0" normalizeH="0" baseline="0" noProof="0">
              <a:ln>
                <a:noFill/>
              </a:ln>
              <a:solidFill>
                <a:srgbClr val="DEEDF1">
                  <a:lumMod val="25000"/>
                </a:srgbClr>
              </a:solidFill>
              <a:effectLst/>
              <a:uLnTx/>
              <a:uFillTx/>
              <a:ea typeface="+mn-ea"/>
              <a:cs typeface="+mn-cs"/>
            </a:endParaRPr>
          </a:p>
        </p:txBody>
      </p:sp>
      <p:sp>
        <p:nvSpPr>
          <p:cNvPr id="33" name="Rectángulo 32">
            <a:extLst>
              <a:ext uri="{FF2B5EF4-FFF2-40B4-BE49-F238E27FC236}">
                <a16:creationId xmlns:a16="http://schemas.microsoft.com/office/drawing/2014/main" id="{E0979D12-AA47-254F-0EA8-DE1BB242EF4D}"/>
              </a:ext>
            </a:extLst>
          </p:cNvPr>
          <p:cNvSpPr/>
          <p:nvPr/>
        </p:nvSpPr>
        <p:spPr>
          <a:xfrm>
            <a:off x="991402" y="2517715"/>
            <a:ext cx="3364034" cy="622088"/>
          </a:xfrm>
          <a:prstGeom prst="rect">
            <a:avLst/>
          </a:prstGeom>
          <a:solidFill>
            <a:srgbClr val="DEEDF1"/>
          </a:solidFill>
          <a:ln w="12700" cap="flat" cmpd="sng" algn="ctr">
            <a:noFill/>
            <a:prstDash val="solid"/>
            <a:miter lim="800000"/>
          </a:ln>
          <a:effectLst/>
        </p:spPr>
        <p:txBody>
          <a:bodyPr rtlCol="0" anchor="ctr"/>
          <a:lstStyle/>
          <a:p>
            <a:pPr marL="355600" indent="-355600">
              <a:spcAft>
                <a:spcPts val="600"/>
              </a:spcAft>
            </a:pPr>
            <a:r>
              <a:rPr lang="en-AU" sz="1600" b="1" kern="0">
                <a:solidFill>
                  <a:srgbClr val="DEEDF1">
                    <a:lumMod val="25000"/>
                  </a:srgbClr>
                </a:solidFill>
              </a:rPr>
              <a:t>2 - Card Authorization </a:t>
            </a:r>
          </a:p>
        </p:txBody>
      </p:sp>
      <p:sp>
        <p:nvSpPr>
          <p:cNvPr id="34" name="Rectángulo 33">
            <a:extLst>
              <a:ext uri="{FF2B5EF4-FFF2-40B4-BE49-F238E27FC236}">
                <a16:creationId xmlns:a16="http://schemas.microsoft.com/office/drawing/2014/main" id="{12EBB532-3942-00A2-EC57-A080753D5EE3}"/>
              </a:ext>
            </a:extLst>
          </p:cNvPr>
          <p:cNvSpPr/>
          <p:nvPr/>
        </p:nvSpPr>
        <p:spPr>
          <a:xfrm>
            <a:off x="4626189" y="2517715"/>
            <a:ext cx="6843567" cy="622088"/>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ea typeface="+mn-ea"/>
                <a:cs typeface="+mn-cs"/>
              </a:rPr>
              <a:t>Authorization (Stratos)</a:t>
            </a:r>
          </a:p>
        </p:txBody>
      </p:sp>
      <p:sp>
        <p:nvSpPr>
          <p:cNvPr id="35" name="Rectángulo 34">
            <a:extLst>
              <a:ext uri="{FF2B5EF4-FFF2-40B4-BE49-F238E27FC236}">
                <a16:creationId xmlns:a16="http://schemas.microsoft.com/office/drawing/2014/main" id="{2BA9EA7C-6212-792D-8F18-9C63CC1BA64C}"/>
              </a:ext>
            </a:extLst>
          </p:cNvPr>
          <p:cNvSpPr/>
          <p:nvPr/>
        </p:nvSpPr>
        <p:spPr>
          <a:xfrm>
            <a:off x="991402" y="3273058"/>
            <a:ext cx="3364034" cy="622088"/>
          </a:xfrm>
          <a:prstGeom prst="rect">
            <a:avLst/>
          </a:prstGeom>
          <a:solidFill>
            <a:srgbClr val="DEEDF1"/>
          </a:solidFill>
          <a:ln w="12700" cap="flat" cmpd="sng" algn="ctr">
            <a:noFill/>
            <a:prstDash val="solid"/>
            <a:miter lim="800000"/>
          </a:ln>
          <a:effectLst/>
        </p:spPr>
        <p:txBody>
          <a:bodyPr rtlCol="0" anchor="ctr"/>
          <a:lstStyle/>
          <a:p>
            <a:pPr marL="355600" indent="-355600">
              <a:spcAft>
                <a:spcPts val="600"/>
              </a:spcAft>
            </a:pPr>
            <a:r>
              <a:rPr lang="en-AU" sz="1600" b="1" kern="0">
                <a:solidFill>
                  <a:srgbClr val="DEEDF1">
                    <a:lumMod val="25000"/>
                  </a:srgbClr>
                </a:solidFill>
              </a:rPr>
              <a:t>3 - Card Disputes </a:t>
            </a:r>
          </a:p>
        </p:txBody>
      </p:sp>
      <p:sp>
        <p:nvSpPr>
          <p:cNvPr id="36" name="Rectángulo 35">
            <a:extLst>
              <a:ext uri="{FF2B5EF4-FFF2-40B4-BE49-F238E27FC236}">
                <a16:creationId xmlns:a16="http://schemas.microsoft.com/office/drawing/2014/main" id="{CCE5FA7C-414F-84D7-F8AE-1ADBE3610718}"/>
              </a:ext>
            </a:extLst>
          </p:cNvPr>
          <p:cNvSpPr/>
          <p:nvPr/>
        </p:nvSpPr>
        <p:spPr>
          <a:xfrm>
            <a:off x="4626189" y="3273058"/>
            <a:ext cx="6843567" cy="622088"/>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ea typeface="+mn-ea"/>
                <a:cs typeface="+mn-cs"/>
              </a:rPr>
              <a:t>Global  Disputes </a:t>
            </a:r>
          </a:p>
        </p:txBody>
      </p:sp>
      <p:sp>
        <p:nvSpPr>
          <p:cNvPr id="37" name="Rectángulo 36">
            <a:extLst>
              <a:ext uri="{FF2B5EF4-FFF2-40B4-BE49-F238E27FC236}">
                <a16:creationId xmlns:a16="http://schemas.microsoft.com/office/drawing/2014/main" id="{A6539E89-A8B6-C496-319C-E958D94ABE52}"/>
              </a:ext>
            </a:extLst>
          </p:cNvPr>
          <p:cNvSpPr/>
          <p:nvPr/>
        </p:nvSpPr>
        <p:spPr>
          <a:xfrm>
            <a:off x="991402" y="4051872"/>
            <a:ext cx="3364034" cy="622088"/>
          </a:xfrm>
          <a:prstGeom prst="rect">
            <a:avLst/>
          </a:prstGeom>
          <a:solidFill>
            <a:srgbClr val="DEEDF1"/>
          </a:solidFill>
          <a:ln w="12700" cap="flat" cmpd="sng" algn="ctr">
            <a:noFill/>
            <a:prstDash val="solid"/>
            <a:miter lim="800000"/>
          </a:ln>
          <a:effectLst/>
        </p:spPr>
        <p:txBody>
          <a:bodyPr rtlCol="0" anchor="ctr"/>
          <a:lstStyle/>
          <a:p>
            <a:pPr marL="355600" indent="-355600">
              <a:spcAft>
                <a:spcPts val="600"/>
              </a:spcAft>
            </a:pPr>
            <a:r>
              <a:rPr lang="en-AU" sz="1600" b="1" kern="0">
                <a:solidFill>
                  <a:srgbClr val="DEEDF1">
                    <a:lumMod val="25000"/>
                  </a:srgbClr>
                </a:solidFill>
              </a:rPr>
              <a:t>4 - Card Added Value Services </a:t>
            </a:r>
          </a:p>
        </p:txBody>
      </p:sp>
      <p:sp>
        <p:nvSpPr>
          <p:cNvPr id="38" name="Rectángulo 37">
            <a:extLst>
              <a:ext uri="{FF2B5EF4-FFF2-40B4-BE49-F238E27FC236}">
                <a16:creationId xmlns:a16="http://schemas.microsoft.com/office/drawing/2014/main" id="{C67FF030-581C-EEBC-C87A-F60FCF29F230}"/>
              </a:ext>
            </a:extLst>
          </p:cNvPr>
          <p:cNvSpPr/>
          <p:nvPr/>
        </p:nvSpPr>
        <p:spPr>
          <a:xfrm>
            <a:off x="4629745" y="1347221"/>
            <a:ext cx="6843567" cy="394843"/>
          </a:xfrm>
          <a:prstGeom prst="rect">
            <a:avLst/>
          </a:prstGeom>
          <a:solidFill>
            <a:srgbClr val="DEEDF1">
              <a:lumMod val="25000"/>
            </a:srgbClr>
          </a:solidFill>
          <a:ln w="12700" cap="flat" cmpd="sng" algn="ctr">
            <a:noFill/>
            <a:prstDash val="solid"/>
            <a:miter lim="800000"/>
          </a:ln>
          <a:effectLst/>
        </p:spPr>
        <p:txBody>
          <a:bodyPr vert="horz" rtlCol="0" anchor="ctr"/>
          <a:lstStyle/>
          <a:p>
            <a:pPr algn="ctr">
              <a:defRPr/>
            </a:pPr>
            <a:r>
              <a:rPr lang="en-AU" sz="1600" b="1" kern="0">
                <a:solidFill>
                  <a:prstClr val="white"/>
                </a:solidFill>
              </a:rPr>
              <a:t>Modules</a:t>
            </a:r>
          </a:p>
        </p:txBody>
      </p:sp>
      <p:sp>
        <p:nvSpPr>
          <p:cNvPr id="39" name="Rectángulo 38">
            <a:extLst>
              <a:ext uri="{FF2B5EF4-FFF2-40B4-BE49-F238E27FC236}">
                <a16:creationId xmlns:a16="http://schemas.microsoft.com/office/drawing/2014/main" id="{57BFBCC9-D17A-B316-937A-08A2F9E75D25}"/>
              </a:ext>
            </a:extLst>
          </p:cNvPr>
          <p:cNvSpPr/>
          <p:nvPr/>
        </p:nvSpPr>
        <p:spPr>
          <a:xfrm>
            <a:off x="991402" y="1768615"/>
            <a:ext cx="3364034" cy="622088"/>
          </a:xfrm>
          <a:prstGeom prst="rect">
            <a:avLst/>
          </a:prstGeom>
          <a:solidFill>
            <a:srgbClr val="DEEDF1"/>
          </a:solidFill>
          <a:ln w="12700" cap="flat" cmpd="sng" algn="ctr">
            <a:noFill/>
            <a:prstDash val="solid"/>
            <a:miter lim="800000"/>
          </a:ln>
          <a:effectLst/>
        </p:spPr>
        <p:txBody>
          <a:bodyPr rtlCol="0" anchor="ctr"/>
          <a:lstStyle/>
          <a:p>
            <a:pPr marL="355600" indent="-355600">
              <a:spcAft>
                <a:spcPts val="600"/>
              </a:spcAft>
            </a:pPr>
            <a:r>
              <a:rPr lang="en-AU" sz="1600" b="1" kern="0">
                <a:solidFill>
                  <a:srgbClr val="DEEDF1">
                    <a:lumMod val="25000"/>
                  </a:srgbClr>
                </a:solidFill>
              </a:rPr>
              <a:t>1 - Card Management </a:t>
            </a:r>
          </a:p>
        </p:txBody>
      </p:sp>
      <p:sp>
        <p:nvSpPr>
          <p:cNvPr id="40" name="Rectángulo 39">
            <a:extLst>
              <a:ext uri="{FF2B5EF4-FFF2-40B4-BE49-F238E27FC236}">
                <a16:creationId xmlns:a16="http://schemas.microsoft.com/office/drawing/2014/main" id="{ECADFB12-8074-D33F-A20C-850396922DA5}"/>
              </a:ext>
            </a:extLst>
          </p:cNvPr>
          <p:cNvSpPr/>
          <p:nvPr/>
        </p:nvSpPr>
        <p:spPr>
          <a:xfrm>
            <a:off x="9297702" y="4051872"/>
            <a:ext cx="2172054" cy="622088"/>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ea typeface="+mn-ea"/>
                <a:cs typeface="+mn-cs"/>
              </a:rPr>
              <a:t>Shared Services</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400" b="0" i="0" u="none" strike="noStrike" kern="0" cap="none" spc="0" normalizeH="0" baseline="0" noProof="0">
              <a:ln>
                <a:noFill/>
              </a:ln>
              <a:solidFill>
                <a:srgbClr val="DEEDF1">
                  <a:lumMod val="25000"/>
                </a:srgbClr>
              </a:solidFill>
              <a:effectLst/>
              <a:uLnTx/>
              <a:uFillTx/>
              <a:ea typeface="+mn-ea"/>
              <a:cs typeface="+mn-cs"/>
            </a:endParaRPr>
          </a:p>
        </p:txBody>
      </p:sp>
      <p:sp>
        <p:nvSpPr>
          <p:cNvPr id="41" name="Rectángulo 40">
            <a:extLst>
              <a:ext uri="{FF2B5EF4-FFF2-40B4-BE49-F238E27FC236}">
                <a16:creationId xmlns:a16="http://schemas.microsoft.com/office/drawing/2014/main" id="{B6B89F98-2C9C-98E0-30BA-FC10780C1E59}"/>
              </a:ext>
            </a:extLst>
          </p:cNvPr>
          <p:cNvSpPr/>
          <p:nvPr/>
        </p:nvSpPr>
        <p:spPr>
          <a:xfrm>
            <a:off x="4625189" y="4051872"/>
            <a:ext cx="2172054" cy="622088"/>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ea typeface="+mn-ea"/>
                <a:cs typeface="+mn-cs"/>
              </a:rPr>
              <a:t>Token Manager</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400" b="0" i="0" u="none" strike="noStrike" kern="0" cap="none" spc="0" normalizeH="0" baseline="0" noProof="0">
              <a:ln>
                <a:noFill/>
              </a:ln>
              <a:solidFill>
                <a:srgbClr val="DEEDF1">
                  <a:lumMod val="25000"/>
                </a:srgbClr>
              </a:solidFill>
              <a:effectLst/>
              <a:uLnTx/>
              <a:uFillTx/>
              <a:ea typeface="+mn-ea"/>
              <a:cs typeface="+mn-cs"/>
            </a:endParaRPr>
          </a:p>
        </p:txBody>
      </p:sp>
      <p:sp>
        <p:nvSpPr>
          <p:cNvPr id="42" name="Rectángulo 41">
            <a:extLst>
              <a:ext uri="{FF2B5EF4-FFF2-40B4-BE49-F238E27FC236}">
                <a16:creationId xmlns:a16="http://schemas.microsoft.com/office/drawing/2014/main" id="{DE7DA2DF-7063-46AE-DCE1-DE1D373B4F4E}"/>
              </a:ext>
            </a:extLst>
          </p:cNvPr>
          <p:cNvSpPr/>
          <p:nvPr/>
        </p:nvSpPr>
        <p:spPr>
          <a:xfrm>
            <a:off x="6973399" y="4051872"/>
            <a:ext cx="2172054" cy="622088"/>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ea typeface="+mn-ea"/>
                <a:cs typeface="+mn-cs"/>
              </a:rPr>
              <a:t>ACS</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400" b="0" i="0" u="none" strike="noStrike" kern="0" cap="none" spc="0" normalizeH="0" baseline="0" noProof="0">
              <a:ln>
                <a:noFill/>
              </a:ln>
              <a:solidFill>
                <a:srgbClr val="DEEDF1">
                  <a:lumMod val="25000"/>
                </a:srgbClr>
              </a:solidFill>
              <a:effectLst/>
              <a:uLnTx/>
              <a:uFillTx/>
              <a:ea typeface="+mn-ea"/>
              <a:cs typeface="+mn-cs"/>
            </a:endParaRPr>
          </a:p>
        </p:txBody>
      </p:sp>
      <p:sp>
        <p:nvSpPr>
          <p:cNvPr id="58" name="Rectángulo 57">
            <a:extLst>
              <a:ext uri="{FF2B5EF4-FFF2-40B4-BE49-F238E27FC236}">
                <a16:creationId xmlns:a16="http://schemas.microsoft.com/office/drawing/2014/main" id="{24871A16-39CF-9573-679C-0179614E4B0B}"/>
              </a:ext>
            </a:extLst>
          </p:cNvPr>
          <p:cNvSpPr/>
          <p:nvPr/>
        </p:nvSpPr>
        <p:spPr>
          <a:xfrm>
            <a:off x="991402" y="4836799"/>
            <a:ext cx="3364034" cy="622088"/>
          </a:xfrm>
          <a:prstGeom prst="rect">
            <a:avLst/>
          </a:prstGeom>
          <a:solidFill>
            <a:srgbClr val="DEEDF1"/>
          </a:solidFill>
          <a:ln w="12700" cap="flat" cmpd="sng" algn="ctr">
            <a:noFill/>
            <a:prstDash val="solid"/>
            <a:miter lim="800000"/>
          </a:ln>
          <a:effectLst/>
        </p:spPr>
        <p:txBody>
          <a:bodyPr rtlCol="0" anchor="ctr"/>
          <a:lstStyle/>
          <a:p>
            <a:pPr marL="355600" indent="-355600">
              <a:spcAft>
                <a:spcPts val="600"/>
              </a:spcAft>
            </a:pPr>
            <a:r>
              <a:rPr lang="en-AU" sz="1600" b="1" kern="0">
                <a:solidFill>
                  <a:srgbClr val="DEEDF1">
                    <a:lumMod val="25000"/>
                  </a:srgbClr>
                </a:solidFill>
              </a:rPr>
              <a:t>5 - Card Corporate Services </a:t>
            </a:r>
          </a:p>
        </p:txBody>
      </p:sp>
      <p:sp>
        <p:nvSpPr>
          <p:cNvPr id="59" name="Rectángulo 58">
            <a:extLst>
              <a:ext uri="{FF2B5EF4-FFF2-40B4-BE49-F238E27FC236}">
                <a16:creationId xmlns:a16="http://schemas.microsoft.com/office/drawing/2014/main" id="{051FC915-CAD5-8F83-1041-F5598421A9C9}"/>
              </a:ext>
            </a:extLst>
          </p:cNvPr>
          <p:cNvSpPr/>
          <p:nvPr/>
        </p:nvSpPr>
        <p:spPr>
          <a:xfrm>
            <a:off x="4626189" y="4832037"/>
            <a:ext cx="6843567" cy="622088"/>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ea typeface="+mn-ea"/>
                <a:cs typeface="+mn-cs"/>
              </a:rPr>
              <a:t>Corporate</a:t>
            </a:r>
          </a:p>
        </p:txBody>
      </p:sp>
      <p:sp>
        <p:nvSpPr>
          <p:cNvPr id="5" name="Rectángulo 15">
            <a:extLst>
              <a:ext uri="{FF2B5EF4-FFF2-40B4-BE49-F238E27FC236}">
                <a16:creationId xmlns:a16="http://schemas.microsoft.com/office/drawing/2014/main" id="{5C1DF285-E2E2-297D-E7EA-58B87B748AB9}"/>
              </a:ext>
            </a:extLst>
          </p:cNvPr>
          <p:cNvSpPr/>
          <p:nvPr/>
        </p:nvSpPr>
        <p:spPr>
          <a:xfrm>
            <a:off x="991402" y="1347222"/>
            <a:ext cx="3364034" cy="346124"/>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kern="0">
                <a:solidFill>
                  <a:prstClr val="white"/>
                </a:solidFill>
                <a:latin typeface="Santander Text" panose="020B0504020201020104" pitchFamily="34" charset="0"/>
              </a:rPr>
              <a:t>Module Aggregation</a:t>
            </a:r>
          </a:p>
        </p:txBody>
      </p:sp>
    </p:spTree>
    <p:extLst>
      <p:ext uri="{BB962C8B-B14F-4D97-AF65-F5344CB8AC3E}">
        <p14:creationId xmlns:p14="http://schemas.microsoft.com/office/powerpoint/2010/main" val="5159399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CB55D-6AE1-AB15-D352-64EDB4A8022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7A1E0C8-083A-D82A-568B-51EE9FFD39CA}"/>
              </a:ext>
            </a:extLst>
          </p:cNvPr>
          <p:cNvSpPr txBox="1">
            <a:spLocks/>
          </p:cNvSpPr>
          <p:nvPr/>
        </p:nvSpPr>
        <p:spPr>
          <a:xfrm>
            <a:off x="640812" y="637040"/>
            <a:ext cx="10758733" cy="836992"/>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lang="en-US" sz="2800" b="1" kern="1200" dirty="0">
                <a:solidFill>
                  <a:schemeClr val="accent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s-ES" sz="2800" b="1" i="0" u="none" strike="noStrike" kern="1200" cap="none" spc="0" normalizeH="0" baseline="0" noProof="0" err="1">
                <a:ln>
                  <a:noFill/>
                </a:ln>
                <a:solidFill>
                  <a:srgbClr val="EB0000"/>
                </a:solidFill>
                <a:effectLst/>
                <a:uLnTx/>
                <a:uFillTx/>
                <a:latin typeface="Santander Headline" panose="020B0504020201020104" pitchFamily="34" charset="0"/>
                <a:ea typeface="+mj-ea"/>
                <a:cs typeface="+mj-cs"/>
              </a:rPr>
              <a:t>PagoNxt</a:t>
            </a:r>
            <a:r>
              <a:rPr lang="es-ES">
                <a:solidFill>
                  <a:srgbClr val="EB0000"/>
                </a:solidFill>
                <a:latin typeface="Santander Headline" panose="020B0504020201020104" pitchFamily="34" charset="0"/>
              </a:rPr>
              <a:t>. </a:t>
            </a:r>
            <a:r>
              <a:rPr lang="es-ES" err="1">
                <a:solidFill>
                  <a:schemeClr val="bg1">
                    <a:lumMod val="75000"/>
                  </a:schemeClr>
                </a:solidFill>
              </a:rPr>
              <a:t>Payments</a:t>
            </a:r>
            <a:r>
              <a:rPr lang="es-ES">
                <a:solidFill>
                  <a:schemeClr val="bg1">
                    <a:lumMod val="75000"/>
                  </a:schemeClr>
                </a:solidFill>
              </a:rPr>
              <a:t>  </a:t>
            </a:r>
          </a:p>
        </p:txBody>
      </p:sp>
      <p:sp>
        <p:nvSpPr>
          <p:cNvPr id="3" name="Text Placeholder 2">
            <a:extLst>
              <a:ext uri="{FF2B5EF4-FFF2-40B4-BE49-F238E27FC236}">
                <a16:creationId xmlns:a16="http://schemas.microsoft.com/office/drawing/2014/main" id="{D12ABC51-4821-F073-C69C-5DE8159B00D0}"/>
              </a:ext>
            </a:extLst>
          </p:cNvPr>
          <p:cNvSpPr>
            <a:spLocks noGrp="1"/>
          </p:cNvSpPr>
          <p:nvPr>
            <p:ph type="body" sz="quarter" idx="14"/>
          </p:nvPr>
        </p:nvSpPr>
        <p:spPr>
          <a:xfrm>
            <a:off x="640811" y="367378"/>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4" name="Rectángulo 3">
            <a:extLst>
              <a:ext uri="{FF2B5EF4-FFF2-40B4-BE49-F238E27FC236}">
                <a16:creationId xmlns:a16="http://schemas.microsoft.com/office/drawing/2014/main" id="{7A702187-FFBB-C235-929C-FA166B3601F2}"/>
              </a:ext>
            </a:extLst>
          </p:cNvPr>
          <p:cNvSpPr/>
          <p:nvPr/>
        </p:nvSpPr>
        <p:spPr>
          <a:xfrm>
            <a:off x="4465319" y="1964179"/>
            <a:ext cx="2196000" cy="685739"/>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spcAft>
                <a:spcPts val="600"/>
              </a:spcAft>
              <a:defRPr/>
            </a:pPr>
            <a:r>
              <a:rPr lang="en-AU" sz="1400" kern="0">
                <a:solidFill>
                  <a:srgbClr val="DEEDF1">
                    <a:lumMod val="25000"/>
                  </a:srgbClr>
                </a:solidFill>
              </a:rPr>
              <a:t>Transfers </a:t>
            </a:r>
          </a:p>
        </p:txBody>
      </p:sp>
      <p:sp>
        <p:nvSpPr>
          <p:cNvPr id="6" name="Rectángulo 5">
            <a:extLst>
              <a:ext uri="{FF2B5EF4-FFF2-40B4-BE49-F238E27FC236}">
                <a16:creationId xmlns:a16="http://schemas.microsoft.com/office/drawing/2014/main" id="{F65D647A-A8DD-124D-BD9A-AEF3BEC5360B}"/>
              </a:ext>
            </a:extLst>
          </p:cNvPr>
          <p:cNvSpPr/>
          <p:nvPr/>
        </p:nvSpPr>
        <p:spPr>
          <a:xfrm>
            <a:off x="4465319" y="1484381"/>
            <a:ext cx="6855350" cy="394843"/>
          </a:xfrm>
          <a:prstGeom prst="rect">
            <a:avLst/>
          </a:prstGeom>
          <a:solidFill>
            <a:srgbClr val="DEEDF1">
              <a:lumMod val="25000"/>
            </a:srgbClr>
          </a:solidFill>
          <a:ln w="12700" cap="flat" cmpd="sng" algn="ctr">
            <a:noFill/>
            <a:prstDash val="solid"/>
            <a:miter lim="800000"/>
          </a:ln>
          <a:effectLst/>
        </p:spPr>
        <p:txBody>
          <a:bodyPr vert="horz" rtlCol="0" anchor="ctr"/>
          <a:lstStyle/>
          <a:p>
            <a:pPr marR="0" lvl="0" indent="0" algn="ctr" fontAlgn="auto">
              <a:lnSpc>
                <a:spcPct val="100000"/>
              </a:lnSpc>
              <a:spcBef>
                <a:spcPts val="0"/>
              </a:spcBef>
              <a:spcAft>
                <a:spcPts val="0"/>
              </a:spcAft>
              <a:buClrTx/>
              <a:buSzTx/>
              <a:buFontTx/>
              <a:buNone/>
              <a:tabLst/>
              <a:defRPr/>
            </a:pPr>
            <a:r>
              <a:rPr lang="en-AU" sz="1600" b="1" kern="0">
                <a:solidFill>
                  <a:prstClr val="white"/>
                </a:solidFill>
              </a:rPr>
              <a:t>Modules*</a:t>
            </a:r>
          </a:p>
        </p:txBody>
      </p:sp>
      <p:sp>
        <p:nvSpPr>
          <p:cNvPr id="7" name="Rectángulo 6">
            <a:extLst>
              <a:ext uri="{FF2B5EF4-FFF2-40B4-BE49-F238E27FC236}">
                <a16:creationId xmlns:a16="http://schemas.microsoft.com/office/drawing/2014/main" id="{61512447-3B21-A124-085F-81FEEBE18C2E}"/>
              </a:ext>
            </a:extLst>
          </p:cNvPr>
          <p:cNvSpPr/>
          <p:nvPr/>
        </p:nvSpPr>
        <p:spPr>
          <a:xfrm>
            <a:off x="956263" y="1964179"/>
            <a:ext cx="3364034" cy="685739"/>
          </a:xfrm>
          <a:prstGeom prst="rect">
            <a:avLst/>
          </a:prstGeom>
          <a:solidFill>
            <a:srgbClr val="DEEDF1"/>
          </a:solidFill>
          <a:ln w="12700" cap="flat" cmpd="sng" algn="ctr">
            <a:noFill/>
            <a:prstDash val="solid"/>
            <a:miter lim="800000"/>
          </a:ln>
          <a:effectLst/>
        </p:spPr>
        <p:txBody>
          <a:bodyPr rtlCol="0" anchor="ctr"/>
          <a:lstStyle/>
          <a:p>
            <a:pPr marL="355600" indent="-355600">
              <a:spcAft>
                <a:spcPts val="600"/>
              </a:spcAft>
            </a:pPr>
            <a:r>
              <a:rPr lang="en-AU" sz="1600" b="1" kern="0">
                <a:solidFill>
                  <a:srgbClr val="DEEDF1">
                    <a:lumMod val="25000"/>
                  </a:srgbClr>
                </a:solidFill>
              </a:rPr>
              <a:t>1. Payments</a:t>
            </a:r>
          </a:p>
        </p:txBody>
      </p:sp>
      <p:sp>
        <p:nvSpPr>
          <p:cNvPr id="8" name="Rectángulo 15">
            <a:extLst>
              <a:ext uri="{FF2B5EF4-FFF2-40B4-BE49-F238E27FC236}">
                <a16:creationId xmlns:a16="http://schemas.microsoft.com/office/drawing/2014/main" id="{4A67073B-9137-5E7E-B60F-F87151590763}"/>
              </a:ext>
            </a:extLst>
          </p:cNvPr>
          <p:cNvSpPr/>
          <p:nvPr/>
        </p:nvSpPr>
        <p:spPr>
          <a:xfrm>
            <a:off x="956263" y="1480732"/>
            <a:ext cx="3364034" cy="346124"/>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kern="0">
                <a:solidFill>
                  <a:prstClr val="white"/>
                </a:solidFill>
                <a:latin typeface="Santander Text" panose="020B0504020201020104" pitchFamily="34" charset="0"/>
              </a:rPr>
              <a:t>Module Aggregation</a:t>
            </a:r>
          </a:p>
        </p:txBody>
      </p:sp>
      <p:sp>
        <p:nvSpPr>
          <p:cNvPr id="9" name="CuadroTexto 8">
            <a:extLst>
              <a:ext uri="{FF2B5EF4-FFF2-40B4-BE49-F238E27FC236}">
                <a16:creationId xmlns:a16="http://schemas.microsoft.com/office/drawing/2014/main" id="{1EAF023A-0B8B-2292-BC4B-04B94BF595DC}"/>
              </a:ext>
            </a:extLst>
          </p:cNvPr>
          <p:cNvSpPr txBox="1"/>
          <p:nvPr/>
        </p:nvSpPr>
        <p:spPr>
          <a:xfrm>
            <a:off x="2213616" y="6305956"/>
            <a:ext cx="9107054" cy="307777"/>
          </a:xfrm>
          <a:prstGeom prst="rect">
            <a:avLst/>
          </a:prstGeom>
          <a:noFill/>
        </p:spPr>
        <p:txBody>
          <a:bodyPr wrap="square">
            <a:spAutoFit/>
          </a:bodyPr>
          <a:lstStyle/>
          <a:p>
            <a:r>
              <a:rPr lang="en-AU" sz="1400" kern="0"/>
              <a:t>* Module breakdown re-definition is currently underway</a:t>
            </a:r>
            <a:endParaRPr lang="es-ES" sz="1400"/>
          </a:p>
        </p:txBody>
      </p:sp>
      <p:sp>
        <p:nvSpPr>
          <p:cNvPr id="10" name="Rectángulo 9">
            <a:extLst>
              <a:ext uri="{FF2B5EF4-FFF2-40B4-BE49-F238E27FC236}">
                <a16:creationId xmlns:a16="http://schemas.microsoft.com/office/drawing/2014/main" id="{D8CC936D-37F8-97D8-C8AB-189BCE9B64C9}"/>
              </a:ext>
            </a:extLst>
          </p:cNvPr>
          <p:cNvSpPr/>
          <p:nvPr/>
        </p:nvSpPr>
        <p:spPr>
          <a:xfrm>
            <a:off x="956263" y="2847402"/>
            <a:ext cx="3364034" cy="685739"/>
          </a:xfrm>
          <a:prstGeom prst="rect">
            <a:avLst/>
          </a:prstGeom>
          <a:solidFill>
            <a:srgbClr val="DEEDF1"/>
          </a:solidFill>
          <a:ln w="12700" cap="flat" cmpd="sng" algn="ctr">
            <a:noFill/>
            <a:prstDash val="solid"/>
            <a:miter lim="800000"/>
          </a:ln>
          <a:effectLst/>
        </p:spPr>
        <p:txBody>
          <a:bodyPr rtlCol="0" anchor="ctr"/>
          <a:lstStyle/>
          <a:p>
            <a:pPr marL="355600" indent="-355600">
              <a:spcAft>
                <a:spcPts val="600"/>
              </a:spcAft>
            </a:pPr>
            <a:r>
              <a:rPr lang="en-AU" sz="1600" b="1" kern="0">
                <a:solidFill>
                  <a:srgbClr val="DEEDF1">
                    <a:lumMod val="25000"/>
                  </a:srgbClr>
                </a:solidFill>
              </a:rPr>
              <a:t>2. FX &amp; Liquidity</a:t>
            </a:r>
          </a:p>
        </p:txBody>
      </p:sp>
      <p:sp>
        <p:nvSpPr>
          <p:cNvPr id="11" name="Rectángulo 10">
            <a:extLst>
              <a:ext uri="{FF2B5EF4-FFF2-40B4-BE49-F238E27FC236}">
                <a16:creationId xmlns:a16="http://schemas.microsoft.com/office/drawing/2014/main" id="{339AF40B-AD0C-9284-D218-F6B1C794BE3F}"/>
              </a:ext>
            </a:extLst>
          </p:cNvPr>
          <p:cNvSpPr/>
          <p:nvPr/>
        </p:nvSpPr>
        <p:spPr>
          <a:xfrm>
            <a:off x="6794994" y="1964178"/>
            <a:ext cx="2196000" cy="685739"/>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spcAft>
                <a:spcPts val="600"/>
              </a:spcAft>
              <a:defRPr/>
            </a:pPr>
            <a:r>
              <a:rPr lang="en-AU" sz="1400" kern="0">
                <a:solidFill>
                  <a:srgbClr val="DEEDF1">
                    <a:lumMod val="25000"/>
                  </a:srgbClr>
                </a:solidFill>
              </a:rPr>
              <a:t>Direct Debits </a:t>
            </a:r>
          </a:p>
        </p:txBody>
      </p:sp>
      <p:sp>
        <p:nvSpPr>
          <p:cNvPr id="12" name="Rectángulo 11">
            <a:extLst>
              <a:ext uri="{FF2B5EF4-FFF2-40B4-BE49-F238E27FC236}">
                <a16:creationId xmlns:a16="http://schemas.microsoft.com/office/drawing/2014/main" id="{41571CB6-725B-7449-6EFE-92FE3A9C6E6C}"/>
              </a:ext>
            </a:extLst>
          </p:cNvPr>
          <p:cNvSpPr/>
          <p:nvPr/>
        </p:nvSpPr>
        <p:spPr>
          <a:xfrm>
            <a:off x="9124669" y="1964179"/>
            <a:ext cx="2196000" cy="685739"/>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spcAft>
                <a:spcPts val="600"/>
              </a:spcAft>
              <a:defRPr/>
            </a:pPr>
            <a:r>
              <a:rPr lang="en-AU" sz="1400" kern="0">
                <a:solidFill>
                  <a:srgbClr val="DEEDF1">
                    <a:lumMod val="25000"/>
                  </a:srgbClr>
                </a:solidFill>
              </a:rPr>
              <a:t>Checks </a:t>
            </a:r>
          </a:p>
        </p:txBody>
      </p:sp>
      <p:sp>
        <p:nvSpPr>
          <p:cNvPr id="14" name="Rectángulo 13">
            <a:extLst>
              <a:ext uri="{FF2B5EF4-FFF2-40B4-BE49-F238E27FC236}">
                <a16:creationId xmlns:a16="http://schemas.microsoft.com/office/drawing/2014/main" id="{1291640D-BC65-EB9A-F9C1-F4D9C4AAD22D}"/>
              </a:ext>
            </a:extLst>
          </p:cNvPr>
          <p:cNvSpPr/>
          <p:nvPr/>
        </p:nvSpPr>
        <p:spPr>
          <a:xfrm>
            <a:off x="4465319" y="2847402"/>
            <a:ext cx="2196000" cy="685739"/>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spcAft>
                <a:spcPts val="600"/>
              </a:spcAft>
              <a:defRPr/>
            </a:pPr>
            <a:r>
              <a:rPr lang="en-AU" sz="1400" kern="0">
                <a:solidFill>
                  <a:srgbClr val="DEEDF1">
                    <a:lumMod val="25000"/>
                  </a:srgbClr>
                </a:solidFill>
              </a:rPr>
              <a:t>FX - Trading </a:t>
            </a:r>
          </a:p>
        </p:txBody>
      </p:sp>
      <p:sp>
        <p:nvSpPr>
          <p:cNvPr id="15" name="Rectángulo 14">
            <a:extLst>
              <a:ext uri="{FF2B5EF4-FFF2-40B4-BE49-F238E27FC236}">
                <a16:creationId xmlns:a16="http://schemas.microsoft.com/office/drawing/2014/main" id="{7AEBFEA1-D2BA-6572-0935-913F9B577B75}"/>
              </a:ext>
            </a:extLst>
          </p:cNvPr>
          <p:cNvSpPr/>
          <p:nvPr/>
        </p:nvSpPr>
        <p:spPr>
          <a:xfrm>
            <a:off x="6794994" y="2847401"/>
            <a:ext cx="2196000" cy="685739"/>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spcAft>
                <a:spcPts val="600"/>
              </a:spcAft>
              <a:defRPr/>
            </a:pPr>
            <a:r>
              <a:rPr lang="en-AU" sz="1400" kern="0">
                <a:solidFill>
                  <a:srgbClr val="DEEDF1">
                    <a:lumMod val="25000"/>
                  </a:srgbClr>
                </a:solidFill>
              </a:rPr>
              <a:t>FX - Transactional</a:t>
            </a:r>
          </a:p>
        </p:txBody>
      </p:sp>
      <p:sp>
        <p:nvSpPr>
          <p:cNvPr id="16" name="Rectángulo 15">
            <a:extLst>
              <a:ext uri="{FF2B5EF4-FFF2-40B4-BE49-F238E27FC236}">
                <a16:creationId xmlns:a16="http://schemas.microsoft.com/office/drawing/2014/main" id="{8A4E72E4-6425-C247-B819-E0B6EE045F6D}"/>
              </a:ext>
            </a:extLst>
          </p:cNvPr>
          <p:cNvSpPr/>
          <p:nvPr/>
        </p:nvSpPr>
        <p:spPr>
          <a:xfrm>
            <a:off x="9124669" y="2847402"/>
            <a:ext cx="2196000" cy="685739"/>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spcAft>
                <a:spcPts val="600"/>
              </a:spcAft>
              <a:defRPr/>
            </a:pPr>
            <a:r>
              <a:rPr lang="en-AU" sz="1400" kern="0">
                <a:solidFill>
                  <a:srgbClr val="DEEDF1">
                    <a:lumMod val="25000"/>
                  </a:srgbClr>
                </a:solidFill>
              </a:rPr>
              <a:t>Central Liquidity </a:t>
            </a:r>
          </a:p>
        </p:txBody>
      </p:sp>
    </p:spTree>
    <p:extLst>
      <p:ext uri="{BB962C8B-B14F-4D97-AF65-F5344CB8AC3E}">
        <p14:creationId xmlns:p14="http://schemas.microsoft.com/office/powerpoint/2010/main" val="1664084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64B3DD-B007-640B-2344-269343C38233}"/>
              </a:ext>
            </a:extLst>
          </p:cNvPr>
          <p:cNvSpPr txBox="1">
            <a:spLocks/>
          </p:cNvSpPr>
          <p:nvPr/>
        </p:nvSpPr>
        <p:spPr>
          <a:xfrm>
            <a:off x="640812" y="637040"/>
            <a:ext cx="10758733" cy="836992"/>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lang="en-US" sz="2800" b="1" kern="1200" dirty="0">
                <a:solidFill>
                  <a:schemeClr val="accent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s-ES" sz="2800" b="1" i="0" u="none" strike="noStrike" kern="1200" cap="none" spc="0" normalizeH="0" baseline="0" noProof="0" err="1">
                <a:ln>
                  <a:noFill/>
                </a:ln>
                <a:solidFill>
                  <a:srgbClr val="EB0000"/>
                </a:solidFill>
                <a:effectLst/>
                <a:uLnTx/>
                <a:uFillTx/>
                <a:latin typeface="Santander Headline" panose="020B0504020201020104" pitchFamily="34" charset="0"/>
                <a:ea typeface="+mj-ea"/>
                <a:cs typeface="+mj-cs"/>
              </a:rPr>
              <a:t>PagoNxt</a:t>
            </a:r>
            <a:r>
              <a:rPr lang="es-ES">
                <a:solidFill>
                  <a:srgbClr val="EB0000"/>
                </a:solidFill>
                <a:latin typeface="Santander Headline" panose="020B0504020201020104" pitchFamily="34" charset="0"/>
              </a:rPr>
              <a:t>. </a:t>
            </a:r>
            <a:r>
              <a:rPr lang="es-ES" err="1">
                <a:solidFill>
                  <a:schemeClr val="bg1">
                    <a:lumMod val="75000"/>
                  </a:schemeClr>
                </a:solidFill>
              </a:rPr>
              <a:t>Merchants</a:t>
            </a:r>
            <a:r>
              <a:rPr lang="es-ES">
                <a:solidFill>
                  <a:schemeClr val="bg1">
                    <a:lumMod val="75000"/>
                  </a:schemeClr>
                </a:solidFill>
              </a:rPr>
              <a:t>  </a:t>
            </a:r>
          </a:p>
        </p:txBody>
      </p:sp>
      <p:sp>
        <p:nvSpPr>
          <p:cNvPr id="3" name="Text Placeholder 2">
            <a:extLst>
              <a:ext uri="{FF2B5EF4-FFF2-40B4-BE49-F238E27FC236}">
                <a16:creationId xmlns:a16="http://schemas.microsoft.com/office/drawing/2014/main" id="{AA5B9125-ED74-45DB-9812-3EF7553A7506}"/>
              </a:ext>
            </a:extLst>
          </p:cNvPr>
          <p:cNvSpPr>
            <a:spLocks noGrp="1"/>
          </p:cNvSpPr>
          <p:nvPr>
            <p:ph type="body" sz="quarter" idx="14"/>
          </p:nvPr>
        </p:nvSpPr>
        <p:spPr>
          <a:xfrm>
            <a:off x="640811" y="367378"/>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6" name="Rectángulo 5">
            <a:extLst>
              <a:ext uri="{FF2B5EF4-FFF2-40B4-BE49-F238E27FC236}">
                <a16:creationId xmlns:a16="http://schemas.microsoft.com/office/drawing/2014/main" id="{39E253F0-588B-2B02-3CAB-164B90F19701}"/>
              </a:ext>
            </a:extLst>
          </p:cNvPr>
          <p:cNvSpPr/>
          <p:nvPr/>
        </p:nvSpPr>
        <p:spPr>
          <a:xfrm>
            <a:off x="4465320" y="1484381"/>
            <a:ext cx="6855350" cy="394843"/>
          </a:xfrm>
          <a:prstGeom prst="rect">
            <a:avLst/>
          </a:prstGeom>
          <a:solidFill>
            <a:srgbClr val="DEEDF1">
              <a:lumMod val="25000"/>
            </a:srgbClr>
          </a:solidFill>
          <a:ln w="12700" cap="flat" cmpd="sng" algn="ctr">
            <a:noFill/>
            <a:prstDash val="solid"/>
            <a:miter lim="800000"/>
          </a:ln>
          <a:effectLst/>
        </p:spPr>
        <p:txBody>
          <a:bodyPr vert="horz" rtlCol="0" anchor="ctr"/>
          <a:lstStyle/>
          <a:p>
            <a:pPr marR="0" lvl="0" indent="0" algn="ctr" fontAlgn="auto">
              <a:lnSpc>
                <a:spcPct val="100000"/>
              </a:lnSpc>
              <a:spcBef>
                <a:spcPts val="0"/>
              </a:spcBef>
              <a:spcAft>
                <a:spcPts val="0"/>
              </a:spcAft>
              <a:buClrTx/>
              <a:buSzTx/>
              <a:buFontTx/>
              <a:buNone/>
              <a:tabLst/>
              <a:defRPr/>
            </a:pPr>
            <a:r>
              <a:rPr lang="en-AU" sz="1600" b="1" kern="0">
                <a:solidFill>
                  <a:prstClr val="white"/>
                </a:solidFill>
              </a:rPr>
              <a:t>Modules*</a:t>
            </a:r>
          </a:p>
        </p:txBody>
      </p:sp>
      <p:sp>
        <p:nvSpPr>
          <p:cNvPr id="23" name="Rectángulo 22">
            <a:extLst>
              <a:ext uri="{FF2B5EF4-FFF2-40B4-BE49-F238E27FC236}">
                <a16:creationId xmlns:a16="http://schemas.microsoft.com/office/drawing/2014/main" id="{8E5ECAE2-7AEF-F8D2-FEA6-58F83C50F8C7}"/>
              </a:ext>
            </a:extLst>
          </p:cNvPr>
          <p:cNvSpPr/>
          <p:nvPr/>
        </p:nvSpPr>
        <p:spPr>
          <a:xfrm>
            <a:off x="956263" y="1889573"/>
            <a:ext cx="3364034" cy="685739"/>
          </a:xfrm>
          <a:prstGeom prst="rect">
            <a:avLst/>
          </a:prstGeom>
          <a:solidFill>
            <a:srgbClr val="DEEDF1"/>
          </a:solidFill>
          <a:ln w="12700" cap="flat" cmpd="sng" algn="ctr">
            <a:noFill/>
            <a:prstDash val="solid"/>
            <a:miter lim="800000"/>
          </a:ln>
          <a:effectLst/>
        </p:spPr>
        <p:txBody>
          <a:bodyPr rtlCol="0" anchor="ctr"/>
          <a:lstStyle>
            <a:defPPr>
              <a:defRPr lang="es-ES"/>
            </a:defPPr>
            <a:lvl1pPr marL="0" algn="l" defTabSz="914400" rtl="0" eaLnBrk="1" latinLnBrk="0" hangingPunct="1">
              <a:defRPr sz="1800" kern="1200">
                <a:solidFill>
                  <a:sysClr val="window" lastClr="FFFFFF"/>
                </a:solidFill>
                <a:latin typeface="Arial"/>
              </a:defRPr>
            </a:lvl1pPr>
            <a:lvl2pPr marL="457200" algn="l" defTabSz="914400" rtl="0" eaLnBrk="1" latinLnBrk="0" hangingPunct="1">
              <a:defRPr sz="1800" kern="1200">
                <a:solidFill>
                  <a:sysClr val="window" lastClr="FFFFFF"/>
                </a:solidFill>
                <a:latin typeface="Arial"/>
              </a:defRPr>
            </a:lvl2pPr>
            <a:lvl3pPr marL="914400" algn="l" defTabSz="914400" rtl="0" eaLnBrk="1" latinLnBrk="0" hangingPunct="1">
              <a:defRPr sz="1800" kern="1200">
                <a:solidFill>
                  <a:sysClr val="window" lastClr="FFFFFF"/>
                </a:solidFill>
                <a:latin typeface="Arial"/>
              </a:defRPr>
            </a:lvl3pPr>
            <a:lvl4pPr marL="1371600" algn="l" defTabSz="914400" rtl="0" eaLnBrk="1" latinLnBrk="0" hangingPunct="1">
              <a:defRPr sz="1800" kern="1200">
                <a:solidFill>
                  <a:sysClr val="window" lastClr="FFFFFF"/>
                </a:solidFill>
                <a:latin typeface="Arial"/>
              </a:defRPr>
            </a:lvl4pPr>
            <a:lvl5pPr marL="1828800" algn="l" defTabSz="914400" rtl="0" eaLnBrk="1" latinLnBrk="0" hangingPunct="1">
              <a:defRPr sz="1800" kern="1200">
                <a:solidFill>
                  <a:sysClr val="window" lastClr="FFFFFF"/>
                </a:solidFill>
                <a:latin typeface="Arial"/>
              </a:defRPr>
            </a:lvl5pPr>
            <a:lvl6pPr marL="2286000" algn="l" defTabSz="914400" rtl="0" eaLnBrk="1" latinLnBrk="0" hangingPunct="1">
              <a:defRPr sz="1800" kern="1200">
                <a:solidFill>
                  <a:sysClr val="window" lastClr="FFFFFF"/>
                </a:solidFill>
                <a:latin typeface="Arial"/>
              </a:defRPr>
            </a:lvl6pPr>
            <a:lvl7pPr marL="2743200" algn="l" defTabSz="914400" rtl="0" eaLnBrk="1" latinLnBrk="0" hangingPunct="1">
              <a:defRPr sz="1800" kern="1200">
                <a:solidFill>
                  <a:sysClr val="window" lastClr="FFFFFF"/>
                </a:solidFill>
                <a:latin typeface="Arial"/>
              </a:defRPr>
            </a:lvl7pPr>
            <a:lvl8pPr marL="3200400" algn="l" defTabSz="914400" rtl="0" eaLnBrk="1" latinLnBrk="0" hangingPunct="1">
              <a:defRPr sz="1800" kern="1200">
                <a:solidFill>
                  <a:sysClr val="window" lastClr="FFFFFF"/>
                </a:solidFill>
                <a:latin typeface="Arial"/>
              </a:defRPr>
            </a:lvl8pPr>
            <a:lvl9pPr marL="3657600" algn="l" defTabSz="914400" rtl="0" eaLnBrk="1" latinLnBrk="0" hangingPunct="1">
              <a:defRPr sz="1800" kern="1200">
                <a:solidFill>
                  <a:sysClr val="window" lastClr="FFFFFF"/>
                </a:solidFill>
                <a:latin typeface="Arial"/>
              </a:defRPr>
            </a:lvl9pPr>
          </a:lstStyle>
          <a:p>
            <a:pPr marL="355600" indent="-355600">
              <a:spcAft>
                <a:spcPts val="600"/>
              </a:spcAft>
            </a:pPr>
            <a:r>
              <a:rPr lang="en-AU" sz="1600" b="1" kern="0">
                <a:solidFill>
                  <a:srgbClr val="DEEDF1">
                    <a:lumMod val="25000"/>
                  </a:srgbClr>
                </a:solidFill>
              </a:rPr>
              <a:t>1. Merchants</a:t>
            </a:r>
          </a:p>
        </p:txBody>
      </p:sp>
      <p:sp>
        <p:nvSpPr>
          <p:cNvPr id="8" name="Rectángulo 15">
            <a:extLst>
              <a:ext uri="{FF2B5EF4-FFF2-40B4-BE49-F238E27FC236}">
                <a16:creationId xmlns:a16="http://schemas.microsoft.com/office/drawing/2014/main" id="{614EEDBE-21F9-6F8C-0921-4564020C7B34}"/>
              </a:ext>
            </a:extLst>
          </p:cNvPr>
          <p:cNvSpPr/>
          <p:nvPr/>
        </p:nvSpPr>
        <p:spPr>
          <a:xfrm>
            <a:off x="956263" y="1480732"/>
            <a:ext cx="3364034" cy="346124"/>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kern="0">
                <a:solidFill>
                  <a:prstClr val="white"/>
                </a:solidFill>
                <a:latin typeface="Santander Text" panose="020B0504020201020104" pitchFamily="34" charset="0"/>
              </a:rPr>
              <a:t>Module Aggregation</a:t>
            </a:r>
          </a:p>
        </p:txBody>
      </p:sp>
      <p:sp>
        <p:nvSpPr>
          <p:cNvPr id="13" name="Rectángulo 12">
            <a:extLst>
              <a:ext uri="{FF2B5EF4-FFF2-40B4-BE49-F238E27FC236}">
                <a16:creationId xmlns:a16="http://schemas.microsoft.com/office/drawing/2014/main" id="{D589CA24-2244-6CD6-E55D-5B31719ED248}"/>
              </a:ext>
            </a:extLst>
          </p:cNvPr>
          <p:cNvSpPr/>
          <p:nvPr/>
        </p:nvSpPr>
        <p:spPr>
          <a:xfrm>
            <a:off x="4486496" y="1913886"/>
            <a:ext cx="6770417" cy="685739"/>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spcAft>
                <a:spcPts val="600"/>
              </a:spcAft>
              <a:defRPr/>
            </a:pPr>
            <a:r>
              <a:rPr lang="en-AU" sz="1400" kern="0">
                <a:solidFill>
                  <a:srgbClr val="DEEDF1">
                    <a:lumMod val="25000"/>
                  </a:srgbClr>
                </a:solidFill>
              </a:rPr>
              <a:t>GetNet  </a:t>
            </a:r>
          </a:p>
        </p:txBody>
      </p:sp>
      <p:sp>
        <p:nvSpPr>
          <p:cNvPr id="9" name="CuadroTexto 8">
            <a:extLst>
              <a:ext uri="{FF2B5EF4-FFF2-40B4-BE49-F238E27FC236}">
                <a16:creationId xmlns:a16="http://schemas.microsoft.com/office/drawing/2014/main" id="{8532282C-B54D-3FBB-12E3-B35E56CECAB5}"/>
              </a:ext>
            </a:extLst>
          </p:cNvPr>
          <p:cNvSpPr txBox="1"/>
          <p:nvPr/>
        </p:nvSpPr>
        <p:spPr>
          <a:xfrm>
            <a:off x="2213616" y="6305956"/>
            <a:ext cx="9107054" cy="307777"/>
          </a:xfrm>
          <a:prstGeom prst="rect">
            <a:avLst/>
          </a:prstGeom>
          <a:noFill/>
        </p:spPr>
        <p:txBody>
          <a:bodyPr wrap="square">
            <a:spAutoFit/>
          </a:bodyPr>
          <a:lstStyle/>
          <a:p>
            <a:r>
              <a:rPr lang="en-AU" sz="1400" kern="0"/>
              <a:t>* Module breakdown re-definition is currently underway</a:t>
            </a:r>
            <a:endParaRPr lang="es-ES" sz="1400"/>
          </a:p>
        </p:txBody>
      </p:sp>
    </p:spTree>
    <p:extLst>
      <p:ext uri="{BB962C8B-B14F-4D97-AF65-F5344CB8AC3E}">
        <p14:creationId xmlns:p14="http://schemas.microsoft.com/office/powerpoint/2010/main" val="586399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D9A-5F9B-98EF-BF07-B9718052984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F43DEBF-C01D-E6B1-8345-861C380FD610}"/>
              </a:ext>
            </a:extLst>
          </p:cNvPr>
          <p:cNvSpPr txBox="1">
            <a:spLocks/>
          </p:cNvSpPr>
          <p:nvPr/>
        </p:nvSpPr>
        <p:spPr>
          <a:xfrm>
            <a:off x="640812" y="637040"/>
            <a:ext cx="10758733" cy="836992"/>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lang="en-US" sz="2800" b="1" kern="1200" dirty="0">
                <a:solidFill>
                  <a:schemeClr val="accent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s-ES" sz="2800" b="1" i="0" u="none" strike="noStrike" kern="1200" cap="none" spc="0" normalizeH="0" baseline="0" noProof="0" err="1">
                <a:ln>
                  <a:noFill/>
                </a:ln>
                <a:solidFill>
                  <a:srgbClr val="EB0000"/>
                </a:solidFill>
                <a:effectLst/>
                <a:uLnTx/>
                <a:uFillTx/>
                <a:latin typeface="Santander Headline" panose="020B0504020201020104" pitchFamily="34" charset="0"/>
                <a:ea typeface="+mj-ea"/>
                <a:cs typeface="+mj-cs"/>
              </a:rPr>
              <a:t>PagoNxt</a:t>
            </a:r>
            <a:r>
              <a:rPr lang="es-ES">
                <a:solidFill>
                  <a:srgbClr val="EB0000"/>
                </a:solidFill>
                <a:latin typeface="Santander Headline" panose="020B0504020201020104" pitchFamily="34" charset="0"/>
              </a:rPr>
              <a:t>. </a:t>
            </a:r>
            <a:r>
              <a:rPr lang="es-ES" err="1">
                <a:solidFill>
                  <a:schemeClr val="bg1">
                    <a:lumMod val="75000"/>
                  </a:schemeClr>
                </a:solidFill>
              </a:rPr>
              <a:t>Merchants</a:t>
            </a:r>
            <a:r>
              <a:rPr lang="es-ES">
                <a:solidFill>
                  <a:schemeClr val="bg1">
                    <a:lumMod val="75000"/>
                  </a:schemeClr>
                </a:solidFill>
              </a:rPr>
              <a:t> (Front)  </a:t>
            </a:r>
          </a:p>
        </p:txBody>
      </p:sp>
      <p:sp>
        <p:nvSpPr>
          <p:cNvPr id="3" name="Text Placeholder 2">
            <a:extLst>
              <a:ext uri="{FF2B5EF4-FFF2-40B4-BE49-F238E27FC236}">
                <a16:creationId xmlns:a16="http://schemas.microsoft.com/office/drawing/2014/main" id="{F62A3A7E-FCB6-777A-D495-68C822E86B38}"/>
              </a:ext>
            </a:extLst>
          </p:cNvPr>
          <p:cNvSpPr>
            <a:spLocks noGrp="1"/>
          </p:cNvSpPr>
          <p:nvPr>
            <p:ph type="body" sz="quarter" idx="14"/>
          </p:nvPr>
        </p:nvSpPr>
        <p:spPr>
          <a:xfrm>
            <a:off x="640811" y="367378"/>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6" name="Rectángulo 5">
            <a:extLst>
              <a:ext uri="{FF2B5EF4-FFF2-40B4-BE49-F238E27FC236}">
                <a16:creationId xmlns:a16="http://schemas.microsoft.com/office/drawing/2014/main" id="{0493445C-B5D4-E46D-3AAB-50EA07D6D234}"/>
              </a:ext>
            </a:extLst>
          </p:cNvPr>
          <p:cNvSpPr/>
          <p:nvPr/>
        </p:nvSpPr>
        <p:spPr>
          <a:xfrm>
            <a:off x="4465320" y="1484381"/>
            <a:ext cx="6855350" cy="394843"/>
          </a:xfrm>
          <a:prstGeom prst="rect">
            <a:avLst/>
          </a:prstGeom>
          <a:solidFill>
            <a:srgbClr val="DEEDF1">
              <a:lumMod val="25000"/>
            </a:srgbClr>
          </a:solidFill>
          <a:ln w="12700" cap="flat" cmpd="sng" algn="ctr">
            <a:noFill/>
            <a:prstDash val="solid"/>
            <a:miter lim="800000"/>
          </a:ln>
          <a:effectLst/>
        </p:spPr>
        <p:txBody>
          <a:bodyPr vert="horz" rtlCol="0" anchor="ctr"/>
          <a:lstStyle/>
          <a:p>
            <a:pPr marR="0" lvl="0" indent="0" algn="ctr" fontAlgn="auto">
              <a:lnSpc>
                <a:spcPct val="100000"/>
              </a:lnSpc>
              <a:spcBef>
                <a:spcPts val="0"/>
              </a:spcBef>
              <a:spcAft>
                <a:spcPts val="0"/>
              </a:spcAft>
              <a:buClrTx/>
              <a:buSzTx/>
              <a:buFontTx/>
              <a:buNone/>
              <a:tabLst/>
              <a:defRPr/>
            </a:pPr>
            <a:r>
              <a:rPr lang="en-AU" sz="1600" b="1" kern="0">
                <a:solidFill>
                  <a:prstClr val="white"/>
                </a:solidFill>
              </a:rPr>
              <a:t>Modules*</a:t>
            </a:r>
          </a:p>
        </p:txBody>
      </p:sp>
      <p:sp>
        <p:nvSpPr>
          <p:cNvPr id="23" name="Rectángulo 22">
            <a:extLst>
              <a:ext uri="{FF2B5EF4-FFF2-40B4-BE49-F238E27FC236}">
                <a16:creationId xmlns:a16="http://schemas.microsoft.com/office/drawing/2014/main" id="{CE3A1584-DAE2-2A3F-F726-0E1CC907F614}"/>
              </a:ext>
            </a:extLst>
          </p:cNvPr>
          <p:cNvSpPr/>
          <p:nvPr/>
        </p:nvSpPr>
        <p:spPr>
          <a:xfrm>
            <a:off x="956263" y="1889573"/>
            <a:ext cx="3364034" cy="685739"/>
          </a:xfrm>
          <a:prstGeom prst="rect">
            <a:avLst/>
          </a:prstGeom>
          <a:solidFill>
            <a:srgbClr val="DEEDF1"/>
          </a:solidFill>
          <a:ln w="12700" cap="flat" cmpd="sng" algn="ctr">
            <a:noFill/>
            <a:prstDash val="solid"/>
            <a:miter lim="800000"/>
          </a:ln>
          <a:effectLst/>
        </p:spPr>
        <p:txBody>
          <a:bodyPr rtlCol="0" anchor="ctr"/>
          <a:lstStyle>
            <a:defPPr>
              <a:defRPr lang="es-ES"/>
            </a:defPPr>
            <a:lvl1pPr marL="0" algn="l" defTabSz="914400" rtl="0" eaLnBrk="1" latinLnBrk="0" hangingPunct="1">
              <a:defRPr sz="1800" kern="1200">
                <a:solidFill>
                  <a:sysClr val="window" lastClr="FFFFFF"/>
                </a:solidFill>
                <a:latin typeface="Arial"/>
              </a:defRPr>
            </a:lvl1pPr>
            <a:lvl2pPr marL="457200" algn="l" defTabSz="914400" rtl="0" eaLnBrk="1" latinLnBrk="0" hangingPunct="1">
              <a:defRPr sz="1800" kern="1200">
                <a:solidFill>
                  <a:sysClr val="window" lastClr="FFFFFF"/>
                </a:solidFill>
                <a:latin typeface="Arial"/>
              </a:defRPr>
            </a:lvl2pPr>
            <a:lvl3pPr marL="914400" algn="l" defTabSz="914400" rtl="0" eaLnBrk="1" latinLnBrk="0" hangingPunct="1">
              <a:defRPr sz="1800" kern="1200">
                <a:solidFill>
                  <a:sysClr val="window" lastClr="FFFFFF"/>
                </a:solidFill>
                <a:latin typeface="Arial"/>
              </a:defRPr>
            </a:lvl3pPr>
            <a:lvl4pPr marL="1371600" algn="l" defTabSz="914400" rtl="0" eaLnBrk="1" latinLnBrk="0" hangingPunct="1">
              <a:defRPr sz="1800" kern="1200">
                <a:solidFill>
                  <a:sysClr val="window" lastClr="FFFFFF"/>
                </a:solidFill>
                <a:latin typeface="Arial"/>
              </a:defRPr>
            </a:lvl4pPr>
            <a:lvl5pPr marL="1828800" algn="l" defTabSz="914400" rtl="0" eaLnBrk="1" latinLnBrk="0" hangingPunct="1">
              <a:defRPr sz="1800" kern="1200">
                <a:solidFill>
                  <a:sysClr val="window" lastClr="FFFFFF"/>
                </a:solidFill>
                <a:latin typeface="Arial"/>
              </a:defRPr>
            </a:lvl5pPr>
            <a:lvl6pPr marL="2286000" algn="l" defTabSz="914400" rtl="0" eaLnBrk="1" latinLnBrk="0" hangingPunct="1">
              <a:defRPr sz="1800" kern="1200">
                <a:solidFill>
                  <a:sysClr val="window" lastClr="FFFFFF"/>
                </a:solidFill>
                <a:latin typeface="Arial"/>
              </a:defRPr>
            </a:lvl6pPr>
            <a:lvl7pPr marL="2743200" algn="l" defTabSz="914400" rtl="0" eaLnBrk="1" latinLnBrk="0" hangingPunct="1">
              <a:defRPr sz="1800" kern="1200">
                <a:solidFill>
                  <a:sysClr val="window" lastClr="FFFFFF"/>
                </a:solidFill>
                <a:latin typeface="Arial"/>
              </a:defRPr>
            </a:lvl7pPr>
            <a:lvl8pPr marL="3200400" algn="l" defTabSz="914400" rtl="0" eaLnBrk="1" latinLnBrk="0" hangingPunct="1">
              <a:defRPr sz="1800" kern="1200">
                <a:solidFill>
                  <a:sysClr val="window" lastClr="FFFFFF"/>
                </a:solidFill>
                <a:latin typeface="Arial"/>
              </a:defRPr>
            </a:lvl8pPr>
            <a:lvl9pPr marL="3657600" algn="l" defTabSz="914400" rtl="0" eaLnBrk="1" latinLnBrk="0" hangingPunct="1">
              <a:defRPr sz="1800" kern="1200">
                <a:solidFill>
                  <a:sysClr val="window" lastClr="FFFFFF"/>
                </a:solidFill>
                <a:latin typeface="Arial"/>
              </a:defRPr>
            </a:lvl9pPr>
          </a:lstStyle>
          <a:p>
            <a:pPr marL="355600" indent="-355600">
              <a:spcAft>
                <a:spcPts val="600"/>
              </a:spcAft>
            </a:pPr>
            <a:r>
              <a:rPr lang="en-AU" sz="1600" b="1" kern="0">
                <a:solidFill>
                  <a:srgbClr val="DEEDF1">
                    <a:lumMod val="25000"/>
                  </a:srgbClr>
                </a:solidFill>
              </a:rPr>
              <a:t>1. Merchants (Front)</a:t>
            </a:r>
          </a:p>
        </p:txBody>
      </p:sp>
      <p:sp>
        <p:nvSpPr>
          <p:cNvPr id="8" name="Rectángulo 15">
            <a:extLst>
              <a:ext uri="{FF2B5EF4-FFF2-40B4-BE49-F238E27FC236}">
                <a16:creationId xmlns:a16="http://schemas.microsoft.com/office/drawing/2014/main" id="{EA588086-E848-1CC1-65FB-B413FCE3C0B9}"/>
              </a:ext>
            </a:extLst>
          </p:cNvPr>
          <p:cNvSpPr/>
          <p:nvPr/>
        </p:nvSpPr>
        <p:spPr>
          <a:xfrm>
            <a:off x="956263" y="1480732"/>
            <a:ext cx="3364034" cy="346124"/>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kern="0">
                <a:solidFill>
                  <a:prstClr val="white"/>
                </a:solidFill>
                <a:latin typeface="Santander Text" panose="020B0504020201020104" pitchFamily="34" charset="0"/>
              </a:rPr>
              <a:t>Module Aggregation</a:t>
            </a:r>
          </a:p>
        </p:txBody>
      </p:sp>
      <p:sp>
        <p:nvSpPr>
          <p:cNvPr id="13" name="Rectángulo 12">
            <a:extLst>
              <a:ext uri="{FF2B5EF4-FFF2-40B4-BE49-F238E27FC236}">
                <a16:creationId xmlns:a16="http://schemas.microsoft.com/office/drawing/2014/main" id="{9ED15059-7D5E-3872-04A7-DD902BC0175D}"/>
              </a:ext>
            </a:extLst>
          </p:cNvPr>
          <p:cNvSpPr/>
          <p:nvPr/>
        </p:nvSpPr>
        <p:spPr>
          <a:xfrm>
            <a:off x="4486496" y="1913886"/>
            <a:ext cx="6770417" cy="685739"/>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spcAft>
                <a:spcPts val="600"/>
              </a:spcAft>
              <a:defRPr/>
            </a:pPr>
            <a:r>
              <a:rPr lang="en-AU" sz="1400" kern="0">
                <a:solidFill>
                  <a:srgbClr val="DEEDF1">
                    <a:lumMod val="25000"/>
                  </a:srgbClr>
                </a:solidFill>
              </a:rPr>
              <a:t>Merchants (Fronts)  </a:t>
            </a:r>
          </a:p>
        </p:txBody>
      </p:sp>
      <p:sp>
        <p:nvSpPr>
          <p:cNvPr id="9" name="CuadroTexto 8">
            <a:extLst>
              <a:ext uri="{FF2B5EF4-FFF2-40B4-BE49-F238E27FC236}">
                <a16:creationId xmlns:a16="http://schemas.microsoft.com/office/drawing/2014/main" id="{72A3F8DE-118D-66DF-2BC6-AA8C26163037}"/>
              </a:ext>
            </a:extLst>
          </p:cNvPr>
          <p:cNvSpPr txBox="1"/>
          <p:nvPr/>
        </p:nvSpPr>
        <p:spPr>
          <a:xfrm>
            <a:off x="2213616" y="6305956"/>
            <a:ext cx="9107054" cy="307777"/>
          </a:xfrm>
          <a:prstGeom prst="rect">
            <a:avLst/>
          </a:prstGeom>
          <a:noFill/>
        </p:spPr>
        <p:txBody>
          <a:bodyPr wrap="square">
            <a:spAutoFit/>
          </a:bodyPr>
          <a:lstStyle/>
          <a:p>
            <a:r>
              <a:rPr lang="en-AU" sz="1400" kern="0"/>
              <a:t>* Module breakdown re-definition is currently underway</a:t>
            </a:r>
            <a:endParaRPr lang="es-ES" sz="1400"/>
          </a:p>
        </p:txBody>
      </p:sp>
    </p:spTree>
    <p:extLst>
      <p:ext uri="{BB962C8B-B14F-4D97-AF65-F5344CB8AC3E}">
        <p14:creationId xmlns:p14="http://schemas.microsoft.com/office/powerpoint/2010/main" val="1448099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56E17-E603-2005-3BB8-DD9856458E79}"/>
            </a:ext>
          </a:extLst>
        </p:cNvPr>
        <p:cNvGrpSpPr/>
        <p:nvPr/>
      </p:nvGrpSpPr>
      <p:grpSpPr>
        <a:xfrm>
          <a:off x="0" y="0"/>
          <a:ext cx="0" cy="0"/>
          <a:chOff x="0" y="0"/>
          <a:chExt cx="0" cy="0"/>
        </a:xfrm>
      </p:grpSpPr>
      <p:sp>
        <p:nvSpPr>
          <p:cNvPr id="112" name="Text Placeholder 2">
            <a:extLst>
              <a:ext uri="{FF2B5EF4-FFF2-40B4-BE49-F238E27FC236}">
                <a16:creationId xmlns:a16="http://schemas.microsoft.com/office/drawing/2014/main" id="{B8FFCAF8-4906-C535-4AF0-F04470A26102}"/>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113" name="Título 1">
            <a:extLst>
              <a:ext uri="{FF2B5EF4-FFF2-40B4-BE49-F238E27FC236}">
                <a16:creationId xmlns:a16="http://schemas.microsoft.com/office/drawing/2014/main" id="{1CB83B13-9A63-4035-6E6B-9704853887BD}"/>
              </a:ext>
            </a:extLst>
          </p:cNvPr>
          <p:cNvSpPr>
            <a:spLocks noGrp="1"/>
          </p:cNvSpPr>
          <p:nvPr>
            <p:ph type="title"/>
          </p:nvPr>
        </p:nvSpPr>
        <p:spPr>
          <a:xfrm>
            <a:off x="711024" y="641900"/>
            <a:ext cx="10758733" cy="445400"/>
          </a:xfrm>
        </p:spPr>
        <p:txBody>
          <a:bodyPr/>
          <a:lstStyle/>
          <a:p>
            <a:pPr>
              <a:defRPr/>
            </a:pPr>
            <a:r>
              <a:rPr kumimoji="0" lang="es-ES" sz="2800" b="1" i="0" u="none" strike="noStrike" kern="1200" cap="none" spc="0" normalizeH="0" baseline="0" noProof="0">
                <a:ln>
                  <a:noFill/>
                </a:ln>
                <a:solidFill>
                  <a:srgbClr val="EC0000"/>
                </a:solidFill>
                <a:effectLst/>
                <a:uLnTx/>
                <a:uFillTx/>
                <a:latin typeface="Santander Headline"/>
                <a:ea typeface="+mj-ea"/>
                <a:cs typeface="+mj-cs"/>
              </a:rPr>
              <a:t>SCIB. </a:t>
            </a:r>
            <a:r>
              <a:rPr kumimoji="0" lang="es-ES" sz="2800" b="1" i="0" u="none" strike="noStrike" kern="1200" cap="none" spc="0" normalizeH="0" baseline="0" noProof="0">
                <a:ln>
                  <a:noFill/>
                </a:ln>
                <a:solidFill>
                  <a:schemeClr val="bg2">
                    <a:lumMod val="75000"/>
                  </a:schemeClr>
                </a:solidFill>
                <a:effectLst/>
                <a:uLnTx/>
                <a:uFillTx/>
                <a:latin typeface="Santander Headline"/>
                <a:ea typeface="+mj-ea"/>
                <a:cs typeface="+mj-cs"/>
              </a:rPr>
              <a:t>CIB </a:t>
            </a:r>
            <a:r>
              <a:rPr kumimoji="0" lang="es-ES" sz="2800" b="1" i="0" u="none" strike="noStrike" kern="1200" cap="none" spc="0" normalizeH="0" baseline="0" noProof="0" err="1">
                <a:ln>
                  <a:noFill/>
                </a:ln>
                <a:solidFill>
                  <a:schemeClr val="bg2">
                    <a:lumMod val="75000"/>
                  </a:schemeClr>
                </a:solidFill>
                <a:effectLst/>
                <a:uLnTx/>
                <a:uFillTx/>
                <a:latin typeface="Santander Headline"/>
                <a:ea typeface="+mj-ea"/>
                <a:cs typeface="+mj-cs"/>
              </a:rPr>
              <a:t>Specialized</a:t>
            </a:r>
            <a:r>
              <a:rPr kumimoji="0" lang="es-ES" sz="2800" b="1" i="0" u="none" strike="noStrike" kern="1200" cap="none" spc="0" normalizeH="0" baseline="0" noProof="0">
                <a:ln>
                  <a:noFill/>
                </a:ln>
                <a:solidFill>
                  <a:schemeClr val="bg2">
                    <a:lumMod val="75000"/>
                  </a:schemeClr>
                </a:solidFill>
                <a:effectLst/>
                <a:uLnTx/>
                <a:uFillTx/>
                <a:latin typeface="Santander Headline"/>
                <a:ea typeface="+mj-ea"/>
                <a:cs typeface="+mj-cs"/>
              </a:rPr>
              <a:t> </a:t>
            </a:r>
            <a:r>
              <a:rPr kumimoji="0" lang="es-ES" sz="2800" b="1" i="0" u="none" strike="noStrike" kern="1200" cap="none" spc="0" normalizeH="0" baseline="0" noProof="0" err="1">
                <a:ln>
                  <a:noFill/>
                </a:ln>
                <a:solidFill>
                  <a:schemeClr val="bg2">
                    <a:lumMod val="75000"/>
                  </a:schemeClr>
                </a:solidFill>
                <a:effectLst/>
                <a:uLnTx/>
                <a:uFillTx/>
                <a:latin typeface="Santander Headline"/>
                <a:ea typeface="+mj-ea"/>
                <a:cs typeface="+mj-cs"/>
              </a:rPr>
              <a:t>Channels</a:t>
            </a:r>
            <a:br>
              <a:rPr kumimoji="0" lang="en-AU" sz="2800" b="1" i="0" u="none" strike="noStrike" kern="1200" cap="none" spc="0" normalizeH="0" baseline="0" noProof="0">
                <a:ln>
                  <a:noFill/>
                </a:ln>
                <a:solidFill>
                  <a:srgbClr val="BFBFBF"/>
                </a:solidFill>
                <a:effectLst/>
                <a:uLnTx/>
                <a:uFillTx/>
                <a:latin typeface="Santander Headline"/>
                <a:ea typeface="+mj-ea"/>
                <a:cs typeface="+mj-cs"/>
              </a:rPr>
            </a:br>
            <a:endParaRPr lang="en-US">
              <a:solidFill>
                <a:schemeClr val="bg1">
                  <a:lumMod val="75000"/>
                </a:schemeClr>
              </a:solidFill>
            </a:endParaRPr>
          </a:p>
        </p:txBody>
      </p:sp>
      <p:sp>
        <p:nvSpPr>
          <p:cNvPr id="15" name="Rectángulo 15">
            <a:extLst>
              <a:ext uri="{FF2B5EF4-FFF2-40B4-BE49-F238E27FC236}">
                <a16:creationId xmlns:a16="http://schemas.microsoft.com/office/drawing/2014/main" id="{DD642B99-D917-54E6-82B0-958F5C0B8202}"/>
              </a:ext>
            </a:extLst>
          </p:cNvPr>
          <p:cNvSpPr/>
          <p:nvPr/>
        </p:nvSpPr>
        <p:spPr>
          <a:xfrm>
            <a:off x="4318803" y="1875926"/>
            <a:ext cx="7551328" cy="240476"/>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kern="0">
                <a:solidFill>
                  <a:prstClr val="white"/>
                </a:solidFill>
                <a:latin typeface="Santander Text" panose="020B0504020201020104" pitchFamily="34" charset="0"/>
              </a:rPr>
              <a:t>Modules</a:t>
            </a:r>
          </a:p>
        </p:txBody>
      </p:sp>
      <p:sp>
        <p:nvSpPr>
          <p:cNvPr id="8" name="Rectángulo 9">
            <a:extLst>
              <a:ext uri="{FF2B5EF4-FFF2-40B4-BE49-F238E27FC236}">
                <a16:creationId xmlns:a16="http://schemas.microsoft.com/office/drawing/2014/main" id="{30172154-9E16-0C46-A682-9523B59A47D4}"/>
              </a:ext>
            </a:extLst>
          </p:cNvPr>
          <p:cNvSpPr/>
          <p:nvPr/>
        </p:nvSpPr>
        <p:spPr>
          <a:xfrm>
            <a:off x="719140" y="2213466"/>
            <a:ext cx="3495612" cy="610496"/>
          </a:xfrm>
          <a:prstGeom prst="rect">
            <a:avLst/>
          </a:prstGeom>
          <a:solidFill>
            <a:srgbClr val="DEEDF1"/>
          </a:solidFill>
          <a:ln w="12700" cap="flat" cmpd="sng" algn="ctr">
            <a:noFill/>
            <a:prstDash val="solid"/>
            <a:miter lim="800000"/>
          </a:ln>
          <a:effectLst/>
        </p:spPr>
        <p:txBody>
          <a:bodyPr lIns="72000" rIns="36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55600" indent="-355600">
              <a:spcAft>
                <a:spcPts val="300"/>
              </a:spcAft>
            </a:pPr>
            <a:r>
              <a:rPr lang="en-GB" sz="900" b="1" kern="0">
                <a:solidFill>
                  <a:srgbClr val="DEEDF1">
                    <a:lumMod val="25000"/>
                  </a:srgbClr>
                </a:solidFill>
                <a:latin typeface="Santander Text" panose="020B0504020201020104" pitchFamily="34" charset="0"/>
              </a:rPr>
              <a:t>1 – Client Sales Services</a:t>
            </a:r>
          </a:p>
        </p:txBody>
      </p:sp>
      <p:sp>
        <p:nvSpPr>
          <p:cNvPr id="22" name="Rectángulo 63">
            <a:extLst>
              <a:ext uri="{FF2B5EF4-FFF2-40B4-BE49-F238E27FC236}">
                <a16:creationId xmlns:a16="http://schemas.microsoft.com/office/drawing/2014/main" id="{89930768-2A12-0348-4E08-54C6C93A1FFF}"/>
              </a:ext>
            </a:extLst>
          </p:cNvPr>
          <p:cNvSpPr>
            <a:spLocks/>
          </p:cNvSpPr>
          <p:nvPr/>
        </p:nvSpPr>
        <p:spPr>
          <a:xfrm>
            <a:off x="4339693" y="2204321"/>
            <a:ext cx="7509393" cy="601547"/>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600"/>
              </a:spcAft>
            </a:pPr>
            <a:r>
              <a:rPr lang="en-US" sz="1100" kern="0"/>
              <a:t>Alexandria</a:t>
            </a:r>
          </a:p>
        </p:txBody>
      </p:sp>
      <p:sp>
        <p:nvSpPr>
          <p:cNvPr id="9" name="Rectángulo 10">
            <a:extLst>
              <a:ext uri="{FF2B5EF4-FFF2-40B4-BE49-F238E27FC236}">
                <a16:creationId xmlns:a16="http://schemas.microsoft.com/office/drawing/2014/main" id="{B4D0483C-469B-37A3-2EAB-9F2C1553AF01}"/>
              </a:ext>
            </a:extLst>
          </p:cNvPr>
          <p:cNvSpPr/>
          <p:nvPr/>
        </p:nvSpPr>
        <p:spPr>
          <a:xfrm>
            <a:off x="711023" y="2895944"/>
            <a:ext cx="3495612" cy="603671"/>
          </a:xfrm>
          <a:prstGeom prst="rect">
            <a:avLst/>
          </a:prstGeom>
          <a:solidFill>
            <a:srgbClr val="DEEDF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36000"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55600" indent="-355600">
              <a:spcAft>
                <a:spcPts val="300"/>
              </a:spcAft>
            </a:pPr>
            <a:r>
              <a:rPr lang="en-GB" sz="900" b="1">
                <a:solidFill>
                  <a:srgbClr val="DEEDF1">
                    <a:lumMod val="25000"/>
                  </a:srgbClr>
                </a:solidFill>
                <a:latin typeface="Santander Text" panose="020B0504020201020104" pitchFamily="34" charset="0"/>
              </a:rPr>
              <a:t>2 – Client Banking Services</a:t>
            </a:r>
          </a:p>
          <a:p>
            <a:pPr>
              <a:spcAft>
                <a:spcPts val="300"/>
              </a:spcAft>
            </a:pPr>
            <a:r>
              <a:rPr lang="en-GB" sz="800" i="1">
                <a:solidFill>
                  <a:srgbClr val="DEEDF1">
                    <a:lumMod val="25000"/>
                  </a:srgbClr>
                </a:solidFill>
                <a:latin typeface="Santander Text" panose="020B0504020201020104" pitchFamily="34" charset="0"/>
              </a:rPr>
              <a:t>	</a:t>
            </a:r>
            <a:endParaRPr lang="en-GB" sz="700" i="1">
              <a:solidFill>
                <a:srgbClr val="DEEDF1">
                  <a:lumMod val="25000"/>
                </a:srgbClr>
              </a:solidFill>
              <a:latin typeface="Santander Text" panose="020B0504020201020104" pitchFamily="34" charset="0"/>
            </a:endParaRPr>
          </a:p>
        </p:txBody>
      </p:sp>
      <p:sp>
        <p:nvSpPr>
          <p:cNvPr id="2" name="Rectángulo 15">
            <a:extLst>
              <a:ext uri="{FF2B5EF4-FFF2-40B4-BE49-F238E27FC236}">
                <a16:creationId xmlns:a16="http://schemas.microsoft.com/office/drawing/2014/main" id="{030DA2F6-E1A2-B587-8896-23FB82203D80}"/>
              </a:ext>
            </a:extLst>
          </p:cNvPr>
          <p:cNvSpPr/>
          <p:nvPr/>
        </p:nvSpPr>
        <p:spPr>
          <a:xfrm>
            <a:off x="711023" y="1875926"/>
            <a:ext cx="3495611" cy="240476"/>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kern="0">
                <a:solidFill>
                  <a:prstClr val="white"/>
                </a:solidFill>
                <a:latin typeface="Santander Text" panose="020B0504020201020104" pitchFamily="34" charset="0"/>
              </a:rPr>
              <a:t>Module Aggregation</a:t>
            </a:r>
          </a:p>
        </p:txBody>
      </p:sp>
      <p:sp>
        <p:nvSpPr>
          <p:cNvPr id="3" name="Rectángulo 114">
            <a:extLst>
              <a:ext uri="{FF2B5EF4-FFF2-40B4-BE49-F238E27FC236}">
                <a16:creationId xmlns:a16="http://schemas.microsoft.com/office/drawing/2014/main" id="{490A7A85-5384-50F0-EB1F-91130CDF10F4}"/>
              </a:ext>
            </a:extLst>
          </p:cNvPr>
          <p:cNvSpPr/>
          <p:nvPr/>
        </p:nvSpPr>
        <p:spPr>
          <a:xfrm>
            <a:off x="4326919" y="2891769"/>
            <a:ext cx="7522168" cy="601546"/>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Cash Nexus Portal</a:t>
            </a:r>
          </a:p>
        </p:txBody>
      </p:sp>
      <p:sp>
        <p:nvSpPr>
          <p:cNvPr id="7" name="Rectángulo 6">
            <a:extLst>
              <a:ext uri="{FF2B5EF4-FFF2-40B4-BE49-F238E27FC236}">
                <a16:creationId xmlns:a16="http://schemas.microsoft.com/office/drawing/2014/main" id="{ADC0F465-E557-7024-583F-D5DD72AE50B5}"/>
              </a:ext>
            </a:extLst>
          </p:cNvPr>
          <p:cNvSpPr/>
          <p:nvPr/>
        </p:nvSpPr>
        <p:spPr>
          <a:xfrm>
            <a:off x="2400853" y="6328528"/>
            <a:ext cx="244952" cy="107435"/>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a:solidFill>
                <a:srgbClr val="FF0000"/>
              </a:solidFill>
            </a:endParaRPr>
          </a:p>
        </p:txBody>
      </p:sp>
      <p:sp>
        <p:nvSpPr>
          <p:cNvPr id="10" name="CuadroTexto 9">
            <a:extLst>
              <a:ext uri="{FF2B5EF4-FFF2-40B4-BE49-F238E27FC236}">
                <a16:creationId xmlns:a16="http://schemas.microsoft.com/office/drawing/2014/main" id="{8AE55B69-D632-0837-F0B9-0202B0CEE6FF}"/>
              </a:ext>
            </a:extLst>
          </p:cNvPr>
          <p:cNvSpPr txBox="1"/>
          <p:nvPr/>
        </p:nvSpPr>
        <p:spPr>
          <a:xfrm>
            <a:off x="2645805" y="6274524"/>
            <a:ext cx="1313180" cy="215444"/>
          </a:xfrm>
          <a:prstGeom prst="rect">
            <a:avLst/>
          </a:prstGeom>
          <a:noFill/>
        </p:spPr>
        <p:txBody>
          <a:bodyPr wrap="none" rtlCol="0">
            <a:spAutoFit/>
          </a:bodyPr>
          <a:lstStyle/>
          <a:p>
            <a:r>
              <a:rPr lang="es-ES" sz="800"/>
              <a:t>SCIB </a:t>
            </a:r>
            <a:r>
              <a:rPr lang="es-ES" sz="800" err="1"/>
              <a:t>Platform</a:t>
            </a:r>
            <a:r>
              <a:rPr lang="es-ES" sz="800"/>
              <a:t> </a:t>
            </a:r>
            <a:r>
              <a:rPr lang="es-ES" sz="800" err="1"/>
              <a:t>Component</a:t>
            </a:r>
            <a:endParaRPr lang="es-ES" sz="800"/>
          </a:p>
        </p:txBody>
      </p:sp>
    </p:spTree>
    <p:extLst>
      <p:ext uri="{BB962C8B-B14F-4D97-AF65-F5344CB8AC3E}">
        <p14:creationId xmlns:p14="http://schemas.microsoft.com/office/powerpoint/2010/main" val="36527780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A7E15-538C-DD1E-5420-7677DC1DEF5B}"/>
            </a:ext>
          </a:extLst>
        </p:cNvPr>
        <p:cNvGrpSpPr/>
        <p:nvPr/>
      </p:nvGrpSpPr>
      <p:grpSpPr>
        <a:xfrm>
          <a:off x="0" y="0"/>
          <a:ext cx="0" cy="0"/>
          <a:chOff x="0" y="0"/>
          <a:chExt cx="0" cy="0"/>
        </a:xfrm>
      </p:grpSpPr>
      <p:sp>
        <p:nvSpPr>
          <p:cNvPr id="113" name="Título 1">
            <a:extLst>
              <a:ext uri="{FF2B5EF4-FFF2-40B4-BE49-F238E27FC236}">
                <a16:creationId xmlns:a16="http://schemas.microsoft.com/office/drawing/2014/main" id="{7F161AEE-3586-6FAC-C8E2-AA6A84C7444F}"/>
              </a:ext>
            </a:extLst>
          </p:cNvPr>
          <p:cNvSpPr>
            <a:spLocks noGrp="1"/>
          </p:cNvSpPr>
          <p:nvPr>
            <p:ph type="title"/>
          </p:nvPr>
        </p:nvSpPr>
        <p:spPr>
          <a:xfrm>
            <a:off x="711024" y="641900"/>
            <a:ext cx="10758733" cy="445400"/>
          </a:xfrm>
        </p:spPr>
        <p:txBody>
          <a:bodyPr/>
          <a:lstStyle/>
          <a:p>
            <a:pPr>
              <a:defRPr/>
            </a:pPr>
            <a:r>
              <a:rPr kumimoji="0" lang="es-ES" sz="2800" b="1" i="0" u="none" strike="noStrike" kern="1200" cap="none" spc="0" normalizeH="0" baseline="0" noProof="0">
                <a:ln>
                  <a:noFill/>
                </a:ln>
                <a:solidFill>
                  <a:srgbClr val="EC0000"/>
                </a:solidFill>
                <a:effectLst/>
                <a:uLnTx/>
                <a:uFillTx/>
                <a:latin typeface="Santander Headline"/>
                <a:ea typeface="+mj-ea"/>
                <a:cs typeface="+mj-cs"/>
              </a:rPr>
              <a:t>SCIB. </a:t>
            </a:r>
            <a:r>
              <a:rPr lang="es-ES" err="1">
                <a:solidFill>
                  <a:schemeClr val="bg2">
                    <a:lumMod val="75000"/>
                  </a:schemeClr>
                </a:solidFill>
                <a:latin typeface="Santander Headline"/>
              </a:rPr>
              <a:t>Markets</a:t>
            </a:r>
            <a:r>
              <a:rPr kumimoji="0" lang="es-ES" sz="2800" b="1" i="0" u="none" strike="noStrike" kern="1200" cap="none" spc="0" normalizeH="0" baseline="0" noProof="0">
                <a:ln>
                  <a:noFill/>
                </a:ln>
                <a:solidFill>
                  <a:srgbClr val="EC0000"/>
                </a:solidFill>
                <a:effectLst/>
                <a:uLnTx/>
                <a:uFillTx/>
                <a:latin typeface="Santander Headline"/>
                <a:ea typeface="+mj-ea"/>
                <a:cs typeface="+mj-cs"/>
              </a:rPr>
              <a:t> </a:t>
            </a:r>
            <a:r>
              <a:rPr lang="es-ES">
                <a:solidFill>
                  <a:schemeClr val="bg2">
                    <a:lumMod val="75000"/>
                  </a:schemeClr>
                </a:solidFill>
                <a:latin typeface="Santander Headline"/>
              </a:rPr>
              <a:t>E-Trading</a:t>
            </a:r>
            <a:br>
              <a:rPr kumimoji="0" lang="en-AU" sz="2800" b="1" i="0" u="none" strike="noStrike" kern="1200" cap="none" spc="0" normalizeH="0" baseline="0" noProof="0">
                <a:ln>
                  <a:noFill/>
                </a:ln>
                <a:solidFill>
                  <a:srgbClr val="BFBFBF"/>
                </a:solidFill>
                <a:effectLst/>
                <a:uLnTx/>
                <a:uFillTx/>
                <a:latin typeface="Santander Headline"/>
                <a:ea typeface="+mj-ea"/>
                <a:cs typeface="+mj-cs"/>
              </a:rPr>
            </a:br>
            <a:endParaRPr lang="en-US">
              <a:solidFill>
                <a:schemeClr val="bg1">
                  <a:lumMod val="75000"/>
                </a:schemeClr>
              </a:solidFill>
            </a:endParaRPr>
          </a:p>
        </p:txBody>
      </p:sp>
      <p:sp>
        <p:nvSpPr>
          <p:cNvPr id="15" name="Rectángulo 15">
            <a:extLst>
              <a:ext uri="{FF2B5EF4-FFF2-40B4-BE49-F238E27FC236}">
                <a16:creationId xmlns:a16="http://schemas.microsoft.com/office/drawing/2014/main" id="{6471AE4B-B416-137F-8146-205482EB3B75}"/>
              </a:ext>
            </a:extLst>
          </p:cNvPr>
          <p:cNvSpPr/>
          <p:nvPr/>
        </p:nvSpPr>
        <p:spPr>
          <a:xfrm>
            <a:off x="4356080" y="1538212"/>
            <a:ext cx="7443018" cy="274642"/>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kern="0">
                <a:solidFill>
                  <a:prstClr val="white"/>
                </a:solidFill>
                <a:latin typeface="Santander Text" panose="020B0504020201020104" pitchFamily="34" charset="0"/>
              </a:rPr>
              <a:t>Modules</a:t>
            </a:r>
          </a:p>
        </p:txBody>
      </p:sp>
      <p:sp>
        <p:nvSpPr>
          <p:cNvPr id="8" name="Rectángulo 9">
            <a:extLst>
              <a:ext uri="{FF2B5EF4-FFF2-40B4-BE49-F238E27FC236}">
                <a16:creationId xmlns:a16="http://schemas.microsoft.com/office/drawing/2014/main" id="{3439EE9D-E533-40E8-B8A0-7B1601A8245D}"/>
              </a:ext>
            </a:extLst>
          </p:cNvPr>
          <p:cNvSpPr/>
          <p:nvPr/>
        </p:nvSpPr>
        <p:spPr>
          <a:xfrm>
            <a:off x="719139" y="1884977"/>
            <a:ext cx="3596151" cy="494699"/>
          </a:xfrm>
          <a:prstGeom prst="rect">
            <a:avLst/>
          </a:prstGeom>
          <a:solidFill>
            <a:srgbClr val="DEEDF1"/>
          </a:solidFill>
          <a:ln w="12700" cap="flat" cmpd="sng" algn="ctr">
            <a:noFill/>
            <a:prstDash val="solid"/>
            <a:miter lim="800000"/>
          </a:ln>
          <a:effectLst/>
        </p:spPr>
        <p:txBody>
          <a:bodyPr lIns="72000" rIns="36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55600" indent="-355600">
              <a:spcAft>
                <a:spcPts val="300"/>
              </a:spcAft>
            </a:pPr>
            <a:r>
              <a:rPr lang="en-GB" sz="900" b="1" kern="0">
                <a:solidFill>
                  <a:srgbClr val="DEEDF1">
                    <a:lumMod val="25000"/>
                  </a:srgbClr>
                </a:solidFill>
                <a:latin typeface="Santander Text" panose="020B0504020201020104" pitchFamily="34" charset="0"/>
              </a:rPr>
              <a:t>1 – Business Distribution Services</a:t>
            </a:r>
          </a:p>
        </p:txBody>
      </p:sp>
      <p:sp>
        <p:nvSpPr>
          <p:cNvPr id="22" name="Rectángulo 63">
            <a:extLst>
              <a:ext uri="{FF2B5EF4-FFF2-40B4-BE49-F238E27FC236}">
                <a16:creationId xmlns:a16="http://schemas.microsoft.com/office/drawing/2014/main" id="{CF344831-FA32-94D9-87D7-E3CA2D3B34D7}"/>
              </a:ext>
            </a:extLst>
          </p:cNvPr>
          <p:cNvSpPr>
            <a:spLocks/>
          </p:cNvSpPr>
          <p:nvPr/>
        </p:nvSpPr>
        <p:spPr>
          <a:xfrm>
            <a:off x="4368855" y="1877957"/>
            <a:ext cx="7430244" cy="493814"/>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600"/>
              </a:spcAft>
            </a:pPr>
            <a:r>
              <a:rPr lang="en-US" sz="1100" kern="0" err="1">
                <a:solidFill>
                  <a:srgbClr val="DEEDF1">
                    <a:lumMod val="25000"/>
                  </a:srgbClr>
                </a:solidFill>
                <a:latin typeface="Santander Text" panose="020B0504020201020104" pitchFamily="34" charset="0"/>
              </a:rPr>
              <a:t>Acelera</a:t>
            </a:r>
            <a:endParaRPr lang="en-US" sz="1100" kern="0">
              <a:solidFill>
                <a:srgbClr val="DEEDF1">
                  <a:lumMod val="25000"/>
                </a:srgbClr>
              </a:solidFill>
              <a:latin typeface="Santander Text" panose="020B0504020201020104" pitchFamily="34" charset="0"/>
            </a:endParaRPr>
          </a:p>
        </p:txBody>
      </p:sp>
      <p:sp>
        <p:nvSpPr>
          <p:cNvPr id="9" name="Rectángulo 10">
            <a:extLst>
              <a:ext uri="{FF2B5EF4-FFF2-40B4-BE49-F238E27FC236}">
                <a16:creationId xmlns:a16="http://schemas.microsoft.com/office/drawing/2014/main" id="{06A1A95C-FFAB-D6AB-D7D2-63893DDEF3F1}"/>
              </a:ext>
            </a:extLst>
          </p:cNvPr>
          <p:cNvSpPr/>
          <p:nvPr/>
        </p:nvSpPr>
        <p:spPr>
          <a:xfrm>
            <a:off x="724955" y="2451658"/>
            <a:ext cx="3604269" cy="603671"/>
          </a:xfrm>
          <a:prstGeom prst="rect">
            <a:avLst/>
          </a:prstGeom>
          <a:solidFill>
            <a:srgbClr val="DEEDF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36000"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55600" indent="-355600">
              <a:spcAft>
                <a:spcPts val="300"/>
              </a:spcAft>
            </a:pPr>
            <a:r>
              <a:rPr lang="en-GB" sz="900" b="1">
                <a:solidFill>
                  <a:srgbClr val="DEEDF1">
                    <a:lumMod val="25000"/>
                  </a:srgbClr>
                </a:solidFill>
                <a:latin typeface="Santander Text" panose="020B0504020201020104" pitchFamily="34" charset="0"/>
              </a:rPr>
              <a:t>2 – Front-office Business Services</a:t>
            </a:r>
          </a:p>
          <a:p>
            <a:pPr>
              <a:spcAft>
                <a:spcPts val="300"/>
              </a:spcAft>
            </a:pPr>
            <a:r>
              <a:rPr lang="en-GB" sz="800" i="1">
                <a:solidFill>
                  <a:srgbClr val="DEEDF1">
                    <a:lumMod val="25000"/>
                  </a:srgbClr>
                </a:solidFill>
                <a:latin typeface="Santander Text" panose="020B0504020201020104" pitchFamily="34" charset="0"/>
              </a:rPr>
              <a:t>	</a:t>
            </a:r>
            <a:endParaRPr lang="en-GB" sz="700" i="1">
              <a:solidFill>
                <a:srgbClr val="DEEDF1">
                  <a:lumMod val="25000"/>
                </a:srgbClr>
              </a:solidFill>
              <a:latin typeface="Santander Text" panose="020B0504020201020104" pitchFamily="34" charset="0"/>
            </a:endParaRPr>
          </a:p>
        </p:txBody>
      </p:sp>
      <p:sp>
        <p:nvSpPr>
          <p:cNvPr id="2" name="Rectángulo 15">
            <a:extLst>
              <a:ext uri="{FF2B5EF4-FFF2-40B4-BE49-F238E27FC236}">
                <a16:creationId xmlns:a16="http://schemas.microsoft.com/office/drawing/2014/main" id="{4589C08E-817E-C15A-3954-B8B469BFD154}"/>
              </a:ext>
            </a:extLst>
          </p:cNvPr>
          <p:cNvSpPr/>
          <p:nvPr/>
        </p:nvSpPr>
        <p:spPr>
          <a:xfrm>
            <a:off x="711024" y="1538353"/>
            <a:ext cx="3596151" cy="274642"/>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kern="0">
                <a:solidFill>
                  <a:prstClr val="white"/>
                </a:solidFill>
                <a:latin typeface="Santander Text" panose="020B0504020201020104" pitchFamily="34" charset="0"/>
              </a:rPr>
              <a:t>Module Aggregation</a:t>
            </a:r>
          </a:p>
        </p:txBody>
      </p:sp>
      <p:sp>
        <p:nvSpPr>
          <p:cNvPr id="3" name="Rectángulo 114">
            <a:extLst>
              <a:ext uri="{FF2B5EF4-FFF2-40B4-BE49-F238E27FC236}">
                <a16:creationId xmlns:a16="http://schemas.microsoft.com/office/drawing/2014/main" id="{4B4C403B-ADCC-6055-7FE2-5D050EDC1944}"/>
              </a:ext>
            </a:extLst>
          </p:cNvPr>
          <p:cNvSpPr/>
          <p:nvPr/>
        </p:nvSpPr>
        <p:spPr>
          <a:xfrm>
            <a:off x="4368855" y="2480051"/>
            <a:ext cx="1800000" cy="575278"/>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Murex Europe 3.1</a:t>
            </a:r>
          </a:p>
        </p:txBody>
      </p:sp>
      <p:sp>
        <p:nvSpPr>
          <p:cNvPr id="7" name="Rectángulo 114">
            <a:extLst>
              <a:ext uri="{FF2B5EF4-FFF2-40B4-BE49-F238E27FC236}">
                <a16:creationId xmlns:a16="http://schemas.microsoft.com/office/drawing/2014/main" id="{1753FCCB-1708-4241-959D-842B3BC2F2DF}"/>
              </a:ext>
            </a:extLst>
          </p:cNvPr>
          <p:cNvSpPr/>
          <p:nvPr/>
        </p:nvSpPr>
        <p:spPr>
          <a:xfrm>
            <a:off x="6237932" y="2477481"/>
            <a:ext cx="1800000" cy="598630"/>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Murex Brasil 3.1</a:t>
            </a:r>
          </a:p>
        </p:txBody>
      </p:sp>
      <p:sp>
        <p:nvSpPr>
          <p:cNvPr id="10" name="Rectángulo 114">
            <a:extLst>
              <a:ext uri="{FF2B5EF4-FFF2-40B4-BE49-F238E27FC236}">
                <a16:creationId xmlns:a16="http://schemas.microsoft.com/office/drawing/2014/main" id="{027FDA23-DC3E-7654-E28B-008647F0F5CD}"/>
              </a:ext>
            </a:extLst>
          </p:cNvPr>
          <p:cNvSpPr/>
          <p:nvPr/>
        </p:nvSpPr>
        <p:spPr>
          <a:xfrm>
            <a:off x="8065529" y="2477481"/>
            <a:ext cx="1800000" cy="601546"/>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Murex Latam 3.1</a:t>
            </a:r>
          </a:p>
        </p:txBody>
      </p:sp>
      <p:sp>
        <p:nvSpPr>
          <p:cNvPr id="12" name="Rectángulo 114">
            <a:extLst>
              <a:ext uri="{FF2B5EF4-FFF2-40B4-BE49-F238E27FC236}">
                <a16:creationId xmlns:a16="http://schemas.microsoft.com/office/drawing/2014/main" id="{A940E156-930F-997B-BC7D-9A2D16D5B87F}"/>
              </a:ext>
            </a:extLst>
          </p:cNvPr>
          <p:cNvSpPr/>
          <p:nvPr/>
        </p:nvSpPr>
        <p:spPr>
          <a:xfrm>
            <a:off x="9893126" y="2488515"/>
            <a:ext cx="1905972" cy="601546"/>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Murex Equity 3.1</a:t>
            </a:r>
          </a:p>
        </p:txBody>
      </p:sp>
      <p:sp>
        <p:nvSpPr>
          <p:cNvPr id="37" name="Text Placeholder 2">
            <a:extLst>
              <a:ext uri="{FF2B5EF4-FFF2-40B4-BE49-F238E27FC236}">
                <a16:creationId xmlns:a16="http://schemas.microsoft.com/office/drawing/2014/main" id="{76B92775-805A-B752-15BE-747DBC24205F}"/>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33" name="Rectángulo 9">
            <a:extLst>
              <a:ext uri="{FF2B5EF4-FFF2-40B4-BE49-F238E27FC236}">
                <a16:creationId xmlns:a16="http://schemas.microsoft.com/office/drawing/2014/main" id="{EEB615D6-78D1-6259-C7F0-8B24D641CF07}"/>
              </a:ext>
            </a:extLst>
          </p:cNvPr>
          <p:cNvSpPr/>
          <p:nvPr/>
        </p:nvSpPr>
        <p:spPr>
          <a:xfrm>
            <a:off x="711024" y="3136539"/>
            <a:ext cx="3604269" cy="912075"/>
          </a:xfrm>
          <a:prstGeom prst="rect">
            <a:avLst/>
          </a:prstGeom>
          <a:solidFill>
            <a:srgbClr val="DEEDF1"/>
          </a:solidFill>
          <a:ln w="12700" cap="flat" cmpd="sng" algn="ctr">
            <a:noFill/>
            <a:prstDash val="solid"/>
            <a:miter lim="800000"/>
          </a:ln>
          <a:effectLst/>
        </p:spPr>
        <p:txBody>
          <a:bodyPr lIns="72000" rIns="36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55600" indent="-355600">
              <a:spcAft>
                <a:spcPts val="300"/>
              </a:spcAft>
            </a:pPr>
            <a:r>
              <a:rPr lang="en-GB" sz="900" b="1" kern="0">
                <a:solidFill>
                  <a:srgbClr val="DEEDF1">
                    <a:lumMod val="25000"/>
                  </a:srgbClr>
                </a:solidFill>
                <a:latin typeface="Santander Text" panose="020B0504020201020104" pitchFamily="34" charset="0"/>
              </a:rPr>
              <a:t>3 – Trading Sales Services</a:t>
            </a:r>
          </a:p>
        </p:txBody>
      </p:sp>
      <p:sp>
        <p:nvSpPr>
          <p:cNvPr id="5" name="Rectángulo 63">
            <a:extLst>
              <a:ext uri="{FF2B5EF4-FFF2-40B4-BE49-F238E27FC236}">
                <a16:creationId xmlns:a16="http://schemas.microsoft.com/office/drawing/2014/main" id="{E6BA95CC-582F-7D88-7C13-0E1F5FBAC0F6}"/>
              </a:ext>
            </a:extLst>
          </p:cNvPr>
          <p:cNvSpPr>
            <a:spLocks/>
          </p:cNvSpPr>
          <p:nvPr/>
        </p:nvSpPr>
        <p:spPr>
          <a:xfrm>
            <a:off x="4398443" y="3147490"/>
            <a:ext cx="7400655" cy="404039"/>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600"/>
              </a:spcAft>
            </a:pPr>
            <a:r>
              <a:rPr lang="en-US" sz="1100" kern="0"/>
              <a:t>Windfall FX</a:t>
            </a:r>
          </a:p>
        </p:txBody>
      </p:sp>
      <p:sp>
        <p:nvSpPr>
          <p:cNvPr id="20" name="Rectángulo 10">
            <a:extLst>
              <a:ext uri="{FF2B5EF4-FFF2-40B4-BE49-F238E27FC236}">
                <a16:creationId xmlns:a16="http://schemas.microsoft.com/office/drawing/2014/main" id="{4EE4F7A0-86C6-1AB0-9F17-E1B15A03C4D4}"/>
              </a:ext>
            </a:extLst>
          </p:cNvPr>
          <p:cNvSpPr/>
          <p:nvPr/>
        </p:nvSpPr>
        <p:spPr>
          <a:xfrm>
            <a:off x="719139" y="4106805"/>
            <a:ext cx="3619343" cy="615748"/>
          </a:xfrm>
          <a:prstGeom prst="rect">
            <a:avLst/>
          </a:prstGeom>
          <a:solidFill>
            <a:srgbClr val="DEEDF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36000"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55600" indent="-355600">
              <a:spcAft>
                <a:spcPts val="300"/>
              </a:spcAft>
            </a:pPr>
            <a:r>
              <a:rPr lang="en-GB" sz="900" b="1">
                <a:solidFill>
                  <a:srgbClr val="DEEDF1">
                    <a:lumMod val="25000"/>
                  </a:srgbClr>
                </a:solidFill>
                <a:latin typeface="Santander Text" panose="020B0504020201020104" pitchFamily="34" charset="0"/>
              </a:rPr>
              <a:t>4 – Business Execution Services </a:t>
            </a:r>
          </a:p>
          <a:p>
            <a:pPr>
              <a:spcAft>
                <a:spcPts val="300"/>
              </a:spcAft>
            </a:pPr>
            <a:r>
              <a:rPr lang="en-GB" sz="800" i="1">
                <a:solidFill>
                  <a:srgbClr val="DEEDF1">
                    <a:lumMod val="25000"/>
                  </a:srgbClr>
                </a:solidFill>
                <a:latin typeface="Santander Text" panose="020B0504020201020104" pitchFamily="34" charset="0"/>
              </a:rPr>
              <a:t>	</a:t>
            </a:r>
            <a:endParaRPr lang="en-GB" sz="700" i="1">
              <a:solidFill>
                <a:srgbClr val="DEEDF1">
                  <a:lumMod val="25000"/>
                </a:srgbClr>
              </a:solidFill>
              <a:latin typeface="Santander Text" panose="020B0504020201020104" pitchFamily="34" charset="0"/>
            </a:endParaRPr>
          </a:p>
        </p:txBody>
      </p:sp>
      <p:sp>
        <p:nvSpPr>
          <p:cNvPr id="21" name="Rectángulo 114">
            <a:extLst>
              <a:ext uri="{FF2B5EF4-FFF2-40B4-BE49-F238E27FC236}">
                <a16:creationId xmlns:a16="http://schemas.microsoft.com/office/drawing/2014/main" id="{8F23DC61-7486-D468-E9CB-5A9C53E556B9}"/>
              </a:ext>
            </a:extLst>
          </p:cNvPr>
          <p:cNvSpPr/>
          <p:nvPr/>
        </p:nvSpPr>
        <p:spPr>
          <a:xfrm>
            <a:off x="4368855" y="4799248"/>
            <a:ext cx="1537950" cy="569425"/>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Atom FX</a:t>
            </a:r>
          </a:p>
        </p:txBody>
      </p:sp>
      <p:sp>
        <p:nvSpPr>
          <p:cNvPr id="23" name="Rectángulo 114">
            <a:extLst>
              <a:ext uri="{FF2B5EF4-FFF2-40B4-BE49-F238E27FC236}">
                <a16:creationId xmlns:a16="http://schemas.microsoft.com/office/drawing/2014/main" id="{7E3F5658-356D-F55D-4FBB-021E8E18C1C7}"/>
              </a:ext>
            </a:extLst>
          </p:cNvPr>
          <p:cNvSpPr/>
          <p:nvPr/>
        </p:nvSpPr>
        <p:spPr>
          <a:xfrm>
            <a:off x="6461051" y="4112105"/>
            <a:ext cx="1805437" cy="610322"/>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Fluent FX</a:t>
            </a:r>
          </a:p>
        </p:txBody>
      </p:sp>
      <p:sp>
        <p:nvSpPr>
          <p:cNvPr id="24" name="Rectángulo 114">
            <a:extLst>
              <a:ext uri="{FF2B5EF4-FFF2-40B4-BE49-F238E27FC236}">
                <a16:creationId xmlns:a16="http://schemas.microsoft.com/office/drawing/2014/main" id="{A2EBBCE6-3435-CB75-1879-2DD6E950C826}"/>
              </a:ext>
            </a:extLst>
          </p:cNvPr>
          <p:cNvSpPr/>
          <p:nvPr/>
        </p:nvSpPr>
        <p:spPr>
          <a:xfrm>
            <a:off x="8315891" y="4132145"/>
            <a:ext cx="1805437" cy="590282"/>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FX Aggregator</a:t>
            </a:r>
          </a:p>
        </p:txBody>
      </p:sp>
      <p:sp>
        <p:nvSpPr>
          <p:cNvPr id="25" name="Rectángulo 114">
            <a:extLst>
              <a:ext uri="{FF2B5EF4-FFF2-40B4-BE49-F238E27FC236}">
                <a16:creationId xmlns:a16="http://schemas.microsoft.com/office/drawing/2014/main" id="{E9C66032-D487-B7C3-D280-CE9D246A61FE}"/>
              </a:ext>
            </a:extLst>
          </p:cNvPr>
          <p:cNvSpPr/>
          <p:nvPr/>
        </p:nvSpPr>
        <p:spPr>
          <a:xfrm>
            <a:off x="10170732" y="4113921"/>
            <a:ext cx="1628366" cy="629716"/>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NEUTRINO</a:t>
            </a:r>
          </a:p>
        </p:txBody>
      </p:sp>
      <p:sp>
        <p:nvSpPr>
          <p:cNvPr id="26" name="Rectángulo 114">
            <a:extLst>
              <a:ext uri="{FF2B5EF4-FFF2-40B4-BE49-F238E27FC236}">
                <a16:creationId xmlns:a16="http://schemas.microsoft.com/office/drawing/2014/main" id="{82914A13-4C79-5BD8-A6BD-1211F6B0031E}"/>
              </a:ext>
            </a:extLst>
          </p:cNvPr>
          <p:cNvSpPr/>
          <p:nvPr/>
        </p:nvSpPr>
        <p:spPr>
          <a:xfrm>
            <a:off x="4368855" y="4112230"/>
            <a:ext cx="1986694" cy="610323"/>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Athena</a:t>
            </a:r>
          </a:p>
        </p:txBody>
      </p:sp>
      <p:sp>
        <p:nvSpPr>
          <p:cNvPr id="27" name="Rectángulo 63">
            <a:extLst>
              <a:ext uri="{FF2B5EF4-FFF2-40B4-BE49-F238E27FC236}">
                <a16:creationId xmlns:a16="http://schemas.microsoft.com/office/drawing/2014/main" id="{5B43D576-8655-14CC-DD0F-AC5F0D78A999}"/>
              </a:ext>
            </a:extLst>
          </p:cNvPr>
          <p:cNvSpPr>
            <a:spLocks/>
          </p:cNvSpPr>
          <p:nvPr/>
        </p:nvSpPr>
        <p:spPr>
          <a:xfrm>
            <a:off x="8692157" y="3616835"/>
            <a:ext cx="3106941" cy="43178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600"/>
              </a:spcAft>
            </a:pPr>
            <a:r>
              <a:rPr lang="en-US" sz="1100" kern="0"/>
              <a:t>Windfall Rates</a:t>
            </a:r>
          </a:p>
        </p:txBody>
      </p:sp>
      <p:sp>
        <p:nvSpPr>
          <p:cNvPr id="28" name="Rectángulo 63">
            <a:extLst>
              <a:ext uri="{FF2B5EF4-FFF2-40B4-BE49-F238E27FC236}">
                <a16:creationId xmlns:a16="http://schemas.microsoft.com/office/drawing/2014/main" id="{D62B66EE-1124-EC34-F804-C0CCA012F941}"/>
              </a:ext>
            </a:extLst>
          </p:cNvPr>
          <p:cNvSpPr>
            <a:spLocks/>
          </p:cNvSpPr>
          <p:nvPr/>
        </p:nvSpPr>
        <p:spPr>
          <a:xfrm>
            <a:off x="4368855" y="3620595"/>
            <a:ext cx="4238805" cy="420905"/>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600"/>
              </a:spcAft>
            </a:pPr>
            <a:r>
              <a:rPr lang="en-US" sz="1100" kern="0"/>
              <a:t>Bloomberg/ TOMS</a:t>
            </a:r>
          </a:p>
        </p:txBody>
      </p:sp>
      <p:sp>
        <p:nvSpPr>
          <p:cNvPr id="29" name="Rectángulo 10">
            <a:extLst>
              <a:ext uri="{FF2B5EF4-FFF2-40B4-BE49-F238E27FC236}">
                <a16:creationId xmlns:a16="http://schemas.microsoft.com/office/drawing/2014/main" id="{7E67366C-2B8F-3CE7-D7D0-E4D286F6D389}"/>
              </a:ext>
            </a:extLst>
          </p:cNvPr>
          <p:cNvSpPr/>
          <p:nvPr/>
        </p:nvSpPr>
        <p:spPr>
          <a:xfrm>
            <a:off x="695947" y="4799248"/>
            <a:ext cx="3619343" cy="569425"/>
          </a:xfrm>
          <a:prstGeom prst="rect">
            <a:avLst/>
          </a:prstGeom>
          <a:solidFill>
            <a:srgbClr val="DEEDF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36000"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55600" indent="-355600">
              <a:spcAft>
                <a:spcPts val="300"/>
              </a:spcAft>
            </a:pPr>
            <a:r>
              <a:rPr lang="en-GB" sz="900" b="1">
                <a:solidFill>
                  <a:srgbClr val="DEEDF1">
                    <a:lumMod val="25000"/>
                  </a:srgbClr>
                </a:solidFill>
                <a:latin typeface="Santander Text" panose="020B0504020201020104" pitchFamily="34" charset="0"/>
              </a:rPr>
              <a:t>5 – Sales and Business Execution Services </a:t>
            </a:r>
          </a:p>
          <a:p>
            <a:pPr>
              <a:spcAft>
                <a:spcPts val="300"/>
              </a:spcAft>
            </a:pPr>
            <a:r>
              <a:rPr lang="en-GB" sz="800" i="1">
                <a:solidFill>
                  <a:srgbClr val="DEEDF1">
                    <a:lumMod val="25000"/>
                  </a:srgbClr>
                </a:solidFill>
                <a:latin typeface="Santander Text" panose="020B0504020201020104" pitchFamily="34" charset="0"/>
              </a:rPr>
              <a:t>	</a:t>
            </a:r>
            <a:endParaRPr lang="en-GB" sz="700" i="1">
              <a:solidFill>
                <a:srgbClr val="DEEDF1">
                  <a:lumMod val="25000"/>
                </a:srgbClr>
              </a:solidFill>
              <a:latin typeface="Santander Text" panose="020B0504020201020104" pitchFamily="34" charset="0"/>
            </a:endParaRPr>
          </a:p>
        </p:txBody>
      </p:sp>
      <p:sp>
        <p:nvSpPr>
          <p:cNvPr id="30" name="Rectángulo 114">
            <a:extLst>
              <a:ext uri="{FF2B5EF4-FFF2-40B4-BE49-F238E27FC236}">
                <a16:creationId xmlns:a16="http://schemas.microsoft.com/office/drawing/2014/main" id="{1FDD3F80-6783-FEC2-1D24-27BF5B21139B}"/>
              </a:ext>
            </a:extLst>
          </p:cNvPr>
          <p:cNvSpPr/>
          <p:nvPr/>
        </p:nvSpPr>
        <p:spPr>
          <a:xfrm>
            <a:off x="5978103" y="4799248"/>
            <a:ext cx="1299702" cy="590487"/>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Darwin</a:t>
            </a:r>
          </a:p>
        </p:txBody>
      </p:sp>
      <p:sp>
        <p:nvSpPr>
          <p:cNvPr id="31" name="Rectángulo 114">
            <a:extLst>
              <a:ext uri="{FF2B5EF4-FFF2-40B4-BE49-F238E27FC236}">
                <a16:creationId xmlns:a16="http://schemas.microsoft.com/office/drawing/2014/main" id="{DC73CBD0-97FF-D3D4-F065-EB198BB6EFCF}"/>
              </a:ext>
            </a:extLst>
          </p:cNvPr>
          <p:cNvSpPr/>
          <p:nvPr/>
        </p:nvSpPr>
        <p:spPr>
          <a:xfrm>
            <a:off x="7340233" y="4793915"/>
            <a:ext cx="1446191" cy="611492"/>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Fidessa SWAP</a:t>
            </a:r>
          </a:p>
        </p:txBody>
      </p:sp>
      <p:sp>
        <p:nvSpPr>
          <p:cNvPr id="32" name="Rectángulo 114">
            <a:extLst>
              <a:ext uri="{FF2B5EF4-FFF2-40B4-BE49-F238E27FC236}">
                <a16:creationId xmlns:a16="http://schemas.microsoft.com/office/drawing/2014/main" id="{ADC98886-BBBD-ED1B-FFCE-ACF94C68F58B}"/>
              </a:ext>
            </a:extLst>
          </p:cNvPr>
          <p:cNvSpPr/>
          <p:nvPr/>
        </p:nvSpPr>
        <p:spPr>
          <a:xfrm>
            <a:off x="10297685" y="4806793"/>
            <a:ext cx="1501413" cy="617144"/>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err="1">
                <a:solidFill>
                  <a:srgbClr val="DEEDF1">
                    <a:lumMod val="25000"/>
                  </a:srgbClr>
                </a:solidFill>
                <a:latin typeface="Santander Text" panose="020B0504020201020104" pitchFamily="34" charset="0"/>
              </a:rPr>
              <a:t>SwapOne</a:t>
            </a:r>
            <a:endParaRPr lang="en-GB" sz="1100" kern="0">
              <a:solidFill>
                <a:srgbClr val="DEEDF1">
                  <a:lumMod val="25000"/>
                </a:srgbClr>
              </a:solidFill>
              <a:latin typeface="Santander Text" panose="020B0504020201020104" pitchFamily="34" charset="0"/>
            </a:endParaRPr>
          </a:p>
        </p:txBody>
      </p:sp>
      <p:sp>
        <p:nvSpPr>
          <p:cNvPr id="35" name="Rectángulo 114">
            <a:extLst>
              <a:ext uri="{FF2B5EF4-FFF2-40B4-BE49-F238E27FC236}">
                <a16:creationId xmlns:a16="http://schemas.microsoft.com/office/drawing/2014/main" id="{A22A7150-F6FF-0638-FD5C-8B6773144C5E}"/>
              </a:ext>
            </a:extLst>
          </p:cNvPr>
          <p:cNvSpPr/>
          <p:nvPr/>
        </p:nvSpPr>
        <p:spPr>
          <a:xfrm>
            <a:off x="8853442" y="4806793"/>
            <a:ext cx="1362597" cy="598614"/>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OMS </a:t>
            </a:r>
            <a:r>
              <a:rPr lang="en-GB" sz="1100" kern="0" err="1">
                <a:solidFill>
                  <a:srgbClr val="DEEDF1">
                    <a:lumMod val="25000"/>
                  </a:srgbClr>
                </a:solidFill>
                <a:latin typeface="Santander Text" panose="020B0504020201020104" pitchFamily="34" charset="0"/>
              </a:rPr>
              <a:t>Itiviti</a:t>
            </a:r>
            <a:endParaRPr lang="en-GB" sz="1100" kern="0">
              <a:solidFill>
                <a:srgbClr val="DEEDF1">
                  <a:lumMod val="25000"/>
                </a:srgbClr>
              </a:solidFill>
              <a:latin typeface="Santander Text" panose="020B0504020201020104" pitchFamily="34" charset="0"/>
            </a:endParaRPr>
          </a:p>
        </p:txBody>
      </p:sp>
    </p:spTree>
    <p:extLst>
      <p:ext uri="{BB962C8B-B14F-4D97-AF65-F5344CB8AC3E}">
        <p14:creationId xmlns:p14="http://schemas.microsoft.com/office/powerpoint/2010/main" val="34877230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2D016-1F8F-FB26-F6FC-851769889013}"/>
            </a:ext>
          </a:extLst>
        </p:cNvPr>
        <p:cNvGrpSpPr/>
        <p:nvPr/>
      </p:nvGrpSpPr>
      <p:grpSpPr>
        <a:xfrm>
          <a:off x="0" y="0"/>
          <a:ext cx="0" cy="0"/>
          <a:chOff x="0" y="0"/>
          <a:chExt cx="0" cy="0"/>
        </a:xfrm>
      </p:grpSpPr>
      <p:sp>
        <p:nvSpPr>
          <p:cNvPr id="113" name="Título 1">
            <a:extLst>
              <a:ext uri="{FF2B5EF4-FFF2-40B4-BE49-F238E27FC236}">
                <a16:creationId xmlns:a16="http://schemas.microsoft.com/office/drawing/2014/main" id="{114C852D-7B17-3390-6418-2D1C78B8E016}"/>
              </a:ext>
            </a:extLst>
          </p:cNvPr>
          <p:cNvSpPr>
            <a:spLocks noGrp="1"/>
          </p:cNvSpPr>
          <p:nvPr>
            <p:ph type="title"/>
          </p:nvPr>
        </p:nvSpPr>
        <p:spPr>
          <a:xfrm>
            <a:off x="711024" y="641900"/>
            <a:ext cx="10758733" cy="445400"/>
          </a:xfrm>
        </p:spPr>
        <p:txBody>
          <a:bodyPr/>
          <a:lstStyle/>
          <a:p>
            <a:pPr>
              <a:defRPr/>
            </a:pPr>
            <a:r>
              <a:rPr kumimoji="0" lang="es-ES" sz="2800" b="1" i="0" u="none" strike="noStrike" kern="1200" cap="none" spc="0" normalizeH="0" baseline="0" noProof="0">
                <a:ln>
                  <a:noFill/>
                </a:ln>
                <a:solidFill>
                  <a:srgbClr val="EC0000"/>
                </a:solidFill>
                <a:effectLst/>
                <a:uLnTx/>
                <a:uFillTx/>
                <a:latin typeface="Santander Headline"/>
                <a:ea typeface="+mj-ea"/>
                <a:cs typeface="+mj-cs"/>
              </a:rPr>
              <a:t>SCIB. </a:t>
            </a:r>
            <a:r>
              <a:rPr kumimoji="0" lang="es-ES" sz="2800" b="1" i="0" u="none" strike="noStrike" kern="1200" cap="none" spc="0" normalizeH="0" baseline="0" noProof="0" err="1">
                <a:ln>
                  <a:noFill/>
                </a:ln>
                <a:solidFill>
                  <a:schemeClr val="bg2">
                    <a:lumMod val="75000"/>
                  </a:schemeClr>
                </a:solidFill>
                <a:effectLst/>
                <a:uLnTx/>
                <a:uFillTx/>
                <a:latin typeface="Santander Headline"/>
                <a:ea typeface="+mj-ea"/>
                <a:cs typeface="+mj-cs"/>
              </a:rPr>
              <a:t>Markets</a:t>
            </a:r>
            <a:r>
              <a:rPr kumimoji="0" lang="es-ES" sz="2800" b="1" i="0" u="none" strike="noStrike" kern="1200" cap="none" spc="0" normalizeH="0" baseline="0" noProof="0">
                <a:ln>
                  <a:noFill/>
                </a:ln>
                <a:solidFill>
                  <a:schemeClr val="bg2">
                    <a:lumMod val="75000"/>
                  </a:schemeClr>
                </a:solidFill>
                <a:effectLst/>
                <a:uLnTx/>
                <a:uFillTx/>
                <a:latin typeface="Santander Headline"/>
                <a:ea typeface="+mj-ea"/>
                <a:cs typeface="+mj-cs"/>
              </a:rPr>
              <a:t> Back</a:t>
            </a:r>
            <a:br>
              <a:rPr kumimoji="0" lang="en-AU" sz="2800" b="1" i="0" u="none" strike="noStrike" kern="1200" cap="none" spc="0" normalizeH="0" baseline="0" noProof="0">
                <a:ln>
                  <a:noFill/>
                </a:ln>
                <a:solidFill>
                  <a:srgbClr val="BFBFBF"/>
                </a:solidFill>
                <a:effectLst/>
                <a:uLnTx/>
                <a:uFillTx/>
                <a:latin typeface="Santander Headline"/>
                <a:ea typeface="+mj-ea"/>
                <a:cs typeface="+mj-cs"/>
              </a:rPr>
            </a:br>
            <a:endParaRPr lang="en-US">
              <a:solidFill>
                <a:schemeClr val="bg1">
                  <a:lumMod val="75000"/>
                </a:schemeClr>
              </a:solidFill>
            </a:endParaRPr>
          </a:p>
        </p:txBody>
      </p:sp>
      <p:sp>
        <p:nvSpPr>
          <p:cNvPr id="15" name="Rectángulo 15">
            <a:extLst>
              <a:ext uri="{FF2B5EF4-FFF2-40B4-BE49-F238E27FC236}">
                <a16:creationId xmlns:a16="http://schemas.microsoft.com/office/drawing/2014/main" id="{73C7866A-F250-DBE3-8A99-B2B2A9C7E74C}"/>
              </a:ext>
            </a:extLst>
          </p:cNvPr>
          <p:cNvSpPr/>
          <p:nvPr/>
        </p:nvSpPr>
        <p:spPr>
          <a:xfrm>
            <a:off x="4318803" y="1875926"/>
            <a:ext cx="7275142" cy="240476"/>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kern="0">
                <a:solidFill>
                  <a:prstClr val="white"/>
                </a:solidFill>
                <a:latin typeface="Santander Text" panose="020B0504020201020104" pitchFamily="34" charset="0"/>
              </a:rPr>
              <a:t>Modules</a:t>
            </a:r>
          </a:p>
        </p:txBody>
      </p:sp>
      <p:sp>
        <p:nvSpPr>
          <p:cNvPr id="2" name="Rectángulo 15">
            <a:extLst>
              <a:ext uri="{FF2B5EF4-FFF2-40B4-BE49-F238E27FC236}">
                <a16:creationId xmlns:a16="http://schemas.microsoft.com/office/drawing/2014/main" id="{96F01C62-6AAF-96A4-20FD-B1C032189298}"/>
              </a:ext>
            </a:extLst>
          </p:cNvPr>
          <p:cNvSpPr/>
          <p:nvPr/>
        </p:nvSpPr>
        <p:spPr>
          <a:xfrm>
            <a:off x="711023" y="1875926"/>
            <a:ext cx="3495611" cy="240476"/>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kern="0">
                <a:solidFill>
                  <a:prstClr val="white"/>
                </a:solidFill>
                <a:latin typeface="Santander Text" panose="020B0504020201020104" pitchFamily="34" charset="0"/>
              </a:rPr>
              <a:t>Module Aggregation</a:t>
            </a:r>
          </a:p>
        </p:txBody>
      </p:sp>
      <p:sp>
        <p:nvSpPr>
          <p:cNvPr id="4" name="Rectángulo 10">
            <a:extLst>
              <a:ext uri="{FF2B5EF4-FFF2-40B4-BE49-F238E27FC236}">
                <a16:creationId xmlns:a16="http://schemas.microsoft.com/office/drawing/2014/main" id="{C8B6244E-A6FA-8D7B-6B39-6B93C10A9B38}"/>
              </a:ext>
            </a:extLst>
          </p:cNvPr>
          <p:cNvSpPr/>
          <p:nvPr/>
        </p:nvSpPr>
        <p:spPr>
          <a:xfrm>
            <a:off x="711023" y="2170406"/>
            <a:ext cx="3495612" cy="603671"/>
          </a:xfrm>
          <a:prstGeom prst="rect">
            <a:avLst/>
          </a:prstGeom>
          <a:solidFill>
            <a:srgbClr val="DEEDF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36000"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55600" indent="-355600">
              <a:spcAft>
                <a:spcPts val="300"/>
              </a:spcAft>
            </a:pPr>
            <a:r>
              <a:rPr lang="en-GB" sz="900" b="1">
                <a:solidFill>
                  <a:srgbClr val="DEEDF1">
                    <a:lumMod val="25000"/>
                  </a:srgbClr>
                </a:solidFill>
                <a:latin typeface="Santander Text" panose="020B0504020201020104" pitchFamily="34" charset="0"/>
              </a:rPr>
              <a:t>1 – Business Execution Services</a:t>
            </a:r>
          </a:p>
          <a:p>
            <a:pPr>
              <a:spcAft>
                <a:spcPts val="300"/>
              </a:spcAft>
            </a:pPr>
            <a:r>
              <a:rPr lang="en-GB" sz="800" i="1">
                <a:solidFill>
                  <a:srgbClr val="DEEDF1">
                    <a:lumMod val="25000"/>
                  </a:srgbClr>
                </a:solidFill>
                <a:latin typeface="Santander Text" panose="020B0504020201020104" pitchFamily="34" charset="0"/>
              </a:rPr>
              <a:t>	</a:t>
            </a:r>
            <a:endParaRPr lang="en-GB" sz="700" i="1">
              <a:solidFill>
                <a:srgbClr val="DEEDF1">
                  <a:lumMod val="25000"/>
                </a:srgbClr>
              </a:solidFill>
              <a:latin typeface="Santander Text" panose="020B0504020201020104" pitchFamily="34" charset="0"/>
            </a:endParaRPr>
          </a:p>
        </p:txBody>
      </p:sp>
      <p:sp>
        <p:nvSpPr>
          <p:cNvPr id="5" name="Rectángulo 10">
            <a:extLst>
              <a:ext uri="{FF2B5EF4-FFF2-40B4-BE49-F238E27FC236}">
                <a16:creationId xmlns:a16="http://schemas.microsoft.com/office/drawing/2014/main" id="{2D7D62EB-25C5-BB52-3774-E313536F95CA}"/>
              </a:ext>
            </a:extLst>
          </p:cNvPr>
          <p:cNvSpPr/>
          <p:nvPr/>
        </p:nvSpPr>
        <p:spPr>
          <a:xfrm>
            <a:off x="749724" y="2839283"/>
            <a:ext cx="3495612" cy="1360924"/>
          </a:xfrm>
          <a:prstGeom prst="rect">
            <a:avLst/>
          </a:prstGeom>
          <a:solidFill>
            <a:srgbClr val="DEEDF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36000"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55600" indent="-355600">
              <a:spcAft>
                <a:spcPts val="300"/>
              </a:spcAft>
            </a:pPr>
            <a:r>
              <a:rPr lang="en-GB" sz="900" b="1">
                <a:solidFill>
                  <a:srgbClr val="DEEDF1">
                    <a:lumMod val="25000"/>
                  </a:srgbClr>
                </a:solidFill>
                <a:latin typeface="Santander Text" panose="020B0504020201020104" pitchFamily="34" charset="0"/>
              </a:rPr>
              <a:t>2 – Back Office Business Execution Services</a:t>
            </a:r>
          </a:p>
          <a:p>
            <a:pPr>
              <a:spcAft>
                <a:spcPts val="300"/>
              </a:spcAft>
            </a:pPr>
            <a:r>
              <a:rPr lang="en-GB" sz="800" i="1">
                <a:solidFill>
                  <a:srgbClr val="DEEDF1">
                    <a:lumMod val="25000"/>
                  </a:srgbClr>
                </a:solidFill>
                <a:latin typeface="Santander Text" panose="020B0504020201020104" pitchFamily="34" charset="0"/>
              </a:rPr>
              <a:t>	</a:t>
            </a:r>
            <a:endParaRPr lang="en-GB" sz="700" i="1">
              <a:solidFill>
                <a:srgbClr val="DEEDF1">
                  <a:lumMod val="25000"/>
                </a:srgbClr>
              </a:solidFill>
              <a:latin typeface="Santander Text" panose="020B0504020201020104" pitchFamily="34" charset="0"/>
            </a:endParaRPr>
          </a:p>
        </p:txBody>
      </p:sp>
      <p:sp>
        <p:nvSpPr>
          <p:cNvPr id="14" name="Rectángulo 114">
            <a:extLst>
              <a:ext uri="{FF2B5EF4-FFF2-40B4-BE49-F238E27FC236}">
                <a16:creationId xmlns:a16="http://schemas.microsoft.com/office/drawing/2014/main" id="{24E314E4-E89C-6B02-DF21-9822FB747924}"/>
              </a:ext>
            </a:extLst>
          </p:cNvPr>
          <p:cNvSpPr/>
          <p:nvPr/>
        </p:nvSpPr>
        <p:spPr>
          <a:xfrm>
            <a:off x="4290389" y="2167636"/>
            <a:ext cx="3734274" cy="601546"/>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AUKI BO Workflows</a:t>
            </a:r>
          </a:p>
        </p:txBody>
      </p:sp>
      <p:sp>
        <p:nvSpPr>
          <p:cNvPr id="16" name="Rectángulo 114">
            <a:extLst>
              <a:ext uri="{FF2B5EF4-FFF2-40B4-BE49-F238E27FC236}">
                <a16:creationId xmlns:a16="http://schemas.microsoft.com/office/drawing/2014/main" id="{8BB5222B-AAC2-C7A6-91E1-65A01068E296}"/>
              </a:ext>
            </a:extLst>
          </p:cNvPr>
          <p:cNvSpPr/>
          <p:nvPr/>
        </p:nvSpPr>
        <p:spPr>
          <a:xfrm>
            <a:off x="8143973" y="2167636"/>
            <a:ext cx="3449972" cy="601546"/>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Integrity Check</a:t>
            </a:r>
          </a:p>
        </p:txBody>
      </p:sp>
      <p:sp>
        <p:nvSpPr>
          <p:cNvPr id="21" name="Rectángulo 114">
            <a:extLst>
              <a:ext uri="{FF2B5EF4-FFF2-40B4-BE49-F238E27FC236}">
                <a16:creationId xmlns:a16="http://schemas.microsoft.com/office/drawing/2014/main" id="{B55031A5-967E-55CB-C610-7BBF65CFE799}"/>
              </a:ext>
            </a:extLst>
          </p:cNvPr>
          <p:cNvSpPr/>
          <p:nvPr/>
        </p:nvSpPr>
        <p:spPr>
          <a:xfrm>
            <a:off x="4318802" y="2937843"/>
            <a:ext cx="3627863" cy="551043"/>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Calypso CCPs</a:t>
            </a:r>
          </a:p>
        </p:txBody>
      </p:sp>
      <p:sp>
        <p:nvSpPr>
          <p:cNvPr id="24" name="Rectángulo 114">
            <a:extLst>
              <a:ext uri="{FF2B5EF4-FFF2-40B4-BE49-F238E27FC236}">
                <a16:creationId xmlns:a16="http://schemas.microsoft.com/office/drawing/2014/main" id="{5CB7F405-034F-3CDD-4A9E-BB26C2AB3818}"/>
              </a:ext>
            </a:extLst>
          </p:cNvPr>
          <p:cNvSpPr/>
          <p:nvPr/>
        </p:nvSpPr>
        <p:spPr>
          <a:xfrm>
            <a:off x="8020132" y="2934292"/>
            <a:ext cx="3573814" cy="551043"/>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Calypso STC</a:t>
            </a:r>
          </a:p>
        </p:txBody>
      </p:sp>
      <p:sp>
        <p:nvSpPr>
          <p:cNvPr id="25" name="Rectángulo 114">
            <a:extLst>
              <a:ext uri="{FF2B5EF4-FFF2-40B4-BE49-F238E27FC236}">
                <a16:creationId xmlns:a16="http://schemas.microsoft.com/office/drawing/2014/main" id="{E5190A80-7371-4520-CC43-AD3E4D227037}"/>
              </a:ext>
            </a:extLst>
          </p:cNvPr>
          <p:cNvSpPr/>
          <p:nvPr/>
        </p:nvSpPr>
        <p:spPr>
          <a:xfrm>
            <a:off x="4290388" y="3607328"/>
            <a:ext cx="2658770" cy="551043"/>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BOX</a:t>
            </a:r>
          </a:p>
        </p:txBody>
      </p:sp>
      <p:sp>
        <p:nvSpPr>
          <p:cNvPr id="37" name="Text Placeholder 2">
            <a:extLst>
              <a:ext uri="{FF2B5EF4-FFF2-40B4-BE49-F238E27FC236}">
                <a16:creationId xmlns:a16="http://schemas.microsoft.com/office/drawing/2014/main" id="{95C2CEFB-F688-9A14-6275-54615CA328A3}"/>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19" name="Rectángulo 114">
            <a:extLst>
              <a:ext uri="{FF2B5EF4-FFF2-40B4-BE49-F238E27FC236}">
                <a16:creationId xmlns:a16="http://schemas.microsoft.com/office/drawing/2014/main" id="{39BF6EA1-A646-5C96-E39E-E2CEE6969A2E}"/>
              </a:ext>
            </a:extLst>
          </p:cNvPr>
          <p:cNvSpPr/>
          <p:nvPr/>
        </p:nvSpPr>
        <p:spPr>
          <a:xfrm>
            <a:off x="7007777" y="3624032"/>
            <a:ext cx="2177565" cy="534339"/>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INTELLIMATCH</a:t>
            </a:r>
          </a:p>
        </p:txBody>
      </p:sp>
      <p:sp>
        <p:nvSpPr>
          <p:cNvPr id="85" name="Rectángulo 114">
            <a:extLst>
              <a:ext uri="{FF2B5EF4-FFF2-40B4-BE49-F238E27FC236}">
                <a16:creationId xmlns:a16="http://schemas.microsoft.com/office/drawing/2014/main" id="{055A2F3F-B0EF-C6D1-D9A5-4926CE11563D}"/>
              </a:ext>
            </a:extLst>
          </p:cNvPr>
          <p:cNvSpPr/>
          <p:nvPr/>
        </p:nvSpPr>
        <p:spPr>
          <a:xfrm>
            <a:off x="9259746" y="3607328"/>
            <a:ext cx="2334199" cy="534339"/>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XTP</a:t>
            </a:r>
          </a:p>
        </p:txBody>
      </p:sp>
    </p:spTree>
    <p:extLst>
      <p:ext uri="{BB962C8B-B14F-4D97-AF65-F5344CB8AC3E}">
        <p14:creationId xmlns:p14="http://schemas.microsoft.com/office/powerpoint/2010/main" val="35786277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CC737-79FD-61C8-0F01-80446F1AFB14}"/>
            </a:ext>
          </a:extLst>
        </p:cNvPr>
        <p:cNvGrpSpPr/>
        <p:nvPr/>
      </p:nvGrpSpPr>
      <p:grpSpPr>
        <a:xfrm>
          <a:off x="0" y="0"/>
          <a:ext cx="0" cy="0"/>
          <a:chOff x="0" y="0"/>
          <a:chExt cx="0" cy="0"/>
        </a:xfrm>
      </p:grpSpPr>
      <p:sp>
        <p:nvSpPr>
          <p:cNvPr id="112" name="Text Placeholder 2">
            <a:extLst>
              <a:ext uri="{FF2B5EF4-FFF2-40B4-BE49-F238E27FC236}">
                <a16:creationId xmlns:a16="http://schemas.microsoft.com/office/drawing/2014/main" id="{F1726DAE-E064-5A68-ADAB-1FA17E92B871}"/>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113" name="Título 1">
            <a:extLst>
              <a:ext uri="{FF2B5EF4-FFF2-40B4-BE49-F238E27FC236}">
                <a16:creationId xmlns:a16="http://schemas.microsoft.com/office/drawing/2014/main" id="{AB1DAD93-AF48-5651-B55C-408D562277C2}"/>
              </a:ext>
            </a:extLst>
          </p:cNvPr>
          <p:cNvSpPr>
            <a:spLocks noGrp="1"/>
          </p:cNvSpPr>
          <p:nvPr>
            <p:ph type="title"/>
          </p:nvPr>
        </p:nvSpPr>
        <p:spPr>
          <a:xfrm>
            <a:off x="711024" y="641900"/>
            <a:ext cx="10758733" cy="445400"/>
          </a:xfrm>
        </p:spPr>
        <p:txBody>
          <a:bodyPr/>
          <a:lstStyle/>
          <a:p>
            <a:pPr>
              <a:defRPr/>
            </a:pPr>
            <a:r>
              <a:rPr kumimoji="0" lang="es-ES" sz="2800" b="1" i="0" u="none" strike="noStrike" kern="1200" cap="none" spc="0" normalizeH="0" baseline="0" noProof="0">
                <a:ln>
                  <a:noFill/>
                </a:ln>
                <a:solidFill>
                  <a:srgbClr val="EC0000"/>
                </a:solidFill>
                <a:effectLst/>
                <a:uLnTx/>
                <a:uFillTx/>
                <a:latin typeface="Santander Headline"/>
                <a:ea typeface="+mj-ea"/>
                <a:cs typeface="+mj-cs"/>
              </a:rPr>
              <a:t>SCIB. </a:t>
            </a:r>
            <a:r>
              <a:rPr kumimoji="0" lang="es-ES" sz="2800" b="1" i="0" u="none" strike="noStrike" kern="1200" cap="none" spc="0" normalizeH="0" baseline="0" noProof="0" err="1">
                <a:ln>
                  <a:noFill/>
                </a:ln>
                <a:solidFill>
                  <a:schemeClr val="bg2">
                    <a:lumMod val="75000"/>
                  </a:schemeClr>
                </a:solidFill>
                <a:effectLst/>
                <a:uLnTx/>
                <a:uFillTx/>
                <a:latin typeface="Santander Headline"/>
                <a:ea typeface="+mj-ea"/>
                <a:cs typeface="+mj-cs"/>
              </a:rPr>
              <a:t>Supply</a:t>
            </a:r>
            <a:r>
              <a:rPr kumimoji="0" lang="es-ES" sz="2800" b="1" i="0" u="none" strike="noStrike" kern="1200" cap="none" spc="0" normalizeH="0" baseline="0" noProof="0">
                <a:ln>
                  <a:noFill/>
                </a:ln>
                <a:solidFill>
                  <a:schemeClr val="bg2">
                    <a:lumMod val="75000"/>
                  </a:schemeClr>
                </a:solidFill>
                <a:effectLst/>
                <a:uLnTx/>
                <a:uFillTx/>
                <a:latin typeface="Santander Headline"/>
                <a:ea typeface="+mj-ea"/>
                <a:cs typeface="+mj-cs"/>
              </a:rPr>
              <a:t> Change </a:t>
            </a:r>
            <a:r>
              <a:rPr kumimoji="0" lang="es-ES" sz="2800" b="1" i="0" u="none" strike="noStrike" kern="1200" cap="none" spc="0" normalizeH="0" baseline="0" noProof="0" err="1">
                <a:ln>
                  <a:noFill/>
                </a:ln>
                <a:solidFill>
                  <a:schemeClr val="bg2">
                    <a:lumMod val="75000"/>
                  </a:schemeClr>
                </a:solidFill>
                <a:effectLst/>
                <a:uLnTx/>
                <a:uFillTx/>
                <a:latin typeface="Santander Headline"/>
                <a:ea typeface="+mj-ea"/>
                <a:cs typeface="+mj-cs"/>
              </a:rPr>
              <a:t>Finance</a:t>
            </a:r>
            <a:br>
              <a:rPr kumimoji="0" lang="en-AU" sz="2800" b="1" i="0" u="none" strike="noStrike" kern="1200" cap="none" spc="0" normalizeH="0" baseline="0" noProof="0">
                <a:ln>
                  <a:noFill/>
                </a:ln>
                <a:solidFill>
                  <a:srgbClr val="BFBFBF"/>
                </a:solidFill>
                <a:effectLst/>
                <a:uLnTx/>
                <a:uFillTx/>
                <a:latin typeface="Santander Headline"/>
                <a:ea typeface="+mj-ea"/>
                <a:cs typeface="+mj-cs"/>
              </a:rPr>
            </a:br>
            <a:endParaRPr lang="en-US">
              <a:solidFill>
                <a:schemeClr val="bg1">
                  <a:lumMod val="75000"/>
                </a:schemeClr>
              </a:solidFill>
            </a:endParaRPr>
          </a:p>
        </p:txBody>
      </p:sp>
      <p:sp>
        <p:nvSpPr>
          <p:cNvPr id="15" name="Rectángulo 15">
            <a:extLst>
              <a:ext uri="{FF2B5EF4-FFF2-40B4-BE49-F238E27FC236}">
                <a16:creationId xmlns:a16="http://schemas.microsoft.com/office/drawing/2014/main" id="{C893EAF1-654B-3CF4-B693-23B9580AB57F}"/>
              </a:ext>
            </a:extLst>
          </p:cNvPr>
          <p:cNvSpPr/>
          <p:nvPr/>
        </p:nvSpPr>
        <p:spPr>
          <a:xfrm>
            <a:off x="4318803" y="1875926"/>
            <a:ext cx="7285904" cy="240476"/>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kern="0">
                <a:solidFill>
                  <a:prstClr val="white"/>
                </a:solidFill>
                <a:latin typeface="Santander Text" panose="020B0504020201020104" pitchFamily="34" charset="0"/>
              </a:rPr>
              <a:t>Modules</a:t>
            </a:r>
          </a:p>
        </p:txBody>
      </p:sp>
      <p:sp>
        <p:nvSpPr>
          <p:cNvPr id="8" name="Rectángulo 9">
            <a:extLst>
              <a:ext uri="{FF2B5EF4-FFF2-40B4-BE49-F238E27FC236}">
                <a16:creationId xmlns:a16="http://schemas.microsoft.com/office/drawing/2014/main" id="{B8825CC5-D9DB-7AF4-898D-58ABA7DF59CE}"/>
              </a:ext>
            </a:extLst>
          </p:cNvPr>
          <p:cNvSpPr/>
          <p:nvPr/>
        </p:nvSpPr>
        <p:spPr>
          <a:xfrm>
            <a:off x="587293" y="2170406"/>
            <a:ext cx="3619343" cy="610496"/>
          </a:xfrm>
          <a:prstGeom prst="rect">
            <a:avLst/>
          </a:prstGeom>
          <a:solidFill>
            <a:srgbClr val="DEEDF1"/>
          </a:solidFill>
          <a:ln w="12700" cap="flat" cmpd="sng" algn="ctr">
            <a:noFill/>
            <a:prstDash val="solid"/>
            <a:miter lim="800000"/>
          </a:ln>
          <a:effectLst/>
        </p:spPr>
        <p:txBody>
          <a:bodyPr lIns="72000" rIns="36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55600" indent="-355600">
              <a:spcAft>
                <a:spcPts val="300"/>
              </a:spcAft>
            </a:pPr>
            <a:r>
              <a:rPr lang="en-GB" sz="900" b="1" kern="0">
                <a:solidFill>
                  <a:srgbClr val="DEEDF1">
                    <a:lumMod val="25000"/>
                  </a:srgbClr>
                </a:solidFill>
                <a:latin typeface="Santander Text" panose="020B0504020201020104" pitchFamily="34" charset="0"/>
              </a:rPr>
              <a:t>1. Business Execution Services </a:t>
            </a:r>
          </a:p>
        </p:txBody>
      </p:sp>
      <p:sp>
        <p:nvSpPr>
          <p:cNvPr id="2" name="Rectángulo 15">
            <a:extLst>
              <a:ext uri="{FF2B5EF4-FFF2-40B4-BE49-F238E27FC236}">
                <a16:creationId xmlns:a16="http://schemas.microsoft.com/office/drawing/2014/main" id="{2C202F89-2750-8614-A52F-6E87DCBA0BDC}"/>
              </a:ext>
            </a:extLst>
          </p:cNvPr>
          <p:cNvSpPr/>
          <p:nvPr/>
        </p:nvSpPr>
        <p:spPr>
          <a:xfrm>
            <a:off x="587293" y="1875926"/>
            <a:ext cx="3619342" cy="240476"/>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kern="0">
                <a:solidFill>
                  <a:prstClr val="white"/>
                </a:solidFill>
                <a:latin typeface="Santander Text" panose="020B0504020201020104" pitchFamily="34" charset="0"/>
              </a:rPr>
              <a:t>Module Aggregation</a:t>
            </a:r>
          </a:p>
        </p:txBody>
      </p:sp>
      <p:sp>
        <p:nvSpPr>
          <p:cNvPr id="6" name="Rectángulo 114">
            <a:extLst>
              <a:ext uri="{FF2B5EF4-FFF2-40B4-BE49-F238E27FC236}">
                <a16:creationId xmlns:a16="http://schemas.microsoft.com/office/drawing/2014/main" id="{5CEF5FC4-41C7-4E94-7F2C-1A14FDAABE10}"/>
              </a:ext>
            </a:extLst>
          </p:cNvPr>
          <p:cNvSpPr/>
          <p:nvPr/>
        </p:nvSpPr>
        <p:spPr>
          <a:xfrm>
            <a:off x="8225882" y="2170406"/>
            <a:ext cx="3305251" cy="601546"/>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SAP Ready BTP</a:t>
            </a:r>
          </a:p>
        </p:txBody>
      </p:sp>
      <p:sp>
        <p:nvSpPr>
          <p:cNvPr id="10" name="Rectángulo 114">
            <a:extLst>
              <a:ext uri="{FF2B5EF4-FFF2-40B4-BE49-F238E27FC236}">
                <a16:creationId xmlns:a16="http://schemas.microsoft.com/office/drawing/2014/main" id="{10C812A8-32D3-F724-1DD9-E6CDE007589C}"/>
              </a:ext>
            </a:extLst>
          </p:cNvPr>
          <p:cNvSpPr/>
          <p:nvPr/>
        </p:nvSpPr>
        <p:spPr>
          <a:xfrm>
            <a:off x="4318803" y="2170406"/>
            <a:ext cx="3794912" cy="601546"/>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Confirming International</a:t>
            </a:r>
          </a:p>
        </p:txBody>
      </p:sp>
    </p:spTree>
    <p:extLst>
      <p:ext uri="{BB962C8B-B14F-4D97-AF65-F5344CB8AC3E}">
        <p14:creationId xmlns:p14="http://schemas.microsoft.com/office/powerpoint/2010/main" val="12134165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D2390-D9E9-B918-8D91-5E3B63EDF38A}"/>
            </a:ext>
          </a:extLst>
        </p:cNvPr>
        <p:cNvGrpSpPr/>
        <p:nvPr/>
      </p:nvGrpSpPr>
      <p:grpSpPr>
        <a:xfrm>
          <a:off x="0" y="0"/>
          <a:ext cx="0" cy="0"/>
          <a:chOff x="0" y="0"/>
          <a:chExt cx="0" cy="0"/>
        </a:xfrm>
      </p:grpSpPr>
      <p:sp>
        <p:nvSpPr>
          <p:cNvPr id="112" name="Text Placeholder 2">
            <a:extLst>
              <a:ext uri="{FF2B5EF4-FFF2-40B4-BE49-F238E27FC236}">
                <a16:creationId xmlns:a16="http://schemas.microsoft.com/office/drawing/2014/main" id="{EF4782CA-E4B8-BC9E-20F7-F16CD86E0444}"/>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113" name="Título 1">
            <a:extLst>
              <a:ext uri="{FF2B5EF4-FFF2-40B4-BE49-F238E27FC236}">
                <a16:creationId xmlns:a16="http://schemas.microsoft.com/office/drawing/2014/main" id="{CBCBAA17-F7A6-AB86-DB35-2EDC1B40336E}"/>
              </a:ext>
            </a:extLst>
          </p:cNvPr>
          <p:cNvSpPr>
            <a:spLocks noGrp="1"/>
          </p:cNvSpPr>
          <p:nvPr>
            <p:ph type="title"/>
          </p:nvPr>
        </p:nvSpPr>
        <p:spPr>
          <a:xfrm>
            <a:off x="711024" y="641900"/>
            <a:ext cx="10758733" cy="445400"/>
          </a:xfrm>
        </p:spPr>
        <p:txBody>
          <a:bodyPr/>
          <a:lstStyle/>
          <a:p>
            <a:pPr>
              <a:defRPr/>
            </a:pPr>
            <a:r>
              <a:rPr kumimoji="0" lang="es-ES" sz="2800" b="1" i="0" u="none" strike="noStrike" kern="1200" cap="none" spc="0" normalizeH="0" baseline="0" noProof="0">
                <a:ln>
                  <a:noFill/>
                </a:ln>
                <a:solidFill>
                  <a:srgbClr val="EC0000"/>
                </a:solidFill>
                <a:effectLst/>
                <a:uLnTx/>
                <a:uFillTx/>
                <a:latin typeface="Santander Headline"/>
                <a:ea typeface="+mj-ea"/>
                <a:cs typeface="+mj-cs"/>
              </a:rPr>
              <a:t>SCIB. </a:t>
            </a:r>
            <a:r>
              <a:rPr kumimoji="0" lang="es-ES" sz="2800" b="1" i="0" u="none" strike="noStrike" kern="1200" cap="none" spc="0" normalizeH="0" baseline="0" noProof="0" err="1">
                <a:ln>
                  <a:noFill/>
                </a:ln>
                <a:solidFill>
                  <a:schemeClr val="bg2">
                    <a:lumMod val="75000"/>
                  </a:schemeClr>
                </a:solidFill>
                <a:effectLst/>
                <a:uLnTx/>
                <a:uFillTx/>
                <a:latin typeface="Santander Headline"/>
                <a:ea typeface="+mj-ea"/>
                <a:cs typeface="+mj-cs"/>
              </a:rPr>
              <a:t>Receivables</a:t>
            </a:r>
            <a:r>
              <a:rPr kumimoji="0" lang="es-ES" sz="2800" b="1" i="0" u="none" strike="noStrike" kern="1200" cap="none" spc="0" normalizeH="0" baseline="0" noProof="0">
                <a:ln>
                  <a:noFill/>
                </a:ln>
                <a:solidFill>
                  <a:schemeClr val="bg2">
                    <a:lumMod val="75000"/>
                  </a:schemeClr>
                </a:solidFill>
                <a:effectLst/>
                <a:uLnTx/>
                <a:uFillTx/>
                <a:latin typeface="Santander Headline"/>
                <a:ea typeface="+mj-ea"/>
                <a:cs typeface="+mj-cs"/>
              </a:rPr>
              <a:t> </a:t>
            </a:r>
            <a:r>
              <a:rPr kumimoji="0" lang="es-ES" sz="2800" b="1" i="0" u="none" strike="noStrike" kern="1200" cap="none" spc="0" normalizeH="0" baseline="0" noProof="0" err="1">
                <a:ln>
                  <a:noFill/>
                </a:ln>
                <a:solidFill>
                  <a:schemeClr val="bg2">
                    <a:lumMod val="75000"/>
                  </a:schemeClr>
                </a:solidFill>
                <a:effectLst/>
                <a:uLnTx/>
                <a:uFillTx/>
                <a:latin typeface="Santander Headline"/>
                <a:ea typeface="+mj-ea"/>
                <a:cs typeface="+mj-cs"/>
              </a:rPr>
              <a:t>Finance</a:t>
            </a:r>
            <a:br>
              <a:rPr kumimoji="0" lang="en-AU" sz="2800" b="1" i="0" u="none" strike="noStrike" kern="1200" cap="none" spc="0" normalizeH="0" baseline="0" noProof="0">
                <a:ln>
                  <a:noFill/>
                </a:ln>
                <a:solidFill>
                  <a:srgbClr val="BFBFBF"/>
                </a:solidFill>
                <a:effectLst/>
                <a:uLnTx/>
                <a:uFillTx/>
                <a:latin typeface="Santander Headline"/>
                <a:ea typeface="+mj-ea"/>
                <a:cs typeface="+mj-cs"/>
              </a:rPr>
            </a:br>
            <a:endParaRPr lang="en-US">
              <a:solidFill>
                <a:schemeClr val="bg1">
                  <a:lumMod val="75000"/>
                </a:schemeClr>
              </a:solidFill>
            </a:endParaRPr>
          </a:p>
        </p:txBody>
      </p:sp>
      <p:sp>
        <p:nvSpPr>
          <p:cNvPr id="15" name="Rectángulo 15">
            <a:extLst>
              <a:ext uri="{FF2B5EF4-FFF2-40B4-BE49-F238E27FC236}">
                <a16:creationId xmlns:a16="http://schemas.microsoft.com/office/drawing/2014/main" id="{7D4974E7-E8FC-EE84-56E7-FDEC0D623A81}"/>
              </a:ext>
            </a:extLst>
          </p:cNvPr>
          <p:cNvSpPr/>
          <p:nvPr/>
        </p:nvSpPr>
        <p:spPr>
          <a:xfrm>
            <a:off x="4318803" y="1875926"/>
            <a:ext cx="7551328" cy="240476"/>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kern="0">
                <a:solidFill>
                  <a:prstClr val="white"/>
                </a:solidFill>
                <a:latin typeface="Santander Text" panose="020B0504020201020104" pitchFamily="34" charset="0"/>
              </a:rPr>
              <a:t>Modules</a:t>
            </a:r>
          </a:p>
        </p:txBody>
      </p:sp>
      <p:sp>
        <p:nvSpPr>
          <p:cNvPr id="8" name="Rectángulo 9">
            <a:extLst>
              <a:ext uri="{FF2B5EF4-FFF2-40B4-BE49-F238E27FC236}">
                <a16:creationId xmlns:a16="http://schemas.microsoft.com/office/drawing/2014/main" id="{59AD9BB9-1A99-3BD9-91FA-69E445AA9172}"/>
              </a:ext>
            </a:extLst>
          </p:cNvPr>
          <p:cNvSpPr/>
          <p:nvPr/>
        </p:nvSpPr>
        <p:spPr>
          <a:xfrm>
            <a:off x="587292" y="2178699"/>
            <a:ext cx="3619343" cy="610496"/>
          </a:xfrm>
          <a:prstGeom prst="rect">
            <a:avLst/>
          </a:prstGeom>
          <a:solidFill>
            <a:srgbClr val="DEEDF1"/>
          </a:solidFill>
          <a:ln w="12700" cap="flat" cmpd="sng" algn="ctr">
            <a:noFill/>
            <a:prstDash val="solid"/>
            <a:miter lim="800000"/>
          </a:ln>
          <a:effectLst/>
        </p:spPr>
        <p:txBody>
          <a:bodyPr lIns="72000" rIns="36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55600" indent="-355600">
              <a:spcAft>
                <a:spcPts val="300"/>
              </a:spcAft>
            </a:pPr>
            <a:r>
              <a:rPr lang="en-GB" sz="900" b="1" kern="0">
                <a:solidFill>
                  <a:srgbClr val="DEEDF1">
                    <a:lumMod val="25000"/>
                  </a:srgbClr>
                </a:solidFill>
                <a:latin typeface="Santander Text" panose="020B0504020201020104" pitchFamily="34" charset="0"/>
              </a:rPr>
              <a:t>1. Business Execution Services </a:t>
            </a:r>
          </a:p>
        </p:txBody>
      </p:sp>
      <p:sp>
        <p:nvSpPr>
          <p:cNvPr id="2" name="Rectángulo 15">
            <a:extLst>
              <a:ext uri="{FF2B5EF4-FFF2-40B4-BE49-F238E27FC236}">
                <a16:creationId xmlns:a16="http://schemas.microsoft.com/office/drawing/2014/main" id="{9E377488-D429-BC24-A8F8-A0B9A538BF7E}"/>
              </a:ext>
            </a:extLst>
          </p:cNvPr>
          <p:cNvSpPr/>
          <p:nvPr/>
        </p:nvSpPr>
        <p:spPr>
          <a:xfrm>
            <a:off x="587293" y="1875926"/>
            <a:ext cx="3619342" cy="240476"/>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kern="0">
                <a:solidFill>
                  <a:prstClr val="white"/>
                </a:solidFill>
                <a:latin typeface="Santander Text" panose="020B0504020201020104" pitchFamily="34" charset="0"/>
              </a:rPr>
              <a:t>Module Aggregation</a:t>
            </a:r>
          </a:p>
        </p:txBody>
      </p:sp>
      <p:sp>
        <p:nvSpPr>
          <p:cNvPr id="3" name="Rectángulo 114">
            <a:extLst>
              <a:ext uri="{FF2B5EF4-FFF2-40B4-BE49-F238E27FC236}">
                <a16:creationId xmlns:a16="http://schemas.microsoft.com/office/drawing/2014/main" id="{26937B82-D12C-1E88-4CE6-A7727D83FB35}"/>
              </a:ext>
            </a:extLst>
          </p:cNvPr>
          <p:cNvSpPr/>
          <p:nvPr/>
        </p:nvSpPr>
        <p:spPr>
          <a:xfrm>
            <a:off x="4318802" y="2178699"/>
            <a:ext cx="3619342" cy="601546"/>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Dynamic Discount</a:t>
            </a:r>
          </a:p>
        </p:txBody>
      </p:sp>
      <p:sp>
        <p:nvSpPr>
          <p:cNvPr id="11" name="Rectángulo 114">
            <a:extLst>
              <a:ext uri="{FF2B5EF4-FFF2-40B4-BE49-F238E27FC236}">
                <a16:creationId xmlns:a16="http://schemas.microsoft.com/office/drawing/2014/main" id="{B3374412-9CA5-773E-2960-3FB2E3C051C7}"/>
              </a:ext>
            </a:extLst>
          </p:cNvPr>
          <p:cNvSpPr/>
          <p:nvPr/>
        </p:nvSpPr>
        <p:spPr>
          <a:xfrm>
            <a:off x="7985367" y="2187649"/>
            <a:ext cx="3884764" cy="601546"/>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Receivables Global Platform</a:t>
            </a:r>
          </a:p>
        </p:txBody>
      </p:sp>
    </p:spTree>
    <p:extLst>
      <p:ext uri="{BB962C8B-B14F-4D97-AF65-F5344CB8AC3E}">
        <p14:creationId xmlns:p14="http://schemas.microsoft.com/office/powerpoint/2010/main" val="3633276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1D7A7-08A6-E035-AC89-BD4598EF5AFC}"/>
            </a:ext>
          </a:extLst>
        </p:cNvPr>
        <p:cNvGrpSpPr/>
        <p:nvPr/>
      </p:nvGrpSpPr>
      <p:grpSpPr>
        <a:xfrm>
          <a:off x="0" y="0"/>
          <a:ext cx="0" cy="0"/>
          <a:chOff x="0" y="0"/>
          <a:chExt cx="0" cy="0"/>
        </a:xfrm>
      </p:grpSpPr>
      <p:sp>
        <p:nvSpPr>
          <p:cNvPr id="113" name="Título 1">
            <a:extLst>
              <a:ext uri="{FF2B5EF4-FFF2-40B4-BE49-F238E27FC236}">
                <a16:creationId xmlns:a16="http://schemas.microsoft.com/office/drawing/2014/main" id="{2A26A99B-0FA9-8AC3-BD2D-0528ECF2A943}"/>
              </a:ext>
            </a:extLst>
          </p:cNvPr>
          <p:cNvSpPr>
            <a:spLocks noGrp="1"/>
          </p:cNvSpPr>
          <p:nvPr>
            <p:ph type="title"/>
          </p:nvPr>
        </p:nvSpPr>
        <p:spPr>
          <a:xfrm>
            <a:off x="711024" y="641900"/>
            <a:ext cx="10758733" cy="445400"/>
          </a:xfrm>
        </p:spPr>
        <p:txBody>
          <a:bodyPr/>
          <a:lstStyle/>
          <a:p>
            <a:pPr>
              <a:defRPr/>
            </a:pPr>
            <a:r>
              <a:rPr kumimoji="0" lang="es-ES" sz="2800" b="1" i="0" u="none" strike="noStrike" kern="1200" cap="none" spc="0" normalizeH="0" baseline="0" noProof="0">
                <a:ln>
                  <a:noFill/>
                </a:ln>
                <a:solidFill>
                  <a:srgbClr val="EC0000"/>
                </a:solidFill>
                <a:effectLst/>
                <a:uLnTx/>
                <a:uFillTx/>
                <a:latin typeface="Santander Headline"/>
                <a:ea typeface="+mj-ea"/>
                <a:cs typeface="+mj-cs"/>
              </a:rPr>
              <a:t>SCIB. </a:t>
            </a:r>
            <a:r>
              <a:rPr kumimoji="0" lang="es-ES" sz="2800" b="1" i="0" u="none" strike="noStrike" kern="1200" cap="none" spc="0" normalizeH="0" baseline="0" noProof="0" err="1">
                <a:ln>
                  <a:noFill/>
                </a:ln>
                <a:solidFill>
                  <a:schemeClr val="bg2">
                    <a:lumMod val="75000"/>
                  </a:schemeClr>
                </a:solidFill>
                <a:effectLst/>
                <a:uLnTx/>
                <a:uFillTx/>
                <a:latin typeface="Santander Headline"/>
                <a:ea typeface="+mj-ea"/>
                <a:cs typeface="+mj-cs"/>
              </a:rPr>
              <a:t>Trade</a:t>
            </a:r>
            <a:r>
              <a:rPr kumimoji="0" lang="es-ES" sz="2800" b="1" i="0" u="none" strike="noStrike" kern="1200" cap="none" spc="0" normalizeH="0" baseline="0" noProof="0">
                <a:ln>
                  <a:noFill/>
                </a:ln>
                <a:solidFill>
                  <a:schemeClr val="bg2">
                    <a:lumMod val="75000"/>
                  </a:schemeClr>
                </a:solidFill>
                <a:effectLst/>
                <a:uLnTx/>
                <a:uFillTx/>
                <a:latin typeface="Santander Headline"/>
                <a:ea typeface="+mj-ea"/>
                <a:cs typeface="+mj-cs"/>
              </a:rPr>
              <a:t> </a:t>
            </a:r>
            <a:r>
              <a:rPr kumimoji="0" lang="es-ES" sz="2800" b="1" i="0" u="none" strike="noStrike" kern="1200" cap="none" spc="0" normalizeH="0" baseline="0" noProof="0" err="1">
                <a:ln>
                  <a:noFill/>
                </a:ln>
                <a:solidFill>
                  <a:schemeClr val="bg2">
                    <a:lumMod val="75000"/>
                  </a:schemeClr>
                </a:solidFill>
                <a:effectLst/>
                <a:uLnTx/>
                <a:uFillTx/>
                <a:latin typeface="Santander Headline"/>
                <a:ea typeface="+mj-ea"/>
                <a:cs typeface="+mj-cs"/>
              </a:rPr>
              <a:t>Finance</a:t>
            </a:r>
            <a:br>
              <a:rPr kumimoji="0" lang="en-AU" sz="2800" b="1" i="0" u="none" strike="noStrike" kern="1200" cap="none" spc="0" normalizeH="0" baseline="0" noProof="0">
                <a:ln>
                  <a:noFill/>
                </a:ln>
                <a:solidFill>
                  <a:srgbClr val="BFBFBF"/>
                </a:solidFill>
                <a:effectLst/>
                <a:uLnTx/>
                <a:uFillTx/>
                <a:latin typeface="Santander Headline"/>
                <a:ea typeface="+mj-ea"/>
                <a:cs typeface="+mj-cs"/>
              </a:rPr>
            </a:br>
            <a:endParaRPr lang="en-US">
              <a:solidFill>
                <a:schemeClr val="bg1">
                  <a:lumMod val="75000"/>
                </a:schemeClr>
              </a:solidFill>
            </a:endParaRPr>
          </a:p>
        </p:txBody>
      </p:sp>
      <p:sp>
        <p:nvSpPr>
          <p:cNvPr id="37" name="Text Placeholder 2">
            <a:extLst>
              <a:ext uri="{FF2B5EF4-FFF2-40B4-BE49-F238E27FC236}">
                <a16:creationId xmlns:a16="http://schemas.microsoft.com/office/drawing/2014/main" id="{433FC83C-9277-2A07-BC2F-7875B6B6AC20}"/>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2" name="Rectángulo 15">
            <a:extLst>
              <a:ext uri="{FF2B5EF4-FFF2-40B4-BE49-F238E27FC236}">
                <a16:creationId xmlns:a16="http://schemas.microsoft.com/office/drawing/2014/main" id="{F456EC45-C5DB-9233-5FDB-5430EB66A214}"/>
              </a:ext>
            </a:extLst>
          </p:cNvPr>
          <p:cNvSpPr/>
          <p:nvPr/>
        </p:nvSpPr>
        <p:spPr>
          <a:xfrm>
            <a:off x="4356080" y="1600026"/>
            <a:ext cx="7551328" cy="274642"/>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kern="0">
                <a:solidFill>
                  <a:prstClr val="white"/>
                </a:solidFill>
                <a:latin typeface="Santander Text" panose="020B0504020201020104" pitchFamily="34" charset="0"/>
              </a:rPr>
              <a:t>Modules</a:t>
            </a:r>
          </a:p>
        </p:txBody>
      </p:sp>
      <p:sp>
        <p:nvSpPr>
          <p:cNvPr id="3" name="Rectángulo 15">
            <a:extLst>
              <a:ext uri="{FF2B5EF4-FFF2-40B4-BE49-F238E27FC236}">
                <a16:creationId xmlns:a16="http://schemas.microsoft.com/office/drawing/2014/main" id="{63A3EC07-F4FD-EBAA-2ED8-02DDA22566EB}"/>
              </a:ext>
            </a:extLst>
          </p:cNvPr>
          <p:cNvSpPr/>
          <p:nvPr/>
        </p:nvSpPr>
        <p:spPr>
          <a:xfrm>
            <a:off x="711024" y="1600167"/>
            <a:ext cx="3596151" cy="274642"/>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kern="0">
                <a:solidFill>
                  <a:prstClr val="white"/>
                </a:solidFill>
                <a:latin typeface="Santander Text" panose="020B0504020201020104" pitchFamily="34" charset="0"/>
              </a:rPr>
              <a:t>Module Aggregation</a:t>
            </a:r>
          </a:p>
        </p:txBody>
      </p:sp>
      <p:sp>
        <p:nvSpPr>
          <p:cNvPr id="4" name="Rectángulo 10">
            <a:extLst>
              <a:ext uri="{FF2B5EF4-FFF2-40B4-BE49-F238E27FC236}">
                <a16:creationId xmlns:a16="http://schemas.microsoft.com/office/drawing/2014/main" id="{93A83605-A554-B3F8-C893-0121CB28D3C6}"/>
              </a:ext>
            </a:extLst>
          </p:cNvPr>
          <p:cNvSpPr/>
          <p:nvPr/>
        </p:nvSpPr>
        <p:spPr>
          <a:xfrm>
            <a:off x="736738" y="1983612"/>
            <a:ext cx="3570438" cy="1166572"/>
          </a:xfrm>
          <a:prstGeom prst="rect">
            <a:avLst/>
          </a:prstGeom>
          <a:solidFill>
            <a:srgbClr val="DEEDF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36000"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55600" indent="-355600" algn="ctr">
              <a:spcAft>
                <a:spcPts val="300"/>
              </a:spcAft>
            </a:pPr>
            <a:endParaRPr lang="en-GB" sz="1600" b="1">
              <a:solidFill>
                <a:srgbClr val="DEEDF1">
                  <a:lumMod val="25000"/>
                </a:srgbClr>
              </a:solidFill>
              <a:latin typeface="Santander Text" panose="020B0504020201020104" pitchFamily="34" charset="0"/>
            </a:endParaRPr>
          </a:p>
          <a:p>
            <a:pPr marL="355600" indent="-355600" algn="ctr">
              <a:spcAft>
                <a:spcPts val="300"/>
              </a:spcAft>
            </a:pPr>
            <a:r>
              <a:rPr lang="en-GB" sz="1600" b="1">
                <a:solidFill>
                  <a:srgbClr val="DEEDF1">
                    <a:lumMod val="25000"/>
                  </a:srgbClr>
                </a:solidFill>
                <a:latin typeface="Santander Text" panose="020B0504020201020104" pitchFamily="34" charset="0"/>
              </a:rPr>
              <a:t>Work in Progress </a:t>
            </a:r>
          </a:p>
          <a:p>
            <a:pPr algn="ctr">
              <a:spcAft>
                <a:spcPts val="300"/>
              </a:spcAft>
            </a:pPr>
            <a:r>
              <a:rPr lang="en-GB" sz="1600" i="1">
                <a:solidFill>
                  <a:srgbClr val="DEEDF1">
                    <a:lumMod val="25000"/>
                  </a:srgbClr>
                </a:solidFill>
                <a:latin typeface="Santander Text" panose="020B0504020201020104" pitchFamily="34" charset="0"/>
              </a:rPr>
              <a:t>	</a:t>
            </a:r>
          </a:p>
        </p:txBody>
      </p:sp>
      <p:sp>
        <p:nvSpPr>
          <p:cNvPr id="5" name="Rectángulo 114">
            <a:extLst>
              <a:ext uri="{FF2B5EF4-FFF2-40B4-BE49-F238E27FC236}">
                <a16:creationId xmlns:a16="http://schemas.microsoft.com/office/drawing/2014/main" id="{0EE810DB-6783-44D1-7EB8-3C4CC7F6B6DB}"/>
              </a:ext>
            </a:extLst>
          </p:cNvPr>
          <p:cNvSpPr/>
          <p:nvPr/>
        </p:nvSpPr>
        <p:spPr>
          <a:xfrm>
            <a:off x="4356080" y="1998069"/>
            <a:ext cx="7485129" cy="1137657"/>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kern="0">
                <a:solidFill>
                  <a:srgbClr val="DEEDF1">
                    <a:lumMod val="25000"/>
                  </a:srgbClr>
                </a:solidFill>
                <a:latin typeface="Santander Text" panose="020B0504020201020104" pitchFamily="34" charset="0"/>
              </a:rPr>
              <a:t>Work in Progress</a:t>
            </a:r>
          </a:p>
        </p:txBody>
      </p:sp>
    </p:spTree>
    <p:extLst>
      <p:ext uri="{BB962C8B-B14F-4D97-AF65-F5344CB8AC3E}">
        <p14:creationId xmlns:p14="http://schemas.microsoft.com/office/powerpoint/2010/main" val="22197263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13F5B-6609-5192-0F75-2DC442B4BCD3}"/>
            </a:ext>
          </a:extLst>
        </p:cNvPr>
        <p:cNvGrpSpPr/>
        <p:nvPr/>
      </p:nvGrpSpPr>
      <p:grpSpPr>
        <a:xfrm>
          <a:off x="0" y="0"/>
          <a:ext cx="0" cy="0"/>
          <a:chOff x="0" y="0"/>
          <a:chExt cx="0" cy="0"/>
        </a:xfrm>
      </p:grpSpPr>
      <p:sp>
        <p:nvSpPr>
          <p:cNvPr id="112" name="Text Placeholder 2">
            <a:extLst>
              <a:ext uri="{FF2B5EF4-FFF2-40B4-BE49-F238E27FC236}">
                <a16:creationId xmlns:a16="http://schemas.microsoft.com/office/drawing/2014/main" id="{8B52DA57-28A9-D398-898D-F8D2468C2FDC}"/>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113" name="Título 1">
            <a:extLst>
              <a:ext uri="{FF2B5EF4-FFF2-40B4-BE49-F238E27FC236}">
                <a16:creationId xmlns:a16="http://schemas.microsoft.com/office/drawing/2014/main" id="{BCFA86A9-B987-E265-6AD5-5EF4ACF2A098}"/>
              </a:ext>
            </a:extLst>
          </p:cNvPr>
          <p:cNvSpPr>
            <a:spLocks noGrp="1"/>
          </p:cNvSpPr>
          <p:nvPr>
            <p:ph type="title"/>
          </p:nvPr>
        </p:nvSpPr>
        <p:spPr>
          <a:xfrm>
            <a:off x="711024" y="641900"/>
            <a:ext cx="10758733" cy="445400"/>
          </a:xfrm>
        </p:spPr>
        <p:txBody>
          <a:bodyPr/>
          <a:lstStyle/>
          <a:p>
            <a:pPr>
              <a:defRPr/>
            </a:pPr>
            <a:r>
              <a:rPr kumimoji="0" lang="es-ES" sz="2800" b="1" i="0" u="none" strike="noStrike" kern="1200" cap="none" spc="0" normalizeH="0" baseline="0" noProof="0">
                <a:ln>
                  <a:noFill/>
                </a:ln>
                <a:solidFill>
                  <a:srgbClr val="EC0000"/>
                </a:solidFill>
                <a:effectLst/>
                <a:uLnTx/>
                <a:uFillTx/>
                <a:latin typeface="Santander Headline"/>
                <a:ea typeface="+mj-ea"/>
                <a:cs typeface="+mj-cs"/>
              </a:rPr>
              <a:t>SCIB. </a:t>
            </a:r>
            <a:r>
              <a:rPr lang="en-US">
                <a:solidFill>
                  <a:schemeClr val="bg2">
                    <a:lumMod val="75000"/>
                  </a:schemeClr>
                </a:solidFill>
                <a:latin typeface="Santander Headline"/>
              </a:rPr>
              <a:t>Specialized lending and capital optimization</a:t>
            </a:r>
            <a:br>
              <a:rPr lang="en-US">
                <a:solidFill>
                  <a:schemeClr val="bg2">
                    <a:lumMod val="75000"/>
                  </a:schemeClr>
                </a:solidFill>
                <a:latin typeface="Santander Headline"/>
              </a:rPr>
            </a:br>
            <a:endParaRPr lang="en-US">
              <a:solidFill>
                <a:schemeClr val="bg1">
                  <a:lumMod val="75000"/>
                </a:schemeClr>
              </a:solidFill>
            </a:endParaRPr>
          </a:p>
        </p:txBody>
      </p:sp>
      <p:sp>
        <p:nvSpPr>
          <p:cNvPr id="15" name="Rectángulo 15">
            <a:extLst>
              <a:ext uri="{FF2B5EF4-FFF2-40B4-BE49-F238E27FC236}">
                <a16:creationId xmlns:a16="http://schemas.microsoft.com/office/drawing/2014/main" id="{C843ED74-AA41-DFC5-DBC0-C576174EF0B9}"/>
              </a:ext>
            </a:extLst>
          </p:cNvPr>
          <p:cNvSpPr/>
          <p:nvPr/>
        </p:nvSpPr>
        <p:spPr>
          <a:xfrm>
            <a:off x="4318803" y="1875926"/>
            <a:ext cx="7551328" cy="240476"/>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kern="0">
                <a:solidFill>
                  <a:prstClr val="white"/>
                </a:solidFill>
                <a:latin typeface="Santander Text" panose="020B0504020201020104" pitchFamily="34" charset="0"/>
              </a:rPr>
              <a:t>Modules</a:t>
            </a:r>
          </a:p>
        </p:txBody>
      </p:sp>
      <p:sp>
        <p:nvSpPr>
          <p:cNvPr id="2" name="Rectángulo 15">
            <a:extLst>
              <a:ext uri="{FF2B5EF4-FFF2-40B4-BE49-F238E27FC236}">
                <a16:creationId xmlns:a16="http://schemas.microsoft.com/office/drawing/2014/main" id="{53584A82-608B-9A25-EFF4-58A1C9A47707}"/>
              </a:ext>
            </a:extLst>
          </p:cNvPr>
          <p:cNvSpPr/>
          <p:nvPr/>
        </p:nvSpPr>
        <p:spPr>
          <a:xfrm>
            <a:off x="587293" y="1875926"/>
            <a:ext cx="3619342" cy="240476"/>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kern="0">
                <a:solidFill>
                  <a:prstClr val="white"/>
                </a:solidFill>
                <a:latin typeface="Santander Text" panose="020B0504020201020104" pitchFamily="34" charset="0"/>
              </a:rPr>
              <a:t>Module Aggregation</a:t>
            </a:r>
          </a:p>
        </p:txBody>
      </p:sp>
      <p:sp>
        <p:nvSpPr>
          <p:cNvPr id="71" name="Rectángulo 9">
            <a:extLst>
              <a:ext uri="{FF2B5EF4-FFF2-40B4-BE49-F238E27FC236}">
                <a16:creationId xmlns:a16="http://schemas.microsoft.com/office/drawing/2014/main" id="{0549190C-4195-A42B-8F1D-8B9CDAAF966F}"/>
              </a:ext>
            </a:extLst>
          </p:cNvPr>
          <p:cNvSpPr/>
          <p:nvPr/>
        </p:nvSpPr>
        <p:spPr>
          <a:xfrm>
            <a:off x="587292" y="2179551"/>
            <a:ext cx="3619343" cy="610496"/>
          </a:xfrm>
          <a:prstGeom prst="rect">
            <a:avLst/>
          </a:prstGeom>
          <a:solidFill>
            <a:srgbClr val="DEEDF1"/>
          </a:solidFill>
          <a:ln w="12700" cap="flat" cmpd="sng" algn="ctr">
            <a:noFill/>
            <a:prstDash val="solid"/>
            <a:miter lim="800000"/>
          </a:ln>
          <a:effectLst/>
        </p:spPr>
        <p:txBody>
          <a:bodyPr lIns="72000" rIns="36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55600" indent="-355600">
              <a:spcAft>
                <a:spcPts val="300"/>
              </a:spcAft>
            </a:pPr>
            <a:r>
              <a:rPr lang="en-GB" sz="900" b="1" kern="0">
                <a:solidFill>
                  <a:srgbClr val="DEEDF1">
                    <a:lumMod val="25000"/>
                  </a:srgbClr>
                </a:solidFill>
                <a:latin typeface="Santander Text" panose="020B0504020201020104" pitchFamily="34" charset="0"/>
              </a:rPr>
              <a:t>1 – Distribution Business Services</a:t>
            </a:r>
          </a:p>
        </p:txBody>
      </p:sp>
      <p:sp>
        <p:nvSpPr>
          <p:cNvPr id="72" name="Rectángulo 63">
            <a:extLst>
              <a:ext uri="{FF2B5EF4-FFF2-40B4-BE49-F238E27FC236}">
                <a16:creationId xmlns:a16="http://schemas.microsoft.com/office/drawing/2014/main" id="{CED04937-A078-B19A-4619-724771F7C249}"/>
              </a:ext>
            </a:extLst>
          </p:cNvPr>
          <p:cNvSpPr>
            <a:spLocks/>
          </p:cNvSpPr>
          <p:nvPr/>
        </p:nvSpPr>
        <p:spPr>
          <a:xfrm>
            <a:off x="8654450" y="2170406"/>
            <a:ext cx="3215679" cy="601547"/>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600"/>
              </a:spcAft>
            </a:pPr>
            <a:r>
              <a:rPr lang="en-US" sz="1100" kern="0"/>
              <a:t>DLX</a:t>
            </a:r>
          </a:p>
        </p:txBody>
      </p:sp>
      <p:sp>
        <p:nvSpPr>
          <p:cNvPr id="73" name="Rectángulo 10">
            <a:extLst>
              <a:ext uri="{FF2B5EF4-FFF2-40B4-BE49-F238E27FC236}">
                <a16:creationId xmlns:a16="http://schemas.microsoft.com/office/drawing/2014/main" id="{55D4B5F8-8B6E-B85A-75B2-962F026773E0}"/>
              </a:ext>
            </a:extLst>
          </p:cNvPr>
          <p:cNvSpPr/>
          <p:nvPr/>
        </p:nvSpPr>
        <p:spPr>
          <a:xfrm>
            <a:off x="579175" y="2862029"/>
            <a:ext cx="3619343" cy="603671"/>
          </a:xfrm>
          <a:prstGeom prst="rect">
            <a:avLst/>
          </a:prstGeom>
          <a:solidFill>
            <a:srgbClr val="DEEDF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36000"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55600" indent="-355600">
              <a:spcAft>
                <a:spcPts val="300"/>
              </a:spcAft>
            </a:pPr>
            <a:r>
              <a:rPr lang="en-GB" sz="900" b="1">
                <a:solidFill>
                  <a:srgbClr val="DEEDF1">
                    <a:lumMod val="25000"/>
                  </a:srgbClr>
                </a:solidFill>
                <a:latin typeface="Santander Text" panose="020B0504020201020104" pitchFamily="34" charset="0"/>
              </a:rPr>
              <a:t>2 – Business Execution Services </a:t>
            </a:r>
          </a:p>
          <a:p>
            <a:pPr>
              <a:spcAft>
                <a:spcPts val="300"/>
              </a:spcAft>
            </a:pPr>
            <a:r>
              <a:rPr lang="en-GB" sz="800" i="1">
                <a:solidFill>
                  <a:srgbClr val="DEEDF1">
                    <a:lumMod val="25000"/>
                  </a:srgbClr>
                </a:solidFill>
                <a:latin typeface="Santander Text" panose="020B0504020201020104" pitchFamily="34" charset="0"/>
              </a:rPr>
              <a:t>	</a:t>
            </a:r>
            <a:endParaRPr lang="en-GB" sz="700" i="1">
              <a:solidFill>
                <a:srgbClr val="DEEDF1">
                  <a:lumMod val="25000"/>
                </a:srgbClr>
              </a:solidFill>
              <a:latin typeface="Santander Text" panose="020B0504020201020104" pitchFamily="34" charset="0"/>
            </a:endParaRPr>
          </a:p>
        </p:txBody>
      </p:sp>
      <p:sp>
        <p:nvSpPr>
          <p:cNvPr id="74" name="Rectángulo 114">
            <a:extLst>
              <a:ext uri="{FF2B5EF4-FFF2-40B4-BE49-F238E27FC236}">
                <a16:creationId xmlns:a16="http://schemas.microsoft.com/office/drawing/2014/main" id="{086CDCD7-765C-D6A9-A3C5-2AF6B87E67AC}"/>
              </a:ext>
            </a:extLst>
          </p:cNvPr>
          <p:cNvSpPr/>
          <p:nvPr/>
        </p:nvSpPr>
        <p:spPr>
          <a:xfrm>
            <a:off x="4311139" y="2921944"/>
            <a:ext cx="1906779" cy="543756"/>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err="1">
                <a:solidFill>
                  <a:srgbClr val="DEEDF1">
                    <a:lumMod val="25000"/>
                  </a:srgbClr>
                </a:solidFill>
                <a:latin typeface="Santander Text" panose="020B0504020201020104" pitchFamily="34" charset="0"/>
              </a:rPr>
              <a:t>ClearPar</a:t>
            </a:r>
            <a:endParaRPr lang="en-GB" sz="1100" kern="0">
              <a:solidFill>
                <a:srgbClr val="DEEDF1">
                  <a:lumMod val="25000"/>
                </a:srgbClr>
              </a:solidFill>
              <a:latin typeface="Santander Text" panose="020B0504020201020104" pitchFamily="34" charset="0"/>
            </a:endParaRPr>
          </a:p>
        </p:txBody>
      </p:sp>
      <p:sp>
        <p:nvSpPr>
          <p:cNvPr id="75" name="CuadroTexto 12">
            <a:extLst>
              <a:ext uri="{FF2B5EF4-FFF2-40B4-BE49-F238E27FC236}">
                <a16:creationId xmlns:a16="http://schemas.microsoft.com/office/drawing/2014/main" id="{ECF4EDB1-8832-6137-E881-1B8A0F2B5C03}"/>
              </a:ext>
            </a:extLst>
          </p:cNvPr>
          <p:cNvSpPr txBox="1"/>
          <p:nvPr/>
        </p:nvSpPr>
        <p:spPr>
          <a:xfrm>
            <a:off x="5391127" y="2143014"/>
            <a:ext cx="184731" cy="215444"/>
          </a:xfrm>
          <a:prstGeom prst="rect">
            <a:avLst/>
          </a:prstGeom>
          <a:solidFill>
            <a:schemeClr val="bg1"/>
          </a:solidFill>
        </p:spPr>
        <p:txBody>
          <a:bodyPr wrap="none" rtlCol="0">
            <a:spAutoFit/>
          </a:bodyPr>
          <a:lstStyle/>
          <a:p>
            <a:pPr algn="ctr">
              <a:spcAft>
                <a:spcPts val="600"/>
              </a:spcAft>
            </a:pPr>
            <a:endParaRPr lang="es-ES" sz="800" kern="0">
              <a:solidFill>
                <a:schemeClr val="accent1"/>
              </a:solidFill>
            </a:endParaRPr>
          </a:p>
        </p:txBody>
      </p:sp>
      <p:sp>
        <p:nvSpPr>
          <p:cNvPr id="77" name="Rectángulo 114">
            <a:extLst>
              <a:ext uri="{FF2B5EF4-FFF2-40B4-BE49-F238E27FC236}">
                <a16:creationId xmlns:a16="http://schemas.microsoft.com/office/drawing/2014/main" id="{4DB4A957-EA4B-2137-9A1C-6F7CA4BBB8B9}"/>
              </a:ext>
            </a:extLst>
          </p:cNvPr>
          <p:cNvSpPr/>
          <p:nvPr/>
        </p:nvSpPr>
        <p:spPr>
          <a:xfrm>
            <a:off x="6330537" y="2921945"/>
            <a:ext cx="1834900" cy="543756"/>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err="1">
                <a:solidFill>
                  <a:srgbClr val="DEEDF1">
                    <a:lumMod val="25000"/>
                  </a:srgbClr>
                </a:solidFill>
                <a:latin typeface="Santander Text" panose="020B0504020201020104" pitchFamily="34" charset="0"/>
              </a:rPr>
              <a:t>LoanIQ</a:t>
            </a:r>
            <a:endParaRPr lang="en-GB" sz="1100" kern="0">
              <a:solidFill>
                <a:srgbClr val="DEEDF1">
                  <a:lumMod val="25000"/>
                </a:srgbClr>
              </a:solidFill>
              <a:latin typeface="Santander Text" panose="020B0504020201020104" pitchFamily="34" charset="0"/>
            </a:endParaRPr>
          </a:p>
        </p:txBody>
      </p:sp>
      <p:sp>
        <p:nvSpPr>
          <p:cNvPr id="78" name="Rectángulo 114">
            <a:extLst>
              <a:ext uri="{FF2B5EF4-FFF2-40B4-BE49-F238E27FC236}">
                <a16:creationId xmlns:a16="http://schemas.microsoft.com/office/drawing/2014/main" id="{16055F98-9238-0C41-94D0-30FA717B1828}"/>
              </a:ext>
            </a:extLst>
          </p:cNvPr>
          <p:cNvSpPr/>
          <p:nvPr/>
        </p:nvSpPr>
        <p:spPr>
          <a:xfrm>
            <a:off x="10609340" y="2912002"/>
            <a:ext cx="1260789" cy="543756"/>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Orfeo Global</a:t>
            </a:r>
          </a:p>
        </p:txBody>
      </p:sp>
      <p:sp>
        <p:nvSpPr>
          <p:cNvPr id="81" name="Rectángulo 114">
            <a:extLst>
              <a:ext uri="{FF2B5EF4-FFF2-40B4-BE49-F238E27FC236}">
                <a16:creationId xmlns:a16="http://schemas.microsoft.com/office/drawing/2014/main" id="{F9F4C864-F72B-7DE6-BC29-4AEC3E955B3C}"/>
              </a:ext>
            </a:extLst>
          </p:cNvPr>
          <p:cNvSpPr/>
          <p:nvPr/>
        </p:nvSpPr>
        <p:spPr>
          <a:xfrm>
            <a:off x="8216394" y="2921944"/>
            <a:ext cx="1094660" cy="543756"/>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Mercurio</a:t>
            </a:r>
          </a:p>
        </p:txBody>
      </p:sp>
      <p:sp>
        <p:nvSpPr>
          <p:cNvPr id="82" name="Rectángulo 63">
            <a:extLst>
              <a:ext uri="{FF2B5EF4-FFF2-40B4-BE49-F238E27FC236}">
                <a16:creationId xmlns:a16="http://schemas.microsoft.com/office/drawing/2014/main" id="{885582AC-6B61-EBA5-A7E9-93404753CE4E}"/>
              </a:ext>
            </a:extLst>
          </p:cNvPr>
          <p:cNvSpPr>
            <a:spLocks/>
          </p:cNvSpPr>
          <p:nvPr/>
        </p:nvSpPr>
        <p:spPr>
          <a:xfrm>
            <a:off x="4311140" y="2178870"/>
            <a:ext cx="4238805" cy="601547"/>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600"/>
              </a:spcAft>
            </a:pPr>
            <a:r>
              <a:rPr lang="en-US" sz="1100" kern="0"/>
              <a:t>Distribution Workflow</a:t>
            </a:r>
          </a:p>
        </p:txBody>
      </p:sp>
      <p:sp>
        <p:nvSpPr>
          <p:cNvPr id="84" name="Rectángulo 63">
            <a:extLst>
              <a:ext uri="{FF2B5EF4-FFF2-40B4-BE49-F238E27FC236}">
                <a16:creationId xmlns:a16="http://schemas.microsoft.com/office/drawing/2014/main" id="{648DB316-C2C6-6907-DD47-3545C308AE38}"/>
              </a:ext>
            </a:extLst>
          </p:cNvPr>
          <p:cNvSpPr>
            <a:spLocks/>
          </p:cNvSpPr>
          <p:nvPr/>
        </p:nvSpPr>
        <p:spPr>
          <a:xfrm>
            <a:off x="4306169" y="3519704"/>
            <a:ext cx="7551972" cy="601547"/>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600"/>
              </a:spcAft>
            </a:pPr>
            <a:r>
              <a:rPr lang="en-US" sz="1100" kern="0"/>
              <a:t>BDH 3.0 Banking Data Hub</a:t>
            </a:r>
          </a:p>
        </p:txBody>
      </p:sp>
      <p:sp>
        <p:nvSpPr>
          <p:cNvPr id="3" name="Rectángulo 10">
            <a:extLst>
              <a:ext uri="{FF2B5EF4-FFF2-40B4-BE49-F238E27FC236}">
                <a16:creationId xmlns:a16="http://schemas.microsoft.com/office/drawing/2014/main" id="{E64668BE-ED4F-723B-1665-9AC6705420BF}"/>
              </a:ext>
            </a:extLst>
          </p:cNvPr>
          <p:cNvSpPr/>
          <p:nvPr/>
        </p:nvSpPr>
        <p:spPr>
          <a:xfrm>
            <a:off x="587292" y="3517580"/>
            <a:ext cx="3611226" cy="603671"/>
          </a:xfrm>
          <a:prstGeom prst="rect">
            <a:avLst/>
          </a:prstGeom>
          <a:solidFill>
            <a:srgbClr val="DEEDF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36000"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55600" indent="-355600">
              <a:spcAft>
                <a:spcPts val="300"/>
              </a:spcAft>
            </a:pPr>
            <a:r>
              <a:rPr lang="en-GB" sz="900" b="1">
                <a:solidFill>
                  <a:srgbClr val="DEEDF1">
                    <a:lumMod val="25000"/>
                  </a:srgbClr>
                </a:solidFill>
                <a:latin typeface="Santander Text" panose="020B0504020201020104" pitchFamily="34" charset="0"/>
              </a:rPr>
              <a:t>3 – Banking Data Services </a:t>
            </a:r>
          </a:p>
          <a:p>
            <a:pPr>
              <a:spcAft>
                <a:spcPts val="300"/>
              </a:spcAft>
            </a:pPr>
            <a:r>
              <a:rPr lang="en-GB" sz="800" i="1">
                <a:solidFill>
                  <a:srgbClr val="DEEDF1">
                    <a:lumMod val="25000"/>
                  </a:srgbClr>
                </a:solidFill>
                <a:latin typeface="Santander Text" panose="020B0504020201020104" pitchFamily="34" charset="0"/>
              </a:rPr>
              <a:t>	</a:t>
            </a:r>
            <a:endParaRPr lang="en-GB" sz="700" i="1">
              <a:solidFill>
                <a:srgbClr val="DEEDF1">
                  <a:lumMod val="25000"/>
                </a:srgbClr>
              </a:solidFill>
              <a:latin typeface="Santander Text" panose="020B0504020201020104" pitchFamily="34" charset="0"/>
            </a:endParaRPr>
          </a:p>
        </p:txBody>
      </p:sp>
      <p:sp>
        <p:nvSpPr>
          <p:cNvPr id="5" name="Rectángulo 114">
            <a:extLst>
              <a:ext uri="{FF2B5EF4-FFF2-40B4-BE49-F238E27FC236}">
                <a16:creationId xmlns:a16="http://schemas.microsoft.com/office/drawing/2014/main" id="{C5E8A396-E59C-B548-2248-5E37A4DDE6E1}"/>
              </a:ext>
            </a:extLst>
          </p:cNvPr>
          <p:cNvSpPr/>
          <p:nvPr/>
        </p:nvSpPr>
        <p:spPr>
          <a:xfrm>
            <a:off x="9362011" y="2921944"/>
            <a:ext cx="1196372" cy="543756"/>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Rita</a:t>
            </a:r>
          </a:p>
        </p:txBody>
      </p:sp>
      <p:sp>
        <p:nvSpPr>
          <p:cNvPr id="9" name="Rectángulo 6">
            <a:extLst>
              <a:ext uri="{FF2B5EF4-FFF2-40B4-BE49-F238E27FC236}">
                <a16:creationId xmlns:a16="http://schemas.microsoft.com/office/drawing/2014/main" id="{4399975D-BBA6-1296-F3BC-68AD8CBD9D6A}"/>
              </a:ext>
            </a:extLst>
          </p:cNvPr>
          <p:cNvSpPr/>
          <p:nvPr/>
        </p:nvSpPr>
        <p:spPr>
          <a:xfrm>
            <a:off x="2400853" y="6328528"/>
            <a:ext cx="244952" cy="107435"/>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a:solidFill>
                <a:srgbClr val="FF0000"/>
              </a:solidFill>
            </a:endParaRPr>
          </a:p>
        </p:txBody>
      </p:sp>
      <p:sp>
        <p:nvSpPr>
          <p:cNvPr id="10" name="CuadroTexto 9">
            <a:extLst>
              <a:ext uri="{FF2B5EF4-FFF2-40B4-BE49-F238E27FC236}">
                <a16:creationId xmlns:a16="http://schemas.microsoft.com/office/drawing/2014/main" id="{C4364DCD-787B-D1F9-E21B-C7077AE2065D}"/>
              </a:ext>
            </a:extLst>
          </p:cNvPr>
          <p:cNvSpPr txBox="1"/>
          <p:nvPr/>
        </p:nvSpPr>
        <p:spPr>
          <a:xfrm>
            <a:off x="2645805" y="6274524"/>
            <a:ext cx="1313180" cy="215444"/>
          </a:xfrm>
          <a:prstGeom prst="rect">
            <a:avLst/>
          </a:prstGeom>
          <a:noFill/>
        </p:spPr>
        <p:txBody>
          <a:bodyPr wrap="none" rtlCol="0">
            <a:spAutoFit/>
          </a:bodyPr>
          <a:lstStyle/>
          <a:p>
            <a:r>
              <a:rPr lang="es-ES" sz="800"/>
              <a:t>SCIB </a:t>
            </a:r>
            <a:r>
              <a:rPr lang="es-ES" sz="800" err="1"/>
              <a:t>Platform</a:t>
            </a:r>
            <a:r>
              <a:rPr lang="es-ES" sz="800"/>
              <a:t> </a:t>
            </a:r>
            <a:r>
              <a:rPr lang="es-ES" sz="800" err="1"/>
              <a:t>Component</a:t>
            </a:r>
            <a:endParaRPr lang="es-ES" sz="800"/>
          </a:p>
        </p:txBody>
      </p:sp>
    </p:spTree>
    <p:extLst>
      <p:ext uri="{BB962C8B-B14F-4D97-AF65-F5344CB8AC3E}">
        <p14:creationId xmlns:p14="http://schemas.microsoft.com/office/powerpoint/2010/main" val="5431918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C8188-DFE2-D8DB-179F-CF285564B498}"/>
            </a:ext>
          </a:extLst>
        </p:cNvPr>
        <p:cNvGrpSpPr/>
        <p:nvPr/>
      </p:nvGrpSpPr>
      <p:grpSpPr>
        <a:xfrm>
          <a:off x="0" y="0"/>
          <a:ext cx="0" cy="0"/>
          <a:chOff x="0" y="0"/>
          <a:chExt cx="0" cy="0"/>
        </a:xfrm>
      </p:grpSpPr>
      <p:sp>
        <p:nvSpPr>
          <p:cNvPr id="112" name="Text Placeholder 2">
            <a:extLst>
              <a:ext uri="{FF2B5EF4-FFF2-40B4-BE49-F238E27FC236}">
                <a16:creationId xmlns:a16="http://schemas.microsoft.com/office/drawing/2014/main" id="{5E062DB4-0270-76B3-4667-6CF338474D20}"/>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113" name="Título 1">
            <a:extLst>
              <a:ext uri="{FF2B5EF4-FFF2-40B4-BE49-F238E27FC236}">
                <a16:creationId xmlns:a16="http://schemas.microsoft.com/office/drawing/2014/main" id="{FE823855-A5B7-3746-435C-9B800B986766}"/>
              </a:ext>
            </a:extLst>
          </p:cNvPr>
          <p:cNvSpPr>
            <a:spLocks noGrp="1"/>
          </p:cNvSpPr>
          <p:nvPr>
            <p:ph type="title"/>
          </p:nvPr>
        </p:nvSpPr>
        <p:spPr>
          <a:xfrm>
            <a:off x="594921" y="652175"/>
            <a:ext cx="12229828" cy="445400"/>
          </a:xfrm>
        </p:spPr>
        <p:txBody>
          <a:bodyPr/>
          <a:lstStyle/>
          <a:p>
            <a:pPr>
              <a:defRPr/>
            </a:pPr>
            <a:r>
              <a:rPr kumimoji="0" lang="es-ES" sz="2800" b="1" i="0" u="none" strike="noStrike" kern="1200" cap="none" spc="0" normalizeH="0" baseline="0" noProof="0">
                <a:ln>
                  <a:noFill/>
                </a:ln>
                <a:solidFill>
                  <a:srgbClr val="EC0000"/>
                </a:solidFill>
                <a:effectLst/>
                <a:uLnTx/>
                <a:uFillTx/>
                <a:latin typeface="Santander Headline"/>
                <a:ea typeface="+mj-ea"/>
                <a:cs typeface="+mj-cs"/>
              </a:rPr>
              <a:t>SCIB. </a:t>
            </a:r>
            <a:r>
              <a:rPr kumimoji="0" lang="es-ES" sz="2400" b="1" i="0" u="none" strike="noStrike" kern="1200" cap="none" spc="0" normalizeH="0" baseline="0" noProof="0" err="1">
                <a:ln>
                  <a:noFill/>
                </a:ln>
                <a:solidFill>
                  <a:schemeClr val="bg2">
                    <a:lumMod val="75000"/>
                  </a:schemeClr>
                </a:solidFill>
                <a:effectLst/>
                <a:uLnTx/>
                <a:uFillTx/>
                <a:latin typeface="Santander Headline"/>
                <a:ea typeface="+mj-ea"/>
                <a:cs typeface="+mj-cs"/>
              </a:rPr>
              <a:t>Wholesale</a:t>
            </a:r>
            <a:r>
              <a:rPr kumimoji="0" lang="es-ES" sz="2400" b="1" i="0" u="none" strike="noStrike" kern="1200" cap="none" spc="0" normalizeH="0" baseline="0" noProof="0">
                <a:ln>
                  <a:noFill/>
                </a:ln>
                <a:solidFill>
                  <a:schemeClr val="bg2">
                    <a:lumMod val="75000"/>
                  </a:schemeClr>
                </a:solidFill>
                <a:effectLst/>
                <a:uLnTx/>
                <a:uFillTx/>
                <a:latin typeface="Santander Headline"/>
                <a:ea typeface="+mj-ea"/>
                <a:cs typeface="+mj-cs"/>
              </a:rPr>
              <a:t> </a:t>
            </a:r>
            <a:r>
              <a:rPr kumimoji="0" lang="es-ES" sz="2400" b="1" i="0" u="none" strike="noStrike" kern="1200" cap="none" spc="0" normalizeH="0" baseline="0" noProof="0" err="1">
                <a:ln>
                  <a:noFill/>
                </a:ln>
                <a:solidFill>
                  <a:schemeClr val="bg2">
                    <a:lumMod val="75000"/>
                  </a:schemeClr>
                </a:solidFill>
                <a:effectLst/>
                <a:uLnTx/>
                <a:uFillTx/>
                <a:latin typeface="Santander Headline"/>
                <a:ea typeface="+mj-ea"/>
                <a:cs typeface="+mj-cs"/>
              </a:rPr>
              <a:t>Operations,KYC,Credit&amp;Market</a:t>
            </a:r>
            <a:r>
              <a:rPr kumimoji="0" lang="es-ES" sz="2400" b="1" i="0" u="none" strike="noStrike" kern="1200" cap="none" spc="0" normalizeH="0" baseline="0" noProof="0">
                <a:ln>
                  <a:noFill/>
                </a:ln>
                <a:solidFill>
                  <a:schemeClr val="bg2">
                    <a:lumMod val="75000"/>
                  </a:schemeClr>
                </a:solidFill>
                <a:effectLst/>
                <a:uLnTx/>
                <a:uFillTx/>
                <a:latin typeface="Santander Headline"/>
                <a:ea typeface="+mj-ea"/>
                <a:cs typeface="+mj-cs"/>
              </a:rPr>
              <a:t> </a:t>
            </a:r>
            <a:r>
              <a:rPr kumimoji="0" lang="es-ES" sz="2400" b="1" i="0" u="none" strike="noStrike" kern="1200" cap="none" spc="0" normalizeH="0" baseline="0" noProof="0" err="1">
                <a:ln>
                  <a:noFill/>
                </a:ln>
                <a:solidFill>
                  <a:schemeClr val="bg2">
                    <a:lumMod val="75000"/>
                  </a:schemeClr>
                </a:solidFill>
                <a:effectLst/>
                <a:uLnTx/>
                <a:uFillTx/>
                <a:latin typeface="Santander Headline"/>
                <a:ea typeface="+mj-ea"/>
                <a:cs typeface="+mj-cs"/>
              </a:rPr>
              <a:t>Risk</a:t>
            </a:r>
            <a:r>
              <a:rPr kumimoji="0" lang="es-ES" sz="2400" b="1" i="0" u="none" strike="noStrike" kern="1200" cap="none" spc="0" normalizeH="0" baseline="0" noProof="0">
                <a:ln>
                  <a:noFill/>
                </a:ln>
                <a:solidFill>
                  <a:schemeClr val="bg2">
                    <a:lumMod val="75000"/>
                  </a:schemeClr>
                </a:solidFill>
                <a:effectLst/>
                <a:uLnTx/>
                <a:uFillTx/>
                <a:latin typeface="Santander Headline"/>
                <a:ea typeface="+mj-ea"/>
                <a:cs typeface="+mj-cs"/>
              </a:rPr>
              <a:t>, </a:t>
            </a:r>
            <a:r>
              <a:rPr kumimoji="0" lang="es-ES" sz="2400" b="1" i="0" u="none" strike="noStrike" kern="1200" cap="none" spc="0" normalizeH="0" baseline="0" noProof="0" err="1">
                <a:ln>
                  <a:noFill/>
                </a:ln>
                <a:solidFill>
                  <a:schemeClr val="bg2">
                    <a:lumMod val="75000"/>
                  </a:schemeClr>
                </a:solidFill>
                <a:effectLst/>
                <a:uLnTx/>
                <a:uFillTx/>
                <a:latin typeface="Santander Headline"/>
                <a:ea typeface="+mj-ea"/>
                <a:cs typeface="+mj-cs"/>
              </a:rPr>
              <a:t>Reg</a:t>
            </a:r>
            <a:r>
              <a:rPr kumimoji="0" lang="es-ES" sz="2400" b="1" i="0" u="none" strike="noStrike" kern="1200" cap="none" spc="0" normalizeH="0" baseline="0" noProof="0">
                <a:ln>
                  <a:noFill/>
                </a:ln>
                <a:solidFill>
                  <a:schemeClr val="bg2">
                    <a:lumMod val="75000"/>
                  </a:schemeClr>
                </a:solidFill>
                <a:effectLst/>
                <a:uLnTx/>
                <a:uFillTx/>
                <a:latin typeface="Santander Headline"/>
                <a:ea typeface="+mj-ea"/>
                <a:cs typeface="+mj-cs"/>
              </a:rPr>
              <a:t> Reporting, </a:t>
            </a:r>
            <a:r>
              <a:rPr kumimoji="0" lang="es-ES" sz="2400" b="1" i="0" u="none" strike="noStrike" kern="1200" cap="none" spc="0" normalizeH="0" baseline="0" noProof="0" err="1">
                <a:ln>
                  <a:noFill/>
                </a:ln>
                <a:solidFill>
                  <a:schemeClr val="bg2">
                    <a:lumMod val="75000"/>
                  </a:schemeClr>
                </a:solidFill>
                <a:effectLst/>
                <a:uLnTx/>
                <a:uFillTx/>
                <a:latin typeface="Santander Headline"/>
                <a:ea typeface="+mj-ea"/>
                <a:cs typeface="+mj-cs"/>
              </a:rPr>
              <a:t>Transac</a:t>
            </a:r>
            <a:r>
              <a:rPr kumimoji="0" lang="es-ES" sz="2400" b="1" i="0" u="none" strike="noStrike" kern="1200" cap="none" spc="0" normalizeH="0" baseline="0" noProof="0">
                <a:ln>
                  <a:noFill/>
                </a:ln>
                <a:solidFill>
                  <a:schemeClr val="bg2">
                    <a:lumMod val="75000"/>
                  </a:schemeClr>
                </a:solidFill>
                <a:effectLst/>
                <a:uLnTx/>
                <a:uFillTx/>
                <a:latin typeface="Santander Headline"/>
                <a:ea typeface="+mj-ea"/>
                <a:cs typeface="+mj-cs"/>
              </a:rPr>
              <a:t> </a:t>
            </a:r>
            <a:r>
              <a:rPr kumimoji="0" lang="es-ES" sz="2400" b="1" i="0" u="none" strike="noStrike" kern="1200" cap="none" spc="0" normalizeH="0" baseline="0" noProof="0" err="1">
                <a:ln>
                  <a:noFill/>
                </a:ln>
                <a:solidFill>
                  <a:schemeClr val="bg2">
                    <a:lumMod val="75000"/>
                  </a:schemeClr>
                </a:solidFill>
                <a:effectLst/>
                <a:uLnTx/>
                <a:uFillTx/>
                <a:latin typeface="Santander Headline"/>
                <a:ea typeface="+mj-ea"/>
                <a:cs typeface="+mj-cs"/>
              </a:rPr>
              <a:t>Monitoring</a:t>
            </a:r>
            <a:endParaRPr lang="en-US" sz="2400">
              <a:solidFill>
                <a:schemeClr val="bg1">
                  <a:lumMod val="75000"/>
                </a:schemeClr>
              </a:solidFill>
            </a:endParaRPr>
          </a:p>
        </p:txBody>
      </p:sp>
      <p:sp>
        <p:nvSpPr>
          <p:cNvPr id="15" name="Rectángulo 15">
            <a:extLst>
              <a:ext uri="{FF2B5EF4-FFF2-40B4-BE49-F238E27FC236}">
                <a16:creationId xmlns:a16="http://schemas.microsoft.com/office/drawing/2014/main" id="{C1BD4433-B640-BC12-2D53-8126B6E4DE46}"/>
              </a:ext>
            </a:extLst>
          </p:cNvPr>
          <p:cNvSpPr/>
          <p:nvPr/>
        </p:nvSpPr>
        <p:spPr>
          <a:xfrm>
            <a:off x="4460956" y="1171514"/>
            <a:ext cx="7614117" cy="240314"/>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kern="0">
                <a:solidFill>
                  <a:prstClr val="white"/>
                </a:solidFill>
                <a:latin typeface="Santander Text" panose="020B0504020201020104" pitchFamily="34" charset="0"/>
              </a:rPr>
              <a:t>Modules</a:t>
            </a:r>
          </a:p>
        </p:txBody>
      </p:sp>
      <p:sp>
        <p:nvSpPr>
          <p:cNvPr id="2" name="Rectángulo 15">
            <a:extLst>
              <a:ext uri="{FF2B5EF4-FFF2-40B4-BE49-F238E27FC236}">
                <a16:creationId xmlns:a16="http://schemas.microsoft.com/office/drawing/2014/main" id="{4C64034E-538E-BC50-6F2E-63BF2A8966E0}"/>
              </a:ext>
            </a:extLst>
          </p:cNvPr>
          <p:cNvSpPr/>
          <p:nvPr/>
        </p:nvSpPr>
        <p:spPr>
          <a:xfrm>
            <a:off x="729447" y="1171514"/>
            <a:ext cx="3619342" cy="240476"/>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kern="0">
                <a:solidFill>
                  <a:prstClr val="white"/>
                </a:solidFill>
                <a:latin typeface="Santander Text" panose="020B0504020201020104" pitchFamily="34" charset="0"/>
              </a:rPr>
              <a:t>Module Aggregation</a:t>
            </a:r>
          </a:p>
        </p:txBody>
      </p:sp>
      <p:sp>
        <p:nvSpPr>
          <p:cNvPr id="71" name="Rectángulo 9">
            <a:extLst>
              <a:ext uri="{FF2B5EF4-FFF2-40B4-BE49-F238E27FC236}">
                <a16:creationId xmlns:a16="http://schemas.microsoft.com/office/drawing/2014/main" id="{53506413-5CD9-462D-B921-9E25D4309340}"/>
              </a:ext>
            </a:extLst>
          </p:cNvPr>
          <p:cNvSpPr/>
          <p:nvPr/>
        </p:nvSpPr>
        <p:spPr>
          <a:xfrm>
            <a:off x="729447" y="1490862"/>
            <a:ext cx="3619343" cy="401921"/>
          </a:xfrm>
          <a:prstGeom prst="rect">
            <a:avLst/>
          </a:prstGeom>
          <a:solidFill>
            <a:srgbClr val="DEEDF1"/>
          </a:solidFill>
          <a:ln w="12700" cap="flat" cmpd="sng" algn="ctr">
            <a:noFill/>
            <a:prstDash val="solid"/>
            <a:miter lim="800000"/>
          </a:ln>
          <a:effectLst/>
        </p:spPr>
        <p:txBody>
          <a:bodyPr lIns="72000" rIns="36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55600" indent="-355600">
              <a:spcAft>
                <a:spcPts val="300"/>
              </a:spcAft>
            </a:pPr>
            <a:r>
              <a:rPr lang="en-GB" sz="900" b="1" kern="0">
                <a:solidFill>
                  <a:srgbClr val="DEEDF1">
                    <a:lumMod val="25000"/>
                  </a:srgbClr>
                </a:solidFill>
                <a:latin typeface="Santander Text" panose="020B0504020201020104" pitchFamily="34" charset="0"/>
              </a:rPr>
              <a:t>1 – KYC management Services</a:t>
            </a:r>
          </a:p>
        </p:txBody>
      </p:sp>
      <p:sp>
        <p:nvSpPr>
          <p:cNvPr id="73" name="Rectángulo 10">
            <a:extLst>
              <a:ext uri="{FF2B5EF4-FFF2-40B4-BE49-F238E27FC236}">
                <a16:creationId xmlns:a16="http://schemas.microsoft.com/office/drawing/2014/main" id="{16289034-F510-3698-1272-3B4A1D03C4A9}"/>
              </a:ext>
            </a:extLst>
          </p:cNvPr>
          <p:cNvSpPr/>
          <p:nvPr/>
        </p:nvSpPr>
        <p:spPr>
          <a:xfrm>
            <a:off x="721330" y="1920886"/>
            <a:ext cx="3619343" cy="357983"/>
          </a:xfrm>
          <a:prstGeom prst="rect">
            <a:avLst/>
          </a:prstGeom>
          <a:solidFill>
            <a:srgbClr val="DEEDF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36000"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55600" indent="-355600">
              <a:spcAft>
                <a:spcPts val="300"/>
              </a:spcAft>
            </a:pPr>
            <a:r>
              <a:rPr lang="en-GB" sz="900" b="1">
                <a:solidFill>
                  <a:srgbClr val="DEEDF1">
                    <a:lumMod val="25000"/>
                  </a:srgbClr>
                </a:solidFill>
                <a:latin typeface="Santander Text" panose="020B0504020201020104" pitchFamily="34" charset="0"/>
              </a:rPr>
              <a:t>2 – </a:t>
            </a:r>
            <a:r>
              <a:rPr lang="es-ES" sz="900" b="1" kern="0" err="1">
                <a:solidFill>
                  <a:srgbClr val="DEEDF1">
                    <a:lumMod val="25000"/>
                  </a:srgbClr>
                </a:solidFill>
                <a:latin typeface="Santander Text" panose="020B0504020201020104" pitchFamily="34" charset="0"/>
              </a:rPr>
              <a:t>Compliance</a:t>
            </a:r>
            <a:r>
              <a:rPr lang="es-ES" sz="900" b="1" kern="0">
                <a:solidFill>
                  <a:srgbClr val="DEEDF1">
                    <a:lumMod val="25000"/>
                  </a:srgbClr>
                </a:solidFill>
                <a:latin typeface="Santander Text" panose="020B0504020201020104" pitchFamily="34" charset="0"/>
              </a:rPr>
              <a:t> Management Services </a:t>
            </a:r>
            <a:endParaRPr lang="en-GB" sz="900" b="1" kern="0">
              <a:solidFill>
                <a:srgbClr val="DEEDF1">
                  <a:lumMod val="25000"/>
                </a:srgbClr>
              </a:solidFill>
              <a:latin typeface="Santander Text" panose="020B0504020201020104" pitchFamily="34" charset="0"/>
            </a:endParaRPr>
          </a:p>
        </p:txBody>
      </p:sp>
      <p:sp>
        <p:nvSpPr>
          <p:cNvPr id="74" name="Rectángulo 114">
            <a:extLst>
              <a:ext uri="{FF2B5EF4-FFF2-40B4-BE49-F238E27FC236}">
                <a16:creationId xmlns:a16="http://schemas.microsoft.com/office/drawing/2014/main" id="{5BA1C1DA-3D5A-CB8F-502D-F2B21BB03327}"/>
              </a:ext>
            </a:extLst>
          </p:cNvPr>
          <p:cNvSpPr/>
          <p:nvPr/>
        </p:nvSpPr>
        <p:spPr>
          <a:xfrm>
            <a:off x="4482800" y="1931888"/>
            <a:ext cx="1906779" cy="304255"/>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360 Client Monitoring</a:t>
            </a:r>
          </a:p>
        </p:txBody>
      </p:sp>
      <p:sp>
        <p:nvSpPr>
          <p:cNvPr id="77" name="Rectángulo 114">
            <a:extLst>
              <a:ext uri="{FF2B5EF4-FFF2-40B4-BE49-F238E27FC236}">
                <a16:creationId xmlns:a16="http://schemas.microsoft.com/office/drawing/2014/main" id="{C0BF4914-045A-493B-9A4F-9A2A6CCD50A4}"/>
              </a:ext>
            </a:extLst>
          </p:cNvPr>
          <p:cNvSpPr/>
          <p:nvPr/>
        </p:nvSpPr>
        <p:spPr>
          <a:xfrm>
            <a:off x="6472692" y="1926057"/>
            <a:ext cx="1834900" cy="313286"/>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Communications Surveillance</a:t>
            </a:r>
          </a:p>
        </p:txBody>
      </p:sp>
      <p:sp>
        <p:nvSpPr>
          <p:cNvPr id="81" name="Rectángulo 114">
            <a:extLst>
              <a:ext uri="{FF2B5EF4-FFF2-40B4-BE49-F238E27FC236}">
                <a16:creationId xmlns:a16="http://schemas.microsoft.com/office/drawing/2014/main" id="{75A957C4-BD81-A563-07C4-E69610D53DD2}"/>
              </a:ext>
            </a:extLst>
          </p:cNvPr>
          <p:cNvSpPr/>
          <p:nvPr/>
        </p:nvSpPr>
        <p:spPr>
          <a:xfrm>
            <a:off x="8420211" y="1916114"/>
            <a:ext cx="1472335" cy="313286"/>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err="1">
                <a:solidFill>
                  <a:srgbClr val="DEEDF1">
                    <a:lumMod val="25000"/>
                  </a:srgbClr>
                </a:solidFill>
                <a:latin typeface="Santander Text" panose="020B0504020201020104" pitchFamily="34" charset="0"/>
              </a:rPr>
              <a:t>Fenergo</a:t>
            </a:r>
            <a:endParaRPr lang="en-GB" sz="1100" kern="0">
              <a:solidFill>
                <a:srgbClr val="DEEDF1">
                  <a:lumMod val="25000"/>
                </a:srgbClr>
              </a:solidFill>
              <a:latin typeface="Santander Text" panose="020B0504020201020104" pitchFamily="34" charset="0"/>
            </a:endParaRPr>
          </a:p>
        </p:txBody>
      </p:sp>
      <p:sp>
        <p:nvSpPr>
          <p:cNvPr id="82" name="Rectángulo 63">
            <a:extLst>
              <a:ext uri="{FF2B5EF4-FFF2-40B4-BE49-F238E27FC236}">
                <a16:creationId xmlns:a16="http://schemas.microsoft.com/office/drawing/2014/main" id="{414BF5A7-9FD3-9C4F-579E-96FB1FAA98E3}"/>
              </a:ext>
            </a:extLst>
          </p:cNvPr>
          <p:cNvSpPr>
            <a:spLocks/>
          </p:cNvSpPr>
          <p:nvPr/>
        </p:nvSpPr>
        <p:spPr>
          <a:xfrm>
            <a:off x="4493103" y="1521582"/>
            <a:ext cx="7455007" cy="325338"/>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600"/>
              </a:spcAft>
            </a:pPr>
            <a:r>
              <a:rPr lang="en-US" sz="1100" kern="0"/>
              <a:t>KYC case manager</a:t>
            </a:r>
          </a:p>
        </p:txBody>
      </p:sp>
      <p:sp>
        <p:nvSpPr>
          <p:cNvPr id="5" name="Rectángulo 114">
            <a:extLst>
              <a:ext uri="{FF2B5EF4-FFF2-40B4-BE49-F238E27FC236}">
                <a16:creationId xmlns:a16="http://schemas.microsoft.com/office/drawing/2014/main" id="{FCB8CA05-CBCB-FBA7-65E4-74292A6630C1}"/>
              </a:ext>
            </a:extLst>
          </p:cNvPr>
          <p:cNvSpPr/>
          <p:nvPr/>
        </p:nvSpPr>
        <p:spPr>
          <a:xfrm>
            <a:off x="10005165" y="1916114"/>
            <a:ext cx="1951581" cy="311712"/>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err="1">
                <a:solidFill>
                  <a:srgbClr val="DEEDF1">
                    <a:lumMod val="25000"/>
                  </a:srgbClr>
                </a:solidFill>
                <a:latin typeface="Santander Text" panose="020B0504020201020104" pitchFamily="34" charset="0"/>
              </a:rPr>
              <a:t>Thetaray</a:t>
            </a:r>
            <a:endParaRPr lang="en-GB" sz="1100" kern="0">
              <a:solidFill>
                <a:srgbClr val="DEEDF1">
                  <a:lumMod val="25000"/>
                </a:srgbClr>
              </a:solidFill>
              <a:latin typeface="Santander Text" panose="020B0504020201020104" pitchFamily="34" charset="0"/>
            </a:endParaRPr>
          </a:p>
        </p:txBody>
      </p:sp>
      <p:sp>
        <p:nvSpPr>
          <p:cNvPr id="6" name="Rectángulo 10">
            <a:extLst>
              <a:ext uri="{FF2B5EF4-FFF2-40B4-BE49-F238E27FC236}">
                <a16:creationId xmlns:a16="http://schemas.microsoft.com/office/drawing/2014/main" id="{7B486A82-2728-3B8C-2A2C-8E0EBAB8D79C}"/>
              </a:ext>
            </a:extLst>
          </p:cNvPr>
          <p:cNvSpPr/>
          <p:nvPr/>
        </p:nvSpPr>
        <p:spPr>
          <a:xfrm>
            <a:off x="721329" y="2765985"/>
            <a:ext cx="3619343" cy="397427"/>
          </a:xfrm>
          <a:prstGeom prst="rect">
            <a:avLst/>
          </a:prstGeom>
          <a:solidFill>
            <a:srgbClr val="DEEDF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36000"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55600" indent="-355600">
              <a:spcAft>
                <a:spcPts val="300"/>
              </a:spcAft>
            </a:pPr>
            <a:r>
              <a:rPr lang="en-GB" sz="900" b="1">
                <a:solidFill>
                  <a:srgbClr val="DEEDF1">
                    <a:lumMod val="25000"/>
                  </a:srgbClr>
                </a:solidFill>
                <a:latin typeface="Santander Text" panose="020B0504020201020104" pitchFamily="34" charset="0"/>
              </a:rPr>
              <a:t>4 – Credit &amp; Counter Party Risk management Services</a:t>
            </a:r>
          </a:p>
        </p:txBody>
      </p:sp>
      <p:sp>
        <p:nvSpPr>
          <p:cNvPr id="14" name="Rectángulo 10">
            <a:extLst>
              <a:ext uri="{FF2B5EF4-FFF2-40B4-BE49-F238E27FC236}">
                <a16:creationId xmlns:a16="http://schemas.microsoft.com/office/drawing/2014/main" id="{4A4FF349-C638-E009-BAE5-3CFB955CCC60}"/>
              </a:ext>
            </a:extLst>
          </p:cNvPr>
          <p:cNvSpPr/>
          <p:nvPr/>
        </p:nvSpPr>
        <p:spPr>
          <a:xfrm>
            <a:off x="721329" y="3579677"/>
            <a:ext cx="3619343" cy="328452"/>
          </a:xfrm>
          <a:prstGeom prst="rect">
            <a:avLst/>
          </a:prstGeom>
          <a:solidFill>
            <a:srgbClr val="DEEDF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36000"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55600" indent="-355600">
              <a:spcAft>
                <a:spcPts val="300"/>
              </a:spcAft>
            </a:pPr>
            <a:r>
              <a:rPr lang="en-GB" sz="900" b="1">
                <a:solidFill>
                  <a:srgbClr val="DEEDF1">
                    <a:lumMod val="25000"/>
                  </a:srgbClr>
                </a:solidFill>
                <a:latin typeface="Santander Text" panose="020B0504020201020104" pitchFamily="34" charset="0"/>
              </a:rPr>
              <a:t>6 – Finance management Services</a:t>
            </a:r>
          </a:p>
        </p:txBody>
      </p:sp>
      <p:sp>
        <p:nvSpPr>
          <p:cNvPr id="16" name="Rectángulo 114">
            <a:extLst>
              <a:ext uri="{FF2B5EF4-FFF2-40B4-BE49-F238E27FC236}">
                <a16:creationId xmlns:a16="http://schemas.microsoft.com/office/drawing/2014/main" id="{D28E5B0A-D682-EE0A-96A6-6D08A158A15B}"/>
              </a:ext>
            </a:extLst>
          </p:cNvPr>
          <p:cNvSpPr/>
          <p:nvPr/>
        </p:nvSpPr>
        <p:spPr>
          <a:xfrm>
            <a:off x="4493105" y="3612766"/>
            <a:ext cx="2686787" cy="276595"/>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FIMS</a:t>
            </a:r>
          </a:p>
        </p:txBody>
      </p:sp>
      <p:sp>
        <p:nvSpPr>
          <p:cNvPr id="17" name="Rectángulo 114">
            <a:extLst>
              <a:ext uri="{FF2B5EF4-FFF2-40B4-BE49-F238E27FC236}">
                <a16:creationId xmlns:a16="http://schemas.microsoft.com/office/drawing/2014/main" id="{3170DE16-A861-D91A-8750-1E6FDC8F4570}"/>
              </a:ext>
            </a:extLst>
          </p:cNvPr>
          <p:cNvSpPr/>
          <p:nvPr/>
        </p:nvSpPr>
        <p:spPr>
          <a:xfrm>
            <a:off x="7265530" y="3629304"/>
            <a:ext cx="2309362" cy="284805"/>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FMIS SCIB</a:t>
            </a:r>
          </a:p>
        </p:txBody>
      </p:sp>
      <p:sp>
        <p:nvSpPr>
          <p:cNvPr id="20" name="Rectángulo 114">
            <a:extLst>
              <a:ext uri="{FF2B5EF4-FFF2-40B4-BE49-F238E27FC236}">
                <a16:creationId xmlns:a16="http://schemas.microsoft.com/office/drawing/2014/main" id="{58044BFD-5954-895E-23CC-65A1DD6B4A7E}"/>
              </a:ext>
            </a:extLst>
          </p:cNvPr>
          <p:cNvSpPr/>
          <p:nvPr/>
        </p:nvSpPr>
        <p:spPr>
          <a:xfrm>
            <a:off x="9660530" y="3629304"/>
            <a:ext cx="2309362" cy="284805"/>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MISCO GCB</a:t>
            </a:r>
          </a:p>
        </p:txBody>
      </p:sp>
      <p:sp>
        <p:nvSpPr>
          <p:cNvPr id="23" name="Rectángulo 63">
            <a:extLst>
              <a:ext uri="{FF2B5EF4-FFF2-40B4-BE49-F238E27FC236}">
                <a16:creationId xmlns:a16="http://schemas.microsoft.com/office/drawing/2014/main" id="{BF08BB98-D9F6-5ADF-479D-3503170AC64C}"/>
              </a:ext>
            </a:extLst>
          </p:cNvPr>
          <p:cNvSpPr>
            <a:spLocks/>
          </p:cNvSpPr>
          <p:nvPr/>
        </p:nvSpPr>
        <p:spPr>
          <a:xfrm>
            <a:off x="4493103" y="2359564"/>
            <a:ext cx="7455007" cy="293466"/>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600"/>
              </a:spcAft>
            </a:pPr>
            <a:r>
              <a:rPr lang="en-US" sz="1100" kern="0"/>
              <a:t>Gestion </a:t>
            </a:r>
            <a:r>
              <a:rPr lang="en-US" sz="1100" kern="0" err="1"/>
              <a:t>Liquidez</a:t>
            </a:r>
            <a:r>
              <a:rPr lang="en-US" sz="1100" kern="0"/>
              <a:t> Medusa</a:t>
            </a:r>
          </a:p>
        </p:txBody>
      </p:sp>
      <p:sp>
        <p:nvSpPr>
          <p:cNvPr id="24" name="Rectángulo 10">
            <a:extLst>
              <a:ext uri="{FF2B5EF4-FFF2-40B4-BE49-F238E27FC236}">
                <a16:creationId xmlns:a16="http://schemas.microsoft.com/office/drawing/2014/main" id="{0A1BB5DF-6EAA-B5CD-B16B-AC1C2D30A3BA}"/>
              </a:ext>
            </a:extLst>
          </p:cNvPr>
          <p:cNvSpPr/>
          <p:nvPr/>
        </p:nvSpPr>
        <p:spPr>
          <a:xfrm>
            <a:off x="729446" y="2322626"/>
            <a:ext cx="3619343" cy="397427"/>
          </a:xfrm>
          <a:prstGeom prst="rect">
            <a:avLst/>
          </a:prstGeom>
          <a:solidFill>
            <a:srgbClr val="DEEDF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36000"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55600" indent="-355600">
              <a:spcAft>
                <a:spcPts val="300"/>
              </a:spcAft>
            </a:pPr>
            <a:r>
              <a:rPr lang="en-GB" sz="900" b="1">
                <a:solidFill>
                  <a:srgbClr val="DEEDF1">
                    <a:lumMod val="25000"/>
                  </a:srgbClr>
                </a:solidFill>
                <a:latin typeface="Santander Text" panose="020B0504020201020104" pitchFamily="34" charset="0"/>
              </a:rPr>
              <a:t>3 – Liquidity Risk Management Services</a:t>
            </a:r>
          </a:p>
        </p:txBody>
      </p:sp>
      <p:sp>
        <p:nvSpPr>
          <p:cNvPr id="27" name="Rectángulo 10">
            <a:extLst>
              <a:ext uri="{FF2B5EF4-FFF2-40B4-BE49-F238E27FC236}">
                <a16:creationId xmlns:a16="http://schemas.microsoft.com/office/drawing/2014/main" id="{E4059B96-61F4-46EB-06C5-AAA9A01D353F}"/>
              </a:ext>
            </a:extLst>
          </p:cNvPr>
          <p:cNvSpPr/>
          <p:nvPr/>
        </p:nvSpPr>
        <p:spPr>
          <a:xfrm>
            <a:off x="721329" y="3951265"/>
            <a:ext cx="3619343" cy="361298"/>
          </a:xfrm>
          <a:prstGeom prst="rect">
            <a:avLst/>
          </a:prstGeom>
          <a:solidFill>
            <a:srgbClr val="DEEDF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36000"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55600" indent="-355600">
              <a:spcAft>
                <a:spcPts val="300"/>
              </a:spcAft>
            </a:pPr>
            <a:r>
              <a:rPr lang="en-GB" sz="900" b="1">
                <a:solidFill>
                  <a:srgbClr val="DEEDF1">
                    <a:lumMod val="25000"/>
                  </a:srgbClr>
                </a:solidFill>
                <a:latin typeface="Santander Text" panose="020B0504020201020104" pitchFamily="34" charset="0"/>
              </a:rPr>
              <a:t>7 – </a:t>
            </a:r>
            <a:r>
              <a:rPr lang="en-US" sz="900" b="1">
                <a:solidFill>
                  <a:srgbClr val="DEEDF1">
                    <a:lumMod val="25000"/>
                  </a:srgbClr>
                </a:solidFill>
                <a:latin typeface="Santander Text" panose="020B0504020201020104" pitchFamily="34" charset="0"/>
              </a:rPr>
              <a:t>Back-office Business Execution Services</a:t>
            </a:r>
            <a:endParaRPr lang="en-GB" sz="900" b="1">
              <a:solidFill>
                <a:srgbClr val="DEEDF1">
                  <a:lumMod val="25000"/>
                </a:srgbClr>
              </a:solidFill>
              <a:latin typeface="Santander Text" panose="020B0504020201020104" pitchFamily="34" charset="0"/>
            </a:endParaRPr>
          </a:p>
        </p:txBody>
      </p:sp>
      <p:sp>
        <p:nvSpPr>
          <p:cNvPr id="28" name="Rectángulo 114">
            <a:extLst>
              <a:ext uri="{FF2B5EF4-FFF2-40B4-BE49-F238E27FC236}">
                <a16:creationId xmlns:a16="http://schemas.microsoft.com/office/drawing/2014/main" id="{AA39CB96-19E1-C224-258F-4820040274EC}"/>
              </a:ext>
            </a:extLst>
          </p:cNvPr>
          <p:cNvSpPr/>
          <p:nvPr/>
        </p:nvSpPr>
        <p:spPr>
          <a:xfrm>
            <a:off x="4488734" y="4008879"/>
            <a:ext cx="5625163" cy="276595"/>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TIARA GLOBAL</a:t>
            </a:r>
          </a:p>
        </p:txBody>
      </p:sp>
      <p:sp>
        <p:nvSpPr>
          <p:cNvPr id="35" name="Rectángulo 10">
            <a:extLst>
              <a:ext uri="{FF2B5EF4-FFF2-40B4-BE49-F238E27FC236}">
                <a16:creationId xmlns:a16="http://schemas.microsoft.com/office/drawing/2014/main" id="{9B1128C5-5850-0337-FCBE-15DBEE44E03C}"/>
              </a:ext>
            </a:extLst>
          </p:cNvPr>
          <p:cNvSpPr/>
          <p:nvPr/>
        </p:nvSpPr>
        <p:spPr>
          <a:xfrm>
            <a:off x="721329" y="4360941"/>
            <a:ext cx="3619343" cy="373514"/>
          </a:xfrm>
          <a:prstGeom prst="rect">
            <a:avLst/>
          </a:prstGeom>
          <a:solidFill>
            <a:srgbClr val="DEEDF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36000"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55600" indent="-355600">
              <a:spcAft>
                <a:spcPts val="300"/>
              </a:spcAft>
            </a:pPr>
            <a:r>
              <a:rPr lang="en-GB" sz="900" b="1">
                <a:solidFill>
                  <a:srgbClr val="DEEDF1">
                    <a:lumMod val="25000"/>
                  </a:srgbClr>
                </a:solidFill>
                <a:latin typeface="Santander Text" panose="020B0504020201020104" pitchFamily="34" charset="0"/>
              </a:rPr>
              <a:t>8 – Accounting business services</a:t>
            </a:r>
            <a:r>
              <a:rPr lang="en-GB" sz="800" i="1">
                <a:solidFill>
                  <a:srgbClr val="DEEDF1">
                    <a:lumMod val="25000"/>
                  </a:srgbClr>
                </a:solidFill>
                <a:latin typeface="Santander Text" panose="020B0504020201020104" pitchFamily="34" charset="0"/>
              </a:rPr>
              <a:t>	</a:t>
            </a:r>
            <a:endParaRPr lang="en-GB" sz="700" i="1">
              <a:solidFill>
                <a:srgbClr val="DEEDF1">
                  <a:lumMod val="25000"/>
                </a:srgbClr>
              </a:solidFill>
              <a:latin typeface="Santander Text" panose="020B0504020201020104" pitchFamily="34" charset="0"/>
            </a:endParaRPr>
          </a:p>
        </p:txBody>
      </p:sp>
      <p:sp>
        <p:nvSpPr>
          <p:cNvPr id="37" name="Rectángulo 114">
            <a:extLst>
              <a:ext uri="{FF2B5EF4-FFF2-40B4-BE49-F238E27FC236}">
                <a16:creationId xmlns:a16="http://schemas.microsoft.com/office/drawing/2014/main" id="{FC329C14-0F3B-0641-F642-3899404FA5AE}"/>
              </a:ext>
            </a:extLst>
          </p:cNvPr>
          <p:cNvSpPr/>
          <p:nvPr/>
        </p:nvSpPr>
        <p:spPr>
          <a:xfrm>
            <a:off x="4493105" y="4385879"/>
            <a:ext cx="7455005" cy="335840"/>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Accounting Integration</a:t>
            </a:r>
          </a:p>
        </p:txBody>
      </p:sp>
      <p:sp>
        <p:nvSpPr>
          <p:cNvPr id="43" name="Rectángulo 10">
            <a:extLst>
              <a:ext uri="{FF2B5EF4-FFF2-40B4-BE49-F238E27FC236}">
                <a16:creationId xmlns:a16="http://schemas.microsoft.com/office/drawing/2014/main" id="{2662265E-14B0-225E-2D7D-789A5671F2F1}"/>
              </a:ext>
            </a:extLst>
          </p:cNvPr>
          <p:cNvSpPr/>
          <p:nvPr/>
        </p:nvSpPr>
        <p:spPr>
          <a:xfrm>
            <a:off x="711023" y="4801896"/>
            <a:ext cx="3619343" cy="373514"/>
          </a:xfrm>
          <a:prstGeom prst="rect">
            <a:avLst/>
          </a:prstGeom>
          <a:solidFill>
            <a:srgbClr val="DEEDF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36000"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55600" indent="-355600">
              <a:spcAft>
                <a:spcPts val="300"/>
              </a:spcAft>
            </a:pPr>
            <a:r>
              <a:rPr lang="en-GB" sz="900" b="1">
                <a:solidFill>
                  <a:srgbClr val="DEEDF1">
                    <a:lumMod val="25000"/>
                  </a:srgbClr>
                </a:solidFill>
                <a:latin typeface="Santander Text" panose="020B0504020201020104" pitchFamily="34" charset="0"/>
              </a:rPr>
              <a:t>9 – Cross and Regulatory Reporting Services</a:t>
            </a:r>
          </a:p>
        </p:txBody>
      </p:sp>
      <p:sp>
        <p:nvSpPr>
          <p:cNvPr id="44" name="Rectángulo 114">
            <a:extLst>
              <a:ext uri="{FF2B5EF4-FFF2-40B4-BE49-F238E27FC236}">
                <a16:creationId xmlns:a16="http://schemas.microsoft.com/office/drawing/2014/main" id="{3056521A-BC47-3B06-58C1-1A31E8223344}"/>
              </a:ext>
            </a:extLst>
          </p:cNvPr>
          <p:cNvSpPr/>
          <p:nvPr/>
        </p:nvSpPr>
        <p:spPr>
          <a:xfrm>
            <a:off x="4484340" y="4823554"/>
            <a:ext cx="2158439" cy="267429"/>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 sz="1100" kern="0">
                <a:solidFill>
                  <a:srgbClr val="DEEDF1">
                    <a:lumMod val="25000"/>
                  </a:srgbClr>
                </a:solidFill>
                <a:latin typeface="Santander Text" panose="020B0504020201020104" pitchFamily="34" charset="0"/>
              </a:rPr>
              <a:t>DUCO CUBE Conciliaciones</a:t>
            </a:r>
            <a:endParaRPr lang="en-GB" sz="1100" kern="0">
              <a:solidFill>
                <a:srgbClr val="DEEDF1">
                  <a:lumMod val="25000"/>
                </a:srgbClr>
              </a:solidFill>
              <a:latin typeface="Santander Text" panose="020B0504020201020104" pitchFamily="34" charset="0"/>
            </a:endParaRPr>
          </a:p>
        </p:txBody>
      </p:sp>
      <p:sp>
        <p:nvSpPr>
          <p:cNvPr id="49" name="Rectángulo 10">
            <a:extLst>
              <a:ext uri="{FF2B5EF4-FFF2-40B4-BE49-F238E27FC236}">
                <a16:creationId xmlns:a16="http://schemas.microsoft.com/office/drawing/2014/main" id="{919B55FC-3B42-B526-7728-58074F1C6DF4}"/>
              </a:ext>
            </a:extLst>
          </p:cNvPr>
          <p:cNvSpPr/>
          <p:nvPr/>
        </p:nvSpPr>
        <p:spPr>
          <a:xfrm>
            <a:off x="711023" y="5221612"/>
            <a:ext cx="3619343" cy="364031"/>
          </a:xfrm>
          <a:prstGeom prst="rect">
            <a:avLst/>
          </a:prstGeom>
          <a:solidFill>
            <a:srgbClr val="DEEDF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36000"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55600" indent="-355600">
              <a:spcAft>
                <a:spcPts val="300"/>
              </a:spcAft>
            </a:pPr>
            <a:r>
              <a:rPr lang="en-GB" sz="900" b="1">
                <a:solidFill>
                  <a:srgbClr val="DEEDF1">
                    <a:lumMod val="25000"/>
                  </a:srgbClr>
                </a:solidFill>
                <a:latin typeface="Santander Text" panose="020B0504020201020104" pitchFamily="34" charset="0"/>
              </a:rPr>
              <a:t>10 – Data Services</a:t>
            </a:r>
            <a:r>
              <a:rPr lang="en-GB" sz="800" i="1">
                <a:solidFill>
                  <a:srgbClr val="DEEDF1">
                    <a:lumMod val="25000"/>
                  </a:srgbClr>
                </a:solidFill>
                <a:latin typeface="Santander Text" panose="020B0504020201020104" pitchFamily="34" charset="0"/>
              </a:rPr>
              <a:t>	</a:t>
            </a:r>
            <a:endParaRPr lang="en-GB" sz="700" i="1">
              <a:solidFill>
                <a:srgbClr val="DEEDF1">
                  <a:lumMod val="25000"/>
                </a:srgbClr>
              </a:solidFill>
              <a:latin typeface="Santander Text" panose="020B0504020201020104" pitchFamily="34" charset="0"/>
            </a:endParaRPr>
          </a:p>
        </p:txBody>
      </p:sp>
      <p:sp>
        <p:nvSpPr>
          <p:cNvPr id="50" name="Rectángulo 114">
            <a:extLst>
              <a:ext uri="{FF2B5EF4-FFF2-40B4-BE49-F238E27FC236}">
                <a16:creationId xmlns:a16="http://schemas.microsoft.com/office/drawing/2014/main" id="{D7B7933B-1BC2-FEF8-3D63-3B8EF5F516C4}"/>
              </a:ext>
            </a:extLst>
          </p:cNvPr>
          <p:cNvSpPr/>
          <p:nvPr/>
        </p:nvSpPr>
        <p:spPr>
          <a:xfrm>
            <a:off x="8398429" y="5243215"/>
            <a:ext cx="3549681" cy="264150"/>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kern="0">
                <a:solidFill>
                  <a:srgbClr val="DEEDF1">
                    <a:lumMod val="25000"/>
                  </a:srgbClr>
                </a:solidFill>
                <a:latin typeface="Santander Text" panose="020B0504020201020104" pitchFamily="34" charset="0"/>
              </a:rPr>
              <a:t>Accounting Data Hub</a:t>
            </a:r>
            <a:endParaRPr lang="en-GB" sz="1100" kern="0">
              <a:solidFill>
                <a:srgbClr val="DEEDF1">
                  <a:lumMod val="25000"/>
                </a:srgbClr>
              </a:solidFill>
              <a:latin typeface="Santander Text" panose="020B0504020201020104" pitchFamily="34" charset="0"/>
            </a:endParaRPr>
          </a:p>
        </p:txBody>
      </p:sp>
      <p:sp>
        <p:nvSpPr>
          <p:cNvPr id="19" name="Rectángulo 114">
            <a:extLst>
              <a:ext uri="{FF2B5EF4-FFF2-40B4-BE49-F238E27FC236}">
                <a16:creationId xmlns:a16="http://schemas.microsoft.com/office/drawing/2014/main" id="{0337E9B2-D483-91E1-308D-FCB96CDDC066}"/>
              </a:ext>
            </a:extLst>
          </p:cNvPr>
          <p:cNvSpPr/>
          <p:nvPr/>
        </p:nvSpPr>
        <p:spPr>
          <a:xfrm>
            <a:off x="6746537" y="4833085"/>
            <a:ext cx="1824973" cy="267429"/>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 sz="1100" kern="0">
                <a:solidFill>
                  <a:srgbClr val="DEEDF1">
                    <a:lumMod val="25000"/>
                  </a:srgbClr>
                </a:solidFill>
                <a:latin typeface="Santander Text" panose="020B0504020201020104" pitchFamily="34" charset="0"/>
              </a:rPr>
              <a:t>Phoenix</a:t>
            </a:r>
            <a:endParaRPr lang="en-GB" sz="1100" kern="0">
              <a:solidFill>
                <a:srgbClr val="DEEDF1">
                  <a:lumMod val="25000"/>
                </a:srgbClr>
              </a:solidFill>
              <a:latin typeface="Santander Text" panose="020B0504020201020104" pitchFamily="34" charset="0"/>
            </a:endParaRPr>
          </a:p>
        </p:txBody>
      </p:sp>
      <p:sp>
        <p:nvSpPr>
          <p:cNvPr id="21" name="Rectángulo 114">
            <a:extLst>
              <a:ext uri="{FF2B5EF4-FFF2-40B4-BE49-F238E27FC236}">
                <a16:creationId xmlns:a16="http://schemas.microsoft.com/office/drawing/2014/main" id="{7BAE3DF6-A6A7-52FD-7046-FF9014F25BF3}"/>
              </a:ext>
            </a:extLst>
          </p:cNvPr>
          <p:cNvSpPr/>
          <p:nvPr/>
        </p:nvSpPr>
        <p:spPr>
          <a:xfrm>
            <a:off x="8662261" y="4833085"/>
            <a:ext cx="1792351" cy="284805"/>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 sz="1100" kern="0">
                <a:solidFill>
                  <a:srgbClr val="DEEDF1">
                    <a:lumMod val="25000"/>
                  </a:srgbClr>
                </a:solidFill>
                <a:latin typeface="Santander Text" panose="020B0504020201020104" pitchFamily="34" charset="0"/>
              </a:rPr>
              <a:t>CAFET</a:t>
            </a:r>
            <a:endParaRPr lang="en-GB" sz="1100" kern="0">
              <a:solidFill>
                <a:srgbClr val="DEEDF1">
                  <a:lumMod val="25000"/>
                </a:srgbClr>
              </a:solidFill>
              <a:latin typeface="Santander Text" panose="020B0504020201020104" pitchFamily="34" charset="0"/>
            </a:endParaRPr>
          </a:p>
        </p:txBody>
      </p:sp>
      <p:sp>
        <p:nvSpPr>
          <p:cNvPr id="22" name="Rectángulo 114">
            <a:extLst>
              <a:ext uri="{FF2B5EF4-FFF2-40B4-BE49-F238E27FC236}">
                <a16:creationId xmlns:a16="http://schemas.microsoft.com/office/drawing/2014/main" id="{73631C96-38AC-2B11-7C82-D3ACA72331A8}"/>
              </a:ext>
            </a:extLst>
          </p:cNvPr>
          <p:cNvSpPr/>
          <p:nvPr/>
        </p:nvSpPr>
        <p:spPr>
          <a:xfrm>
            <a:off x="10533505" y="4826834"/>
            <a:ext cx="1423241" cy="264150"/>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 sz="1100" kern="0">
                <a:solidFill>
                  <a:srgbClr val="DEEDF1">
                    <a:lumMod val="25000"/>
                  </a:srgbClr>
                </a:solidFill>
                <a:latin typeface="Santander Text" panose="020B0504020201020104" pitchFamily="34" charset="0"/>
              </a:rPr>
              <a:t>FAIR </a:t>
            </a:r>
            <a:r>
              <a:rPr lang="es-ES" sz="1100" kern="0" err="1">
                <a:solidFill>
                  <a:srgbClr val="DEEDF1">
                    <a:lumMod val="25000"/>
                  </a:srgbClr>
                </a:solidFill>
                <a:latin typeface="Santander Text" panose="020B0504020201020104" pitchFamily="34" charset="0"/>
              </a:rPr>
              <a:t>Value</a:t>
            </a:r>
            <a:endParaRPr lang="en-GB" sz="1100" kern="0">
              <a:solidFill>
                <a:srgbClr val="DEEDF1">
                  <a:lumMod val="25000"/>
                </a:srgbClr>
              </a:solidFill>
              <a:latin typeface="Santander Text" panose="020B0504020201020104" pitchFamily="34" charset="0"/>
            </a:endParaRPr>
          </a:p>
        </p:txBody>
      </p:sp>
      <p:sp>
        <p:nvSpPr>
          <p:cNvPr id="26" name="Rectángulo 114">
            <a:extLst>
              <a:ext uri="{FF2B5EF4-FFF2-40B4-BE49-F238E27FC236}">
                <a16:creationId xmlns:a16="http://schemas.microsoft.com/office/drawing/2014/main" id="{6C7FB964-8BD2-04D6-F51E-9EDD8861EEB7}"/>
              </a:ext>
            </a:extLst>
          </p:cNvPr>
          <p:cNvSpPr/>
          <p:nvPr/>
        </p:nvSpPr>
        <p:spPr>
          <a:xfrm>
            <a:off x="4493103" y="5235855"/>
            <a:ext cx="3842062" cy="287619"/>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kern="0">
                <a:solidFill>
                  <a:srgbClr val="DEEDF1">
                    <a:lumMod val="25000"/>
                  </a:srgbClr>
                </a:solidFill>
                <a:latin typeface="Santander Text" panose="020B0504020201020104" pitchFamily="34" charset="0"/>
              </a:rPr>
              <a:t>Financial Data Hub</a:t>
            </a:r>
            <a:endParaRPr lang="en-GB" sz="1100" kern="0">
              <a:solidFill>
                <a:srgbClr val="DEEDF1">
                  <a:lumMod val="25000"/>
                </a:srgbClr>
              </a:solidFill>
              <a:latin typeface="Santander Text" panose="020B0504020201020104" pitchFamily="34" charset="0"/>
            </a:endParaRPr>
          </a:p>
        </p:txBody>
      </p:sp>
      <p:sp>
        <p:nvSpPr>
          <p:cNvPr id="29" name="Rectángulo 114">
            <a:extLst>
              <a:ext uri="{FF2B5EF4-FFF2-40B4-BE49-F238E27FC236}">
                <a16:creationId xmlns:a16="http://schemas.microsoft.com/office/drawing/2014/main" id="{BA8EB3E6-545D-06FE-F547-473935543BBB}"/>
              </a:ext>
            </a:extLst>
          </p:cNvPr>
          <p:cNvSpPr/>
          <p:nvPr/>
        </p:nvSpPr>
        <p:spPr>
          <a:xfrm>
            <a:off x="8820546" y="3238997"/>
            <a:ext cx="919759" cy="311170"/>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kern="0">
                <a:solidFill>
                  <a:srgbClr val="DEEDF1">
                    <a:lumMod val="25000"/>
                  </a:srgbClr>
                </a:solidFill>
                <a:latin typeface="Santander Text" panose="020B0504020201020104" pitchFamily="34" charset="0"/>
              </a:rPr>
              <a:t>Risk Factor Repository</a:t>
            </a:r>
            <a:endParaRPr lang="en-GB" sz="1100" kern="0">
              <a:solidFill>
                <a:srgbClr val="DEEDF1">
                  <a:lumMod val="25000"/>
                </a:srgbClr>
              </a:solidFill>
              <a:latin typeface="Santander Text" panose="020B0504020201020104" pitchFamily="34" charset="0"/>
            </a:endParaRPr>
          </a:p>
        </p:txBody>
      </p:sp>
      <p:sp>
        <p:nvSpPr>
          <p:cNvPr id="30" name="Rectángulo 10">
            <a:extLst>
              <a:ext uri="{FF2B5EF4-FFF2-40B4-BE49-F238E27FC236}">
                <a16:creationId xmlns:a16="http://schemas.microsoft.com/office/drawing/2014/main" id="{D3803DA9-3A55-4D73-8C1E-203080B1D443}"/>
              </a:ext>
            </a:extLst>
          </p:cNvPr>
          <p:cNvSpPr/>
          <p:nvPr/>
        </p:nvSpPr>
        <p:spPr>
          <a:xfrm>
            <a:off x="721329" y="3224071"/>
            <a:ext cx="3619343" cy="311170"/>
          </a:xfrm>
          <a:prstGeom prst="rect">
            <a:avLst/>
          </a:prstGeom>
          <a:solidFill>
            <a:srgbClr val="DEEDF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36000"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55600" indent="-355600">
              <a:spcAft>
                <a:spcPts val="300"/>
              </a:spcAft>
            </a:pPr>
            <a:r>
              <a:rPr lang="en-GB" sz="900" b="1">
                <a:solidFill>
                  <a:srgbClr val="DEEDF1">
                    <a:lumMod val="25000"/>
                  </a:srgbClr>
                </a:solidFill>
                <a:latin typeface="Santander Text" panose="020B0504020201020104" pitchFamily="34" charset="0"/>
              </a:rPr>
              <a:t>5 – Market Risk management Services</a:t>
            </a:r>
          </a:p>
        </p:txBody>
      </p:sp>
      <p:sp>
        <p:nvSpPr>
          <p:cNvPr id="31" name="Rectángulo 114">
            <a:extLst>
              <a:ext uri="{FF2B5EF4-FFF2-40B4-BE49-F238E27FC236}">
                <a16:creationId xmlns:a16="http://schemas.microsoft.com/office/drawing/2014/main" id="{51D8B6B0-2EEE-DBA4-8EBD-C8A701322BD0}"/>
              </a:ext>
            </a:extLst>
          </p:cNvPr>
          <p:cNvSpPr/>
          <p:nvPr/>
        </p:nvSpPr>
        <p:spPr>
          <a:xfrm>
            <a:off x="4495608" y="3247195"/>
            <a:ext cx="1733435" cy="304255"/>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Asset Control Corporate</a:t>
            </a:r>
          </a:p>
        </p:txBody>
      </p:sp>
      <p:sp>
        <p:nvSpPr>
          <p:cNvPr id="32" name="Rectángulo 114">
            <a:extLst>
              <a:ext uri="{FF2B5EF4-FFF2-40B4-BE49-F238E27FC236}">
                <a16:creationId xmlns:a16="http://schemas.microsoft.com/office/drawing/2014/main" id="{A2A316B8-5FB7-843F-C251-29AC6C567425}"/>
              </a:ext>
            </a:extLst>
          </p:cNvPr>
          <p:cNvSpPr/>
          <p:nvPr/>
        </p:nvSpPr>
        <p:spPr>
          <a:xfrm>
            <a:off x="6296504" y="3249681"/>
            <a:ext cx="1139328" cy="313286"/>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AVA FVA</a:t>
            </a:r>
          </a:p>
        </p:txBody>
      </p:sp>
      <p:sp>
        <p:nvSpPr>
          <p:cNvPr id="33" name="Rectángulo 114">
            <a:extLst>
              <a:ext uri="{FF2B5EF4-FFF2-40B4-BE49-F238E27FC236}">
                <a16:creationId xmlns:a16="http://schemas.microsoft.com/office/drawing/2014/main" id="{A0DE3DE6-4F29-D28E-3BCA-993FC08BDD20}"/>
              </a:ext>
            </a:extLst>
          </p:cNvPr>
          <p:cNvSpPr/>
          <p:nvPr/>
        </p:nvSpPr>
        <p:spPr>
          <a:xfrm>
            <a:off x="10181415" y="3991199"/>
            <a:ext cx="1781529" cy="297889"/>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GER</a:t>
            </a:r>
          </a:p>
        </p:txBody>
      </p:sp>
      <p:sp>
        <p:nvSpPr>
          <p:cNvPr id="34" name="Rectángulo 114">
            <a:extLst>
              <a:ext uri="{FF2B5EF4-FFF2-40B4-BE49-F238E27FC236}">
                <a16:creationId xmlns:a16="http://schemas.microsoft.com/office/drawing/2014/main" id="{64C6A18B-E7AE-FBE1-1C28-1D0BB1897C46}"/>
              </a:ext>
            </a:extLst>
          </p:cNvPr>
          <p:cNvSpPr/>
          <p:nvPr/>
        </p:nvSpPr>
        <p:spPr>
          <a:xfrm>
            <a:off x="9831579" y="3249679"/>
            <a:ext cx="1106186" cy="302007"/>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Initial Margin</a:t>
            </a:r>
          </a:p>
        </p:txBody>
      </p:sp>
      <p:sp>
        <p:nvSpPr>
          <p:cNvPr id="36" name="Rectángulo 114">
            <a:extLst>
              <a:ext uri="{FF2B5EF4-FFF2-40B4-BE49-F238E27FC236}">
                <a16:creationId xmlns:a16="http://schemas.microsoft.com/office/drawing/2014/main" id="{91F6A061-A327-26DB-362E-1CBA3A5AC7A4}"/>
              </a:ext>
            </a:extLst>
          </p:cNvPr>
          <p:cNvSpPr/>
          <p:nvPr/>
        </p:nvSpPr>
        <p:spPr>
          <a:xfrm>
            <a:off x="7503293" y="3249677"/>
            <a:ext cx="1259814" cy="302161"/>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CRISTINE2</a:t>
            </a:r>
          </a:p>
        </p:txBody>
      </p:sp>
      <p:sp>
        <p:nvSpPr>
          <p:cNvPr id="38" name="Rectángulo 114">
            <a:extLst>
              <a:ext uri="{FF2B5EF4-FFF2-40B4-BE49-F238E27FC236}">
                <a16:creationId xmlns:a16="http://schemas.microsoft.com/office/drawing/2014/main" id="{82758BBA-ADF8-E152-1F87-C7B6B61CC73F}"/>
              </a:ext>
            </a:extLst>
          </p:cNvPr>
          <p:cNvSpPr/>
          <p:nvPr/>
        </p:nvSpPr>
        <p:spPr>
          <a:xfrm>
            <a:off x="11007669" y="3249680"/>
            <a:ext cx="949077" cy="311170"/>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MARS</a:t>
            </a:r>
          </a:p>
        </p:txBody>
      </p:sp>
      <p:sp>
        <p:nvSpPr>
          <p:cNvPr id="4" name="Rectángulo 10">
            <a:extLst>
              <a:ext uri="{FF2B5EF4-FFF2-40B4-BE49-F238E27FC236}">
                <a16:creationId xmlns:a16="http://schemas.microsoft.com/office/drawing/2014/main" id="{0200AB47-183D-ADED-037A-D105BE158F72}"/>
              </a:ext>
            </a:extLst>
          </p:cNvPr>
          <p:cNvSpPr/>
          <p:nvPr/>
        </p:nvSpPr>
        <p:spPr>
          <a:xfrm>
            <a:off x="701811" y="5628222"/>
            <a:ext cx="3637765" cy="306388"/>
          </a:xfrm>
          <a:prstGeom prst="rect">
            <a:avLst/>
          </a:prstGeom>
          <a:solidFill>
            <a:srgbClr val="DEEDF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36000"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55600" indent="-355600">
              <a:spcAft>
                <a:spcPts val="300"/>
              </a:spcAft>
            </a:pPr>
            <a:endParaRPr lang="en-GB" sz="900" b="1">
              <a:solidFill>
                <a:srgbClr val="DEEDF1">
                  <a:lumMod val="25000"/>
                </a:srgbClr>
              </a:solidFill>
              <a:latin typeface="Santander Text" panose="020B0504020201020104" pitchFamily="34" charset="0"/>
            </a:endParaRPr>
          </a:p>
          <a:p>
            <a:pPr marL="355600" indent="-355600">
              <a:spcAft>
                <a:spcPts val="300"/>
              </a:spcAft>
            </a:pPr>
            <a:r>
              <a:rPr lang="en-GB" sz="900" b="1">
                <a:solidFill>
                  <a:srgbClr val="DEEDF1">
                    <a:lumMod val="25000"/>
                  </a:srgbClr>
                </a:solidFill>
                <a:latin typeface="Santander Text" panose="020B0504020201020104" pitchFamily="34" charset="0"/>
              </a:rPr>
              <a:t>11 – Markets Data Services </a:t>
            </a:r>
          </a:p>
          <a:p>
            <a:pPr marL="355600" indent="-355600">
              <a:spcAft>
                <a:spcPts val="300"/>
              </a:spcAft>
            </a:pPr>
            <a:r>
              <a:rPr lang="en-GB" sz="900" b="1">
                <a:solidFill>
                  <a:srgbClr val="DEEDF1">
                    <a:lumMod val="25000"/>
                  </a:srgbClr>
                </a:solidFill>
                <a:latin typeface="Santander Text" panose="020B0504020201020104" pitchFamily="34" charset="0"/>
              </a:rPr>
              <a:t>	</a:t>
            </a:r>
          </a:p>
        </p:txBody>
      </p:sp>
      <p:sp>
        <p:nvSpPr>
          <p:cNvPr id="18" name="Rectángulo 63">
            <a:extLst>
              <a:ext uri="{FF2B5EF4-FFF2-40B4-BE49-F238E27FC236}">
                <a16:creationId xmlns:a16="http://schemas.microsoft.com/office/drawing/2014/main" id="{00CDFDA6-7C18-7964-755F-54003D1ED4EB}"/>
              </a:ext>
            </a:extLst>
          </p:cNvPr>
          <p:cNvSpPr>
            <a:spLocks/>
          </p:cNvSpPr>
          <p:nvPr/>
        </p:nvSpPr>
        <p:spPr>
          <a:xfrm>
            <a:off x="4493104" y="5632670"/>
            <a:ext cx="7455006" cy="361153"/>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600"/>
              </a:spcAft>
            </a:pPr>
            <a:r>
              <a:rPr lang="en-US" sz="1100" kern="0"/>
              <a:t>Data Hub Market Trades</a:t>
            </a:r>
          </a:p>
        </p:txBody>
      </p:sp>
      <p:sp>
        <p:nvSpPr>
          <p:cNvPr id="25" name="Rectángulo 114">
            <a:extLst>
              <a:ext uri="{FF2B5EF4-FFF2-40B4-BE49-F238E27FC236}">
                <a16:creationId xmlns:a16="http://schemas.microsoft.com/office/drawing/2014/main" id="{C4D4C08A-237E-D9A4-103E-14F65F581461}"/>
              </a:ext>
            </a:extLst>
          </p:cNvPr>
          <p:cNvSpPr/>
          <p:nvPr/>
        </p:nvSpPr>
        <p:spPr>
          <a:xfrm>
            <a:off x="4493103" y="2780389"/>
            <a:ext cx="914204" cy="360687"/>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err="1">
                <a:solidFill>
                  <a:srgbClr val="DEEDF1">
                    <a:lumMod val="25000"/>
                  </a:srgbClr>
                </a:solidFill>
                <a:latin typeface="Santander Text" panose="020B0504020201020104" pitchFamily="34" charset="0"/>
              </a:rPr>
              <a:t>AquaPlus</a:t>
            </a:r>
            <a:endParaRPr lang="en-GB" sz="1100" kern="0">
              <a:solidFill>
                <a:srgbClr val="DEEDF1">
                  <a:lumMod val="25000"/>
                </a:srgbClr>
              </a:solidFill>
              <a:latin typeface="Santander Text" panose="020B0504020201020104" pitchFamily="34" charset="0"/>
            </a:endParaRPr>
          </a:p>
        </p:txBody>
      </p:sp>
      <p:sp>
        <p:nvSpPr>
          <p:cNvPr id="39" name="Rectángulo 114">
            <a:extLst>
              <a:ext uri="{FF2B5EF4-FFF2-40B4-BE49-F238E27FC236}">
                <a16:creationId xmlns:a16="http://schemas.microsoft.com/office/drawing/2014/main" id="{48088388-9AFE-F470-EB44-017A1A4A6151}"/>
              </a:ext>
            </a:extLst>
          </p:cNvPr>
          <p:cNvSpPr/>
          <p:nvPr/>
        </p:nvSpPr>
        <p:spPr>
          <a:xfrm>
            <a:off x="5486402" y="2782874"/>
            <a:ext cx="952728" cy="371393"/>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Cream management</a:t>
            </a:r>
          </a:p>
        </p:txBody>
      </p:sp>
      <p:sp>
        <p:nvSpPr>
          <p:cNvPr id="40" name="Rectángulo 114">
            <a:extLst>
              <a:ext uri="{FF2B5EF4-FFF2-40B4-BE49-F238E27FC236}">
                <a16:creationId xmlns:a16="http://schemas.microsoft.com/office/drawing/2014/main" id="{0F43639A-36F7-5ED7-2D69-67B0950A92E2}"/>
              </a:ext>
            </a:extLst>
          </p:cNvPr>
          <p:cNvSpPr/>
          <p:nvPr/>
        </p:nvSpPr>
        <p:spPr>
          <a:xfrm>
            <a:off x="7524721" y="2792182"/>
            <a:ext cx="789293" cy="371393"/>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err="1">
                <a:solidFill>
                  <a:srgbClr val="DEEDF1">
                    <a:lumMod val="25000"/>
                  </a:srgbClr>
                </a:solidFill>
                <a:latin typeface="Santander Text" panose="020B0504020201020104" pitchFamily="34" charset="0"/>
              </a:rPr>
              <a:t>Nilo</a:t>
            </a:r>
            <a:r>
              <a:rPr lang="en-GB" sz="1100" kern="0">
                <a:solidFill>
                  <a:srgbClr val="DEEDF1">
                    <a:lumMod val="25000"/>
                  </a:srgbClr>
                </a:solidFill>
                <a:latin typeface="Santander Text" panose="020B0504020201020104" pitchFamily="34" charset="0"/>
              </a:rPr>
              <a:t> Plus</a:t>
            </a:r>
          </a:p>
        </p:txBody>
      </p:sp>
      <p:sp>
        <p:nvSpPr>
          <p:cNvPr id="41" name="Rectángulo 114">
            <a:extLst>
              <a:ext uri="{FF2B5EF4-FFF2-40B4-BE49-F238E27FC236}">
                <a16:creationId xmlns:a16="http://schemas.microsoft.com/office/drawing/2014/main" id="{DAB7D3EE-58C3-1283-FAFF-75AFAF82622D}"/>
              </a:ext>
            </a:extLst>
          </p:cNvPr>
          <p:cNvSpPr/>
          <p:nvPr/>
        </p:nvSpPr>
        <p:spPr>
          <a:xfrm>
            <a:off x="8379114" y="2790824"/>
            <a:ext cx="789293" cy="371393"/>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RORAC</a:t>
            </a:r>
          </a:p>
        </p:txBody>
      </p:sp>
      <p:sp>
        <p:nvSpPr>
          <p:cNvPr id="42" name="Rectángulo 114">
            <a:extLst>
              <a:ext uri="{FF2B5EF4-FFF2-40B4-BE49-F238E27FC236}">
                <a16:creationId xmlns:a16="http://schemas.microsoft.com/office/drawing/2014/main" id="{17D5A9F8-E89C-C75D-125C-8379DAB03703}"/>
              </a:ext>
            </a:extLst>
          </p:cNvPr>
          <p:cNvSpPr/>
          <p:nvPr/>
        </p:nvSpPr>
        <p:spPr>
          <a:xfrm>
            <a:off x="6509951" y="2792181"/>
            <a:ext cx="914204" cy="371393"/>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Early Alerts</a:t>
            </a:r>
          </a:p>
        </p:txBody>
      </p:sp>
      <p:sp>
        <p:nvSpPr>
          <p:cNvPr id="45" name="Rectángulo 114">
            <a:extLst>
              <a:ext uri="{FF2B5EF4-FFF2-40B4-BE49-F238E27FC236}">
                <a16:creationId xmlns:a16="http://schemas.microsoft.com/office/drawing/2014/main" id="{B76CA776-1D33-3D04-1DE6-5523015064A8}"/>
              </a:ext>
            </a:extLst>
          </p:cNvPr>
          <p:cNvSpPr/>
          <p:nvPr/>
        </p:nvSpPr>
        <p:spPr>
          <a:xfrm>
            <a:off x="9238340" y="2782873"/>
            <a:ext cx="789294" cy="371393"/>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SCAN</a:t>
            </a:r>
          </a:p>
        </p:txBody>
      </p:sp>
      <p:sp>
        <p:nvSpPr>
          <p:cNvPr id="46" name="Rectángulo 114">
            <a:extLst>
              <a:ext uri="{FF2B5EF4-FFF2-40B4-BE49-F238E27FC236}">
                <a16:creationId xmlns:a16="http://schemas.microsoft.com/office/drawing/2014/main" id="{ACE39198-E5B1-7E9A-030B-47C2E7783057}"/>
              </a:ext>
            </a:extLst>
          </p:cNvPr>
          <p:cNvSpPr/>
          <p:nvPr/>
        </p:nvSpPr>
        <p:spPr>
          <a:xfrm>
            <a:off x="10093486" y="2782873"/>
            <a:ext cx="932550" cy="371393"/>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SIMA CIB</a:t>
            </a:r>
          </a:p>
        </p:txBody>
      </p:sp>
      <p:sp>
        <p:nvSpPr>
          <p:cNvPr id="47" name="Rectángulo 114">
            <a:extLst>
              <a:ext uri="{FF2B5EF4-FFF2-40B4-BE49-F238E27FC236}">
                <a16:creationId xmlns:a16="http://schemas.microsoft.com/office/drawing/2014/main" id="{8498D6D0-5B13-8DB7-B1B3-EA08B31CA9FA}"/>
              </a:ext>
            </a:extLst>
          </p:cNvPr>
          <p:cNvSpPr/>
          <p:nvPr/>
        </p:nvSpPr>
        <p:spPr>
          <a:xfrm>
            <a:off x="11091888" y="2775312"/>
            <a:ext cx="875729" cy="377577"/>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ECO workflow</a:t>
            </a:r>
          </a:p>
        </p:txBody>
      </p:sp>
    </p:spTree>
    <p:extLst>
      <p:ext uri="{BB962C8B-B14F-4D97-AF65-F5344CB8AC3E}">
        <p14:creationId xmlns:p14="http://schemas.microsoft.com/office/powerpoint/2010/main" val="23386141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ítulo 1">
            <a:extLst>
              <a:ext uri="{FF2B5EF4-FFF2-40B4-BE49-F238E27FC236}">
                <a16:creationId xmlns:a16="http://schemas.microsoft.com/office/drawing/2014/main" id="{90F7556B-98F2-243B-3ED1-660B08175F84}"/>
              </a:ext>
            </a:extLst>
          </p:cNvPr>
          <p:cNvSpPr>
            <a:spLocks noGrp="1"/>
          </p:cNvSpPr>
          <p:nvPr>
            <p:ph type="title"/>
          </p:nvPr>
        </p:nvSpPr>
        <p:spPr>
          <a:xfrm>
            <a:off x="711024" y="641900"/>
            <a:ext cx="10758733" cy="836992"/>
          </a:xfrm>
        </p:spPr>
        <p:txBody>
          <a:bodyPr/>
          <a:lstStyle/>
          <a:p>
            <a:r>
              <a:rPr lang="es-ES"/>
              <a:t>Global </a:t>
            </a:r>
            <a:r>
              <a:rPr lang="es-ES" err="1"/>
              <a:t>Technology</a:t>
            </a:r>
            <a:r>
              <a:rPr lang="es-ES"/>
              <a:t>. </a:t>
            </a:r>
            <a:r>
              <a:rPr lang="en-US">
                <a:solidFill>
                  <a:schemeClr val="bg1">
                    <a:lumMod val="75000"/>
                  </a:schemeClr>
                </a:solidFill>
              </a:rPr>
              <a:t>Data</a:t>
            </a:r>
          </a:p>
        </p:txBody>
      </p:sp>
      <p:sp>
        <p:nvSpPr>
          <p:cNvPr id="3" name="Text Placeholder 2">
            <a:extLst>
              <a:ext uri="{FF2B5EF4-FFF2-40B4-BE49-F238E27FC236}">
                <a16:creationId xmlns:a16="http://schemas.microsoft.com/office/drawing/2014/main" id="{C458041E-452B-3D66-0BB6-63845CC4E8A6}"/>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10" name="Rectángulo 9">
            <a:extLst>
              <a:ext uri="{FF2B5EF4-FFF2-40B4-BE49-F238E27FC236}">
                <a16:creationId xmlns:a16="http://schemas.microsoft.com/office/drawing/2014/main" id="{98CC4A60-C013-CBC6-DC74-9F14D7F60AEE}"/>
              </a:ext>
            </a:extLst>
          </p:cNvPr>
          <p:cNvSpPr/>
          <p:nvPr/>
        </p:nvSpPr>
        <p:spPr>
          <a:xfrm>
            <a:off x="530111" y="2573985"/>
            <a:ext cx="3619343" cy="676620"/>
          </a:xfrm>
          <a:prstGeom prst="rect">
            <a:avLst/>
          </a:prstGeom>
          <a:solidFill>
            <a:srgbClr val="DEEDF1"/>
          </a:solidFill>
          <a:ln w="12700" cap="flat" cmpd="sng" algn="ctr">
            <a:noFill/>
            <a:prstDash val="solid"/>
            <a:miter lim="800000"/>
          </a:ln>
          <a:effectLst/>
        </p:spPr>
        <p:txBody>
          <a:bodyPr lIns="72000" rIns="36000" rtlCol="0" anchor="ctr"/>
          <a:lstStyle/>
          <a:p>
            <a:pPr marL="355600" indent="-355600">
              <a:spcAft>
                <a:spcPts val="300"/>
              </a:spcAft>
              <a:defRPr/>
            </a:pPr>
            <a:r>
              <a:rPr lang="en-AU" sz="1100" b="1" kern="0">
                <a:solidFill>
                  <a:srgbClr val="DEEDF1">
                    <a:lumMod val="25000"/>
                  </a:srgbClr>
                </a:solidFill>
              </a:rPr>
              <a:t>2 – Governance &amp; Data Modelling </a:t>
            </a:r>
          </a:p>
          <a:p>
            <a:pPr>
              <a:spcAft>
                <a:spcPts val="300"/>
              </a:spcAft>
              <a:defRPr/>
            </a:pPr>
            <a:r>
              <a:rPr lang="en-US" sz="1050" i="1" kern="0">
                <a:solidFill>
                  <a:srgbClr val="DEEDF1">
                    <a:lumMod val="25000"/>
                  </a:srgbClr>
                </a:solidFill>
              </a:rPr>
              <a:t>Data governance and data modelling</a:t>
            </a:r>
          </a:p>
        </p:txBody>
      </p:sp>
      <p:sp>
        <p:nvSpPr>
          <p:cNvPr id="11" name="Rectángulo 10">
            <a:extLst>
              <a:ext uri="{FF2B5EF4-FFF2-40B4-BE49-F238E27FC236}">
                <a16:creationId xmlns:a16="http://schemas.microsoft.com/office/drawing/2014/main" id="{9C0E1695-1258-CDD5-CB7C-4AD652F874C1}"/>
              </a:ext>
            </a:extLst>
          </p:cNvPr>
          <p:cNvSpPr/>
          <p:nvPr/>
        </p:nvSpPr>
        <p:spPr>
          <a:xfrm>
            <a:off x="530111" y="3351491"/>
            <a:ext cx="3619343" cy="676620"/>
          </a:xfrm>
          <a:prstGeom prst="rect">
            <a:avLst/>
          </a:prstGeom>
          <a:solidFill>
            <a:srgbClr val="DEEDF1"/>
          </a:solidFill>
          <a:ln w="12700" cap="flat" cmpd="sng" algn="ctr">
            <a:noFill/>
            <a:prstDash val="solid"/>
            <a:miter lim="800000"/>
          </a:ln>
          <a:effectLst/>
        </p:spPr>
        <p:txBody>
          <a:bodyPr lIns="72000" rIns="36000" rtlCol="0" anchor="ctr"/>
          <a:lstStyle/>
          <a:p>
            <a:pPr marL="355600" marR="0" lvl="0" indent="-355600" fontAlgn="auto">
              <a:lnSpc>
                <a:spcPct val="100000"/>
              </a:lnSpc>
              <a:spcBef>
                <a:spcPts val="0"/>
              </a:spcBef>
              <a:spcAft>
                <a:spcPts val="300"/>
              </a:spcAft>
              <a:buClrTx/>
              <a:buSzTx/>
              <a:buFontTx/>
              <a:buNone/>
              <a:tabLst/>
              <a:defRPr/>
            </a:pPr>
            <a:r>
              <a:rPr lang="en-AU" sz="1100" b="1" kern="0">
                <a:solidFill>
                  <a:srgbClr val="DEEDF1">
                    <a:lumMod val="25000"/>
                  </a:srgbClr>
                </a:solidFill>
              </a:rPr>
              <a:t>3 – Data Consumption Management</a:t>
            </a:r>
          </a:p>
          <a:p>
            <a:pPr marR="0" lvl="0" indent="0" fontAlgn="auto">
              <a:lnSpc>
                <a:spcPct val="100000"/>
              </a:lnSpc>
              <a:spcBef>
                <a:spcPts val="0"/>
              </a:spcBef>
              <a:spcAft>
                <a:spcPts val="300"/>
              </a:spcAft>
              <a:buClrTx/>
              <a:buSzTx/>
              <a:buFontTx/>
              <a:buNone/>
              <a:tabLst/>
              <a:defRPr/>
            </a:pPr>
            <a:r>
              <a:rPr lang="en-US" sz="1050" i="1" kern="0">
                <a:solidFill>
                  <a:srgbClr val="DEEDF1">
                    <a:lumMod val="25000"/>
                  </a:srgbClr>
                </a:solidFill>
              </a:rPr>
              <a:t>Make data available for consumption by systems and users.</a:t>
            </a:r>
          </a:p>
        </p:txBody>
      </p:sp>
      <p:sp>
        <p:nvSpPr>
          <p:cNvPr id="12" name="Rectángulo 11">
            <a:extLst>
              <a:ext uri="{FF2B5EF4-FFF2-40B4-BE49-F238E27FC236}">
                <a16:creationId xmlns:a16="http://schemas.microsoft.com/office/drawing/2014/main" id="{1A26DC78-5D19-D568-40B6-6617A643FA70}"/>
              </a:ext>
            </a:extLst>
          </p:cNvPr>
          <p:cNvSpPr/>
          <p:nvPr/>
        </p:nvSpPr>
        <p:spPr>
          <a:xfrm>
            <a:off x="530111" y="1779028"/>
            <a:ext cx="3619343" cy="676620"/>
          </a:xfrm>
          <a:prstGeom prst="rect">
            <a:avLst/>
          </a:prstGeom>
          <a:solidFill>
            <a:srgbClr val="DEEDF1"/>
          </a:solidFill>
          <a:ln w="12700" cap="flat" cmpd="sng" algn="ctr">
            <a:noFill/>
            <a:prstDash val="solid"/>
            <a:miter lim="800000"/>
          </a:ln>
          <a:effectLst/>
        </p:spPr>
        <p:txBody>
          <a:bodyPr lIns="72000" rIns="36000" rtlCol="0" anchor="ctr"/>
          <a:lstStyle/>
          <a:p>
            <a:pPr marL="355600" marR="0" lvl="0" indent="-355600" defTabSz="914400" eaLnBrk="1" fontAlgn="auto" latinLnBrk="0" hangingPunct="1">
              <a:lnSpc>
                <a:spcPct val="100000"/>
              </a:lnSpc>
              <a:spcBef>
                <a:spcPts val="0"/>
              </a:spcBef>
              <a:spcAft>
                <a:spcPts val="300"/>
              </a:spcAft>
              <a:buClrTx/>
              <a:buSzTx/>
              <a:buFontTx/>
              <a:buNone/>
              <a:tabLst/>
              <a:defRPr/>
            </a:pPr>
            <a:r>
              <a:rPr kumimoji="0" lang="en-AU" sz="1100" b="1" i="0" u="none" strike="noStrike" kern="0" cap="none" spc="0" normalizeH="0" baseline="0" noProof="0">
                <a:ln>
                  <a:noFill/>
                </a:ln>
                <a:solidFill>
                  <a:srgbClr val="DEEDF1">
                    <a:lumMod val="25000"/>
                  </a:srgbClr>
                </a:solidFill>
                <a:effectLst/>
                <a:uLnTx/>
                <a:uFillTx/>
                <a:ea typeface="+mn-ea"/>
                <a:cs typeface="+mn-cs"/>
              </a:rPr>
              <a:t>1 –  Core Data Platform</a:t>
            </a:r>
          </a:p>
          <a:p>
            <a:pPr marL="0" marR="0" lvl="0" indent="0" defTabSz="914400" eaLnBrk="1" fontAlgn="auto" latinLnBrk="0" hangingPunct="1">
              <a:lnSpc>
                <a:spcPct val="100000"/>
              </a:lnSpc>
              <a:spcBef>
                <a:spcPts val="0"/>
              </a:spcBef>
              <a:spcAft>
                <a:spcPts val="300"/>
              </a:spcAft>
              <a:buClrTx/>
              <a:buSzTx/>
              <a:buFontTx/>
              <a:buNone/>
              <a:tabLst/>
              <a:defRPr/>
            </a:pPr>
            <a:r>
              <a:rPr kumimoji="0" lang="en-US" sz="1050" b="0" i="1" u="none" strike="noStrike" kern="0" cap="none" spc="0" normalizeH="0" baseline="0" noProof="0">
                <a:ln>
                  <a:noFill/>
                </a:ln>
                <a:solidFill>
                  <a:srgbClr val="DEEDF1">
                    <a:lumMod val="25000"/>
                  </a:srgbClr>
                </a:solidFill>
                <a:effectLst/>
                <a:uLnTx/>
                <a:uFillTx/>
                <a:ea typeface="+mn-ea"/>
                <a:cs typeface="+mn-cs"/>
              </a:rPr>
              <a:t>Technical capabilities that supports data analysis lifecycle with real time and  batch ingestion</a:t>
            </a:r>
          </a:p>
        </p:txBody>
      </p:sp>
      <p:sp>
        <p:nvSpPr>
          <p:cNvPr id="16" name="Rectángulo 15">
            <a:extLst>
              <a:ext uri="{FF2B5EF4-FFF2-40B4-BE49-F238E27FC236}">
                <a16:creationId xmlns:a16="http://schemas.microsoft.com/office/drawing/2014/main" id="{A61ADD20-CE89-60E1-DFE0-3BCFBEEF27A6}"/>
              </a:ext>
            </a:extLst>
          </p:cNvPr>
          <p:cNvSpPr/>
          <p:nvPr/>
        </p:nvSpPr>
        <p:spPr>
          <a:xfrm>
            <a:off x="4260366" y="1779028"/>
            <a:ext cx="2304000" cy="676620"/>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spcAft>
                <a:spcPts val="600"/>
              </a:spcAft>
            </a:pPr>
            <a:r>
              <a:rPr lang="en-AU" sz="1100" kern="0">
                <a:solidFill>
                  <a:srgbClr val="DEEDF1">
                    <a:lumMod val="25000"/>
                  </a:srgbClr>
                </a:solidFill>
              </a:rPr>
              <a:t>Analytical Data Platform</a:t>
            </a:r>
          </a:p>
        </p:txBody>
      </p:sp>
      <p:sp>
        <p:nvSpPr>
          <p:cNvPr id="17" name="Rectángulo 16">
            <a:extLst>
              <a:ext uri="{FF2B5EF4-FFF2-40B4-BE49-F238E27FC236}">
                <a16:creationId xmlns:a16="http://schemas.microsoft.com/office/drawing/2014/main" id="{32870858-2E11-DC2E-B13C-677B984CB1B8}"/>
              </a:ext>
            </a:extLst>
          </p:cNvPr>
          <p:cNvSpPr/>
          <p:nvPr/>
        </p:nvSpPr>
        <p:spPr>
          <a:xfrm>
            <a:off x="8995613" y="2573985"/>
            <a:ext cx="2289664" cy="676620"/>
          </a:xfrm>
          <a:prstGeom prst="rect">
            <a:avLst/>
          </a:prstGeom>
          <a:solidFill>
            <a:schemeClr val="bg1"/>
          </a:solidFill>
          <a:ln w="12700" cap="flat" cmpd="sng" algn="ctr">
            <a:solidFill>
              <a:schemeClr val="bg2">
                <a:lumMod val="75000"/>
              </a:schemeClr>
            </a:solidFill>
            <a:prstDash val="solid"/>
            <a:miter lim="800000"/>
          </a:ln>
          <a:effectLst/>
        </p:spPr>
        <p:txBody>
          <a:bodyPr lIns="0" rIns="0" rtlCol="0" anchor="ctr"/>
          <a:lstStyle/>
          <a:p>
            <a:pPr algn="ctr">
              <a:spcAft>
                <a:spcPts val="600"/>
              </a:spcAft>
            </a:pPr>
            <a:r>
              <a:rPr lang="en-AU" sz="1100" kern="0">
                <a:solidFill>
                  <a:srgbClr val="DEEDF1">
                    <a:lumMod val="25000"/>
                  </a:srgbClr>
                </a:solidFill>
              </a:rPr>
              <a:t>Privacy &amp;  Consent management</a:t>
            </a:r>
          </a:p>
        </p:txBody>
      </p:sp>
      <p:sp>
        <p:nvSpPr>
          <p:cNvPr id="20" name="Rectángulo 19">
            <a:extLst>
              <a:ext uri="{FF2B5EF4-FFF2-40B4-BE49-F238E27FC236}">
                <a16:creationId xmlns:a16="http://schemas.microsoft.com/office/drawing/2014/main" id="{033B5E97-32D7-E759-50F5-E88D92322BEA}"/>
              </a:ext>
            </a:extLst>
          </p:cNvPr>
          <p:cNvSpPr/>
          <p:nvPr/>
        </p:nvSpPr>
        <p:spPr>
          <a:xfrm>
            <a:off x="7841763" y="3351491"/>
            <a:ext cx="3443514" cy="676620"/>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r>
              <a:rPr lang="en-AU" sz="1100" kern="0">
                <a:solidFill>
                  <a:srgbClr val="001B39"/>
                </a:solidFill>
              </a:rPr>
              <a:t>Business Intelligence Analytic</a:t>
            </a:r>
          </a:p>
        </p:txBody>
      </p:sp>
      <p:sp>
        <p:nvSpPr>
          <p:cNvPr id="26" name="Rectángulo 25">
            <a:extLst>
              <a:ext uri="{FF2B5EF4-FFF2-40B4-BE49-F238E27FC236}">
                <a16:creationId xmlns:a16="http://schemas.microsoft.com/office/drawing/2014/main" id="{5028E30A-E9EC-44E9-1D5E-4394962A162E}"/>
              </a:ext>
            </a:extLst>
          </p:cNvPr>
          <p:cNvSpPr/>
          <p:nvPr/>
        </p:nvSpPr>
        <p:spPr>
          <a:xfrm>
            <a:off x="4260367" y="1452698"/>
            <a:ext cx="7062857" cy="240476"/>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AU" sz="1600" b="1" i="0" u="none" strike="noStrike" kern="0" cap="none" spc="0" normalizeH="0" baseline="0" noProof="0">
                <a:ln>
                  <a:noFill/>
                </a:ln>
                <a:solidFill>
                  <a:prstClr val="white"/>
                </a:solidFill>
                <a:effectLst/>
                <a:uLnTx/>
                <a:uFillTx/>
                <a:ea typeface="+mn-ea"/>
                <a:cs typeface="+mn-cs"/>
              </a:rPr>
              <a:t>Modules</a:t>
            </a:r>
          </a:p>
        </p:txBody>
      </p:sp>
      <p:sp>
        <p:nvSpPr>
          <p:cNvPr id="41" name="Rectángulo 40">
            <a:extLst>
              <a:ext uri="{FF2B5EF4-FFF2-40B4-BE49-F238E27FC236}">
                <a16:creationId xmlns:a16="http://schemas.microsoft.com/office/drawing/2014/main" id="{E5593C42-2D81-2B72-22CC-27CA70634DC2}"/>
              </a:ext>
            </a:extLst>
          </p:cNvPr>
          <p:cNvSpPr/>
          <p:nvPr/>
        </p:nvSpPr>
        <p:spPr>
          <a:xfrm>
            <a:off x="4260366" y="3351490"/>
            <a:ext cx="3494742" cy="676620"/>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spcAft>
                <a:spcPts val="600"/>
              </a:spcAft>
            </a:pPr>
            <a:endParaRPr lang="en-AU" sz="1100" kern="0">
              <a:solidFill>
                <a:srgbClr val="DEEDF1">
                  <a:lumMod val="25000"/>
                </a:srgbClr>
              </a:solidFill>
            </a:endParaRPr>
          </a:p>
        </p:txBody>
      </p:sp>
      <p:sp>
        <p:nvSpPr>
          <p:cNvPr id="43" name="CuadroTexto 42">
            <a:extLst>
              <a:ext uri="{FF2B5EF4-FFF2-40B4-BE49-F238E27FC236}">
                <a16:creationId xmlns:a16="http://schemas.microsoft.com/office/drawing/2014/main" id="{FDF28A4B-2B44-ED20-EDC0-CE78973AC74C}"/>
              </a:ext>
            </a:extLst>
          </p:cNvPr>
          <p:cNvSpPr txBox="1"/>
          <p:nvPr/>
        </p:nvSpPr>
        <p:spPr>
          <a:xfrm>
            <a:off x="4837451" y="3500357"/>
            <a:ext cx="2244525" cy="384721"/>
          </a:xfrm>
          <a:prstGeom prst="rect">
            <a:avLst/>
          </a:prstGeom>
          <a:solidFill>
            <a:schemeClr val="bg1"/>
          </a:solidFill>
        </p:spPr>
        <p:txBody>
          <a:bodyPr wrap="square" rtlCol="0">
            <a:spAutoFit/>
          </a:bodyPr>
          <a:lstStyle/>
          <a:p>
            <a:r>
              <a:rPr lang="en-AU" sz="1100" kern="0">
                <a:solidFill>
                  <a:srgbClr val="DEEDF1">
                    <a:lumMod val="25000"/>
                  </a:srgbClr>
                </a:solidFill>
              </a:rPr>
              <a:t>Data As Product (Customer360,…)</a:t>
            </a:r>
          </a:p>
          <a:p>
            <a:endParaRPr lang="es-ES" sz="800">
              <a:solidFill>
                <a:srgbClr val="FFFFFF"/>
              </a:solidFill>
              <a:latin typeface="Santander Text"/>
            </a:endParaRPr>
          </a:p>
        </p:txBody>
      </p:sp>
      <p:sp>
        <p:nvSpPr>
          <p:cNvPr id="54" name="Rectángulo 53">
            <a:extLst>
              <a:ext uri="{FF2B5EF4-FFF2-40B4-BE49-F238E27FC236}">
                <a16:creationId xmlns:a16="http://schemas.microsoft.com/office/drawing/2014/main" id="{71C24F0B-8AFC-F3A4-1CDB-B6B99E98A7B8}"/>
              </a:ext>
            </a:extLst>
          </p:cNvPr>
          <p:cNvSpPr/>
          <p:nvPr/>
        </p:nvSpPr>
        <p:spPr>
          <a:xfrm>
            <a:off x="9010286" y="1787911"/>
            <a:ext cx="2274991" cy="676620"/>
          </a:xfrm>
          <a:prstGeom prst="rect">
            <a:avLst/>
          </a:prstGeom>
          <a:solidFill>
            <a:schemeClr val="bg1"/>
          </a:solidFill>
          <a:ln w="12700" cap="flat" cmpd="sng" algn="ctr">
            <a:solidFill>
              <a:schemeClr val="bg2">
                <a:lumMod val="50000"/>
              </a:schemeClr>
            </a:solidFill>
            <a:prstDash val="solid"/>
            <a:miter lim="800000"/>
          </a:ln>
          <a:effectLst/>
        </p:spPr>
        <p:txBody>
          <a:bodyPr lIns="72000" tIns="45720" rIns="72000" bIns="45720" rtlCol="0" anchor="ctr"/>
          <a:lstStyle/>
          <a:p>
            <a:pPr algn="ctr">
              <a:spcAft>
                <a:spcPts val="600"/>
              </a:spcAft>
            </a:pPr>
            <a:r>
              <a:rPr lang="en-AU" sz="1100" kern="0">
                <a:solidFill>
                  <a:srgbClr val="DEEDF1">
                    <a:lumMod val="25000"/>
                  </a:srgbClr>
                </a:solidFill>
              </a:rPr>
              <a:t>Advanced Analytics &amp; AI Platform</a:t>
            </a:r>
          </a:p>
        </p:txBody>
      </p:sp>
      <p:sp>
        <p:nvSpPr>
          <p:cNvPr id="57" name="Rectángulo 56">
            <a:extLst>
              <a:ext uri="{FF2B5EF4-FFF2-40B4-BE49-F238E27FC236}">
                <a16:creationId xmlns:a16="http://schemas.microsoft.com/office/drawing/2014/main" id="{2D8173C9-8585-166D-57E8-85993EDAA424}"/>
              </a:ext>
            </a:extLst>
          </p:cNvPr>
          <p:cNvSpPr/>
          <p:nvPr/>
        </p:nvSpPr>
        <p:spPr>
          <a:xfrm>
            <a:off x="4260366" y="2573985"/>
            <a:ext cx="2252067" cy="676620"/>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r>
              <a:rPr lang="en-AU" sz="1100" kern="0">
                <a:solidFill>
                  <a:srgbClr val="001B39"/>
                </a:solidFill>
              </a:rPr>
              <a:t>Data Governance</a:t>
            </a:r>
          </a:p>
        </p:txBody>
      </p:sp>
      <p:sp>
        <p:nvSpPr>
          <p:cNvPr id="61" name="Rectángulo 60">
            <a:extLst>
              <a:ext uri="{FF2B5EF4-FFF2-40B4-BE49-F238E27FC236}">
                <a16:creationId xmlns:a16="http://schemas.microsoft.com/office/drawing/2014/main" id="{438F6F63-419F-E709-EF5B-1FBC0264071B}"/>
              </a:ext>
            </a:extLst>
          </p:cNvPr>
          <p:cNvSpPr/>
          <p:nvPr/>
        </p:nvSpPr>
        <p:spPr>
          <a:xfrm>
            <a:off x="6625172" y="2569700"/>
            <a:ext cx="2257701" cy="676620"/>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r>
              <a:rPr lang="en-AU" sz="1100" kern="0">
                <a:solidFill>
                  <a:srgbClr val="001B39"/>
                </a:solidFill>
              </a:rPr>
              <a:t>Data Modelling</a:t>
            </a:r>
          </a:p>
        </p:txBody>
      </p:sp>
      <p:sp>
        <p:nvSpPr>
          <p:cNvPr id="4" name="Rectángulo 3">
            <a:extLst>
              <a:ext uri="{FF2B5EF4-FFF2-40B4-BE49-F238E27FC236}">
                <a16:creationId xmlns:a16="http://schemas.microsoft.com/office/drawing/2014/main" id="{B7A5AA92-265C-2223-A193-38DE39DAB274}"/>
              </a:ext>
            </a:extLst>
          </p:cNvPr>
          <p:cNvSpPr/>
          <p:nvPr/>
        </p:nvSpPr>
        <p:spPr>
          <a:xfrm>
            <a:off x="6660990" y="1780892"/>
            <a:ext cx="2252672" cy="676620"/>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spcAft>
                <a:spcPts val="600"/>
              </a:spcAft>
            </a:pPr>
            <a:r>
              <a:rPr lang="en-AU" sz="1100" kern="0">
                <a:solidFill>
                  <a:srgbClr val="DEEDF1">
                    <a:lumMod val="25000"/>
                  </a:srgbClr>
                </a:solidFill>
              </a:rPr>
              <a:t>Operational Data Platform</a:t>
            </a:r>
          </a:p>
        </p:txBody>
      </p:sp>
      <p:sp>
        <p:nvSpPr>
          <p:cNvPr id="2" name="Rectángulo 15">
            <a:extLst>
              <a:ext uri="{FF2B5EF4-FFF2-40B4-BE49-F238E27FC236}">
                <a16:creationId xmlns:a16="http://schemas.microsoft.com/office/drawing/2014/main" id="{B66A1D16-805F-8B8C-50DF-F3AB3551E5D0}"/>
              </a:ext>
            </a:extLst>
          </p:cNvPr>
          <p:cNvSpPr/>
          <p:nvPr/>
        </p:nvSpPr>
        <p:spPr>
          <a:xfrm>
            <a:off x="530112" y="1452698"/>
            <a:ext cx="3619342" cy="240476"/>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kern="0">
                <a:solidFill>
                  <a:prstClr val="white"/>
                </a:solidFill>
                <a:latin typeface="Santander Text" panose="020B0504020201020104" pitchFamily="34" charset="0"/>
              </a:rPr>
              <a:t>Module Aggregation</a:t>
            </a:r>
          </a:p>
        </p:txBody>
      </p:sp>
    </p:spTree>
    <p:extLst>
      <p:ext uri="{BB962C8B-B14F-4D97-AF65-F5344CB8AC3E}">
        <p14:creationId xmlns:p14="http://schemas.microsoft.com/office/powerpoint/2010/main" val="1389121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ítulo 1">
            <a:extLst>
              <a:ext uri="{FF2B5EF4-FFF2-40B4-BE49-F238E27FC236}">
                <a16:creationId xmlns:a16="http://schemas.microsoft.com/office/drawing/2014/main" id="{23A31850-A28B-FED3-1E34-6C649EF33600}"/>
              </a:ext>
            </a:extLst>
          </p:cNvPr>
          <p:cNvSpPr txBox="1">
            <a:spLocks/>
          </p:cNvSpPr>
          <p:nvPr/>
        </p:nvSpPr>
        <p:spPr>
          <a:xfrm>
            <a:off x="640811" y="604206"/>
            <a:ext cx="10758733" cy="836992"/>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lang="en-US" sz="2800" b="1" kern="1200" dirty="0">
                <a:solidFill>
                  <a:schemeClr val="accent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2800" b="1" i="0" u="none" strike="noStrike" kern="1200" cap="none" spc="0" normalizeH="0" baseline="0" noProof="1">
                <a:ln>
                  <a:noFill/>
                </a:ln>
                <a:solidFill>
                  <a:srgbClr val="EB0000"/>
                </a:solidFill>
                <a:effectLst/>
                <a:uLnTx/>
                <a:uFillTx/>
                <a:latin typeface="Santander Headline" panose="020B0504020201020104" pitchFamily="34" charset="0"/>
                <a:ea typeface="+mj-ea"/>
                <a:cs typeface="+mj-cs"/>
              </a:rPr>
              <a:t>Global Technology. </a:t>
            </a:r>
            <a:r>
              <a:rPr lang="en-GB" noProof="1">
                <a:solidFill>
                  <a:schemeClr val="bg1">
                    <a:lumMod val="75000"/>
                  </a:schemeClr>
                </a:solidFill>
              </a:rPr>
              <a:t>Gluon - Global Dev Hub</a:t>
            </a: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s-ES" sz="2800" b="1" i="0" u="none" strike="noStrike" kern="1200" cap="none" spc="0" normalizeH="0" baseline="0" noProof="0">
              <a:ln>
                <a:noFill/>
              </a:ln>
              <a:solidFill>
                <a:srgbClr val="EB0000"/>
              </a:solidFill>
              <a:effectLst/>
              <a:uLnTx/>
              <a:uFillTx/>
              <a:latin typeface="Santander Headline" panose="020B0504020201020104" pitchFamily="34" charset="0"/>
              <a:ea typeface="+mj-ea"/>
              <a:cs typeface="+mj-cs"/>
            </a:endParaRPr>
          </a:p>
        </p:txBody>
      </p:sp>
      <p:sp>
        <p:nvSpPr>
          <p:cNvPr id="3" name="Text Placeholder 2">
            <a:extLst>
              <a:ext uri="{FF2B5EF4-FFF2-40B4-BE49-F238E27FC236}">
                <a16:creationId xmlns:a16="http://schemas.microsoft.com/office/drawing/2014/main" id="{AA5B9125-ED74-45DB-9812-3EF7553A7506}"/>
              </a:ext>
            </a:extLst>
          </p:cNvPr>
          <p:cNvSpPr>
            <a:spLocks noGrp="1"/>
          </p:cNvSpPr>
          <p:nvPr>
            <p:ph type="body" sz="quarter" idx="14"/>
          </p:nvPr>
        </p:nvSpPr>
        <p:spPr>
          <a:xfrm>
            <a:off x="640811" y="367378"/>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2" name="Rectángulo 1">
            <a:extLst>
              <a:ext uri="{FF2B5EF4-FFF2-40B4-BE49-F238E27FC236}">
                <a16:creationId xmlns:a16="http://schemas.microsoft.com/office/drawing/2014/main" id="{17ACCABD-FD2E-A754-E8C3-7493B410D8B7}"/>
              </a:ext>
            </a:extLst>
          </p:cNvPr>
          <p:cNvSpPr/>
          <p:nvPr/>
        </p:nvSpPr>
        <p:spPr>
          <a:xfrm>
            <a:off x="4121086" y="3217063"/>
            <a:ext cx="6840012" cy="1188000"/>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400" kern="0">
                <a:solidFill>
                  <a:srgbClr val="DEEDF1">
                    <a:lumMod val="25000"/>
                  </a:srgbClr>
                </a:solidFill>
              </a:rPr>
              <a:t>Standard architecture patterns for cloud application (OHE, AWS)</a:t>
            </a:r>
            <a:endParaRPr lang="en-AU" sz="1400" kern="0">
              <a:solidFill>
                <a:srgbClr val="DEEDF1">
                  <a:lumMod val="25000"/>
                </a:srgbClr>
              </a:solidFill>
            </a:endParaRPr>
          </a:p>
        </p:txBody>
      </p:sp>
      <p:sp>
        <p:nvSpPr>
          <p:cNvPr id="8" name="Rectángulo 7">
            <a:extLst>
              <a:ext uri="{FF2B5EF4-FFF2-40B4-BE49-F238E27FC236}">
                <a16:creationId xmlns:a16="http://schemas.microsoft.com/office/drawing/2014/main" id="{A751E471-2468-55CD-9B36-84E6A2260A93}"/>
              </a:ext>
            </a:extLst>
          </p:cNvPr>
          <p:cNvSpPr/>
          <p:nvPr/>
        </p:nvSpPr>
        <p:spPr>
          <a:xfrm>
            <a:off x="650235" y="1910290"/>
            <a:ext cx="3364034" cy="1188000"/>
          </a:xfrm>
          <a:prstGeom prst="rect">
            <a:avLst/>
          </a:prstGeom>
          <a:solidFill>
            <a:srgbClr val="DEEDF1"/>
          </a:solidFill>
          <a:ln w="12700" cap="flat" cmpd="sng" algn="ctr">
            <a:no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1600" b="1" i="0" u="none" strike="noStrike" kern="0" cap="none" spc="0" normalizeH="0" baseline="0" noProof="0">
                <a:ln>
                  <a:noFill/>
                </a:ln>
                <a:solidFill>
                  <a:srgbClr val="DEEDF1">
                    <a:lumMod val="25000"/>
                  </a:srgbClr>
                </a:solidFill>
                <a:effectLst/>
                <a:uLnTx/>
                <a:uFillTx/>
                <a:latin typeface="Santander Text"/>
                <a:ea typeface="+mn-ea"/>
                <a:cs typeface="+mn-cs"/>
              </a:rPr>
              <a:t>1 - Gluon IDP (internal development platform)</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1" u="none" strike="noStrike" kern="0" cap="none" spc="0" normalizeH="0" baseline="0" noProof="0">
                <a:ln>
                  <a:noFill/>
                </a:ln>
                <a:solidFill>
                  <a:srgbClr val="DEEDF1">
                    <a:lumMod val="25000"/>
                  </a:srgbClr>
                </a:solidFill>
                <a:effectLst/>
                <a:uLnTx/>
                <a:uFillTx/>
                <a:latin typeface="Santander Text"/>
                <a:ea typeface="+mn-ea"/>
                <a:cs typeface="+mn-cs"/>
              </a:rPr>
              <a:t>Boost developers experience and productivity and enables code reusability across Group</a:t>
            </a:r>
            <a:endParaRPr kumimoji="0" lang="en-AU" sz="1200" b="0" i="1" u="none" strike="noStrike" kern="0" cap="none" spc="0" normalizeH="0" baseline="0" noProof="0">
              <a:ln>
                <a:noFill/>
              </a:ln>
              <a:solidFill>
                <a:srgbClr val="DEEDF1">
                  <a:lumMod val="25000"/>
                </a:srgbClr>
              </a:solidFill>
              <a:effectLst/>
              <a:uLnTx/>
              <a:uFillTx/>
              <a:latin typeface="Santander Text"/>
              <a:ea typeface="+mn-ea"/>
              <a:cs typeface="+mn-cs"/>
            </a:endParaRPr>
          </a:p>
        </p:txBody>
      </p:sp>
      <p:sp>
        <p:nvSpPr>
          <p:cNvPr id="9" name="Rectángulo 8">
            <a:extLst>
              <a:ext uri="{FF2B5EF4-FFF2-40B4-BE49-F238E27FC236}">
                <a16:creationId xmlns:a16="http://schemas.microsoft.com/office/drawing/2014/main" id="{1355351C-B2A1-9DAF-7555-7E3F281E3792}"/>
              </a:ext>
            </a:extLst>
          </p:cNvPr>
          <p:cNvSpPr/>
          <p:nvPr/>
        </p:nvSpPr>
        <p:spPr>
          <a:xfrm>
            <a:off x="4121085" y="1426474"/>
            <a:ext cx="6854627" cy="329041"/>
          </a:xfrm>
          <a:prstGeom prst="rect">
            <a:avLst/>
          </a:prstGeom>
          <a:solidFill>
            <a:srgbClr val="DEEDF1">
              <a:lumMod val="25000"/>
            </a:srgbClr>
          </a:solidFill>
          <a:ln w="12700" cap="flat" cmpd="sng" algn="ctr">
            <a:noFill/>
            <a:prstDash val="solid"/>
            <a:miter lim="800000"/>
          </a:ln>
          <a:effectLst/>
        </p:spPr>
        <p:txBody>
          <a:bodyPr vert="horz" rtlCol="0" anchor="ctr"/>
          <a:lstStyle/>
          <a:p>
            <a:pPr algn="ctr">
              <a:defRPr/>
            </a:pPr>
            <a:r>
              <a:rPr lang="en-AU" sz="1600" b="1" kern="0">
                <a:solidFill>
                  <a:prstClr val="white"/>
                </a:solidFill>
              </a:rPr>
              <a:t>Modules</a:t>
            </a:r>
          </a:p>
        </p:txBody>
      </p:sp>
      <p:sp>
        <p:nvSpPr>
          <p:cNvPr id="10" name="Rectángulo 9">
            <a:extLst>
              <a:ext uri="{FF2B5EF4-FFF2-40B4-BE49-F238E27FC236}">
                <a16:creationId xmlns:a16="http://schemas.microsoft.com/office/drawing/2014/main" id="{E4AFEACE-B277-626A-CBA7-61B556553F02}"/>
              </a:ext>
            </a:extLst>
          </p:cNvPr>
          <p:cNvSpPr/>
          <p:nvPr/>
        </p:nvSpPr>
        <p:spPr>
          <a:xfrm>
            <a:off x="650235" y="3217064"/>
            <a:ext cx="3364034" cy="1188000"/>
          </a:xfrm>
          <a:prstGeom prst="rect">
            <a:avLst/>
          </a:prstGeom>
          <a:solidFill>
            <a:srgbClr val="DEEDF1"/>
          </a:solidFill>
          <a:ln w="12700" cap="flat" cmpd="sng" algn="ctr">
            <a:no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1600" b="1" i="0" u="none" strike="noStrike" kern="0" cap="none" spc="0" normalizeH="0" baseline="0" noProof="0">
                <a:ln>
                  <a:noFill/>
                </a:ln>
                <a:solidFill>
                  <a:srgbClr val="DEEDF1">
                    <a:lumMod val="25000"/>
                  </a:srgbClr>
                </a:solidFill>
                <a:effectLst/>
                <a:uLnTx/>
                <a:uFillTx/>
                <a:latin typeface="Santander Text"/>
                <a:ea typeface="+mn-ea"/>
                <a:cs typeface="+mn-cs"/>
              </a:rPr>
              <a:t>2 – Operating PaaS</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1" u="none" strike="noStrike" kern="0" cap="none" spc="0" normalizeH="0" baseline="0" noProof="0">
                <a:ln>
                  <a:noFill/>
                </a:ln>
                <a:solidFill>
                  <a:srgbClr val="DEEDF1">
                    <a:lumMod val="25000"/>
                  </a:srgbClr>
                </a:solidFill>
                <a:effectLst/>
                <a:uLnTx/>
                <a:uFillTx/>
                <a:latin typeface="Santander Text"/>
                <a:ea typeface="+mn-ea"/>
                <a:cs typeface="+mn-cs"/>
              </a:rPr>
              <a:t>Technical services to use the common cloud infrastructure homogeneously across the group</a:t>
            </a:r>
            <a:endParaRPr kumimoji="0" lang="en-AU" sz="1200" b="0" i="1" u="none" strike="noStrike" kern="0" cap="none" spc="0" normalizeH="0" baseline="0" noProof="0">
              <a:ln>
                <a:noFill/>
              </a:ln>
              <a:solidFill>
                <a:srgbClr val="DEEDF1">
                  <a:lumMod val="25000"/>
                </a:srgbClr>
              </a:solidFill>
              <a:effectLst/>
              <a:uLnTx/>
              <a:uFillTx/>
              <a:latin typeface="Santander Text"/>
              <a:ea typeface="+mn-ea"/>
              <a:cs typeface="+mn-cs"/>
            </a:endParaRPr>
          </a:p>
        </p:txBody>
      </p:sp>
      <p:sp>
        <p:nvSpPr>
          <p:cNvPr id="12" name="Rectángulo 11">
            <a:extLst>
              <a:ext uri="{FF2B5EF4-FFF2-40B4-BE49-F238E27FC236}">
                <a16:creationId xmlns:a16="http://schemas.microsoft.com/office/drawing/2014/main" id="{B8470BB8-19C7-C364-47DF-0F6B51B5BB00}"/>
              </a:ext>
            </a:extLst>
          </p:cNvPr>
          <p:cNvSpPr/>
          <p:nvPr/>
        </p:nvSpPr>
        <p:spPr>
          <a:xfrm>
            <a:off x="4121086" y="1910289"/>
            <a:ext cx="1548000" cy="1152000"/>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ea typeface="+mn-ea"/>
                <a:cs typeface="+mn-cs"/>
              </a:rPr>
              <a:t>APIs E2E Lifecycle</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400" b="0" i="0" u="none" strike="noStrike" kern="0" cap="none" spc="0" normalizeH="0" baseline="0" noProof="0">
              <a:ln>
                <a:noFill/>
              </a:ln>
              <a:solidFill>
                <a:srgbClr val="DEEDF1">
                  <a:lumMod val="25000"/>
                </a:srgbClr>
              </a:solidFill>
              <a:effectLst/>
              <a:uLnTx/>
              <a:uFillTx/>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400" b="0" i="0" u="none" strike="noStrike" kern="0" cap="none" spc="0" normalizeH="0" baseline="0" noProof="0">
              <a:ln>
                <a:noFill/>
              </a:ln>
              <a:solidFill>
                <a:srgbClr val="DEEDF1">
                  <a:lumMod val="25000"/>
                </a:srgbClr>
              </a:solidFill>
              <a:effectLst/>
              <a:uLnTx/>
              <a:uFillTx/>
              <a:ea typeface="+mn-ea"/>
              <a:cs typeface="+mn-cs"/>
            </a:endParaRPr>
          </a:p>
        </p:txBody>
      </p:sp>
      <p:sp>
        <p:nvSpPr>
          <p:cNvPr id="13" name="Rectángulo 12">
            <a:extLst>
              <a:ext uri="{FF2B5EF4-FFF2-40B4-BE49-F238E27FC236}">
                <a16:creationId xmlns:a16="http://schemas.microsoft.com/office/drawing/2014/main" id="{353AB93F-C465-0E04-F171-5FD2F3CD8378}"/>
              </a:ext>
            </a:extLst>
          </p:cNvPr>
          <p:cNvSpPr/>
          <p:nvPr/>
        </p:nvSpPr>
        <p:spPr>
          <a:xfrm>
            <a:off x="7658836" y="1910289"/>
            <a:ext cx="1548000" cy="1188000"/>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ea typeface="+mn-ea"/>
                <a:cs typeface="+mn-cs"/>
              </a:rPr>
              <a:t>Back</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ea typeface="+mn-ea"/>
                <a:cs typeface="+mn-cs"/>
              </a:rPr>
              <a:t>Frameworks</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400" b="0" i="0" u="none" strike="noStrike" kern="0" cap="none" spc="0" normalizeH="0" baseline="0" noProof="0">
              <a:ln>
                <a:noFill/>
              </a:ln>
              <a:solidFill>
                <a:srgbClr val="DEEDF1">
                  <a:lumMod val="25000"/>
                </a:srgbClr>
              </a:solidFill>
              <a:effectLst/>
              <a:uLnTx/>
              <a:uFillTx/>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400" b="0" i="0" u="none" strike="noStrike" kern="0" cap="none" spc="0" normalizeH="0" baseline="0" noProof="0">
              <a:ln>
                <a:noFill/>
              </a:ln>
              <a:solidFill>
                <a:srgbClr val="DEEDF1">
                  <a:lumMod val="25000"/>
                </a:srgbClr>
              </a:solidFill>
              <a:effectLst/>
              <a:uLnTx/>
              <a:uFillTx/>
              <a:ea typeface="+mn-ea"/>
              <a:cs typeface="+mn-cs"/>
            </a:endParaRPr>
          </a:p>
        </p:txBody>
      </p:sp>
      <p:sp>
        <p:nvSpPr>
          <p:cNvPr id="14" name="Rectángulo 13">
            <a:extLst>
              <a:ext uri="{FF2B5EF4-FFF2-40B4-BE49-F238E27FC236}">
                <a16:creationId xmlns:a16="http://schemas.microsoft.com/office/drawing/2014/main" id="{5F636863-BFCC-709E-60AA-0042678AA34D}"/>
              </a:ext>
            </a:extLst>
          </p:cNvPr>
          <p:cNvSpPr/>
          <p:nvPr/>
        </p:nvSpPr>
        <p:spPr>
          <a:xfrm>
            <a:off x="9427712" y="1910289"/>
            <a:ext cx="1548000" cy="1188000"/>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ea typeface="+mn-ea"/>
                <a:cs typeface="+mn-cs"/>
              </a:rPr>
              <a:t>Front</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ea typeface="+mn-ea"/>
                <a:cs typeface="+mn-cs"/>
              </a:rPr>
              <a:t>Frameworks</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400" b="0" i="0" u="none" strike="noStrike" kern="0" cap="none" spc="0" normalizeH="0" baseline="0" noProof="0">
              <a:ln>
                <a:noFill/>
              </a:ln>
              <a:solidFill>
                <a:srgbClr val="DEEDF1">
                  <a:lumMod val="25000"/>
                </a:srgbClr>
              </a:solidFill>
              <a:effectLst/>
              <a:uLnTx/>
              <a:uFillTx/>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400" b="0" i="0" u="none" strike="noStrike" kern="0" cap="none" spc="0" normalizeH="0" baseline="0" noProof="0">
              <a:ln>
                <a:noFill/>
              </a:ln>
              <a:solidFill>
                <a:srgbClr val="DEEDF1">
                  <a:lumMod val="25000"/>
                </a:srgbClr>
              </a:solidFill>
              <a:effectLst/>
              <a:uLnTx/>
              <a:uFillTx/>
              <a:ea typeface="+mn-ea"/>
              <a:cs typeface="+mn-cs"/>
            </a:endParaRPr>
          </a:p>
        </p:txBody>
      </p:sp>
      <p:sp>
        <p:nvSpPr>
          <p:cNvPr id="15" name="Rectángulo 14">
            <a:extLst>
              <a:ext uri="{FF2B5EF4-FFF2-40B4-BE49-F238E27FC236}">
                <a16:creationId xmlns:a16="http://schemas.microsoft.com/office/drawing/2014/main" id="{6BD20D1F-72F9-4FD8-C489-AB02787E2C35}"/>
              </a:ext>
            </a:extLst>
          </p:cNvPr>
          <p:cNvSpPr/>
          <p:nvPr/>
        </p:nvSpPr>
        <p:spPr>
          <a:xfrm>
            <a:off x="5889961" y="1910289"/>
            <a:ext cx="1548000" cy="1152000"/>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ea typeface="+mn-ea"/>
                <a:cs typeface="+mn-cs"/>
              </a:rPr>
              <a:t>Events E2E</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ea typeface="+mn-ea"/>
                <a:cs typeface="+mn-cs"/>
              </a:rPr>
              <a:t>Lifecycle</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400" b="0" i="0" u="none" strike="noStrike" kern="0" cap="none" spc="0" normalizeH="0" baseline="0" noProof="0">
              <a:ln>
                <a:noFill/>
              </a:ln>
              <a:solidFill>
                <a:srgbClr val="DEEDF1">
                  <a:lumMod val="25000"/>
                </a:srgbClr>
              </a:solidFill>
              <a:effectLst/>
              <a:uLnTx/>
              <a:uFillTx/>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400" b="0" i="0" u="none" strike="noStrike" kern="0" cap="none" spc="0" normalizeH="0" baseline="0" noProof="0">
              <a:ln>
                <a:noFill/>
              </a:ln>
              <a:solidFill>
                <a:srgbClr val="DEEDF1">
                  <a:lumMod val="25000"/>
                </a:srgbClr>
              </a:solidFill>
              <a:effectLst/>
              <a:uLnTx/>
              <a:uFillTx/>
              <a:ea typeface="+mn-ea"/>
              <a:cs typeface="+mn-cs"/>
            </a:endParaRPr>
          </a:p>
        </p:txBody>
      </p:sp>
      <p:sp>
        <p:nvSpPr>
          <p:cNvPr id="21" name="Rectángulo 20">
            <a:extLst>
              <a:ext uri="{FF2B5EF4-FFF2-40B4-BE49-F238E27FC236}">
                <a16:creationId xmlns:a16="http://schemas.microsoft.com/office/drawing/2014/main" id="{2611274D-0BE2-6893-A04D-A875381DCF84}"/>
              </a:ext>
            </a:extLst>
          </p:cNvPr>
          <p:cNvSpPr/>
          <p:nvPr/>
        </p:nvSpPr>
        <p:spPr>
          <a:xfrm>
            <a:off x="640810" y="1437421"/>
            <a:ext cx="3364034" cy="394843"/>
          </a:xfrm>
          <a:prstGeom prst="rect">
            <a:avLst/>
          </a:prstGeom>
          <a:solidFill>
            <a:srgbClr val="DEEDF1">
              <a:lumMod val="25000"/>
            </a:srgbClr>
          </a:solidFill>
          <a:ln w="12700" cap="flat" cmpd="sng" algn="ctr">
            <a:noFill/>
            <a:prstDash val="solid"/>
            <a:miter lim="800000"/>
          </a:ln>
          <a:effectLst/>
        </p:spPr>
        <p:txBody>
          <a:bodyPr vert="horz" rtlCol="0" anchor="ctr"/>
          <a:lstStyle/>
          <a:p>
            <a:pPr algn="ctr">
              <a:defRPr/>
            </a:pPr>
            <a:r>
              <a:rPr lang="en-AU" sz="1600" b="1" kern="0">
                <a:solidFill>
                  <a:prstClr val="white"/>
                </a:solidFill>
              </a:rPr>
              <a:t>Module Aggregation</a:t>
            </a:r>
          </a:p>
        </p:txBody>
      </p:sp>
    </p:spTree>
    <p:extLst>
      <p:ext uri="{BB962C8B-B14F-4D97-AF65-F5344CB8AC3E}">
        <p14:creationId xmlns:p14="http://schemas.microsoft.com/office/powerpoint/2010/main" val="2166264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ángulo 34">
            <a:extLst>
              <a:ext uri="{FF2B5EF4-FFF2-40B4-BE49-F238E27FC236}">
                <a16:creationId xmlns:a16="http://schemas.microsoft.com/office/drawing/2014/main" id="{1FE22830-3848-0B55-32E7-C313376494E3}"/>
              </a:ext>
            </a:extLst>
          </p:cNvPr>
          <p:cNvSpPr/>
          <p:nvPr/>
        </p:nvSpPr>
        <p:spPr>
          <a:xfrm>
            <a:off x="4350956" y="1826404"/>
            <a:ext cx="1641158" cy="1164312"/>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spcAft>
                <a:spcPts val="600"/>
              </a:spcAft>
            </a:pPr>
            <a:r>
              <a:rPr lang="en-US" sz="1100" kern="0">
                <a:solidFill>
                  <a:srgbClr val="DEEDF1">
                    <a:lumMod val="25000"/>
                  </a:srgbClr>
                </a:solidFill>
                <a:latin typeface="Arial"/>
              </a:rPr>
              <a:t>Authentication Server</a:t>
            </a:r>
          </a:p>
        </p:txBody>
      </p:sp>
      <p:sp>
        <p:nvSpPr>
          <p:cNvPr id="31" name="Rectángulo 30">
            <a:extLst>
              <a:ext uri="{FF2B5EF4-FFF2-40B4-BE49-F238E27FC236}">
                <a16:creationId xmlns:a16="http://schemas.microsoft.com/office/drawing/2014/main" id="{118CE183-4A95-97B6-60C1-5F224626D2A6}"/>
              </a:ext>
            </a:extLst>
          </p:cNvPr>
          <p:cNvSpPr/>
          <p:nvPr/>
        </p:nvSpPr>
        <p:spPr>
          <a:xfrm>
            <a:off x="7875276" y="1826404"/>
            <a:ext cx="2255137" cy="1164312"/>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spcAft>
                <a:spcPts val="600"/>
              </a:spcAft>
            </a:pPr>
            <a:r>
              <a:rPr lang="en-US" sz="1100" kern="0">
                <a:solidFill>
                  <a:srgbClr val="DEEDF1">
                    <a:lumMod val="25000"/>
                  </a:srgbClr>
                </a:solidFill>
                <a:latin typeface="Arial"/>
              </a:rPr>
              <a:t>Authentication </a:t>
            </a:r>
          </a:p>
          <a:p>
            <a:pPr algn="ctr">
              <a:spcAft>
                <a:spcPts val="600"/>
              </a:spcAft>
            </a:pPr>
            <a:r>
              <a:rPr lang="en-US" sz="1100" kern="0">
                <a:solidFill>
                  <a:srgbClr val="DEEDF1">
                    <a:lumMod val="25000"/>
                  </a:srgbClr>
                </a:solidFill>
                <a:latin typeface="Arial"/>
              </a:rPr>
              <a:t>mechanisms &amp; standards</a:t>
            </a:r>
          </a:p>
          <a:p>
            <a:pPr algn="ctr">
              <a:spcAft>
                <a:spcPts val="600"/>
              </a:spcAft>
            </a:pPr>
            <a:endParaRPr lang="en-US" sz="1100" kern="0">
              <a:solidFill>
                <a:srgbClr val="DEEDF1">
                  <a:lumMod val="25000"/>
                </a:srgbClr>
              </a:solidFill>
              <a:latin typeface="Arial"/>
            </a:endParaRPr>
          </a:p>
        </p:txBody>
      </p:sp>
      <p:sp>
        <p:nvSpPr>
          <p:cNvPr id="3" name="Text Placeholder 2">
            <a:extLst>
              <a:ext uri="{FF2B5EF4-FFF2-40B4-BE49-F238E27FC236}">
                <a16:creationId xmlns:a16="http://schemas.microsoft.com/office/drawing/2014/main" id="{AA5B9125-ED74-45DB-9812-3EF7553A7506}"/>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81" name="Título 1">
            <a:extLst>
              <a:ext uri="{FF2B5EF4-FFF2-40B4-BE49-F238E27FC236}">
                <a16:creationId xmlns:a16="http://schemas.microsoft.com/office/drawing/2014/main" id="{05235833-A038-58D6-3367-8FA02D768B0C}"/>
              </a:ext>
            </a:extLst>
          </p:cNvPr>
          <p:cNvSpPr>
            <a:spLocks noGrp="1"/>
          </p:cNvSpPr>
          <p:nvPr>
            <p:ph type="title"/>
          </p:nvPr>
        </p:nvSpPr>
        <p:spPr>
          <a:xfrm>
            <a:off x="711024" y="641900"/>
            <a:ext cx="10758733" cy="836992"/>
          </a:xfrm>
        </p:spPr>
        <p:txBody>
          <a:bodyPr/>
          <a:lstStyle/>
          <a:p>
            <a:r>
              <a:rPr lang="en-US"/>
              <a:t>Global Technology. </a:t>
            </a:r>
            <a:r>
              <a:rPr lang="en-US">
                <a:solidFill>
                  <a:schemeClr val="bg1">
                    <a:lumMod val="75000"/>
                  </a:schemeClr>
                </a:solidFill>
              </a:rPr>
              <a:t>Customer </a:t>
            </a:r>
            <a:r>
              <a:rPr lang="en-US">
                <a:solidFill>
                  <a:srgbClr val="BFBFBF"/>
                </a:solidFill>
              </a:rPr>
              <a:t>identity</a:t>
            </a:r>
            <a:br>
              <a:rPr kumimoji="0" lang="en-US" sz="2800" b="0" i="0" u="none" strike="noStrike" kern="0" cap="none" spc="0" normalizeH="0" baseline="0" noProof="1">
                <a:ln>
                  <a:noFill/>
                </a:ln>
                <a:solidFill>
                  <a:prstClr val="black"/>
                </a:solidFill>
                <a:effectLst/>
                <a:uLnTx/>
                <a:uFillTx/>
                <a:ea typeface="+mn-ea"/>
                <a:cs typeface="+mn-cs"/>
              </a:rPr>
            </a:br>
            <a:endParaRPr lang="en-US"/>
          </a:p>
        </p:txBody>
      </p:sp>
      <p:sp>
        <p:nvSpPr>
          <p:cNvPr id="2" name="Rectángulo 1">
            <a:extLst>
              <a:ext uri="{FF2B5EF4-FFF2-40B4-BE49-F238E27FC236}">
                <a16:creationId xmlns:a16="http://schemas.microsoft.com/office/drawing/2014/main" id="{C3E92E94-5BD5-4055-92A3-F6C84B5B9589}"/>
              </a:ext>
            </a:extLst>
          </p:cNvPr>
          <p:cNvSpPr/>
          <p:nvPr/>
        </p:nvSpPr>
        <p:spPr>
          <a:xfrm>
            <a:off x="826149" y="1867755"/>
            <a:ext cx="3364034" cy="1164312"/>
          </a:xfrm>
          <a:prstGeom prst="rect">
            <a:avLst/>
          </a:prstGeom>
          <a:solidFill>
            <a:srgbClr val="DEEDF1"/>
          </a:solidFill>
          <a:ln w="12700" cap="flat" cmpd="sng" algn="ctr">
            <a:no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0" cap="none" spc="0" normalizeH="0" baseline="0" noProof="0">
                <a:ln>
                  <a:noFill/>
                </a:ln>
                <a:solidFill>
                  <a:srgbClr val="DEEDF1">
                    <a:lumMod val="25000"/>
                  </a:srgbClr>
                </a:solidFill>
                <a:effectLst/>
                <a:uLnTx/>
                <a:uFillTx/>
                <a:latin typeface="Santander Text"/>
                <a:ea typeface="+mn-ea"/>
                <a:cs typeface="+mn-cs"/>
              </a:rPr>
              <a:t>1 - Authentication Services</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1" u="none" strike="noStrike" kern="0" cap="none" spc="0" normalizeH="0" baseline="0" noProof="0">
                <a:ln>
                  <a:noFill/>
                </a:ln>
                <a:solidFill>
                  <a:srgbClr val="DEEDF1">
                    <a:lumMod val="25000"/>
                  </a:srgbClr>
                </a:solidFill>
                <a:effectLst/>
                <a:uLnTx/>
                <a:uFillTx/>
                <a:latin typeface="Santander Text"/>
                <a:ea typeface="+mn-ea"/>
                <a:cs typeface="+mn-cs"/>
              </a:rPr>
              <a:t>Offers authentication services to the different channels. Answer the question .  WHO</a:t>
            </a:r>
          </a:p>
        </p:txBody>
      </p:sp>
      <p:sp>
        <p:nvSpPr>
          <p:cNvPr id="4" name="Rectángulo 3">
            <a:extLst>
              <a:ext uri="{FF2B5EF4-FFF2-40B4-BE49-F238E27FC236}">
                <a16:creationId xmlns:a16="http://schemas.microsoft.com/office/drawing/2014/main" id="{097424D8-5830-8A99-0ED0-1409C68FDAB6}"/>
              </a:ext>
            </a:extLst>
          </p:cNvPr>
          <p:cNvSpPr/>
          <p:nvPr/>
        </p:nvSpPr>
        <p:spPr>
          <a:xfrm>
            <a:off x="826149" y="4481303"/>
            <a:ext cx="3364034" cy="1164312"/>
          </a:xfrm>
          <a:prstGeom prst="rect">
            <a:avLst/>
          </a:prstGeom>
          <a:solidFill>
            <a:srgbClr val="DEEDF1"/>
          </a:solidFill>
          <a:ln w="12700" cap="flat" cmpd="sng" algn="ctr">
            <a:no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0" cap="none" spc="0" normalizeH="0" baseline="0" noProof="0">
                <a:ln>
                  <a:noFill/>
                </a:ln>
                <a:solidFill>
                  <a:srgbClr val="DEEDF1">
                    <a:lumMod val="25000"/>
                  </a:srgbClr>
                </a:solidFill>
                <a:effectLst/>
                <a:uLnTx/>
                <a:uFillTx/>
                <a:latin typeface="Santander Text"/>
                <a:ea typeface="+mn-ea"/>
                <a:cs typeface="+mn-cs"/>
              </a:rPr>
              <a:t>3 - Identity workflows</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1" u="none" strike="noStrike" kern="0" cap="none" spc="0" normalizeH="0" baseline="0" noProof="0">
                <a:ln>
                  <a:noFill/>
                </a:ln>
                <a:solidFill>
                  <a:srgbClr val="DEEDF1">
                    <a:lumMod val="25000"/>
                  </a:srgbClr>
                </a:solidFill>
                <a:effectLst/>
                <a:uLnTx/>
                <a:uFillTx/>
                <a:latin typeface="Santander Text"/>
                <a:ea typeface="+mn-ea"/>
                <a:cs typeface="+mn-cs"/>
              </a:rPr>
              <a:t>Implements the E2E security journey between the channel and the user</a:t>
            </a:r>
          </a:p>
        </p:txBody>
      </p:sp>
      <p:sp>
        <p:nvSpPr>
          <p:cNvPr id="9" name="Rectángulo 8">
            <a:extLst>
              <a:ext uri="{FF2B5EF4-FFF2-40B4-BE49-F238E27FC236}">
                <a16:creationId xmlns:a16="http://schemas.microsoft.com/office/drawing/2014/main" id="{62D7E49B-FF9C-5067-9D21-7BCE745F9967}"/>
              </a:ext>
            </a:extLst>
          </p:cNvPr>
          <p:cNvSpPr/>
          <p:nvPr/>
        </p:nvSpPr>
        <p:spPr>
          <a:xfrm>
            <a:off x="4322033" y="4481303"/>
            <a:ext cx="5748792" cy="1164312"/>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spcAft>
                <a:spcPts val="600"/>
              </a:spcAft>
            </a:pPr>
            <a:r>
              <a:rPr lang="en-US" sz="1100" kern="0">
                <a:solidFill>
                  <a:srgbClr val="DEEDF1">
                    <a:lumMod val="25000"/>
                  </a:srgbClr>
                </a:solidFill>
                <a:latin typeface="Arial"/>
              </a:rPr>
              <a:t>Identity Journeys flows (workflows)</a:t>
            </a:r>
          </a:p>
          <a:p>
            <a:pPr algn="ctr">
              <a:spcAft>
                <a:spcPts val="600"/>
              </a:spcAft>
            </a:pPr>
            <a:endParaRPr lang="en-US" sz="1100" kern="0">
              <a:solidFill>
                <a:srgbClr val="DEEDF1">
                  <a:lumMod val="25000"/>
                </a:srgbClr>
              </a:solidFill>
              <a:latin typeface="Arial"/>
            </a:endParaRPr>
          </a:p>
        </p:txBody>
      </p:sp>
      <p:sp>
        <p:nvSpPr>
          <p:cNvPr id="10" name="Rectángulo 9">
            <a:extLst>
              <a:ext uri="{FF2B5EF4-FFF2-40B4-BE49-F238E27FC236}">
                <a16:creationId xmlns:a16="http://schemas.microsoft.com/office/drawing/2014/main" id="{782591E8-1576-DFF7-B40B-581E52AC612C}"/>
              </a:ext>
            </a:extLst>
          </p:cNvPr>
          <p:cNvSpPr/>
          <p:nvPr/>
        </p:nvSpPr>
        <p:spPr>
          <a:xfrm>
            <a:off x="826149" y="3174529"/>
            <a:ext cx="3364034" cy="1164312"/>
          </a:xfrm>
          <a:prstGeom prst="rect">
            <a:avLst/>
          </a:prstGeom>
          <a:solidFill>
            <a:srgbClr val="DEEDF1"/>
          </a:solidFill>
          <a:ln w="12700" cap="flat" cmpd="sng" algn="ctr">
            <a:no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0" cap="none" spc="0" normalizeH="0" baseline="0" noProof="0">
                <a:ln>
                  <a:noFill/>
                </a:ln>
                <a:solidFill>
                  <a:srgbClr val="DEEDF1">
                    <a:lumMod val="25000"/>
                  </a:srgbClr>
                </a:solidFill>
                <a:effectLst/>
                <a:uLnTx/>
                <a:uFillTx/>
                <a:latin typeface="Santander Text"/>
                <a:ea typeface="+mn-ea"/>
                <a:cs typeface="+mn-cs"/>
              </a:rPr>
              <a:t>2 - Authorization Services</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1" u="none" strike="noStrike" kern="0" cap="none" spc="0" normalizeH="0" baseline="0" noProof="0">
                <a:ln>
                  <a:noFill/>
                </a:ln>
                <a:solidFill>
                  <a:srgbClr val="DEEDF1">
                    <a:lumMod val="25000"/>
                  </a:srgbClr>
                </a:solidFill>
                <a:effectLst/>
                <a:uLnTx/>
                <a:uFillTx/>
                <a:latin typeface="Santander Text"/>
                <a:ea typeface="+mn-ea"/>
                <a:cs typeface="+mn-cs"/>
              </a:rPr>
              <a:t>Orchestrates the systems (Fraud, Cyber, Operational, Functional grants, etc.) needed to grant authorization to the transactions. Answer the question IF</a:t>
            </a:r>
          </a:p>
        </p:txBody>
      </p:sp>
      <p:sp>
        <p:nvSpPr>
          <p:cNvPr id="11" name="Rectángulo 10">
            <a:extLst>
              <a:ext uri="{FF2B5EF4-FFF2-40B4-BE49-F238E27FC236}">
                <a16:creationId xmlns:a16="http://schemas.microsoft.com/office/drawing/2014/main" id="{2A671937-9846-759B-B402-70C0F014775C}"/>
              </a:ext>
            </a:extLst>
          </p:cNvPr>
          <p:cNvSpPr/>
          <p:nvPr/>
        </p:nvSpPr>
        <p:spPr>
          <a:xfrm>
            <a:off x="4319352" y="3174529"/>
            <a:ext cx="1296000" cy="1164312"/>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100" b="0" i="0" u="none" strike="noStrike" kern="0" cap="none" spc="0" normalizeH="0" baseline="0" noProof="0">
                <a:ln>
                  <a:noFill/>
                </a:ln>
                <a:solidFill>
                  <a:srgbClr val="DEEDF1">
                    <a:lumMod val="25000"/>
                  </a:srgbClr>
                </a:solidFill>
                <a:effectLst/>
                <a:uLnTx/>
                <a:uFillTx/>
                <a:latin typeface="Arial"/>
                <a:ea typeface="+mn-ea"/>
                <a:cs typeface="+mn-cs"/>
              </a:rPr>
              <a:t>Transaction authorization</a:t>
            </a:r>
          </a:p>
        </p:txBody>
      </p:sp>
      <p:sp>
        <p:nvSpPr>
          <p:cNvPr id="12" name="Rectángulo 11">
            <a:extLst>
              <a:ext uri="{FF2B5EF4-FFF2-40B4-BE49-F238E27FC236}">
                <a16:creationId xmlns:a16="http://schemas.microsoft.com/office/drawing/2014/main" id="{A41607A2-5C0A-BA87-4C6B-5C09485BD993}"/>
              </a:ext>
            </a:extLst>
          </p:cNvPr>
          <p:cNvSpPr/>
          <p:nvPr/>
        </p:nvSpPr>
        <p:spPr>
          <a:xfrm>
            <a:off x="5814755" y="3174529"/>
            <a:ext cx="1296000" cy="1164312"/>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100" b="0" i="0" u="none" strike="noStrike" kern="0" cap="none" spc="0" normalizeH="0" baseline="0" noProof="0">
                <a:ln>
                  <a:noFill/>
                </a:ln>
                <a:solidFill>
                  <a:srgbClr val="DEEDF1">
                    <a:lumMod val="25000"/>
                  </a:srgbClr>
                </a:solidFill>
                <a:effectLst/>
                <a:uLnTx/>
                <a:uFillTx/>
                <a:latin typeface="Arial"/>
                <a:ea typeface="+mn-ea"/>
                <a:cs typeface="+mn-cs"/>
              </a:rPr>
              <a:t>Policy admin</a:t>
            </a:r>
          </a:p>
        </p:txBody>
      </p:sp>
      <p:sp>
        <p:nvSpPr>
          <p:cNvPr id="13" name="Rectángulo 12">
            <a:extLst>
              <a:ext uri="{FF2B5EF4-FFF2-40B4-BE49-F238E27FC236}">
                <a16:creationId xmlns:a16="http://schemas.microsoft.com/office/drawing/2014/main" id="{A3F2AEF0-2151-7129-30A1-09A2B9AEF588}"/>
              </a:ext>
            </a:extLst>
          </p:cNvPr>
          <p:cNvSpPr/>
          <p:nvPr/>
        </p:nvSpPr>
        <p:spPr>
          <a:xfrm>
            <a:off x="8805562" y="3174529"/>
            <a:ext cx="1296000" cy="1164312"/>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spcAft>
                <a:spcPts val="600"/>
              </a:spcAft>
            </a:pPr>
            <a:r>
              <a:rPr lang="en-US" sz="1100" kern="0">
                <a:solidFill>
                  <a:srgbClr val="DEEDF1">
                    <a:lumMod val="25000"/>
                  </a:srgbClr>
                </a:solidFill>
                <a:latin typeface="Arial"/>
              </a:rPr>
              <a:t>Policy Enforcement point</a:t>
            </a:r>
          </a:p>
          <a:p>
            <a:pPr algn="ctr">
              <a:spcAft>
                <a:spcPts val="600"/>
              </a:spcAft>
            </a:pPr>
            <a:endParaRPr lang="en-US" sz="1100" kern="0">
              <a:solidFill>
                <a:srgbClr val="DEEDF1">
                  <a:lumMod val="25000"/>
                </a:srgbClr>
              </a:solidFill>
              <a:latin typeface="Arial"/>
            </a:endParaRPr>
          </a:p>
        </p:txBody>
      </p:sp>
      <p:sp>
        <p:nvSpPr>
          <p:cNvPr id="14" name="Rectángulo 13">
            <a:extLst>
              <a:ext uri="{FF2B5EF4-FFF2-40B4-BE49-F238E27FC236}">
                <a16:creationId xmlns:a16="http://schemas.microsoft.com/office/drawing/2014/main" id="{D4BAED5F-DA73-F678-66D4-3164F22659FE}"/>
              </a:ext>
            </a:extLst>
          </p:cNvPr>
          <p:cNvSpPr/>
          <p:nvPr/>
        </p:nvSpPr>
        <p:spPr>
          <a:xfrm>
            <a:off x="7310158" y="3174529"/>
            <a:ext cx="1296000" cy="1164312"/>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spcAft>
                <a:spcPts val="600"/>
              </a:spcAft>
            </a:pPr>
            <a:r>
              <a:rPr lang="en-US" sz="1100" kern="0">
                <a:solidFill>
                  <a:srgbClr val="DEEDF1">
                    <a:lumMod val="25000"/>
                  </a:srgbClr>
                </a:solidFill>
                <a:latin typeface="Arial"/>
              </a:rPr>
              <a:t>Behavioral technologies for anti fraud</a:t>
            </a:r>
          </a:p>
          <a:p>
            <a:pPr algn="ctr">
              <a:spcAft>
                <a:spcPts val="600"/>
              </a:spcAft>
            </a:pPr>
            <a:endParaRPr lang="en-US" sz="1100" kern="0">
              <a:solidFill>
                <a:srgbClr val="DEEDF1">
                  <a:lumMod val="25000"/>
                </a:srgbClr>
              </a:solidFill>
              <a:latin typeface="Arial"/>
            </a:endParaRPr>
          </a:p>
        </p:txBody>
      </p:sp>
      <p:sp>
        <p:nvSpPr>
          <p:cNvPr id="18" name="Rectángulo 17">
            <a:extLst>
              <a:ext uri="{FF2B5EF4-FFF2-40B4-BE49-F238E27FC236}">
                <a16:creationId xmlns:a16="http://schemas.microsoft.com/office/drawing/2014/main" id="{92F6B4B3-8F6E-0539-6ED5-C498CDE0E3DE}"/>
              </a:ext>
            </a:extLst>
          </p:cNvPr>
          <p:cNvSpPr/>
          <p:nvPr/>
        </p:nvSpPr>
        <p:spPr>
          <a:xfrm rot="16200000">
            <a:off x="9043584" y="3543073"/>
            <a:ext cx="3808324" cy="396760"/>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spcAft>
                <a:spcPts val="600"/>
              </a:spcAft>
            </a:pPr>
            <a:r>
              <a:rPr lang="en-US" sz="1100" kern="0">
                <a:solidFill>
                  <a:srgbClr val="DEEDF1">
                    <a:lumMod val="25000"/>
                  </a:srgbClr>
                </a:solidFill>
                <a:latin typeface="Arial"/>
              </a:rPr>
              <a:t>Security personalization</a:t>
            </a:r>
          </a:p>
        </p:txBody>
      </p:sp>
      <p:sp>
        <p:nvSpPr>
          <p:cNvPr id="19" name="Rectángulo 18">
            <a:extLst>
              <a:ext uri="{FF2B5EF4-FFF2-40B4-BE49-F238E27FC236}">
                <a16:creationId xmlns:a16="http://schemas.microsoft.com/office/drawing/2014/main" id="{D801F532-0591-2D03-BE0E-80787A0F5668}"/>
              </a:ext>
            </a:extLst>
          </p:cNvPr>
          <p:cNvSpPr/>
          <p:nvPr/>
        </p:nvSpPr>
        <p:spPr>
          <a:xfrm rot="16200000">
            <a:off x="8537834" y="3498023"/>
            <a:ext cx="3819165" cy="497700"/>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spcAft>
                <a:spcPts val="600"/>
              </a:spcAft>
            </a:pPr>
            <a:r>
              <a:rPr lang="en-US" sz="1100" kern="0">
                <a:solidFill>
                  <a:srgbClr val="DEEDF1">
                    <a:lumMod val="25000"/>
                  </a:srgbClr>
                </a:solidFill>
                <a:latin typeface="Arial"/>
              </a:rPr>
              <a:t>Adaptive Security</a:t>
            </a:r>
          </a:p>
        </p:txBody>
      </p:sp>
      <p:sp>
        <p:nvSpPr>
          <p:cNvPr id="20" name="Rectángulo 19">
            <a:extLst>
              <a:ext uri="{FF2B5EF4-FFF2-40B4-BE49-F238E27FC236}">
                <a16:creationId xmlns:a16="http://schemas.microsoft.com/office/drawing/2014/main" id="{E9DCF39C-7721-C5B2-957F-711BD21DEECB}"/>
              </a:ext>
            </a:extLst>
          </p:cNvPr>
          <p:cNvSpPr/>
          <p:nvPr/>
        </p:nvSpPr>
        <p:spPr>
          <a:xfrm>
            <a:off x="6089411" y="1826404"/>
            <a:ext cx="1673084" cy="1164312"/>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spcAft>
                <a:spcPts val="600"/>
              </a:spcAft>
            </a:pPr>
            <a:r>
              <a:rPr lang="en-US" sz="1100" kern="0">
                <a:solidFill>
                  <a:srgbClr val="DEEDF1">
                    <a:lumMod val="25000"/>
                  </a:srgbClr>
                </a:solidFill>
                <a:latin typeface="Arial"/>
              </a:rPr>
              <a:t>Identity backend</a:t>
            </a:r>
          </a:p>
          <a:p>
            <a:pPr algn="ctr">
              <a:spcAft>
                <a:spcPts val="600"/>
              </a:spcAft>
            </a:pPr>
            <a:r>
              <a:rPr lang="en-US" sz="1100" kern="0">
                <a:solidFill>
                  <a:srgbClr val="DEEDF1">
                    <a:lumMod val="25000"/>
                  </a:srgbClr>
                </a:solidFill>
                <a:latin typeface="Arial"/>
              </a:rPr>
              <a:t> </a:t>
            </a:r>
          </a:p>
        </p:txBody>
      </p:sp>
      <p:sp>
        <p:nvSpPr>
          <p:cNvPr id="21" name="Rectángulo 20">
            <a:extLst>
              <a:ext uri="{FF2B5EF4-FFF2-40B4-BE49-F238E27FC236}">
                <a16:creationId xmlns:a16="http://schemas.microsoft.com/office/drawing/2014/main" id="{7F692C02-6C29-F2C5-F980-649AD6766BA2}"/>
              </a:ext>
            </a:extLst>
          </p:cNvPr>
          <p:cNvSpPr/>
          <p:nvPr/>
        </p:nvSpPr>
        <p:spPr>
          <a:xfrm>
            <a:off x="4319352" y="1510351"/>
            <a:ext cx="7276194" cy="184477"/>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ea typeface="+mn-ea"/>
                <a:cs typeface="+mn-cs"/>
              </a:rPr>
              <a:t>Modules</a:t>
            </a:r>
          </a:p>
        </p:txBody>
      </p:sp>
      <p:sp>
        <p:nvSpPr>
          <p:cNvPr id="5" name="Rectángulo 4">
            <a:extLst>
              <a:ext uri="{FF2B5EF4-FFF2-40B4-BE49-F238E27FC236}">
                <a16:creationId xmlns:a16="http://schemas.microsoft.com/office/drawing/2014/main" id="{9078A00E-FA1C-9638-68DF-4D812E158007}"/>
              </a:ext>
            </a:extLst>
          </p:cNvPr>
          <p:cNvSpPr/>
          <p:nvPr/>
        </p:nvSpPr>
        <p:spPr>
          <a:xfrm rot="16200000">
            <a:off x="9521946" y="3532186"/>
            <a:ext cx="3808324" cy="396760"/>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spcAft>
                <a:spcPts val="600"/>
              </a:spcAft>
              <a:defRPr/>
            </a:pPr>
            <a:r>
              <a:rPr lang="es-ES" sz="1100" kern="0">
                <a:solidFill>
                  <a:srgbClr val="DEEDF1">
                    <a:lumMod val="25000"/>
                  </a:srgbClr>
                </a:solidFill>
                <a:latin typeface="Arial"/>
              </a:rPr>
              <a:t>E2E Security Architecture</a:t>
            </a:r>
            <a:endParaRPr lang="en-US" sz="1100" kern="0">
              <a:solidFill>
                <a:srgbClr val="DEEDF1">
                  <a:lumMod val="25000"/>
                </a:srgbClr>
              </a:solidFill>
              <a:latin typeface="Arial"/>
            </a:endParaRPr>
          </a:p>
        </p:txBody>
      </p:sp>
      <p:sp>
        <p:nvSpPr>
          <p:cNvPr id="8" name="Rectángulo 15">
            <a:extLst>
              <a:ext uri="{FF2B5EF4-FFF2-40B4-BE49-F238E27FC236}">
                <a16:creationId xmlns:a16="http://schemas.microsoft.com/office/drawing/2014/main" id="{15F3B509-A85A-1D08-3FD5-606854CE235E}"/>
              </a:ext>
            </a:extLst>
          </p:cNvPr>
          <p:cNvSpPr/>
          <p:nvPr/>
        </p:nvSpPr>
        <p:spPr>
          <a:xfrm>
            <a:off x="826149" y="1501116"/>
            <a:ext cx="3423408" cy="224177"/>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kern="0">
                <a:solidFill>
                  <a:prstClr val="white"/>
                </a:solidFill>
                <a:latin typeface="Santander Text" panose="020B0504020201020104" pitchFamily="34" charset="0"/>
              </a:rPr>
              <a:t>Module Aggregation</a:t>
            </a:r>
          </a:p>
        </p:txBody>
      </p:sp>
    </p:spTree>
    <p:extLst>
      <p:ext uri="{BB962C8B-B14F-4D97-AF65-F5344CB8AC3E}">
        <p14:creationId xmlns:p14="http://schemas.microsoft.com/office/powerpoint/2010/main" val="2181394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6E2D4-67B7-589C-7E70-73C220C76AEE}"/>
            </a:ext>
          </a:extLst>
        </p:cNvPr>
        <p:cNvGrpSpPr/>
        <p:nvPr/>
      </p:nvGrpSpPr>
      <p:grpSpPr>
        <a:xfrm>
          <a:off x="0" y="0"/>
          <a:ext cx="0" cy="0"/>
          <a:chOff x="0" y="0"/>
          <a:chExt cx="0" cy="0"/>
        </a:xfrm>
      </p:grpSpPr>
      <p:sp>
        <p:nvSpPr>
          <p:cNvPr id="53" name="Título 1">
            <a:extLst>
              <a:ext uri="{FF2B5EF4-FFF2-40B4-BE49-F238E27FC236}">
                <a16:creationId xmlns:a16="http://schemas.microsoft.com/office/drawing/2014/main" id="{0466C3E9-08CF-FCE5-D14C-672F44D64DD2}"/>
              </a:ext>
            </a:extLst>
          </p:cNvPr>
          <p:cNvSpPr>
            <a:spLocks noGrp="1"/>
          </p:cNvSpPr>
          <p:nvPr>
            <p:ph type="title"/>
          </p:nvPr>
        </p:nvSpPr>
        <p:spPr>
          <a:xfrm>
            <a:off x="711024" y="641900"/>
            <a:ext cx="10758733" cy="836992"/>
          </a:xfrm>
        </p:spPr>
        <p:txBody>
          <a:bodyPr/>
          <a:lstStyle/>
          <a:p>
            <a:r>
              <a:rPr lang="es-ES"/>
              <a:t>Global </a:t>
            </a:r>
            <a:r>
              <a:rPr lang="es-ES" err="1"/>
              <a:t>Technology</a:t>
            </a:r>
            <a:r>
              <a:rPr lang="es-ES"/>
              <a:t>. </a:t>
            </a:r>
            <a:r>
              <a:rPr lang="en-US">
                <a:solidFill>
                  <a:schemeClr val="bg1">
                    <a:lumMod val="75000"/>
                  </a:schemeClr>
                </a:solidFill>
              </a:rPr>
              <a:t>Processes</a:t>
            </a:r>
          </a:p>
        </p:txBody>
      </p:sp>
      <p:sp>
        <p:nvSpPr>
          <p:cNvPr id="3" name="Text Placeholder 2">
            <a:extLst>
              <a:ext uri="{FF2B5EF4-FFF2-40B4-BE49-F238E27FC236}">
                <a16:creationId xmlns:a16="http://schemas.microsoft.com/office/drawing/2014/main" id="{CFB9E259-0DC1-1742-AB1C-2D631D86DF22}"/>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6" name="Rectángulo 5">
            <a:extLst>
              <a:ext uri="{FF2B5EF4-FFF2-40B4-BE49-F238E27FC236}">
                <a16:creationId xmlns:a16="http://schemas.microsoft.com/office/drawing/2014/main" id="{B671EC1B-31BD-7982-071A-A41A8E706416}"/>
              </a:ext>
            </a:extLst>
          </p:cNvPr>
          <p:cNvSpPr/>
          <p:nvPr/>
        </p:nvSpPr>
        <p:spPr>
          <a:xfrm>
            <a:off x="685510" y="1591601"/>
            <a:ext cx="3619343" cy="3086197"/>
          </a:xfrm>
          <a:prstGeom prst="rect">
            <a:avLst/>
          </a:prstGeom>
          <a:solidFill>
            <a:srgbClr val="DEEDF1"/>
          </a:solidFill>
          <a:ln w="12700" cap="flat" cmpd="sng" algn="ctr">
            <a:noFill/>
            <a:prstDash val="solid"/>
            <a:miter lim="800000"/>
          </a:ln>
          <a:effectLst/>
        </p:spPr>
        <p:txBody>
          <a:bodyPr lIns="72000" rIns="36000" rtlCol="0" anchor="ctr"/>
          <a:lstStyle/>
          <a:p>
            <a:pPr marL="355600" indent="-355600">
              <a:spcAft>
                <a:spcPts val="300"/>
              </a:spcAft>
            </a:pPr>
            <a:r>
              <a:rPr lang="en-GB" sz="1000" b="1">
                <a:solidFill>
                  <a:srgbClr val="DEEDF1">
                    <a:lumMod val="25000"/>
                  </a:srgbClr>
                </a:solidFill>
                <a:latin typeface="Santander Text" panose="020B0504020201020104" pitchFamily="34" charset="0"/>
              </a:rPr>
              <a:t>1 Process </a:t>
            </a:r>
            <a:r>
              <a:rPr lang="en-GB" sz="1000" b="1" err="1">
                <a:solidFill>
                  <a:srgbClr val="DEEDF1">
                    <a:lumMod val="25000"/>
                  </a:srgbClr>
                </a:solidFill>
                <a:latin typeface="Santander Text" panose="020B0504020201020104" pitchFamily="34" charset="0"/>
              </a:rPr>
              <a:t>Orchestation</a:t>
            </a:r>
            <a:endParaRPr lang="en-GB" sz="1000" b="1">
              <a:solidFill>
                <a:srgbClr val="DEEDF1">
                  <a:lumMod val="25000"/>
                </a:srgbClr>
              </a:solidFill>
              <a:latin typeface="Santander Text" panose="020B0504020201020104" pitchFamily="34" charset="0"/>
            </a:endParaRPr>
          </a:p>
          <a:p>
            <a:pPr>
              <a:spcAft>
                <a:spcPts val="300"/>
              </a:spcAft>
            </a:pPr>
            <a:r>
              <a:rPr lang="en-US" sz="900" i="1">
                <a:solidFill>
                  <a:srgbClr val="DEEDF1">
                    <a:lumMod val="25000"/>
                  </a:srgbClr>
                </a:solidFill>
                <a:latin typeface="Santander Text" panose="020B0504020201020104" pitchFamily="34" charset="0"/>
              </a:rPr>
              <a:t>Objective: Identify, design, execute, measure, monitor and control business processes.</a:t>
            </a:r>
          </a:p>
        </p:txBody>
      </p:sp>
      <p:sp>
        <p:nvSpPr>
          <p:cNvPr id="7" name="Rectángulo 6">
            <a:extLst>
              <a:ext uri="{FF2B5EF4-FFF2-40B4-BE49-F238E27FC236}">
                <a16:creationId xmlns:a16="http://schemas.microsoft.com/office/drawing/2014/main" id="{F2B99CE8-FBF5-223A-662E-EA144C383293}"/>
              </a:ext>
            </a:extLst>
          </p:cNvPr>
          <p:cNvSpPr/>
          <p:nvPr/>
        </p:nvSpPr>
        <p:spPr>
          <a:xfrm>
            <a:off x="4406900" y="1254525"/>
            <a:ext cx="7062857" cy="240476"/>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p>
            <a:pPr algn="ctr"/>
            <a:r>
              <a:rPr lang="en-GB" sz="1400" b="1" kern="0">
                <a:solidFill>
                  <a:prstClr val="white"/>
                </a:solidFill>
                <a:latin typeface="Santander Text" panose="020B0504020201020104" pitchFamily="34" charset="0"/>
              </a:rPr>
              <a:t>Modules</a:t>
            </a:r>
          </a:p>
        </p:txBody>
      </p:sp>
      <p:sp>
        <p:nvSpPr>
          <p:cNvPr id="8" name="Rectángulo 7">
            <a:extLst>
              <a:ext uri="{FF2B5EF4-FFF2-40B4-BE49-F238E27FC236}">
                <a16:creationId xmlns:a16="http://schemas.microsoft.com/office/drawing/2014/main" id="{254C84EE-7377-AFB2-74E5-B368FF966113}"/>
              </a:ext>
            </a:extLst>
          </p:cNvPr>
          <p:cNvSpPr/>
          <p:nvPr/>
        </p:nvSpPr>
        <p:spPr>
          <a:xfrm>
            <a:off x="4406441" y="1591602"/>
            <a:ext cx="3474388" cy="54000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p>
            <a:pPr algn="ctr">
              <a:spcAft>
                <a:spcPts val="600"/>
              </a:spcAft>
            </a:pPr>
            <a:r>
              <a:rPr lang="en-GB" sz="1100" kern="0">
                <a:latin typeface="Santander Text" panose="020B0504020201020104" pitchFamily="34" charset="0"/>
              </a:rPr>
              <a:t>Process modeler</a:t>
            </a:r>
          </a:p>
        </p:txBody>
      </p:sp>
      <p:sp>
        <p:nvSpPr>
          <p:cNvPr id="9" name="Rectángulo 8">
            <a:extLst>
              <a:ext uri="{FF2B5EF4-FFF2-40B4-BE49-F238E27FC236}">
                <a16:creationId xmlns:a16="http://schemas.microsoft.com/office/drawing/2014/main" id="{5FB693B8-9D60-7C6E-D5AE-69776160B570}"/>
              </a:ext>
            </a:extLst>
          </p:cNvPr>
          <p:cNvSpPr/>
          <p:nvPr/>
        </p:nvSpPr>
        <p:spPr>
          <a:xfrm>
            <a:off x="6804099" y="2200794"/>
            <a:ext cx="2268000" cy="54000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p>
            <a:pPr algn="ctr">
              <a:spcAft>
                <a:spcPts val="600"/>
              </a:spcAft>
            </a:pPr>
            <a:r>
              <a:rPr lang="en-GB" sz="1100" kern="0">
                <a:latin typeface="Santander Text" panose="020B0504020201020104" pitchFamily="34" charset="0"/>
              </a:rPr>
              <a:t>Full Case Management Framework</a:t>
            </a:r>
          </a:p>
        </p:txBody>
      </p:sp>
      <p:sp>
        <p:nvSpPr>
          <p:cNvPr id="14" name="Rectángulo 1">
            <a:extLst>
              <a:ext uri="{FF2B5EF4-FFF2-40B4-BE49-F238E27FC236}">
                <a16:creationId xmlns:a16="http://schemas.microsoft.com/office/drawing/2014/main" id="{44103708-FED4-597F-0F80-92C40C880709}"/>
              </a:ext>
            </a:extLst>
          </p:cNvPr>
          <p:cNvSpPr/>
          <p:nvPr/>
        </p:nvSpPr>
        <p:spPr>
          <a:xfrm>
            <a:off x="4406441" y="2200794"/>
            <a:ext cx="2268000" cy="54000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p>
            <a:pPr algn="ctr">
              <a:spcAft>
                <a:spcPts val="600"/>
              </a:spcAft>
            </a:pPr>
            <a:r>
              <a:rPr lang="en-GB" sz="1100" kern="0">
                <a:latin typeface="Santander Text" panose="020B0504020201020104" pitchFamily="34" charset="0"/>
              </a:rPr>
              <a:t>Process Shared Assets</a:t>
            </a:r>
          </a:p>
        </p:txBody>
      </p:sp>
      <p:sp>
        <p:nvSpPr>
          <p:cNvPr id="15" name="Rectángulo 25">
            <a:extLst>
              <a:ext uri="{FF2B5EF4-FFF2-40B4-BE49-F238E27FC236}">
                <a16:creationId xmlns:a16="http://schemas.microsoft.com/office/drawing/2014/main" id="{C24733E9-3C50-E019-FEA3-1FE63986EAF3}"/>
              </a:ext>
            </a:extLst>
          </p:cNvPr>
          <p:cNvSpPr/>
          <p:nvPr/>
        </p:nvSpPr>
        <p:spPr>
          <a:xfrm>
            <a:off x="7978514" y="1591602"/>
            <a:ext cx="3491243" cy="54000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p>
            <a:pPr algn="ctr">
              <a:spcAft>
                <a:spcPts val="600"/>
              </a:spcAft>
            </a:pPr>
            <a:r>
              <a:rPr lang="en-GB" sz="1100" kern="0">
                <a:latin typeface="Santander Text" panose="020B0504020201020104" pitchFamily="34" charset="0"/>
              </a:rPr>
              <a:t>Process </a:t>
            </a:r>
            <a:r>
              <a:rPr lang="en-GB" sz="1100" kern="0" err="1">
                <a:latin typeface="Santander Text" panose="020B0504020201020104" pitchFamily="34" charset="0"/>
              </a:rPr>
              <a:t>Catalog</a:t>
            </a:r>
            <a:endParaRPr lang="en-GB" sz="1100" kern="0">
              <a:latin typeface="Santander Text" panose="020B0504020201020104" pitchFamily="34" charset="0"/>
            </a:endParaRPr>
          </a:p>
        </p:txBody>
      </p:sp>
      <p:sp>
        <p:nvSpPr>
          <p:cNvPr id="18" name="Rectángulo 1">
            <a:extLst>
              <a:ext uri="{FF2B5EF4-FFF2-40B4-BE49-F238E27FC236}">
                <a16:creationId xmlns:a16="http://schemas.microsoft.com/office/drawing/2014/main" id="{11336F0E-4461-176B-16BD-8AB8B7A4D096}"/>
              </a:ext>
            </a:extLst>
          </p:cNvPr>
          <p:cNvSpPr/>
          <p:nvPr/>
        </p:nvSpPr>
        <p:spPr>
          <a:xfrm>
            <a:off x="9201757" y="2200794"/>
            <a:ext cx="2268000" cy="54000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p>
            <a:pPr algn="ctr">
              <a:spcAft>
                <a:spcPts val="600"/>
              </a:spcAft>
            </a:pPr>
            <a:r>
              <a:rPr lang="en-GB" sz="1100" kern="0">
                <a:latin typeface="Santander Text" panose="020B0504020201020104" pitchFamily="34" charset="0"/>
              </a:rPr>
              <a:t>Lite Case Management Framework</a:t>
            </a:r>
          </a:p>
        </p:txBody>
      </p:sp>
      <p:sp>
        <p:nvSpPr>
          <p:cNvPr id="21" name="Rectángulo 21">
            <a:extLst>
              <a:ext uri="{FF2B5EF4-FFF2-40B4-BE49-F238E27FC236}">
                <a16:creationId xmlns:a16="http://schemas.microsoft.com/office/drawing/2014/main" id="{A16CF46F-E98D-BEBB-E542-85AEC4ED2405}"/>
              </a:ext>
            </a:extLst>
          </p:cNvPr>
          <p:cNvSpPr/>
          <p:nvPr/>
        </p:nvSpPr>
        <p:spPr>
          <a:xfrm>
            <a:off x="9791040" y="2804600"/>
            <a:ext cx="1678717" cy="54000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p>
            <a:pPr algn="ctr">
              <a:spcAft>
                <a:spcPts val="600"/>
              </a:spcAft>
            </a:pPr>
            <a:r>
              <a:rPr lang="en-GB" sz="1100" kern="0">
                <a:latin typeface="Santander Text" panose="020B0504020201020104" pitchFamily="34" charset="0"/>
              </a:rPr>
              <a:t>Process Front Generator</a:t>
            </a:r>
          </a:p>
        </p:txBody>
      </p:sp>
      <p:sp>
        <p:nvSpPr>
          <p:cNvPr id="22" name="Rectángulo 1">
            <a:extLst>
              <a:ext uri="{FF2B5EF4-FFF2-40B4-BE49-F238E27FC236}">
                <a16:creationId xmlns:a16="http://schemas.microsoft.com/office/drawing/2014/main" id="{5FD84571-2DAC-5926-C0CF-8F4CCE8DABF9}"/>
              </a:ext>
            </a:extLst>
          </p:cNvPr>
          <p:cNvSpPr/>
          <p:nvPr/>
        </p:nvSpPr>
        <p:spPr>
          <a:xfrm>
            <a:off x="6117803" y="2804600"/>
            <a:ext cx="1596173" cy="54000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p>
            <a:pPr algn="ctr">
              <a:spcAft>
                <a:spcPts val="600"/>
              </a:spcAft>
            </a:pPr>
            <a:r>
              <a:rPr lang="en-GB" sz="1100" kern="0">
                <a:latin typeface="Santander Text" panose="020B0504020201020104" pitchFamily="34" charset="0"/>
              </a:rPr>
              <a:t>Workforce Management</a:t>
            </a:r>
          </a:p>
        </p:txBody>
      </p:sp>
      <p:sp>
        <p:nvSpPr>
          <p:cNvPr id="23" name="Rectángulo 1">
            <a:extLst>
              <a:ext uri="{FF2B5EF4-FFF2-40B4-BE49-F238E27FC236}">
                <a16:creationId xmlns:a16="http://schemas.microsoft.com/office/drawing/2014/main" id="{E0B23FB5-432D-47D7-04E7-10EB946F1DF3}"/>
              </a:ext>
            </a:extLst>
          </p:cNvPr>
          <p:cNvSpPr/>
          <p:nvPr/>
        </p:nvSpPr>
        <p:spPr>
          <a:xfrm>
            <a:off x="7829164" y="2804600"/>
            <a:ext cx="1846689" cy="54000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p>
            <a:pPr algn="ctr">
              <a:spcAft>
                <a:spcPts val="600"/>
              </a:spcAft>
            </a:pPr>
            <a:r>
              <a:rPr lang="en-GB" sz="1100" kern="0">
                <a:latin typeface="Santander Text" panose="020B0504020201020104" pitchFamily="34" charset="0"/>
              </a:rPr>
              <a:t>Connectors</a:t>
            </a:r>
          </a:p>
        </p:txBody>
      </p:sp>
      <p:sp>
        <p:nvSpPr>
          <p:cNvPr id="24" name="Rectángulo 1">
            <a:extLst>
              <a:ext uri="{FF2B5EF4-FFF2-40B4-BE49-F238E27FC236}">
                <a16:creationId xmlns:a16="http://schemas.microsoft.com/office/drawing/2014/main" id="{9672FD15-0D0A-5E7D-578F-BAB1676F03A9}"/>
              </a:ext>
            </a:extLst>
          </p:cNvPr>
          <p:cNvSpPr/>
          <p:nvPr/>
        </p:nvSpPr>
        <p:spPr>
          <a:xfrm>
            <a:off x="4406441" y="2804600"/>
            <a:ext cx="1596174" cy="54000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p>
            <a:pPr algn="ctr">
              <a:spcAft>
                <a:spcPts val="600"/>
              </a:spcAft>
            </a:pPr>
            <a:r>
              <a:rPr lang="en-GB" sz="1100" kern="0">
                <a:latin typeface="Santander Text" panose="020B0504020201020104" pitchFamily="34" charset="0"/>
              </a:rPr>
              <a:t>To do List</a:t>
            </a:r>
          </a:p>
        </p:txBody>
      </p:sp>
      <p:sp>
        <p:nvSpPr>
          <p:cNvPr id="25" name="Rectángulo 24">
            <a:extLst>
              <a:ext uri="{FF2B5EF4-FFF2-40B4-BE49-F238E27FC236}">
                <a16:creationId xmlns:a16="http://schemas.microsoft.com/office/drawing/2014/main" id="{4A58392E-392E-F5E9-8773-7A9FF46E6B8D}"/>
              </a:ext>
            </a:extLst>
          </p:cNvPr>
          <p:cNvSpPr/>
          <p:nvPr/>
        </p:nvSpPr>
        <p:spPr>
          <a:xfrm>
            <a:off x="626964" y="1254525"/>
            <a:ext cx="3677890" cy="224367"/>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p>
            <a:pPr algn="ctr"/>
            <a:r>
              <a:rPr lang="en-GB" sz="1400" b="1" kern="0">
                <a:solidFill>
                  <a:prstClr val="white"/>
                </a:solidFill>
                <a:latin typeface="Santander Text" panose="020B0504020201020104" pitchFamily="34" charset="0"/>
              </a:rPr>
              <a:t>Module Aggregation</a:t>
            </a:r>
          </a:p>
        </p:txBody>
      </p:sp>
      <p:sp>
        <p:nvSpPr>
          <p:cNvPr id="27" name="Rectángulo 1">
            <a:extLst>
              <a:ext uri="{FF2B5EF4-FFF2-40B4-BE49-F238E27FC236}">
                <a16:creationId xmlns:a16="http://schemas.microsoft.com/office/drawing/2014/main" id="{784AA0F4-FE2D-2071-0EFD-E8FD4577A366}"/>
              </a:ext>
            </a:extLst>
          </p:cNvPr>
          <p:cNvSpPr/>
          <p:nvPr/>
        </p:nvSpPr>
        <p:spPr>
          <a:xfrm>
            <a:off x="4406441" y="3513401"/>
            <a:ext cx="1596174" cy="54000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p>
            <a:pPr algn="ctr">
              <a:spcAft>
                <a:spcPts val="600"/>
              </a:spcAft>
            </a:pPr>
            <a:r>
              <a:rPr lang="en-GB" sz="1100" kern="0">
                <a:latin typeface="Santander Text" panose="020B0504020201020104" pitchFamily="34" charset="0"/>
              </a:rPr>
              <a:t>BPM Engines</a:t>
            </a:r>
          </a:p>
        </p:txBody>
      </p:sp>
      <p:sp>
        <p:nvSpPr>
          <p:cNvPr id="28" name="Rectángulo 1">
            <a:extLst>
              <a:ext uri="{FF2B5EF4-FFF2-40B4-BE49-F238E27FC236}">
                <a16:creationId xmlns:a16="http://schemas.microsoft.com/office/drawing/2014/main" id="{83ED025E-D3C8-02A2-BD82-7F40030AFD20}"/>
              </a:ext>
            </a:extLst>
          </p:cNvPr>
          <p:cNvSpPr/>
          <p:nvPr/>
        </p:nvSpPr>
        <p:spPr>
          <a:xfrm>
            <a:off x="6117803" y="3533993"/>
            <a:ext cx="1596174" cy="54000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p>
            <a:pPr algn="ctr">
              <a:spcAft>
                <a:spcPts val="600"/>
              </a:spcAft>
            </a:pPr>
            <a:r>
              <a:rPr lang="en-GB" sz="1100" kern="0">
                <a:latin typeface="Santander Text" panose="020B0504020201020104" pitchFamily="34" charset="0"/>
              </a:rPr>
              <a:t>BRMS Engines</a:t>
            </a:r>
          </a:p>
        </p:txBody>
      </p:sp>
      <p:sp>
        <p:nvSpPr>
          <p:cNvPr id="29" name="Rectángulo 1">
            <a:extLst>
              <a:ext uri="{FF2B5EF4-FFF2-40B4-BE49-F238E27FC236}">
                <a16:creationId xmlns:a16="http://schemas.microsoft.com/office/drawing/2014/main" id="{BE4B022C-FC2B-10B7-957D-60DE81B7AA42}"/>
              </a:ext>
            </a:extLst>
          </p:cNvPr>
          <p:cNvSpPr/>
          <p:nvPr/>
        </p:nvSpPr>
        <p:spPr>
          <a:xfrm>
            <a:off x="7829164" y="3552028"/>
            <a:ext cx="1596174" cy="54000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p>
            <a:pPr algn="ctr">
              <a:spcAft>
                <a:spcPts val="600"/>
              </a:spcAft>
            </a:pPr>
            <a:r>
              <a:rPr lang="en-GB" sz="1100" kern="0">
                <a:latin typeface="Santander Text" panose="020B0504020201020104" pitchFamily="34" charset="0"/>
              </a:rPr>
              <a:t>Assemble Process Management</a:t>
            </a:r>
          </a:p>
        </p:txBody>
      </p:sp>
      <p:sp>
        <p:nvSpPr>
          <p:cNvPr id="30" name="Rectángulo 1">
            <a:extLst>
              <a:ext uri="{FF2B5EF4-FFF2-40B4-BE49-F238E27FC236}">
                <a16:creationId xmlns:a16="http://schemas.microsoft.com/office/drawing/2014/main" id="{B4D662FF-BC04-70FA-A124-895CC7F2C634}"/>
              </a:ext>
            </a:extLst>
          </p:cNvPr>
          <p:cNvSpPr/>
          <p:nvPr/>
        </p:nvSpPr>
        <p:spPr>
          <a:xfrm>
            <a:off x="9540525" y="3513401"/>
            <a:ext cx="1929232" cy="54000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p>
            <a:pPr algn="ctr">
              <a:spcAft>
                <a:spcPts val="600"/>
              </a:spcAft>
            </a:pPr>
            <a:r>
              <a:rPr lang="en-GB" sz="1100" kern="0">
                <a:latin typeface="Santander Text" panose="020B0504020201020104" pitchFamily="34" charset="0"/>
              </a:rPr>
              <a:t>Process Mining</a:t>
            </a:r>
          </a:p>
        </p:txBody>
      </p:sp>
      <p:sp>
        <p:nvSpPr>
          <p:cNvPr id="31" name="Rectángulo 1">
            <a:extLst>
              <a:ext uri="{FF2B5EF4-FFF2-40B4-BE49-F238E27FC236}">
                <a16:creationId xmlns:a16="http://schemas.microsoft.com/office/drawing/2014/main" id="{3816E3B3-C548-7DB2-297D-5B4821B6BC49}"/>
              </a:ext>
            </a:extLst>
          </p:cNvPr>
          <p:cNvSpPr/>
          <p:nvPr/>
        </p:nvSpPr>
        <p:spPr>
          <a:xfrm>
            <a:off x="4406441" y="4137799"/>
            <a:ext cx="7063316" cy="539999"/>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p>
            <a:pPr algn="ctr">
              <a:spcAft>
                <a:spcPts val="600"/>
              </a:spcAft>
            </a:pPr>
            <a:r>
              <a:rPr lang="en-GB" sz="1100" kern="0">
                <a:latin typeface="Santander Text" panose="020B0504020201020104" pitchFamily="34" charset="0"/>
              </a:rPr>
              <a:t>Process Performance Monitoring</a:t>
            </a:r>
          </a:p>
        </p:txBody>
      </p:sp>
      <p:sp>
        <p:nvSpPr>
          <p:cNvPr id="32" name="Rectángulo 31">
            <a:extLst>
              <a:ext uri="{FF2B5EF4-FFF2-40B4-BE49-F238E27FC236}">
                <a16:creationId xmlns:a16="http://schemas.microsoft.com/office/drawing/2014/main" id="{946C4399-A546-5AD0-EB1E-97CCBEEBFC00}"/>
              </a:ext>
            </a:extLst>
          </p:cNvPr>
          <p:cNvSpPr/>
          <p:nvPr/>
        </p:nvSpPr>
        <p:spPr>
          <a:xfrm>
            <a:off x="685509" y="4790507"/>
            <a:ext cx="3619343" cy="626445"/>
          </a:xfrm>
          <a:prstGeom prst="rect">
            <a:avLst/>
          </a:prstGeom>
          <a:solidFill>
            <a:srgbClr val="DEEDF1"/>
          </a:solidFill>
          <a:ln w="12700" cap="flat" cmpd="sng" algn="ctr">
            <a:noFill/>
            <a:prstDash val="solid"/>
            <a:miter lim="800000"/>
          </a:ln>
          <a:effectLst/>
        </p:spPr>
        <p:txBody>
          <a:bodyPr lIns="72000" rIns="36000" rtlCol="0" anchor="ctr"/>
          <a:lstStyle/>
          <a:p>
            <a:pPr marL="355600" indent="-355600">
              <a:spcAft>
                <a:spcPts val="300"/>
              </a:spcAft>
            </a:pPr>
            <a:r>
              <a:rPr lang="en-GB" sz="1000" b="1">
                <a:solidFill>
                  <a:srgbClr val="DEEDF1">
                    <a:lumMod val="25000"/>
                  </a:srgbClr>
                </a:solidFill>
                <a:latin typeface="Santander Text" panose="020B0504020201020104" pitchFamily="34" charset="0"/>
              </a:rPr>
              <a:t>2 Process Automation</a:t>
            </a:r>
          </a:p>
          <a:p>
            <a:pPr>
              <a:spcAft>
                <a:spcPts val="300"/>
              </a:spcAft>
            </a:pPr>
            <a:r>
              <a:rPr lang="en-US" sz="900" i="1">
                <a:solidFill>
                  <a:srgbClr val="DEEDF1">
                    <a:lumMod val="25000"/>
                  </a:srgbClr>
                </a:solidFill>
                <a:latin typeface="Santander Text" panose="020B0504020201020104" pitchFamily="34" charset="0"/>
              </a:rPr>
              <a:t>Provides to the processes the capabilities to execute and monitor the automatic execution of tasks.</a:t>
            </a:r>
          </a:p>
        </p:txBody>
      </p:sp>
      <p:sp>
        <p:nvSpPr>
          <p:cNvPr id="33" name="Rectángulo 1">
            <a:extLst>
              <a:ext uri="{FF2B5EF4-FFF2-40B4-BE49-F238E27FC236}">
                <a16:creationId xmlns:a16="http://schemas.microsoft.com/office/drawing/2014/main" id="{B4A0C801-F07F-9D5A-6FCD-CF2A4D174D52}"/>
              </a:ext>
            </a:extLst>
          </p:cNvPr>
          <p:cNvSpPr/>
          <p:nvPr/>
        </p:nvSpPr>
        <p:spPr>
          <a:xfrm>
            <a:off x="4406441" y="4790507"/>
            <a:ext cx="7063316" cy="539999"/>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p>
            <a:pPr algn="ctr">
              <a:spcAft>
                <a:spcPts val="600"/>
              </a:spcAft>
            </a:pPr>
            <a:r>
              <a:rPr lang="en-GB" sz="1100" kern="0">
                <a:latin typeface="Santander Text" panose="020B0504020201020104" pitchFamily="34" charset="0"/>
              </a:rPr>
              <a:t>Automation</a:t>
            </a:r>
          </a:p>
        </p:txBody>
      </p:sp>
    </p:spTree>
    <p:extLst>
      <p:ext uri="{BB962C8B-B14F-4D97-AF65-F5344CB8AC3E}">
        <p14:creationId xmlns:p14="http://schemas.microsoft.com/office/powerpoint/2010/main" val="3324999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35D02-3026-4EA8-B878-23F29C72068E}"/>
            </a:ext>
          </a:extLst>
        </p:cNvPr>
        <p:cNvGrpSpPr/>
        <p:nvPr/>
      </p:nvGrpSpPr>
      <p:grpSpPr>
        <a:xfrm>
          <a:off x="0" y="0"/>
          <a:ext cx="0" cy="0"/>
          <a:chOff x="0" y="0"/>
          <a:chExt cx="0" cy="0"/>
        </a:xfrm>
      </p:grpSpPr>
      <p:sp>
        <p:nvSpPr>
          <p:cNvPr id="53" name="Título 1">
            <a:extLst>
              <a:ext uri="{FF2B5EF4-FFF2-40B4-BE49-F238E27FC236}">
                <a16:creationId xmlns:a16="http://schemas.microsoft.com/office/drawing/2014/main" id="{05338A70-4B35-9BE7-CB23-551B7B386E55}"/>
              </a:ext>
            </a:extLst>
          </p:cNvPr>
          <p:cNvSpPr>
            <a:spLocks noGrp="1"/>
          </p:cNvSpPr>
          <p:nvPr>
            <p:ph type="title"/>
          </p:nvPr>
        </p:nvSpPr>
        <p:spPr>
          <a:xfrm>
            <a:off x="711024" y="641900"/>
            <a:ext cx="10758733" cy="836992"/>
          </a:xfrm>
        </p:spPr>
        <p:txBody>
          <a:bodyPr/>
          <a:lstStyle/>
          <a:p>
            <a:r>
              <a:rPr lang="es-ES"/>
              <a:t>Global </a:t>
            </a:r>
            <a:r>
              <a:rPr lang="es-ES" err="1"/>
              <a:t>Technology</a:t>
            </a:r>
            <a:r>
              <a:rPr lang="es-ES"/>
              <a:t>. </a:t>
            </a:r>
            <a:r>
              <a:rPr lang="en-US">
                <a:solidFill>
                  <a:schemeClr val="bg1">
                    <a:lumMod val="75000"/>
                  </a:schemeClr>
                </a:solidFill>
              </a:rPr>
              <a:t>Processes</a:t>
            </a:r>
          </a:p>
        </p:txBody>
      </p:sp>
      <p:sp>
        <p:nvSpPr>
          <p:cNvPr id="3" name="Text Placeholder 2">
            <a:extLst>
              <a:ext uri="{FF2B5EF4-FFF2-40B4-BE49-F238E27FC236}">
                <a16:creationId xmlns:a16="http://schemas.microsoft.com/office/drawing/2014/main" id="{A8503671-44CE-90A5-880D-76AA85751F25}"/>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6" name="Rectángulo 5">
            <a:extLst>
              <a:ext uri="{FF2B5EF4-FFF2-40B4-BE49-F238E27FC236}">
                <a16:creationId xmlns:a16="http://schemas.microsoft.com/office/drawing/2014/main" id="{4F889091-1A21-2E85-172C-0825F0E22CC6}"/>
              </a:ext>
            </a:extLst>
          </p:cNvPr>
          <p:cNvSpPr/>
          <p:nvPr/>
        </p:nvSpPr>
        <p:spPr>
          <a:xfrm>
            <a:off x="769570" y="1815968"/>
            <a:ext cx="3619343" cy="1149193"/>
          </a:xfrm>
          <a:prstGeom prst="rect">
            <a:avLst/>
          </a:prstGeom>
          <a:solidFill>
            <a:srgbClr val="DEEDF1"/>
          </a:solidFill>
          <a:ln w="12700" cap="flat" cmpd="sng" algn="ctr">
            <a:noFill/>
            <a:prstDash val="solid"/>
            <a:miter lim="800000"/>
          </a:ln>
          <a:effectLst/>
        </p:spPr>
        <p:txBody>
          <a:bodyPr lIns="72000" rIns="36000" rtlCol="0" anchor="ctr"/>
          <a:lstStyle/>
          <a:p>
            <a:pPr marL="355600" indent="-355600">
              <a:spcAft>
                <a:spcPts val="300"/>
              </a:spcAft>
            </a:pPr>
            <a:r>
              <a:rPr lang="en-GB" sz="1000" b="1">
                <a:solidFill>
                  <a:srgbClr val="DEEDF1">
                    <a:lumMod val="25000"/>
                  </a:srgbClr>
                </a:solidFill>
                <a:latin typeface="Santander Text" panose="020B0504020201020104" pitchFamily="34" charset="0"/>
              </a:rPr>
              <a:t>3. Intelligent Document Processing</a:t>
            </a:r>
          </a:p>
          <a:p>
            <a:pPr>
              <a:spcAft>
                <a:spcPts val="300"/>
              </a:spcAft>
            </a:pPr>
            <a:r>
              <a:rPr lang="en-US" sz="900" i="1">
                <a:solidFill>
                  <a:srgbClr val="DEEDF1">
                    <a:lumMod val="25000"/>
                  </a:srgbClr>
                </a:solidFill>
                <a:latin typeface="Santander Text" panose="020B0504020201020104" pitchFamily="34" charset="0"/>
              </a:rPr>
              <a:t>Document Digitalization Systems in charge of receive and scan business and customer documents in order to store them into repositories and, at the same time extract data and use it to classify those documents</a:t>
            </a:r>
          </a:p>
        </p:txBody>
      </p:sp>
      <p:sp>
        <p:nvSpPr>
          <p:cNvPr id="7" name="Rectángulo 6">
            <a:extLst>
              <a:ext uri="{FF2B5EF4-FFF2-40B4-BE49-F238E27FC236}">
                <a16:creationId xmlns:a16="http://schemas.microsoft.com/office/drawing/2014/main" id="{C408AFC5-EC91-2FAE-8E0C-BC8553BD0C9A}"/>
              </a:ext>
            </a:extLst>
          </p:cNvPr>
          <p:cNvSpPr/>
          <p:nvPr/>
        </p:nvSpPr>
        <p:spPr>
          <a:xfrm>
            <a:off x="4490960" y="1478892"/>
            <a:ext cx="7062857" cy="240476"/>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p>
            <a:pPr algn="ctr"/>
            <a:r>
              <a:rPr lang="en-GB" sz="1400" b="1" kern="0">
                <a:solidFill>
                  <a:prstClr val="white"/>
                </a:solidFill>
                <a:latin typeface="Santander Text" panose="020B0504020201020104" pitchFamily="34" charset="0"/>
              </a:rPr>
              <a:t>Modules</a:t>
            </a:r>
          </a:p>
        </p:txBody>
      </p:sp>
      <p:sp>
        <p:nvSpPr>
          <p:cNvPr id="9" name="Rectángulo 8">
            <a:extLst>
              <a:ext uri="{FF2B5EF4-FFF2-40B4-BE49-F238E27FC236}">
                <a16:creationId xmlns:a16="http://schemas.microsoft.com/office/drawing/2014/main" id="{B0E717D6-9179-7777-E00B-555783C32CD5}"/>
              </a:ext>
            </a:extLst>
          </p:cNvPr>
          <p:cNvSpPr/>
          <p:nvPr/>
        </p:nvSpPr>
        <p:spPr>
          <a:xfrm>
            <a:off x="6888159" y="2425161"/>
            <a:ext cx="2268000" cy="54000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p>
            <a:pPr algn="ctr">
              <a:spcAft>
                <a:spcPts val="600"/>
              </a:spcAft>
            </a:pPr>
            <a:r>
              <a:rPr lang="en-GB" sz="1100" kern="0">
                <a:latin typeface="Santander Text" panose="020B0504020201020104" pitchFamily="34" charset="0"/>
              </a:rPr>
              <a:t>Object Checker</a:t>
            </a:r>
          </a:p>
        </p:txBody>
      </p:sp>
      <p:sp>
        <p:nvSpPr>
          <p:cNvPr id="14" name="Rectángulo 1">
            <a:extLst>
              <a:ext uri="{FF2B5EF4-FFF2-40B4-BE49-F238E27FC236}">
                <a16:creationId xmlns:a16="http://schemas.microsoft.com/office/drawing/2014/main" id="{C157407F-A635-1E72-A7A8-F73086428B78}"/>
              </a:ext>
            </a:extLst>
          </p:cNvPr>
          <p:cNvSpPr/>
          <p:nvPr/>
        </p:nvSpPr>
        <p:spPr>
          <a:xfrm>
            <a:off x="4490501" y="2425161"/>
            <a:ext cx="2268000" cy="54000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p>
            <a:pPr algn="ctr">
              <a:spcAft>
                <a:spcPts val="600"/>
              </a:spcAft>
            </a:pPr>
            <a:r>
              <a:rPr lang="en-GB" sz="1100" kern="0">
                <a:latin typeface="Santander Text" panose="020B0504020201020104" pitchFamily="34" charset="0"/>
              </a:rPr>
              <a:t>MFD Configuration</a:t>
            </a:r>
          </a:p>
        </p:txBody>
      </p:sp>
      <p:sp>
        <p:nvSpPr>
          <p:cNvPr id="18" name="Rectángulo 1">
            <a:extLst>
              <a:ext uri="{FF2B5EF4-FFF2-40B4-BE49-F238E27FC236}">
                <a16:creationId xmlns:a16="http://schemas.microsoft.com/office/drawing/2014/main" id="{2D8C0F14-6492-451E-9642-E0395F5F4253}"/>
              </a:ext>
            </a:extLst>
          </p:cNvPr>
          <p:cNvSpPr/>
          <p:nvPr/>
        </p:nvSpPr>
        <p:spPr>
          <a:xfrm>
            <a:off x="9285817" y="2425161"/>
            <a:ext cx="2268000" cy="54000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p>
            <a:pPr algn="ctr">
              <a:spcAft>
                <a:spcPts val="600"/>
              </a:spcAft>
            </a:pPr>
            <a:r>
              <a:rPr lang="en-GB" sz="1100" kern="0">
                <a:latin typeface="Santander Text" panose="020B0504020201020104" pitchFamily="34" charset="0"/>
              </a:rPr>
              <a:t>Lite Case AI Engines Framework</a:t>
            </a:r>
          </a:p>
        </p:txBody>
      </p:sp>
      <p:sp>
        <p:nvSpPr>
          <p:cNvPr id="25" name="Rectángulo 24">
            <a:extLst>
              <a:ext uri="{FF2B5EF4-FFF2-40B4-BE49-F238E27FC236}">
                <a16:creationId xmlns:a16="http://schemas.microsoft.com/office/drawing/2014/main" id="{D79494C9-E1DE-1C1B-9776-91CF49D21FB6}"/>
              </a:ext>
            </a:extLst>
          </p:cNvPr>
          <p:cNvSpPr/>
          <p:nvPr/>
        </p:nvSpPr>
        <p:spPr>
          <a:xfrm>
            <a:off x="711024" y="1478892"/>
            <a:ext cx="3677890" cy="224367"/>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p>
            <a:pPr algn="ctr"/>
            <a:r>
              <a:rPr lang="en-GB" sz="1400" b="1" kern="0">
                <a:solidFill>
                  <a:prstClr val="white"/>
                </a:solidFill>
                <a:latin typeface="Santander Text" panose="020B0504020201020104" pitchFamily="34" charset="0"/>
              </a:rPr>
              <a:t>Module Aggregation</a:t>
            </a:r>
          </a:p>
        </p:txBody>
      </p:sp>
      <p:sp>
        <p:nvSpPr>
          <p:cNvPr id="27" name="Rectángulo 1">
            <a:extLst>
              <a:ext uri="{FF2B5EF4-FFF2-40B4-BE49-F238E27FC236}">
                <a16:creationId xmlns:a16="http://schemas.microsoft.com/office/drawing/2014/main" id="{E687B746-912E-3876-D2BC-092CF84E8CA8}"/>
              </a:ext>
            </a:extLst>
          </p:cNvPr>
          <p:cNvSpPr/>
          <p:nvPr/>
        </p:nvSpPr>
        <p:spPr>
          <a:xfrm>
            <a:off x="4487644" y="3063912"/>
            <a:ext cx="1596174" cy="54000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p>
            <a:pPr algn="ctr">
              <a:spcAft>
                <a:spcPts val="600"/>
              </a:spcAft>
            </a:pPr>
            <a:r>
              <a:rPr lang="en-GB" sz="1100" kern="0">
                <a:latin typeface="Santander Text" panose="020B0504020201020104" pitchFamily="34" charset="0"/>
              </a:rPr>
              <a:t>Documentary File</a:t>
            </a:r>
          </a:p>
        </p:txBody>
      </p:sp>
      <p:sp>
        <p:nvSpPr>
          <p:cNvPr id="28" name="Rectángulo 1">
            <a:extLst>
              <a:ext uri="{FF2B5EF4-FFF2-40B4-BE49-F238E27FC236}">
                <a16:creationId xmlns:a16="http://schemas.microsoft.com/office/drawing/2014/main" id="{5BBF2536-76E8-255B-960A-B4169BCE5BD6}"/>
              </a:ext>
            </a:extLst>
          </p:cNvPr>
          <p:cNvSpPr/>
          <p:nvPr/>
        </p:nvSpPr>
        <p:spPr>
          <a:xfrm>
            <a:off x="6212603" y="3049916"/>
            <a:ext cx="1596174" cy="54000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p>
            <a:pPr algn="ctr">
              <a:spcAft>
                <a:spcPts val="600"/>
              </a:spcAft>
            </a:pPr>
            <a:r>
              <a:rPr lang="en-GB" sz="1100" kern="0">
                <a:latin typeface="Santander Text" panose="020B0504020201020104" pitchFamily="34" charset="0"/>
              </a:rPr>
              <a:t>Digital Signature File</a:t>
            </a:r>
          </a:p>
        </p:txBody>
      </p:sp>
      <p:sp>
        <p:nvSpPr>
          <p:cNvPr id="29" name="Rectángulo 1">
            <a:extLst>
              <a:ext uri="{FF2B5EF4-FFF2-40B4-BE49-F238E27FC236}">
                <a16:creationId xmlns:a16="http://schemas.microsoft.com/office/drawing/2014/main" id="{2042DADE-8305-9D06-1183-049AF3D459D1}"/>
              </a:ext>
            </a:extLst>
          </p:cNvPr>
          <p:cNvSpPr/>
          <p:nvPr/>
        </p:nvSpPr>
        <p:spPr>
          <a:xfrm>
            <a:off x="7896769" y="3048733"/>
            <a:ext cx="1596174" cy="54000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p>
            <a:pPr algn="ctr">
              <a:spcAft>
                <a:spcPts val="600"/>
              </a:spcAft>
            </a:pPr>
            <a:r>
              <a:rPr lang="en-GB" sz="1100" kern="0">
                <a:latin typeface="Santander Text" panose="020B0504020201020104" pitchFamily="34" charset="0"/>
              </a:rPr>
              <a:t>Document Exchange</a:t>
            </a:r>
          </a:p>
        </p:txBody>
      </p:sp>
      <p:sp>
        <p:nvSpPr>
          <p:cNvPr id="30" name="Rectángulo 1">
            <a:extLst>
              <a:ext uri="{FF2B5EF4-FFF2-40B4-BE49-F238E27FC236}">
                <a16:creationId xmlns:a16="http://schemas.microsoft.com/office/drawing/2014/main" id="{490B72DC-6EF3-5476-DD23-A694C7644DF7}"/>
              </a:ext>
            </a:extLst>
          </p:cNvPr>
          <p:cNvSpPr/>
          <p:nvPr/>
        </p:nvSpPr>
        <p:spPr>
          <a:xfrm>
            <a:off x="9621728" y="3063912"/>
            <a:ext cx="1929232" cy="54000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p>
            <a:pPr algn="ctr">
              <a:spcAft>
                <a:spcPts val="600"/>
              </a:spcAft>
            </a:pPr>
            <a:r>
              <a:rPr lang="en-GB" sz="1100" kern="0">
                <a:latin typeface="Santander Text" panose="020B0504020201020104" pitchFamily="34" charset="0"/>
              </a:rPr>
              <a:t>Customer Mailbox</a:t>
            </a:r>
          </a:p>
        </p:txBody>
      </p:sp>
      <p:sp>
        <p:nvSpPr>
          <p:cNvPr id="31" name="Rectángulo 1">
            <a:extLst>
              <a:ext uri="{FF2B5EF4-FFF2-40B4-BE49-F238E27FC236}">
                <a16:creationId xmlns:a16="http://schemas.microsoft.com/office/drawing/2014/main" id="{26A46EB4-9A84-1C2A-E610-13E9F7792D4C}"/>
              </a:ext>
            </a:extLst>
          </p:cNvPr>
          <p:cNvSpPr/>
          <p:nvPr/>
        </p:nvSpPr>
        <p:spPr>
          <a:xfrm>
            <a:off x="4487644" y="3688310"/>
            <a:ext cx="1596174" cy="539999"/>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p>
            <a:pPr algn="ctr">
              <a:spcAft>
                <a:spcPts val="600"/>
              </a:spcAft>
            </a:pPr>
            <a:r>
              <a:rPr lang="en-GB" sz="1100" kern="0">
                <a:latin typeface="Santander Text" panose="020B0504020201020104" pitchFamily="34" charset="0"/>
              </a:rPr>
              <a:t>Document Viewer</a:t>
            </a:r>
          </a:p>
        </p:txBody>
      </p:sp>
      <p:sp>
        <p:nvSpPr>
          <p:cNvPr id="32" name="Rectángulo 31">
            <a:extLst>
              <a:ext uri="{FF2B5EF4-FFF2-40B4-BE49-F238E27FC236}">
                <a16:creationId xmlns:a16="http://schemas.microsoft.com/office/drawing/2014/main" id="{DCEB65E7-6E97-9688-252E-C58D5EDBE921}"/>
              </a:ext>
            </a:extLst>
          </p:cNvPr>
          <p:cNvSpPr/>
          <p:nvPr/>
        </p:nvSpPr>
        <p:spPr>
          <a:xfrm>
            <a:off x="769570" y="3063912"/>
            <a:ext cx="3619343" cy="1263669"/>
          </a:xfrm>
          <a:prstGeom prst="rect">
            <a:avLst/>
          </a:prstGeom>
          <a:solidFill>
            <a:srgbClr val="DEEDF1"/>
          </a:solidFill>
          <a:ln w="12700" cap="flat" cmpd="sng" algn="ctr">
            <a:noFill/>
            <a:prstDash val="solid"/>
            <a:miter lim="800000"/>
          </a:ln>
          <a:effectLst/>
        </p:spPr>
        <p:txBody>
          <a:bodyPr lIns="72000" rIns="36000" rtlCol="0" anchor="ctr"/>
          <a:lstStyle/>
          <a:p>
            <a:pPr marL="355600" indent="-355600">
              <a:spcAft>
                <a:spcPts val="300"/>
              </a:spcAft>
            </a:pPr>
            <a:r>
              <a:rPr lang="en-GB" sz="1000" b="1">
                <a:solidFill>
                  <a:srgbClr val="DEEDF1">
                    <a:lumMod val="25000"/>
                  </a:srgbClr>
                </a:solidFill>
                <a:latin typeface="Santander Text" panose="020B0504020201020104" pitchFamily="34" charset="0"/>
              </a:rPr>
              <a:t>4.. Document Management System</a:t>
            </a:r>
          </a:p>
          <a:p>
            <a:pPr>
              <a:spcAft>
                <a:spcPts val="300"/>
              </a:spcAft>
            </a:pPr>
            <a:r>
              <a:rPr lang="en-US" sz="900" i="1">
                <a:solidFill>
                  <a:srgbClr val="DEEDF1">
                    <a:lumMod val="25000"/>
                  </a:srgbClr>
                </a:solidFill>
                <a:latin typeface="Santander Text" panose="020B0504020201020104" pitchFamily="34" charset="0"/>
              </a:rPr>
              <a:t>Document repositories in charge of storing and preserving classified documents as well as providing services and interfaces to allow users and applications to access and retrieve those documents</a:t>
            </a:r>
          </a:p>
        </p:txBody>
      </p:sp>
      <p:sp>
        <p:nvSpPr>
          <p:cNvPr id="2" name="Rectángulo 1">
            <a:extLst>
              <a:ext uri="{FF2B5EF4-FFF2-40B4-BE49-F238E27FC236}">
                <a16:creationId xmlns:a16="http://schemas.microsoft.com/office/drawing/2014/main" id="{1D1E270F-7796-EE4E-565F-B9716A5FB026}"/>
              </a:ext>
            </a:extLst>
          </p:cNvPr>
          <p:cNvSpPr/>
          <p:nvPr/>
        </p:nvSpPr>
        <p:spPr>
          <a:xfrm>
            <a:off x="769570" y="4424284"/>
            <a:ext cx="3619343" cy="954824"/>
          </a:xfrm>
          <a:prstGeom prst="rect">
            <a:avLst/>
          </a:prstGeom>
          <a:solidFill>
            <a:srgbClr val="DEEDF1"/>
          </a:solidFill>
          <a:ln w="12700" cap="flat" cmpd="sng" algn="ctr">
            <a:noFill/>
            <a:prstDash val="solid"/>
            <a:miter lim="800000"/>
          </a:ln>
          <a:effectLst/>
        </p:spPr>
        <p:txBody>
          <a:bodyPr lIns="72000" rIns="36000" rtlCol="0" anchor="ctr"/>
          <a:lstStyle/>
          <a:p>
            <a:pPr marL="355600" indent="-355600">
              <a:spcAft>
                <a:spcPts val="300"/>
              </a:spcAft>
            </a:pPr>
            <a:r>
              <a:rPr lang="en-GB" sz="1000" b="1">
                <a:solidFill>
                  <a:srgbClr val="DEEDF1">
                    <a:lumMod val="25000"/>
                  </a:srgbClr>
                </a:solidFill>
                <a:latin typeface="Santander Text" panose="020B0504020201020104" pitchFamily="34" charset="0"/>
              </a:rPr>
              <a:t>5. Customer Communication Management</a:t>
            </a:r>
          </a:p>
          <a:p>
            <a:pPr>
              <a:spcAft>
                <a:spcPts val="300"/>
              </a:spcAft>
            </a:pPr>
            <a:r>
              <a:rPr lang="en-US" sz="900" i="1">
                <a:solidFill>
                  <a:srgbClr val="DEEDF1">
                    <a:lumMod val="25000"/>
                  </a:srgbClr>
                </a:solidFill>
                <a:latin typeface="Santander Text" panose="020B0504020201020104" pitchFamily="34" charset="0"/>
              </a:rPr>
              <a:t>Systems responsible of creating and distributing business documents to customers. Document composition is primarily used by organizations to communicate with their customers, and plays a vital role in customer relationship management</a:t>
            </a:r>
          </a:p>
        </p:txBody>
      </p:sp>
      <p:sp>
        <p:nvSpPr>
          <p:cNvPr id="5" name="Rectángulo 1">
            <a:extLst>
              <a:ext uri="{FF2B5EF4-FFF2-40B4-BE49-F238E27FC236}">
                <a16:creationId xmlns:a16="http://schemas.microsoft.com/office/drawing/2014/main" id="{4EE7B690-C885-CEF9-45FD-B2F1532F2BB1}"/>
              </a:ext>
            </a:extLst>
          </p:cNvPr>
          <p:cNvSpPr/>
          <p:nvPr/>
        </p:nvSpPr>
        <p:spPr>
          <a:xfrm>
            <a:off x="4463587" y="4429427"/>
            <a:ext cx="1711362" cy="949681"/>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p>
            <a:pPr algn="ctr">
              <a:spcAft>
                <a:spcPts val="600"/>
              </a:spcAft>
            </a:pPr>
            <a:r>
              <a:rPr lang="en-GB" sz="1100" kern="0">
                <a:latin typeface="Santander Text" panose="020B0504020201020104" pitchFamily="34" charset="0"/>
              </a:rPr>
              <a:t>Template Management</a:t>
            </a:r>
          </a:p>
        </p:txBody>
      </p:sp>
      <p:sp>
        <p:nvSpPr>
          <p:cNvPr id="10" name="Rectángulo 1">
            <a:extLst>
              <a:ext uri="{FF2B5EF4-FFF2-40B4-BE49-F238E27FC236}">
                <a16:creationId xmlns:a16="http://schemas.microsoft.com/office/drawing/2014/main" id="{B3E5E584-582F-51B5-3E9C-11E5DA9F6D1C}"/>
              </a:ext>
            </a:extLst>
          </p:cNvPr>
          <p:cNvSpPr/>
          <p:nvPr/>
        </p:nvSpPr>
        <p:spPr>
          <a:xfrm>
            <a:off x="6283883" y="4424284"/>
            <a:ext cx="1711362" cy="949681"/>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p>
            <a:pPr algn="ctr">
              <a:spcAft>
                <a:spcPts val="600"/>
              </a:spcAft>
            </a:pPr>
            <a:r>
              <a:rPr lang="en-GB" sz="1100" kern="0">
                <a:latin typeface="Santander Text" panose="020B0504020201020104" pitchFamily="34" charset="0"/>
              </a:rPr>
              <a:t>Online Generation</a:t>
            </a:r>
          </a:p>
        </p:txBody>
      </p:sp>
      <p:sp>
        <p:nvSpPr>
          <p:cNvPr id="11" name="Rectángulo 1">
            <a:extLst>
              <a:ext uri="{FF2B5EF4-FFF2-40B4-BE49-F238E27FC236}">
                <a16:creationId xmlns:a16="http://schemas.microsoft.com/office/drawing/2014/main" id="{46A747DD-CF92-B0A7-FE5A-1F738D6F4EAC}"/>
              </a:ext>
            </a:extLst>
          </p:cNvPr>
          <p:cNvSpPr/>
          <p:nvPr/>
        </p:nvSpPr>
        <p:spPr>
          <a:xfrm>
            <a:off x="8069919" y="4424284"/>
            <a:ext cx="1711362" cy="949681"/>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p>
            <a:pPr algn="ctr">
              <a:spcAft>
                <a:spcPts val="600"/>
              </a:spcAft>
            </a:pPr>
            <a:r>
              <a:rPr lang="en-GB" sz="1100" kern="0">
                <a:latin typeface="Santander Text" panose="020B0504020201020104" pitchFamily="34" charset="0"/>
              </a:rPr>
              <a:t>Bull Generation</a:t>
            </a:r>
          </a:p>
        </p:txBody>
      </p:sp>
      <p:sp>
        <p:nvSpPr>
          <p:cNvPr id="12" name="Rectángulo 1">
            <a:extLst>
              <a:ext uri="{FF2B5EF4-FFF2-40B4-BE49-F238E27FC236}">
                <a16:creationId xmlns:a16="http://schemas.microsoft.com/office/drawing/2014/main" id="{0058127C-C18B-6B73-BCE9-BC0CD57D17FC}"/>
              </a:ext>
            </a:extLst>
          </p:cNvPr>
          <p:cNvSpPr/>
          <p:nvPr/>
        </p:nvSpPr>
        <p:spPr>
          <a:xfrm>
            <a:off x="9855955" y="4413204"/>
            <a:ext cx="1668091" cy="960761"/>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p>
            <a:pPr algn="ctr">
              <a:spcAft>
                <a:spcPts val="600"/>
              </a:spcAft>
            </a:pPr>
            <a:r>
              <a:rPr lang="en-GB" sz="1100" kern="0">
                <a:latin typeface="Santander Text" panose="020B0504020201020104" pitchFamily="34" charset="0"/>
              </a:rPr>
              <a:t>Delivery Broker</a:t>
            </a:r>
          </a:p>
        </p:txBody>
      </p:sp>
      <p:sp>
        <p:nvSpPr>
          <p:cNvPr id="13" name="Rectángulo 1">
            <a:extLst>
              <a:ext uri="{FF2B5EF4-FFF2-40B4-BE49-F238E27FC236}">
                <a16:creationId xmlns:a16="http://schemas.microsoft.com/office/drawing/2014/main" id="{545D1C57-A114-A17B-A441-FBFB4004EF35}"/>
              </a:ext>
            </a:extLst>
          </p:cNvPr>
          <p:cNvSpPr/>
          <p:nvPr/>
        </p:nvSpPr>
        <p:spPr>
          <a:xfrm>
            <a:off x="6192336" y="3667718"/>
            <a:ext cx="1596174" cy="539999"/>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p>
            <a:pPr algn="ctr">
              <a:spcAft>
                <a:spcPts val="600"/>
              </a:spcAft>
            </a:pPr>
            <a:r>
              <a:rPr lang="en-GB" sz="1100" kern="0">
                <a:latin typeface="Santander Text" panose="020B0504020201020104" pitchFamily="34" charset="0"/>
              </a:rPr>
              <a:t>Online Request</a:t>
            </a:r>
          </a:p>
        </p:txBody>
      </p:sp>
      <p:sp>
        <p:nvSpPr>
          <p:cNvPr id="16" name="Rectángulo 1">
            <a:extLst>
              <a:ext uri="{FF2B5EF4-FFF2-40B4-BE49-F238E27FC236}">
                <a16:creationId xmlns:a16="http://schemas.microsoft.com/office/drawing/2014/main" id="{242044D5-022F-8BB1-B50C-F89DD9FBDD13}"/>
              </a:ext>
            </a:extLst>
          </p:cNvPr>
          <p:cNvSpPr/>
          <p:nvPr/>
        </p:nvSpPr>
        <p:spPr>
          <a:xfrm>
            <a:off x="7915045" y="3688309"/>
            <a:ext cx="1596174" cy="539999"/>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p>
            <a:pPr algn="ctr">
              <a:spcAft>
                <a:spcPts val="600"/>
              </a:spcAft>
            </a:pPr>
            <a:r>
              <a:rPr lang="en-GB" sz="1100" kern="0">
                <a:latin typeface="Santander Text" panose="020B0504020201020104" pitchFamily="34" charset="0"/>
              </a:rPr>
              <a:t>Massive Processing</a:t>
            </a:r>
          </a:p>
        </p:txBody>
      </p:sp>
      <p:sp>
        <p:nvSpPr>
          <p:cNvPr id="17" name="Rectángulo 1">
            <a:extLst>
              <a:ext uri="{FF2B5EF4-FFF2-40B4-BE49-F238E27FC236}">
                <a16:creationId xmlns:a16="http://schemas.microsoft.com/office/drawing/2014/main" id="{3836FD26-50C3-61AE-0E22-F399035330EF}"/>
              </a:ext>
            </a:extLst>
          </p:cNvPr>
          <p:cNvSpPr/>
          <p:nvPr/>
        </p:nvSpPr>
        <p:spPr>
          <a:xfrm>
            <a:off x="9618872" y="3688309"/>
            <a:ext cx="1929231" cy="539999"/>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p>
            <a:pPr algn="ctr">
              <a:spcAft>
                <a:spcPts val="600"/>
              </a:spcAft>
            </a:pPr>
            <a:r>
              <a:rPr lang="en-GB" sz="1100" kern="0">
                <a:latin typeface="Santander Text" panose="020B0504020201020104" pitchFamily="34" charset="0"/>
              </a:rPr>
              <a:t>Document Repository</a:t>
            </a:r>
          </a:p>
        </p:txBody>
      </p:sp>
      <p:sp>
        <p:nvSpPr>
          <p:cNvPr id="19" name="Rectángulo 18">
            <a:extLst>
              <a:ext uri="{FF2B5EF4-FFF2-40B4-BE49-F238E27FC236}">
                <a16:creationId xmlns:a16="http://schemas.microsoft.com/office/drawing/2014/main" id="{01C0670A-B40D-9D41-95DC-D238669DFCCC}"/>
              </a:ext>
            </a:extLst>
          </p:cNvPr>
          <p:cNvSpPr/>
          <p:nvPr/>
        </p:nvSpPr>
        <p:spPr>
          <a:xfrm>
            <a:off x="6888159" y="1786410"/>
            <a:ext cx="2268000" cy="54000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p>
            <a:pPr algn="ctr">
              <a:spcAft>
                <a:spcPts val="600"/>
              </a:spcAft>
            </a:pPr>
            <a:r>
              <a:rPr lang="en-GB" sz="1100" kern="0">
                <a:latin typeface="Santander Text" panose="020B0504020201020104" pitchFamily="34" charset="0"/>
              </a:rPr>
              <a:t>Manual Validation</a:t>
            </a:r>
          </a:p>
        </p:txBody>
      </p:sp>
      <p:sp>
        <p:nvSpPr>
          <p:cNvPr id="20" name="Rectángulo 1">
            <a:extLst>
              <a:ext uri="{FF2B5EF4-FFF2-40B4-BE49-F238E27FC236}">
                <a16:creationId xmlns:a16="http://schemas.microsoft.com/office/drawing/2014/main" id="{F90BFF03-0234-0F75-7079-8F90D5E0EE5A}"/>
              </a:ext>
            </a:extLst>
          </p:cNvPr>
          <p:cNvSpPr/>
          <p:nvPr/>
        </p:nvSpPr>
        <p:spPr>
          <a:xfrm>
            <a:off x="4490501" y="1786410"/>
            <a:ext cx="2268000" cy="54000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p>
            <a:pPr algn="ctr">
              <a:spcAft>
                <a:spcPts val="600"/>
              </a:spcAft>
            </a:pPr>
            <a:r>
              <a:rPr lang="en-GB" sz="1100" kern="0">
                <a:latin typeface="Santander Text" panose="020B0504020201020104" pitchFamily="34" charset="0"/>
              </a:rPr>
              <a:t>IDP Broker</a:t>
            </a:r>
          </a:p>
        </p:txBody>
      </p:sp>
      <p:sp>
        <p:nvSpPr>
          <p:cNvPr id="26" name="Rectángulo 1">
            <a:extLst>
              <a:ext uri="{FF2B5EF4-FFF2-40B4-BE49-F238E27FC236}">
                <a16:creationId xmlns:a16="http://schemas.microsoft.com/office/drawing/2014/main" id="{DE1E0E04-4E7E-AA3E-9BBE-A5AEED0ED49F}"/>
              </a:ext>
            </a:extLst>
          </p:cNvPr>
          <p:cNvSpPr/>
          <p:nvPr/>
        </p:nvSpPr>
        <p:spPr>
          <a:xfrm>
            <a:off x="9285817" y="1786410"/>
            <a:ext cx="2268000" cy="540000"/>
          </a:xfrm>
          <a:prstGeom prst="rect">
            <a:avLst/>
          </a:prstGeom>
          <a:solidFill>
            <a:schemeClr val="bg1"/>
          </a:solidFill>
          <a:ln w="12700" cap="flat" cmpd="sng" algn="ctr">
            <a:solidFill>
              <a:srgbClr val="0070C0"/>
            </a:solidFill>
            <a:prstDash val="solid"/>
            <a:miter lim="800000"/>
          </a:ln>
          <a:effectLst/>
        </p:spPr>
        <p:txBody>
          <a:bodyPr lIns="72000" rIns="72000" rtlCol="0" anchor="ctr"/>
          <a:lstStyle/>
          <a:p>
            <a:pPr algn="ctr">
              <a:spcAft>
                <a:spcPts val="600"/>
              </a:spcAft>
            </a:pPr>
            <a:r>
              <a:rPr lang="en-GB" sz="1100" kern="0">
                <a:latin typeface="Santander Text" panose="020B0504020201020104" pitchFamily="34" charset="0"/>
              </a:rPr>
              <a:t>Mobile Scan</a:t>
            </a:r>
          </a:p>
        </p:txBody>
      </p:sp>
    </p:spTree>
    <p:extLst>
      <p:ext uri="{BB962C8B-B14F-4D97-AF65-F5344CB8AC3E}">
        <p14:creationId xmlns:p14="http://schemas.microsoft.com/office/powerpoint/2010/main" val="2408185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54E4F-A186-753F-90BA-ADD4A2ABFFA3}"/>
            </a:ext>
          </a:extLst>
        </p:cNvPr>
        <p:cNvGrpSpPr/>
        <p:nvPr/>
      </p:nvGrpSpPr>
      <p:grpSpPr>
        <a:xfrm>
          <a:off x="0" y="0"/>
          <a:ext cx="0" cy="0"/>
          <a:chOff x="0" y="0"/>
          <a:chExt cx="0" cy="0"/>
        </a:xfrm>
      </p:grpSpPr>
      <p:sp>
        <p:nvSpPr>
          <p:cNvPr id="24" name="Título 1">
            <a:extLst>
              <a:ext uri="{FF2B5EF4-FFF2-40B4-BE49-F238E27FC236}">
                <a16:creationId xmlns:a16="http://schemas.microsoft.com/office/drawing/2014/main" id="{5F8CB858-4ED4-BB34-4BC4-7A390D008CAD}"/>
              </a:ext>
            </a:extLst>
          </p:cNvPr>
          <p:cNvSpPr txBox="1">
            <a:spLocks/>
          </p:cNvSpPr>
          <p:nvPr/>
        </p:nvSpPr>
        <p:spPr>
          <a:xfrm>
            <a:off x="792455" y="661638"/>
            <a:ext cx="10129545" cy="5324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lang="en-US" sz="2800" b="1" kern="1200" dirty="0">
                <a:solidFill>
                  <a:schemeClr val="accent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GB" noProof="1">
                <a:solidFill>
                  <a:srgbClr val="EB0000"/>
                </a:solidFill>
                <a:latin typeface="Santander Headline" panose="020B0504020201020104" pitchFamily="34" charset="0"/>
              </a:rPr>
              <a:t>Global Technology. </a:t>
            </a:r>
            <a:r>
              <a:rPr lang="en-GB" noProof="1">
                <a:solidFill>
                  <a:schemeClr val="bg1">
                    <a:lumMod val="75000"/>
                  </a:schemeClr>
                </a:solidFill>
              </a:rPr>
              <a:t>Global Tech Hub &amp; Infra Hub</a:t>
            </a:r>
            <a:endParaRPr kumimoji="0" lang="en-GB" sz="2800" b="1" i="0" u="none" strike="noStrike" kern="1200" cap="none" spc="0" normalizeH="0" baseline="0" noProof="1">
              <a:ln>
                <a:noFill/>
              </a:ln>
              <a:solidFill>
                <a:srgbClr val="FFFFFF">
                  <a:lumMod val="75000"/>
                </a:srgbClr>
              </a:solidFill>
              <a:effectLst/>
              <a:uLnTx/>
              <a:uFillTx/>
              <a:latin typeface="Santander Headline"/>
              <a:ea typeface="+mj-ea"/>
              <a:cs typeface="+mj-cs"/>
            </a:endParaRP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s-ES" sz="2800" b="1" i="0" u="none" strike="noStrike" kern="1200" cap="none" spc="0" normalizeH="0" baseline="0" noProof="0">
              <a:ln>
                <a:noFill/>
              </a:ln>
              <a:solidFill>
                <a:srgbClr val="EB0000"/>
              </a:solidFill>
              <a:effectLst/>
              <a:uLnTx/>
              <a:uFillTx/>
              <a:latin typeface="Santander Headline" panose="020B0504020201020104" pitchFamily="34" charset="0"/>
              <a:ea typeface="+mj-ea"/>
              <a:cs typeface="+mj-cs"/>
            </a:endParaRPr>
          </a:p>
        </p:txBody>
      </p:sp>
      <p:sp>
        <p:nvSpPr>
          <p:cNvPr id="3" name="Text Placeholder 2">
            <a:extLst>
              <a:ext uri="{FF2B5EF4-FFF2-40B4-BE49-F238E27FC236}">
                <a16:creationId xmlns:a16="http://schemas.microsoft.com/office/drawing/2014/main" id="{F04A1746-46D7-D603-0C0E-DE2214F107E4}"/>
              </a:ext>
            </a:extLst>
          </p:cNvPr>
          <p:cNvSpPr>
            <a:spLocks noGrp="1"/>
          </p:cNvSpPr>
          <p:nvPr>
            <p:ph type="body" sz="quarter" idx="14"/>
          </p:nvPr>
        </p:nvSpPr>
        <p:spPr>
          <a:xfrm>
            <a:off x="640811" y="367378"/>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7" name="Rectángulo 6">
            <a:extLst>
              <a:ext uri="{FF2B5EF4-FFF2-40B4-BE49-F238E27FC236}">
                <a16:creationId xmlns:a16="http://schemas.microsoft.com/office/drawing/2014/main" id="{91756A18-E9DF-F552-CBE7-C0014238C4D8}"/>
              </a:ext>
            </a:extLst>
          </p:cNvPr>
          <p:cNvSpPr/>
          <p:nvPr/>
        </p:nvSpPr>
        <p:spPr>
          <a:xfrm>
            <a:off x="4146486" y="3489376"/>
            <a:ext cx="1729698" cy="506068"/>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200" b="0" i="0" u="none" strike="noStrike" kern="0" cap="none" spc="0" normalizeH="0" baseline="0" noProof="0">
              <a:ln>
                <a:noFill/>
              </a:ln>
              <a:solidFill>
                <a:srgbClr val="DEEDF1">
                  <a:lumMod val="25000"/>
                </a:srgbClr>
              </a:solidFill>
              <a:effectLst/>
              <a:uLnTx/>
              <a:uFillTx/>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200" b="0" i="0" u="none" strike="noStrike" kern="0" cap="none" spc="0" normalizeH="0" baseline="0" noProof="0">
                <a:ln>
                  <a:noFill/>
                </a:ln>
                <a:solidFill>
                  <a:srgbClr val="DEEDF1">
                    <a:lumMod val="25000"/>
                  </a:srgbClr>
                </a:solidFill>
                <a:effectLst/>
                <a:uLnTx/>
                <a:uFillTx/>
                <a:ea typeface="+mn-ea"/>
                <a:cs typeface="+mn-cs"/>
              </a:rPr>
              <a:t>Branch &amp; Campus</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200" b="0" i="0" u="none" strike="noStrike" kern="0" cap="none" spc="0" normalizeH="0" baseline="0" noProof="0">
              <a:ln>
                <a:noFill/>
              </a:ln>
              <a:solidFill>
                <a:srgbClr val="DEEDF1">
                  <a:lumMod val="25000"/>
                </a:srgbClr>
              </a:solidFill>
              <a:effectLst/>
              <a:uLnTx/>
              <a:uFillTx/>
              <a:ea typeface="+mn-ea"/>
              <a:cs typeface="+mn-cs"/>
            </a:endParaRPr>
          </a:p>
        </p:txBody>
      </p:sp>
      <p:sp>
        <p:nvSpPr>
          <p:cNvPr id="9" name="Rectángulo 8">
            <a:extLst>
              <a:ext uri="{FF2B5EF4-FFF2-40B4-BE49-F238E27FC236}">
                <a16:creationId xmlns:a16="http://schemas.microsoft.com/office/drawing/2014/main" id="{A836DD6F-8271-870D-E9F3-B2C0F2DFD2C6}"/>
              </a:ext>
            </a:extLst>
          </p:cNvPr>
          <p:cNvSpPr/>
          <p:nvPr/>
        </p:nvSpPr>
        <p:spPr>
          <a:xfrm>
            <a:off x="4133786" y="1194058"/>
            <a:ext cx="7603514" cy="394843"/>
          </a:xfrm>
          <a:prstGeom prst="rect">
            <a:avLst/>
          </a:prstGeom>
          <a:solidFill>
            <a:srgbClr val="DEEDF1">
              <a:lumMod val="25000"/>
            </a:srgbClr>
          </a:solidFill>
          <a:ln w="12700" cap="flat" cmpd="sng" algn="ctr">
            <a:noFill/>
            <a:prstDash val="solid"/>
            <a:miter lim="800000"/>
          </a:ln>
          <a:effectLst/>
        </p:spPr>
        <p:txBody>
          <a:bodyPr vert="horz" rtlCol="0" anchor="ctr"/>
          <a:lstStyle/>
          <a:p>
            <a:pPr algn="ctr">
              <a:defRPr/>
            </a:pPr>
            <a:r>
              <a:rPr lang="en-AU" sz="1600" b="1" kern="0">
                <a:solidFill>
                  <a:prstClr val="white"/>
                </a:solidFill>
              </a:rPr>
              <a:t>Modules</a:t>
            </a:r>
          </a:p>
        </p:txBody>
      </p:sp>
      <p:sp>
        <p:nvSpPr>
          <p:cNvPr id="11" name="Rectángulo 10">
            <a:extLst>
              <a:ext uri="{FF2B5EF4-FFF2-40B4-BE49-F238E27FC236}">
                <a16:creationId xmlns:a16="http://schemas.microsoft.com/office/drawing/2014/main" id="{9309C586-7436-1B13-F47D-97F2DEB2D605}"/>
              </a:ext>
            </a:extLst>
          </p:cNvPr>
          <p:cNvSpPr/>
          <p:nvPr/>
        </p:nvSpPr>
        <p:spPr>
          <a:xfrm>
            <a:off x="653511" y="1650881"/>
            <a:ext cx="3364034" cy="1741939"/>
          </a:xfrm>
          <a:prstGeom prst="rect">
            <a:avLst/>
          </a:prstGeom>
          <a:solidFill>
            <a:srgbClr val="DEEDF1"/>
          </a:solidFill>
          <a:ln w="12700" cap="flat" cmpd="sng" algn="ctr">
            <a:no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AU" sz="1600" b="1" kern="0">
                <a:solidFill>
                  <a:srgbClr val="DEEDF1">
                    <a:lumMod val="25000"/>
                  </a:srgbClr>
                </a:solidFill>
                <a:latin typeface="Santander Text"/>
              </a:rPr>
              <a:t>1</a:t>
            </a:r>
            <a:r>
              <a:rPr kumimoji="0" lang="en-AU" sz="1600" b="1" i="0" u="none" strike="noStrike" kern="0" cap="none" spc="0" normalizeH="0" baseline="0" noProof="0">
                <a:ln>
                  <a:noFill/>
                </a:ln>
                <a:solidFill>
                  <a:srgbClr val="DEEDF1">
                    <a:lumMod val="25000"/>
                  </a:srgbClr>
                </a:solidFill>
                <a:effectLst/>
                <a:uLnTx/>
                <a:uFillTx/>
                <a:latin typeface="Santander Text"/>
                <a:ea typeface="+mn-ea"/>
                <a:cs typeface="+mn-cs"/>
              </a:rPr>
              <a:t> – Cloud Infrastructure</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1" u="none" strike="noStrike" kern="0" cap="none" spc="0" normalizeH="0" baseline="0" noProof="0">
                <a:ln>
                  <a:noFill/>
                </a:ln>
                <a:solidFill>
                  <a:srgbClr val="DEEDF1">
                    <a:lumMod val="25000"/>
                  </a:srgbClr>
                </a:solidFill>
                <a:effectLst/>
                <a:uLnTx/>
                <a:uFillTx/>
                <a:latin typeface="Santander Text"/>
                <a:ea typeface="+mn-ea"/>
                <a:cs typeface="+mn-cs"/>
              </a:rPr>
              <a:t>Standardization of the landing zone for public cloud applications deployment</a:t>
            </a:r>
            <a:endParaRPr kumimoji="0" lang="en-AU" sz="1200" b="0" i="1" u="none" strike="noStrike" kern="0" cap="none" spc="0" normalizeH="0" baseline="0" noProof="0">
              <a:ln>
                <a:noFill/>
              </a:ln>
              <a:solidFill>
                <a:srgbClr val="DEEDF1">
                  <a:lumMod val="25000"/>
                </a:srgbClr>
              </a:solidFill>
              <a:effectLst/>
              <a:uLnTx/>
              <a:uFillTx/>
              <a:latin typeface="Santander Text"/>
              <a:ea typeface="+mn-ea"/>
              <a:cs typeface="+mn-cs"/>
            </a:endParaRPr>
          </a:p>
        </p:txBody>
      </p:sp>
      <p:sp>
        <p:nvSpPr>
          <p:cNvPr id="35" name="Rectángulo 34">
            <a:extLst>
              <a:ext uri="{FF2B5EF4-FFF2-40B4-BE49-F238E27FC236}">
                <a16:creationId xmlns:a16="http://schemas.microsoft.com/office/drawing/2014/main" id="{75215F3A-A146-8288-1CE1-7810A8EAC8D7}"/>
              </a:ext>
            </a:extLst>
          </p:cNvPr>
          <p:cNvSpPr/>
          <p:nvPr/>
        </p:nvSpPr>
        <p:spPr>
          <a:xfrm>
            <a:off x="4133786" y="1650881"/>
            <a:ext cx="2521015" cy="912966"/>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ea typeface="+mn-ea"/>
                <a:cs typeface="+mn-cs"/>
              </a:rPr>
              <a:t>AWS landing zone v4</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400" b="0" i="0" u="none" strike="noStrike" kern="0" cap="none" spc="0" normalizeH="0" baseline="0" noProof="0">
              <a:ln>
                <a:noFill/>
              </a:ln>
              <a:solidFill>
                <a:srgbClr val="DEEDF1">
                  <a:lumMod val="25000"/>
                </a:srgbClr>
              </a:solidFill>
              <a:effectLst/>
              <a:uLnTx/>
              <a:uFillTx/>
              <a:ea typeface="+mn-ea"/>
              <a:cs typeface="+mn-cs"/>
            </a:endParaRPr>
          </a:p>
        </p:txBody>
      </p:sp>
      <p:sp>
        <p:nvSpPr>
          <p:cNvPr id="5" name="Rectángulo 4">
            <a:extLst>
              <a:ext uri="{FF2B5EF4-FFF2-40B4-BE49-F238E27FC236}">
                <a16:creationId xmlns:a16="http://schemas.microsoft.com/office/drawing/2014/main" id="{D237E177-5AFD-AFEB-4557-510E60907CA8}"/>
              </a:ext>
            </a:extLst>
          </p:cNvPr>
          <p:cNvSpPr/>
          <p:nvPr/>
        </p:nvSpPr>
        <p:spPr>
          <a:xfrm>
            <a:off x="4133788" y="4720783"/>
            <a:ext cx="7603514" cy="378394"/>
          </a:xfrm>
          <a:prstGeom prst="rect">
            <a:avLst/>
          </a:prstGeom>
          <a:solidFill>
            <a:schemeClr val="bg1"/>
          </a:solidFill>
          <a:ln w="12700" cap="flat" cmpd="sng" algn="ctr">
            <a:solidFill>
              <a:schemeClr val="tx1">
                <a:lumMod val="50000"/>
                <a:lumOff val="50000"/>
              </a:schemeClr>
            </a:solidFill>
            <a:prstDash val="solid"/>
            <a:miter lim="800000"/>
          </a:ln>
          <a:effectLst/>
        </p:spPr>
        <p:txBody>
          <a:bodyPr lIns="0" rIns="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0" cap="none" spc="0" normalizeH="0" baseline="0" noProof="0">
                <a:ln>
                  <a:noFill/>
                </a:ln>
                <a:effectLst/>
                <a:uLnTx/>
                <a:uFillTx/>
                <a:latin typeface="Santander Text"/>
                <a:ea typeface="+mn-ea"/>
                <a:cs typeface="+mn-cs"/>
              </a:rPr>
              <a:t>Observability</a:t>
            </a:r>
          </a:p>
        </p:txBody>
      </p:sp>
      <p:sp>
        <p:nvSpPr>
          <p:cNvPr id="20" name="Rectángulo 19">
            <a:extLst>
              <a:ext uri="{FF2B5EF4-FFF2-40B4-BE49-F238E27FC236}">
                <a16:creationId xmlns:a16="http://schemas.microsoft.com/office/drawing/2014/main" id="{AB99297F-12C4-58AF-B9DD-0E1F3E6E8104}"/>
              </a:ext>
            </a:extLst>
          </p:cNvPr>
          <p:cNvSpPr/>
          <p:nvPr/>
        </p:nvSpPr>
        <p:spPr>
          <a:xfrm>
            <a:off x="9370990" y="1650882"/>
            <a:ext cx="2366309" cy="912966"/>
          </a:xfrm>
          <a:prstGeom prst="rect">
            <a:avLst/>
          </a:prstGeom>
          <a:solidFill>
            <a:schemeClr val="bg1"/>
          </a:solidFill>
          <a:ln w="12700" cap="flat" cmpd="sng" algn="ctr">
            <a:solidFill>
              <a:schemeClr val="bg2">
                <a:lumMod val="75000"/>
              </a:schemeClr>
            </a:solidFill>
            <a:prstDash val="solid"/>
            <a:miter lim="800000"/>
          </a:ln>
          <a:effectLst/>
        </p:spPr>
        <p:txBody>
          <a:bodyPr lIns="0" rIns="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0" cap="none" spc="0" normalizeH="0" baseline="0" noProof="0">
                <a:ln>
                  <a:noFill/>
                </a:ln>
                <a:solidFill>
                  <a:srgbClr val="DEEDF1">
                    <a:lumMod val="25000"/>
                  </a:srgbClr>
                </a:solidFill>
                <a:effectLst/>
                <a:uLnTx/>
                <a:uFillTx/>
                <a:latin typeface="Santander Text"/>
                <a:ea typeface="+mn-ea"/>
                <a:cs typeface="+mn-cs"/>
              </a:rPr>
              <a:t>OHE Private Cloud</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0" cap="none" spc="0" normalizeH="0" baseline="0" noProof="0">
              <a:ln>
                <a:noFill/>
              </a:ln>
              <a:solidFill>
                <a:srgbClr val="DEEDF1">
                  <a:lumMod val="25000"/>
                </a:srgbClr>
              </a:solidFill>
              <a:effectLst/>
              <a:uLnTx/>
              <a:uFillTx/>
              <a:latin typeface="Santander Text"/>
              <a:ea typeface="+mn-ea"/>
              <a:cs typeface="+mn-cs"/>
            </a:endParaRPr>
          </a:p>
        </p:txBody>
      </p:sp>
      <p:sp>
        <p:nvSpPr>
          <p:cNvPr id="21" name="Rectángulo 20">
            <a:extLst>
              <a:ext uri="{FF2B5EF4-FFF2-40B4-BE49-F238E27FC236}">
                <a16:creationId xmlns:a16="http://schemas.microsoft.com/office/drawing/2014/main" id="{10267C60-453F-B6C9-4F1E-FF87177FD1CE}"/>
              </a:ext>
            </a:extLst>
          </p:cNvPr>
          <p:cNvSpPr/>
          <p:nvPr/>
        </p:nvSpPr>
        <p:spPr>
          <a:xfrm>
            <a:off x="653511" y="1205005"/>
            <a:ext cx="3364034" cy="394843"/>
          </a:xfrm>
          <a:prstGeom prst="rect">
            <a:avLst/>
          </a:prstGeom>
          <a:solidFill>
            <a:srgbClr val="DEEDF1">
              <a:lumMod val="25000"/>
            </a:srgbClr>
          </a:solidFill>
          <a:ln w="12700" cap="flat" cmpd="sng" algn="ctr">
            <a:noFill/>
            <a:prstDash val="solid"/>
            <a:miter lim="800000"/>
          </a:ln>
          <a:effectLst/>
        </p:spPr>
        <p:txBody>
          <a:bodyPr vert="horz" rtlCol="0" anchor="ctr"/>
          <a:lstStyle/>
          <a:p>
            <a:pPr algn="ctr">
              <a:defRPr/>
            </a:pPr>
            <a:r>
              <a:rPr lang="en-AU" sz="1600" b="1" kern="0">
                <a:solidFill>
                  <a:prstClr val="white"/>
                </a:solidFill>
              </a:rPr>
              <a:t>Module Aggregation</a:t>
            </a:r>
          </a:p>
        </p:txBody>
      </p:sp>
      <p:sp>
        <p:nvSpPr>
          <p:cNvPr id="2" name="Rectángulo 1">
            <a:extLst>
              <a:ext uri="{FF2B5EF4-FFF2-40B4-BE49-F238E27FC236}">
                <a16:creationId xmlns:a16="http://schemas.microsoft.com/office/drawing/2014/main" id="{75D099B1-4DF9-9AD8-1512-304A54633644}"/>
              </a:ext>
            </a:extLst>
          </p:cNvPr>
          <p:cNvSpPr/>
          <p:nvPr/>
        </p:nvSpPr>
        <p:spPr>
          <a:xfrm>
            <a:off x="653513" y="3489376"/>
            <a:ext cx="3364034" cy="1077580"/>
          </a:xfrm>
          <a:prstGeom prst="rect">
            <a:avLst/>
          </a:prstGeom>
          <a:solidFill>
            <a:srgbClr val="DEEDF1"/>
          </a:solidFill>
          <a:ln w="12700" cap="flat" cmpd="sng" algn="ctr">
            <a:no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1600" b="1" i="0" u="none" strike="noStrike" kern="0" cap="none" spc="0" normalizeH="0" baseline="0" noProof="0">
                <a:ln>
                  <a:noFill/>
                </a:ln>
                <a:solidFill>
                  <a:srgbClr val="DEEDF1">
                    <a:lumMod val="25000"/>
                  </a:srgbClr>
                </a:solidFill>
                <a:effectLst/>
                <a:uLnTx/>
                <a:uFillTx/>
                <a:latin typeface="Santander Text"/>
                <a:ea typeface="+mn-ea"/>
                <a:cs typeface="+mn-cs"/>
              </a:rPr>
              <a:t>2– Network</a:t>
            </a:r>
          </a:p>
        </p:txBody>
      </p:sp>
      <p:sp>
        <p:nvSpPr>
          <p:cNvPr id="4" name="Rectángulo 3">
            <a:extLst>
              <a:ext uri="{FF2B5EF4-FFF2-40B4-BE49-F238E27FC236}">
                <a16:creationId xmlns:a16="http://schemas.microsoft.com/office/drawing/2014/main" id="{8F56B1FC-41DB-0039-C3F0-0ECDEE5DD3C5}"/>
              </a:ext>
            </a:extLst>
          </p:cNvPr>
          <p:cNvSpPr/>
          <p:nvPr/>
        </p:nvSpPr>
        <p:spPr>
          <a:xfrm>
            <a:off x="653513" y="4673782"/>
            <a:ext cx="3364034" cy="433311"/>
          </a:xfrm>
          <a:prstGeom prst="rect">
            <a:avLst/>
          </a:prstGeom>
          <a:solidFill>
            <a:srgbClr val="DEEDF1"/>
          </a:solidFill>
          <a:ln w="12700" cap="flat" cmpd="sng" algn="ctr">
            <a:no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1600" b="1" i="0" u="none" strike="noStrike" kern="0" cap="none" spc="0" normalizeH="0" baseline="0" noProof="0">
                <a:ln>
                  <a:noFill/>
                </a:ln>
                <a:solidFill>
                  <a:srgbClr val="DEEDF1">
                    <a:lumMod val="25000"/>
                  </a:srgbClr>
                </a:solidFill>
                <a:effectLst/>
                <a:uLnTx/>
                <a:uFillTx/>
                <a:latin typeface="Santander Text"/>
                <a:ea typeface="+mn-ea"/>
                <a:cs typeface="+mn-cs"/>
              </a:rPr>
              <a:t>3 – </a:t>
            </a:r>
            <a:r>
              <a:rPr kumimoji="0" lang="es-ES" sz="1600" b="1" i="0" u="none" strike="noStrike" kern="0" cap="none" spc="0" normalizeH="0" baseline="0" noProof="0" err="1">
                <a:ln>
                  <a:noFill/>
                </a:ln>
                <a:solidFill>
                  <a:srgbClr val="DEEDF1">
                    <a:lumMod val="25000"/>
                  </a:srgbClr>
                </a:solidFill>
                <a:effectLst/>
                <a:uLnTx/>
                <a:uFillTx/>
                <a:latin typeface="Santander Text"/>
                <a:ea typeface="+mn-ea"/>
                <a:cs typeface="+mn-cs"/>
              </a:rPr>
              <a:t>Observability</a:t>
            </a:r>
            <a:endParaRPr kumimoji="0" lang="en-AU" sz="1200" b="0" i="1" u="none" strike="noStrike" kern="0" cap="none" spc="0" normalizeH="0" baseline="0" noProof="0">
              <a:ln>
                <a:noFill/>
              </a:ln>
              <a:solidFill>
                <a:srgbClr val="DEEDF1">
                  <a:lumMod val="25000"/>
                </a:srgbClr>
              </a:solidFill>
              <a:effectLst/>
              <a:uLnTx/>
              <a:uFillTx/>
              <a:latin typeface="Santander Text"/>
              <a:ea typeface="+mn-ea"/>
              <a:cs typeface="+mn-cs"/>
            </a:endParaRPr>
          </a:p>
        </p:txBody>
      </p:sp>
      <p:sp>
        <p:nvSpPr>
          <p:cNvPr id="8" name="Rectángulo 7">
            <a:extLst>
              <a:ext uri="{FF2B5EF4-FFF2-40B4-BE49-F238E27FC236}">
                <a16:creationId xmlns:a16="http://schemas.microsoft.com/office/drawing/2014/main" id="{739C961F-655E-0D61-3FE8-F853F00CA66E}"/>
              </a:ext>
            </a:extLst>
          </p:cNvPr>
          <p:cNvSpPr/>
          <p:nvPr/>
        </p:nvSpPr>
        <p:spPr>
          <a:xfrm>
            <a:off x="6108701" y="3489375"/>
            <a:ext cx="1729698" cy="531939"/>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200" b="0" i="0" u="none" strike="noStrike" kern="0" cap="none" spc="0" normalizeH="0" baseline="0" noProof="0">
              <a:ln>
                <a:noFill/>
              </a:ln>
              <a:solidFill>
                <a:srgbClr val="DEEDF1">
                  <a:lumMod val="25000"/>
                </a:srgbClr>
              </a:solidFill>
              <a:effectLst/>
              <a:uLnTx/>
              <a:uFillTx/>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200" b="0" i="0" u="none" strike="noStrike" kern="0" cap="none" spc="0" normalizeH="0" baseline="0" noProof="0">
                <a:ln>
                  <a:noFill/>
                </a:ln>
                <a:solidFill>
                  <a:srgbClr val="DEEDF1">
                    <a:lumMod val="25000"/>
                  </a:srgbClr>
                </a:solidFill>
                <a:effectLst/>
                <a:uLnTx/>
                <a:uFillTx/>
                <a:ea typeface="+mn-ea"/>
                <a:cs typeface="+mn-cs"/>
              </a:rPr>
              <a:t>Data </a:t>
            </a:r>
            <a:r>
              <a:rPr kumimoji="0" lang="en-AU" sz="1200" b="0" i="0" u="none" strike="noStrike" kern="0" cap="none" spc="0" normalizeH="0" baseline="0" noProof="0" err="1">
                <a:ln>
                  <a:noFill/>
                </a:ln>
                <a:solidFill>
                  <a:srgbClr val="DEEDF1">
                    <a:lumMod val="25000"/>
                  </a:srgbClr>
                </a:solidFill>
                <a:effectLst/>
                <a:uLnTx/>
                <a:uFillTx/>
                <a:ea typeface="+mn-ea"/>
                <a:cs typeface="+mn-cs"/>
              </a:rPr>
              <a:t>Center</a:t>
            </a:r>
            <a:r>
              <a:rPr kumimoji="0" lang="en-AU" sz="1200" b="0" i="0" u="none" strike="noStrike" kern="0" cap="none" spc="0" normalizeH="0" baseline="0" noProof="0">
                <a:ln>
                  <a:noFill/>
                </a:ln>
                <a:solidFill>
                  <a:srgbClr val="DEEDF1">
                    <a:lumMod val="25000"/>
                  </a:srgbClr>
                </a:solidFill>
                <a:effectLst/>
                <a:uLnTx/>
                <a:uFillTx/>
                <a:ea typeface="+mn-ea"/>
                <a:cs typeface="+mn-cs"/>
              </a:rPr>
              <a:t> / Private Cloud</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200" b="0" i="0" u="none" strike="noStrike" kern="0" cap="none" spc="0" normalizeH="0" baseline="0" noProof="0">
              <a:ln>
                <a:noFill/>
              </a:ln>
              <a:solidFill>
                <a:srgbClr val="DEEDF1">
                  <a:lumMod val="25000"/>
                </a:srgbClr>
              </a:solidFill>
              <a:effectLst/>
              <a:uLnTx/>
              <a:uFillTx/>
              <a:ea typeface="+mn-ea"/>
              <a:cs typeface="+mn-cs"/>
            </a:endParaRPr>
          </a:p>
        </p:txBody>
      </p:sp>
      <p:sp>
        <p:nvSpPr>
          <p:cNvPr id="10" name="Rectángulo 9">
            <a:extLst>
              <a:ext uri="{FF2B5EF4-FFF2-40B4-BE49-F238E27FC236}">
                <a16:creationId xmlns:a16="http://schemas.microsoft.com/office/drawing/2014/main" id="{FE8C5FCF-48B3-E6BC-5B58-FA4CE31BC79A}"/>
              </a:ext>
            </a:extLst>
          </p:cNvPr>
          <p:cNvSpPr/>
          <p:nvPr/>
        </p:nvSpPr>
        <p:spPr>
          <a:xfrm>
            <a:off x="8008101" y="3503464"/>
            <a:ext cx="1729698" cy="475792"/>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200" b="0" i="0" u="none" strike="noStrike" kern="0" cap="none" spc="0" normalizeH="0" baseline="0" noProof="0">
              <a:ln>
                <a:noFill/>
              </a:ln>
              <a:solidFill>
                <a:srgbClr val="DEEDF1">
                  <a:lumMod val="25000"/>
                </a:srgbClr>
              </a:solidFill>
              <a:effectLst/>
              <a:uLnTx/>
              <a:uFillTx/>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200" b="0" i="0" u="none" strike="noStrike" kern="0" cap="none" spc="0" normalizeH="0" baseline="0" noProof="0">
                <a:ln>
                  <a:noFill/>
                </a:ln>
                <a:solidFill>
                  <a:srgbClr val="DEEDF1">
                    <a:lumMod val="25000"/>
                  </a:srgbClr>
                </a:solidFill>
                <a:effectLst/>
                <a:uLnTx/>
                <a:uFillTx/>
                <a:ea typeface="+mn-ea"/>
                <a:cs typeface="+mn-cs"/>
              </a:rPr>
              <a:t>E2E Network Automation</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200" b="0" i="0" u="none" strike="noStrike" kern="0" cap="none" spc="0" normalizeH="0" baseline="0" noProof="0">
              <a:ln>
                <a:noFill/>
              </a:ln>
              <a:solidFill>
                <a:srgbClr val="DEEDF1">
                  <a:lumMod val="25000"/>
                </a:srgbClr>
              </a:solidFill>
              <a:effectLst/>
              <a:uLnTx/>
              <a:uFillTx/>
              <a:ea typeface="+mn-ea"/>
              <a:cs typeface="+mn-cs"/>
            </a:endParaRPr>
          </a:p>
        </p:txBody>
      </p:sp>
      <p:sp>
        <p:nvSpPr>
          <p:cNvPr id="12" name="Rectángulo 11">
            <a:extLst>
              <a:ext uri="{FF2B5EF4-FFF2-40B4-BE49-F238E27FC236}">
                <a16:creationId xmlns:a16="http://schemas.microsoft.com/office/drawing/2014/main" id="{4126A0F4-9F17-BAD2-9CED-52F51506D661}"/>
              </a:ext>
            </a:extLst>
          </p:cNvPr>
          <p:cNvSpPr/>
          <p:nvPr/>
        </p:nvSpPr>
        <p:spPr>
          <a:xfrm>
            <a:off x="10007602" y="3496614"/>
            <a:ext cx="1729698" cy="485834"/>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200" b="0" i="0" u="none" strike="noStrike" kern="0" cap="none" spc="0" normalizeH="0" baseline="0" noProof="0">
              <a:ln>
                <a:noFill/>
              </a:ln>
              <a:solidFill>
                <a:srgbClr val="DEEDF1">
                  <a:lumMod val="25000"/>
                </a:srgbClr>
              </a:solidFill>
              <a:effectLst/>
              <a:uLnTx/>
              <a:uFillTx/>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200" b="0" i="0" u="none" strike="noStrike" kern="0" cap="none" spc="0" normalizeH="0" baseline="0" noProof="0">
                <a:ln>
                  <a:noFill/>
                </a:ln>
                <a:solidFill>
                  <a:srgbClr val="DEEDF1">
                    <a:lumMod val="25000"/>
                  </a:srgbClr>
                </a:solidFill>
                <a:effectLst/>
                <a:uLnTx/>
                <a:uFillTx/>
                <a:ea typeface="+mn-ea"/>
                <a:cs typeface="+mn-cs"/>
              </a:rPr>
              <a:t>E2E Network Observability</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200" b="0" i="0" u="none" strike="noStrike" kern="0" cap="none" spc="0" normalizeH="0" baseline="0" noProof="0">
              <a:ln>
                <a:noFill/>
              </a:ln>
              <a:solidFill>
                <a:srgbClr val="DEEDF1">
                  <a:lumMod val="25000"/>
                </a:srgbClr>
              </a:solidFill>
              <a:effectLst/>
              <a:uLnTx/>
              <a:uFillTx/>
              <a:ea typeface="+mn-ea"/>
              <a:cs typeface="+mn-cs"/>
            </a:endParaRPr>
          </a:p>
        </p:txBody>
      </p:sp>
      <p:sp>
        <p:nvSpPr>
          <p:cNvPr id="13" name="Rectángulo 12">
            <a:extLst>
              <a:ext uri="{FF2B5EF4-FFF2-40B4-BE49-F238E27FC236}">
                <a16:creationId xmlns:a16="http://schemas.microsoft.com/office/drawing/2014/main" id="{E7E8EB5C-D4C5-18E8-EC51-EC14F6E4D31F}"/>
              </a:ext>
            </a:extLst>
          </p:cNvPr>
          <p:cNvSpPr/>
          <p:nvPr/>
        </p:nvSpPr>
        <p:spPr>
          <a:xfrm>
            <a:off x="4146486" y="4062697"/>
            <a:ext cx="1729699" cy="506068"/>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200" b="0" i="0" u="none" strike="noStrike" kern="0" cap="none" spc="0" normalizeH="0" baseline="0" noProof="0">
                <a:ln>
                  <a:noFill/>
                </a:ln>
                <a:solidFill>
                  <a:srgbClr val="DEEDF1">
                    <a:lumMod val="25000"/>
                  </a:srgbClr>
                </a:solidFill>
                <a:effectLst/>
                <a:uLnTx/>
                <a:uFillTx/>
                <a:ea typeface="+mn-ea"/>
                <a:cs typeface="+mn-cs"/>
              </a:rPr>
              <a:t>E2E Network Services</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200" b="0" i="0" u="none" strike="noStrike" kern="0" cap="none" spc="0" normalizeH="0" baseline="0" noProof="0">
              <a:ln>
                <a:noFill/>
              </a:ln>
              <a:solidFill>
                <a:srgbClr val="DEEDF1">
                  <a:lumMod val="25000"/>
                </a:srgbClr>
              </a:solidFill>
              <a:effectLst/>
              <a:uLnTx/>
              <a:uFillTx/>
              <a:ea typeface="+mn-ea"/>
              <a:cs typeface="+mn-cs"/>
            </a:endParaRPr>
          </a:p>
        </p:txBody>
      </p:sp>
      <p:sp>
        <p:nvSpPr>
          <p:cNvPr id="14" name="Rectángulo 13">
            <a:extLst>
              <a:ext uri="{FF2B5EF4-FFF2-40B4-BE49-F238E27FC236}">
                <a16:creationId xmlns:a16="http://schemas.microsoft.com/office/drawing/2014/main" id="{E6084412-1CA5-BE38-28F3-61CC88A82BAD}"/>
              </a:ext>
            </a:extLst>
          </p:cNvPr>
          <p:cNvSpPr/>
          <p:nvPr/>
        </p:nvSpPr>
        <p:spPr>
          <a:xfrm>
            <a:off x="6109808" y="4058129"/>
            <a:ext cx="1729699" cy="506068"/>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200" b="0" i="0" u="none" strike="noStrike" kern="0" cap="none" spc="0" normalizeH="0" baseline="0" noProof="0">
                <a:ln>
                  <a:noFill/>
                </a:ln>
                <a:solidFill>
                  <a:srgbClr val="DEEDF1">
                    <a:lumMod val="25000"/>
                  </a:srgbClr>
                </a:solidFill>
                <a:effectLst/>
                <a:uLnTx/>
                <a:uFillTx/>
                <a:ea typeface="+mn-ea"/>
                <a:cs typeface="+mn-cs"/>
              </a:rPr>
              <a:t>Global Services</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200" b="0" i="0" u="none" strike="noStrike" kern="0" cap="none" spc="0" normalizeH="0" baseline="0" noProof="0">
              <a:ln>
                <a:noFill/>
              </a:ln>
              <a:solidFill>
                <a:srgbClr val="DEEDF1">
                  <a:lumMod val="25000"/>
                </a:srgbClr>
              </a:solidFill>
              <a:effectLst/>
              <a:uLnTx/>
              <a:uFillTx/>
              <a:ea typeface="+mn-ea"/>
              <a:cs typeface="+mn-cs"/>
            </a:endParaRPr>
          </a:p>
        </p:txBody>
      </p:sp>
      <p:sp>
        <p:nvSpPr>
          <p:cNvPr id="15" name="Rectángulo 14">
            <a:extLst>
              <a:ext uri="{FF2B5EF4-FFF2-40B4-BE49-F238E27FC236}">
                <a16:creationId xmlns:a16="http://schemas.microsoft.com/office/drawing/2014/main" id="{709AEDCA-9A53-62F3-BB08-00A28644100E}"/>
              </a:ext>
            </a:extLst>
          </p:cNvPr>
          <p:cNvSpPr/>
          <p:nvPr/>
        </p:nvSpPr>
        <p:spPr>
          <a:xfrm>
            <a:off x="8020170" y="4079103"/>
            <a:ext cx="1729699" cy="506068"/>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200" b="0" i="0" u="none" strike="noStrike" kern="0" cap="none" spc="0" normalizeH="0" baseline="0" noProof="0">
                <a:ln>
                  <a:noFill/>
                </a:ln>
                <a:solidFill>
                  <a:srgbClr val="DEEDF1">
                    <a:lumMod val="25000"/>
                  </a:srgbClr>
                </a:solidFill>
                <a:effectLst/>
                <a:uLnTx/>
                <a:uFillTx/>
                <a:ea typeface="+mn-ea"/>
                <a:cs typeface="+mn-cs"/>
              </a:rPr>
              <a:t>Multimedia</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200" b="0" i="0" u="none" strike="noStrike" kern="0" cap="none" spc="0" normalizeH="0" baseline="0" noProof="0">
              <a:ln>
                <a:noFill/>
              </a:ln>
              <a:solidFill>
                <a:srgbClr val="DEEDF1">
                  <a:lumMod val="25000"/>
                </a:srgbClr>
              </a:solidFill>
              <a:effectLst/>
              <a:uLnTx/>
              <a:uFillTx/>
              <a:ea typeface="+mn-ea"/>
              <a:cs typeface="+mn-cs"/>
            </a:endParaRPr>
          </a:p>
        </p:txBody>
      </p:sp>
      <p:sp>
        <p:nvSpPr>
          <p:cNvPr id="16" name="Rectángulo 15">
            <a:extLst>
              <a:ext uri="{FF2B5EF4-FFF2-40B4-BE49-F238E27FC236}">
                <a16:creationId xmlns:a16="http://schemas.microsoft.com/office/drawing/2014/main" id="{48E02D7F-3332-B9DC-29DB-6DC8B25A9588}"/>
              </a:ext>
            </a:extLst>
          </p:cNvPr>
          <p:cNvSpPr/>
          <p:nvPr/>
        </p:nvSpPr>
        <p:spPr>
          <a:xfrm>
            <a:off x="10007602" y="4079103"/>
            <a:ext cx="1729699" cy="506068"/>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200" b="0" i="0" u="none" strike="noStrike" kern="0" cap="none" spc="0" normalizeH="0" baseline="0" noProof="0">
                <a:ln>
                  <a:noFill/>
                </a:ln>
                <a:solidFill>
                  <a:srgbClr val="DEEDF1">
                    <a:lumMod val="25000"/>
                  </a:srgbClr>
                </a:solidFill>
                <a:effectLst/>
                <a:uLnTx/>
                <a:uFillTx/>
                <a:ea typeface="+mn-ea"/>
                <a:cs typeface="+mn-cs"/>
              </a:rPr>
              <a:t>Public Cloud</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200" b="0" i="0" u="none" strike="noStrike" kern="0" cap="none" spc="0" normalizeH="0" baseline="0" noProof="0">
              <a:ln>
                <a:noFill/>
              </a:ln>
              <a:solidFill>
                <a:srgbClr val="DEEDF1">
                  <a:lumMod val="25000"/>
                </a:srgbClr>
              </a:solidFill>
              <a:effectLst/>
              <a:uLnTx/>
              <a:uFillTx/>
              <a:ea typeface="+mn-ea"/>
              <a:cs typeface="+mn-cs"/>
            </a:endParaRPr>
          </a:p>
        </p:txBody>
      </p:sp>
      <p:sp>
        <p:nvSpPr>
          <p:cNvPr id="18" name="Rectángulo 17">
            <a:extLst>
              <a:ext uri="{FF2B5EF4-FFF2-40B4-BE49-F238E27FC236}">
                <a16:creationId xmlns:a16="http://schemas.microsoft.com/office/drawing/2014/main" id="{8CAE872A-2DE4-2B9B-BD9A-D345E2B70E5B}"/>
              </a:ext>
            </a:extLst>
          </p:cNvPr>
          <p:cNvSpPr/>
          <p:nvPr/>
        </p:nvSpPr>
        <p:spPr>
          <a:xfrm>
            <a:off x="6733734" y="1653498"/>
            <a:ext cx="2521015" cy="912966"/>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ea typeface="+mn-ea"/>
                <a:cs typeface="+mn-cs"/>
              </a:rPr>
              <a:t>Azure landing zone v4</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400" b="0" i="0" u="none" strike="noStrike" kern="0" cap="none" spc="0" normalizeH="0" baseline="0" noProof="0">
              <a:ln>
                <a:noFill/>
              </a:ln>
              <a:solidFill>
                <a:srgbClr val="DEEDF1">
                  <a:lumMod val="25000"/>
                </a:srgbClr>
              </a:solidFill>
              <a:effectLst/>
              <a:uLnTx/>
              <a:uFillTx/>
              <a:ea typeface="+mn-ea"/>
              <a:cs typeface="+mn-cs"/>
            </a:endParaRPr>
          </a:p>
        </p:txBody>
      </p:sp>
      <p:sp>
        <p:nvSpPr>
          <p:cNvPr id="19" name="Rectángulo 18">
            <a:extLst>
              <a:ext uri="{FF2B5EF4-FFF2-40B4-BE49-F238E27FC236}">
                <a16:creationId xmlns:a16="http://schemas.microsoft.com/office/drawing/2014/main" id="{3BCD8A3B-FE12-48A5-A679-FB2B030ABA4B}"/>
              </a:ext>
            </a:extLst>
          </p:cNvPr>
          <p:cNvSpPr/>
          <p:nvPr/>
        </p:nvSpPr>
        <p:spPr>
          <a:xfrm>
            <a:off x="4136878" y="2635514"/>
            <a:ext cx="3633543" cy="757306"/>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ea typeface="+mn-ea"/>
                <a:cs typeface="+mn-cs"/>
              </a:rPr>
              <a:t>Backup /DR</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400" b="0" i="0" u="none" strike="noStrike" kern="0" cap="none" spc="0" normalizeH="0" baseline="0" noProof="0">
              <a:ln>
                <a:noFill/>
              </a:ln>
              <a:solidFill>
                <a:srgbClr val="DEEDF1">
                  <a:lumMod val="25000"/>
                </a:srgbClr>
              </a:solidFill>
              <a:effectLst/>
              <a:uLnTx/>
              <a:uFillTx/>
              <a:ea typeface="+mn-ea"/>
              <a:cs typeface="+mn-cs"/>
            </a:endParaRPr>
          </a:p>
        </p:txBody>
      </p:sp>
      <p:sp>
        <p:nvSpPr>
          <p:cNvPr id="22" name="Rectángulo 21">
            <a:extLst>
              <a:ext uri="{FF2B5EF4-FFF2-40B4-BE49-F238E27FC236}">
                <a16:creationId xmlns:a16="http://schemas.microsoft.com/office/drawing/2014/main" id="{3B853BEA-4B10-4639-C020-8FC0C4114665}"/>
              </a:ext>
            </a:extLst>
          </p:cNvPr>
          <p:cNvSpPr/>
          <p:nvPr/>
        </p:nvSpPr>
        <p:spPr>
          <a:xfrm>
            <a:off x="7889755" y="2635513"/>
            <a:ext cx="3847544" cy="733113"/>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ea typeface="+mn-ea"/>
                <a:cs typeface="+mn-cs"/>
              </a:rPr>
              <a:t>Middleware</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400" b="0" i="0" u="none" strike="noStrike" kern="0" cap="none" spc="0" normalizeH="0" baseline="0" noProof="0">
              <a:ln>
                <a:noFill/>
              </a:ln>
              <a:solidFill>
                <a:srgbClr val="DEEDF1">
                  <a:lumMod val="25000"/>
                </a:srgbClr>
              </a:solidFill>
              <a:effectLst/>
              <a:uLnTx/>
              <a:uFillTx/>
              <a:ea typeface="+mn-ea"/>
              <a:cs typeface="+mn-cs"/>
            </a:endParaRPr>
          </a:p>
        </p:txBody>
      </p:sp>
      <p:sp>
        <p:nvSpPr>
          <p:cNvPr id="23" name="Rectángulo 22">
            <a:extLst>
              <a:ext uri="{FF2B5EF4-FFF2-40B4-BE49-F238E27FC236}">
                <a16:creationId xmlns:a16="http://schemas.microsoft.com/office/drawing/2014/main" id="{3C52DDD2-7B00-1F2A-D5DB-55E109C81E62}"/>
              </a:ext>
            </a:extLst>
          </p:cNvPr>
          <p:cNvSpPr/>
          <p:nvPr/>
        </p:nvSpPr>
        <p:spPr>
          <a:xfrm>
            <a:off x="4133786" y="5260920"/>
            <a:ext cx="7603514" cy="378394"/>
          </a:xfrm>
          <a:prstGeom prst="rect">
            <a:avLst/>
          </a:prstGeom>
          <a:solidFill>
            <a:schemeClr val="bg1"/>
          </a:solidFill>
          <a:ln w="12700" cap="flat" cmpd="sng" algn="ctr">
            <a:solidFill>
              <a:schemeClr val="tx1">
                <a:lumMod val="50000"/>
                <a:lumOff val="50000"/>
              </a:schemeClr>
            </a:solidFill>
            <a:prstDash val="solid"/>
            <a:miter lim="800000"/>
          </a:ln>
          <a:effectLst/>
        </p:spPr>
        <p:txBody>
          <a:bodyPr lIns="0" rIns="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0" cap="none" spc="0" normalizeH="0" baseline="0" noProof="0">
                <a:ln>
                  <a:noFill/>
                </a:ln>
                <a:effectLst/>
                <a:uLnTx/>
                <a:uFillTx/>
                <a:latin typeface="Santander Text"/>
                <a:ea typeface="+mn-ea"/>
                <a:cs typeface="+mn-cs"/>
              </a:rPr>
              <a:t>IT Service Management (ITSM, CMDB, ITOM, APM, SPM, ITAM)</a:t>
            </a:r>
          </a:p>
        </p:txBody>
      </p:sp>
      <p:sp>
        <p:nvSpPr>
          <p:cNvPr id="25" name="Rectángulo 24">
            <a:extLst>
              <a:ext uri="{FF2B5EF4-FFF2-40B4-BE49-F238E27FC236}">
                <a16:creationId xmlns:a16="http://schemas.microsoft.com/office/drawing/2014/main" id="{CF01C3C9-2D42-BD2A-B119-E1763CF73258}"/>
              </a:ext>
            </a:extLst>
          </p:cNvPr>
          <p:cNvSpPr/>
          <p:nvPr/>
        </p:nvSpPr>
        <p:spPr>
          <a:xfrm>
            <a:off x="653511" y="5213919"/>
            <a:ext cx="3364034" cy="972294"/>
          </a:xfrm>
          <a:prstGeom prst="rect">
            <a:avLst/>
          </a:prstGeom>
          <a:solidFill>
            <a:srgbClr val="DEEDF1"/>
          </a:solidFill>
          <a:ln w="12700" cap="flat" cmpd="sng" algn="ctr">
            <a:no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AU" sz="1600" b="1" kern="0">
                <a:solidFill>
                  <a:srgbClr val="DEEDF1">
                    <a:lumMod val="25000"/>
                  </a:srgbClr>
                </a:solidFill>
                <a:latin typeface="Santander Text"/>
              </a:rPr>
              <a:t>4</a:t>
            </a:r>
            <a:r>
              <a:rPr kumimoji="0" lang="en-AU" sz="1600" b="1" i="0" u="none" strike="noStrike" kern="0" cap="none" spc="0" normalizeH="0" baseline="0" noProof="0">
                <a:ln>
                  <a:noFill/>
                </a:ln>
                <a:solidFill>
                  <a:srgbClr val="DEEDF1">
                    <a:lumMod val="25000"/>
                  </a:srgbClr>
                </a:solidFill>
                <a:effectLst/>
                <a:uLnTx/>
                <a:uFillTx/>
                <a:latin typeface="Santander Text"/>
                <a:ea typeface="+mn-ea"/>
                <a:cs typeface="+mn-cs"/>
              </a:rPr>
              <a:t> – </a:t>
            </a:r>
            <a:r>
              <a:rPr kumimoji="0" lang="es-ES" sz="1600" b="1" i="0" u="none" strike="noStrike" kern="0" cap="none" spc="0" normalizeH="0" baseline="0" noProof="0">
                <a:ln>
                  <a:noFill/>
                </a:ln>
                <a:solidFill>
                  <a:srgbClr val="DEEDF1">
                    <a:lumMod val="25000"/>
                  </a:srgbClr>
                </a:solidFill>
                <a:effectLst/>
                <a:uLnTx/>
                <a:uFillTx/>
                <a:latin typeface="Santander Text"/>
                <a:ea typeface="+mn-ea"/>
                <a:cs typeface="+mn-cs"/>
              </a:rPr>
              <a:t>Enterprise Service Management</a:t>
            </a:r>
            <a:endParaRPr kumimoji="0" lang="en-AU" sz="1200" b="0" i="1" u="none" strike="noStrike" kern="0" cap="none" spc="0" normalizeH="0" baseline="0" noProof="0">
              <a:ln>
                <a:noFill/>
              </a:ln>
              <a:solidFill>
                <a:srgbClr val="DEEDF1">
                  <a:lumMod val="25000"/>
                </a:srgbClr>
              </a:solidFill>
              <a:effectLst/>
              <a:uLnTx/>
              <a:uFillTx/>
              <a:latin typeface="Santander Text"/>
              <a:ea typeface="+mn-ea"/>
              <a:cs typeface="+mn-cs"/>
            </a:endParaRPr>
          </a:p>
        </p:txBody>
      </p:sp>
      <p:sp>
        <p:nvSpPr>
          <p:cNvPr id="6" name="Rectángulo 5">
            <a:extLst>
              <a:ext uri="{FF2B5EF4-FFF2-40B4-BE49-F238E27FC236}">
                <a16:creationId xmlns:a16="http://schemas.microsoft.com/office/drawing/2014/main" id="{79390A31-F0EB-3141-7F80-AE679BAB35C8}"/>
              </a:ext>
            </a:extLst>
          </p:cNvPr>
          <p:cNvSpPr/>
          <p:nvPr/>
        </p:nvSpPr>
        <p:spPr>
          <a:xfrm>
            <a:off x="4146484" y="5737687"/>
            <a:ext cx="2587251" cy="448526"/>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200" b="0" i="0" u="none" strike="noStrike" kern="0" cap="none" spc="0" normalizeH="0" baseline="0" noProof="0">
                <a:ln>
                  <a:noFill/>
                </a:ln>
                <a:solidFill>
                  <a:srgbClr val="DEEDF1">
                    <a:lumMod val="25000"/>
                  </a:srgbClr>
                </a:solidFill>
                <a:effectLst/>
                <a:uLnTx/>
                <a:uFillTx/>
                <a:ea typeface="+mn-ea"/>
                <a:cs typeface="+mn-cs"/>
              </a:rPr>
              <a:t>Software Asset Management (SAM)</a:t>
            </a:r>
          </a:p>
        </p:txBody>
      </p:sp>
      <p:sp>
        <p:nvSpPr>
          <p:cNvPr id="17" name="Rectángulo 16">
            <a:extLst>
              <a:ext uri="{FF2B5EF4-FFF2-40B4-BE49-F238E27FC236}">
                <a16:creationId xmlns:a16="http://schemas.microsoft.com/office/drawing/2014/main" id="{8FEB7C01-BD71-7E7C-7273-22BEB2E93FED}"/>
              </a:ext>
            </a:extLst>
          </p:cNvPr>
          <p:cNvSpPr/>
          <p:nvPr/>
        </p:nvSpPr>
        <p:spPr>
          <a:xfrm>
            <a:off x="6792007" y="5737687"/>
            <a:ext cx="2496965" cy="448526"/>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200" b="0" i="0" u="none" strike="noStrike" kern="0" cap="none" spc="0" normalizeH="0" baseline="0" noProof="0">
                <a:ln>
                  <a:noFill/>
                </a:ln>
                <a:solidFill>
                  <a:srgbClr val="DEEDF1">
                    <a:lumMod val="25000"/>
                  </a:srgbClr>
                </a:solidFill>
                <a:effectLst/>
                <a:uLnTx/>
                <a:uFillTx/>
                <a:ea typeface="+mn-ea"/>
                <a:cs typeface="+mn-cs"/>
              </a:rPr>
              <a:t>Business Apps</a:t>
            </a:r>
          </a:p>
        </p:txBody>
      </p:sp>
      <p:sp>
        <p:nvSpPr>
          <p:cNvPr id="26" name="Rectángulo 25">
            <a:extLst>
              <a:ext uri="{FF2B5EF4-FFF2-40B4-BE49-F238E27FC236}">
                <a16:creationId xmlns:a16="http://schemas.microsoft.com/office/drawing/2014/main" id="{5D81CB98-B9DD-54E9-2D87-412623665ED0}"/>
              </a:ext>
            </a:extLst>
          </p:cNvPr>
          <p:cNvSpPr/>
          <p:nvPr/>
        </p:nvSpPr>
        <p:spPr>
          <a:xfrm>
            <a:off x="9370992" y="5737687"/>
            <a:ext cx="2366308" cy="448526"/>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200" b="0" i="0" u="none" strike="noStrike" kern="0" cap="none" spc="0" normalizeH="0" baseline="0" noProof="0" err="1">
                <a:ln>
                  <a:noFill/>
                </a:ln>
                <a:solidFill>
                  <a:srgbClr val="DEEDF1">
                    <a:lumMod val="25000"/>
                  </a:srgbClr>
                </a:solidFill>
                <a:effectLst/>
                <a:uLnTx/>
                <a:uFillTx/>
                <a:ea typeface="+mn-ea"/>
                <a:cs typeface="+mn-cs"/>
              </a:rPr>
              <a:t>Informationals</a:t>
            </a:r>
            <a:endParaRPr kumimoji="0" lang="en-AU" sz="1200" b="0" i="0" u="none" strike="noStrike" kern="0" cap="none" spc="0" normalizeH="0" baseline="0" noProof="0">
              <a:ln>
                <a:noFill/>
              </a:ln>
              <a:solidFill>
                <a:srgbClr val="DEEDF1">
                  <a:lumMod val="25000"/>
                </a:srgbClr>
              </a:solidFill>
              <a:effectLst/>
              <a:uLnTx/>
              <a:uFillTx/>
              <a:ea typeface="+mn-ea"/>
              <a:cs typeface="+mn-cs"/>
            </a:endParaRPr>
          </a:p>
        </p:txBody>
      </p:sp>
    </p:spTree>
    <p:extLst>
      <p:ext uri="{BB962C8B-B14F-4D97-AF65-F5344CB8AC3E}">
        <p14:creationId xmlns:p14="http://schemas.microsoft.com/office/powerpoint/2010/main" val="3141600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E9059-A3A1-E411-64C7-D7746EF761BA}"/>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07E81C12-1768-2436-3A11-38D0FA3909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antander Text"/>
              <a:ea typeface="+mn-ea"/>
              <a:cs typeface="+mn-cs"/>
            </a:endParaRPr>
          </a:p>
        </p:txBody>
      </p:sp>
      <p:sp>
        <p:nvSpPr>
          <p:cNvPr id="5" name="CuadroTexto 7">
            <a:extLst>
              <a:ext uri="{FF2B5EF4-FFF2-40B4-BE49-F238E27FC236}">
                <a16:creationId xmlns:a16="http://schemas.microsoft.com/office/drawing/2014/main" id="{A707ED4A-99FF-0F3D-9CB1-BC25E0767201}"/>
              </a:ext>
            </a:extLst>
          </p:cNvPr>
          <p:cNvSpPr txBox="1"/>
          <p:nvPr/>
        </p:nvSpPr>
        <p:spPr>
          <a:xfrm>
            <a:off x="5031441" y="269074"/>
            <a:ext cx="6855759"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antander Text"/>
                <a:ea typeface="+mn-ea"/>
                <a:cs typeface="+mn-cs"/>
              </a:rPr>
              <a:t>- For Approval -   </a:t>
            </a:r>
          </a:p>
        </p:txBody>
      </p:sp>
      <p:sp>
        <p:nvSpPr>
          <p:cNvPr id="6" name="TextBox 7">
            <a:extLst>
              <a:ext uri="{FF2B5EF4-FFF2-40B4-BE49-F238E27FC236}">
                <a16:creationId xmlns:a16="http://schemas.microsoft.com/office/drawing/2014/main" id="{72CB0672-F2CE-2A4C-7C85-906A3BB8ADAB}"/>
              </a:ext>
            </a:extLst>
          </p:cNvPr>
          <p:cNvSpPr txBox="1"/>
          <p:nvPr/>
        </p:nvSpPr>
        <p:spPr>
          <a:xfrm>
            <a:off x="352212" y="2272064"/>
            <a:ext cx="6204461" cy="1631216"/>
          </a:xfrm>
          <a:prstGeom prst="rect">
            <a:avLst/>
          </a:prstGeom>
          <a:noFill/>
          <a:ln>
            <a:solidFill>
              <a:schemeClr val="bg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000" i="0" u="none" strike="noStrike" kern="1200" cap="none" spc="0" normalizeH="0" baseline="0" noProof="0">
                <a:ln>
                  <a:noFill/>
                </a:ln>
                <a:solidFill>
                  <a:srgbClr val="EC0000"/>
                </a:solidFill>
                <a:effectLst/>
                <a:uLnTx/>
                <a:uFillTx/>
                <a:latin typeface="Santander Text" panose="020B0504020201020104" pitchFamily="34" charset="0"/>
                <a:ea typeface="+mn-ea"/>
                <a:cs typeface="+mn-cs"/>
              </a:rPr>
              <a:t>Framework Structure. View by Domain</a:t>
            </a:r>
          </a:p>
        </p:txBody>
      </p:sp>
      <p:pic>
        <p:nvPicPr>
          <p:cNvPr id="18" name="Picture 17" descr="A picture containing colorfulness, light&#10;&#10;Description automatically generated">
            <a:extLst>
              <a:ext uri="{FF2B5EF4-FFF2-40B4-BE49-F238E27FC236}">
                <a16:creationId xmlns:a16="http://schemas.microsoft.com/office/drawing/2014/main" id="{2E385EF9-1E02-9D0D-9AAC-0B56552D4F05}"/>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3285" t="310" r="18620"/>
          <a:stretch/>
        </p:blipFill>
        <p:spPr>
          <a:xfrm>
            <a:off x="6662789" y="815147"/>
            <a:ext cx="5274095" cy="5090674"/>
          </a:xfrm>
          <a:prstGeom prst="rect">
            <a:avLst/>
          </a:prstGeom>
          <a:ln w="9525">
            <a:solidFill>
              <a:schemeClr val="tx1"/>
            </a:solidFill>
          </a:ln>
        </p:spPr>
      </p:pic>
      <p:sp>
        <p:nvSpPr>
          <p:cNvPr id="20" name="Rectangle 19">
            <a:extLst>
              <a:ext uri="{FF2B5EF4-FFF2-40B4-BE49-F238E27FC236}">
                <a16:creationId xmlns:a16="http://schemas.microsoft.com/office/drawing/2014/main" id="{F522B526-4B20-54A6-61F5-7B3607B08165}"/>
              </a:ext>
            </a:extLst>
          </p:cNvPr>
          <p:cNvSpPr/>
          <p:nvPr/>
        </p:nvSpPr>
        <p:spPr>
          <a:xfrm>
            <a:off x="5284381" y="136526"/>
            <a:ext cx="6831786" cy="65849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antander Text"/>
              <a:ea typeface="+mn-ea"/>
              <a:cs typeface="+mn-cs"/>
            </a:endParaRPr>
          </a:p>
        </p:txBody>
      </p:sp>
      <p:sp>
        <p:nvSpPr>
          <p:cNvPr id="21" name="Rectangle 20">
            <a:extLst>
              <a:ext uri="{FF2B5EF4-FFF2-40B4-BE49-F238E27FC236}">
                <a16:creationId xmlns:a16="http://schemas.microsoft.com/office/drawing/2014/main" id="{8A977848-5C34-F0DC-2B3B-2190BCE3A7C7}"/>
              </a:ext>
            </a:extLst>
          </p:cNvPr>
          <p:cNvSpPr/>
          <p:nvPr/>
        </p:nvSpPr>
        <p:spPr>
          <a:xfrm>
            <a:off x="5379227" y="136524"/>
            <a:ext cx="6663774" cy="6584950"/>
          </a:xfrm>
          <a:prstGeom prst="rect">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antander Text"/>
              <a:ea typeface="+mn-ea"/>
              <a:cs typeface="+mn-cs"/>
            </a:endParaRPr>
          </a:p>
        </p:txBody>
      </p:sp>
    </p:spTree>
    <p:extLst>
      <p:ext uri="{BB962C8B-B14F-4D97-AF65-F5344CB8AC3E}">
        <p14:creationId xmlns:p14="http://schemas.microsoft.com/office/powerpoint/2010/main" val="14411736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276AB0-FF87-AE32-4B46-778E0695CD9A}"/>
            </a:ext>
          </a:extLst>
        </p:cNvPr>
        <p:cNvGrpSpPr/>
        <p:nvPr/>
      </p:nvGrpSpPr>
      <p:grpSpPr>
        <a:xfrm>
          <a:off x="0" y="0"/>
          <a:ext cx="0" cy="0"/>
          <a:chOff x="0" y="0"/>
          <a:chExt cx="0" cy="0"/>
        </a:xfrm>
      </p:grpSpPr>
      <p:sp>
        <p:nvSpPr>
          <p:cNvPr id="93" name="Rectangle 2">
            <a:extLst>
              <a:ext uri="{FF2B5EF4-FFF2-40B4-BE49-F238E27FC236}">
                <a16:creationId xmlns:a16="http://schemas.microsoft.com/office/drawing/2014/main" id="{BA109C30-80AA-DEE4-4D8D-2B097CC273A5}"/>
              </a:ext>
            </a:extLst>
          </p:cNvPr>
          <p:cNvSpPr>
            <a:spLocks noChangeArrowheads="1"/>
          </p:cNvSpPr>
          <p:nvPr/>
        </p:nvSpPr>
        <p:spPr bwMode="auto">
          <a:xfrm>
            <a:off x="152400" y="2553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a:ln>
                <a:noFill/>
              </a:ln>
              <a:solidFill>
                <a:schemeClr val="tx1"/>
              </a:solidFill>
              <a:effectLst/>
              <a:latin typeface="Arial" panose="020B0604020202020204" pitchFamily="34" charset="0"/>
            </a:endParaRPr>
          </a:p>
        </p:txBody>
      </p:sp>
      <p:sp>
        <p:nvSpPr>
          <p:cNvPr id="176" name="Title 1">
            <a:extLst>
              <a:ext uri="{FF2B5EF4-FFF2-40B4-BE49-F238E27FC236}">
                <a16:creationId xmlns:a16="http://schemas.microsoft.com/office/drawing/2014/main" id="{86CB42D5-33AC-66C0-71C0-56567595C104}"/>
              </a:ext>
            </a:extLst>
          </p:cNvPr>
          <p:cNvSpPr>
            <a:spLocks noGrp="1"/>
          </p:cNvSpPr>
          <p:nvPr>
            <p:ph type="title"/>
          </p:nvPr>
        </p:nvSpPr>
        <p:spPr>
          <a:xfrm>
            <a:off x="711024" y="307364"/>
            <a:ext cx="10758733" cy="476278"/>
          </a:xfrm>
        </p:spPr>
        <p:txBody>
          <a:bodyPr/>
          <a:lstStyle/>
          <a:p>
            <a:r>
              <a:rPr lang="en-AU" dirty="0"/>
              <a:t>One Santander Platform| </a:t>
            </a:r>
            <a:r>
              <a:rPr lang="en-US" dirty="0">
                <a:solidFill>
                  <a:schemeClr val="bg1">
                    <a:lumMod val="75000"/>
                  </a:schemeClr>
                </a:solidFill>
              </a:rPr>
              <a:t>Domain map and priority domains</a:t>
            </a:r>
          </a:p>
        </p:txBody>
      </p:sp>
      <p:sp>
        <p:nvSpPr>
          <p:cNvPr id="92" name="Text Placeholder 2">
            <a:extLst>
              <a:ext uri="{FF2B5EF4-FFF2-40B4-BE49-F238E27FC236}">
                <a16:creationId xmlns:a16="http://schemas.microsoft.com/office/drawing/2014/main" id="{AA0EA338-BFB0-F920-7F89-B45B7D2FEF47}"/>
              </a:ext>
            </a:extLst>
          </p:cNvPr>
          <p:cNvSpPr>
            <a:spLocks noGrp="1"/>
          </p:cNvSpPr>
          <p:nvPr>
            <p:ph type="body" sz="quarter" idx="14"/>
          </p:nvPr>
        </p:nvSpPr>
        <p:spPr>
          <a:xfrm>
            <a:off x="938337" y="57073"/>
            <a:ext cx="6922898" cy="280214"/>
          </a:xfrm>
        </p:spPr>
        <p:txBody>
          <a:bodyPr/>
          <a:lstStyle/>
          <a:p>
            <a:r>
              <a:rPr lang="en-GB" b="0">
                <a:solidFill>
                  <a:schemeClr val="bg1">
                    <a:lumMod val="75000"/>
                  </a:schemeClr>
                </a:solidFill>
                <a:latin typeface="Santander Text" panose="020B0504020201020104" pitchFamily="34" charset="0"/>
              </a:rPr>
              <a:t>Platform Governance &amp; SD</a:t>
            </a:r>
          </a:p>
        </p:txBody>
      </p:sp>
      <p:grpSp>
        <p:nvGrpSpPr>
          <p:cNvPr id="6" name="Grupo 5">
            <a:extLst>
              <a:ext uri="{FF2B5EF4-FFF2-40B4-BE49-F238E27FC236}">
                <a16:creationId xmlns:a16="http://schemas.microsoft.com/office/drawing/2014/main" id="{78CD7CCF-A9F2-EEFF-E2F4-92172CC39703}"/>
              </a:ext>
            </a:extLst>
          </p:cNvPr>
          <p:cNvGrpSpPr/>
          <p:nvPr/>
        </p:nvGrpSpPr>
        <p:grpSpPr>
          <a:xfrm>
            <a:off x="711024" y="837006"/>
            <a:ext cx="10449471" cy="5183987"/>
            <a:chOff x="819120" y="1033933"/>
            <a:chExt cx="10449471" cy="5183987"/>
          </a:xfrm>
        </p:grpSpPr>
        <p:pic>
          <p:nvPicPr>
            <p:cNvPr id="2" name="Picture 2">
              <a:extLst>
                <a:ext uri="{FF2B5EF4-FFF2-40B4-BE49-F238E27FC236}">
                  <a16:creationId xmlns:a16="http://schemas.microsoft.com/office/drawing/2014/main" id="{EFF490D4-9A56-4EBB-D739-272D4AC3225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50" t="10053" r="7963" b="3741"/>
            <a:stretch>
              <a:fillRect/>
            </a:stretch>
          </p:blipFill>
          <p:spPr bwMode="auto">
            <a:xfrm>
              <a:off x="819120" y="1033933"/>
              <a:ext cx="10252181" cy="518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ángulo 2">
              <a:extLst>
                <a:ext uri="{FF2B5EF4-FFF2-40B4-BE49-F238E27FC236}">
                  <a16:creationId xmlns:a16="http://schemas.microsoft.com/office/drawing/2014/main" id="{FDE3552F-B90F-DAFC-1977-E34691CCD6D6}"/>
                </a:ext>
              </a:extLst>
            </p:cNvPr>
            <p:cNvSpPr/>
            <p:nvPr/>
          </p:nvSpPr>
          <p:spPr>
            <a:xfrm>
              <a:off x="1151180" y="5895071"/>
              <a:ext cx="995404" cy="3001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dirty="0">
                <a:solidFill>
                  <a:srgbClr val="FF0000"/>
                </a:solidFill>
              </a:endParaRPr>
            </a:p>
          </p:txBody>
        </p:sp>
        <p:sp>
          <p:nvSpPr>
            <p:cNvPr id="4" name="Rectángulo 3">
              <a:extLst>
                <a:ext uri="{FF2B5EF4-FFF2-40B4-BE49-F238E27FC236}">
                  <a16:creationId xmlns:a16="http://schemas.microsoft.com/office/drawing/2014/main" id="{7107D240-9A30-61CE-7E4B-E133DD3CFE26}"/>
                </a:ext>
              </a:extLst>
            </p:cNvPr>
            <p:cNvSpPr/>
            <p:nvPr/>
          </p:nvSpPr>
          <p:spPr>
            <a:xfrm>
              <a:off x="10323864" y="5845982"/>
              <a:ext cx="944727" cy="3001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dirty="0">
                <a:solidFill>
                  <a:srgbClr val="FF0000"/>
                </a:solidFill>
              </a:endParaRPr>
            </a:p>
          </p:txBody>
        </p:sp>
      </p:grpSp>
    </p:spTree>
    <p:extLst>
      <p:ext uri="{BB962C8B-B14F-4D97-AF65-F5344CB8AC3E}">
        <p14:creationId xmlns:p14="http://schemas.microsoft.com/office/powerpoint/2010/main" val="1284730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2C36C-0051-FE29-7F05-BE984E5B8538}"/>
            </a:ext>
          </a:extLst>
        </p:cNvPr>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D7717524-8FA0-1F80-C26E-4553CFD96215}"/>
              </a:ext>
            </a:extLst>
          </p:cNvPr>
          <p:cNvGraphicFramePr>
            <a:graphicFrameLocks noChangeAspect="1"/>
          </p:cNvGraphicFramePr>
          <p:nvPr>
            <p:custDataLst>
              <p:tags r:id="rId1"/>
            </p:custDataLst>
          </p:nvPr>
        </p:nvGraphicFramePr>
        <p:xfrm>
          <a:off x="12699" y="7837"/>
          <a:ext cx="1585" cy="1585"/>
        </p:xfrm>
        <a:graphic>
          <a:graphicData uri="http://schemas.openxmlformats.org/presentationml/2006/ole">
            <mc:AlternateContent xmlns:mc="http://schemas.openxmlformats.org/markup-compatibility/2006">
              <mc:Choice xmlns:v="urn:schemas-microsoft-com:vml" Requires="v">
                <p:oleObj name="Diapositiva de think-cell" r:id="rId4" imgW="473" imgH="473" progId="TCLayout.ActiveDocument.1">
                  <p:embed/>
                </p:oleObj>
              </mc:Choice>
              <mc:Fallback>
                <p:oleObj name="Diapositiva de think-cell" r:id="rId4" imgW="473" imgH="473" progId="TCLayout.ActiveDocument.1">
                  <p:embed/>
                  <p:pic>
                    <p:nvPicPr>
                      <p:cNvPr id="2" name="think-cell data - do not delete" hidden="1">
                        <a:extLst>
                          <a:ext uri="{FF2B5EF4-FFF2-40B4-BE49-F238E27FC236}">
                            <a16:creationId xmlns:a16="http://schemas.microsoft.com/office/drawing/2014/main" id="{D7717524-8FA0-1F80-C26E-4553CFD96215}"/>
                          </a:ext>
                        </a:extLst>
                      </p:cNvPr>
                      <p:cNvPicPr/>
                      <p:nvPr/>
                    </p:nvPicPr>
                    <p:blipFill>
                      <a:blip r:embed="rId5"/>
                      <a:stretch>
                        <a:fillRect/>
                      </a:stretch>
                    </p:blipFill>
                    <p:spPr>
                      <a:xfrm>
                        <a:off x="12699" y="7837"/>
                        <a:ext cx="1585" cy="1585"/>
                      </a:xfrm>
                      <a:prstGeom prst="rect">
                        <a:avLst/>
                      </a:prstGeom>
                    </p:spPr>
                  </p:pic>
                </p:oleObj>
              </mc:Fallback>
            </mc:AlternateContent>
          </a:graphicData>
        </a:graphic>
      </p:graphicFrame>
      <p:cxnSp>
        <p:nvCxnSpPr>
          <p:cNvPr id="5" name="Straight Connector 4">
            <a:extLst>
              <a:ext uri="{FF2B5EF4-FFF2-40B4-BE49-F238E27FC236}">
                <a16:creationId xmlns:a16="http://schemas.microsoft.com/office/drawing/2014/main" id="{B7473138-4F2E-C23B-5E3D-A591AAD6C67F}"/>
              </a:ext>
            </a:extLst>
          </p:cNvPr>
          <p:cNvCxnSpPr/>
          <p:nvPr/>
        </p:nvCxnSpPr>
        <p:spPr>
          <a:xfrm>
            <a:off x="11114" y="6251"/>
            <a:ext cx="912733" cy="0"/>
          </a:xfrm>
          <a:prstGeom prst="line">
            <a:avLst/>
          </a:prstGeom>
          <a:ln w="0" cap="flat" cmpd="sng" algn="ctr">
            <a:solidFill>
              <a:srgbClr val="FBFFFF"/>
            </a:solidFill>
            <a:prstDash val="solid"/>
            <a:miter lim="800000"/>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cxnSp>
        <p:nvCxnSpPr>
          <p:cNvPr id="3" name="Conector recto 2">
            <a:extLst>
              <a:ext uri="{FF2B5EF4-FFF2-40B4-BE49-F238E27FC236}">
                <a16:creationId xmlns:a16="http://schemas.microsoft.com/office/drawing/2014/main" id="{CFF928A5-35B7-680C-681E-54392AFF470C}"/>
              </a:ext>
            </a:extLst>
          </p:cNvPr>
          <p:cNvCxnSpPr/>
          <p:nvPr/>
        </p:nvCxnSpPr>
        <p:spPr>
          <a:xfrm>
            <a:off x="11114" y="6251"/>
            <a:ext cx="912733" cy="0"/>
          </a:xfrm>
          <a:prstGeom prst="line">
            <a:avLst/>
          </a:prstGeom>
          <a:ln w="0" cap="flat" cmpd="sng" algn="ctr">
            <a:solidFill>
              <a:srgbClr val="FBFFFF"/>
            </a:solidFill>
            <a:prstDash val="solid"/>
            <a:miter lim="800000"/>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191" name="object 5">
            <a:extLst>
              <a:ext uri="{FF2B5EF4-FFF2-40B4-BE49-F238E27FC236}">
                <a16:creationId xmlns:a16="http://schemas.microsoft.com/office/drawing/2014/main" id="{ACCC2A88-AB49-8E4D-2D2F-BAECA2CF5B70}"/>
              </a:ext>
            </a:extLst>
          </p:cNvPr>
          <p:cNvSpPr txBox="1">
            <a:spLocks/>
          </p:cNvSpPr>
          <p:nvPr/>
        </p:nvSpPr>
        <p:spPr>
          <a:xfrm>
            <a:off x="611793" y="285311"/>
            <a:ext cx="8016205" cy="316859"/>
          </a:xfrm>
          <a:prstGeom prst="rect">
            <a:avLst/>
          </a:prstGeom>
        </p:spPr>
        <p:txBody>
          <a:bodyPr vert="horz" wrap="square" lIns="0" tIns="12043" rIns="0" bIns="0" rtlCol="0" anchor="t">
            <a:spAutoFit/>
          </a:bodyPr>
          <a:lstStyle>
            <a:lvl1pPr algn="l" defTabSz="912754" rtl="0" eaLnBrk="1" latinLnBrk="0" hangingPunct="1">
              <a:lnSpc>
                <a:spcPct val="90000"/>
              </a:lnSpc>
              <a:spcBef>
                <a:spcPct val="0"/>
              </a:spcBef>
              <a:buNone/>
              <a:defRPr sz="2795" kern="1200">
                <a:solidFill>
                  <a:schemeClr val="accent1"/>
                </a:solidFill>
                <a:latin typeface="Santander Text" panose="020B0504020201020104" pitchFamily="34" charset="0"/>
                <a:ea typeface="+mj-ea"/>
                <a:cs typeface="+mj-cs"/>
              </a:defRPr>
            </a:lvl1pPr>
          </a:lstStyle>
          <a:p>
            <a:pPr marL="12677">
              <a:spcBef>
                <a:spcPts val="95"/>
              </a:spcBef>
            </a:pPr>
            <a:r>
              <a:rPr lang="en-AU" sz="2200" b="1" spc="-10">
                <a:solidFill>
                  <a:srgbClr val="EC0000"/>
                </a:solidFill>
              </a:rPr>
              <a:t>Santander</a:t>
            </a:r>
            <a:r>
              <a:rPr lang="en-AU" sz="2200" b="1" spc="-140">
                <a:solidFill>
                  <a:srgbClr val="EC0000"/>
                </a:solidFill>
              </a:rPr>
              <a:t> </a:t>
            </a:r>
            <a:r>
              <a:rPr lang="en-AU" sz="2200" b="1" spc="-20">
                <a:solidFill>
                  <a:srgbClr val="EC0000"/>
                </a:solidFill>
              </a:rPr>
              <a:t>Global</a:t>
            </a:r>
            <a:r>
              <a:rPr lang="en-AU" sz="2200" b="1" spc="-130">
                <a:solidFill>
                  <a:srgbClr val="EC0000"/>
                </a:solidFill>
              </a:rPr>
              <a:t> </a:t>
            </a:r>
            <a:r>
              <a:rPr lang="en-AU" sz="2200" b="1">
                <a:solidFill>
                  <a:srgbClr val="EC0000"/>
                </a:solidFill>
              </a:rPr>
              <a:t>Platform</a:t>
            </a:r>
            <a:r>
              <a:rPr lang="en-AU" sz="2200" b="1" spc="-105">
                <a:solidFill>
                  <a:srgbClr val="EC0000"/>
                </a:solidFill>
              </a:rPr>
              <a:t> </a:t>
            </a:r>
            <a:r>
              <a:rPr lang="en-AU" sz="2200" b="1">
                <a:solidFill>
                  <a:srgbClr val="EC0000"/>
                </a:solidFill>
              </a:rPr>
              <a:t>map</a:t>
            </a:r>
            <a:r>
              <a:rPr lang="en-AU" sz="2200" b="1" spc="-65">
                <a:solidFill>
                  <a:srgbClr val="EC0000"/>
                </a:solidFill>
              </a:rPr>
              <a:t> </a:t>
            </a:r>
            <a:r>
              <a:rPr lang="en-AU" sz="2200" b="1">
                <a:solidFill>
                  <a:srgbClr val="EC0000"/>
                </a:solidFill>
              </a:rPr>
              <a:t>aligned</a:t>
            </a:r>
            <a:r>
              <a:rPr lang="en-AU" sz="2200" b="1" spc="-55">
                <a:solidFill>
                  <a:srgbClr val="EC0000"/>
                </a:solidFill>
              </a:rPr>
              <a:t> </a:t>
            </a:r>
            <a:r>
              <a:rPr lang="en-AU" sz="2200" b="1">
                <a:solidFill>
                  <a:srgbClr val="EC0000"/>
                </a:solidFill>
              </a:rPr>
              <a:t>with</a:t>
            </a:r>
            <a:r>
              <a:rPr lang="en-AU" sz="2200" b="1" spc="-55">
                <a:solidFill>
                  <a:srgbClr val="EC0000"/>
                </a:solidFill>
              </a:rPr>
              <a:t> Agile </a:t>
            </a:r>
            <a:r>
              <a:rPr lang="en-AU" sz="2200" b="1" spc="-10">
                <a:solidFill>
                  <a:srgbClr val="EC0000"/>
                </a:solidFill>
              </a:rPr>
              <a:t>domains</a:t>
            </a:r>
          </a:p>
        </p:txBody>
      </p:sp>
      <p:sp>
        <p:nvSpPr>
          <p:cNvPr id="10" name="Text Placeholder 2">
            <a:extLst>
              <a:ext uri="{FF2B5EF4-FFF2-40B4-BE49-F238E27FC236}">
                <a16:creationId xmlns:a16="http://schemas.microsoft.com/office/drawing/2014/main" id="{E4C00A3D-992E-F611-CBDF-3337B8CD09DB}"/>
              </a:ext>
            </a:extLst>
          </p:cNvPr>
          <p:cNvSpPr>
            <a:spLocks noGrp="1"/>
          </p:cNvSpPr>
          <p:nvPr>
            <p:ph type="body" sz="quarter" idx="14"/>
          </p:nvPr>
        </p:nvSpPr>
        <p:spPr>
          <a:xfrm>
            <a:off x="938337" y="57073"/>
            <a:ext cx="6922898" cy="280214"/>
          </a:xfrm>
        </p:spPr>
        <p:txBody>
          <a:bodyPr/>
          <a:lstStyle/>
          <a:p>
            <a:r>
              <a:rPr lang="en-GB" b="0">
                <a:solidFill>
                  <a:schemeClr val="bg1">
                    <a:lumMod val="75000"/>
                  </a:schemeClr>
                </a:solidFill>
                <a:latin typeface="Santander Text" panose="020B0504020201020104" pitchFamily="34" charset="0"/>
              </a:rPr>
              <a:t>Platform Governance &amp; SD</a:t>
            </a:r>
          </a:p>
        </p:txBody>
      </p:sp>
      <p:pic>
        <p:nvPicPr>
          <p:cNvPr id="1026" name="Picture 2">
            <a:extLst>
              <a:ext uri="{FF2B5EF4-FFF2-40B4-BE49-F238E27FC236}">
                <a16:creationId xmlns:a16="http://schemas.microsoft.com/office/drawing/2014/main" id="{93F166E8-7BA2-FF7F-C66B-49F3657625BD}"/>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3048" t="8437"/>
          <a:stretch>
            <a:fillRect/>
          </a:stretch>
        </p:blipFill>
        <p:spPr bwMode="auto">
          <a:xfrm>
            <a:off x="611793" y="767637"/>
            <a:ext cx="10417216" cy="5805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140727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BCAFF-BD7A-B613-03EE-16BD6719223B}"/>
            </a:ext>
          </a:extLst>
        </p:cNvPr>
        <p:cNvGrpSpPr/>
        <p:nvPr/>
      </p:nvGrpSpPr>
      <p:grpSpPr>
        <a:xfrm>
          <a:off x="0" y="0"/>
          <a:ext cx="0" cy="0"/>
          <a:chOff x="0" y="0"/>
          <a:chExt cx="0" cy="0"/>
        </a:xfrm>
      </p:grpSpPr>
      <p:sp>
        <p:nvSpPr>
          <p:cNvPr id="113" name="Título 1">
            <a:extLst>
              <a:ext uri="{FF2B5EF4-FFF2-40B4-BE49-F238E27FC236}">
                <a16:creationId xmlns:a16="http://schemas.microsoft.com/office/drawing/2014/main" id="{C4876838-E0D7-3F23-E243-B2A117218351}"/>
              </a:ext>
            </a:extLst>
          </p:cNvPr>
          <p:cNvSpPr>
            <a:spLocks noGrp="1"/>
          </p:cNvSpPr>
          <p:nvPr>
            <p:ph type="title"/>
          </p:nvPr>
        </p:nvSpPr>
        <p:spPr>
          <a:xfrm>
            <a:off x="711024" y="641900"/>
            <a:ext cx="10758733" cy="445400"/>
          </a:xfrm>
        </p:spPr>
        <p:txBody>
          <a:bodyPr/>
          <a:lstStyle/>
          <a:p>
            <a:pPr>
              <a:defRPr/>
            </a:pPr>
            <a:r>
              <a:rPr kumimoji="0" lang="es-ES" sz="2800" b="1" i="0" u="none" strike="noStrike" kern="1200" cap="none" spc="0" normalizeH="0" baseline="0" noProof="0">
                <a:ln>
                  <a:noFill/>
                </a:ln>
                <a:solidFill>
                  <a:srgbClr val="EC0000"/>
                </a:solidFill>
                <a:effectLst/>
                <a:uLnTx/>
                <a:uFillTx/>
                <a:latin typeface="Santander Headline"/>
                <a:ea typeface="+mj-ea"/>
                <a:cs typeface="+mj-cs"/>
              </a:rPr>
              <a:t>DCB. </a:t>
            </a:r>
            <a:r>
              <a:rPr lang="en-AU">
                <a:solidFill>
                  <a:srgbClr val="BFBFBF"/>
                </a:solidFill>
                <a:latin typeface="Santander Headline"/>
              </a:rPr>
              <a:t>Zinia - Domain view</a:t>
            </a:r>
            <a:endParaRPr lang="en-US">
              <a:solidFill>
                <a:schemeClr val="bg1">
                  <a:lumMod val="75000"/>
                </a:schemeClr>
              </a:solidFill>
            </a:endParaRPr>
          </a:p>
        </p:txBody>
      </p:sp>
      <p:sp>
        <p:nvSpPr>
          <p:cNvPr id="15" name="Rectángulo 15">
            <a:extLst>
              <a:ext uri="{FF2B5EF4-FFF2-40B4-BE49-F238E27FC236}">
                <a16:creationId xmlns:a16="http://schemas.microsoft.com/office/drawing/2014/main" id="{A63B7236-8364-C82B-4D40-E92D7EA7D0A0}"/>
              </a:ext>
            </a:extLst>
          </p:cNvPr>
          <p:cNvSpPr/>
          <p:nvPr/>
        </p:nvSpPr>
        <p:spPr>
          <a:xfrm>
            <a:off x="4318803" y="1290710"/>
            <a:ext cx="7551328" cy="240476"/>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kern="0">
                <a:solidFill>
                  <a:prstClr val="white"/>
                </a:solidFill>
                <a:latin typeface="Santander Text" panose="020B0504020201020104" pitchFamily="34" charset="0"/>
              </a:rPr>
              <a:t>Modules</a:t>
            </a:r>
          </a:p>
        </p:txBody>
      </p:sp>
      <p:grpSp>
        <p:nvGrpSpPr>
          <p:cNvPr id="117" name="Group 116">
            <a:extLst>
              <a:ext uri="{FF2B5EF4-FFF2-40B4-BE49-F238E27FC236}">
                <a16:creationId xmlns:a16="http://schemas.microsoft.com/office/drawing/2014/main" id="{E19E42E1-04EA-4C72-C058-658E5E330F55}"/>
              </a:ext>
            </a:extLst>
          </p:cNvPr>
          <p:cNvGrpSpPr/>
          <p:nvPr/>
        </p:nvGrpSpPr>
        <p:grpSpPr>
          <a:xfrm>
            <a:off x="588547" y="1778423"/>
            <a:ext cx="11255114" cy="396000"/>
            <a:chOff x="434543" y="844755"/>
            <a:chExt cx="11255114" cy="396000"/>
          </a:xfrm>
        </p:grpSpPr>
        <p:sp>
          <p:nvSpPr>
            <p:cNvPr id="8" name="Rectángulo 9">
              <a:extLst>
                <a:ext uri="{FF2B5EF4-FFF2-40B4-BE49-F238E27FC236}">
                  <a16:creationId xmlns:a16="http://schemas.microsoft.com/office/drawing/2014/main" id="{DDFAA882-4C66-CB91-4F53-7C522C1C438D}"/>
                </a:ext>
              </a:extLst>
            </p:cNvPr>
            <p:cNvSpPr/>
            <p:nvPr/>
          </p:nvSpPr>
          <p:spPr>
            <a:xfrm>
              <a:off x="434543" y="844755"/>
              <a:ext cx="3619343" cy="396000"/>
            </a:xfrm>
            <a:prstGeom prst="rect">
              <a:avLst/>
            </a:prstGeom>
            <a:solidFill>
              <a:srgbClr val="DEEDF1"/>
            </a:solidFill>
            <a:ln w="12700" cap="flat" cmpd="sng" algn="ctr">
              <a:noFill/>
              <a:prstDash val="solid"/>
              <a:miter lim="800000"/>
            </a:ln>
            <a:effectLst/>
          </p:spPr>
          <p:txBody>
            <a:bodyPr lIns="72000" tIns="45720" rIns="36000" bIns="4572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55600" indent="-355600">
                <a:spcAft>
                  <a:spcPts val="300"/>
                </a:spcAft>
              </a:pPr>
              <a:r>
                <a:rPr lang="en-GB" sz="900" b="1" kern="0">
                  <a:solidFill>
                    <a:srgbClr val="DEEDF1">
                      <a:lumMod val="25000"/>
                    </a:srgbClr>
                  </a:solidFill>
                  <a:latin typeface="Santander Text"/>
                </a:rPr>
                <a:t>1 – </a:t>
              </a:r>
              <a:r>
                <a:rPr lang="en-GB" sz="900" b="1" kern="0">
                  <a:solidFill>
                    <a:srgbClr val="DEEDF1">
                      <a:lumMod val="25000"/>
                    </a:srgbClr>
                  </a:solidFill>
                  <a:ea typeface="+mn-lt"/>
                  <a:cs typeface="+mn-lt"/>
                </a:rPr>
                <a:t>Checkout &amp; Acquisition: </a:t>
              </a:r>
              <a:endParaRPr lang="es-ES" sz="900" b="1" u="sng" kern="0">
                <a:solidFill>
                  <a:srgbClr val="DEEDF1">
                    <a:lumMod val="25000"/>
                  </a:srgbClr>
                </a:solidFill>
                <a:ea typeface="+mn-lt"/>
                <a:cs typeface="+mn-lt"/>
              </a:endParaRPr>
            </a:p>
            <a:p>
              <a:pPr>
                <a:spcAft>
                  <a:spcPts val="300"/>
                </a:spcAft>
              </a:pPr>
              <a:r>
                <a:rPr lang="en-US" sz="800" i="1">
                  <a:solidFill>
                    <a:srgbClr val="DEEDF1">
                      <a:lumMod val="25000"/>
                    </a:srgbClr>
                  </a:solidFill>
                  <a:latin typeface="Santander Text"/>
                </a:rPr>
                <a:t>Relevant services for checkout / linkup processes</a:t>
              </a:r>
              <a:endParaRPr lang="en-GB" sz="800" i="1">
                <a:solidFill>
                  <a:srgbClr val="DEEDF1">
                    <a:lumMod val="25000"/>
                  </a:srgbClr>
                </a:solidFill>
                <a:latin typeface="Santander Text"/>
              </a:endParaRPr>
            </a:p>
          </p:txBody>
        </p:sp>
        <p:sp>
          <p:nvSpPr>
            <p:cNvPr id="22" name="Rectángulo 63">
              <a:extLst>
                <a:ext uri="{FF2B5EF4-FFF2-40B4-BE49-F238E27FC236}">
                  <a16:creationId xmlns:a16="http://schemas.microsoft.com/office/drawing/2014/main" id="{DF80E8CC-3EDB-BBAC-CF0A-F03E79BE7459}"/>
                </a:ext>
              </a:extLst>
            </p:cNvPr>
            <p:cNvSpPr>
              <a:spLocks/>
            </p:cNvSpPr>
            <p:nvPr/>
          </p:nvSpPr>
          <p:spPr>
            <a:xfrm>
              <a:off x="4178830" y="844755"/>
              <a:ext cx="1512000"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600"/>
                </a:spcAft>
              </a:pPr>
              <a:r>
                <a:rPr lang="es-ES" sz="1100" kern="0">
                  <a:solidFill>
                    <a:srgbClr val="053840"/>
                  </a:solidFill>
                </a:rPr>
                <a:t>Merchant Plugins</a:t>
              </a:r>
              <a:endParaRPr lang="en-US" sz="1100" kern="0">
                <a:solidFill>
                  <a:srgbClr val="053840"/>
                </a:solidFill>
              </a:endParaRPr>
            </a:p>
          </p:txBody>
        </p:sp>
        <p:sp>
          <p:nvSpPr>
            <p:cNvPr id="23" name="Rectángulo 64">
              <a:extLst>
                <a:ext uri="{FF2B5EF4-FFF2-40B4-BE49-F238E27FC236}">
                  <a16:creationId xmlns:a16="http://schemas.microsoft.com/office/drawing/2014/main" id="{A5C5320D-9DE6-23A5-828C-64B90938BA99}"/>
                </a:ext>
              </a:extLst>
            </p:cNvPr>
            <p:cNvSpPr>
              <a:spLocks/>
            </p:cNvSpPr>
            <p:nvPr/>
          </p:nvSpPr>
          <p:spPr>
            <a:xfrm>
              <a:off x="5733785" y="844755"/>
              <a:ext cx="1640320"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600"/>
                </a:spcAft>
              </a:pPr>
              <a:r>
                <a:rPr lang="es-ES" sz="1100" kern="0">
                  <a:solidFill>
                    <a:srgbClr val="053840"/>
                  </a:solidFill>
                </a:rPr>
                <a:t>Checkout Api Layer</a:t>
              </a:r>
              <a:endParaRPr lang="en-US"/>
            </a:p>
          </p:txBody>
        </p:sp>
        <p:sp>
          <p:nvSpPr>
            <p:cNvPr id="25" name="Rectángulo 66">
              <a:extLst>
                <a:ext uri="{FF2B5EF4-FFF2-40B4-BE49-F238E27FC236}">
                  <a16:creationId xmlns:a16="http://schemas.microsoft.com/office/drawing/2014/main" id="{6788AE6F-B0FA-103E-31D0-9DF30ECD5849}"/>
                </a:ext>
              </a:extLst>
            </p:cNvPr>
            <p:cNvSpPr/>
            <p:nvPr/>
          </p:nvSpPr>
          <p:spPr>
            <a:xfrm>
              <a:off x="10484235" y="844755"/>
              <a:ext cx="1205422" cy="396000"/>
            </a:xfrm>
            <a:prstGeom prst="rect">
              <a:avLst/>
            </a:prstGeom>
            <a:noFill/>
            <a:ln w="12700" cap="flat" cmpd="sng" algn="ctr">
              <a:solidFill>
                <a:srgbClr val="0070C0"/>
              </a:solidFill>
              <a:prstDash val="solid"/>
              <a:miter lim="800000"/>
            </a:ln>
            <a:effectLst/>
          </p:spPr>
          <p:txBody>
            <a:bodyPr lIns="72000" tIns="45720" rIns="72000" bIns="4572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kern="0">
                  <a:solidFill>
                    <a:srgbClr val="DEEDF1">
                      <a:lumMod val="25000"/>
                    </a:srgbClr>
                  </a:solidFill>
                  <a:latin typeface="Santander Text"/>
                </a:rPr>
                <a:t>Business Process Management </a:t>
              </a:r>
              <a:r>
                <a:rPr lang="en-GB" sz="1100" kern="0" baseline="30000">
                  <a:solidFill>
                    <a:srgbClr val="DEEDF1">
                      <a:lumMod val="25000"/>
                    </a:srgbClr>
                  </a:solidFill>
                </a:rPr>
                <a:t>(*)</a:t>
              </a:r>
              <a:endParaRPr lang="en-US" sz="1100" kern="0">
                <a:solidFill>
                  <a:srgbClr val="DEEDF1">
                    <a:lumMod val="25000"/>
                  </a:srgbClr>
                </a:solidFill>
                <a:latin typeface="Santander Text" panose="020B0504020201020104" pitchFamily="34" charset="0"/>
              </a:endParaRPr>
            </a:p>
          </p:txBody>
        </p:sp>
        <p:sp>
          <p:nvSpPr>
            <p:cNvPr id="26" name="Rectángulo 67">
              <a:extLst>
                <a:ext uri="{FF2B5EF4-FFF2-40B4-BE49-F238E27FC236}">
                  <a16:creationId xmlns:a16="http://schemas.microsoft.com/office/drawing/2014/main" id="{B17E1677-FAB1-D9F0-4474-4725030F418D}"/>
                </a:ext>
              </a:extLst>
            </p:cNvPr>
            <p:cNvSpPr/>
            <p:nvPr/>
          </p:nvSpPr>
          <p:spPr>
            <a:xfrm>
              <a:off x="7430503" y="844755"/>
              <a:ext cx="1277105" cy="396000"/>
            </a:xfrm>
            <a:prstGeom prst="rect">
              <a:avLst/>
            </a:prstGeom>
            <a:noFill/>
            <a:ln w="12700" cap="flat" cmpd="sng" algn="ctr">
              <a:solidFill>
                <a:srgbClr val="0070C0"/>
              </a:solidFill>
              <a:prstDash val="solid"/>
              <a:miter lim="800000"/>
            </a:ln>
            <a:effectLst/>
          </p:spPr>
          <p:txBody>
            <a:bodyPr lIns="72000" tIns="45720" rIns="72000" bIns="4572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a:rPr>
                <a:t>Risk &amp; Fraud</a:t>
              </a:r>
              <a:endParaRPr lang="en-GB" sz="1100" kern="0">
                <a:solidFill>
                  <a:srgbClr val="DEEDF1">
                    <a:lumMod val="25000"/>
                  </a:srgbClr>
                </a:solidFill>
                <a:latin typeface="Santander Text" panose="020B0504020201020104" pitchFamily="34" charset="0"/>
              </a:endParaRPr>
            </a:p>
          </p:txBody>
        </p:sp>
      </p:grpSp>
      <p:grpSp>
        <p:nvGrpSpPr>
          <p:cNvPr id="116" name="Group 115">
            <a:extLst>
              <a:ext uri="{FF2B5EF4-FFF2-40B4-BE49-F238E27FC236}">
                <a16:creationId xmlns:a16="http://schemas.microsoft.com/office/drawing/2014/main" id="{3977D155-F2BF-2EC6-A9D5-93F75861556B}"/>
              </a:ext>
            </a:extLst>
          </p:cNvPr>
          <p:cNvGrpSpPr/>
          <p:nvPr/>
        </p:nvGrpSpPr>
        <p:grpSpPr>
          <a:xfrm>
            <a:off x="588547" y="2646755"/>
            <a:ext cx="11237796" cy="398640"/>
            <a:chOff x="434543" y="1447602"/>
            <a:chExt cx="11237796" cy="398640"/>
          </a:xfrm>
        </p:grpSpPr>
        <p:sp>
          <p:nvSpPr>
            <p:cNvPr id="9" name="Rectángulo 10">
              <a:extLst>
                <a:ext uri="{FF2B5EF4-FFF2-40B4-BE49-F238E27FC236}">
                  <a16:creationId xmlns:a16="http://schemas.microsoft.com/office/drawing/2014/main" id="{E9E370D9-46EC-E02A-4126-B4104BE79F08}"/>
                </a:ext>
              </a:extLst>
            </p:cNvPr>
            <p:cNvSpPr/>
            <p:nvPr/>
          </p:nvSpPr>
          <p:spPr>
            <a:xfrm>
              <a:off x="434543" y="1447602"/>
              <a:ext cx="3619343" cy="396000"/>
            </a:xfrm>
            <a:prstGeom prst="rect">
              <a:avLst/>
            </a:prstGeom>
            <a:solidFill>
              <a:srgbClr val="DEEDF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45720" rIns="36000" bIns="45720"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55600" indent="-355600">
                <a:spcAft>
                  <a:spcPts val="300"/>
                </a:spcAft>
              </a:pPr>
              <a:r>
                <a:rPr lang="en-GB" sz="900" b="1">
                  <a:solidFill>
                    <a:srgbClr val="DEEDF1">
                      <a:lumMod val="25000"/>
                    </a:srgbClr>
                  </a:solidFill>
                  <a:latin typeface="Santander Text"/>
                </a:rPr>
                <a:t>2 – Zinia Front:</a:t>
              </a:r>
              <a:endParaRPr lang="es-ES" sz="900" b="1" u="sng">
                <a:solidFill>
                  <a:srgbClr val="DEEDF1">
                    <a:lumMod val="25000"/>
                  </a:srgbClr>
                </a:solidFill>
                <a:ea typeface="+mn-lt"/>
                <a:cs typeface="+mn-lt"/>
              </a:endParaRPr>
            </a:p>
            <a:p>
              <a:r>
                <a:rPr lang="en-US" sz="800" i="1">
                  <a:solidFill>
                    <a:srgbClr val="DEEDF1">
                      <a:lumMod val="25000"/>
                    </a:srgbClr>
                  </a:solidFill>
                  <a:latin typeface="Santander Text"/>
                </a:rPr>
                <a:t>Digital Channels for customers and merchants</a:t>
              </a:r>
              <a:endParaRPr lang="en-GB" sz="800">
                <a:solidFill>
                  <a:srgbClr val="000000"/>
                </a:solidFill>
                <a:latin typeface="Santander Text"/>
              </a:endParaRPr>
            </a:p>
          </p:txBody>
        </p:sp>
        <p:sp>
          <p:nvSpPr>
            <p:cNvPr id="28" name="Rectángulo 68">
              <a:extLst>
                <a:ext uri="{FF2B5EF4-FFF2-40B4-BE49-F238E27FC236}">
                  <a16:creationId xmlns:a16="http://schemas.microsoft.com/office/drawing/2014/main" id="{11285FEE-3B10-25BB-B164-523D41DE94E9}"/>
                </a:ext>
              </a:extLst>
            </p:cNvPr>
            <p:cNvSpPr/>
            <p:nvPr/>
          </p:nvSpPr>
          <p:spPr>
            <a:xfrm>
              <a:off x="5461450" y="1447602"/>
              <a:ext cx="869862"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a:rPr>
                <a:t>Customer Front</a:t>
              </a:r>
              <a:endParaRPr lang="en-GB" sz="1100" kern="0">
                <a:solidFill>
                  <a:srgbClr val="DEEDF1">
                    <a:lumMod val="25000"/>
                  </a:srgbClr>
                </a:solidFill>
                <a:latin typeface="Santander Text" panose="020B0504020201020104" pitchFamily="34" charset="0"/>
              </a:endParaRPr>
            </a:p>
          </p:txBody>
        </p:sp>
        <p:sp>
          <p:nvSpPr>
            <p:cNvPr id="32" name="Rectángulo 69">
              <a:extLst>
                <a:ext uri="{FF2B5EF4-FFF2-40B4-BE49-F238E27FC236}">
                  <a16:creationId xmlns:a16="http://schemas.microsoft.com/office/drawing/2014/main" id="{CE29633C-08E4-2CDE-3F85-8D91C840587C}"/>
                </a:ext>
              </a:extLst>
            </p:cNvPr>
            <p:cNvSpPr/>
            <p:nvPr/>
          </p:nvSpPr>
          <p:spPr>
            <a:xfrm>
              <a:off x="6367882" y="1447602"/>
              <a:ext cx="869862"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224751"/>
                  </a:solidFill>
                </a:rPr>
                <a:t>Cobranded Front</a:t>
              </a:r>
            </a:p>
          </p:txBody>
        </p:sp>
        <p:sp>
          <p:nvSpPr>
            <p:cNvPr id="33" name="Rectángulo 70">
              <a:extLst>
                <a:ext uri="{FF2B5EF4-FFF2-40B4-BE49-F238E27FC236}">
                  <a16:creationId xmlns:a16="http://schemas.microsoft.com/office/drawing/2014/main" id="{832079AA-FE1B-0D58-4243-6B6326D36A60}"/>
                </a:ext>
              </a:extLst>
            </p:cNvPr>
            <p:cNvSpPr/>
            <p:nvPr/>
          </p:nvSpPr>
          <p:spPr>
            <a:xfrm>
              <a:off x="7265371" y="1447602"/>
              <a:ext cx="1018757"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224751"/>
                  </a:solidFill>
                </a:rPr>
                <a:t>Merchant /  </a:t>
              </a:r>
            </a:p>
            <a:p>
              <a:pPr algn="ctr"/>
              <a:r>
                <a:rPr lang="en-GB" sz="1100" kern="0">
                  <a:solidFill>
                    <a:srgbClr val="224751"/>
                  </a:solidFill>
                </a:rPr>
                <a:t>Ops Portal</a:t>
              </a:r>
            </a:p>
          </p:txBody>
        </p:sp>
        <p:sp>
          <p:nvSpPr>
            <p:cNvPr id="34" name="Rectángulo 71">
              <a:extLst>
                <a:ext uri="{FF2B5EF4-FFF2-40B4-BE49-F238E27FC236}">
                  <a16:creationId xmlns:a16="http://schemas.microsoft.com/office/drawing/2014/main" id="{027ABA9C-2E9D-34A9-231C-B056F38BC770}"/>
                </a:ext>
              </a:extLst>
            </p:cNvPr>
            <p:cNvSpPr/>
            <p:nvPr/>
          </p:nvSpPr>
          <p:spPr>
            <a:xfrm>
              <a:off x="10758618" y="1450242"/>
              <a:ext cx="913721"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a:rPr>
                <a:t>Assisted Channels</a:t>
              </a:r>
              <a:endParaRPr lang="en-GB" sz="1100" kern="0">
                <a:solidFill>
                  <a:srgbClr val="DEEDF1">
                    <a:lumMod val="25000"/>
                  </a:srgbClr>
                </a:solidFill>
                <a:latin typeface="Santander Text" panose="020B0504020201020104" pitchFamily="34" charset="0"/>
              </a:endParaRPr>
            </a:p>
          </p:txBody>
        </p:sp>
        <p:sp>
          <p:nvSpPr>
            <p:cNvPr id="35" name="Rectángulo 72">
              <a:extLst>
                <a:ext uri="{FF2B5EF4-FFF2-40B4-BE49-F238E27FC236}">
                  <a16:creationId xmlns:a16="http://schemas.microsoft.com/office/drawing/2014/main" id="{BD629F82-1EC1-75F6-3F6E-1B092D0D1DB0}"/>
                </a:ext>
              </a:extLst>
            </p:cNvPr>
            <p:cNvSpPr/>
            <p:nvPr/>
          </p:nvSpPr>
          <p:spPr>
            <a:xfrm>
              <a:off x="8304903" y="1447602"/>
              <a:ext cx="973049"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224751"/>
                  </a:solidFill>
                  <a:latin typeface="Santander Text"/>
                </a:rPr>
                <a:t>Public Site</a:t>
              </a:r>
              <a:endParaRPr lang="en-GB" sz="1100" kern="0">
                <a:solidFill>
                  <a:srgbClr val="224751"/>
                </a:solidFill>
                <a:latin typeface="Santander Text" panose="020B0504020201020104" pitchFamily="34" charset="0"/>
              </a:endParaRPr>
            </a:p>
          </p:txBody>
        </p:sp>
        <p:sp>
          <p:nvSpPr>
            <p:cNvPr id="37" name="Rectángulo 75">
              <a:extLst>
                <a:ext uri="{FF2B5EF4-FFF2-40B4-BE49-F238E27FC236}">
                  <a16:creationId xmlns:a16="http://schemas.microsoft.com/office/drawing/2014/main" id="{BDD4667C-1B50-DFFC-C990-ED195E4F5765}"/>
                </a:ext>
              </a:extLst>
            </p:cNvPr>
            <p:cNvSpPr/>
            <p:nvPr/>
          </p:nvSpPr>
          <p:spPr>
            <a:xfrm>
              <a:off x="9306590" y="1447602"/>
              <a:ext cx="1423390"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a:rPr>
                <a:t>Campaign / </a:t>
              </a:r>
            </a:p>
            <a:p>
              <a:pPr algn="ctr"/>
              <a:r>
                <a:rPr lang="en-GB" sz="1100" kern="0">
                  <a:solidFill>
                    <a:srgbClr val="DEEDF1">
                      <a:lumMod val="25000"/>
                    </a:srgbClr>
                  </a:solidFill>
                  <a:latin typeface="Santander Text"/>
                </a:rPr>
                <a:t>Cross Products</a:t>
              </a:r>
              <a:r>
                <a:rPr lang="en-GB" sz="1100" kern="0" baseline="30000">
                  <a:solidFill>
                    <a:srgbClr val="DEEDF1">
                      <a:lumMod val="25000"/>
                    </a:srgbClr>
                  </a:solidFill>
                  <a:latin typeface="Santander Text"/>
                </a:rPr>
                <a:t> (*)</a:t>
              </a:r>
              <a:endParaRPr lang="en-US" baseline="30000"/>
            </a:p>
          </p:txBody>
        </p:sp>
      </p:grpSp>
      <p:grpSp>
        <p:nvGrpSpPr>
          <p:cNvPr id="110" name="Group 109">
            <a:extLst>
              <a:ext uri="{FF2B5EF4-FFF2-40B4-BE49-F238E27FC236}">
                <a16:creationId xmlns:a16="http://schemas.microsoft.com/office/drawing/2014/main" id="{A06DD0F2-9C45-EE69-5391-AF8C355E06F6}"/>
              </a:ext>
            </a:extLst>
          </p:cNvPr>
          <p:cNvGrpSpPr/>
          <p:nvPr/>
        </p:nvGrpSpPr>
        <p:grpSpPr>
          <a:xfrm>
            <a:off x="588547" y="4299156"/>
            <a:ext cx="11249591" cy="400763"/>
            <a:chOff x="434543" y="2683160"/>
            <a:chExt cx="11249591" cy="400763"/>
          </a:xfrm>
        </p:grpSpPr>
        <p:sp>
          <p:nvSpPr>
            <p:cNvPr id="7" name="Rectángulo 8">
              <a:extLst>
                <a:ext uri="{FF2B5EF4-FFF2-40B4-BE49-F238E27FC236}">
                  <a16:creationId xmlns:a16="http://schemas.microsoft.com/office/drawing/2014/main" id="{8E0A4247-C978-03A3-ECB4-286590D5925C}"/>
                </a:ext>
              </a:extLst>
            </p:cNvPr>
            <p:cNvSpPr/>
            <p:nvPr/>
          </p:nvSpPr>
          <p:spPr>
            <a:xfrm>
              <a:off x="434543" y="2687923"/>
              <a:ext cx="3619343" cy="396000"/>
            </a:xfrm>
            <a:prstGeom prst="rect">
              <a:avLst/>
            </a:prstGeom>
            <a:solidFill>
              <a:srgbClr val="DEEDF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45720" rIns="36000" bIns="45720"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55600" indent="-355600">
                <a:spcAft>
                  <a:spcPts val="300"/>
                </a:spcAft>
              </a:pPr>
              <a:r>
                <a:rPr lang="en-GB" sz="900" b="1">
                  <a:solidFill>
                    <a:srgbClr val="DEEDF1">
                      <a:lumMod val="25000"/>
                    </a:srgbClr>
                  </a:solidFill>
                  <a:latin typeface="Santander Text"/>
                </a:rPr>
                <a:t>4 –Payment Gateways:</a:t>
              </a:r>
              <a:endParaRPr lang="en-GB" sz="900" b="1">
                <a:solidFill>
                  <a:srgbClr val="DEEDF1">
                    <a:lumMod val="25000"/>
                  </a:srgbClr>
                </a:solidFill>
                <a:latin typeface="Santander Text" panose="020B0504020201020104" pitchFamily="34" charset="0"/>
              </a:endParaRPr>
            </a:p>
            <a:p>
              <a:r>
                <a:rPr lang="en-GB" sz="800" i="1">
                  <a:solidFill>
                    <a:srgbClr val="DEEDF1">
                      <a:lumMod val="25000"/>
                    </a:srgbClr>
                  </a:solidFill>
                  <a:latin typeface="Santander Text"/>
                </a:rPr>
                <a:t>Adaptors processing payments</a:t>
              </a:r>
              <a:endParaRPr lang="en-GB" sz="800">
                <a:solidFill>
                  <a:srgbClr val="000000"/>
                </a:solidFill>
              </a:endParaRPr>
            </a:p>
          </p:txBody>
        </p:sp>
        <p:sp>
          <p:nvSpPr>
            <p:cNvPr id="53" name="Rectángulo 117">
              <a:extLst>
                <a:ext uri="{FF2B5EF4-FFF2-40B4-BE49-F238E27FC236}">
                  <a16:creationId xmlns:a16="http://schemas.microsoft.com/office/drawing/2014/main" id="{624227B4-F0C2-D21F-8CCC-435BEBA41A4F}"/>
                </a:ext>
              </a:extLst>
            </p:cNvPr>
            <p:cNvSpPr/>
            <p:nvPr/>
          </p:nvSpPr>
          <p:spPr>
            <a:xfrm>
              <a:off x="4192492" y="2687923"/>
              <a:ext cx="1381951"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a:rPr>
                <a:t>Payment Processing Integration</a:t>
              </a:r>
              <a:endParaRPr lang="en-GB" sz="1100" kern="0">
                <a:solidFill>
                  <a:srgbClr val="DEEDF1">
                    <a:lumMod val="25000"/>
                  </a:srgbClr>
                </a:solidFill>
                <a:latin typeface="Santander Text" panose="020B0504020201020104" pitchFamily="34" charset="0"/>
              </a:endParaRPr>
            </a:p>
          </p:txBody>
        </p:sp>
        <p:sp>
          <p:nvSpPr>
            <p:cNvPr id="54" name="Rectángulo 118">
              <a:extLst>
                <a:ext uri="{FF2B5EF4-FFF2-40B4-BE49-F238E27FC236}">
                  <a16:creationId xmlns:a16="http://schemas.microsoft.com/office/drawing/2014/main" id="{4ED3DF3D-BC86-CF0B-A7A8-1B5FB5E33CA9}"/>
                </a:ext>
              </a:extLst>
            </p:cNvPr>
            <p:cNvSpPr/>
            <p:nvPr/>
          </p:nvSpPr>
          <p:spPr>
            <a:xfrm>
              <a:off x="5616138" y="2687923"/>
              <a:ext cx="812188"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a:rPr>
                <a:t>Pay Now</a:t>
              </a:r>
              <a:endParaRPr lang="en-GB" sz="1100" kern="0">
                <a:solidFill>
                  <a:srgbClr val="224751"/>
                </a:solidFill>
              </a:endParaRPr>
            </a:p>
          </p:txBody>
        </p:sp>
        <p:sp>
          <p:nvSpPr>
            <p:cNvPr id="55" name="Rectángulo 119">
              <a:extLst>
                <a:ext uri="{FF2B5EF4-FFF2-40B4-BE49-F238E27FC236}">
                  <a16:creationId xmlns:a16="http://schemas.microsoft.com/office/drawing/2014/main" id="{312A38FB-7144-E758-D719-635BC7234F35}"/>
                </a:ext>
              </a:extLst>
            </p:cNvPr>
            <p:cNvSpPr/>
            <p:nvPr/>
          </p:nvSpPr>
          <p:spPr>
            <a:xfrm>
              <a:off x="6471373" y="2687923"/>
              <a:ext cx="1116000"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kern="0">
                  <a:solidFill>
                    <a:srgbClr val="DEEDF1">
                      <a:lumMod val="25000"/>
                    </a:srgbClr>
                  </a:solidFill>
                </a:rPr>
                <a:t>PSD2 Payments</a:t>
              </a:r>
              <a:endParaRPr lang="en-US" sz="1100"/>
            </a:p>
          </p:txBody>
        </p:sp>
        <p:sp>
          <p:nvSpPr>
            <p:cNvPr id="56" name="Rectángulo 120">
              <a:extLst>
                <a:ext uri="{FF2B5EF4-FFF2-40B4-BE49-F238E27FC236}">
                  <a16:creationId xmlns:a16="http://schemas.microsoft.com/office/drawing/2014/main" id="{2C6495D3-2782-4F23-7B2C-10F64CD8330B}"/>
                </a:ext>
              </a:extLst>
            </p:cNvPr>
            <p:cNvSpPr/>
            <p:nvPr/>
          </p:nvSpPr>
          <p:spPr>
            <a:xfrm>
              <a:off x="10871946" y="2683160"/>
              <a:ext cx="812188"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a:rPr>
                <a:t>Insurance </a:t>
              </a:r>
              <a:r>
                <a:rPr lang="en-GB" sz="1100" kern="0" baseline="30000">
                  <a:solidFill>
                    <a:srgbClr val="DEEDF1">
                      <a:lumMod val="25000"/>
                    </a:srgbClr>
                  </a:solidFill>
                </a:rPr>
                <a:t>(*)</a:t>
              </a:r>
              <a:r>
                <a:rPr lang="en-GB" sz="1100" kern="0">
                  <a:solidFill>
                    <a:srgbClr val="DEEDF1">
                      <a:lumMod val="25000"/>
                    </a:srgbClr>
                  </a:solidFill>
                  <a:latin typeface="Santander Text"/>
                </a:rPr>
                <a:t> </a:t>
              </a:r>
              <a:endParaRPr lang="en-US"/>
            </a:p>
          </p:txBody>
        </p:sp>
        <p:sp>
          <p:nvSpPr>
            <p:cNvPr id="57" name="Rectángulo 121">
              <a:extLst>
                <a:ext uri="{FF2B5EF4-FFF2-40B4-BE49-F238E27FC236}">
                  <a16:creationId xmlns:a16="http://schemas.microsoft.com/office/drawing/2014/main" id="{B6C0BBC8-97AA-5698-661C-925F93CF75D6}"/>
                </a:ext>
              </a:extLst>
            </p:cNvPr>
            <p:cNvSpPr/>
            <p:nvPr/>
          </p:nvSpPr>
          <p:spPr>
            <a:xfrm>
              <a:off x="8708760" y="2687923"/>
              <a:ext cx="1044000"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kern="0">
                  <a:solidFill>
                    <a:srgbClr val="DEEDF1">
                      <a:lumMod val="25000"/>
                    </a:srgbClr>
                  </a:solidFill>
                </a:rPr>
                <a:t>Bank Transfer Payments</a:t>
              </a:r>
            </a:p>
          </p:txBody>
        </p:sp>
      </p:grpSp>
      <p:sp>
        <p:nvSpPr>
          <p:cNvPr id="6" name="Rectángulo 7">
            <a:extLst>
              <a:ext uri="{FF2B5EF4-FFF2-40B4-BE49-F238E27FC236}">
                <a16:creationId xmlns:a16="http://schemas.microsoft.com/office/drawing/2014/main" id="{12681277-E919-7CBE-2C44-9470812E178B}"/>
              </a:ext>
            </a:extLst>
          </p:cNvPr>
          <p:cNvSpPr/>
          <p:nvPr/>
        </p:nvSpPr>
        <p:spPr>
          <a:xfrm>
            <a:off x="588547" y="3483290"/>
            <a:ext cx="3619343" cy="396000"/>
          </a:xfrm>
          <a:prstGeom prst="rect">
            <a:avLst/>
          </a:prstGeom>
          <a:solidFill>
            <a:srgbClr val="DEEDF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45720" rIns="36000" bIns="45720"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55600" indent="-355600">
              <a:spcAft>
                <a:spcPts val="300"/>
              </a:spcAft>
            </a:pPr>
            <a:r>
              <a:rPr lang="en-GB" sz="900" b="1">
                <a:solidFill>
                  <a:srgbClr val="DEEDF1">
                    <a:lumMod val="25000"/>
                  </a:srgbClr>
                </a:solidFill>
                <a:latin typeface="Santander Text"/>
              </a:rPr>
              <a:t>3 – Core Processing:</a:t>
            </a:r>
            <a:endParaRPr lang="en-GB" sz="900" b="1">
              <a:solidFill>
                <a:srgbClr val="DEEDF1">
                  <a:lumMod val="25000"/>
                </a:srgbClr>
              </a:solidFill>
              <a:latin typeface="Santander Text" panose="020B0504020201020104" pitchFamily="34" charset="0"/>
            </a:endParaRPr>
          </a:p>
          <a:p>
            <a:r>
              <a:rPr lang="en-GB" sz="800" i="1">
                <a:solidFill>
                  <a:srgbClr val="DEEDF1">
                    <a:lumMod val="25000"/>
                  </a:srgbClr>
                </a:solidFill>
                <a:latin typeface="Santander Text"/>
              </a:rPr>
              <a:t>Order and Transaction manager</a:t>
            </a:r>
            <a:endParaRPr lang="en-GB" sz="800">
              <a:solidFill>
                <a:srgbClr val="000000"/>
              </a:solidFill>
              <a:latin typeface="Santander Text" panose="020B0504020201020104" pitchFamily="34" charset="0"/>
            </a:endParaRPr>
          </a:p>
        </p:txBody>
      </p:sp>
      <p:sp>
        <p:nvSpPr>
          <p:cNvPr id="98" name="Rectángulo 24">
            <a:extLst>
              <a:ext uri="{FF2B5EF4-FFF2-40B4-BE49-F238E27FC236}">
                <a16:creationId xmlns:a16="http://schemas.microsoft.com/office/drawing/2014/main" id="{F91B7162-4031-DC14-CBCA-74680D7ACAD6}"/>
              </a:ext>
            </a:extLst>
          </p:cNvPr>
          <p:cNvSpPr/>
          <p:nvPr/>
        </p:nvSpPr>
        <p:spPr>
          <a:xfrm>
            <a:off x="6237381" y="3483290"/>
            <a:ext cx="1260000" cy="396000"/>
          </a:xfrm>
          <a:prstGeom prst="rect">
            <a:avLst/>
          </a:prstGeom>
          <a:noFill/>
          <a:ln w="12700" cap="flat" cmpd="sng" algn="ctr">
            <a:solidFill>
              <a:srgbClr val="0070C0"/>
            </a:solidFill>
            <a:prstDash val="solid"/>
            <a:miter lim="800000"/>
          </a:ln>
          <a:effectLst/>
        </p:spPr>
        <p:txBody>
          <a:bodyPr lIns="72000" tIns="45720" rIns="72000" bIns="4572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600"/>
              </a:spcAft>
            </a:pPr>
            <a:r>
              <a:rPr lang="en-US" sz="1100" kern="0">
                <a:solidFill>
                  <a:srgbClr val="224751"/>
                </a:solidFill>
                <a:ea typeface="+mn-lt"/>
                <a:cs typeface="+mn-lt"/>
              </a:rPr>
              <a:t>Installment Core</a:t>
            </a:r>
            <a:endParaRPr lang="en-US"/>
          </a:p>
        </p:txBody>
      </p:sp>
      <p:sp>
        <p:nvSpPr>
          <p:cNvPr id="99" name="Rectángulo 25">
            <a:extLst>
              <a:ext uri="{FF2B5EF4-FFF2-40B4-BE49-F238E27FC236}">
                <a16:creationId xmlns:a16="http://schemas.microsoft.com/office/drawing/2014/main" id="{DB819E94-2DA1-1988-3C1F-96D6CCD247CD}"/>
              </a:ext>
            </a:extLst>
          </p:cNvPr>
          <p:cNvSpPr/>
          <p:nvPr/>
        </p:nvSpPr>
        <p:spPr>
          <a:xfrm>
            <a:off x="4337226" y="3483940"/>
            <a:ext cx="720000" cy="396000"/>
          </a:xfrm>
          <a:prstGeom prst="rect">
            <a:avLst/>
          </a:prstGeom>
          <a:noFill/>
          <a:ln w="12700" cap="flat" cmpd="sng" algn="ctr">
            <a:solidFill>
              <a:srgbClr val="0070C0"/>
            </a:solidFill>
            <a:prstDash val="solid"/>
            <a:miter lim="800000"/>
          </a:ln>
          <a:effectLst/>
        </p:spPr>
        <p:txBody>
          <a:bodyPr lIns="72000" tIns="45720" rIns="72000" bIns="4572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600"/>
              </a:spcAft>
            </a:pPr>
            <a:r>
              <a:rPr lang="en-US" sz="1100" kern="0">
                <a:solidFill>
                  <a:srgbClr val="DEEDF1">
                    <a:lumMod val="25000"/>
                  </a:srgbClr>
                </a:solidFill>
                <a:latin typeface="Santander Text"/>
              </a:rPr>
              <a:t>Loyalty Program </a:t>
            </a:r>
          </a:p>
        </p:txBody>
      </p:sp>
      <p:sp>
        <p:nvSpPr>
          <p:cNvPr id="100" name="Rectángulo 26">
            <a:extLst>
              <a:ext uri="{FF2B5EF4-FFF2-40B4-BE49-F238E27FC236}">
                <a16:creationId xmlns:a16="http://schemas.microsoft.com/office/drawing/2014/main" id="{8FEE8353-E5A9-4D53-B19A-11B73BEF0AC7}"/>
              </a:ext>
            </a:extLst>
          </p:cNvPr>
          <p:cNvSpPr/>
          <p:nvPr/>
        </p:nvSpPr>
        <p:spPr>
          <a:xfrm>
            <a:off x="5089650" y="3483290"/>
            <a:ext cx="1116000" cy="396000"/>
          </a:xfrm>
          <a:prstGeom prst="rect">
            <a:avLst/>
          </a:prstGeom>
          <a:noFill/>
          <a:ln w="12700" cap="flat" cmpd="sng" algn="ctr">
            <a:solidFill>
              <a:srgbClr val="0070C0"/>
            </a:solidFill>
            <a:prstDash val="solid"/>
            <a:miter lim="800000"/>
          </a:ln>
          <a:effectLst/>
        </p:spPr>
        <p:txBody>
          <a:bodyPr lIns="72000" tIns="45720" rIns="72000" bIns="4572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600"/>
              </a:spcAft>
            </a:pPr>
            <a:r>
              <a:rPr lang="en-US" sz="1100" kern="0">
                <a:solidFill>
                  <a:srgbClr val="DEEDF1">
                    <a:lumMod val="25000"/>
                  </a:srgbClr>
                </a:solidFill>
                <a:latin typeface="Santander Text"/>
              </a:rPr>
              <a:t>Cobranded Card issuing</a:t>
            </a:r>
            <a:endParaRPr lang="en-US"/>
          </a:p>
        </p:txBody>
      </p:sp>
      <p:sp>
        <p:nvSpPr>
          <p:cNvPr id="101" name="Rectángulo 29">
            <a:extLst>
              <a:ext uri="{FF2B5EF4-FFF2-40B4-BE49-F238E27FC236}">
                <a16:creationId xmlns:a16="http://schemas.microsoft.com/office/drawing/2014/main" id="{8977E606-AE51-30DC-C320-9DFFA2E27933}"/>
              </a:ext>
            </a:extLst>
          </p:cNvPr>
          <p:cNvSpPr/>
          <p:nvPr/>
        </p:nvSpPr>
        <p:spPr>
          <a:xfrm>
            <a:off x="10794137" y="3486204"/>
            <a:ext cx="1044000"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kern="0">
                <a:solidFill>
                  <a:srgbClr val="DEEDF1">
                    <a:lumMod val="25000"/>
                  </a:srgbClr>
                </a:solidFill>
              </a:rPr>
              <a:t>Reporting</a:t>
            </a:r>
          </a:p>
        </p:txBody>
      </p:sp>
      <p:sp>
        <p:nvSpPr>
          <p:cNvPr id="102" name="Rectángulo 30">
            <a:extLst>
              <a:ext uri="{FF2B5EF4-FFF2-40B4-BE49-F238E27FC236}">
                <a16:creationId xmlns:a16="http://schemas.microsoft.com/office/drawing/2014/main" id="{D6C90BD7-5656-0CCB-DEEE-863ACAC10B03}"/>
              </a:ext>
            </a:extLst>
          </p:cNvPr>
          <p:cNvSpPr/>
          <p:nvPr/>
        </p:nvSpPr>
        <p:spPr>
          <a:xfrm>
            <a:off x="7546216" y="3483290"/>
            <a:ext cx="1044000"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kern="0">
                <a:solidFill>
                  <a:srgbClr val="DEEDF1">
                    <a:lumMod val="25000"/>
                  </a:srgbClr>
                </a:solidFill>
                <a:latin typeface="Santander Text"/>
              </a:rPr>
              <a:t>Billing</a:t>
            </a:r>
            <a:r>
              <a:rPr lang="en-US" sz="1100" kern="0">
                <a:solidFill>
                  <a:srgbClr val="DEEDF1">
                    <a:lumMod val="25000"/>
                  </a:srgbClr>
                </a:solidFill>
              </a:rPr>
              <a:t> / Settlement</a:t>
            </a:r>
            <a:endParaRPr lang="en-US" sz="1100" kern="0">
              <a:solidFill>
                <a:srgbClr val="DEEDF1">
                  <a:lumMod val="25000"/>
                </a:srgbClr>
              </a:solidFill>
              <a:latin typeface="Santander Text" panose="020B0504020201020104" pitchFamily="34" charset="0"/>
            </a:endParaRPr>
          </a:p>
        </p:txBody>
      </p:sp>
      <p:sp>
        <p:nvSpPr>
          <p:cNvPr id="2" name="Rectángulo 15">
            <a:extLst>
              <a:ext uri="{FF2B5EF4-FFF2-40B4-BE49-F238E27FC236}">
                <a16:creationId xmlns:a16="http://schemas.microsoft.com/office/drawing/2014/main" id="{FC8DB9BE-5219-8BFD-BAB5-42A5D3315206}"/>
              </a:ext>
            </a:extLst>
          </p:cNvPr>
          <p:cNvSpPr/>
          <p:nvPr/>
        </p:nvSpPr>
        <p:spPr>
          <a:xfrm>
            <a:off x="587293" y="1290710"/>
            <a:ext cx="3619342" cy="240476"/>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kern="0">
                <a:solidFill>
                  <a:prstClr val="white"/>
                </a:solidFill>
                <a:latin typeface="Santander Text" panose="020B0504020201020104" pitchFamily="34" charset="0"/>
              </a:rPr>
              <a:t>Module Aggregation</a:t>
            </a:r>
          </a:p>
        </p:txBody>
      </p:sp>
      <p:sp>
        <p:nvSpPr>
          <p:cNvPr id="3" name="Rectángulo 67">
            <a:extLst>
              <a:ext uri="{FF2B5EF4-FFF2-40B4-BE49-F238E27FC236}">
                <a16:creationId xmlns:a16="http://schemas.microsoft.com/office/drawing/2014/main" id="{B736666C-ECC5-6A24-7E9C-6C81DE9B949A}"/>
              </a:ext>
            </a:extLst>
          </p:cNvPr>
          <p:cNvSpPr/>
          <p:nvPr/>
        </p:nvSpPr>
        <p:spPr>
          <a:xfrm>
            <a:off x="8896386" y="1779056"/>
            <a:ext cx="951116" cy="396000"/>
          </a:xfrm>
          <a:prstGeom prst="rect">
            <a:avLst/>
          </a:prstGeom>
          <a:noFill/>
          <a:ln w="12700" cap="flat" cmpd="sng" algn="ctr">
            <a:solidFill>
              <a:srgbClr val="0070C0"/>
            </a:solidFill>
            <a:prstDash val="solid"/>
            <a:miter lim="800000"/>
          </a:ln>
          <a:effectLst/>
        </p:spPr>
        <p:txBody>
          <a:bodyPr lIns="72000" tIns="45720" rIns="72000" bIns="4572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a:rPr>
              <a:t>Security </a:t>
            </a:r>
            <a:r>
              <a:rPr lang="en-GB" sz="1100" kern="0" baseline="30000">
                <a:solidFill>
                  <a:srgbClr val="DEEDF1">
                    <a:lumMod val="25000"/>
                  </a:srgbClr>
                </a:solidFill>
                <a:latin typeface="Santander Text"/>
              </a:rPr>
              <a:t>(*)</a:t>
            </a:r>
            <a:endParaRPr lang="en-GB" sz="1100" kern="0" baseline="30000">
              <a:solidFill>
                <a:srgbClr val="DEEDF1">
                  <a:lumMod val="25000"/>
                </a:srgbClr>
              </a:solidFill>
              <a:latin typeface="Santander Text" panose="020B0504020201020104" pitchFamily="34" charset="0"/>
            </a:endParaRPr>
          </a:p>
        </p:txBody>
      </p:sp>
      <p:sp>
        <p:nvSpPr>
          <p:cNvPr id="5" name="Rectángulo 67">
            <a:extLst>
              <a:ext uri="{FF2B5EF4-FFF2-40B4-BE49-F238E27FC236}">
                <a16:creationId xmlns:a16="http://schemas.microsoft.com/office/drawing/2014/main" id="{1A722C53-CBEB-6306-6D75-35B9FB3F62CD}"/>
              </a:ext>
            </a:extLst>
          </p:cNvPr>
          <p:cNvSpPr/>
          <p:nvPr/>
        </p:nvSpPr>
        <p:spPr>
          <a:xfrm>
            <a:off x="9882276" y="1780913"/>
            <a:ext cx="721560" cy="396000"/>
          </a:xfrm>
          <a:prstGeom prst="rect">
            <a:avLst/>
          </a:prstGeom>
          <a:noFill/>
          <a:ln w="12700" cap="flat" cmpd="sng" algn="ctr">
            <a:solidFill>
              <a:srgbClr val="0070C0"/>
            </a:solidFill>
            <a:prstDash val="solid"/>
            <a:miter lim="800000"/>
          </a:ln>
          <a:effectLst/>
        </p:spPr>
        <p:txBody>
          <a:bodyPr lIns="72000" tIns="45720" rIns="72000" bIns="4572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a:rPr>
              <a:t>AML </a:t>
            </a:r>
            <a:r>
              <a:rPr lang="en-GB" sz="1100" kern="0" baseline="30000">
                <a:solidFill>
                  <a:srgbClr val="DEEDF1">
                    <a:lumMod val="25000"/>
                  </a:srgbClr>
                </a:solidFill>
              </a:rPr>
              <a:t>(*)</a:t>
            </a:r>
            <a:endParaRPr lang="en-GB" sz="1100" kern="0">
              <a:solidFill>
                <a:srgbClr val="DEEDF1">
                  <a:lumMod val="25000"/>
                </a:srgbClr>
              </a:solidFill>
              <a:latin typeface="Santander Text" panose="020B0504020201020104" pitchFamily="34" charset="0"/>
            </a:endParaRPr>
          </a:p>
        </p:txBody>
      </p:sp>
      <p:sp>
        <p:nvSpPr>
          <p:cNvPr id="10" name="Rectángulo 30">
            <a:extLst>
              <a:ext uri="{FF2B5EF4-FFF2-40B4-BE49-F238E27FC236}">
                <a16:creationId xmlns:a16="http://schemas.microsoft.com/office/drawing/2014/main" id="{83F3DB9A-0674-01D3-491C-87CE656274DD}"/>
              </a:ext>
            </a:extLst>
          </p:cNvPr>
          <p:cNvSpPr/>
          <p:nvPr/>
        </p:nvSpPr>
        <p:spPr>
          <a:xfrm>
            <a:off x="8630473" y="3483290"/>
            <a:ext cx="1044000"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kern="0">
                <a:solidFill>
                  <a:srgbClr val="DEEDF1">
                    <a:lumMod val="25000"/>
                  </a:srgbClr>
                </a:solidFill>
                <a:latin typeface="Santander Text"/>
              </a:rPr>
              <a:t>Finance &amp; Accounting</a:t>
            </a:r>
            <a:endParaRPr lang="en-US" sz="1100" kern="0">
              <a:solidFill>
                <a:srgbClr val="DEEDF1">
                  <a:lumMod val="25000"/>
                </a:srgbClr>
              </a:solidFill>
              <a:latin typeface="Santander Text" panose="020B0504020201020104" pitchFamily="34" charset="0"/>
            </a:endParaRPr>
          </a:p>
        </p:txBody>
      </p:sp>
      <p:sp>
        <p:nvSpPr>
          <p:cNvPr id="11" name="Rectángulo 30">
            <a:extLst>
              <a:ext uri="{FF2B5EF4-FFF2-40B4-BE49-F238E27FC236}">
                <a16:creationId xmlns:a16="http://schemas.microsoft.com/office/drawing/2014/main" id="{DCC458D3-7FD0-2D14-A42D-2C3847612880}"/>
              </a:ext>
            </a:extLst>
          </p:cNvPr>
          <p:cNvSpPr/>
          <p:nvPr/>
        </p:nvSpPr>
        <p:spPr>
          <a:xfrm>
            <a:off x="9714730" y="3483290"/>
            <a:ext cx="1044000"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rPr>
              <a:t>Collections</a:t>
            </a:r>
            <a:endParaRPr lang="en-US" sz="1100" kern="0">
              <a:solidFill>
                <a:srgbClr val="DEEDF1">
                  <a:lumMod val="25000"/>
                </a:srgbClr>
              </a:solidFill>
              <a:latin typeface="Santander Text" panose="020B0504020201020104" pitchFamily="34" charset="0"/>
            </a:endParaRPr>
          </a:p>
        </p:txBody>
      </p:sp>
      <p:sp>
        <p:nvSpPr>
          <p:cNvPr id="18" name="Rectángulo 121">
            <a:extLst>
              <a:ext uri="{FF2B5EF4-FFF2-40B4-BE49-F238E27FC236}">
                <a16:creationId xmlns:a16="http://schemas.microsoft.com/office/drawing/2014/main" id="{F559C0E7-239D-23D6-3AF0-46F538911559}"/>
              </a:ext>
            </a:extLst>
          </p:cNvPr>
          <p:cNvSpPr/>
          <p:nvPr/>
        </p:nvSpPr>
        <p:spPr>
          <a:xfrm>
            <a:off x="7780893" y="4303919"/>
            <a:ext cx="1044000"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kern="0">
                <a:solidFill>
                  <a:srgbClr val="DEEDF1">
                    <a:lumMod val="25000"/>
                  </a:srgbClr>
                </a:solidFill>
              </a:rPr>
              <a:t>Card Payments</a:t>
            </a:r>
          </a:p>
        </p:txBody>
      </p:sp>
      <p:sp>
        <p:nvSpPr>
          <p:cNvPr id="19" name="Rectángulo 121">
            <a:extLst>
              <a:ext uri="{FF2B5EF4-FFF2-40B4-BE49-F238E27FC236}">
                <a16:creationId xmlns:a16="http://schemas.microsoft.com/office/drawing/2014/main" id="{CD84D4EA-E591-293B-85AA-AC8155A329E7}"/>
              </a:ext>
            </a:extLst>
          </p:cNvPr>
          <p:cNvSpPr/>
          <p:nvPr/>
        </p:nvSpPr>
        <p:spPr>
          <a:xfrm>
            <a:off x="9942833" y="4306833"/>
            <a:ext cx="1044000"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kern="0">
                <a:solidFill>
                  <a:srgbClr val="DEEDF1">
                    <a:lumMod val="25000"/>
                  </a:srgbClr>
                </a:solidFill>
              </a:rPr>
              <a:t>Direct Debit Payments</a:t>
            </a:r>
          </a:p>
        </p:txBody>
      </p:sp>
      <p:sp>
        <p:nvSpPr>
          <p:cNvPr id="20" name="CuadroTexto 19">
            <a:extLst>
              <a:ext uri="{FF2B5EF4-FFF2-40B4-BE49-F238E27FC236}">
                <a16:creationId xmlns:a16="http://schemas.microsoft.com/office/drawing/2014/main" id="{DB33050C-5E5C-5958-9425-B84B5A556528}"/>
              </a:ext>
            </a:extLst>
          </p:cNvPr>
          <p:cNvSpPr txBox="1"/>
          <p:nvPr/>
        </p:nvSpPr>
        <p:spPr>
          <a:xfrm>
            <a:off x="587293" y="5762442"/>
            <a:ext cx="2753718"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700">
                <a:solidFill>
                  <a:srgbClr val="053840"/>
                </a:solidFill>
              </a:rPr>
              <a:t>(*) Out of blueprint scope</a:t>
            </a:r>
          </a:p>
        </p:txBody>
      </p:sp>
      <p:sp>
        <p:nvSpPr>
          <p:cNvPr id="14" name="Rectángulo 13">
            <a:extLst>
              <a:ext uri="{FF2B5EF4-FFF2-40B4-BE49-F238E27FC236}">
                <a16:creationId xmlns:a16="http://schemas.microsoft.com/office/drawing/2014/main" id="{DD566E67-4D14-84C6-3747-BD57D2E7AA5D}"/>
              </a:ext>
            </a:extLst>
          </p:cNvPr>
          <p:cNvSpPr/>
          <p:nvPr/>
        </p:nvSpPr>
        <p:spPr>
          <a:xfrm>
            <a:off x="2195099" y="6216099"/>
            <a:ext cx="707128" cy="259291"/>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ES">
              <a:solidFill>
                <a:srgbClr val="FF0000"/>
              </a:solidFill>
            </a:endParaRPr>
          </a:p>
        </p:txBody>
      </p:sp>
      <p:sp>
        <p:nvSpPr>
          <p:cNvPr id="16" name="CuadroTexto 15">
            <a:extLst>
              <a:ext uri="{FF2B5EF4-FFF2-40B4-BE49-F238E27FC236}">
                <a16:creationId xmlns:a16="http://schemas.microsoft.com/office/drawing/2014/main" id="{E1136C7B-D72E-D0C7-46A1-89C2F3663202}"/>
              </a:ext>
            </a:extLst>
          </p:cNvPr>
          <p:cNvSpPr txBox="1"/>
          <p:nvPr/>
        </p:nvSpPr>
        <p:spPr>
          <a:xfrm>
            <a:off x="2975165" y="6273744"/>
            <a:ext cx="1037463" cy="184666"/>
          </a:xfrm>
          <a:prstGeom prst="rect">
            <a:avLst/>
          </a:prstGeom>
          <a:solidFill>
            <a:schemeClr val="bg1"/>
          </a:solidFill>
        </p:spPr>
        <p:txBody>
          <a:bodyPr wrap="none" rtlCol="0">
            <a:spAutoFit/>
          </a:bodyPr>
          <a:lstStyle/>
          <a:p>
            <a:r>
              <a:rPr lang="en-US" sz="600" noProof="0">
                <a:solidFill>
                  <a:srgbClr val="053840"/>
                </a:solidFill>
              </a:rPr>
              <a:t>Zinia Platform Component</a:t>
            </a:r>
          </a:p>
        </p:txBody>
      </p:sp>
      <p:sp>
        <p:nvSpPr>
          <p:cNvPr id="17" name="Rectángulo 16">
            <a:extLst>
              <a:ext uri="{FF2B5EF4-FFF2-40B4-BE49-F238E27FC236}">
                <a16:creationId xmlns:a16="http://schemas.microsoft.com/office/drawing/2014/main" id="{8385AA61-F559-6029-2CBB-963A28A457CC}"/>
              </a:ext>
            </a:extLst>
          </p:cNvPr>
          <p:cNvSpPr/>
          <p:nvPr/>
        </p:nvSpPr>
        <p:spPr>
          <a:xfrm>
            <a:off x="4311053" y="1688487"/>
            <a:ext cx="7560000" cy="540000"/>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ES">
              <a:solidFill>
                <a:srgbClr val="FF0000"/>
              </a:solidFill>
            </a:endParaRPr>
          </a:p>
        </p:txBody>
      </p:sp>
      <p:sp>
        <p:nvSpPr>
          <p:cNvPr id="24" name="Rectángulo 74">
            <a:extLst>
              <a:ext uri="{FF2B5EF4-FFF2-40B4-BE49-F238E27FC236}">
                <a16:creationId xmlns:a16="http://schemas.microsoft.com/office/drawing/2014/main" id="{03CAC243-72FF-17CC-6140-7E4E8AFCBE81}"/>
              </a:ext>
            </a:extLst>
          </p:cNvPr>
          <p:cNvSpPr/>
          <p:nvPr/>
        </p:nvSpPr>
        <p:spPr>
          <a:xfrm>
            <a:off x="4344309" y="2646755"/>
            <a:ext cx="1217708" cy="396000"/>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a:rPr>
              <a:t>Developer Portal</a:t>
            </a:r>
            <a:endParaRPr lang="en-US"/>
          </a:p>
        </p:txBody>
      </p:sp>
      <p:sp>
        <p:nvSpPr>
          <p:cNvPr id="30" name="Rectángulo 29">
            <a:extLst>
              <a:ext uri="{FF2B5EF4-FFF2-40B4-BE49-F238E27FC236}">
                <a16:creationId xmlns:a16="http://schemas.microsoft.com/office/drawing/2014/main" id="{FBC22F2C-F126-3BB7-0E57-53D47F62C5A2}"/>
              </a:ext>
            </a:extLst>
          </p:cNvPr>
          <p:cNvSpPr/>
          <p:nvPr/>
        </p:nvSpPr>
        <p:spPr>
          <a:xfrm>
            <a:off x="4314330" y="2446922"/>
            <a:ext cx="1273497" cy="654087"/>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ES">
              <a:solidFill>
                <a:srgbClr val="FF0000"/>
              </a:solidFill>
            </a:endParaRPr>
          </a:p>
        </p:txBody>
      </p:sp>
      <p:sp>
        <p:nvSpPr>
          <p:cNvPr id="27" name="CuadroTexto 26">
            <a:extLst>
              <a:ext uri="{FF2B5EF4-FFF2-40B4-BE49-F238E27FC236}">
                <a16:creationId xmlns:a16="http://schemas.microsoft.com/office/drawing/2014/main" id="{BDB97FA7-F6B1-55DA-F77E-FC40614E7136}"/>
              </a:ext>
            </a:extLst>
          </p:cNvPr>
          <p:cNvSpPr txBox="1"/>
          <p:nvPr/>
        </p:nvSpPr>
        <p:spPr>
          <a:xfrm>
            <a:off x="7101126" y="1567002"/>
            <a:ext cx="1184940" cy="200055"/>
          </a:xfrm>
          <a:prstGeom prst="rect">
            <a:avLst/>
          </a:prstGeom>
          <a:solidFill>
            <a:schemeClr val="bg1"/>
          </a:solidFill>
        </p:spPr>
        <p:txBody>
          <a:bodyPr wrap="none" rtlCol="0">
            <a:spAutoFit/>
          </a:bodyPr>
          <a:lstStyle/>
          <a:p>
            <a:r>
              <a:rPr lang="en-US" sz="700" noProof="0">
                <a:solidFill>
                  <a:srgbClr val="FF0000"/>
                </a:solidFill>
              </a:rPr>
              <a:t>Digital Merchant Channels</a:t>
            </a:r>
          </a:p>
        </p:txBody>
      </p:sp>
      <p:sp>
        <p:nvSpPr>
          <p:cNvPr id="31" name="Rectángulo 30">
            <a:extLst>
              <a:ext uri="{FF2B5EF4-FFF2-40B4-BE49-F238E27FC236}">
                <a16:creationId xmlns:a16="http://schemas.microsoft.com/office/drawing/2014/main" id="{B665B50A-49C3-172B-AA6C-DEACFBD52D7E}"/>
              </a:ext>
            </a:extLst>
          </p:cNvPr>
          <p:cNvSpPr/>
          <p:nvPr/>
        </p:nvSpPr>
        <p:spPr>
          <a:xfrm>
            <a:off x="5625144" y="2446922"/>
            <a:ext cx="5258840" cy="654088"/>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ES">
              <a:solidFill>
                <a:srgbClr val="FF0000"/>
              </a:solidFill>
            </a:endParaRPr>
          </a:p>
        </p:txBody>
      </p:sp>
      <p:sp>
        <p:nvSpPr>
          <p:cNvPr id="21" name="CuadroTexto 20">
            <a:extLst>
              <a:ext uri="{FF2B5EF4-FFF2-40B4-BE49-F238E27FC236}">
                <a16:creationId xmlns:a16="http://schemas.microsoft.com/office/drawing/2014/main" id="{7542DADB-5E43-E01F-D0FE-89006FE9E7D6}"/>
              </a:ext>
            </a:extLst>
          </p:cNvPr>
          <p:cNvSpPr txBox="1"/>
          <p:nvPr/>
        </p:nvSpPr>
        <p:spPr>
          <a:xfrm>
            <a:off x="7210688" y="2338079"/>
            <a:ext cx="1188146" cy="200055"/>
          </a:xfrm>
          <a:prstGeom prst="rect">
            <a:avLst/>
          </a:prstGeom>
          <a:solidFill>
            <a:schemeClr val="bg1"/>
          </a:solidFill>
        </p:spPr>
        <p:txBody>
          <a:bodyPr wrap="none" rtlCol="0">
            <a:spAutoFit/>
          </a:bodyPr>
          <a:lstStyle/>
          <a:p>
            <a:r>
              <a:rPr lang="en-US" sz="700">
                <a:solidFill>
                  <a:srgbClr val="FF0000"/>
                </a:solidFill>
              </a:rPr>
              <a:t>Digital Customer Channels</a:t>
            </a:r>
          </a:p>
        </p:txBody>
      </p:sp>
      <p:sp>
        <p:nvSpPr>
          <p:cNvPr id="39" name="CuadroTexto 38">
            <a:extLst>
              <a:ext uri="{FF2B5EF4-FFF2-40B4-BE49-F238E27FC236}">
                <a16:creationId xmlns:a16="http://schemas.microsoft.com/office/drawing/2014/main" id="{81BF5B08-0F2A-C73A-3EFF-BFDB7855A3B6}"/>
              </a:ext>
            </a:extLst>
          </p:cNvPr>
          <p:cNvSpPr txBox="1"/>
          <p:nvPr/>
        </p:nvSpPr>
        <p:spPr>
          <a:xfrm>
            <a:off x="4532563" y="2312261"/>
            <a:ext cx="837089" cy="307777"/>
          </a:xfrm>
          <a:prstGeom prst="rect">
            <a:avLst/>
          </a:prstGeom>
          <a:solidFill>
            <a:schemeClr val="bg1"/>
          </a:solidFill>
        </p:spPr>
        <p:txBody>
          <a:bodyPr wrap="none" rtlCol="0">
            <a:spAutoFit/>
          </a:bodyPr>
          <a:lstStyle/>
          <a:p>
            <a:pPr algn="ctr"/>
            <a:r>
              <a:rPr lang="en-US" sz="700">
                <a:solidFill>
                  <a:srgbClr val="FF0000"/>
                </a:solidFill>
              </a:rPr>
              <a:t>Digital Merchant </a:t>
            </a:r>
          </a:p>
          <a:p>
            <a:pPr algn="ctr"/>
            <a:r>
              <a:rPr lang="en-US" sz="700">
                <a:solidFill>
                  <a:srgbClr val="FF0000"/>
                </a:solidFill>
              </a:rPr>
              <a:t>Channels</a:t>
            </a:r>
          </a:p>
        </p:txBody>
      </p:sp>
      <p:sp>
        <p:nvSpPr>
          <p:cNvPr id="40" name="Rectángulo 39">
            <a:extLst>
              <a:ext uri="{FF2B5EF4-FFF2-40B4-BE49-F238E27FC236}">
                <a16:creationId xmlns:a16="http://schemas.microsoft.com/office/drawing/2014/main" id="{20E6B340-F193-BEA1-34CA-3C7DD1248F54}"/>
              </a:ext>
            </a:extLst>
          </p:cNvPr>
          <p:cNvSpPr/>
          <p:nvPr/>
        </p:nvSpPr>
        <p:spPr>
          <a:xfrm>
            <a:off x="10918503" y="2448249"/>
            <a:ext cx="951627" cy="652759"/>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ES">
              <a:solidFill>
                <a:srgbClr val="FF0000"/>
              </a:solidFill>
            </a:endParaRPr>
          </a:p>
        </p:txBody>
      </p:sp>
      <p:sp>
        <p:nvSpPr>
          <p:cNvPr id="29" name="CuadroTexto 28">
            <a:extLst>
              <a:ext uri="{FF2B5EF4-FFF2-40B4-BE49-F238E27FC236}">
                <a16:creationId xmlns:a16="http://schemas.microsoft.com/office/drawing/2014/main" id="{0014DA42-C554-6F25-5CB5-BFF152C4A783}"/>
              </a:ext>
            </a:extLst>
          </p:cNvPr>
          <p:cNvSpPr txBox="1"/>
          <p:nvPr/>
        </p:nvSpPr>
        <p:spPr>
          <a:xfrm>
            <a:off x="10944242" y="2304557"/>
            <a:ext cx="898003" cy="276999"/>
          </a:xfrm>
          <a:prstGeom prst="rect">
            <a:avLst/>
          </a:prstGeom>
          <a:solidFill>
            <a:schemeClr val="bg1"/>
          </a:solidFill>
        </p:spPr>
        <p:txBody>
          <a:bodyPr wrap="none" rtlCol="0">
            <a:spAutoFit/>
          </a:bodyPr>
          <a:lstStyle/>
          <a:p>
            <a:r>
              <a:rPr lang="en-US" sz="600">
                <a:solidFill>
                  <a:srgbClr val="FF0000"/>
                </a:solidFill>
              </a:rPr>
              <a:t>Merchant &amp; Customer</a:t>
            </a:r>
          </a:p>
          <a:p>
            <a:r>
              <a:rPr lang="en-US" sz="600">
                <a:solidFill>
                  <a:srgbClr val="FF0000"/>
                </a:solidFill>
              </a:rPr>
              <a:t> Assisted Channels</a:t>
            </a:r>
          </a:p>
        </p:txBody>
      </p:sp>
      <p:sp>
        <p:nvSpPr>
          <p:cNvPr id="42" name="Rectángulo 41">
            <a:extLst>
              <a:ext uri="{FF2B5EF4-FFF2-40B4-BE49-F238E27FC236}">
                <a16:creationId xmlns:a16="http://schemas.microsoft.com/office/drawing/2014/main" id="{EE03FA88-158A-B32F-7CCA-B3D7530EA3B2}"/>
              </a:ext>
            </a:extLst>
          </p:cNvPr>
          <p:cNvSpPr/>
          <p:nvPr/>
        </p:nvSpPr>
        <p:spPr>
          <a:xfrm>
            <a:off x="4299756" y="3321237"/>
            <a:ext cx="1908000" cy="654087"/>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ES">
              <a:solidFill>
                <a:srgbClr val="FF0000"/>
              </a:solidFill>
            </a:endParaRPr>
          </a:p>
        </p:txBody>
      </p:sp>
      <p:sp>
        <p:nvSpPr>
          <p:cNvPr id="12" name="CuadroTexto 11">
            <a:extLst>
              <a:ext uri="{FF2B5EF4-FFF2-40B4-BE49-F238E27FC236}">
                <a16:creationId xmlns:a16="http://schemas.microsoft.com/office/drawing/2014/main" id="{167E3670-5C69-A03A-2336-A2DCE9FE0828}"/>
              </a:ext>
            </a:extLst>
          </p:cNvPr>
          <p:cNvSpPr txBox="1"/>
          <p:nvPr/>
        </p:nvSpPr>
        <p:spPr>
          <a:xfrm>
            <a:off x="4801744" y="3208509"/>
            <a:ext cx="872355" cy="200055"/>
          </a:xfrm>
          <a:prstGeom prst="rect">
            <a:avLst/>
          </a:prstGeom>
          <a:solidFill>
            <a:schemeClr val="bg1"/>
          </a:solidFill>
        </p:spPr>
        <p:txBody>
          <a:bodyPr wrap="none" rtlCol="0">
            <a:spAutoFit/>
          </a:bodyPr>
          <a:lstStyle/>
          <a:p>
            <a:r>
              <a:rPr lang="en-US" sz="700">
                <a:solidFill>
                  <a:srgbClr val="FF0000"/>
                </a:solidFill>
              </a:rPr>
              <a:t>Engine Cobranded</a:t>
            </a:r>
          </a:p>
        </p:txBody>
      </p:sp>
      <p:sp>
        <p:nvSpPr>
          <p:cNvPr id="43" name="Rectángulo 42">
            <a:extLst>
              <a:ext uri="{FF2B5EF4-FFF2-40B4-BE49-F238E27FC236}">
                <a16:creationId xmlns:a16="http://schemas.microsoft.com/office/drawing/2014/main" id="{8B58B0EB-B73A-141E-1944-E63D6598160D}"/>
              </a:ext>
            </a:extLst>
          </p:cNvPr>
          <p:cNvSpPr/>
          <p:nvPr/>
        </p:nvSpPr>
        <p:spPr>
          <a:xfrm>
            <a:off x="6249250" y="3327397"/>
            <a:ext cx="5620880" cy="647928"/>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ES">
              <a:solidFill>
                <a:srgbClr val="FF0000"/>
              </a:solidFill>
            </a:endParaRPr>
          </a:p>
        </p:txBody>
      </p:sp>
      <p:sp>
        <p:nvSpPr>
          <p:cNvPr id="13" name="CuadroTexto 12">
            <a:extLst>
              <a:ext uri="{FF2B5EF4-FFF2-40B4-BE49-F238E27FC236}">
                <a16:creationId xmlns:a16="http://schemas.microsoft.com/office/drawing/2014/main" id="{72ECE184-639E-05D7-C696-7A3348954C9F}"/>
              </a:ext>
            </a:extLst>
          </p:cNvPr>
          <p:cNvSpPr txBox="1"/>
          <p:nvPr/>
        </p:nvSpPr>
        <p:spPr>
          <a:xfrm>
            <a:off x="8091053" y="3199817"/>
            <a:ext cx="1128835" cy="200055"/>
          </a:xfrm>
          <a:prstGeom prst="rect">
            <a:avLst/>
          </a:prstGeom>
          <a:solidFill>
            <a:schemeClr val="bg1"/>
          </a:solidFill>
        </p:spPr>
        <p:txBody>
          <a:bodyPr wrap="none" rtlCol="0">
            <a:spAutoFit/>
          </a:bodyPr>
          <a:lstStyle/>
          <a:p>
            <a:r>
              <a:rPr lang="en-US" sz="700">
                <a:solidFill>
                  <a:srgbClr val="FF0000"/>
                </a:solidFill>
              </a:rPr>
              <a:t>Engine Checkout Lending</a:t>
            </a:r>
          </a:p>
        </p:txBody>
      </p:sp>
      <p:sp>
        <p:nvSpPr>
          <p:cNvPr id="44" name="Rectángulo 43">
            <a:extLst>
              <a:ext uri="{FF2B5EF4-FFF2-40B4-BE49-F238E27FC236}">
                <a16:creationId xmlns:a16="http://schemas.microsoft.com/office/drawing/2014/main" id="{6E7EAEBC-FA12-FFCE-3AF1-06CE0EF243D0}"/>
              </a:ext>
            </a:extLst>
          </p:cNvPr>
          <p:cNvSpPr/>
          <p:nvPr/>
        </p:nvSpPr>
        <p:spPr>
          <a:xfrm>
            <a:off x="4297650" y="4210280"/>
            <a:ext cx="1429445" cy="654088"/>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ES">
              <a:solidFill>
                <a:srgbClr val="FF0000"/>
              </a:solidFill>
            </a:endParaRPr>
          </a:p>
        </p:txBody>
      </p:sp>
      <p:sp>
        <p:nvSpPr>
          <p:cNvPr id="45" name="CuadroTexto 44">
            <a:extLst>
              <a:ext uri="{FF2B5EF4-FFF2-40B4-BE49-F238E27FC236}">
                <a16:creationId xmlns:a16="http://schemas.microsoft.com/office/drawing/2014/main" id="{7AD300F1-05C1-8B0A-BAAE-AADF8358B8EC}"/>
              </a:ext>
            </a:extLst>
          </p:cNvPr>
          <p:cNvSpPr txBox="1"/>
          <p:nvPr/>
        </p:nvSpPr>
        <p:spPr>
          <a:xfrm>
            <a:off x="4402132" y="4088052"/>
            <a:ext cx="1128835" cy="200055"/>
          </a:xfrm>
          <a:prstGeom prst="rect">
            <a:avLst/>
          </a:prstGeom>
          <a:solidFill>
            <a:schemeClr val="bg1"/>
          </a:solidFill>
        </p:spPr>
        <p:txBody>
          <a:bodyPr wrap="none" rtlCol="0">
            <a:spAutoFit/>
          </a:bodyPr>
          <a:lstStyle/>
          <a:p>
            <a:r>
              <a:rPr lang="en-US" sz="700">
                <a:solidFill>
                  <a:srgbClr val="FF0000"/>
                </a:solidFill>
              </a:rPr>
              <a:t>Engine Checkout Lending</a:t>
            </a:r>
          </a:p>
        </p:txBody>
      </p:sp>
      <p:sp>
        <p:nvSpPr>
          <p:cNvPr id="46" name="Rectángulo 45">
            <a:extLst>
              <a:ext uri="{FF2B5EF4-FFF2-40B4-BE49-F238E27FC236}">
                <a16:creationId xmlns:a16="http://schemas.microsoft.com/office/drawing/2014/main" id="{1819B9B0-5B9F-164F-B977-5421156EA6AE}"/>
              </a:ext>
            </a:extLst>
          </p:cNvPr>
          <p:cNvSpPr/>
          <p:nvPr/>
        </p:nvSpPr>
        <p:spPr>
          <a:xfrm>
            <a:off x="5766212" y="4210280"/>
            <a:ext cx="6103918" cy="647928"/>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ES">
              <a:solidFill>
                <a:srgbClr val="FF0000"/>
              </a:solidFill>
            </a:endParaRPr>
          </a:p>
        </p:txBody>
      </p:sp>
      <p:sp>
        <p:nvSpPr>
          <p:cNvPr id="4" name="CuadroTexto 3">
            <a:extLst>
              <a:ext uri="{FF2B5EF4-FFF2-40B4-BE49-F238E27FC236}">
                <a16:creationId xmlns:a16="http://schemas.microsoft.com/office/drawing/2014/main" id="{D2226C7C-5CCA-93C2-5331-1F2B3C1DB21F}"/>
              </a:ext>
            </a:extLst>
          </p:cNvPr>
          <p:cNvSpPr txBox="1"/>
          <p:nvPr/>
        </p:nvSpPr>
        <p:spPr>
          <a:xfrm>
            <a:off x="7928753" y="4102905"/>
            <a:ext cx="662361" cy="200055"/>
          </a:xfrm>
          <a:prstGeom prst="rect">
            <a:avLst/>
          </a:prstGeom>
          <a:solidFill>
            <a:schemeClr val="bg1"/>
          </a:solidFill>
        </p:spPr>
        <p:txBody>
          <a:bodyPr wrap="none" rtlCol="0">
            <a:spAutoFit/>
          </a:bodyPr>
          <a:lstStyle/>
          <a:p>
            <a:r>
              <a:rPr lang="en-US" sz="700">
                <a:solidFill>
                  <a:srgbClr val="FF0000"/>
                </a:solidFill>
              </a:rPr>
              <a:t>Engine BNPL</a:t>
            </a:r>
          </a:p>
        </p:txBody>
      </p:sp>
      <p:sp>
        <p:nvSpPr>
          <p:cNvPr id="36" name="Text Placeholder 2">
            <a:extLst>
              <a:ext uri="{FF2B5EF4-FFF2-40B4-BE49-F238E27FC236}">
                <a16:creationId xmlns:a16="http://schemas.microsoft.com/office/drawing/2014/main" id="{DF13488F-0590-D7E9-0AA5-2A362E0EB8F8}"/>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Tree>
    <p:extLst>
      <p:ext uri="{BB962C8B-B14F-4D97-AF65-F5344CB8AC3E}">
        <p14:creationId xmlns:p14="http://schemas.microsoft.com/office/powerpoint/2010/main" val="12639124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56E17-E603-2005-3BB8-DD9856458E79}"/>
            </a:ext>
          </a:extLst>
        </p:cNvPr>
        <p:cNvGrpSpPr/>
        <p:nvPr/>
      </p:nvGrpSpPr>
      <p:grpSpPr>
        <a:xfrm>
          <a:off x="0" y="0"/>
          <a:ext cx="0" cy="0"/>
          <a:chOff x="0" y="0"/>
          <a:chExt cx="0" cy="0"/>
        </a:xfrm>
      </p:grpSpPr>
      <p:sp>
        <p:nvSpPr>
          <p:cNvPr id="112" name="Text Placeholder 2">
            <a:extLst>
              <a:ext uri="{FF2B5EF4-FFF2-40B4-BE49-F238E27FC236}">
                <a16:creationId xmlns:a16="http://schemas.microsoft.com/office/drawing/2014/main" id="{B8FFCAF8-4906-C535-4AF0-F04470A26102}"/>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113" name="Título 1">
            <a:extLst>
              <a:ext uri="{FF2B5EF4-FFF2-40B4-BE49-F238E27FC236}">
                <a16:creationId xmlns:a16="http://schemas.microsoft.com/office/drawing/2014/main" id="{1CB83B13-9A63-4035-6E6B-9704853887BD}"/>
              </a:ext>
            </a:extLst>
          </p:cNvPr>
          <p:cNvSpPr>
            <a:spLocks noGrp="1"/>
          </p:cNvSpPr>
          <p:nvPr>
            <p:ph type="title"/>
          </p:nvPr>
        </p:nvSpPr>
        <p:spPr>
          <a:xfrm>
            <a:off x="711024" y="641900"/>
            <a:ext cx="10758733" cy="445400"/>
          </a:xfrm>
        </p:spPr>
        <p:txBody>
          <a:bodyPr/>
          <a:lstStyle/>
          <a:p>
            <a:pPr>
              <a:defRPr/>
            </a:pPr>
            <a:r>
              <a:rPr kumimoji="0" lang="es-ES" sz="2800" b="1" i="0" u="none" strike="noStrike" kern="1200" cap="none" spc="0" normalizeH="0" baseline="0" noProof="0">
                <a:ln>
                  <a:noFill/>
                </a:ln>
                <a:solidFill>
                  <a:srgbClr val="EC0000"/>
                </a:solidFill>
                <a:effectLst/>
                <a:uLnTx/>
                <a:uFillTx/>
                <a:latin typeface="Santander Headline"/>
                <a:ea typeface="+mj-ea"/>
                <a:cs typeface="+mj-cs"/>
              </a:rPr>
              <a:t>SCIB. </a:t>
            </a:r>
            <a:r>
              <a:rPr kumimoji="0" lang="es-ES" sz="2800" b="1" i="0" u="none" strike="noStrike" kern="1200" cap="none" spc="0" normalizeH="0" baseline="0" noProof="0">
                <a:ln>
                  <a:noFill/>
                </a:ln>
                <a:solidFill>
                  <a:schemeClr val="bg2">
                    <a:lumMod val="75000"/>
                  </a:schemeClr>
                </a:solidFill>
                <a:effectLst/>
                <a:uLnTx/>
                <a:uFillTx/>
                <a:latin typeface="Santander Headline"/>
                <a:ea typeface="+mj-ea"/>
                <a:cs typeface="+mj-cs"/>
              </a:rPr>
              <a:t>CIB </a:t>
            </a:r>
            <a:r>
              <a:rPr kumimoji="0" lang="es-ES" sz="2800" b="1" i="0" u="none" strike="noStrike" kern="1200" cap="none" spc="0" normalizeH="0" baseline="0" noProof="0" err="1">
                <a:ln>
                  <a:noFill/>
                </a:ln>
                <a:solidFill>
                  <a:schemeClr val="bg2">
                    <a:lumMod val="75000"/>
                  </a:schemeClr>
                </a:solidFill>
                <a:effectLst/>
                <a:uLnTx/>
                <a:uFillTx/>
                <a:latin typeface="Santander Headline"/>
                <a:ea typeface="+mj-ea"/>
                <a:cs typeface="+mj-cs"/>
              </a:rPr>
              <a:t>Channels</a:t>
            </a:r>
            <a:br>
              <a:rPr kumimoji="0" lang="en-AU" sz="2800" b="1" i="0" u="none" strike="noStrike" kern="1200" cap="none" spc="0" normalizeH="0" baseline="0" noProof="0">
                <a:ln>
                  <a:noFill/>
                </a:ln>
                <a:solidFill>
                  <a:srgbClr val="BFBFBF"/>
                </a:solidFill>
                <a:effectLst/>
                <a:uLnTx/>
                <a:uFillTx/>
                <a:latin typeface="Santander Headline"/>
                <a:ea typeface="+mj-ea"/>
                <a:cs typeface="+mj-cs"/>
              </a:rPr>
            </a:br>
            <a:endParaRPr lang="en-US">
              <a:solidFill>
                <a:schemeClr val="bg1">
                  <a:lumMod val="75000"/>
                </a:schemeClr>
              </a:solidFill>
            </a:endParaRPr>
          </a:p>
        </p:txBody>
      </p:sp>
      <p:sp>
        <p:nvSpPr>
          <p:cNvPr id="15" name="Rectángulo 15">
            <a:extLst>
              <a:ext uri="{FF2B5EF4-FFF2-40B4-BE49-F238E27FC236}">
                <a16:creationId xmlns:a16="http://schemas.microsoft.com/office/drawing/2014/main" id="{DD642B99-D917-54E6-82B0-958F5C0B8202}"/>
              </a:ext>
            </a:extLst>
          </p:cNvPr>
          <p:cNvSpPr/>
          <p:nvPr/>
        </p:nvSpPr>
        <p:spPr>
          <a:xfrm>
            <a:off x="4318803" y="1875926"/>
            <a:ext cx="7551328" cy="240476"/>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kern="0">
                <a:solidFill>
                  <a:prstClr val="white"/>
                </a:solidFill>
                <a:latin typeface="Santander Text" panose="020B0504020201020104" pitchFamily="34" charset="0"/>
              </a:rPr>
              <a:t>Modules</a:t>
            </a:r>
          </a:p>
        </p:txBody>
      </p:sp>
      <p:sp>
        <p:nvSpPr>
          <p:cNvPr id="8" name="Rectángulo 9">
            <a:extLst>
              <a:ext uri="{FF2B5EF4-FFF2-40B4-BE49-F238E27FC236}">
                <a16:creationId xmlns:a16="http://schemas.microsoft.com/office/drawing/2014/main" id="{30172154-9E16-0C46-A682-9523B59A47D4}"/>
              </a:ext>
            </a:extLst>
          </p:cNvPr>
          <p:cNvSpPr/>
          <p:nvPr/>
        </p:nvSpPr>
        <p:spPr>
          <a:xfrm>
            <a:off x="711024" y="2410553"/>
            <a:ext cx="3495612" cy="610496"/>
          </a:xfrm>
          <a:prstGeom prst="rect">
            <a:avLst/>
          </a:prstGeom>
          <a:solidFill>
            <a:srgbClr val="DEEDF1"/>
          </a:solidFill>
          <a:ln w="12700" cap="flat" cmpd="sng" algn="ctr">
            <a:noFill/>
            <a:prstDash val="solid"/>
            <a:miter lim="800000"/>
          </a:ln>
          <a:effectLst/>
        </p:spPr>
        <p:txBody>
          <a:bodyPr lIns="72000" rIns="36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55600" indent="-355600">
              <a:spcAft>
                <a:spcPts val="300"/>
              </a:spcAft>
            </a:pPr>
            <a:r>
              <a:rPr lang="en-GB" sz="900" b="1" kern="0">
                <a:solidFill>
                  <a:srgbClr val="DEEDF1">
                    <a:lumMod val="25000"/>
                  </a:srgbClr>
                </a:solidFill>
                <a:latin typeface="Santander Text" panose="020B0504020201020104" pitchFamily="34" charset="0"/>
              </a:rPr>
              <a:t>1 – Client Sales Services</a:t>
            </a:r>
          </a:p>
        </p:txBody>
      </p:sp>
      <p:sp>
        <p:nvSpPr>
          <p:cNvPr id="22" name="Rectángulo 63">
            <a:extLst>
              <a:ext uri="{FF2B5EF4-FFF2-40B4-BE49-F238E27FC236}">
                <a16:creationId xmlns:a16="http://schemas.microsoft.com/office/drawing/2014/main" id="{89930768-2A12-0348-4E08-54C6C93A1FFF}"/>
              </a:ext>
            </a:extLst>
          </p:cNvPr>
          <p:cNvSpPr>
            <a:spLocks/>
          </p:cNvSpPr>
          <p:nvPr/>
        </p:nvSpPr>
        <p:spPr>
          <a:xfrm>
            <a:off x="4331577" y="2401408"/>
            <a:ext cx="7509393" cy="601547"/>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600"/>
              </a:spcAft>
            </a:pPr>
            <a:r>
              <a:rPr lang="en-US" sz="1100" kern="0"/>
              <a:t>Alexandria</a:t>
            </a:r>
          </a:p>
        </p:txBody>
      </p:sp>
      <p:sp>
        <p:nvSpPr>
          <p:cNvPr id="9" name="Rectángulo 10">
            <a:extLst>
              <a:ext uri="{FF2B5EF4-FFF2-40B4-BE49-F238E27FC236}">
                <a16:creationId xmlns:a16="http://schemas.microsoft.com/office/drawing/2014/main" id="{B4D0483C-469B-37A3-2EAB-9F2C1553AF01}"/>
              </a:ext>
            </a:extLst>
          </p:cNvPr>
          <p:cNvSpPr/>
          <p:nvPr/>
        </p:nvSpPr>
        <p:spPr>
          <a:xfrm>
            <a:off x="702907" y="3093031"/>
            <a:ext cx="3495612" cy="603671"/>
          </a:xfrm>
          <a:prstGeom prst="rect">
            <a:avLst/>
          </a:prstGeom>
          <a:solidFill>
            <a:srgbClr val="DEEDF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36000"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55600" indent="-355600">
              <a:spcAft>
                <a:spcPts val="300"/>
              </a:spcAft>
            </a:pPr>
            <a:r>
              <a:rPr lang="en-GB" sz="900" b="1">
                <a:solidFill>
                  <a:srgbClr val="DEEDF1">
                    <a:lumMod val="25000"/>
                  </a:srgbClr>
                </a:solidFill>
                <a:latin typeface="Santander Text" panose="020B0504020201020104" pitchFamily="34" charset="0"/>
              </a:rPr>
              <a:t>2 – Client Banking Services</a:t>
            </a:r>
          </a:p>
          <a:p>
            <a:pPr>
              <a:spcAft>
                <a:spcPts val="300"/>
              </a:spcAft>
            </a:pPr>
            <a:r>
              <a:rPr lang="en-GB" sz="800" i="1">
                <a:solidFill>
                  <a:srgbClr val="DEEDF1">
                    <a:lumMod val="25000"/>
                  </a:srgbClr>
                </a:solidFill>
                <a:latin typeface="Santander Text" panose="020B0504020201020104" pitchFamily="34" charset="0"/>
              </a:rPr>
              <a:t>	</a:t>
            </a:r>
            <a:endParaRPr lang="en-GB" sz="700" i="1">
              <a:solidFill>
                <a:srgbClr val="DEEDF1">
                  <a:lumMod val="25000"/>
                </a:srgbClr>
              </a:solidFill>
              <a:latin typeface="Santander Text" panose="020B0504020201020104" pitchFamily="34" charset="0"/>
            </a:endParaRPr>
          </a:p>
        </p:txBody>
      </p:sp>
      <p:sp>
        <p:nvSpPr>
          <p:cNvPr id="2" name="Rectángulo 15">
            <a:extLst>
              <a:ext uri="{FF2B5EF4-FFF2-40B4-BE49-F238E27FC236}">
                <a16:creationId xmlns:a16="http://schemas.microsoft.com/office/drawing/2014/main" id="{030DA2F6-E1A2-B587-8896-23FB82203D80}"/>
              </a:ext>
            </a:extLst>
          </p:cNvPr>
          <p:cNvSpPr/>
          <p:nvPr/>
        </p:nvSpPr>
        <p:spPr>
          <a:xfrm>
            <a:off x="711023" y="1875926"/>
            <a:ext cx="3495611" cy="240476"/>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kern="0">
                <a:solidFill>
                  <a:prstClr val="white"/>
                </a:solidFill>
                <a:latin typeface="Santander Text" panose="020B0504020201020104" pitchFamily="34" charset="0"/>
              </a:rPr>
              <a:t>Module Aggregation</a:t>
            </a:r>
          </a:p>
        </p:txBody>
      </p:sp>
      <p:sp>
        <p:nvSpPr>
          <p:cNvPr id="3" name="Rectángulo 114">
            <a:extLst>
              <a:ext uri="{FF2B5EF4-FFF2-40B4-BE49-F238E27FC236}">
                <a16:creationId xmlns:a16="http://schemas.microsoft.com/office/drawing/2014/main" id="{490A7A85-5384-50F0-EB1F-91130CDF10F4}"/>
              </a:ext>
            </a:extLst>
          </p:cNvPr>
          <p:cNvSpPr/>
          <p:nvPr/>
        </p:nvSpPr>
        <p:spPr>
          <a:xfrm>
            <a:off x="4318803" y="3088856"/>
            <a:ext cx="7522168" cy="601546"/>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Cash Nexus Portal</a:t>
            </a:r>
          </a:p>
        </p:txBody>
      </p:sp>
      <p:sp>
        <p:nvSpPr>
          <p:cNvPr id="11" name="Rectángulo 10">
            <a:extLst>
              <a:ext uri="{FF2B5EF4-FFF2-40B4-BE49-F238E27FC236}">
                <a16:creationId xmlns:a16="http://schemas.microsoft.com/office/drawing/2014/main" id="{9ADF08AA-894C-D7DA-45EF-CEB731BC6EB8}"/>
              </a:ext>
            </a:extLst>
          </p:cNvPr>
          <p:cNvSpPr/>
          <p:nvPr/>
        </p:nvSpPr>
        <p:spPr>
          <a:xfrm>
            <a:off x="4291372" y="2231136"/>
            <a:ext cx="7578760" cy="1536192"/>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a:solidFill>
                <a:srgbClr val="FF0000"/>
              </a:solidFill>
            </a:endParaRPr>
          </a:p>
        </p:txBody>
      </p:sp>
      <p:sp>
        <p:nvSpPr>
          <p:cNvPr id="13" name="CuadroTexto 12">
            <a:extLst>
              <a:ext uri="{FF2B5EF4-FFF2-40B4-BE49-F238E27FC236}">
                <a16:creationId xmlns:a16="http://schemas.microsoft.com/office/drawing/2014/main" id="{1095AE2A-4AB1-F807-37FC-268CFFEDB517}"/>
              </a:ext>
            </a:extLst>
          </p:cNvPr>
          <p:cNvSpPr txBox="1"/>
          <p:nvPr/>
        </p:nvSpPr>
        <p:spPr>
          <a:xfrm>
            <a:off x="4876596" y="2143014"/>
            <a:ext cx="1213794" cy="215444"/>
          </a:xfrm>
          <a:prstGeom prst="rect">
            <a:avLst/>
          </a:prstGeom>
          <a:solidFill>
            <a:schemeClr val="bg1"/>
          </a:solidFill>
        </p:spPr>
        <p:txBody>
          <a:bodyPr wrap="none" rtlCol="0">
            <a:spAutoFit/>
          </a:bodyPr>
          <a:lstStyle/>
          <a:p>
            <a:pPr algn="ctr">
              <a:spcAft>
                <a:spcPts val="600"/>
              </a:spcAft>
            </a:pPr>
            <a:r>
              <a:rPr lang="es-ES" sz="800" kern="0">
                <a:solidFill>
                  <a:schemeClr val="accent1"/>
                </a:solidFill>
              </a:rPr>
              <a:t>CIB </a:t>
            </a:r>
            <a:r>
              <a:rPr lang="es-ES" sz="800" kern="0" err="1">
                <a:solidFill>
                  <a:schemeClr val="accent1"/>
                </a:solidFill>
              </a:rPr>
              <a:t>Specialized</a:t>
            </a:r>
            <a:r>
              <a:rPr lang="es-ES" sz="800" kern="0">
                <a:solidFill>
                  <a:schemeClr val="accent1"/>
                </a:solidFill>
              </a:rPr>
              <a:t> </a:t>
            </a:r>
            <a:r>
              <a:rPr lang="es-ES" sz="800" kern="0" err="1">
                <a:solidFill>
                  <a:schemeClr val="accent1"/>
                </a:solidFill>
              </a:rPr>
              <a:t>Channel</a:t>
            </a:r>
            <a:endParaRPr lang="es-ES" sz="800" kern="0">
              <a:solidFill>
                <a:schemeClr val="accent1"/>
              </a:solidFill>
            </a:endParaRPr>
          </a:p>
        </p:txBody>
      </p:sp>
      <p:sp>
        <p:nvSpPr>
          <p:cNvPr id="7" name="Rectángulo 6">
            <a:extLst>
              <a:ext uri="{FF2B5EF4-FFF2-40B4-BE49-F238E27FC236}">
                <a16:creationId xmlns:a16="http://schemas.microsoft.com/office/drawing/2014/main" id="{ADC0F465-E557-7024-583F-D5DD72AE50B5}"/>
              </a:ext>
            </a:extLst>
          </p:cNvPr>
          <p:cNvSpPr/>
          <p:nvPr/>
        </p:nvSpPr>
        <p:spPr>
          <a:xfrm>
            <a:off x="2400853" y="6328528"/>
            <a:ext cx="244952" cy="107435"/>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a:solidFill>
                <a:srgbClr val="FF0000"/>
              </a:solidFill>
            </a:endParaRPr>
          </a:p>
        </p:txBody>
      </p:sp>
      <p:sp>
        <p:nvSpPr>
          <p:cNvPr id="10" name="CuadroTexto 9">
            <a:extLst>
              <a:ext uri="{FF2B5EF4-FFF2-40B4-BE49-F238E27FC236}">
                <a16:creationId xmlns:a16="http://schemas.microsoft.com/office/drawing/2014/main" id="{8AE55B69-D632-0837-F0B9-0202B0CEE6FF}"/>
              </a:ext>
            </a:extLst>
          </p:cNvPr>
          <p:cNvSpPr txBox="1"/>
          <p:nvPr/>
        </p:nvSpPr>
        <p:spPr>
          <a:xfrm>
            <a:off x="2645805" y="6274524"/>
            <a:ext cx="1313180" cy="215444"/>
          </a:xfrm>
          <a:prstGeom prst="rect">
            <a:avLst/>
          </a:prstGeom>
          <a:noFill/>
        </p:spPr>
        <p:txBody>
          <a:bodyPr wrap="none" rtlCol="0">
            <a:spAutoFit/>
          </a:bodyPr>
          <a:lstStyle/>
          <a:p>
            <a:r>
              <a:rPr lang="es-ES" sz="800"/>
              <a:t>SCIB </a:t>
            </a:r>
            <a:r>
              <a:rPr lang="es-ES" sz="800" err="1"/>
              <a:t>Platform</a:t>
            </a:r>
            <a:r>
              <a:rPr lang="es-ES" sz="800"/>
              <a:t> </a:t>
            </a:r>
            <a:r>
              <a:rPr lang="es-ES" sz="800" err="1"/>
              <a:t>Component</a:t>
            </a:r>
            <a:endParaRPr lang="es-ES" sz="800"/>
          </a:p>
        </p:txBody>
      </p:sp>
    </p:spTree>
    <p:extLst>
      <p:ext uri="{BB962C8B-B14F-4D97-AF65-F5344CB8AC3E}">
        <p14:creationId xmlns:p14="http://schemas.microsoft.com/office/powerpoint/2010/main" val="31610353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A7E15-538C-DD1E-5420-7677DC1DEF5B}"/>
            </a:ext>
          </a:extLst>
        </p:cNvPr>
        <p:cNvGrpSpPr/>
        <p:nvPr/>
      </p:nvGrpSpPr>
      <p:grpSpPr>
        <a:xfrm>
          <a:off x="0" y="0"/>
          <a:ext cx="0" cy="0"/>
          <a:chOff x="0" y="0"/>
          <a:chExt cx="0" cy="0"/>
        </a:xfrm>
      </p:grpSpPr>
      <p:sp>
        <p:nvSpPr>
          <p:cNvPr id="113" name="Título 1">
            <a:extLst>
              <a:ext uri="{FF2B5EF4-FFF2-40B4-BE49-F238E27FC236}">
                <a16:creationId xmlns:a16="http://schemas.microsoft.com/office/drawing/2014/main" id="{7F161AEE-3586-6FAC-C8E2-AA6A84C7444F}"/>
              </a:ext>
            </a:extLst>
          </p:cNvPr>
          <p:cNvSpPr>
            <a:spLocks noGrp="1"/>
          </p:cNvSpPr>
          <p:nvPr>
            <p:ph type="title"/>
          </p:nvPr>
        </p:nvSpPr>
        <p:spPr>
          <a:xfrm>
            <a:off x="711024" y="641900"/>
            <a:ext cx="10758733" cy="445400"/>
          </a:xfrm>
        </p:spPr>
        <p:txBody>
          <a:bodyPr/>
          <a:lstStyle/>
          <a:p>
            <a:pPr>
              <a:defRPr/>
            </a:pPr>
            <a:r>
              <a:rPr kumimoji="0" lang="es-ES" sz="2800" b="1" i="0" u="none" strike="noStrike" kern="1200" cap="none" spc="0" normalizeH="0" baseline="0" noProof="0">
                <a:ln>
                  <a:noFill/>
                </a:ln>
                <a:solidFill>
                  <a:srgbClr val="EC0000"/>
                </a:solidFill>
                <a:effectLst/>
                <a:uLnTx/>
                <a:uFillTx/>
                <a:latin typeface="Santander Headline"/>
                <a:ea typeface="+mj-ea"/>
                <a:cs typeface="+mj-cs"/>
              </a:rPr>
              <a:t>SCIB. </a:t>
            </a:r>
            <a:r>
              <a:rPr kumimoji="0" lang="es-ES" sz="2800" b="1" i="0" u="none" strike="noStrike" kern="1200" cap="none" spc="0" normalizeH="0" baseline="0" noProof="0">
                <a:ln>
                  <a:noFill/>
                </a:ln>
                <a:solidFill>
                  <a:schemeClr val="bg2">
                    <a:lumMod val="75000"/>
                  </a:schemeClr>
                </a:solidFill>
                <a:effectLst/>
                <a:uLnTx/>
                <a:uFillTx/>
                <a:latin typeface="Santander Headline"/>
                <a:ea typeface="+mj-ea"/>
                <a:cs typeface="+mj-cs"/>
              </a:rPr>
              <a:t>E - Trading</a:t>
            </a:r>
            <a:br>
              <a:rPr kumimoji="0" lang="en-AU" sz="2800" b="1" i="0" u="none" strike="noStrike" kern="1200" cap="none" spc="0" normalizeH="0" baseline="0" noProof="0">
                <a:ln>
                  <a:noFill/>
                </a:ln>
                <a:solidFill>
                  <a:srgbClr val="BFBFBF"/>
                </a:solidFill>
                <a:effectLst/>
                <a:uLnTx/>
                <a:uFillTx/>
                <a:latin typeface="Santander Headline"/>
                <a:ea typeface="+mj-ea"/>
                <a:cs typeface="+mj-cs"/>
              </a:rPr>
            </a:br>
            <a:endParaRPr lang="en-US">
              <a:solidFill>
                <a:schemeClr val="bg1">
                  <a:lumMod val="75000"/>
                </a:schemeClr>
              </a:solidFill>
            </a:endParaRPr>
          </a:p>
        </p:txBody>
      </p:sp>
      <p:sp>
        <p:nvSpPr>
          <p:cNvPr id="37" name="Text Placeholder 2">
            <a:extLst>
              <a:ext uri="{FF2B5EF4-FFF2-40B4-BE49-F238E27FC236}">
                <a16:creationId xmlns:a16="http://schemas.microsoft.com/office/drawing/2014/main" id="{76B92775-805A-B752-15BE-747DBC24205F}"/>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29" name="Rectángulo 6">
            <a:extLst>
              <a:ext uri="{FF2B5EF4-FFF2-40B4-BE49-F238E27FC236}">
                <a16:creationId xmlns:a16="http://schemas.microsoft.com/office/drawing/2014/main" id="{CA0C223A-B446-0079-9E83-67FD88925394}"/>
              </a:ext>
            </a:extLst>
          </p:cNvPr>
          <p:cNvSpPr/>
          <p:nvPr/>
        </p:nvSpPr>
        <p:spPr>
          <a:xfrm>
            <a:off x="2400853" y="6328528"/>
            <a:ext cx="244952" cy="107435"/>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a:solidFill>
                <a:srgbClr val="FF0000"/>
              </a:solidFill>
            </a:endParaRPr>
          </a:p>
        </p:txBody>
      </p:sp>
      <p:sp>
        <p:nvSpPr>
          <p:cNvPr id="30" name="CuadroTexto 9">
            <a:extLst>
              <a:ext uri="{FF2B5EF4-FFF2-40B4-BE49-F238E27FC236}">
                <a16:creationId xmlns:a16="http://schemas.microsoft.com/office/drawing/2014/main" id="{8355C178-69D7-8F9F-9EB1-193FD38D4CB9}"/>
              </a:ext>
            </a:extLst>
          </p:cNvPr>
          <p:cNvSpPr txBox="1"/>
          <p:nvPr/>
        </p:nvSpPr>
        <p:spPr>
          <a:xfrm>
            <a:off x="2645805" y="6274524"/>
            <a:ext cx="1313180" cy="215444"/>
          </a:xfrm>
          <a:prstGeom prst="rect">
            <a:avLst/>
          </a:prstGeom>
          <a:noFill/>
        </p:spPr>
        <p:txBody>
          <a:bodyPr wrap="none" rtlCol="0">
            <a:spAutoFit/>
          </a:bodyPr>
          <a:lstStyle/>
          <a:p>
            <a:r>
              <a:rPr lang="es-ES" sz="800"/>
              <a:t>SCIB </a:t>
            </a:r>
            <a:r>
              <a:rPr lang="es-ES" sz="800" err="1"/>
              <a:t>Platform</a:t>
            </a:r>
            <a:r>
              <a:rPr lang="es-ES" sz="800"/>
              <a:t> </a:t>
            </a:r>
            <a:r>
              <a:rPr lang="es-ES" sz="800" err="1"/>
              <a:t>Component</a:t>
            </a:r>
            <a:endParaRPr lang="es-ES" sz="800"/>
          </a:p>
        </p:txBody>
      </p:sp>
      <p:sp>
        <p:nvSpPr>
          <p:cNvPr id="33" name="Rectángulo 15">
            <a:extLst>
              <a:ext uri="{FF2B5EF4-FFF2-40B4-BE49-F238E27FC236}">
                <a16:creationId xmlns:a16="http://schemas.microsoft.com/office/drawing/2014/main" id="{A4E1EA74-5405-5C53-9E87-F06B12BB1C97}"/>
              </a:ext>
            </a:extLst>
          </p:cNvPr>
          <p:cNvSpPr/>
          <p:nvPr/>
        </p:nvSpPr>
        <p:spPr>
          <a:xfrm>
            <a:off x="4168332" y="1400893"/>
            <a:ext cx="7551328" cy="240476"/>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kern="0">
                <a:solidFill>
                  <a:prstClr val="white"/>
                </a:solidFill>
                <a:latin typeface="Santander Text" panose="020B0504020201020104" pitchFamily="34" charset="0"/>
              </a:rPr>
              <a:t>Modules</a:t>
            </a:r>
          </a:p>
        </p:txBody>
      </p:sp>
      <p:sp>
        <p:nvSpPr>
          <p:cNvPr id="34" name="Rectángulo 9">
            <a:extLst>
              <a:ext uri="{FF2B5EF4-FFF2-40B4-BE49-F238E27FC236}">
                <a16:creationId xmlns:a16="http://schemas.microsoft.com/office/drawing/2014/main" id="{20F73905-483E-2C2A-CC55-451C4EFDF93C}"/>
              </a:ext>
            </a:extLst>
          </p:cNvPr>
          <p:cNvSpPr/>
          <p:nvPr/>
        </p:nvSpPr>
        <p:spPr>
          <a:xfrm>
            <a:off x="560553" y="1935520"/>
            <a:ext cx="3495612" cy="610496"/>
          </a:xfrm>
          <a:prstGeom prst="rect">
            <a:avLst/>
          </a:prstGeom>
          <a:solidFill>
            <a:srgbClr val="DEEDF1"/>
          </a:solidFill>
          <a:ln w="12700" cap="flat" cmpd="sng" algn="ctr">
            <a:noFill/>
            <a:prstDash val="solid"/>
            <a:miter lim="800000"/>
          </a:ln>
          <a:effectLst/>
        </p:spPr>
        <p:txBody>
          <a:bodyPr lIns="72000" rIns="36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55600" indent="-355600">
              <a:spcAft>
                <a:spcPts val="300"/>
              </a:spcAft>
            </a:pPr>
            <a:r>
              <a:rPr lang="en-GB" sz="900" b="1" kern="0">
                <a:solidFill>
                  <a:srgbClr val="DEEDF1">
                    <a:lumMod val="25000"/>
                  </a:srgbClr>
                </a:solidFill>
                <a:latin typeface="Santander Text" panose="020B0504020201020104" pitchFamily="34" charset="0"/>
              </a:rPr>
              <a:t>1 – Business Distribution Services</a:t>
            </a:r>
          </a:p>
        </p:txBody>
      </p:sp>
      <p:sp>
        <p:nvSpPr>
          <p:cNvPr id="35" name="Rectángulo 63">
            <a:extLst>
              <a:ext uri="{FF2B5EF4-FFF2-40B4-BE49-F238E27FC236}">
                <a16:creationId xmlns:a16="http://schemas.microsoft.com/office/drawing/2014/main" id="{AD5546E7-46EA-191B-A1F6-B1AA773B6EBB}"/>
              </a:ext>
            </a:extLst>
          </p:cNvPr>
          <p:cNvSpPr>
            <a:spLocks/>
          </p:cNvSpPr>
          <p:nvPr/>
        </p:nvSpPr>
        <p:spPr>
          <a:xfrm>
            <a:off x="4181106" y="1926375"/>
            <a:ext cx="7509393" cy="601547"/>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600"/>
              </a:spcAft>
            </a:pPr>
            <a:r>
              <a:rPr lang="en-US" sz="1100" kern="0" err="1">
                <a:solidFill>
                  <a:srgbClr val="DEEDF1">
                    <a:lumMod val="25000"/>
                  </a:srgbClr>
                </a:solidFill>
                <a:latin typeface="Santander Text" panose="020B0504020201020104" pitchFamily="34" charset="0"/>
              </a:rPr>
              <a:t>Acelera</a:t>
            </a:r>
            <a:endParaRPr lang="en-US" sz="1100" kern="0">
              <a:solidFill>
                <a:srgbClr val="DEEDF1">
                  <a:lumMod val="25000"/>
                </a:srgbClr>
              </a:solidFill>
              <a:latin typeface="Santander Text" panose="020B0504020201020104" pitchFamily="34" charset="0"/>
            </a:endParaRPr>
          </a:p>
        </p:txBody>
      </p:sp>
      <p:sp>
        <p:nvSpPr>
          <p:cNvPr id="36" name="Rectángulo 10">
            <a:extLst>
              <a:ext uri="{FF2B5EF4-FFF2-40B4-BE49-F238E27FC236}">
                <a16:creationId xmlns:a16="http://schemas.microsoft.com/office/drawing/2014/main" id="{E42909F5-CDD5-6EBF-B83E-AF0814604FB6}"/>
              </a:ext>
            </a:extLst>
          </p:cNvPr>
          <p:cNvSpPr/>
          <p:nvPr/>
        </p:nvSpPr>
        <p:spPr>
          <a:xfrm>
            <a:off x="552436" y="2617998"/>
            <a:ext cx="3495612" cy="603671"/>
          </a:xfrm>
          <a:prstGeom prst="rect">
            <a:avLst/>
          </a:prstGeom>
          <a:solidFill>
            <a:srgbClr val="DEEDF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36000"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55600" indent="-355600">
              <a:spcAft>
                <a:spcPts val="300"/>
              </a:spcAft>
            </a:pPr>
            <a:r>
              <a:rPr lang="en-GB" sz="900" b="1">
                <a:solidFill>
                  <a:srgbClr val="DEEDF1">
                    <a:lumMod val="25000"/>
                  </a:srgbClr>
                </a:solidFill>
                <a:latin typeface="Santander Text" panose="020B0504020201020104" pitchFamily="34" charset="0"/>
              </a:rPr>
              <a:t>2 – Front-office Business Services</a:t>
            </a:r>
          </a:p>
          <a:p>
            <a:pPr>
              <a:spcAft>
                <a:spcPts val="300"/>
              </a:spcAft>
            </a:pPr>
            <a:r>
              <a:rPr lang="en-GB" sz="800" i="1">
                <a:solidFill>
                  <a:srgbClr val="DEEDF1">
                    <a:lumMod val="25000"/>
                  </a:srgbClr>
                </a:solidFill>
                <a:latin typeface="Santander Text" panose="020B0504020201020104" pitchFamily="34" charset="0"/>
              </a:rPr>
              <a:t>	</a:t>
            </a:r>
            <a:endParaRPr lang="en-GB" sz="700" i="1">
              <a:solidFill>
                <a:srgbClr val="DEEDF1">
                  <a:lumMod val="25000"/>
                </a:srgbClr>
              </a:solidFill>
              <a:latin typeface="Santander Text" panose="020B0504020201020104" pitchFamily="34" charset="0"/>
            </a:endParaRPr>
          </a:p>
        </p:txBody>
      </p:sp>
      <p:sp>
        <p:nvSpPr>
          <p:cNvPr id="38" name="Rectángulo 15">
            <a:extLst>
              <a:ext uri="{FF2B5EF4-FFF2-40B4-BE49-F238E27FC236}">
                <a16:creationId xmlns:a16="http://schemas.microsoft.com/office/drawing/2014/main" id="{2E91A9C7-BFD2-67DB-5B51-4019D8429207}"/>
              </a:ext>
            </a:extLst>
          </p:cNvPr>
          <p:cNvSpPr/>
          <p:nvPr/>
        </p:nvSpPr>
        <p:spPr>
          <a:xfrm>
            <a:off x="560552" y="1400893"/>
            <a:ext cx="3495611" cy="240476"/>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kern="0">
                <a:solidFill>
                  <a:prstClr val="white"/>
                </a:solidFill>
                <a:latin typeface="Santander Text" panose="020B0504020201020104" pitchFamily="34" charset="0"/>
              </a:rPr>
              <a:t>Module Aggregation</a:t>
            </a:r>
          </a:p>
        </p:txBody>
      </p:sp>
      <p:sp>
        <p:nvSpPr>
          <p:cNvPr id="39" name="Rectángulo 114">
            <a:extLst>
              <a:ext uri="{FF2B5EF4-FFF2-40B4-BE49-F238E27FC236}">
                <a16:creationId xmlns:a16="http://schemas.microsoft.com/office/drawing/2014/main" id="{8B719382-6A4D-E0A3-2765-12CB3A57304D}"/>
              </a:ext>
            </a:extLst>
          </p:cNvPr>
          <p:cNvSpPr/>
          <p:nvPr/>
        </p:nvSpPr>
        <p:spPr>
          <a:xfrm>
            <a:off x="4168332" y="2613823"/>
            <a:ext cx="1800000" cy="601546"/>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Murex Europe 3.1</a:t>
            </a:r>
          </a:p>
        </p:txBody>
      </p:sp>
      <p:sp>
        <p:nvSpPr>
          <p:cNvPr id="40" name="Rectángulo 39">
            <a:extLst>
              <a:ext uri="{FF2B5EF4-FFF2-40B4-BE49-F238E27FC236}">
                <a16:creationId xmlns:a16="http://schemas.microsoft.com/office/drawing/2014/main" id="{7DD1DF33-47DF-269D-23CA-48810C1F7F38}"/>
              </a:ext>
            </a:extLst>
          </p:cNvPr>
          <p:cNvSpPr/>
          <p:nvPr/>
        </p:nvSpPr>
        <p:spPr>
          <a:xfrm>
            <a:off x="4095181" y="1805129"/>
            <a:ext cx="7687268" cy="1447200"/>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a:solidFill>
                <a:srgbClr val="FF0000"/>
              </a:solidFill>
            </a:endParaRPr>
          </a:p>
        </p:txBody>
      </p:sp>
      <p:sp>
        <p:nvSpPr>
          <p:cNvPr id="41" name="CuadroTexto 40">
            <a:extLst>
              <a:ext uri="{FF2B5EF4-FFF2-40B4-BE49-F238E27FC236}">
                <a16:creationId xmlns:a16="http://schemas.microsoft.com/office/drawing/2014/main" id="{533457C5-80E0-061D-E773-542A95FEC998}"/>
              </a:ext>
            </a:extLst>
          </p:cNvPr>
          <p:cNvSpPr txBox="1"/>
          <p:nvPr/>
        </p:nvSpPr>
        <p:spPr>
          <a:xfrm>
            <a:off x="4838341" y="1667981"/>
            <a:ext cx="989373" cy="215444"/>
          </a:xfrm>
          <a:prstGeom prst="rect">
            <a:avLst/>
          </a:prstGeom>
          <a:solidFill>
            <a:schemeClr val="bg1"/>
          </a:solidFill>
        </p:spPr>
        <p:txBody>
          <a:bodyPr wrap="none" rtlCol="0">
            <a:spAutoFit/>
          </a:bodyPr>
          <a:lstStyle/>
          <a:p>
            <a:pPr algn="ctr">
              <a:spcAft>
                <a:spcPts val="600"/>
              </a:spcAft>
            </a:pPr>
            <a:r>
              <a:rPr lang="es-ES" sz="800" kern="0" err="1">
                <a:solidFill>
                  <a:schemeClr val="accent1"/>
                </a:solidFill>
              </a:rPr>
              <a:t>Markets</a:t>
            </a:r>
            <a:r>
              <a:rPr lang="es-ES" sz="800" kern="0">
                <a:solidFill>
                  <a:schemeClr val="accent1"/>
                </a:solidFill>
              </a:rPr>
              <a:t> E-trading</a:t>
            </a:r>
          </a:p>
        </p:txBody>
      </p:sp>
      <p:sp>
        <p:nvSpPr>
          <p:cNvPr id="42" name="Rectángulo 10">
            <a:extLst>
              <a:ext uri="{FF2B5EF4-FFF2-40B4-BE49-F238E27FC236}">
                <a16:creationId xmlns:a16="http://schemas.microsoft.com/office/drawing/2014/main" id="{044A2145-9A77-1985-5AD5-4EF16E752046}"/>
              </a:ext>
            </a:extLst>
          </p:cNvPr>
          <p:cNvSpPr/>
          <p:nvPr/>
        </p:nvSpPr>
        <p:spPr>
          <a:xfrm>
            <a:off x="560553" y="3336179"/>
            <a:ext cx="3495612" cy="603671"/>
          </a:xfrm>
          <a:prstGeom prst="rect">
            <a:avLst/>
          </a:prstGeom>
          <a:solidFill>
            <a:srgbClr val="DEEDF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36000"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55600" indent="-355600">
              <a:spcAft>
                <a:spcPts val="300"/>
              </a:spcAft>
            </a:pPr>
            <a:r>
              <a:rPr lang="en-GB" sz="900" b="1">
                <a:solidFill>
                  <a:srgbClr val="DEEDF1">
                    <a:lumMod val="25000"/>
                  </a:srgbClr>
                </a:solidFill>
                <a:latin typeface="Santander Text" panose="020B0504020201020104" pitchFamily="34" charset="0"/>
              </a:rPr>
              <a:t>3 – Business Execution Services</a:t>
            </a:r>
          </a:p>
          <a:p>
            <a:pPr>
              <a:spcAft>
                <a:spcPts val="300"/>
              </a:spcAft>
            </a:pPr>
            <a:r>
              <a:rPr lang="en-GB" sz="800" i="1">
                <a:solidFill>
                  <a:srgbClr val="DEEDF1">
                    <a:lumMod val="25000"/>
                  </a:srgbClr>
                </a:solidFill>
                <a:latin typeface="Santander Text" panose="020B0504020201020104" pitchFamily="34" charset="0"/>
              </a:rPr>
              <a:t>	</a:t>
            </a:r>
            <a:endParaRPr lang="en-GB" sz="700" i="1">
              <a:solidFill>
                <a:srgbClr val="DEEDF1">
                  <a:lumMod val="25000"/>
                </a:srgbClr>
              </a:solidFill>
              <a:latin typeface="Santander Text" panose="020B0504020201020104" pitchFamily="34" charset="0"/>
            </a:endParaRPr>
          </a:p>
        </p:txBody>
      </p:sp>
      <p:sp>
        <p:nvSpPr>
          <p:cNvPr id="43" name="Rectángulo 10">
            <a:extLst>
              <a:ext uri="{FF2B5EF4-FFF2-40B4-BE49-F238E27FC236}">
                <a16:creationId xmlns:a16="http://schemas.microsoft.com/office/drawing/2014/main" id="{670F57D3-2611-4BEF-F255-17E76D50B938}"/>
              </a:ext>
            </a:extLst>
          </p:cNvPr>
          <p:cNvSpPr/>
          <p:nvPr/>
        </p:nvSpPr>
        <p:spPr>
          <a:xfrm>
            <a:off x="552435" y="4001200"/>
            <a:ext cx="3495612" cy="602896"/>
          </a:xfrm>
          <a:prstGeom prst="rect">
            <a:avLst/>
          </a:prstGeom>
          <a:solidFill>
            <a:srgbClr val="DEEDF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36000"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55600" indent="-355600">
              <a:spcAft>
                <a:spcPts val="300"/>
              </a:spcAft>
            </a:pPr>
            <a:r>
              <a:rPr lang="en-GB" sz="900" b="1">
                <a:solidFill>
                  <a:srgbClr val="DEEDF1">
                    <a:lumMod val="25000"/>
                  </a:srgbClr>
                </a:solidFill>
                <a:latin typeface="Santander Text" panose="020B0504020201020104" pitchFamily="34" charset="0"/>
              </a:rPr>
              <a:t>4 – Back Office Business Execution Services</a:t>
            </a:r>
          </a:p>
          <a:p>
            <a:pPr>
              <a:spcAft>
                <a:spcPts val="300"/>
              </a:spcAft>
            </a:pPr>
            <a:r>
              <a:rPr lang="en-GB" sz="800" i="1">
                <a:solidFill>
                  <a:srgbClr val="DEEDF1">
                    <a:lumMod val="25000"/>
                  </a:srgbClr>
                </a:solidFill>
                <a:latin typeface="Santander Text" panose="020B0504020201020104" pitchFamily="34" charset="0"/>
              </a:rPr>
              <a:t>	</a:t>
            </a:r>
            <a:endParaRPr lang="en-GB" sz="700" i="1">
              <a:solidFill>
                <a:srgbClr val="DEEDF1">
                  <a:lumMod val="25000"/>
                </a:srgbClr>
              </a:solidFill>
              <a:latin typeface="Santander Text" panose="020B0504020201020104" pitchFamily="34" charset="0"/>
            </a:endParaRPr>
          </a:p>
        </p:txBody>
      </p:sp>
      <p:sp>
        <p:nvSpPr>
          <p:cNvPr id="44" name="Rectángulo 114">
            <a:extLst>
              <a:ext uri="{FF2B5EF4-FFF2-40B4-BE49-F238E27FC236}">
                <a16:creationId xmlns:a16="http://schemas.microsoft.com/office/drawing/2014/main" id="{CE3CF14C-6089-156E-CBE1-6903E9D4EFA9}"/>
              </a:ext>
            </a:extLst>
          </p:cNvPr>
          <p:cNvSpPr/>
          <p:nvPr/>
        </p:nvSpPr>
        <p:spPr>
          <a:xfrm>
            <a:off x="6074193" y="2620197"/>
            <a:ext cx="1800000" cy="601546"/>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Murex Brasil 3.1</a:t>
            </a:r>
          </a:p>
        </p:txBody>
      </p:sp>
      <p:sp>
        <p:nvSpPr>
          <p:cNvPr id="45" name="Rectángulo 114">
            <a:extLst>
              <a:ext uri="{FF2B5EF4-FFF2-40B4-BE49-F238E27FC236}">
                <a16:creationId xmlns:a16="http://schemas.microsoft.com/office/drawing/2014/main" id="{29D2D079-6D96-7745-1FD9-A19F75FB2BF1}"/>
              </a:ext>
            </a:extLst>
          </p:cNvPr>
          <p:cNvSpPr/>
          <p:nvPr/>
        </p:nvSpPr>
        <p:spPr>
          <a:xfrm>
            <a:off x="7980054" y="2620197"/>
            <a:ext cx="1800000" cy="601546"/>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Murex Latam 3.1</a:t>
            </a:r>
          </a:p>
        </p:txBody>
      </p:sp>
      <p:sp>
        <p:nvSpPr>
          <p:cNvPr id="46" name="Rectángulo 114">
            <a:extLst>
              <a:ext uri="{FF2B5EF4-FFF2-40B4-BE49-F238E27FC236}">
                <a16:creationId xmlns:a16="http://schemas.microsoft.com/office/drawing/2014/main" id="{297E026B-FA81-7B8C-D0DD-B372C75EFF90}"/>
              </a:ext>
            </a:extLst>
          </p:cNvPr>
          <p:cNvSpPr/>
          <p:nvPr/>
        </p:nvSpPr>
        <p:spPr>
          <a:xfrm>
            <a:off x="9903383" y="2620197"/>
            <a:ext cx="1800000" cy="601546"/>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Murex Equity 3.1</a:t>
            </a:r>
          </a:p>
        </p:txBody>
      </p:sp>
      <p:sp>
        <p:nvSpPr>
          <p:cNvPr id="47" name="Rectángulo 114">
            <a:extLst>
              <a:ext uri="{FF2B5EF4-FFF2-40B4-BE49-F238E27FC236}">
                <a16:creationId xmlns:a16="http://schemas.microsoft.com/office/drawing/2014/main" id="{33C08FAE-B6FF-9313-3634-51B69CD8E006}"/>
              </a:ext>
            </a:extLst>
          </p:cNvPr>
          <p:cNvSpPr/>
          <p:nvPr/>
        </p:nvSpPr>
        <p:spPr>
          <a:xfrm>
            <a:off x="4139919" y="3333409"/>
            <a:ext cx="3734274" cy="601546"/>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AUKI BO Workflows</a:t>
            </a:r>
          </a:p>
        </p:txBody>
      </p:sp>
      <p:sp>
        <p:nvSpPr>
          <p:cNvPr id="48" name="Rectángulo 114">
            <a:extLst>
              <a:ext uri="{FF2B5EF4-FFF2-40B4-BE49-F238E27FC236}">
                <a16:creationId xmlns:a16="http://schemas.microsoft.com/office/drawing/2014/main" id="{0B56E462-8FDC-5D47-3688-8A7AA10501AB}"/>
              </a:ext>
            </a:extLst>
          </p:cNvPr>
          <p:cNvSpPr/>
          <p:nvPr/>
        </p:nvSpPr>
        <p:spPr>
          <a:xfrm>
            <a:off x="7993503" y="3333409"/>
            <a:ext cx="3686120" cy="601546"/>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Integrity Check</a:t>
            </a:r>
          </a:p>
        </p:txBody>
      </p:sp>
      <p:sp>
        <p:nvSpPr>
          <p:cNvPr id="49" name="Rectángulo 48">
            <a:extLst>
              <a:ext uri="{FF2B5EF4-FFF2-40B4-BE49-F238E27FC236}">
                <a16:creationId xmlns:a16="http://schemas.microsoft.com/office/drawing/2014/main" id="{BD4E7553-1D3A-19D1-5E43-0E2544F028F3}"/>
              </a:ext>
            </a:extLst>
          </p:cNvPr>
          <p:cNvSpPr/>
          <p:nvPr/>
        </p:nvSpPr>
        <p:spPr>
          <a:xfrm>
            <a:off x="4094199" y="3288233"/>
            <a:ext cx="7688250" cy="1348536"/>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a:solidFill>
                <a:srgbClr val="FF0000"/>
              </a:solidFill>
            </a:endParaRPr>
          </a:p>
        </p:txBody>
      </p:sp>
      <p:sp>
        <p:nvSpPr>
          <p:cNvPr id="50" name="CuadroTexto 49">
            <a:extLst>
              <a:ext uri="{FF2B5EF4-FFF2-40B4-BE49-F238E27FC236}">
                <a16:creationId xmlns:a16="http://schemas.microsoft.com/office/drawing/2014/main" id="{3ABC8B42-65F3-6470-FB18-C157942CE469}"/>
              </a:ext>
            </a:extLst>
          </p:cNvPr>
          <p:cNvSpPr txBox="1"/>
          <p:nvPr/>
        </p:nvSpPr>
        <p:spPr>
          <a:xfrm>
            <a:off x="5010965" y="3256505"/>
            <a:ext cx="768160" cy="215444"/>
          </a:xfrm>
          <a:prstGeom prst="rect">
            <a:avLst/>
          </a:prstGeom>
          <a:solidFill>
            <a:schemeClr val="bg1"/>
          </a:solidFill>
        </p:spPr>
        <p:txBody>
          <a:bodyPr wrap="none" rtlCol="0">
            <a:spAutoFit/>
          </a:bodyPr>
          <a:lstStyle/>
          <a:p>
            <a:pPr algn="ctr">
              <a:spcAft>
                <a:spcPts val="600"/>
              </a:spcAft>
            </a:pPr>
            <a:r>
              <a:rPr lang="es-ES" sz="800" kern="0" err="1">
                <a:solidFill>
                  <a:schemeClr val="accent1"/>
                </a:solidFill>
              </a:rPr>
              <a:t>Markets</a:t>
            </a:r>
            <a:r>
              <a:rPr lang="es-ES" sz="800" kern="0">
                <a:solidFill>
                  <a:schemeClr val="accent1"/>
                </a:solidFill>
              </a:rPr>
              <a:t> Back</a:t>
            </a:r>
          </a:p>
        </p:txBody>
      </p:sp>
      <p:sp>
        <p:nvSpPr>
          <p:cNvPr id="51" name="Rectángulo 114">
            <a:extLst>
              <a:ext uri="{FF2B5EF4-FFF2-40B4-BE49-F238E27FC236}">
                <a16:creationId xmlns:a16="http://schemas.microsoft.com/office/drawing/2014/main" id="{94074AAC-6016-7CF5-5977-78A18C592CBE}"/>
              </a:ext>
            </a:extLst>
          </p:cNvPr>
          <p:cNvSpPr/>
          <p:nvPr/>
        </p:nvSpPr>
        <p:spPr>
          <a:xfrm>
            <a:off x="4149225" y="4005854"/>
            <a:ext cx="2240000" cy="601546"/>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Calypso CCPs</a:t>
            </a:r>
          </a:p>
        </p:txBody>
      </p:sp>
      <p:sp>
        <p:nvSpPr>
          <p:cNvPr id="53" name="Rectángulo 114">
            <a:extLst>
              <a:ext uri="{FF2B5EF4-FFF2-40B4-BE49-F238E27FC236}">
                <a16:creationId xmlns:a16="http://schemas.microsoft.com/office/drawing/2014/main" id="{21D296D6-33E4-830B-CBC4-E12C38EEAFE3}"/>
              </a:ext>
            </a:extLst>
          </p:cNvPr>
          <p:cNvSpPr/>
          <p:nvPr/>
        </p:nvSpPr>
        <p:spPr>
          <a:xfrm>
            <a:off x="6464483" y="4001875"/>
            <a:ext cx="2239999" cy="601546"/>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Calypso STC</a:t>
            </a:r>
          </a:p>
        </p:txBody>
      </p:sp>
      <p:sp>
        <p:nvSpPr>
          <p:cNvPr id="54" name="Rectángulo 114">
            <a:extLst>
              <a:ext uri="{FF2B5EF4-FFF2-40B4-BE49-F238E27FC236}">
                <a16:creationId xmlns:a16="http://schemas.microsoft.com/office/drawing/2014/main" id="{ACB78D39-47C5-5EC7-2D41-4982C4FABCD4}"/>
              </a:ext>
            </a:extLst>
          </p:cNvPr>
          <p:cNvSpPr/>
          <p:nvPr/>
        </p:nvSpPr>
        <p:spPr>
          <a:xfrm>
            <a:off x="8764257" y="4001875"/>
            <a:ext cx="1483780" cy="601546"/>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BOX</a:t>
            </a:r>
          </a:p>
        </p:txBody>
      </p:sp>
      <p:sp>
        <p:nvSpPr>
          <p:cNvPr id="55" name="Rectángulo 10">
            <a:extLst>
              <a:ext uri="{FF2B5EF4-FFF2-40B4-BE49-F238E27FC236}">
                <a16:creationId xmlns:a16="http://schemas.microsoft.com/office/drawing/2014/main" id="{B415F850-C18C-D952-E2A4-59CA4F9BEABB}"/>
              </a:ext>
            </a:extLst>
          </p:cNvPr>
          <p:cNvSpPr/>
          <p:nvPr/>
        </p:nvSpPr>
        <p:spPr>
          <a:xfrm>
            <a:off x="532236" y="4759464"/>
            <a:ext cx="3515812" cy="603671"/>
          </a:xfrm>
          <a:prstGeom prst="rect">
            <a:avLst/>
          </a:prstGeom>
          <a:solidFill>
            <a:srgbClr val="DEEDF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36000"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55600" indent="-355600">
              <a:spcAft>
                <a:spcPts val="300"/>
              </a:spcAft>
            </a:pPr>
            <a:r>
              <a:rPr lang="en-GB" sz="900" b="1">
                <a:solidFill>
                  <a:srgbClr val="DEEDF1">
                    <a:lumMod val="25000"/>
                  </a:srgbClr>
                </a:solidFill>
                <a:latin typeface="Santander Text" panose="020B0504020201020104" pitchFamily="34" charset="0"/>
              </a:rPr>
              <a:t>5 – Markets Data Services </a:t>
            </a:r>
          </a:p>
          <a:p>
            <a:pPr>
              <a:spcAft>
                <a:spcPts val="300"/>
              </a:spcAft>
            </a:pPr>
            <a:r>
              <a:rPr lang="en-GB" sz="800" i="1">
                <a:solidFill>
                  <a:srgbClr val="DEEDF1">
                    <a:lumMod val="25000"/>
                  </a:srgbClr>
                </a:solidFill>
                <a:latin typeface="Santander Text" panose="020B0504020201020104" pitchFamily="34" charset="0"/>
              </a:rPr>
              <a:t>	</a:t>
            </a:r>
            <a:endParaRPr lang="en-GB" sz="700" i="1">
              <a:solidFill>
                <a:srgbClr val="DEEDF1">
                  <a:lumMod val="25000"/>
                </a:srgbClr>
              </a:solidFill>
              <a:latin typeface="Santander Text" panose="020B0504020201020104" pitchFamily="34" charset="0"/>
            </a:endParaRPr>
          </a:p>
        </p:txBody>
      </p:sp>
      <p:sp>
        <p:nvSpPr>
          <p:cNvPr id="56" name="Rectángulo 63">
            <a:extLst>
              <a:ext uri="{FF2B5EF4-FFF2-40B4-BE49-F238E27FC236}">
                <a16:creationId xmlns:a16="http://schemas.microsoft.com/office/drawing/2014/main" id="{274ECD00-27E7-FECC-AFC8-ECC97E5E8BFA}"/>
              </a:ext>
            </a:extLst>
          </p:cNvPr>
          <p:cNvSpPr>
            <a:spLocks/>
          </p:cNvSpPr>
          <p:nvPr/>
        </p:nvSpPr>
        <p:spPr>
          <a:xfrm>
            <a:off x="4127651" y="4731639"/>
            <a:ext cx="7551972" cy="601547"/>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600"/>
              </a:spcAft>
            </a:pPr>
            <a:r>
              <a:rPr lang="en-US" sz="1100" kern="0">
                <a:solidFill>
                  <a:srgbClr val="DEEDF1">
                    <a:lumMod val="25000"/>
                  </a:srgbClr>
                </a:solidFill>
                <a:latin typeface="Santander Text" panose="020B0504020201020104" pitchFamily="34" charset="0"/>
              </a:rPr>
              <a:t>Data Hub Market Trades</a:t>
            </a:r>
          </a:p>
        </p:txBody>
      </p:sp>
      <p:sp>
        <p:nvSpPr>
          <p:cNvPr id="57" name="Rectángulo 114">
            <a:extLst>
              <a:ext uri="{FF2B5EF4-FFF2-40B4-BE49-F238E27FC236}">
                <a16:creationId xmlns:a16="http://schemas.microsoft.com/office/drawing/2014/main" id="{CF3F1285-5720-9090-049A-A68BA36D2880}"/>
              </a:ext>
            </a:extLst>
          </p:cNvPr>
          <p:cNvSpPr/>
          <p:nvPr/>
        </p:nvSpPr>
        <p:spPr>
          <a:xfrm>
            <a:off x="10298668" y="4002549"/>
            <a:ext cx="1392393" cy="601546"/>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INTELLIMATCH</a:t>
            </a:r>
          </a:p>
        </p:txBody>
      </p:sp>
      <p:sp>
        <p:nvSpPr>
          <p:cNvPr id="58" name="Rectángulo 6">
            <a:extLst>
              <a:ext uri="{FF2B5EF4-FFF2-40B4-BE49-F238E27FC236}">
                <a16:creationId xmlns:a16="http://schemas.microsoft.com/office/drawing/2014/main" id="{187B1907-982F-E67C-D980-1128A17E06DB}"/>
              </a:ext>
            </a:extLst>
          </p:cNvPr>
          <p:cNvSpPr/>
          <p:nvPr/>
        </p:nvSpPr>
        <p:spPr>
          <a:xfrm>
            <a:off x="2250382" y="5853495"/>
            <a:ext cx="244952" cy="107435"/>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a:solidFill>
                <a:srgbClr val="FF0000"/>
              </a:solidFill>
            </a:endParaRPr>
          </a:p>
        </p:txBody>
      </p:sp>
      <p:sp>
        <p:nvSpPr>
          <p:cNvPr id="59" name="CuadroTexto 9">
            <a:extLst>
              <a:ext uri="{FF2B5EF4-FFF2-40B4-BE49-F238E27FC236}">
                <a16:creationId xmlns:a16="http://schemas.microsoft.com/office/drawing/2014/main" id="{325C4F07-CD9B-0304-4570-F15FCA51173D}"/>
              </a:ext>
            </a:extLst>
          </p:cNvPr>
          <p:cNvSpPr txBox="1"/>
          <p:nvPr/>
        </p:nvSpPr>
        <p:spPr>
          <a:xfrm>
            <a:off x="2495334" y="5799491"/>
            <a:ext cx="1313180" cy="215444"/>
          </a:xfrm>
          <a:prstGeom prst="rect">
            <a:avLst/>
          </a:prstGeom>
          <a:noFill/>
        </p:spPr>
        <p:txBody>
          <a:bodyPr wrap="none" rtlCol="0">
            <a:spAutoFit/>
          </a:bodyPr>
          <a:lstStyle/>
          <a:p>
            <a:r>
              <a:rPr lang="es-ES" sz="800"/>
              <a:t>SCIB </a:t>
            </a:r>
            <a:r>
              <a:rPr lang="es-ES" sz="800" err="1"/>
              <a:t>Platform</a:t>
            </a:r>
            <a:r>
              <a:rPr lang="es-ES" sz="800"/>
              <a:t> </a:t>
            </a:r>
            <a:r>
              <a:rPr lang="es-ES" sz="800" err="1"/>
              <a:t>Component</a:t>
            </a:r>
            <a:endParaRPr lang="es-ES" sz="800"/>
          </a:p>
        </p:txBody>
      </p:sp>
      <p:sp>
        <p:nvSpPr>
          <p:cNvPr id="60" name="Rectángulo 17">
            <a:extLst>
              <a:ext uri="{FF2B5EF4-FFF2-40B4-BE49-F238E27FC236}">
                <a16:creationId xmlns:a16="http://schemas.microsoft.com/office/drawing/2014/main" id="{F50108AD-369F-5B48-3F25-00732144A502}"/>
              </a:ext>
            </a:extLst>
          </p:cNvPr>
          <p:cNvSpPr/>
          <p:nvPr/>
        </p:nvSpPr>
        <p:spPr>
          <a:xfrm>
            <a:off x="4087109" y="4664283"/>
            <a:ext cx="7688250" cy="761751"/>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a:solidFill>
                <a:srgbClr val="FF0000"/>
              </a:solidFill>
            </a:endParaRPr>
          </a:p>
        </p:txBody>
      </p:sp>
      <p:sp>
        <p:nvSpPr>
          <p:cNvPr id="61" name="TextBox 31">
            <a:extLst>
              <a:ext uri="{FF2B5EF4-FFF2-40B4-BE49-F238E27FC236}">
                <a16:creationId xmlns:a16="http://schemas.microsoft.com/office/drawing/2014/main" id="{CCB4127F-297A-D3A7-F85E-540830051070}"/>
              </a:ext>
            </a:extLst>
          </p:cNvPr>
          <p:cNvSpPr txBox="1"/>
          <p:nvPr/>
        </p:nvSpPr>
        <p:spPr>
          <a:xfrm>
            <a:off x="4228851" y="4681532"/>
            <a:ext cx="3746538" cy="178053"/>
          </a:xfrm>
          <a:prstGeom prst="rect">
            <a:avLst/>
          </a:prstGeom>
          <a:solidFill>
            <a:schemeClr val="bg1"/>
          </a:solidFill>
        </p:spPr>
        <p:txBody>
          <a:bodyPr wrap="none" rtlCol="0">
            <a:spAutoFit/>
          </a:bodyPr>
          <a:lstStyle>
            <a:defPPr>
              <a:defRPr lang="es-ES"/>
            </a:defPPr>
            <a:lvl1pPr algn="ctr">
              <a:spcAft>
                <a:spcPts val="600"/>
              </a:spcAft>
              <a:defRPr sz="800" kern="0">
                <a:solidFill>
                  <a:schemeClr val="accent1"/>
                </a:solidFill>
              </a:defRPr>
            </a:lvl1pPr>
          </a:lstStyle>
          <a:p>
            <a:r>
              <a:rPr lang="en-GB"/>
              <a:t>Wholesale </a:t>
            </a:r>
            <a:r>
              <a:rPr lang="en-GB" err="1"/>
              <a:t>Operations,KYC,Credit&amp;Market</a:t>
            </a:r>
            <a:r>
              <a:rPr lang="en-GB"/>
              <a:t> Risk, Reg Reporting, </a:t>
            </a:r>
            <a:r>
              <a:rPr lang="en-GB" err="1"/>
              <a:t>Transac</a:t>
            </a:r>
            <a:r>
              <a:rPr lang="en-GB"/>
              <a:t> Monitoring</a:t>
            </a:r>
          </a:p>
        </p:txBody>
      </p:sp>
    </p:spTree>
    <p:extLst>
      <p:ext uri="{BB962C8B-B14F-4D97-AF65-F5344CB8AC3E}">
        <p14:creationId xmlns:p14="http://schemas.microsoft.com/office/powerpoint/2010/main" val="17175911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92D65-25C6-5B16-2400-67D86D25E7EA}"/>
            </a:ext>
          </a:extLst>
        </p:cNvPr>
        <p:cNvGrpSpPr/>
        <p:nvPr/>
      </p:nvGrpSpPr>
      <p:grpSpPr>
        <a:xfrm>
          <a:off x="0" y="0"/>
          <a:ext cx="0" cy="0"/>
          <a:chOff x="0" y="0"/>
          <a:chExt cx="0" cy="0"/>
        </a:xfrm>
      </p:grpSpPr>
      <p:sp>
        <p:nvSpPr>
          <p:cNvPr id="113" name="Título 1">
            <a:extLst>
              <a:ext uri="{FF2B5EF4-FFF2-40B4-BE49-F238E27FC236}">
                <a16:creationId xmlns:a16="http://schemas.microsoft.com/office/drawing/2014/main" id="{EC0C82AE-E17C-2962-D341-4060CFE2B4E1}"/>
              </a:ext>
            </a:extLst>
          </p:cNvPr>
          <p:cNvSpPr>
            <a:spLocks noGrp="1"/>
          </p:cNvSpPr>
          <p:nvPr>
            <p:ph type="title"/>
          </p:nvPr>
        </p:nvSpPr>
        <p:spPr>
          <a:xfrm>
            <a:off x="711024" y="641900"/>
            <a:ext cx="10758733" cy="445400"/>
          </a:xfrm>
        </p:spPr>
        <p:txBody>
          <a:bodyPr/>
          <a:lstStyle/>
          <a:p>
            <a:pPr>
              <a:defRPr/>
            </a:pPr>
            <a:r>
              <a:rPr kumimoji="0" lang="es-ES" sz="2800" b="1" i="0" u="none" strike="noStrike" kern="1200" cap="none" spc="0" normalizeH="0" baseline="0" noProof="0">
                <a:ln>
                  <a:noFill/>
                </a:ln>
                <a:solidFill>
                  <a:srgbClr val="EC0000"/>
                </a:solidFill>
                <a:effectLst/>
                <a:uLnTx/>
                <a:uFillTx/>
                <a:latin typeface="Santander Headline"/>
                <a:ea typeface="+mj-ea"/>
                <a:cs typeface="+mj-cs"/>
              </a:rPr>
              <a:t>SCIB. </a:t>
            </a:r>
            <a:r>
              <a:rPr kumimoji="0" lang="es-ES" sz="2800" b="1" i="0" u="none" strike="noStrike" kern="1200" cap="none" spc="0" normalizeH="0" baseline="0" noProof="0">
                <a:ln>
                  <a:noFill/>
                </a:ln>
                <a:solidFill>
                  <a:schemeClr val="bg2">
                    <a:lumMod val="75000"/>
                  </a:schemeClr>
                </a:solidFill>
                <a:effectLst/>
                <a:uLnTx/>
                <a:uFillTx/>
                <a:latin typeface="Santander Headline"/>
                <a:ea typeface="+mj-ea"/>
                <a:cs typeface="+mj-cs"/>
              </a:rPr>
              <a:t>FX</a:t>
            </a:r>
            <a:br>
              <a:rPr kumimoji="0" lang="en-AU" sz="2800" b="1" i="0" u="none" strike="noStrike" kern="1200" cap="none" spc="0" normalizeH="0" baseline="0" noProof="0">
                <a:ln>
                  <a:noFill/>
                </a:ln>
                <a:solidFill>
                  <a:srgbClr val="BFBFBF"/>
                </a:solidFill>
                <a:effectLst/>
                <a:uLnTx/>
                <a:uFillTx/>
                <a:latin typeface="Santander Headline"/>
                <a:ea typeface="+mj-ea"/>
                <a:cs typeface="+mj-cs"/>
              </a:rPr>
            </a:br>
            <a:endParaRPr lang="en-US">
              <a:solidFill>
                <a:schemeClr val="bg1">
                  <a:lumMod val="75000"/>
                </a:schemeClr>
              </a:solidFill>
            </a:endParaRPr>
          </a:p>
        </p:txBody>
      </p:sp>
      <p:sp>
        <p:nvSpPr>
          <p:cNvPr id="15" name="Rectángulo 15">
            <a:extLst>
              <a:ext uri="{FF2B5EF4-FFF2-40B4-BE49-F238E27FC236}">
                <a16:creationId xmlns:a16="http://schemas.microsoft.com/office/drawing/2014/main" id="{DBDBE495-94F3-6A34-C9F7-02BC46254836}"/>
              </a:ext>
            </a:extLst>
          </p:cNvPr>
          <p:cNvSpPr/>
          <p:nvPr/>
        </p:nvSpPr>
        <p:spPr>
          <a:xfrm>
            <a:off x="4318803" y="1875926"/>
            <a:ext cx="7551328" cy="240476"/>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kern="0">
                <a:solidFill>
                  <a:prstClr val="white"/>
                </a:solidFill>
                <a:latin typeface="Santander Text" panose="020B0504020201020104" pitchFamily="34" charset="0"/>
              </a:rPr>
              <a:t>Modules</a:t>
            </a:r>
          </a:p>
        </p:txBody>
      </p:sp>
      <p:sp>
        <p:nvSpPr>
          <p:cNvPr id="8" name="Rectángulo 9">
            <a:extLst>
              <a:ext uri="{FF2B5EF4-FFF2-40B4-BE49-F238E27FC236}">
                <a16:creationId xmlns:a16="http://schemas.microsoft.com/office/drawing/2014/main" id="{EEB615D6-78D1-6259-C7F0-8B24D641CF07}"/>
              </a:ext>
            </a:extLst>
          </p:cNvPr>
          <p:cNvSpPr/>
          <p:nvPr/>
        </p:nvSpPr>
        <p:spPr>
          <a:xfrm>
            <a:off x="711025" y="2410553"/>
            <a:ext cx="3495611" cy="610496"/>
          </a:xfrm>
          <a:prstGeom prst="rect">
            <a:avLst/>
          </a:prstGeom>
          <a:solidFill>
            <a:srgbClr val="DEEDF1"/>
          </a:solidFill>
          <a:ln w="12700" cap="flat" cmpd="sng" algn="ctr">
            <a:noFill/>
            <a:prstDash val="solid"/>
            <a:miter lim="800000"/>
          </a:ln>
          <a:effectLst/>
        </p:spPr>
        <p:txBody>
          <a:bodyPr lIns="72000" rIns="36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55600" indent="-355600">
              <a:spcAft>
                <a:spcPts val="300"/>
              </a:spcAft>
            </a:pPr>
            <a:r>
              <a:rPr lang="en-GB" sz="900" b="1" kern="0">
                <a:solidFill>
                  <a:srgbClr val="DEEDF1">
                    <a:lumMod val="25000"/>
                  </a:srgbClr>
                </a:solidFill>
                <a:latin typeface="Santander Text" panose="020B0504020201020104" pitchFamily="34" charset="0"/>
              </a:rPr>
              <a:t>1 – Trading Sales Services</a:t>
            </a:r>
          </a:p>
        </p:txBody>
      </p:sp>
      <p:sp>
        <p:nvSpPr>
          <p:cNvPr id="22" name="Rectángulo 63">
            <a:extLst>
              <a:ext uri="{FF2B5EF4-FFF2-40B4-BE49-F238E27FC236}">
                <a16:creationId xmlns:a16="http://schemas.microsoft.com/office/drawing/2014/main" id="{A9A34CEE-880D-8274-8F49-D49686310D9D}"/>
              </a:ext>
            </a:extLst>
          </p:cNvPr>
          <p:cNvSpPr>
            <a:spLocks/>
          </p:cNvSpPr>
          <p:nvPr/>
        </p:nvSpPr>
        <p:spPr>
          <a:xfrm>
            <a:off x="4331577" y="2401408"/>
            <a:ext cx="7509393" cy="601547"/>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600"/>
              </a:spcAft>
            </a:pPr>
            <a:r>
              <a:rPr lang="en-US" sz="1100" kern="0"/>
              <a:t>Windfall FX</a:t>
            </a:r>
          </a:p>
        </p:txBody>
      </p:sp>
      <p:sp>
        <p:nvSpPr>
          <p:cNvPr id="9" name="Rectángulo 10">
            <a:extLst>
              <a:ext uri="{FF2B5EF4-FFF2-40B4-BE49-F238E27FC236}">
                <a16:creationId xmlns:a16="http://schemas.microsoft.com/office/drawing/2014/main" id="{E38FEE39-91DD-7428-47BE-857EE05839D5}"/>
              </a:ext>
            </a:extLst>
          </p:cNvPr>
          <p:cNvSpPr/>
          <p:nvPr/>
        </p:nvSpPr>
        <p:spPr>
          <a:xfrm>
            <a:off x="702908" y="3093031"/>
            <a:ext cx="3495611" cy="603671"/>
          </a:xfrm>
          <a:prstGeom prst="rect">
            <a:avLst/>
          </a:prstGeom>
          <a:solidFill>
            <a:srgbClr val="DEEDF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36000"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55600" indent="-355600">
              <a:spcAft>
                <a:spcPts val="300"/>
              </a:spcAft>
            </a:pPr>
            <a:r>
              <a:rPr lang="en-GB" sz="900" b="1">
                <a:solidFill>
                  <a:srgbClr val="DEEDF1">
                    <a:lumMod val="25000"/>
                  </a:srgbClr>
                </a:solidFill>
                <a:latin typeface="Santander Text" panose="020B0504020201020104" pitchFamily="34" charset="0"/>
              </a:rPr>
              <a:t>2 – Sales Execution Services </a:t>
            </a:r>
          </a:p>
          <a:p>
            <a:pPr>
              <a:spcAft>
                <a:spcPts val="300"/>
              </a:spcAft>
            </a:pPr>
            <a:r>
              <a:rPr lang="en-GB" sz="800" i="1">
                <a:solidFill>
                  <a:srgbClr val="DEEDF1">
                    <a:lumMod val="25000"/>
                  </a:srgbClr>
                </a:solidFill>
                <a:latin typeface="Santander Text" panose="020B0504020201020104" pitchFamily="34" charset="0"/>
              </a:rPr>
              <a:t>	</a:t>
            </a:r>
            <a:endParaRPr lang="en-GB" sz="700" i="1">
              <a:solidFill>
                <a:srgbClr val="DEEDF1">
                  <a:lumMod val="25000"/>
                </a:srgbClr>
              </a:solidFill>
              <a:latin typeface="Santander Text" panose="020B0504020201020104" pitchFamily="34" charset="0"/>
            </a:endParaRPr>
          </a:p>
        </p:txBody>
      </p:sp>
      <p:sp>
        <p:nvSpPr>
          <p:cNvPr id="2" name="Rectángulo 15">
            <a:extLst>
              <a:ext uri="{FF2B5EF4-FFF2-40B4-BE49-F238E27FC236}">
                <a16:creationId xmlns:a16="http://schemas.microsoft.com/office/drawing/2014/main" id="{C6B2D268-22CE-8B81-D6B0-F9D6E1CE3BA7}"/>
              </a:ext>
            </a:extLst>
          </p:cNvPr>
          <p:cNvSpPr/>
          <p:nvPr/>
        </p:nvSpPr>
        <p:spPr>
          <a:xfrm>
            <a:off x="711025" y="1875926"/>
            <a:ext cx="3495610" cy="240476"/>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kern="0">
                <a:solidFill>
                  <a:prstClr val="white"/>
                </a:solidFill>
                <a:latin typeface="Santander Text" panose="020B0504020201020104" pitchFamily="34" charset="0"/>
              </a:rPr>
              <a:t>Module Aggregation</a:t>
            </a:r>
          </a:p>
        </p:txBody>
      </p:sp>
      <p:sp>
        <p:nvSpPr>
          <p:cNvPr id="3" name="Rectángulo 114">
            <a:extLst>
              <a:ext uri="{FF2B5EF4-FFF2-40B4-BE49-F238E27FC236}">
                <a16:creationId xmlns:a16="http://schemas.microsoft.com/office/drawing/2014/main" id="{3755A542-D7C4-9180-C963-6AE2FAAECA34}"/>
              </a:ext>
            </a:extLst>
          </p:cNvPr>
          <p:cNvSpPr/>
          <p:nvPr/>
        </p:nvSpPr>
        <p:spPr>
          <a:xfrm>
            <a:off x="4318803" y="3185105"/>
            <a:ext cx="1257055" cy="1120147"/>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Atom FX</a:t>
            </a:r>
          </a:p>
        </p:txBody>
      </p:sp>
      <p:sp>
        <p:nvSpPr>
          <p:cNvPr id="13" name="CuadroTexto 12">
            <a:extLst>
              <a:ext uri="{FF2B5EF4-FFF2-40B4-BE49-F238E27FC236}">
                <a16:creationId xmlns:a16="http://schemas.microsoft.com/office/drawing/2014/main" id="{1F5F41DE-456E-7B05-9CDC-97FC06C5F27A}"/>
              </a:ext>
            </a:extLst>
          </p:cNvPr>
          <p:cNvSpPr txBox="1"/>
          <p:nvPr/>
        </p:nvSpPr>
        <p:spPr>
          <a:xfrm>
            <a:off x="5391127" y="2143014"/>
            <a:ext cx="184731" cy="215444"/>
          </a:xfrm>
          <a:prstGeom prst="rect">
            <a:avLst/>
          </a:prstGeom>
          <a:solidFill>
            <a:schemeClr val="bg1"/>
          </a:solidFill>
        </p:spPr>
        <p:txBody>
          <a:bodyPr wrap="none" rtlCol="0">
            <a:spAutoFit/>
          </a:bodyPr>
          <a:lstStyle/>
          <a:p>
            <a:pPr algn="ctr">
              <a:spcAft>
                <a:spcPts val="600"/>
              </a:spcAft>
            </a:pPr>
            <a:endParaRPr lang="es-ES" sz="800" kern="0">
              <a:solidFill>
                <a:schemeClr val="accent1"/>
              </a:solidFill>
            </a:endParaRPr>
          </a:p>
        </p:txBody>
      </p:sp>
      <p:sp>
        <p:nvSpPr>
          <p:cNvPr id="4" name="Rectángulo 10">
            <a:extLst>
              <a:ext uri="{FF2B5EF4-FFF2-40B4-BE49-F238E27FC236}">
                <a16:creationId xmlns:a16="http://schemas.microsoft.com/office/drawing/2014/main" id="{E8F38246-113C-536E-DAF8-9199F58B73DF}"/>
              </a:ext>
            </a:extLst>
          </p:cNvPr>
          <p:cNvSpPr/>
          <p:nvPr/>
        </p:nvSpPr>
        <p:spPr>
          <a:xfrm>
            <a:off x="711024" y="3767328"/>
            <a:ext cx="3495611" cy="603671"/>
          </a:xfrm>
          <a:prstGeom prst="rect">
            <a:avLst/>
          </a:prstGeom>
          <a:solidFill>
            <a:srgbClr val="DEEDF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36000"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55600" indent="-355600">
              <a:spcAft>
                <a:spcPts val="300"/>
              </a:spcAft>
            </a:pPr>
            <a:r>
              <a:rPr lang="en-GB" sz="900" b="1">
                <a:solidFill>
                  <a:srgbClr val="DEEDF1">
                    <a:lumMod val="25000"/>
                  </a:srgbClr>
                </a:solidFill>
                <a:latin typeface="Santander Text" panose="020B0504020201020104" pitchFamily="34" charset="0"/>
              </a:rPr>
              <a:t>3 –Business Execution Services </a:t>
            </a:r>
          </a:p>
          <a:p>
            <a:pPr>
              <a:spcAft>
                <a:spcPts val="300"/>
              </a:spcAft>
            </a:pPr>
            <a:r>
              <a:rPr lang="en-GB" sz="800" i="1">
                <a:solidFill>
                  <a:srgbClr val="DEEDF1">
                    <a:lumMod val="25000"/>
                  </a:srgbClr>
                </a:solidFill>
                <a:latin typeface="Santander Text" panose="020B0504020201020104" pitchFamily="34" charset="0"/>
              </a:rPr>
              <a:t>	</a:t>
            </a:r>
            <a:endParaRPr lang="en-GB" sz="700" i="1">
              <a:solidFill>
                <a:srgbClr val="DEEDF1">
                  <a:lumMod val="25000"/>
                </a:srgbClr>
              </a:solidFill>
              <a:latin typeface="Santander Text" panose="020B0504020201020104" pitchFamily="34" charset="0"/>
            </a:endParaRPr>
          </a:p>
        </p:txBody>
      </p:sp>
      <p:sp>
        <p:nvSpPr>
          <p:cNvPr id="6" name="Rectángulo 114">
            <a:extLst>
              <a:ext uri="{FF2B5EF4-FFF2-40B4-BE49-F238E27FC236}">
                <a16:creationId xmlns:a16="http://schemas.microsoft.com/office/drawing/2014/main" id="{4F3715D1-F14F-C27D-9E5C-DF654E90CEF6}"/>
              </a:ext>
            </a:extLst>
          </p:cNvPr>
          <p:cNvSpPr/>
          <p:nvPr/>
        </p:nvSpPr>
        <p:spPr>
          <a:xfrm>
            <a:off x="7271241" y="3767328"/>
            <a:ext cx="1544400" cy="525542"/>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Fluent FX</a:t>
            </a:r>
          </a:p>
        </p:txBody>
      </p:sp>
      <p:sp>
        <p:nvSpPr>
          <p:cNvPr id="7" name="Rectángulo 114">
            <a:extLst>
              <a:ext uri="{FF2B5EF4-FFF2-40B4-BE49-F238E27FC236}">
                <a16:creationId xmlns:a16="http://schemas.microsoft.com/office/drawing/2014/main" id="{E18C5765-7139-208B-E4B2-7A7C6487D213}"/>
              </a:ext>
            </a:extLst>
          </p:cNvPr>
          <p:cNvSpPr/>
          <p:nvPr/>
        </p:nvSpPr>
        <p:spPr>
          <a:xfrm>
            <a:off x="8888848" y="3767328"/>
            <a:ext cx="1544400" cy="525542"/>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FX Aggregator</a:t>
            </a:r>
          </a:p>
        </p:txBody>
      </p:sp>
      <p:sp>
        <p:nvSpPr>
          <p:cNvPr id="11" name="Rectángulo 114">
            <a:extLst>
              <a:ext uri="{FF2B5EF4-FFF2-40B4-BE49-F238E27FC236}">
                <a16:creationId xmlns:a16="http://schemas.microsoft.com/office/drawing/2014/main" id="{255B2F55-36E6-7FA9-44A3-CC0C3FAE47E8}"/>
              </a:ext>
            </a:extLst>
          </p:cNvPr>
          <p:cNvSpPr/>
          <p:nvPr/>
        </p:nvSpPr>
        <p:spPr>
          <a:xfrm>
            <a:off x="10492737" y="3767325"/>
            <a:ext cx="1348234" cy="525542"/>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NEUTRINO</a:t>
            </a:r>
          </a:p>
        </p:txBody>
      </p:sp>
      <p:sp>
        <p:nvSpPr>
          <p:cNvPr id="10" name="Rectángulo 114">
            <a:extLst>
              <a:ext uri="{FF2B5EF4-FFF2-40B4-BE49-F238E27FC236}">
                <a16:creationId xmlns:a16="http://schemas.microsoft.com/office/drawing/2014/main" id="{8FCE91C0-05B4-D9AB-BD35-DD01506DBAF6}"/>
              </a:ext>
            </a:extLst>
          </p:cNvPr>
          <p:cNvSpPr/>
          <p:nvPr/>
        </p:nvSpPr>
        <p:spPr>
          <a:xfrm>
            <a:off x="5659524" y="3767325"/>
            <a:ext cx="1544400" cy="525542"/>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Athena</a:t>
            </a:r>
          </a:p>
        </p:txBody>
      </p:sp>
      <p:sp>
        <p:nvSpPr>
          <p:cNvPr id="16" name="Rectángulo 10">
            <a:extLst>
              <a:ext uri="{FF2B5EF4-FFF2-40B4-BE49-F238E27FC236}">
                <a16:creationId xmlns:a16="http://schemas.microsoft.com/office/drawing/2014/main" id="{CBBC7860-BECF-ADB0-30E6-4C8C13F4E934}"/>
              </a:ext>
            </a:extLst>
          </p:cNvPr>
          <p:cNvSpPr/>
          <p:nvPr/>
        </p:nvSpPr>
        <p:spPr>
          <a:xfrm>
            <a:off x="4245652" y="2260911"/>
            <a:ext cx="7687268" cy="2088709"/>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a:solidFill>
                <a:srgbClr val="FF0000"/>
              </a:solidFill>
            </a:endParaRPr>
          </a:p>
        </p:txBody>
      </p:sp>
      <p:sp>
        <p:nvSpPr>
          <p:cNvPr id="17" name="CuadroTexto 12">
            <a:extLst>
              <a:ext uri="{FF2B5EF4-FFF2-40B4-BE49-F238E27FC236}">
                <a16:creationId xmlns:a16="http://schemas.microsoft.com/office/drawing/2014/main" id="{4CC10210-0C79-1E3E-E41D-E7DACE9B956D}"/>
              </a:ext>
            </a:extLst>
          </p:cNvPr>
          <p:cNvSpPr txBox="1"/>
          <p:nvPr/>
        </p:nvSpPr>
        <p:spPr>
          <a:xfrm>
            <a:off x="4988812" y="2143014"/>
            <a:ext cx="989373" cy="215444"/>
          </a:xfrm>
          <a:prstGeom prst="rect">
            <a:avLst/>
          </a:prstGeom>
          <a:solidFill>
            <a:schemeClr val="bg1"/>
          </a:solidFill>
        </p:spPr>
        <p:txBody>
          <a:bodyPr wrap="none" rtlCol="0">
            <a:spAutoFit/>
          </a:bodyPr>
          <a:lstStyle/>
          <a:p>
            <a:pPr algn="ctr">
              <a:spcAft>
                <a:spcPts val="600"/>
              </a:spcAft>
            </a:pPr>
            <a:r>
              <a:rPr lang="es-ES" sz="800" kern="0" err="1">
                <a:solidFill>
                  <a:schemeClr val="accent1"/>
                </a:solidFill>
              </a:rPr>
              <a:t>Markets</a:t>
            </a:r>
            <a:r>
              <a:rPr lang="es-ES" sz="800" kern="0">
                <a:solidFill>
                  <a:schemeClr val="accent1"/>
                </a:solidFill>
              </a:rPr>
              <a:t> E-trading</a:t>
            </a:r>
          </a:p>
        </p:txBody>
      </p:sp>
      <p:sp>
        <p:nvSpPr>
          <p:cNvPr id="27" name="Marcador de texto 26">
            <a:extLst>
              <a:ext uri="{FF2B5EF4-FFF2-40B4-BE49-F238E27FC236}">
                <a16:creationId xmlns:a16="http://schemas.microsoft.com/office/drawing/2014/main" id="{DF032A76-3211-427F-2A9E-ACC2C743456D}"/>
              </a:ext>
            </a:extLst>
          </p:cNvPr>
          <p:cNvSpPr>
            <a:spLocks noGrp="1"/>
          </p:cNvSpPr>
          <p:nvPr>
            <p:ph type="body" sz="quarter" idx="14"/>
          </p:nvPr>
        </p:nvSpPr>
        <p:spPr/>
        <p:txBody>
          <a:bodyPr/>
          <a:lstStyle/>
          <a:p>
            <a:r>
              <a:rPr lang="en-GB" b="0">
                <a:solidFill>
                  <a:schemeClr val="bg1">
                    <a:lumMod val="75000"/>
                  </a:schemeClr>
                </a:solidFill>
                <a:latin typeface="Santander Text" panose="020B0504020201020104" pitchFamily="34" charset="0"/>
              </a:rPr>
              <a:t>Platform Governance &amp; SD</a:t>
            </a:r>
          </a:p>
        </p:txBody>
      </p:sp>
      <p:sp>
        <p:nvSpPr>
          <p:cNvPr id="5" name="Rectángulo 6">
            <a:extLst>
              <a:ext uri="{FF2B5EF4-FFF2-40B4-BE49-F238E27FC236}">
                <a16:creationId xmlns:a16="http://schemas.microsoft.com/office/drawing/2014/main" id="{8E74A156-025F-5787-677A-41CE89010301}"/>
              </a:ext>
            </a:extLst>
          </p:cNvPr>
          <p:cNvSpPr/>
          <p:nvPr/>
        </p:nvSpPr>
        <p:spPr>
          <a:xfrm>
            <a:off x="2400853" y="6328528"/>
            <a:ext cx="244952" cy="107435"/>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a:solidFill>
                <a:srgbClr val="FF0000"/>
              </a:solidFill>
            </a:endParaRPr>
          </a:p>
        </p:txBody>
      </p:sp>
      <p:sp>
        <p:nvSpPr>
          <p:cNvPr id="12" name="CuadroTexto 9">
            <a:extLst>
              <a:ext uri="{FF2B5EF4-FFF2-40B4-BE49-F238E27FC236}">
                <a16:creationId xmlns:a16="http://schemas.microsoft.com/office/drawing/2014/main" id="{8CD9A1E7-2E88-58EE-0DCF-F6EDC0E178BF}"/>
              </a:ext>
            </a:extLst>
          </p:cNvPr>
          <p:cNvSpPr txBox="1"/>
          <p:nvPr/>
        </p:nvSpPr>
        <p:spPr>
          <a:xfrm>
            <a:off x="2645805" y="6274524"/>
            <a:ext cx="1313180" cy="215444"/>
          </a:xfrm>
          <a:prstGeom prst="rect">
            <a:avLst/>
          </a:prstGeom>
          <a:noFill/>
        </p:spPr>
        <p:txBody>
          <a:bodyPr wrap="none" rtlCol="0">
            <a:spAutoFit/>
          </a:bodyPr>
          <a:lstStyle/>
          <a:p>
            <a:r>
              <a:rPr lang="es-ES" sz="800"/>
              <a:t>SCIB </a:t>
            </a:r>
            <a:r>
              <a:rPr lang="es-ES" sz="800" err="1"/>
              <a:t>Platform</a:t>
            </a:r>
            <a:r>
              <a:rPr lang="es-ES" sz="800"/>
              <a:t> </a:t>
            </a:r>
            <a:r>
              <a:rPr lang="es-ES" sz="800" err="1"/>
              <a:t>Component</a:t>
            </a:r>
            <a:endParaRPr lang="es-ES" sz="800"/>
          </a:p>
        </p:txBody>
      </p:sp>
    </p:spTree>
    <p:extLst>
      <p:ext uri="{BB962C8B-B14F-4D97-AF65-F5344CB8AC3E}">
        <p14:creationId xmlns:p14="http://schemas.microsoft.com/office/powerpoint/2010/main" val="11212617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2D062-9E4D-2DE1-05A3-D603213F5CB9}"/>
            </a:ext>
          </a:extLst>
        </p:cNvPr>
        <p:cNvGrpSpPr/>
        <p:nvPr/>
      </p:nvGrpSpPr>
      <p:grpSpPr>
        <a:xfrm>
          <a:off x="0" y="0"/>
          <a:ext cx="0" cy="0"/>
          <a:chOff x="0" y="0"/>
          <a:chExt cx="0" cy="0"/>
        </a:xfrm>
      </p:grpSpPr>
      <p:sp>
        <p:nvSpPr>
          <p:cNvPr id="112" name="Text Placeholder 2">
            <a:extLst>
              <a:ext uri="{FF2B5EF4-FFF2-40B4-BE49-F238E27FC236}">
                <a16:creationId xmlns:a16="http://schemas.microsoft.com/office/drawing/2014/main" id="{B7762093-F121-AAB6-0FAD-6F1B6ECD46E5}"/>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113" name="Título 1">
            <a:extLst>
              <a:ext uri="{FF2B5EF4-FFF2-40B4-BE49-F238E27FC236}">
                <a16:creationId xmlns:a16="http://schemas.microsoft.com/office/drawing/2014/main" id="{2B87190D-892A-5A31-7F05-DE908E919BA0}"/>
              </a:ext>
            </a:extLst>
          </p:cNvPr>
          <p:cNvSpPr>
            <a:spLocks noGrp="1"/>
          </p:cNvSpPr>
          <p:nvPr>
            <p:ph type="title"/>
          </p:nvPr>
        </p:nvSpPr>
        <p:spPr>
          <a:xfrm>
            <a:off x="711024" y="641900"/>
            <a:ext cx="10758733" cy="445400"/>
          </a:xfrm>
        </p:spPr>
        <p:txBody>
          <a:bodyPr/>
          <a:lstStyle/>
          <a:p>
            <a:pPr>
              <a:defRPr/>
            </a:pPr>
            <a:r>
              <a:rPr kumimoji="0" lang="es-ES" sz="2800" b="1" i="0" u="none" strike="noStrike" kern="1200" cap="none" spc="0" normalizeH="0" baseline="0" noProof="0">
                <a:ln>
                  <a:noFill/>
                </a:ln>
                <a:solidFill>
                  <a:srgbClr val="EC0000"/>
                </a:solidFill>
                <a:effectLst/>
                <a:uLnTx/>
                <a:uFillTx/>
                <a:latin typeface="Santander Headline"/>
                <a:ea typeface="+mj-ea"/>
                <a:cs typeface="+mj-cs"/>
              </a:rPr>
              <a:t>SCIB. </a:t>
            </a:r>
            <a:r>
              <a:rPr kumimoji="0" lang="es-ES" sz="2800" b="1" i="0" u="none" strike="noStrike" kern="1200" cap="none" spc="0" normalizeH="0" baseline="0" noProof="0">
                <a:ln>
                  <a:noFill/>
                </a:ln>
                <a:solidFill>
                  <a:schemeClr val="bg2">
                    <a:lumMod val="75000"/>
                  </a:schemeClr>
                </a:solidFill>
                <a:effectLst/>
                <a:uLnTx/>
                <a:uFillTx/>
                <a:latin typeface="Santander Headline"/>
                <a:ea typeface="+mj-ea"/>
                <a:cs typeface="+mj-cs"/>
              </a:rPr>
              <a:t>Capital </a:t>
            </a:r>
            <a:r>
              <a:rPr kumimoji="0" lang="es-ES" sz="2800" b="1" i="0" u="none" strike="noStrike" kern="1200" cap="none" spc="0" normalizeH="0" baseline="0" noProof="0" err="1">
                <a:ln>
                  <a:noFill/>
                </a:ln>
                <a:solidFill>
                  <a:schemeClr val="bg2">
                    <a:lumMod val="75000"/>
                  </a:schemeClr>
                </a:solidFill>
                <a:effectLst/>
                <a:uLnTx/>
                <a:uFillTx/>
                <a:latin typeface="Santander Headline"/>
                <a:ea typeface="+mj-ea"/>
                <a:cs typeface="+mj-cs"/>
              </a:rPr>
              <a:t>Markets</a:t>
            </a:r>
            <a:br>
              <a:rPr kumimoji="0" lang="en-AU" sz="2800" b="1" i="0" u="none" strike="noStrike" kern="1200" cap="none" spc="0" normalizeH="0" baseline="0" noProof="0">
                <a:ln>
                  <a:noFill/>
                </a:ln>
                <a:solidFill>
                  <a:srgbClr val="BFBFBF"/>
                </a:solidFill>
                <a:effectLst/>
                <a:uLnTx/>
                <a:uFillTx/>
                <a:latin typeface="Santander Headline"/>
                <a:ea typeface="+mj-ea"/>
                <a:cs typeface="+mj-cs"/>
              </a:rPr>
            </a:br>
            <a:endParaRPr lang="en-US">
              <a:solidFill>
                <a:schemeClr val="bg1">
                  <a:lumMod val="75000"/>
                </a:schemeClr>
              </a:solidFill>
            </a:endParaRPr>
          </a:p>
        </p:txBody>
      </p:sp>
      <p:sp>
        <p:nvSpPr>
          <p:cNvPr id="15" name="Rectángulo 15">
            <a:extLst>
              <a:ext uri="{FF2B5EF4-FFF2-40B4-BE49-F238E27FC236}">
                <a16:creationId xmlns:a16="http://schemas.microsoft.com/office/drawing/2014/main" id="{4179EF39-B783-2F5B-F782-CB8B1AC52914}"/>
              </a:ext>
            </a:extLst>
          </p:cNvPr>
          <p:cNvSpPr/>
          <p:nvPr/>
        </p:nvSpPr>
        <p:spPr>
          <a:xfrm>
            <a:off x="4318803" y="1875926"/>
            <a:ext cx="7551328" cy="240476"/>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kern="0">
                <a:solidFill>
                  <a:prstClr val="white"/>
                </a:solidFill>
                <a:latin typeface="Santander Text" panose="020B0504020201020104" pitchFamily="34" charset="0"/>
              </a:rPr>
              <a:t>Modules</a:t>
            </a:r>
          </a:p>
        </p:txBody>
      </p:sp>
      <p:sp>
        <p:nvSpPr>
          <p:cNvPr id="2" name="Rectángulo 15">
            <a:extLst>
              <a:ext uri="{FF2B5EF4-FFF2-40B4-BE49-F238E27FC236}">
                <a16:creationId xmlns:a16="http://schemas.microsoft.com/office/drawing/2014/main" id="{D1FDEE59-B5C5-03C8-47FB-0E9A1169F313}"/>
              </a:ext>
            </a:extLst>
          </p:cNvPr>
          <p:cNvSpPr/>
          <p:nvPr/>
        </p:nvSpPr>
        <p:spPr>
          <a:xfrm>
            <a:off x="587293" y="1875926"/>
            <a:ext cx="3619342" cy="240476"/>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kern="0">
                <a:solidFill>
                  <a:prstClr val="white"/>
                </a:solidFill>
                <a:latin typeface="Santander Text" panose="020B0504020201020104" pitchFamily="34" charset="0"/>
              </a:rPr>
              <a:t>Module Aggregation</a:t>
            </a:r>
          </a:p>
        </p:txBody>
      </p:sp>
      <p:sp>
        <p:nvSpPr>
          <p:cNvPr id="71" name="Rectángulo 9">
            <a:extLst>
              <a:ext uri="{FF2B5EF4-FFF2-40B4-BE49-F238E27FC236}">
                <a16:creationId xmlns:a16="http://schemas.microsoft.com/office/drawing/2014/main" id="{DA28A2FE-1C77-D85B-CFFB-291DA9BEE392}"/>
              </a:ext>
            </a:extLst>
          </p:cNvPr>
          <p:cNvSpPr/>
          <p:nvPr/>
        </p:nvSpPr>
        <p:spPr>
          <a:xfrm>
            <a:off x="587293" y="2410553"/>
            <a:ext cx="3619343" cy="610496"/>
          </a:xfrm>
          <a:prstGeom prst="rect">
            <a:avLst/>
          </a:prstGeom>
          <a:solidFill>
            <a:srgbClr val="DEEDF1"/>
          </a:solidFill>
          <a:ln w="12700" cap="flat" cmpd="sng" algn="ctr">
            <a:noFill/>
            <a:prstDash val="solid"/>
            <a:miter lim="800000"/>
          </a:ln>
          <a:effectLst/>
        </p:spPr>
        <p:txBody>
          <a:bodyPr lIns="72000" rIns="36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55600" indent="-355600">
              <a:spcAft>
                <a:spcPts val="300"/>
              </a:spcAft>
            </a:pPr>
            <a:r>
              <a:rPr lang="en-GB" sz="900" b="1" kern="0">
                <a:solidFill>
                  <a:srgbClr val="DEEDF1">
                    <a:lumMod val="25000"/>
                  </a:srgbClr>
                </a:solidFill>
                <a:latin typeface="Santander Text" panose="020B0504020201020104" pitchFamily="34" charset="0"/>
              </a:rPr>
              <a:t>1 – Trading Sales Services</a:t>
            </a:r>
          </a:p>
        </p:txBody>
      </p:sp>
      <p:sp>
        <p:nvSpPr>
          <p:cNvPr id="72" name="Rectángulo 63">
            <a:extLst>
              <a:ext uri="{FF2B5EF4-FFF2-40B4-BE49-F238E27FC236}">
                <a16:creationId xmlns:a16="http://schemas.microsoft.com/office/drawing/2014/main" id="{4B071FE8-6CE3-B02D-0A9B-E1D2CD327925}"/>
              </a:ext>
            </a:extLst>
          </p:cNvPr>
          <p:cNvSpPr>
            <a:spLocks/>
          </p:cNvSpPr>
          <p:nvPr/>
        </p:nvSpPr>
        <p:spPr>
          <a:xfrm>
            <a:off x="8654451" y="2401408"/>
            <a:ext cx="3215679" cy="601547"/>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600"/>
              </a:spcAft>
            </a:pPr>
            <a:r>
              <a:rPr lang="en-US" sz="1100" kern="0"/>
              <a:t>Windfall Rates</a:t>
            </a:r>
          </a:p>
        </p:txBody>
      </p:sp>
      <p:sp>
        <p:nvSpPr>
          <p:cNvPr id="73" name="Rectángulo 10">
            <a:extLst>
              <a:ext uri="{FF2B5EF4-FFF2-40B4-BE49-F238E27FC236}">
                <a16:creationId xmlns:a16="http://schemas.microsoft.com/office/drawing/2014/main" id="{F3764330-0467-20E4-FA41-16334DFC15B2}"/>
              </a:ext>
            </a:extLst>
          </p:cNvPr>
          <p:cNvSpPr/>
          <p:nvPr/>
        </p:nvSpPr>
        <p:spPr>
          <a:xfrm>
            <a:off x="579176" y="3093031"/>
            <a:ext cx="3619343" cy="603671"/>
          </a:xfrm>
          <a:prstGeom prst="rect">
            <a:avLst/>
          </a:prstGeom>
          <a:solidFill>
            <a:srgbClr val="DEEDF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36000"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55600" indent="-355600">
              <a:spcAft>
                <a:spcPts val="300"/>
              </a:spcAft>
            </a:pPr>
            <a:r>
              <a:rPr lang="en-GB" sz="900" b="1">
                <a:solidFill>
                  <a:srgbClr val="DEEDF1">
                    <a:lumMod val="25000"/>
                  </a:srgbClr>
                </a:solidFill>
                <a:latin typeface="Santander Text" panose="020B0504020201020104" pitchFamily="34" charset="0"/>
              </a:rPr>
              <a:t>2 – Sales and Business Execution Services </a:t>
            </a:r>
          </a:p>
          <a:p>
            <a:pPr>
              <a:spcAft>
                <a:spcPts val="300"/>
              </a:spcAft>
            </a:pPr>
            <a:r>
              <a:rPr lang="en-GB" sz="800" i="1">
                <a:solidFill>
                  <a:srgbClr val="DEEDF1">
                    <a:lumMod val="25000"/>
                  </a:srgbClr>
                </a:solidFill>
                <a:latin typeface="Santander Text" panose="020B0504020201020104" pitchFamily="34" charset="0"/>
              </a:rPr>
              <a:t>	</a:t>
            </a:r>
            <a:endParaRPr lang="en-GB" sz="700" i="1">
              <a:solidFill>
                <a:srgbClr val="DEEDF1">
                  <a:lumMod val="25000"/>
                </a:srgbClr>
              </a:solidFill>
              <a:latin typeface="Santander Text" panose="020B0504020201020104" pitchFamily="34" charset="0"/>
            </a:endParaRPr>
          </a:p>
        </p:txBody>
      </p:sp>
      <p:sp>
        <p:nvSpPr>
          <p:cNvPr id="74" name="Rectángulo 114">
            <a:extLst>
              <a:ext uri="{FF2B5EF4-FFF2-40B4-BE49-F238E27FC236}">
                <a16:creationId xmlns:a16="http://schemas.microsoft.com/office/drawing/2014/main" id="{A6A097E5-D571-2070-990C-1DC16C1B27E9}"/>
              </a:ext>
            </a:extLst>
          </p:cNvPr>
          <p:cNvSpPr/>
          <p:nvPr/>
        </p:nvSpPr>
        <p:spPr>
          <a:xfrm>
            <a:off x="4311140" y="3152946"/>
            <a:ext cx="1906779" cy="528083"/>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Darwin</a:t>
            </a:r>
          </a:p>
        </p:txBody>
      </p:sp>
      <p:sp>
        <p:nvSpPr>
          <p:cNvPr id="75" name="CuadroTexto 12">
            <a:extLst>
              <a:ext uri="{FF2B5EF4-FFF2-40B4-BE49-F238E27FC236}">
                <a16:creationId xmlns:a16="http://schemas.microsoft.com/office/drawing/2014/main" id="{7CB4D376-CA13-E6F0-62A4-B01E93379F5F}"/>
              </a:ext>
            </a:extLst>
          </p:cNvPr>
          <p:cNvSpPr txBox="1"/>
          <p:nvPr/>
        </p:nvSpPr>
        <p:spPr>
          <a:xfrm>
            <a:off x="5391127" y="2143014"/>
            <a:ext cx="184731" cy="215444"/>
          </a:xfrm>
          <a:prstGeom prst="rect">
            <a:avLst/>
          </a:prstGeom>
          <a:solidFill>
            <a:schemeClr val="bg1"/>
          </a:solidFill>
        </p:spPr>
        <p:txBody>
          <a:bodyPr wrap="none" rtlCol="0">
            <a:spAutoFit/>
          </a:bodyPr>
          <a:lstStyle/>
          <a:p>
            <a:pPr algn="ctr">
              <a:spcAft>
                <a:spcPts val="600"/>
              </a:spcAft>
            </a:pPr>
            <a:endParaRPr lang="es-ES" sz="800" kern="0">
              <a:solidFill>
                <a:schemeClr val="accent1"/>
              </a:solidFill>
            </a:endParaRPr>
          </a:p>
        </p:txBody>
      </p:sp>
      <p:sp>
        <p:nvSpPr>
          <p:cNvPr id="77" name="Rectángulo 114">
            <a:extLst>
              <a:ext uri="{FF2B5EF4-FFF2-40B4-BE49-F238E27FC236}">
                <a16:creationId xmlns:a16="http://schemas.microsoft.com/office/drawing/2014/main" id="{2D70704B-B638-8BE2-8241-1FC2F10ED8CE}"/>
              </a:ext>
            </a:extLst>
          </p:cNvPr>
          <p:cNvSpPr/>
          <p:nvPr/>
        </p:nvSpPr>
        <p:spPr>
          <a:xfrm>
            <a:off x="6330538" y="3152947"/>
            <a:ext cx="1834900" cy="543756"/>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Fidessa SWAP</a:t>
            </a:r>
          </a:p>
        </p:txBody>
      </p:sp>
      <p:sp>
        <p:nvSpPr>
          <p:cNvPr id="78" name="Rectángulo 114">
            <a:extLst>
              <a:ext uri="{FF2B5EF4-FFF2-40B4-BE49-F238E27FC236}">
                <a16:creationId xmlns:a16="http://schemas.microsoft.com/office/drawing/2014/main" id="{6C3C7C01-37EF-9A24-087F-98CF222F0E40}"/>
              </a:ext>
            </a:extLst>
          </p:cNvPr>
          <p:cNvSpPr/>
          <p:nvPr/>
        </p:nvSpPr>
        <p:spPr>
          <a:xfrm>
            <a:off x="10340705" y="3143004"/>
            <a:ext cx="1529426" cy="543756"/>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err="1">
                <a:solidFill>
                  <a:srgbClr val="DEEDF1">
                    <a:lumMod val="25000"/>
                  </a:srgbClr>
                </a:solidFill>
                <a:latin typeface="Santander Text" panose="020B0504020201020104" pitchFamily="34" charset="0"/>
              </a:rPr>
              <a:t>SwapOne</a:t>
            </a:r>
            <a:endParaRPr lang="en-GB" sz="1100" kern="0">
              <a:solidFill>
                <a:srgbClr val="DEEDF1">
                  <a:lumMod val="25000"/>
                </a:srgbClr>
              </a:solidFill>
              <a:latin typeface="Santander Text" panose="020B0504020201020104" pitchFamily="34" charset="0"/>
            </a:endParaRPr>
          </a:p>
        </p:txBody>
      </p:sp>
      <p:sp>
        <p:nvSpPr>
          <p:cNvPr id="81" name="Rectángulo 114">
            <a:extLst>
              <a:ext uri="{FF2B5EF4-FFF2-40B4-BE49-F238E27FC236}">
                <a16:creationId xmlns:a16="http://schemas.microsoft.com/office/drawing/2014/main" id="{FFFF7F9B-6412-43FC-0382-3DD4F9764172}"/>
              </a:ext>
            </a:extLst>
          </p:cNvPr>
          <p:cNvSpPr/>
          <p:nvPr/>
        </p:nvSpPr>
        <p:spPr>
          <a:xfrm>
            <a:off x="8262908" y="3143004"/>
            <a:ext cx="2018390" cy="543756"/>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OMS </a:t>
            </a:r>
            <a:r>
              <a:rPr lang="en-GB" sz="1100" kern="0" err="1">
                <a:solidFill>
                  <a:srgbClr val="DEEDF1">
                    <a:lumMod val="25000"/>
                  </a:srgbClr>
                </a:solidFill>
                <a:latin typeface="Santander Text" panose="020B0504020201020104" pitchFamily="34" charset="0"/>
              </a:rPr>
              <a:t>Itiviti</a:t>
            </a:r>
            <a:endParaRPr lang="en-GB" sz="1100" kern="0">
              <a:solidFill>
                <a:srgbClr val="DEEDF1">
                  <a:lumMod val="25000"/>
                </a:srgbClr>
              </a:solidFill>
              <a:latin typeface="Santander Text" panose="020B0504020201020104" pitchFamily="34" charset="0"/>
            </a:endParaRPr>
          </a:p>
        </p:txBody>
      </p:sp>
      <p:sp>
        <p:nvSpPr>
          <p:cNvPr id="82" name="Rectángulo 63">
            <a:extLst>
              <a:ext uri="{FF2B5EF4-FFF2-40B4-BE49-F238E27FC236}">
                <a16:creationId xmlns:a16="http://schemas.microsoft.com/office/drawing/2014/main" id="{25A37D4A-DE1F-4CD6-B1ED-B739A0098705}"/>
              </a:ext>
            </a:extLst>
          </p:cNvPr>
          <p:cNvSpPr>
            <a:spLocks/>
          </p:cNvSpPr>
          <p:nvPr/>
        </p:nvSpPr>
        <p:spPr>
          <a:xfrm>
            <a:off x="4311141" y="2409872"/>
            <a:ext cx="4238805" cy="601547"/>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600"/>
              </a:spcAft>
            </a:pPr>
            <a:r>
              <a:rPr lang="en-US" sz="1100" kern="0"/>
              <a:t>Bloomberg/ TOMS</a:t>
            </a:r>
          </a:p>
        </p:txBody>
      </p:sp>
      <p:sp>
        <p:nvSpPr>
          <p:cNvPr id="85" name="Rectángulo 114">
            <a:extLst>
              <a:ext uri="{FF2B5EF4-FFF2-40B4-BE49-F238E27FC236}">
                <a16:creationId xmlns:a16="http://schemas.microsoft.com/office/drawing/2014/main" id="{055A2F3F-B0EF-C6D1-D9A5-4926CE11563D}"/>
              </a:ext>
            </a:extLst>
          </p:cNvPr>
          <p:cNvSpPr/>
          <p:nvPr/>
        </p:nvSpPr>
        <p:spPr>
          <a:xfrm>
            <a:off x="4318803" y="3822192"/>
            <a:ext cx="7551327" cy="601546"/>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XTP</a:t>
            </a:r>
          </a:p>
        </p:txBody>
      </p:sp>
      <p:sp>
        <p:nvSpPr>
          <p:cNvPr id="86" name="Rectángulo 10">
            <a:extLst>
              <a:ext uri="{FF2B5EF4-FFF2-40B4-BE49-F238E27FC236}">
                <a16:creationId xmlns:a16="http://schemas.microsoft.com/office/drawing/2014/main" id="{538FB904-ECAC-D7D6-7386-D11CC9719526}"/>
              </a:ext>
            </a:extLst>
          </p:cNvPr>
          <p:cNvSpPr/>
          <p:nvPr/>
        </p:nvSpPr>
        <p:spPr>
          <a:xfrm>
            <a:off x="579175" y="3810209"/>
            <a:ext cx="3619343" cy="603671"/>
          </a:xfrm>
          <a:prstGeom prst="rect">
            <a:avLst/>
          </a:prstGeom>
          <a:solidFill>
            <a:srgbClr val="DEEDF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36000"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55600" indent="-355600">
              <a:spcAft>
                <a:spcPts val="300"/>
              </a:spcAft>
            </a:pPr>
            <a:r>
              <a:rPr lang="en-GB" sz="900" b="1">
                <a:solidFill>
                  <a:srgbClr val="DEEDF1">
                    <a:lumMod val="25000"/>
                  </a:srgbClr>
                </a:solidFill>
                <a:latin typeface="Santander Text" panose="020B0504020201020104" pitchFamily="34" charset="0"/>
              </a:rPr>
              <a:t>3 – Back Office Business Execution Services</a:t>
            </a:r>
          </a:p>
          <a:p>
            <a:pPr>
              <a:spcAft>
                <a:spcPts val="300"/>
              </a:spcAft>
            </a:pPr>
            <a:r>
              <a:rPr lang="en-GB" sz="800" i="1">
                <a:solidFill>
                  <a:srgbClr val="DEEDF1">
                    <a:lumMod val="25000"/>
                  </a:srgbClr>
                </a:solidFill>
                <a:latin typeface="Santander Text" panose="020B0504020201020104" pitchFamily="34" charset="0"/>
              </a:rPr>
              <a:t>	</a:t>
            </a:r>
            <a:endParaRPr lang="en-GB" sz="700" i="1">
              <a:solidFill>
                <a:srgbClr val="DEEDF1">
                  <a:lumMod val="25000"/>
                </a:srgbClr>
              </a:solidFill>
              <a:latin typeface="Santander Text" panose="020B0504020201020104" pitchFamily="34" charset="0"/>
            </a:endParaRPr>
          </a:p>
        </p:txBody>
      </p:sp>
      <p:sp>
        <p:nvSpPr>
          <p:cNvPr id="87" name="Rectángulo 17">
            <a:extLst>
              <a:ext uri="{FF2B5EF4-FFF2-40B4-BE49-F238E27FC236}">
                <a16:creationId xmlns:a16="http://schemas.microsoft.com/office/drawing/2014/main" id="{D259EAAC-8D89-462B-7C10-FCDE80AECC0C}"/>
              </a:ext>
            </a:extLst>
          </p:cNvPr>
          <p:cNvSpPr/>
          <p:nvPr/>
        </p:nvSpPr>
        <p:spPr>
          <a:xfrm>
            <a:off x="4244670" y="3757801"/>
            <a:ext cx="7688250" cy="702111"/>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a:solidFill>
                <a:srgbClr val="FF0000"/>
              </a:solidFill>
            </a:endParaRPr>
          </a:p>
        </p:txBody>
      </p:sp>
      <p:sp>
        <p:nvSpPr>
          <p:cNvPr id="88" name="CuadroTexto 19">
            <a:extLst>
              <a:ext uri="{FF2B5EF4-FFF2-40B4-BE49-F238E27FC236}">
                <a16:creationId xmlns:a16="http://schemas.microsoft.com/office/drawing/2014/main" id="{7BEEC997-D72E-8005-5395-5AD1DA69A671}"/>
              </a:ext>
            </a:extLst>
          </p:cNvPr>
          <p:cNvSpPr txBox="1"/>
          <p:nvPr/>
        </p:nvSpPr>
        <p:spPr>
          <a:xfrm>
            <a:off x="5161436" y="3674626"/>
            <a:ext cx="768160" cy="110557"/>
          </a:xfrm>
          <a:prstGeom prst="rect">
            <a:avLst/>
          </a:prstGeom>
          <a:solidFill>
            <a:schemeClr val="bg1"/>
          </a:solidFill>
        </p:spPr>
        <p:txBody>
          <a:bodyPr wrap="none" rtlCol="0">
            <a:spAutoFit/>
          </a:bodyPr>
          <a:lstStyle/>
          <a:p>
            <a:pPr algn="ctr">
              <a:spcAft>
                <a:spcPts val="600"/>
              </a:spcAft>
            </a:pPr>
            <a:r>
              <a:rPr lang="es-ES" sz="800" kern="0" err="1">
                <a:solidFill>
                  <a:schemeClr val="accent1"/>
                </a:solidFill>
              </a:rPr>
              <a:t>Markets</a:t>
            </a:r>
            <a:r>
              <a:rPr lang="es-ES" sz="800" kern="0">
                <a:solidFill>
                  <a:schemeClr val="accent1"/>
                </a:solidFill>
              </a:rPr>
              <a:t> Back</a:t>
            </a:r>
          </a:p>
        </p:txBody>
      </p:sp>
      <p:sp>
        <p:nvSpPr>
          <p:cNvPr id="89" name="Rectángulo 10">
            <a:extLst>
              <a:ext uri="{FF2B5EF4-FFF2-40B4-BE49-F238E27FC236}">
                <a16:creationId xmlns:a16="http://schemas.microsoft.com/office/drawing/2014/main" id="{605624F5-DDDC-15B9-56D8-80B19454E74A}"/>
              </a:ext>
            </a:extLst>
          </p:cNvPr>
          <p:cNvSpPr/>
          <p:nvPr/>
        </p:nvSpPr>
        <p:spPr>
          <a:xfrm>
            <a:off x="4245652" y="2260912"/>
            <a:ext cx="7687268" cy="1456204"/>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a:solidFill>
                <a:srgbClr val="FF0000"/>
              </a:solidFill>
            </a:endParaRPr>
          </a:p>
        </p:txBody>
      </p:sp>
      <p:sp>
        <p:nvSpPr>
          <p:cNvPr id="90" name="CuadroTexto 12">
            <a:extLst>
              <a:ext uri="{FF2B5EF4-FFF2-40B4-BE49-F238E27FC236}">
                <a16:creationId xmlns:a16="http://schemas.microsoft.com/office/drawing/2014/main" id="{FDA04146-AECC-CF87-C0C2-7205CDC02220}"/>
              </a:ext>
            </a:extLst>
          </p:cNvPr>
          <p:cNvSpPr txBox="1"/>
          <p:nvPr/>
        </p:nvSpPr>
        <p:spPr>
          <a:xfrm>
            <a:off x="4988812" y="2143014"/>
            <a:ext cx="989373" cy="215444"/>
          </a:xfrm>
          <a:prstGeom prst="rect">
            <a:avLst/>
          </a:prstGeom>
          <a:solidFill>
            <a:schemeClr val="bg1"/>
          </a:solidFill>
        </p:spPr>
        <p:txBody>
          <a:bodyPr wrap="none" rtlCol="0">
            <a:spAutoFit/>
          </a:bodyPr>
          <a:lstStyle/>
          <a:p>
            <a:pPr algn="ctr">
              <a:spcAft>
                <a:spcPts val="600"/>
              </a:spcAft>
            </a:pPr>
            <a:r>
              <a:rPr lang="es-ES" sz="800" kern="0" err="1">
                <a:solidFill>
                  <a:schemeClr val="accent1"/>
                </a:solidFill>
              </a:rPr>
              <a:t>Markets</a:t>
            </a:r>
            <a:r>
              <a:rPr lang="es-ES" sz="800" kern="0">
                <a:solidFill>
                  <a:schemeClr val="accent1"/>
                </a:solidFill>
              </a:rPr>
              <a:t> E-trading</a:t>
            </a:r>
          </a:p>
        </p:txBody>
      </p:sp>
      <p:sp>
        <p:nvSpPr>
          <p:cNvPr id="5" name="Rectángulo 6">
            <a:extLst>
              <a:ext uri="{FF2B5EF4-FFF2-40B4-BE49-F238E27FC236}">
                <a16:creationId xmlns:a16="http://schemas.microsoft.com/office/drawing/2014/main" id="{EB442D7B-B02C-3704-DAD9-C6C415C434E7}"/>
              </a:ext>
            </a:extLst>
          </p:cNvPr>
          <p:cNvSpPr/>
          <p:nvPr/>
        </p:nvSpPr>
        <p:spPr>
          <a:xfrm>
            <a:off x="2400853" y="6328528"/>
            <a:ext cx="244952" cy="107435"/>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a:solidFill>
                <a:srgbClr val="FF0000"/>
              </a:solidFill>
            </a:endParaRPr>
          </a:p>
        </p:txBody>
      </p:sp>
      <p:sp>
        <p:nvSpPr>
          <p:cNvPr id="6" name="CuadroTexto 9">
            <a:extLst>
              <a:ext uri="{FF2B5EF4-FFF2-40B4-BE49-F238E27FC236}">
                <a16:creationId xmlns:a16="http://schemas.microsoft.com/office/drawing/2014/main" id="{91BA78A3-7A95-0492-F2BC-D443D3FDC4FA}"/>
              </a:ext>
            </a:extLst>
          </p:cNvPr>
          <p:cNvSpPr txBox="1"/>
          <p:nvPr/>
        </p:nvSpPr>
        <p:spPr>
          <a:xfrm>
            <a:off x="2645805" y="6274524"/>
            <a:ext cx="1313180" cy="215444"/>
          </a:xfrm>
          <a:prstGeom prst="rect">
            <a:avLst/>
          </a:prstGeom>
          <a:noFill/>
        </p:spPr>
        <p:txBody>
          <a:bodyPr wrap="none" rtlCol="0">
            <a:spAutoFit/>
          </a:bodyPr>
          <a:lstStyle/>
          <a:p>
            <a:r>
              <a:rPr lang="es-ES" sz="800"/>
              <a:t>SCIB </a:t>
            </a:r>
            <a:r>
              <a:rPr lang="es-ES" sz="800" err="1"/>
              <a:t>Platform</a:t>
            </a:r>
            <a:r>
              <a:rPr lang="es-ES" sz="800"/>
              <a:t> </a:t>
            </a:r>
            <a:r>
              <a:rPr lang="es-ES" sz="800" err="1"/>
              <a:t>Component</a:t>
            </a:r>
            <a:endParaRPr lang="es-ES" sz="800"/>
          </a:p>
        </p:txBody>
      </p:sp>
    </p:spTree>
    <p:extLst>
      <p:ext uri="{BB962C8B-B14F-4D97-AF65-F5344CB8AC3E}">
        <p14:creationId xmlns:p14="http://schemas.microsoft.com/office/powerpoint/2010/main" val="38994423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D2390-D9E9-B918-8D91-5E3B63EDF38A}"/>
            </a:ext>
          </a:extLst>
        </p:cNvPr>
        <p:cNvGrpSpPr/>
        <p:nvPr/>
      </p:nvGrpSpPr>
      <p:grpSpPr>
        <a:xfrm>
          <a:off x="0" y="0"/>
          <a:ext cx="0" cy="0"/>
          <a:chOff x="0" y="0"/>
          <a:chExt cx="0" cy="0"/>
        </a:xfrm>
      </p:grpSpPr>
      <p:sp>
        <p:nvSpPr>
          <p:cNvPr id="112" name="Text Placeholder 2">
            <a:extLst>
              <a:ext uri="{FF2B5EF4-FFF2-40B4-BE49-F238E27FC236}">
                <a16:creationId xmlns:a16="http://schemas.microsoft.com/office/drawing/2014/main" id="{EF4782CA-E4B8-BC9E-20F7-F16CD86E0444}"/>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113" name="Título 1">
            <a:extLst>
              <a:ext uri="{FF2B5EF4-FFF2-40B4-BE49-F238E27FC236}">
                <a16:creationId xmlns:a16="http://schemas.microsoft.com/office/drawing/2014/main" id="{CBCBAA17-F7A6-AB86-DB35-2EDC1B40336E}"/>
              </a:ext>
            </a:extLst>
          </p:cNvPr>
          <p:cNvSpPr>
            <a:spLocks noGrp="1"/>
          </p:cNvSpPr>
          <p:nvPr>
            <p:ph type="title"/>
          </p:nvPr>
        </p:nvSpPr>
        <p:spPr>
          <a:xfrm>
            <a:off x="711024" y="641900"/>
            <a:ext cx="10758733" cy="445400"/>
          </a:xfrm>
        </p:spPr>
        <p:txBody>
          <a:bodyPr/>
          <a:lstStyle/>
          <a:p>
            <a:pPr>
              <a:defRPr/>
            </a:pPr>
            <a:r>
              <a:rPr kumimoji="0" lang="es-ES" sz="2800" b="1" i="0" u="none" strike="noStrike" kern="1200" cap="none" spc="0" normalizeH="0" baseline="0" noProof="0">
                <a:ln>
                  <a:noFill/>
                </a:ln>
                <a:solidFill>
                  <a:srgbClr val="EC0000"/>
                </a:solidFill>
                <a:effectLst/>
                <a:uLnTx/>
                <a:uFillTx/>
                <a:latin typeface="Santander Headline"/>
                <a:ea typeface="+mj-ea"/>
                <a:cs typeface="+mj-cs"/>
              </a:rPr>
              <a:t>SCIB. </a:t>
            </a:r>
            <a:r>
              <a:rPr kumimoji="0" lang="es-ES" sz="2800" b="1" i="0" u="none" strike="noStrike" kern="1200" cap="none" spc="0" normalizeH="0" baseline="0" noProof="0" err="1">
                <a:ln>
                  <a:noFill/>
                </a:ln>
                <a:solidFill>
                  <a:schemeClr val="bg2">
                    <a:lumMod val="75000"/>
                  </a:schemeClr>
                </a:solidFill>
                <a:effectLst/>
                <a:uLnTx/>
                <a:uFillTx/>
                <a:latin typeface="Santander Headline"/>
                <a:ea typeface="+mj-ea"/>
                <a:cs typeface="+mj-cs"/>
              </a:rPr>
              <a:t>Trade</a:t>
            </a:r>
            <a:r>
              <a:rPr kumimoji="0" lang="es-ES" sz="2800" b="1" i="0" u="none" strike="noStrike" kern="1200" cap="none" spc="0" normalizeH="0" baseline="0" noProof="0">
                <a:ln>
                  <a:noFill/>
                </a:ln>
                <a:solidFill>
                  <a:schemeClr val="bg2">
                    <a:lumMod val="75000"/>
                  </a:schemeClr>
                </a:solidFill>
                <a:effectLst/>
                <a:uLnTx/>
                <a:uFillTx/>
                <a:latin typeface="Santander Headline"/>
                <a:ea typeface="+mj-ea"/>
                <a:cs typeface="+mj-cs"/>
              </a:rPr>
              <a:t> </a:t>
            </a:r>
            <a:r>
              <a:rPr kumimoji="0" lang="es-ES" sz="2800" b="1" i="0" u="none" strike="noStrike" kern="1200" cap="none" spc="0" normalizeH="0" baseline="0" noProof="0" err="1">
                <a:ln>
                  <a:noFill/>
                </a:ln>
                <a:solidFill>
                  <a:schemeClr val="bg2">
                    <a:lumMod val="75000"/>
                  </a:schemeClr>
                </a:solidFill>
                <a:effectLst/>
                <a:uLnTx/>
                <a:uFillTx/>
                <a:latin typeface="Santander Headline"/>
                <a:ea typeface="+mj-ea"/>
                <a:cs typeface="+mj-cs"/>
              </a:rPr>
              <a:t>Finance</a:t>
            </a:r>
            <a:br>
              <a:rPr kumimoji="0" lang="en-AU" sz="2800" b="1" i="0" u="none" strike="noStrike" kern="1200" cap="none" spc="0" normalizeH="0" baseline="0" noProof="0">
                <a:ln>
                  <a:noFill/>
                </a:ln>
                <a:solidFill>
                  <a:srgbClr val="BFBFBF"/>
                </a:solidFill>
                <a:effectLst/>
                <a:uLnTx/>
                <a:uFillTx/>
                <a:latin typeface="Santander Headline"/>
                <a:ea typeface="+mj-ea"/>
                <a:cs typeface="+mj-cs"/>
              </a:rPr>
            </a:br>
            <a:endParaRPr lang="en-US">
              <a:solidFill>
                <a:schemeClr val="bg1">
                  <a:lumMod val="75000"/>
                </a:schemeClr>
              </a:solidFill>
            </a:endParaRPr>
          </a:p>
        </p:txBody>
      </p:sp>
      <p:sp>
        <p:nvSpPr>
          <p:cNvPr id="15" name="Rectángulo 15">
            <a:extLst>
              <a:ext uri="{FF2B5EF4-FFF2-40B4-BE49-F238E27FC236}">
                <a16:creationId xmlns:a16="http://schemas.microsoft.com/office/drawing/2014/main" id="{7D4974E7-E8FC-EE84-56E7-FDEC0D623A81}"/>
              </a:ext>
            </a:extLst>
          </p:cNvPr>
          <p:cNvSpPr/>
          <p:nvPr/>
        </p:nvSpPr>
        <p:spPr>
          <a:xfrm>
            <a:off x="4318803" y="1875926"/>
            <a:ext cx="7551328" cy="240476"/>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kern="0">
                <a:solidFill>
                  <a:prstClr val="white"/>
                </a:solidFill>
                <a:latin typeface="Santander Text" panose="020B0504020201020104" pitchFamily="34" charset="0"/>
              </a:rPr>
              <a:t>Modules</a:t>
            </a:r>
          </a:p>
        </p:txBody>
      </p:sp>
      <p:sp>
        <p:nvSpPr>
          <p:cNvPr id="8" name="Rectángulo 9">
            <a:extLst>
              <a:ext uri="{FF2B5EF4-FFF2-40B4-BE49-F238E27FC236}">
                <a16:creationId xmlns:a16="http://schemas.microsoft.com/office/drawing/2014/main" id="{59AD9BB9-1A99-3BD9-91FA-69E445AA9172}"/>
              </a:ext>
            </a:extLst>
          </p:cNvPr>
          <p:cNvSpPr/>
          <p:nvPr/>
        </p:nvSpPr>
        <p:spPr>
          <a:xfrm>
            <a:off x="587293" y="2410553"/>
            <a:ext cx="3619343" cy="610496"/>
          </a:xfrm>
          <a:prstGeom prst="rect">
            <a:avLst/>
          </a:prstGeom>
          <a:solidFill>
            <a:srgbClr val="DEEDF1"/>
          </a:solidFill>
          <a:ln w="12700" cap="flat" cmpd="sng" algn="ctr">
            <a:noFill/>
            <a:prstDash val="solid"/>
            <a:miter lim="800000"/>
          </a:ln>
          <a:effectLst/>
        </p:spPr>
        <p:txBody>
          <a:bodyPr lIns="72000" rIns="36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55600" indent="-355600">
              <a:spcAft>
                <a:spcPts val="300"/>
              </a:spcAft>
            </a:pPr>
            <a:r>
              <a:rPr lang="en-GB" sz="900" b="1" kern="0">
                <a:solidFill>
                  <a:srgbClr val="DEEDF1">
                    <a:lumMod val="25000"/>
                  </a:srgbClr>
                </a:solidFill>
                <a:latin typeface="Santander Text" panose="020B0504020201020104" pitchFamily="34" charset="0"/>
              </a:rPr>
              <a:t>Business Execution Services </a:t>
            </a:r>
          </a:p>
        </p:txBody>
      </p:sp>
      <p:sp>
        <p:nvSpPr>
          <p:cNvPr id="2" name="Rectángulo 15">
            <a:extLst>
              <a:ext uri="{FF2B5EF4-FFF2-40B4-BE49-F238E27FC236}">
                <a16:creationId xmlns:a16="http://schemas.microsoft.com/office/drawing/2014/main" id="{9E377488-D429-BC24-A8F8-A0B9A538BF7E}"/>
              </a:ext>
            </a:extLst>
          </p:cNvPr>
          <p:cNvSpPr/>
          <p:nvPr/>
        </p:nvSpPr>
        <p:spPr>
          <a:xfrm>
            <a:off x="587293" y="1875926"/>
            <a:ext cx="3619342" cy="240476"/>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kern="0">
                <a:solidFill>
                  <a:prstClr val="white"/>
                </a:solidFill>
                <a:latin typeface="Santander Text" panose="020B0504020201020104" pitchFamily="34" charset="0"/>
              </a:rPr>
              <a:t>Module Aggregation</a:t>
            </a:r>
          </a:p>
        </p:txBody>
      </p:sp>
      <p:sp>
        <p:nvSpPr>
          <p:cNvPr id="4" name="Rectángulo 3">
            <a:extLst>
              <a:ext uri="{FF2B5EF4-FFF2-40B4-BE49-F238E27FC236}">
                <a16:creationId xmlns:a16="http://schemas.microsoft.com/office/drawing/2014/main" id="{F07FA95F-CBBD-1AD5-7600-55B632C66411}"/>
              </a:ext>
            </a:extLst>
          </p:cNvPr>
          <p:cNvSpPr/>
          <p:nvPr/>
        </p:nvSpPr>
        <p:spPr>
          <a:xfrm>
            <a:off x="4329447" y="2321325"/>
            <a:ext cx="3250747" cy="870461"/>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a:solidFill>
                <a:srgbClr val="FF0000"/>
              </a:solidFill>
            </a:endParaRPr>
          </a:p>
        </p:txBody>
      </p:sp>
      <p:sp>
        <p:nvSpPr>
          <p:cNvPr id="5" name="CuadroTexto 4">
            <a:extLst>
              <a:ext uri="{FF2B5EF4-FFF2-40B4-BE49-F238E27FC236}">
                <a16:creationId xmlns:a16="http://schemas.microsoft.com/office/drawing/2014/main" id="{BDD9F8F5-1215-091B-1AB6-6DE62F857DC4}"/>
              </a:ext>
            </a:extLst>
          </p:cNvPr>
          <p:cNvSpPr txBox="1"/>
          <p:nvPr/>
        </p:nvSpPr>
        <p:spPr>
          <a:xfrm>
            <a:off x="4749167" y="2143014"/>
            <a:ext cx="1149675" cy="215444"/>
          </a:xfrm>
          <a:prstGeom prst="rect">
            <a:avLst/>
          </a:prstGeom>
          <a:solidFill>
            <a:schemeClr val="bg1"/>
          </a:solidFill>
        </p:spPr>
        <p:txBody>
          <a:bodyPr wrap="none" rtlCol="0">
            <a:spAutoFit/>
          </a:bodyPr>
          <a:lstStyle/>
          <a:p>
            <a:pPr algn="ctr">
              <a:spcAft>
                <a:spcPts val="600"/>
              </a:spcAft>
            </a:pPr>
            <a:r>
              <a:rPr lang="es-ES" sz="800" kern="0" err="1">
                <a:solidFill>
                  <a:schemeClr val="accent1"/>
                </a:solidFill>
              </a:rPr>
              <a:t>Supply</a:t>
            </a:r>
            <a:r>
              <a:rPr lang="es-ES" sz="800" kern="0">
                <a:solidFill>
                  <a:schemeClr val="accent1"/>
                </a:solidFill>
              </a:rPr>
              <a:t> </a:t>
            </a:r>
            <a:r>
              <a:rPr lang="es-ES" sz="800" kern="0" err="1">
                <a:solidFill>
                  <a:schemeClr val="accent1"/>
                </a:solidFill>
              </a:rPr>
              <a:t>Chain</a:t>
            </a:r>
            <a:r>
              <a:rPr lang="es-ES" sz="800" kern="0">
                <a:solidFill>
                  <a:schemeClr val="accent1"/>
                </a:solidFill>
              </a:rPr>
              <a:t> </a:t>
            </a:r>
            <a:r>
              <a:rPr lang="es-ES" sz="800" kern="0" err="1">
                <a:solidFill>
                  <a:schemeClr val="accent1"/>
                </a:solidFill>
              </a:rPr>
              <a:t>Finances</a:t>
            </a:r>
            <a:endParaRPr lang="es-ES" sz="800" kern="0">
              <a:solidFill>
                <a:schemeClr val="accent1"/>
              </a:solidFill>
            </a:endParaRPr>
          </a:p>
        </p:txBody>
      </p:sp>
      <p:sp>
        <p:nvSpPr>
          <p:cNvPr id="3" name="Rectángulo 114">
            <a:extLst>
              <a:ext uri="{FF2B5EF4-FFF2-40B4-BE49-F238E27FC236}">
                <a16:creationId xmlns:a16="http://schemas.microsoft.com/office/drawing/2014/main" id="{26937B82-D12C-1E88-4CE6-A7727D83FB35}"/>
              </a:ext>
            </a:extLst>
          </p:cNvPr>
          <p:cNvSpPr/>
          <p:nvPr/>
        </p:nvSpPr>
        <p:spPr>
          <a:xfrm>
            <a:off x="7749781" y="2427177"/>
            <a:ext cx="1916273" cy="601546"/>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Dynamic Discount</a:t>
            </a:r>
          </a:p>
        </p:txBody>
      </p:sp>
      <p:sp>
        <p:nvSpPr>
          <p:cNvPr id="6" name="Rectángulo 114">
            <a:extLst>
              <a:ext uri="{FF2B5EF4-FFF2-40B4-BE49-F238E27FC236}">
                <a16:creationId xmlns:a16="http://schemas.microsoft.com/office/drawing/2014/main" id="{E3D2DADF-9FFB-95CC-D8A2-B7EB2049AE22}"/>
              </a:ext>
            </a:extLst>
          </p:cNvPr>
          <p:cNvSpPr/>
          <p:nvPr/>
        </p:nvSpPr>
        <p:spPr>
          <a:xfrm>
            <a:off x="6204763" y="2410553"/>
            <a:ext cx="1298541" cy="601546"/>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SAP Ready BTP</a:t>
            </a:r>
          </a:p>
        </p:txBody>
      </p:sp>
      <p:sp>
        <p:nvSpPr>
          <p:cNvPr id="10" name="Rectángulo 114">
            <a:extLst>
              <a:ext uri="{FF2B5EF4-FFF2-40B4-BE49-F238E27FC236}">
                <a16:creationId xmlns:a16="http://schemas.microsoft.com/office/drawing/2014/main" id="{8E83AC0A-D4C3-C1ED-113C-F1B77E765F5C}"/>
              </a:ext>
            </a:extLst>
          </p:cNvPr>
          <p:cNvSpPr/>
          <p:nvPr/>
        </p:nvSpPr>
        <p:spPr>
          <a:xfrm>
            <a:off x="4367489" y="2419503"/>
            <a:ext cx="1755459" cy="601546"/>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Confirming International</a:t>
            </a:r>
          </a:p>
        </p:txBody>
      </p:sp>
      <p:sp>
        <p:nvSpPr>
          <p:cNvPr id="11" name="Rectángulo 114">
            <a:extLst>
              <a:ext uri="{FF2B5EF4-FFF2-40B4-BE49-F238E27FC236}">
                <a16:creationId xmlns:a16="http://schemas.microsoft.com/office/drawing/2014/main" id="{B3374412-9CA5-773E-2960-3FB2E3C051C7}"/>
              </a:ext>
            </a:extLst>
          </p:cNvPr>
          <p:cNvSpPr/>
          <p:nvPr/>
        </p:nvSpPr>
        <p:spPr>
          <a:xfrm>
            <a:off x="9747869" y="2418884"/>
            <a:ext cx="2044170" cy="601546"/>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Receivables Global Platform</a:t>
            </a:r>
          </a:p>
        </p:txBody>
      </p:sp>
      <p:sp>
        <p:nvSpPr>
          <p:cNvPr id="12" name="Rectángulo 3">
            <a:extLst>
              <a:ext uri="{FF2B5EF4-FFF2-40B4-BE49-F238E27FC236}">
                <a16:creationId xmlns:a16="http://schemas.microsoft.com/office/drawing/2014/main" id="{A00C1D35-1282-E3B1-9FA8-F124D8070981}"/>
              </a:ext>
            </a:extLst>
          </p:cNvPr>
          <p:cNvSpPr/>
          <p:nvPr/>
        </p:nvSpPr>
        <p:spPr>
          <a:xfrm>
            <a:off x="7667966" y="2331554"/>
            <a:ext cx="4202165" cy="870461"/>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a:solidFill>
                <a:srgbClr val="FF0000"/>
              </a:solidFill>
            </a:endParaRPr>
          </a:p>
        </p:txBody>
      </p:sp>
      <p:sp>
        <p:nvSpPr>
          <p:cNvPr id="13" name="CuadroTexto 4">
            <a:extLst>
              <a:ext uri="{FF2B5EF4-FFF2-40B4-BE49-F238E27FC236}">
                <a16:creationId xmlns:a16="http://schemas.microsoft.com/office/drawing/2014/main" id="{AE11FC7B-0794-757B-D60C-37ECA95D2E86}"/>
              </a:ext>
            </a:extLst>
          </p:cNvPr>
          <p:cNvSpPr txBox="1"/>
          <p:nvPr/>
        </p:nvSpPr>
        <p:spPr>
          <a:xfrm>
            <a:off x="8185811" y="2141453"/>
            <a:ext cx="1048685" cy="215444"/>
          </a:xfrm>
          <a:prstGeom prst="rect">
            <a:avLst/>
          </a:prstGeom>
          <a:solidFill>
            <a:schemeClr val="bg1"/>
          </a:solidFill>
        </p:spPr>
        <p:txBody>
          <a:bodyPr wrap="none" rtlCol="0">
            <a:spAutoFit/>
          </a:bodyPr>
          <a:lstStyle/>
          <a:p>
            <a:pPr algn="ctr">
              <a:spcAft>
                <a:spcPts val="600"/>
              </a:spcAft>
            </a:pPr>
            <a:r>
              <a:rPr lang="es-ES" sz="800" kern="0" err="1">
                <a:solidFill>
                  <a:schemeClr val="accent1"/>
                </a:solidFill>
              </a:rPr>
              <a:t>Receivables</a:t>
            </a:r>
            <a:r>
              <a:rPr lang="es-ES" sz="800" kern="0">
                <a:solidFill>
                  <a:schemeClr val="accent1"/>
                </a:solidFill>
              </a:rPr>
              <a:t> </a:t>
            </a:r>
            <a:r>
              <a:rPr lang="es-ES" sz="800" kern="0" err="1">
                <a:solidFill>
                  <a:schemeClr val="accent1"/>
                </a:solidFill>
              </a:rPr>
              <a:t>Finance</a:t>
            </a:r>
            <a:endParaRPr lang="es-ES" sz="800" kern="0">
              <a:solidFill>
                <a:schemeClr val="accent1"/>
              </a:solidFill>
            </a:endParaRPr>
          </a:p>
        </p:txBody>
      </p:sp>
      <p:sp>
        <p:nvSpPr>
          <p:cNvPr id="14" name="Rectángulo 6">
            <a:extLst>
              <a:ext uri="{FF2B5EF4-FFF2-40B4-BE49-F238E27FC236}">
                <a16:creationId xmlns:a16="http://schemas.microsoft.com/office/drawing/2014/main" id="{1B3F75EC-8746-4D84-4560-E8A5F26658A5}"/>
              </a:ext>
            </a:extLst>
          </p:cNvPr>
          <p:cNvSpPr/>
          <p:nvPr/>
        </p:nvSpPr>
        <p:spPr>
          <a:xfrm>
            <a:off x="2400853" y="6328528"/>
            <a:ext cx="244952" cy="107435"/>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a:solidFill>
                <a:srgbClr val="FF0000"/>
              </a:solidFill>
            </a:endParaRPr>
          </a:p>
        </p:txBody>
      </p:sp>
      <p:sp>
        <p:nvSpPr>
          <p:cNvPr id="16" name="CuadroTexto 9">
            <a:extLst>
              <a:ext uri="{FF2B5EF4-FFF2-40B4-BE49-F238E27FC236}">
                <a16:creationId xmlns:a16="http://schemas.microsoft.com/office/drawing/2014/main" id="{800AC985-20A5-B898-905C-A0CABF993C5A}"/>
              </a:ext>
            </a:extLst>
          </p:cNvPr>
          <p:cNvSpPr txBox="1"/>
          <p:nvPr/>
        </p:nvSpPr>
        <p:spPr>
          <a:xfrm>
            <a:off x="2645805" y="6274524"/>
            <a:ext cx="1313180" cy="215444"/>
          </a:xfrm>
          <a:prstGeom prst="rect">
            <a:avLst/>
          </a:prstGeom>
          <a:noFill/>
        </p:spPr>
        <p:txBody>
          <a:bodyPr wrap="none" rtlCol="0">
            <a:spAutoFit/>
          </a:bodyPr>
          <a:lstStyle/>
          <a:p>
            <a:r>
              <a:rPr lang="es-ES" sz="800"/>
              <a:t>SCIB </a:t>
            </a:r>
            <a:r>
              <a:rPr lang="es-ES" sz="800" err="1"/>
              <a:t>Platform</a:t>
            </a:r>
            <a:r>
              <a:rPr lang="es-ES" sz="800"/>
              <a:t> </a:t>
            </a:r>
            <a:r>
              <a:rPr lang="es-ES" sz="800" err="1"/>
              <a:t>Component</a:t>
            </a:r>
            <a:endParaRPr lang="es-ES" sz="800"/>
          </a:p>
        </p:txBody>
      </p:sp>
    </p:spTree>
    <p:extLst>
      <p:ext uri="{BB962C8B-B14F-4D97-AF65-F5344CB8AC3E}">
        <p14:creationId xmlns:p14="http://schemas.microsoft.com/office/powerpoint/2010/main" val="6032468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13F5B-6609-5192-0F75-2DC442B4BCD3}"/>
            </a:ext>
          </a:extLst>
        </p:cNvPr>
        <p:cNvGrpSpPr/>
        <p:nvPr/>
      </p:nvGrpSpPr>
      <p:grpSpPr>
        <a:xfrm>
          <a:off x="0" y="0"/>
          <a:ext cx="0" cy="0"/>
          <a:chOff x="0" y="0"/>
          <a:chExt cx="0" cy="0"/>
        </a:xfrm>
      </p:grpSpPr>
      <p:sp>
        <p:nvSpPr>
          <p:cNvPr id="112" name="Text Placeholder 2">
            <a:extLst>
              <a:ext uri="{FF2B5EF4-FFF2-40B4-BE49-F238E27FC236}">
                <a16:creationId xmlns:a16="http://schemas.microsoft.com/office/drawing/2014/main" id="{8B52DA57-28A9-D398-898D-F8D2468C2FDC}"/>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113" name="Título 1">
            <a:extLst>
              <a:ext uri="{FF2B5EF4-FFF2-40B4-BE49-F238E27FC236}">
                <a16:creationId xmlns:a16="http://schemas.microsoft.com/office/drawing/2014/main" id="{BCFA86A9-B987-E265-6AD5-5EF4ACF2A098}"/>
              </a:ext>
            </a:extLst>
          </p:cNvPr>
          <p:cNvSpPr>
            <a:spLocks noGrp="1"/>
          </p:cNvSpPr>
          <p:nvPr>
            <p:ph type="title"/>
          </p:nvPr>
        </p:nvSpPr>
        <p:spPr>
          <a:xfrm>
            <a:off x="711024" y="641900"/>
            <a:ext cx="10758733" cy="445400"/>
          </a:xfrm>
        </p:spPr>
        <p:txBody>
          <a:bodyPr/>
          <a:lstStyle/>
          <a:p>
            <a:pPr>
              <a:defRPr/>
            </a:pPr>
            <a:r>
              <a:rPr kumimoji="0" lang="es-ES" sz="2800" b="1" i="0" u="none" strike="noStrike" kern="1200" cap="none" spc="0" normalizeH="0" baseline="0" noProof="0">
                <a:ln>
                  <a:noFill/>
                </a:ln>
                <a:solidFill>
                  <a:srgbClr val="EC0000"/>
                </a:solidFill>
                <a:effectLst/>
                <a:uLnTx/>
                <a:uFillTx/>
                <a:latin typeface="Santander Headline"/>
                <a:ea typeface="+mj-ea"/>
                <a:cs typeface="+mj-cs"/>
              </a:rPr>
              <a:t>SCIB. </a:t>
            </a:r>
            <a:r>
              <a:rPr lang="es-ES">
                <a:solidFill>
                  <a:schemeClr val="bg2">
                    <a:lumMod val="75000"/>
                  </a:schemeClr>
                </a:solidFill>
                <a:latin typeface="Santander Headline"/>
              </a:rPr>
              <a:t>Global </a:t>
            </a:r>
            <a:r>
              <a:rPr lang="es-ES" err="1">
                <a:solidFill>
                  <a:schemeClr val="bg2">
                    <a:lumMod val="75000"/>
                  </a:schemeClr>
                </a:solidFill>
                <a:latin typeface="Santander Headline"/>
              </a:rPr>
              <a:t>Banking</a:t>
            </a:r>
            <a:endParaRPr lang="en-US">
              <a:solidFill>
                <a:schemeClr val="bg1">
                  <a:lumMod val="75000"/>
                </a:schemeClr>
              </a:solidFill>
            </a:endParaRPr>
          </a:p>
        </p:txBody>
      </p:sp>
      <p:sp>
        <p:nvSpPr>
          <p:cNvPr id="15" name="Rectángulo 15">
            <a:extLst>
              <a:ext uri="{FF2B5EF4-FFF2-40B4-BE49-F238E27FC236}">
                <a16:creationId xmlns:a16="http://schemas.microsoft.com/office/drawing/2014/main" id="{C843ED74-AA41-DFC5-DBC0-C576174EF0B9}"/>
              </a:ext>
            </a:extLst>
          </p:cNvPr>
          <p:cNvSpPr/>
          <p:nvPr/>
        </p:nvSpPr>
        <p:spPr>
          <a:xfrm>
            <a:off x="4318803" y="1875926"/>
            <a:ext cx="7551328" cy="240476"/>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kern="0">
                <a:solidFill>
                  <a:prstClr val="white"/>
                </a:solidFill>
                <a:latin typeface="Santander Text" panose="020B0504020201020104" pitchFamily="34" charset="0"/>
              </a:rPr>
              <a:t>Modules</a:t>
            </a:r>
          </a:p>
        </p:txBody>
      </p:sp>
      <p:sp>
        <p:nvSpPr>
          <p:cNvPr id="2" name="Rectángulo 15">
            <a:extLst>
              <a:ext uri="{FF2B5EF4-FFF2-40B4-BE49-F238E27FC236}">
                <a16:creationId xmlns:a16="http://schemas.microsoft.com/office/drawing/2014/main" id="{53584A82-608B-9A25-EFF4-58A1C9A47707}"/>
              </a:ext>
            </a:extLst>
          </p:cNvPr>
          <p:cNvSpPr/>
          <p:nvPr/>
        </p:nvSpPr>
        <p:spPr>
          <a:xfrm>
            <a:off x="587293" y="1875926"/>
            <a:ext cx="3619342" cy="240476"/>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kern="0">
                <a:solidFill>
                  <a:prstClr val="white"/>
                </a:solidFill>
                <a:latin typeface="Santander Text" panose="020B0504020201020104" pitchFamily="34" charset="0"/>
              </a:rPr>
              <a:t>Module Aggregation</a:t>
            </a:r>
          </a:p>
        </p:txBody>
      </p:sp>
      <p:sp>
        <p:nvSpPr>
          <p:cNvPr id="71" name="Rectángulo 9">
            <a:extLst>
              <a:ext uri="{FF2B5EF4-FFF2-40B4-BE49-F238E27FC236}">
                <a16:creationId xmlns:a16="http://schemas.microsoft.com/office/drawing/2014/main" id="{0549190C-4195-A42B-8F1D-8B9CDAAF966F}"/>
              </a:ext>
            </a:extLst>
          </p:cNvPr>
          <p:cNvSpPr/>
          <p:nvPr/>
        </p:nvSpPr>
        <p:spPr>
          <a:xfrm>
            <a:off x="587293" y="2410553"/>
            <a:ext cx="3619343" cy="610496"/>
          </a:xfrm>
          <a:prstGeom prst="rect">
            <a:avLst/>
          </a:prstGeom>
          <a:solidFill>
            <a:srgbClr val="DEEDF1"/>
          </a:solidFill>
          <a:ln w="12700" cap="flat" cmpd="sng" algn="ctr">
            <a:noFill/>
            <a:prstDash val="solid"/>
            <a:miter lim="800000"/>
          </a:ln>
          <a:effectLst/>
        </p:spPr>
        <p:txBody>
          <a:bodyPr lIns="72000" rIns="36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55600" indent="-355600">
              <a:spcAft>
                <a:spcPts val="300"/>
              </a:spcAft>
            </a:pPr>
            <a:r>
              <a:rPr lang="en-GB" sz="900" b="1" kern="0">
                <a:solidFill>
                  <a:srgbClr val="DEEDF1">
                    <a:lumMod val="25000"/>
                  </a:srgbClr>
                </a:solidFill>
                <a:latin typeface="Santander Text" panose="020B0504020201020104" pitchFamily="34" charset="0"/>
              </a:rPr>
              <a:t>1 – Distribution business Services</a:t>
            </a:r>
          </a:p>
        </p:txBody>
      </p:sp>
      <p:sp>
        <p:nvSpPr>
          <p:cNvPr id="72" name="Rectángulo 63">
            <a:extLst>
              <a:ext uri="{FF2B5EF4-FFF2-40B4-BE49-F238E27FC236}">
                <a16:creationId xmlns:a16="http://schemas.microsoft.com/office/drawing/2014/main" id="{CED04937-A078-B19A-4619-724771F7C249}"/>
              </a:ext>
            </a:extLst>
          </p:cNvPr>
          <p:cNvSpPr>
            <a:spLocks/>
          </p:cNvSpPr>
          <p:nvPr/>
        </p:nvSpPr>
        <p:spPr>
          <a:xfrm>
            <a:off x="8654451" y="2401408"/>
            <a:ext cx="3215679" cy="601547"/>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600"/>
              </a:spcAft>
            </a:pPr>
            <a:r>
              <a:rPr lang="en-US" sz="1100" kern="0"/>
              <a:t>DLX</a:t>
            </a:r>
          </a:p>
        </p:txBody>
      </p:sp>
      <p:sp>
        <p:nvSpPr>
          <p:cNvPr id="73" name="Rectángulo 10">
            <a:extLst>
              <a:ext uri="{FF2B5EF4-FFF2-40B4-BE49-F238E27FC236}">
                <a16:creationId xmlns:a16="http://schemas.microsoft.com/office/drawing/2014/main" id="{55D4B5F8-8B6E-B85A-75B2-962F026773E0}"/>
              </a:ext>
            </a:extLst>
          </p:cNvPr>
          <p:cNvSpPr/>
          <p:nvPr/>
        </p:nvSpPr>
        <p:spPr>
          <a:xfrm>
            <a:off x="579176" y="3093031"/>
            <a:ext cx="3619343" cy="603671"/>
          </a:xfrm>
          <a:prstGeom prst="rect">
            <a:avLst/>
          </a:prstGeom>
          <a:solidFill>
            <a:srgbClr val="DEEDF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36000"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55600" indent="-355600">
              <a:spcAft>
                <a:spcPts val="300"/>
              </a:spcAft>
            </a:pPr>
            <a:r>
              <a:rPr lang="en-GB" sz="900" b="1">
                <a:solidFill>
                  <a:srgbClr val="DEEDF1">
                    <a:lumMod val="25000"/>
                  </a:srgbClr>
                </a:solidFill>
                <a:latin typeface="Santander Text" panose="020B0504020201020104" pitchFamily="34" charset="0"/>
              </a:rPr>
              <a:t>2 – Business Execution Services </a:t>
            </a:r>
          </a:p>
          <a:p>
            <a:pPr>
              <a:spcAft>
                <a:spcPts val="300"/>
              </a:spcAft>
            </a:pPr>
            <a:r>
              <a:rPr lang="en-GB" sz="800" i="1">
                <a:solidFill>
                  <a:srgbClr val="DEEDF1">
                    <a:lumMod val="25000"/>
                  </a:srgbClr>
                </a:solidFill>
                <a:latin typeface="Santander Text" panose="020B0504020201020104" pitchFamily="34" charset="0"/>
              </a:rPr>
              <a:t>	</a:t>
            </a:r>
            <a:endParaRPr lang="en-GB" sz="700" i="1">
              <a:solidFill>
                <a:srgbClr val="DEEDF1">
                  <a:lumMod val="25000"/>
                </a:srgbClr>
              </a:solidFill>
              <a:latin typeface="Santander Text" panose="020B0504020201020104" pitchFamily="34" charset="0"/>
            </a:endParaRPr>
          </a:p>
        </p:txBody>
      </p:sp>
      <p:sp>
        <p:nvSpPr>
          <p:cNvPr id="74" name="Rectángulo 114">
            <a:extLst>
              <a:ext uri="{FF2B5EF4-FFF2-40B4-BE49-F238E27FC236}">
                <a16:creationId xmlns:a16="http://schemas.microsoft.com/office/drawing/2014/main" id="{086CDCD7-765C-D6A9-A3C5-2AF6B87E67AC}"/>
              </a:ext>
            </a:extLst>
          </p:cNvPr>
          <p:cNvSpPr/>
          <p:nvPr/>
        </p:nvSpPr>
        <p:spPr>
          <a:xfrm>
            <a:off x="4311140" y="3152946"/>
            <a:ext cx="1906779" cy="528083"/>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err="1">
                <a:solidFill>
                  <a:srgbClr val="DEEDF1">
                    <a:lumMod val="25000"/>
                  </a:srgbClr>
                </a:solidFill>
                <a:latin typeface="Santander Text" panose="020B0504020201020104" pitchFamily="34" charset="0"/>
              </a:rPr>
              <a:t>ClearPar</a:t>
            </a:r>
            <a:endParaRPr lang="en-GB" sz="1100" kern="0">
              <a:solidFill>
                <a:srgbClr val="DEEDF1">
                  <a:lumMod val="25000"/>
                </a:srgbClr>
              </a:solidFill>
              <a:latin typeface="Santander Text" panose="020B0504020201020104" pitchFamily="34" charset="0"/>
            </a:endParaRPr>
          </a:p>
        </p:txBody>
      </p:sp>
      <p:sp>
        <p:nvSpPr>
          <p:cNvPr id="75" name="CuadroTexto 12">
            <a:extLst>
              <a:ext uri="{FF2B5EF4-FFF2-40B4-BE49-F238E27FC236}">
                <a16:creationId xmlns:a16="http://schemas.microsoft.com/office/drawing/2014/main" id="{ECF4EDB1-8832-6137-E881-1B8A0F2B5C03}"/>
              </a:ext>
            </a:extLst>
          </p:cNvPr>
          <p:cNvSpPr txBox="1"/>
          <p:nvPr/>
        </p:nvSpPr>
        <p:spPr>
          <a:xfrm>
            <a:off x="5391127" y="2143014"/>
            <a:ext cx="184731" cy="215444"/>
          </a:xfrm>
          <a:prstGeom prst="rect">
            <a:avLst/>
          </a:prstGeom>
          <a:solidFill>
            <a:schemeClr val="bg1"/>
          </a:solidFill>
        </p:spPr>
        <p:txBody>
          <a:bodyPr wrap="none" rtlCol="0">
            <a:spAutoFit/>
          </a:bodyPr>
          <a:lstStyle/>
          <a:p>
            <a:pPr algn="ctr">
              <a:spcAft>
                <a:spcPts val="600"/>
              </a:spcAft>
            </a:pPr>
            <a:endParaRPr lang="es-ES" sz="800" kern="0">
              <a:solidFill>
                <a:schemeClr val="accent1"/>
              </a:solidFill>
            </a:endParaRPr>
          </a:p>
        </p:txBody>
      </p:sp>
      <p:sp>
        <p:nvSpPr>
          <p:cNvPr id="77" name="Rectángulo 114">
            <a:extLst>
              <a:ext uri="{FF2B5EF4-FFF2-40B4-BE49-F238E27FC236}">
                <a16:creationId xmlns:a16="http://schemas.microsoft.com/office/drawing/2014/main" id="{4DB4A957-EA4B-2137-9A1C-6F7CA4BBB8B9}"/>
              </a:ext>
            </a:extLst>
          </p:cNvPr>
          <p:cNvSpPr/>
          <p:nvPr/>
        </p:nvSpPr>
        <p:spPr>
          <a:xfrm>
            <a:off x="6330538" y="3152947"/>
            <a:ext cx="1834900" cy="543756"/>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err="1">
                <a:solidFill>
                  <a:srgbClr val="DEEDF1">
                    <a:lumMod val="25000"/>
                  </a:srgbClr>
                </a:solidFill>
                <a:latin typeface="Santander Text" panose="020B0504020201020104" pitchFamily="34" charset="0"/>
              </a:rPr>
              <a:t>LoanIQ</a:t>
            </a:r>
            <a:endParaRPr lang="en-GB" sz="1100" kern="0">
              <a:solidFill>
                <a:srgbClr val="DEEDF1">
                  <a:lumMod val="25000"/>
                </a:srgbClr>
              </a:solidFill>
              <a:latin typeface="Santander Text" panose="020B0504020201020104" pitchFamily="34" charset="0"/>
            </a:endParaRPr>
          </a:p>
        </p:txBody>
      </p:sp>
      <p:sp>
        <p:nvSpPr>
          <p:cNvPr id="78" name="Rectángulo 114">
            <a:extLst>
              <a:ext uri="{FF2B5EF4-FFF2-40B4-BE49-F238E27FC236}">
                <a16:creationId xmlns:a16="http://schemas.microsoft.com/office/drawing/2014/main" id="{16055F98-9238-0C41-94D0-30FA717B1828}"/>
              </a:ext>
            </a:extLst>
          </p:cNvPr>
          <p:cNvSpPr/>
          <p:nvPr/>
        </p:nvSpPr>
        <p:spPr>
          <a:xfrm>
            <a:off x="10673758" y="3143004"/>
            <a:ext cx="1196372" cy="543756"/>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Orfeo Global</a:t>
            </a:r>
          </a:p>
        </p:txBody>
      </p:sp>
      <p:sp>
        <p:nvSpPr>
          <p:cNvPr id="81" name="Rectángulo 114">
            <a:extLst>
              <a:ext uri="{FF2B5EF4-FFF2-40B4-BE49-F238E27FC236}">
                <a16:creationId xmlns:a16="http://schemas.microsoft.com/office/drawing/2014/main" id="{F9F4C864-F72B-7DE6-BC29-4AEC3E955B3C}"/>
              </a:ext>
            </a:extLst>
          </p:cNvPr>
          <p:cNvSpPr/>
          <p:nvPr/>
        </p:nvSpPr>
        <p:spPr>
          <a:xfrm>
            <a:off x="8278057" y="3143004"/>
            <a:ext cx="1035753" cy="543756"/>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Mercurio</a:t>
            </a:r>
          </a:p>
        </p:txBody>
      </p:sp>
      <p:sp>
        <p:nvSpPr>
          <p:cNvPr id="82" name="Rectángulo 63">
            <a:extLst>
              <a:ext uri="{FF2B5EF4-FFF2-40B4-BE49-F238E27FC236}">
                <a16:creationId xmlns:a16="http://schemas.microsoft.com/office/drawing/2014/main" id="{885582AC-6B61-EBA5-A7E9-93404753CE4E}"/>
              </a:ext>
            </a:extLst>
          </p:cNvPr>
          <p:cNvSpPr>
            <a:spLocks/>
          </p:cNvSpPr>
          <p:nvPr/>
        </p:nvSpPr>
        <p:spPr>
          <a:xfrm>
            <a:off x="4311141" y="2409872"/>
            <a:ext cx="4238805" cy="601547"/>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600"/>
              </a:spcAft>
            </a:pPr>
            <a:r>
              <a:rPr lang="en-US" sz="1100" kern="0"/>
              <a:t>Distribution Workflow</a:t>
            </a:r>
          </a:p>
        </p:txBody>
      </p:sp>
      <p:sp>
        <p:nvSpPr>
          <p:cNvPr id="84" name="Rectángulo 63">
            <a:extLst>
              <a:ext uri="{FF2B5EF4-FFF2-40B4-BE49-F238E27FC236}">
                <a16:creationId xmlns:a16="http://schemas.microsoft.com/office/drawing/2014/main" id="{648DB316-C2C6-6907-DD47-3545C308AE38}"/>
              </a:ext>
            </a:extLst>
          </p:cNvPr>
          <p:cNvSpPr>
            <a:spLocks/>
          </p:cNvSpPr>
          <p:nvPr/>
        </p:nvSpPr>
        <p:spPr>
          <a:xfrm>
            <a:off x="4310041" y="3820469"/>
            <a:ext cx="7551972" cy="601547"/>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600"/>
              </a:spcAft>
            </a:pPr>
            <a:r>
              <a:rPr lang="en-US" sz="1100" kern="0"/>
              <a:t>BDH 3.0 Banking Data Hub</a:t>
            </a:r>
          </a:p>
        </p:txBody>
      </p:sp>
      <p:sp>
        <p:nvSpPr>
          <p:cNvPr id="3" name="Rectángulo 10">
            <a:extLst>
              <a:ext uri="{FF2B5EF4-FFF2-40B4-BE49-F238E27FC236}">
                <a16:creationId xmlns:a16="http://schemas.microsoft.com/office/drawing/2014/main" id="{E64668BE-ED4F-723B-1665-9AC6705420BF}"/>
              </a:ext>
            </a:extLst>
          </p:cNvPr>
          <p:cNvSpPr/>
          <p:nvPr/>
        </p:nvSpPr>
        <p:spPr>
          <a:xfrm>
            <a:off x="579175" y="3818345"/>
            <a:ext cx="3619343" cy="603671"/>
          </a:xfrm>
          <a:prstGeom prst="rect">
            <a:avLst/>
          </a:prstGeom>
          <a:solidFill>
            <a:srgbClr val="DEEDF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36000"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55600" indent="-355600">
              <a:spcAft>
                <a:spcPts val="300"/>
              </a:spcAft>
            </a:pPr>
            <a:r>
              <a:rPr lang="en-GB" sz="900" b="1">
                <a:solidFill>
                  <a:srgbClr val="DEEDF1">
                    <a:lumMod val="25000"/>
                  </a:srgbClr>
                </a:solidFill>
                <a:latin typeface="Santander Text" panose="020B0504020201020104" pitchFamily="34" charset="0"/>
              </a:rPr>
              <a:t>3 – Banking Data Services </a:t>
            </a:r>
          </a:p>
          <a:p>
            <a:pPr>
              <a:spcAft>
                <a:spcPts val="300"/>
              </a:spcAft>
            </a:pPr>
            <a:r>
              <a:rPr lang="en-GB" sz="800" i="1">
                <a:solidFill>
                  <a:srgbClr val="DEEDF1">
                    <a:lumMod val="25000"/>
                  </a:srgbClr>
                </a:solidFill>
                <a:latin typeface="Santander Text" panose="020B0504020201020104" pitchFamily="34" charset="0"/>
              </a:rPr>
              <a:t>	</a:t>
            </a:r>
            <a:endParaRPr lang="en-GB" sz="700" i="1">
              <a:solidFill>
                <a:srgbClr val="DEEDF1">
                  <a:lumMod val="25000"/>
                </a:srgbClr>
              </a:solidFill>
              <a:latin typeface="Santander Text" panose="020B0504020201020104" pitchFamily="34" charset="0"/>
            </a:endParaRPr>
          </a:p>
        </p:txBody>
      </p:sp>
      <p:sp>
        <p:nvSpPr>
          <p:cNvPr id="5" name="Rectángulo 114">
            <a:extLst>
              <a:ext uri="{FF2B5EF4-FFF2-40B4-BE49-F238E27FC236}">
                <a16:creationId xmlns:a16="http://schemas.microsoft.com/office/drawing/2014/main" id="{C5E8A396-E59C-B548-2248-5E37A4DDE6E1}"/>
              </a:ext>
            </a:extLst>
          </p:cNvPr>
          <p:cNvSpPr/>
          <p:nvPr/>
        </p:nvSpPr>
        <p:spPr>
          <a:xfrm>
            <a:off x="9426429" y="3152946"/>
            <a:ext cx="1196372" cy="543756"/>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Rita</a:t>
            </a:r>
          </a:p>
        </p:txBody>
      </p:sp>
      <p:sp>
        <p:nvSpPr>
          <p:cNvPr id="7" name="Rectángulo 10">
            <a:extLst>
              <a:ext uri="{FF2B5EF4-FFF2-40B4-BE49-F238E27FC236}">
                <a16:creationId xmlns:a16="http://schemas.microsoft.com/office/drawing/2014/main" id="{104D62CD-C8E6-3EC2-010A-AF7BFDADC09B}"/>
              </a:ext>
            </a:extLst>
          </p:cNvPr>
          <p:cNvSpPr/>
          <p:nvPr/>
        </p:nvSpPr>
        <p:spPr>
          <a:xfrm>
            <a:off x="4245652" y="2260911"/>
            <a:ext cx="7687268" cy="2238631"/>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a:solidFill>
                <a:srgbClr val="FF0000"/>
              </a:solidFill>
            </a:endParaRPr>
          </a:p>
        </p:txBody>
      </p:sp>
      <p:sp>
        <p:nvSpPr>
          <p:cNvPr id="8" name="CuadroTexto 12">
            <a:extLst>
              <a:ext uri="{FF2B5EF4-FFF2-40B4-BE49-F238E27FC236}">
                <a16:creationId xmlns:a16="http://schemas.microsoft.com/office/drawing/2014/main" id="{F2172591-AF31-DB95-4892-0DB3DF8DD440}"/>
              </a:ext>
            </a:extLst>
          </p:cNvPr>
          <p:cNvSpPr txBox="1"/>
          <p:nvPr/>
        </p:nvSpPr>
        <p:spPr>
          <a:xfrm>
            <a:off x="4413334" y="2143014"/>
            <a:ext cx="2140330" cy="215444"/>
          </a:xfrm>
          <a:prstGeom prst="rect">
            <a:avLst/>
          </a:prstGeom>
          <a:solidFill>
            <a:schemeClr val="bg1"/>
          </a:solidFill>
        </p:spPr>
        <p:txBody>
          <a:bodyPr wrap="none" rtlCol="0">
            <a:spAutoFit/>
          </a:bodyPr>
          <a:lstStyle/>
          <a:p>
            <a:pPr algn="ctr">
              <a:spcAft>
                <a:spcPts val="600"/>
              </a:spcAft>
            </a:pPr>
            <a:r>
              <a:rPr lang="en-US" sz="800" kern="0">
                <a:solidFill>
                  <a:schemeClr val="accent1"/>
                </a:solidFill>
              </a:rPr>
              <a:t>Specialized lending and capital optimization</a:t>
            </a:r>
            <a:endParaRPr lang="es-ES" sz="800" kern="0">
              <a:solidFill>
                <a:schemeClr val="accent1"/>
              </a:solidFill>
            </a:endParaRPr>
          </a:p>
        </p:txBody>
      </p:sp>
      <p:sp>
        <p:nvSpPr>
          <p:cNvPr id="9" name="Rectángulo 6">
            <a:extLst>
              <a:ext uri="{FF2B5EF4-FFF2-40B4-BE49-F238E27FC236}">
                <a16:creationId xmlns:a16="http://schemas.microsoft.com/office/drawing/2014/main" id="{4399975D-BBA6-1296-F3BC-68AD8CBD9D6A}"/>
              </a:ext>
            </a:extLst>
          </p:cNvPr>
          <p:cNvSpPr/>
          <p:nvPr/>
        </p:nvSpPr>
        <p:spPr>
          <a:xfrm>
            <a:off x="2400853" y="6328528"/>
            <a:ext cx="244952" cy="107435"/>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a:solidFill>
                <a:srgbClr val="FF0000"/>
              </a:solidFill>
            </a:endParaRPr>
          </a:p>
        </p:txBody>
      </p:sp>
      <p:sp>
        <p:nvSpPr>
          <p:cNvPr id="10" name="CuadroTexto 9">
            <a:extLst>
              <a:ext uri="{FF2B5EF4-FFF2-40B4-BE49-F238E27FC236}">
                <a16:creationId xmlns:a16="http://schemas.microsoft.com/office/drawing/2014/main" id="{C4364DCD-787B-D1F9-E21B-C7077AE2065D}"/>
              </a:ext>
            </a:extLst>
          </p:cNvPr>
          <p:cNvSpPr txBox="1"/>
          <p:nvPr/>
        </p:nvSpPr>
        <p:spPr>
          <a:xfrm>
            <a:off x="2645805" y="6274524"/>
            <a:ext cx="1313180" cy="215444"/>
          </a:xfrm>
          <a:prstGeom prst="rect">
            <a:avLst/>
          </a:prstGeom>
          <a:noFill/>
        </p:spPr>
        <p:txBody>
          <a:bodyPr wrap="none" rtlCol="0">
            <a:spAutoFit/>
          </a:bodyPr>
          <a:lstStyle/>
          <a:p>
            <a:r>
              <a:rPr lang="es-ES" sz="800"/>
              <a:t>SCIB </a:t>
            </a:r>
            <a:r>
              <a:rPr lang="es-ES" sz="800" err="1"/>
              <a:t>Platform</a:t>
            </a:r>
            <a:r>
              <a:rPr lang="es-ES" sz="800"/>
              <a:t> </a:t>
            </a:r>
            <a:r>
              <a:rPr lang="es-ES" sz="800" err="1"/>
              <a:t>Component</a:t>
            </a:r>
            <a:endParaRPr lang="es-ES" sz="800"/>
          </a:p>
        </p:txBody>
      </p:sp>
    </p:spTree>
    <p:extLst>
      <p:ext uri="{BB962C8B-B14F-4D97-AF65-F5344CB8AC3E}">
        <p14:creationId xmlns:p14="http://schemas.microsoft.com/office/powerpoint/2010/main" val="28949751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C8188-DFE2-D8DB-179F-CF285564B498}"/>
            </a:ext>
          </a:extLst>
        </p:cNvPr>
        <p:cNvGrpSpPr/>
        <p:nvPr/>
      </p:nvGrpSpPr>
      <p:grpSpPr>
        <a:xfrm>
          <a:off x="0" y="0"/>
          <a:ext cx="0" cy="0"/>
          <a:chOff x="0" y="0"/>
          <a:chExt cx="0" cy="0"/>
        </a:xfrm>
      </p:grpSpPr>
      <p:sp>
        <p:nvSpPr>
          <p:cNvPr id="112" name="Text Placeholder 2">
            <a:extLst>
              <a:ext uri="{FF2B5EF4-FFF2-40B4-BE49-F238E27FC236}">
                <a16:creationId xmlns:a16="http://schemas.microsoft.com/office/drawing/2014/main" id="{5E062DB4-0270-76B3-4667-6CF338474D20}"/>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113" name="Título 1">
            <a:extLst>
              <a:ext uri="{FF2B5EF4-FFF2-40B4-BE49-F238E27FC236}">
                <a16:creationId xmlns:a16="http://schemas.microsoft.com/office/drawing/2014/main" id="{FE823855-A5B7-3746-435C-9B800B986766}"/>
              </a:ext>
            </a:extLst>
          </p:cNvPr>
          <p:cNvSpPr>
            <a:spLocks noGrp="1"/>
          </p:cNvSpPr>
          <p:nvPr>
            <p:ph type="title"/>
          </p:nvPr>
        </p:nvSpPr>
        <p:spPr>
          <a:xfrm>
            <a:off x="711024" y="641900"/>
            <a:ext cx="10758733" cy="445400"/>
          </a:xfrm>
        </p:spPr>
        <p:txBody>
          <a:bodyPr/>
          <a:lstStyle/>
          <a:p>
            <a:pPr>
              <a:defRPr/>
            </a:pPr>
            <a:r>
              <a:rPr kumimoji="0" lang="es-ES" sz="2800" b="1" i="0" u="none" strike="noStrike" kern="1200" cap="none" spc="0" normalizeH="0" baseline="0" noProof="0">
                <a:ln>
                  <a:noFill/>
                </a:ln>
                <a:solidFill>
                  <a:srgbClr val="EC0000"/>
                </a:solidFill>
                <a:effectLst/>
                <a:uLnTx/>
                <a:uFillTx/>
                <a:latin typeface="Santander Headline"/>
                <a:ea typeface="+mj-ea"/>
                <a:cs typeface="+mj-cs"/>
              </a:rPr>
              <a:t>SCIB. </a:t>
            </a:r>
            <a:r>
              <a:rPr kumimoji="0" lang="es-ES" sz="2800" b="1" i="0" u="none" strike="noStrike" kern="1200" cap="none" spc="0" normalizeH="0" baseline="0" noProof="0">
                <a:ln>
                  <a:noFill/>
                </a:ln>
                <a:solidFill>
                  <a:schemeClr val="bg2">
                    <a:lumMod val="75000"/>
                  </a:schemeClr>
                </a:solidFill>
                <a:effectLst/>
                <a:uLnTx/>
                <a:uFillTx/>
                <a:latin typeface="Santander Headline"/>
                <a:ea typeface="+mj-ea"/>
                <a:cs typeface="+mj-cs"/>
              </a:rPr>
              <a:t>SCIB Platform</a:t>
            </a:r>
            <a:endParaRPr lang="en-US">
              <a:solidFill>
                <a:schemeClr val="bg1">
                  <a:lumMod val="75000"/>
                </a:schemeClr>
              </a:solidFill>
            </a:endParaRPr>
          </a:p>
        </p:txBody>
      </p:sp>
      <p:sp>
        <p:nvSpPr>
          <p:cNvPr id="15" name="Rectángulo 15">
            <a:extLst>
              <a:ext uri="{FF2B5EF4-FFF2-40B4-BE49-F238E27FC236}">
                <a16:creationId xmlns:a16="http://schemas.microsoft.com/office/drawing/2014/main" id="{C1BD4433-B640-BC12-2D53-8126B6E4DE46}"/>
              </a:ext>
            </a:extLst>
          </p:cNvPr>
          <p:cNvSpPr/>
          <p:nvPr/>
        </p:nvSpPr>
        <p:spPr>
          <a:xfrm>
            <a:off x="4318802" y="1228024"/>
            <a:ext cx="7614117" cy="240314"/>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kern="0">
                <a:solidFill>
                  <a:prstClr val="white"/>
                </a:solidFill>
                <a:latin typeface="Santander Text" panose="020B0504020201020104" pitchFamily="34" charset="0"/>
              </a:rPr>
              <a:t>Modules</a:t>
            </a:r>
          </a:p>
        </p:txBody>
      </p:sp>
      <p:sp>
        <p:nvSpPr>
          <p:cNvPr id="2" name="Rectángulo 15">
            <a:extLst>
              <a:ext uri="{FF2B5EF4-FFF2-40B4-BE49-F238E27FC236}">
                <a16:creationId xmlns:a16="http://schemas.microsoft.com/office/drawing/2014/main" id="{4C64034E-538E-BC50-6F2E-63BF2A8966E0}"/>
              </a:ext>
            </a:extLst>
          </p:cNvPr>
          <p:cNvSpPr/>
          <p:nvPr/>
        </p:nvSpPr>
        <p:spPr>
          <a:xfrm>
            <a:off x="587293" y="1228024"/>
            <a:ext cx="3619342" cy="240476"/>
          </a:xfrm>
          <a:prstGeom prst="rect">
            <a:avLst/>
          </a:prstGeom>
          <a:solidFill>
            <a:srgbClr val="DEEDF1">
              <a:lumMod val="25000"/>
            </a:srgbClr>
          </a:solidFill>
          <a:ln w="12700" cap="flat" cmpd="sng" algn="ctr">
            <a:noFill/>
            <a:prstDash val="solid"/>
            <a:miter lim="800000"/>
          </a:ln>
          <a:effectLst/>
        </p:spPr>
        <p:txBody>
          <a:bodyPr vert="horz" lIns="108000" rIns="108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b="1" kern="0">
                <a:solidFill>
                  <a:prstClr val="white"/>
                </a:solidFill>
                <a:latin typeface="Santander Text" panose="020B0504020201020104" pitchFamily="34" charset="0"/>
              </a:rPr>
              <a:t>Module Aggregation</a:t>
            </a:r>
          </a:p>
        </p:txBody>
      </p:sp>
      <p:sp>
        <p:nvSpPr>
          <p:cNvPr id="71" name="Rectángulo 9">
            <a:extLst>
              <a:ext uri="{FF2B5EF4-FFF2-40B4-BE49-F238E27FC236}">
                <a16:creationId xmlns:a16="http://schemas.microsoft.com/office/drawing/2014/main" id="{53506413-5CD9-462D-B921-9E25D4309340}"/>
              </a:ext>
            </a:extLst>
          </p:cNvPr>
          <p:cNvSpPr/>
          <p:nvPr/>
        </p:nvSpPr>
        <p:spPr>
          <a:xfrm>
            <a:off x="587293" y="1547372"/>
            <a:ext cx="3619343" cy="416977"/>
          </a:xfrm>
          <a:prstGeom prst="rect">
            <a:avLst/>
          </a:prstGeom>
          <a:solidFill>
            <a:srgbClr val="DEEDF1"/>
          </a:solidFill>
          <a:ln w="12700" cap="flat" cmpd="sng" algn="ctr">
            <a:noFill/>
            <a:prstDash val="solid"/>
            <a:miter lim="800000"/>
          </a:ln>
          <a:effectLst/>
        </p:spPr>
        <p:txBody>
          <a:bodyPr lIns="72000" rIns="36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55600" indent="-355600">
              <a:spcAft>
                <a:spcPts val="300"/>
              </a:spcAft>
            </a:pPr>
            <a:r>
              <a:rPr lang="en-GB" sz="900" b="1" kern="0">
                <a:solidFill>
                  <a:srgbClr val="DEEDF1">
                    <a:lumMod val="25000"/>
                  </a:srgbClr>
                </a:solidFill>
                <a:latin typeface="Santander Text" panose="020B0504020201020104" pitchFamily="34" charset="0"/>
              </a:rPr>
              <a:t>1 – KYC management Services</a:t>
            </a:r>
          </a:p>
        </p:txBody>
      </p:sp>
      <p:sp>
        <p:nvSpPr>
          <p:cNvPr id="73" name="Rectángulo 10">
            <a:extLst>
              <a:ext uri="{FF2B5EF4-FFF2-40B4-BE49-F238E27FC236}">
                <a16:creationId xmlns:a16="http://schemas.microsoft.com/office/drawing/2014/main" id="{16289034-F510-3698-1272-3B4A1D03C4A9}"/>
              </a:ext>
            </a:extLst>
          </p:cNvPr>
          <p:cNvSpPr/>
          <p:nvPr/>
        </p:nvSpPr>
        <p:spPr>
          <a:xfrm>
            <a:off x="579176" y="2012121"/>
            <a:ext cx="3619343" cy="371393"/>
          </a:xfrm>
          <a:prstGeom prst="rect">
            <a:avLst/>
          </a:prstGeom>
          <a:solidFill>
            <a:srgbClr val="DEEDF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36000"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55600" indent="-355600">
              <a:spcAft>
                <a:spcPts val="300"/>
              </a:spcAft>
            </a:pPr>
            <a:r>
              <a:rPr lang="en-GB" sz="900" b="1">
                <a:solidFill>
                  <a:srgbClr val="DEEDF1">
                    <a:lumMod val="25000"/>
                  </a:srgbClr>
                </a:solidFill>
                <a:latin typeface="Santander Text" panose="020B0504020201020104" pitchFamily="34" charset="0"/>
              </a:rPr>
              <a:t>2 – </a:t>
            </a:r>
            <a:r>
              <a:rPr lang="es-ES" sz="900" b="1" kern="0" err="1">
                <a:solidFill>
                  <a:srgbClr val="DEEDF1">
                    <a:lumMod val="25000"/>
                  </a:srgbClr>
                </a:solidFill>
                <a:latin typeface="Santander Text" panose="020B0504020201020104" pitchFamily="34" charset="0"/>
              </a:rPr>
              <a:t>Compliance</a:t>
            </a:r>
            <a:r>
              <a:rPr lang="es-ES" sz="900" b="1" kern="0">
                <a:solidFill>
                  <a:srgbClr val="DEEDF1">
                    <a:lumMod val="25000"/>
                  </a:srgbClr>
                </a:solidFill>
                <a:latin typeface="Santander Text" panose="020B0504020201020104" pitchFamily="34" charset="0"/>
              </a:rPr>
              <a:t> Management Services </a:t>
            </a:r>
            <a:endParaRPr lang="en-GB" sz="900" b="1" kern="0">
              <a:solidFill>
                <a:srgbClr val="DEEDF1">
                  <a:lumMod val="25000"/>
                </a:srgbClr>
              </a:solidFill>
              <a:latin typeface="Santander Text" panose="020B0504020201020104" pitchFamily="34" charset="0"/>
            </a:endParaRPr>
          </a:p>
        </p:txBody>
      </p:sp>
      <p:sp>
        <p:nvSpPr>
          <p:cNvPr id="74" name="Rectángulo 114">
            <a:extLst>
              <a:ext uri="{FF2B5EF4-FFF2-40B4-BE49-F238E27FC236}">
                <a16:creationId xmlns:a16="http://schemas.microsoft.com/office/drawing/2014/main" id="{5BA1C1DA-3D5A-CB8F-502D-F2B21BB03327}"/>
              </a:ext>
            </a:extLst>
          </p:cNvPr>
          <p:cNvSpPr/>
          <p:nvPr/>
        </p:nvSpPr>
        <p:spPr>
          <a:xfrm>
            <a:off x="4311140" y="2014806"/>
            <a:ext cx="1906779" cy="360687"/>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360 Client Monitoring</a:t>
            </a:r>
          </a:p>
        </p:txBody>
      </p:sp>
      <p:sp>
        <p:nvSpPr>
          <p:cNvPr id="77" name="Rectángulo 114">
            <a:extLst>
              <a:ext uri="{FF2B5EF4-FFF2-40B4-BE49-F238E27FC236}">
                <a16:creationId xmlns:a16="http://schemas.microsoft.com/office/drawing/2014/main" id="{C0BF4914-045A-493B-9A4F-9A2A6CCD50A4}"/>
              </a:ext>
            </a:extLst>
          </p:cNvPr>
          <p:cNvSpPr/>
          <p:nvPr/>
        </p:nvSpPr>
        <p:spPr>
          <a:xfrm>
            <a:off x="6330538" y="2017291"/>
            <a:ext cx="1834900" cy="371393"/>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Communications Surveillance</a:t>
            </a:r>
          </a:p>
        </p:txBody>
      </p:sp>
      <p:sp>
        <p:nvSpPr>
          <p:cNvPr id="81" name="Rectángulo 114">
            <a:extLst>
              <a:ext uri="{FF2B5EF4-FFF2-40B4-BE49-F238E27FC236}">
                <a16:creationId xmlns:a16="http://schemas.microsoft.com/office/drawing/2014/main" id="{75A957C4-BD81-A563-07C4-E69610D53DD2}"/>
              </a:ext>
            </a:extLst>
          </p:cNvPr>
          <p:cNvSpPr/>
          <p:nvPr/>
        </p:nvSpPr>
        <p:spPr>
          <a:xfrm>
            <a:off x="8278057" y="2007348"/>
            <a:ext cx="1472335" cy="371393"/>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err="1">
                <a:solidFill>
                  <a:srgbClr val="DEEDF1">
                    <a:lumMod val="25000"/>
                  </a:srgbClr>
                </a:solidFill>
                <a:latin typeface="Santander Text" panose="020B0504020201020104" pitchFamily="34" charset="0"/>
              </a:rPr>
              <a:t>Fenergo</a:t>
            </a:r>
            <a:endParaRPr lang="en-GB" sz="1100" kern="0">
              <a:solidFill>
                <a:srgbClr val="DEEDF1">
                  <a:lumMod val="25000"/>
                </a:srgbClr>
              </a:solidFill>
              <a:latin typeface="Santander Text" panose="020B0504020201020104" pitchFamily="34" charset="0"/>
            </a:endParaRPr>
          </a:p>
        </p:txBody>
      </p:sp>
      <p:sp>
        <p:nvSpPr>
          <p:cNvPr id="82" name="Rectángulo 63">
            <a:extLst>
              <a:ext uri="{FF2B5EF4-FFF2-40B4-BE49-F238E27FC236}">
                <a16:creationId xmlns:a16="http://schemas.microsoft.com/office/drawing/2014/main" id="{414BF5A7-9FD3-9C4F-579E-96FB1FAA98E3}"/>
              </a:ext>
            </a:extLst>
          </p:cNvPr>
          <p:cNvSpPr>
            <a:spLocks/>
          </p:cNvSpPr>
          <p:nvPr/>
        </p:nvSpPr>
        <p:spPr>
          <a:xfrm>
            <a:off x="4311141" y="1545272"/>
            <a:ext cx="7558990" cy="410865"/>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600"/>
              </a:spcAft>
            </a:pPr>
            <a:r>
              <a:rPr lang="en-US" sz="1100" kern="0"/>
              <a:t>KYC case manager</a:t>
            </a:r>
          </a:p>
        </p:txBody>
      </p:sp>
      <p:sp>
        <p:nvSpPr>
          <p:cNvPr id="5" name="Rectángulo 114">
            <a:extLst>
              <a:ext uri="{FF2B5EF4-FFF2-40B4-BE49-F238E27FC236}">
                <a16:creationId xmlns:a16="http://schemas.microsoft.com/office/drawing/2014/main" id="{FCB8CA05-CBCB-FBA7-65E4-74292A6630C1}"/>
              </a:ext>
            </a:extLst>
          </p:cNvPr>
          <p:cNvSpPr/>
          <p:nvPr/>
        </p:nvSpPr>
        <p:spPr>
          <a:xfrm>
            <a:off x="9863011" y="2007348"/>
            <a:ext cx="1999002" cy="371393"/>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err="1">
                <a:solidFill>
                  <a:srgbClr val="DEEDF1">
                    <a:lumMod val="25000"/>
                  </a:srgbClr>
                </a:solidFill>
                <a:latin typeface="Santander Text" panose="020B0504020201020104" pitchFamily="34" charset="0"/>
              </a:rPr>
              <a:t>Thetaray</a:t>
            </a:r>
            <a:endParaRPr lang="en-GB" sz="1100" kern="0">
              <a:solidFill>
                <a:srgbClr val="DEEDF1">
                  <a:lumMod val="25000"/>
                </a:srgbClr>
              </a:solidFill>
              <a:latin typeface="Santander Text" panose="020B0504020201020104" pitchFamily="34" charset="0"/>
            </a:endParaRPr>
          </a:p>
        </p:txBody>
      </p:sp>
      <p:sp>
        <p:nvSpPr>
          <p:cNvPr id="6" name="Rectángulo 10">
            <a:extLst>
              <a:ext uri="{FF2B5EF4-FFF2-40B4-BE49-F238E27FC236}">
                <a16:creationId xmlns:a16="http://schemas.microsoft.com/office/drawing/2014/main" id="{7B486A82-2728-3B8C-2A2C-8E0EBAB8D79C}"/>
              </a:ext>
            </a:extLst>
          </p:cNvPr>
          <p:cNvSpPr/>
          <p:nvPr/>
        </p:nvSpPr>
        <p:spPr>
          <a:xfrm>
            <a:off x="579175" y="2938245"/>
            <a:ext cx="3619343" cy="412315"/>
          </a:xfrm>
          <a:prstGeom prst="rect">
            <a:avLst/>
          </a:prstGeom>
          <a:solidFill>
            <a:srgbClr val="DEEDF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36000"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55600" indent="-355600">
              <a:spcAft>
                <a:spcPts val="300"/>
              </a:spcAft>
            </a:pPr>
            <a:r>
              <a:rPr lang="en-GB" sz="900" b="1">
                <a:solidFill>
                  <a:srgbClr val="DEEDF1">
                    <a:lumMod val="25000"/>
                  </a:srgbClr>
                </a:solidFill>
                <a:latin typeface="Santander Text" panose="020B0504020201020104" pitchFamily="34" charset="0"/>
              </a:rPr>
              <a:t>4 – Credit &amp; Counter Party Risk management Services</a:t>
            </a:r>
          </a:p>
        </p:txBody>
      </p:sp>
      <p:sp>
        <p:nvSpPr>
          <p:cNvPr id="14" name="Rectángulo 10">
            <a:extLst>
              <a:ext uri="{FF2B5EF4-FFF2-40B4-BE49-F238E27FC236}">
                <a16:creationId xmlns:a16="http://schemas.microsoft.com/office/drawing/2014/main" id="{4A4FF349-C638-E009-BAE5-3CFB955CCC60}"/>
              </a:ext>
            </a:extLst>
          </p:cNvPr>
          <p:cNvSpPr/>
          <p:nvPr/>
        </p:nvSpPr>
        <p:spPr>
          <a:xfrm>
            <a:off x="579175" y="3919548"/>
            <a:ext cx="3619343" cy="340756"/>
          </a:xfrm>
          <a:prstGeom prst="rect">
            <a:avLst/>
          </a:prstGeom>
          <a:solidFill>
            <a:srgbClr val="DEEDF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36000"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55600" indent="-355600">
              <a:spcAft>
                <a:spcPts val="300"/>
              </a:spcAft>
            </a:pPr>
            <a:r>
              <a:rPr lang="en-GB" sz="900" b="1">
                <a:solidFill>
                  <a:srgbClr val="DEEDF1">
                    <a:lumMod val="25000"/>
                  </a:srgbClr>
                </a:solidFill>
                <a:latin typeface="Santander Text" panose="020B0504020201020104" pitchFamily="34" charset="0"/>
              </a:rPr>
              <a:t>6 – Finance management Services</a:t>
            </a:r>
          </a:p>
        </p:txBody>
      </p:sp>
      <p:sp>
        <p:nvSpPr>
          <p:cNvPr id="16" name="Rectángulo 114">
            <a:extLst>
              <a:ext uri="{FF2B5EF4-FFF2-40B4-BE49-F238E27FC236}">
                <a16:creationId xmlns:a16="http://schemas.microsoft.com/office/drawing/2014/main" id="{D28E5B0A-D682-EE0A-96A6-6D08A158A15B}"/>
              </a:ext>
            </a:extLst>
          </p:cNvPr>
          <p:cNvSpPr/>
          <p:nvPr/>
        </p:nvSpPr>
        <p:spPr>
          <a:xfrm>
            <a:off x="4350951" y="3970221"/>
            <a:ext cx="2686787" cy="327897"/>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FIMS</a:t>
            </a:r>
          </a:p>
        </p:txBody>
      </p:sp>
      <p:sp>
        <p:nvSpPr>
          <p:cNvPr id="17" name="Rectángulo 114">
            <a:extLst>
              <a:ext uri="{FF2B5EF4-FFF2-40B4-BE49-F238E27FC236}">
                <a16:creationId xmlns:a16="http://schemas.microsoft.com/office/drawing/2014/main" id="{3170DE16-A861-D91A-8750-1E6FDC8F4570}"/>
              </a:ext>
            </a:extLst>
          </p:cNvPr>
          <p:cNvSpPr/>
          <p:nvPr/>
        </p:nvSpPr>
        <p:spPr>
          <a:xfrm>
            <a:off x="7123376" y="3986759"/>
            <a:ext cx="2309362" cy="337630"/>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FMIS SCIB</a:t>
            </a:r>
          </a:p>
        </p:txBody>
      </p:sp>
      <p:sp>
        <p:nvSpPr>
          <p:cNvPr id="20" name="Rectángulo 114">
            <a:extLst>
              <a:ext uri="{FF2B5EF4-FFF2-40B4-BE49-F238E27FC236}">
                <a16:creationId xmlns:a16="http://schemas.microsoft.com/office/drawing/2014/main" id="{58044BFD-5954-895E-23CC-65A1DD6B4A7E}"/>
              </a:ext>
            </a:extLst>
          </p:cNvPr>
          <p:cNvSpPr/>
          <p:nvPr/>
        </p:nvSpPr>
        <p:spPr>
          <a:xfrm>
            <a:off x="9518376" y="3986759"/>
            <a:ext cx="2309362" cy="337630"/>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MISCO GCB</a:t>
            </a:r>
          </a:p>
        </p:txBody>
      </p:sp>
      <p:sp>
        <p:nvSpPr>
          <p:cNvPr id="23" name="Rectángulo 63">
            <a:extLst>
              <a:ext uri="{FF2B5EF4-FFF2-40B4-BE49-F238E27FC236}">
                <a16:creationId xmlns:a16="http://schemas.microsoft.com/office/drawing/2014/main" id="{BF08BB98-D9F6-5ADF-479D-3503170AC64C}"/>
              </a:ext>
            </a:extLst>
          </p:cNvPr>
          <p:cNvSpPr>
            <a:spLocks/>
          </p:cNvSpPr>
          <p:nvPr/>
        </p:nvSpPr>
        <p:spPr>
          <a:xfrm>
            <a:off x="4318158" y="2469048"/>
            <a:ext cx="7551972" cy="373514"/>
          </a:xfrm>
          <a:prstGeom prst="rect">
            <a:avLst/>
          </a:prstGeom>
          <a:noFill/>
          <a:ln w="12700" cap="flat" cmpd="sng" algn="ctr">
            <a:solidFill>
              <a:srgbClr val="0070C0"/>
            </a:solidFill>
            <a:prstDash val="solid"/>
            <a:miter lim="800000"/>
          </a:ln>
          <a:effectLst/>
        </p:spPr>
        <p:txBody>
          <a:bodyPr lIns="0" tIns="0" rIns="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600"/>
              </a:spcAft>
            </a:pPr>
            <a:r>
              <a:rPr lang="en-US" sz="1100" kern="0"/>
              <a:t>Gestion </a:t>
            </a:r>
            <a:r>
              <a:rPr lang="en-US" sz="1100" kern="0" err="1"/>
              <a:t>Liquidez</a:t>
            </a:r>
            <a:r>
              <a:rPr lang="en-US" sz="1100" kern="0"/>
              <a:t> Medusa</a:t>
            </a:r>
          </a:p>
        </p:txBody>
      </p:sp>
      <p:sp>
        <p:nvSpPr>
          <p:cNvPr id="24" name="Rectángulo 10">
            <a:extLst>
              <a:ext uri="{FF2B5EF4-FFF2-40B4-BE49-F238E27FC236}">
                <a16:creationId xmlns:a16="http://schemas.microsoft.com/office/drawing/2014/main" id="{0A1BB5DF-6EAA-B5CD-B16B-AC1C2D30A3BA}"/>
              </a:ext>
            </a:extLst>
          </p:cNvPr>
          <p:cNvSpPr/>
          <p:nvPr/>
        </p:nvSpPr>
        <p:spPr>
          <a:xfrm>
            <a:off x="587292" y="2448586"/>
            <a:ext cx="3619343" cy="412315"/>
          </a:xfrm>
          <a:prstGeom prst="rect">
            <a:avLst/>
          </a:prstGeom>
          <a:solidFill>
            <a:srgbClr val="DEEDF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36000"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55600" indent="-355600">
              <a:spcAft>
                <a:spcPts val="300"/>
              </a:spcAft>
            </a:pPr>
            <a:r>
              <a:rPr lang="en-GB" sz="900" b="1">
                <a:solidFill>
                  <a:srgbClr val="DEEDF1">
                    <a:lumMod val="25000"/>
                  </a:srgbClr>
                </a:solidFill>
                <a:latin typeface="Santander Text" panose="020B0504020201020104" pitchFamily="34" charset="0"/>
              </a:rPr>
              <a:t>3 – Liquidity Risk Management Services</a:t>
            </a:r>
          </a:p>
        </p:txBody>
      </p:sp>
      <p:sp>
        <p:nvSpPr>
          <p:cNvPr id="27" name="Rectángulo 10">
            <a:extLst>
              <a:ext uri="{FF2B5EF4-FFF2-40B4-BE49-F238E27FC236}">
                <a16:creationId xmlns:a16="http://schemas.microsoft.com/office/drawing/2014/main" id="{E4059B96-61F4-46EB-06C5-AAA9A01D353F}"/>
              </a:ext>
            </a:extLst>
          </p:cNvPr>
          <p:cNvSpPr/>
          <p:nvPr/>
        </p:nvSpPr>
        <p:spPr>
          <a:xfrm>
            <a:off x="579175" y="4378166"/>
            <a:ext cx="3619343" cy="374832"/>
          </a:xfrm>
          <a:prstGeom prst="rect">
            <a:avLst/>
          </a:prstGeom>
          <a:solidFill>
            <a:srgbClr val="DEEDF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36000"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55600" indent="-355600">
              <a:spcAft>
                <a:spcPts val="300"/>
              </a:spcAft>
            </a:pPr>
            <a:r>
              <a:rPr lang="en-GB" sz="900" b="1">
                <a:solidFill>
                  <a:srgbClr val="DEEDF1">
                    <a:lumMod val="25000"/>
                  </a:srgbClr>
                </a:solidFill>
                <a:latin typeface="Santander Text" panose="020B0504020201020104" pitchFamily="34" charset="0"/>
              </a:rPr>
              <a:t>7 – </a:t>
            </a:r>
            <a:r>
              <a:rPr lang="en-US" sz="900" b="1">
                <a:solidFill>
                  <a:srgbClr val="DEEDF1">
                    <a:lumMod val="25000"/>
                  </a:srgbClr>
                </a:solidFill>
                <a:latin typeface="Santander Text" panose="020B0504020201020104" pitchFamily="34" charset="0"/>
              </a:rPr>
              <a:t>Back-office Business Execution Services</a:t>
            </a:r>
            <a:endParaRPr lang="en-GB" sz="900" b="1">
              <a:solidFill>
                <a:srgbClr val="DEEDF1">
                  <a:lumMod val="25000"/>
                </a:srgbClr>
              </a:solidFill>
              <a:latin typeface="Santander Text" panose="020B0504020201020104" pitchFamily="34" charset="0"/>
            </a:endParaRPr>
          </a:p>
        </p:txBody>
      </p:sp>
      <p:sp>
        <p:nvSpPr>
          <p:cNvPr id="28" name="Rectángulo 114">
            <a:extLst>
              <a:ext uri="{FF2B5EF4-FFF2-40B4-BE49-F238E27FC236}">
                <a16:creationId xmlns:a16="http://schemas.microsoft.com/office/drawing/2014/main" id="{AA39CB96-19E1-C224-258F-4820040274EC}"/>
              </a:ext>
            </a:extLst>
          </p:cNvPr>
          <p:cNvSpPr/>
          <p:nvPr/>
        </p:nvSpPr>
        <p:spPr>
          <a:xfrm>
            <a:off x="4346580" y="4435780"/>
            <a:ext cx="5625163" cy="327897"/>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TIARA GLOBAL</a:t>
            </a:r>
          </a:p>
        </p:txBody>
      </p:sp>
      <p:sp>
        <p:nvSpPr>
          <p:cNvPr id="35" name="Rectángulo 10">
            <a:extLst>
              <a:ext uri="{FF2B5EF4-FFF2-40B4-BE49-F238E27FC236}">
                <a16:creationId xmlns:a16="http://schemas.microsoft.com/office/drawing/2014/main" id="{9B1128C5-5850-0337-FCBE-15DBEE44E03C}"/>
              </a:ext>
            </a:extLst>
          </p:cNvPr>
          <p:cNvSpPr/>
          <p:nvPr/>
        </p:nvSpPr>
        <p:spPr>
          <a:xfrm>
            <a:off x="579175" y="4868861"/>
            <a:ext cx="3619343" cy="387506"/>
          </a:xfrm>
          <a:prstGeom prst="rect">
            <a:avLst/>
          </a:prstGeom>
          <a:solidFill>
            <a:srgbClr val="DEEDF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36000"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55600" indent="-355600">
              <a:spcAft>
                <a:spcPts val="300"/>
              </a:spcAft>
            </a:pPr>
            <a:r>
              <a:rPr lang="en-GB" sz="900" b="1">
                <a:solidFill>
                  <a:srgbClr val="DEEDF1">
                    <a:lumMod val="25000"/>
                  </a:srgbClr>
                </a:solidFill>
                <a:latin typeface="Santander Text" panose="020B0504020201020104" pitchFamily="34" charset="0"/>
              </a:rPr>
              <a:t>8 – Accounting business services</a:t>
            </a:r>
            <a:r>
              <a:rPr lang="en-GB" sz="800" i="1">
                <a:solidFill>
                  <a:srgbClr val="DEEDF1">
                    <a:lumMod val="25000"/>
                  </a:srgbClr>
                </a:solidFill>
                <a:latin typeface="Santander Text" panose="020B0504020201020104" pitchFamily="34" charset="0"/>
              </a:rPr>
              <a:t>	</a:t>
            </a:r>
            <a:endParaRPr lang="en-GB" sz="700" i="1">
              <a:solidFill>
                <a:srgbClr val="DEEDF1">
                  <a:lumMod val="25000"/>
                </a:srgbClr>
              </a:solidFill>
              <a:latin typeface="Santander Text" panose="020B0504020201020104" pitchFamily="34" charset="0"/>
            </a:endParaRPr>
          </a:p>
        </p:txBody>
      </p:sp>
      <p:sp>
        <p:nvSpPr>
          <p:cNvPr id="37" name="Rectángulo 114">
            <a:extLst>
              <a:ext uri="{FF2B5EF4-FFF2-40B4-BE49-F238E27FC236}">
                <a16:creationId xmlns:a16="http://schemas.microsoft.com/office/drawing/2014/main" id="{FC329C14-0F3B-0641-F642-3899404FA5AE}"/>
              </a:ext>
            </a:extLst>
          </p:cNvPr>
          <p:cNvSpPr/>
          <p:nvPr/>
        </p:nvSpPr>
        <p:spPr>
          <a:xfrm>
            <a:off x="4350951" y="4893799"/>
            <a:ext cx="7487092" cy="337630"/>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Accounting Integration</a:t>
            </a:r>
          </a:p>
        </p:txBody>
      </p:sp>
      <p:sp>
        <p:nvSpPr>
          <p:cNvPr id="43" name="Rectángulo 10">
            <a:extLst>
              <a:ext uri="{FF2B5EF4-FFF2-40B4-BE49-F238E27FC236}">
                <a16:creationId xmlns:a16="http://schemas.microsoft.com/office/drawing/2014/main" id="{2662265E-14B0-225E-2D7D-789A5671F2F1}"/>
              </a:ext>
            </a:extLst>
          </p:cNvPr>
          <p:cNvSpPr/>
          <p:nvPr/>
        </p:nvSpPr>
        <p:spPr>
          <a:xfrm>
            <a:off x="568870" y="5343466"/>
            <a:ext cx="3619343" cy="387506"/>
          </a:xfrm>
          <a:prstGeom prst="rect">
            <a:avLst/>
          </a:prstGeom>
          <a:solidFill>
            <a:srgbClr val="DEEDF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36000"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55600" indent="-355600">
              <a:spcAft>
                <a:spcPts val="300"/>
              </a:spcAft>
            </a:pPr>
            <a:r>
              <a:rPr lang="en-GB" sz="900" b="1">
                <a:solidFill>
                  <a:srgbClr val="DEEDF1">
                    <a:lumMod val="25000"/>
                  </a:srgbClr>
                </a:solidFill>
                <a:latin typeface="Santander Text" panose="020B0504020201020104" pitchFamily="34" charset="0"/>
              </a:rPr>
              <a:t>9 – Cross and Regulatory Reporting Services</a:t>
            </a:r>
          </a:p>
        </p:txBody>
      </p:sp>
      <p:sp>
        <p:nvSpPr>
          <p:cNvPr id="44" name="Rectángulo 114">
            <a:extLst>
              <a:ext uri="{FF2B5EF4-FFF2-40B4-BE49-F238E27FC236}">
                <a16:creationId xmlns:a16="http://schemas.microsoft.com/office/drawing/2014/main" id="{3056521A-BC47-3B06-58C1-1A31E8223344}"/>
              </a:ext>
            </a:extLst>
          </p:cNvPr>
          <p:cNvSpPr/>
          <p:nvPr/>
        </p:nvSpPr>
        <p:spPr>
          <a:xfrm>
            <a:off x="4340646" y="5368404"/>
            <a:ext cx="2168744" cy="337630"/>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 sz="1100" kern="0">
                <a:solidFill>
                  <a:srgbClr val="DEEDF1">
                    <a:lumMod val="25000"/>
                  </a:srgbClr>
                </a:solidFill>
                <a:latin typeface="Santander Text" panose="020B0504020201020104" pitchFamily="34" charset="0"/>
              </a:rPr>
              <a:t>DUCO CUBE Conciliaciones</a:t>
            </a:r>
            <a:endParaRPr lang="en-GB" sz="1100" kern="0">
              <a:solidFill>
                <a:srgbClr val="DEEDF1">
                  <a:lumMod val="25000"/>
                </a:srgbClr>
              </a:solidFill>
              <a:latin typeface="Santander Text" panose="020B0504020201020104" pitchFamily="34" charset="0"/>
            </a:endParaRPr>
          </a:p>
        </p:txBody>
      </p:sp>
      <p:sp>
        <p:nvSpPr>
          <p:cNvPr id="49" name="Rectángulo 10">
            <a:extLst>
              <a:ext uri="{FF2B5EF4-FFF2-40B4-BE49-F238E27FC236}">
                <a16:creationId xmlns:a16="http://schemas.microsoft.com/office/drawing/2014/main" id="{919B55FC-3B42-B526-7728-58074F1C6DF4}"/>
              </a:ext>
            </a:extLst>
          </p:cNvPr>
          <p:cNvSpPr/>
          <p:nvPr/>
        </p:nvSpPr>
        <p:spPr>
          <a:xfrm>
            <a:off x="568870" y="5813243"/>
            <a:ext cx="3619343" cy="387506"/>
          </a:xfrm>
          <a:prstGeom prst="rect">
            <a:avLst/>
          </a:prstGeom>
          <a:solidFill>
            <a:srgbClr val="DEEDF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36000"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55600" indent="-355600">
              <a:spcAft>
                <a:spcPts val="300"/>
              </a:spcAft>
            </a:pPr>
            <a:r>
              <a:rPr lang="en-GB" sz="900" b="1">
                <a:solidFill>
                  <a:srgbClr val="DEEDF1">
                    <a:lumMod val="25000"/>
                  </a:srgbClr>
                </a:solidFill>
                <a:latin typeface="Santander Text" panose="020B0504020201020104" pitchFamily="34" charset="0"/>
              </a:rPr>
              <a:t>10 – Data Services</a:t>
            </a:r>
            <a:r>
              <a:rPr lang="en-GB" sz="800" i="1">
                <a:solidFill>
                  <a:srgbClr val="DEEDF1">
                    <a:lumMod val="25000"/>
                  </a:srgbClr>
                </a:solidFill>
                <a:latin typeface="Santander Text" panose="020B0504020201020104" pitchFamily="34" charset="0"/>
              </a:rPr>
              <a:t>	</a:t>
            </a:r>
            <a:endParaRPr lang="en-GB" sz="700" i="1">
              <a:solidFill>
                <a:srgbClr val="DEEDF1">
                  <a:lumMod val="25000"/>
                </a:srgbClr>
              </a:solidFill>
              <a:latin typeface="Santander Text" panose="020B0504020201020104" pitchFamily="34" charset="0"/>
            </a:endParaRPr>
          </a:p>
        </p:txBody>
      </p:sp>
      <p:sp>
        <p:nvSpPr>
          <p:cNvPr id="50" name="Rectángulo 114">
            <a:extLst>
              <a:ext uri="{FF2B5EF4-FFF2-40B4-BE49-F238E27FC236}">
                <a16:creationId xmlns:a16="http://schemas.microsoft.com/office/drawing/2014/main" id="{D7B7933B-1BC2-FEF8-3D63-3B8EF5F516C4}"/>
              </a:ext>
            </a:extLst>
          </p:cNvPr>
          <p:cNvSpPr/>
          <p:nvPr/>
        </p:nvSpPr>
        <p:spPr>
          <a:xfrm>
            <a:off x="8256276" y="5834845"/>
            <a:ext cx="3549681" cy="365903"/>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kern="0">
                <a:solidFill>
                  <a:srgbClr val="DEEDF1">
                    <a:lumMod val="25000"/>
                  </a:srgbClr>
                </a:solidFill>
                <a:latin typeface="Santander Text" panose="020B0504020201020104" pitchFamily="34" charset="0"/>
              </a:rPr>
              <a:t>Accounting Data Hub</a:t>
            </a:r>
            <a:endParaRPr lang="en-GB" sz="1100" kern="0">
              <a:solidFill>
                <a:srgbClr val="DEEDF1">
                  <a:lumMod val="25000"/>
                </a:srgbClr>
              </a:solidFill>
              <a:latin typeface="Santander Text" panose="020B0504020201020104" pitchFamily="34" charset="0"/>
            </a:endParaRPr>
          </a:p>
        </p:txBody>
      </p:sp>
      <p:sp>
        <p:nvSpPr>
          <p:cNvPr id="19" name="Rectángulo 114">
            <a:extLst>
              <a:ext uri="{FF2B5EF4-FFF2-40B4-BE49-F238E27FC236}">
                <a16:creationId xmlns:a16="http://schemas.microsoft.com/office/drawing/2014/main" id="{0337E9B2-D483-91E1-308D-FCB96CDDC066}"/>
              </a:ext>
            </a:extLst>
          </p:cNvPr>
          <p:cNvSpPr/>
          <p:nvPr/>
        </p:nvSpPr>
        <p:spPr>
          <a:xfrm>
            <a:off x="6604384" y="5374655"/>
            <a:ext cx="1824973" cy="317031"/>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 sz="1100" kern="0">
                <a:solidFill>
                  <a:srgbClr val="DEEDF1">
                    <a:lumMod val="25000"/>
                  </a:srgbClr>
                </a:solidFill>
                <a:latin typeface="Santander Text" panose="020B0504020201020104" pitchFamily="34" charset="0"/>
              </a:rPr>
              <a:t>Phoenix</a:t>
            </a:r>
            <a:endParaRPr lang="en-GB" sz="1100" kern="0">
              <a:solidFill>
                <a:srgbClr val="DEEDF1">
                  <a:lumMod val="25000"/>
                </a:srgbClr>
              </a:solidFill>
              <a:latin typeface="Santander Text" panose="020B0504020201020104" pitchFamily="34" charset="0"/>
            </a:endParaRPr>
          </a:p>
        </p:txBody>
      </p:sp>
      <p:sp>
        <p:nvSpPr>
          <p:cNvPr id="21" name="Rectángulo 114">
            <a:extLst>
              <a:ext uri="{FF2B5EF4-FFF2-40B4-BE49-F238E27FC236}">
                <a16:creationId xmlns:a16="http://schemas.microsoft.com/office/drawing/2014/main" id="{7BAE3DF6-A6A7-52FD-7046-FF9014F25BF3}"/>
              </a:ext>
            </a:extLst>
          </p:cNvPr>
          <p:cNvSpPr/>
          <p:nvPr/>
        </p:nvSpPr>
        <p:spPr>
          <a:xfrm>
            <a:off x="8520108" y="5374655"/>
            <a:ext cx="1792351" cy="337630"/>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 sz="1100" kern="0">
                <a:solidFill>
                  <a:srgbClr val="DEEDF1">
                    <a:lumMod val="25000"/>
                  </a:srgbClr>
                </a:solidFill>
                <a:latin typeface="Santander Text" panose="020B0504020201020104" pitchFamily="34" charset="0"/>
              </a:rPr>
              <a:t>CAFET</a:t>
            </a:r>
            <a:endParaRPr lang="en-GB" sz="1100" kern="0">
              <a:solidFill>
                <a:srgbClr val="DEEDF1">
                  <a:lumMod val="25000"/>
                </a:srgbClr>
              </a:solidFill>
              <a:latin typeface="Santander Text" panose="020B0504020201020104" pitchFamily="34" charset="0"/>
            </a:endParaRPr>
          </a:p>
        </p:txBody>
      </p:sp>
      <p:sp>
        <p:nvSpPr>
          <p:cNvPr id="22" name="Rectángulo 114">
            <a:extLst>
              <a:ext uri="{FF2B5EF4-FFF2-40B4-BE49-F238E27FC236}">
                <a16:creationId xmlns:a16="http://schemas.microsoft.com/office/drawing/2014/main" id="{73631C96-38AC-2B11-7C82-D3ACA72331A8}"/>
              </a:ext>
            </a:extLst>
          </p:cNvPr>
          <p:cNvSpPr/>
          <p:nvPr/>
        </p:nvSpPr>
        <p:spPr>
          <a:xfrm>
            <a:off x="10391352" y="5368403"/>
            <a:ext cx="1437207" cy="329469"/>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 sz="1100" kern="0">
                <a:solidFill>
                  <a:srgbClr val="DEEDF1">
                    <a:lumMod val="25000"/>
                  </a:srgbClr>
                </a:solidFill>
                <a:latin typeface="Santander Text" panose="020B0504020201020104" pitchFamily="34" charset="0"/>
              </a:rPr>
              <a:t>FAIR </a:t>
            </a:r>
            <a:r>
              <a:rPr lang="es-ES" sz="1100" kern="0" err="1">
                <a:solidFill>
                  <a:srgbClr val="DEEDF1">
                    <a:lumMod val="25000"/>
                  </a:srgbClr>
                </a:solidFill>
                <a:latin typeface="Santander Text" panose="020B0504020201020104" pitchFamily="34" charset="0"/>
              </a:rPr>
              <a:t>Value</a:t>
            </a:r>
            <a:endParaRPr lang="en-GB" sz="1100" kern="0">
              <a:solidFill>
                <a:srgbClr val="DEEDF1">
                  <a:lumMod val="25000"/>
                </a:srgbClr>
              </a:solidFill>
              <a:latin typeface="Santander Text" panose="020B0504020201020104" pitchFamily="34" charset="0"/>
            </a:endParaRPr>
          </a:p>
        </p:txBody>
      </p:sp>
      <p:sp>
        <p:nvSpPr>
          <p:cNvPr id="26" name="Rectángulo 114">
            <a:extLst>
              <a:ext uri="{FF2B5EF4-FFF2-40B4-BE49-F238E27FC236}">
                <a16:creationId xmlns:a16="http://schemas.microsoft.com/office/drawing/2014/main" id="{6C7FB964-8BD2-04D6-F51E-9EDD8861EEB7}"/>
              </a:ext>
            </a:extLst>
          </p:cNvPr>
          <p:cNvSpPr/>
          <p:nvPr/>
        </p:nvSpPr>
        <p:spPr>
          <a:xfrm>
            <a:off x="4356775" y="5834846"/>
            <a:ext cx="3842062" cy="340965"/>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kern="0">
                <a:solidFill>
                  <a:srgbClr val="DEEDF1">
                    <a:lumMod val="25000"/>
                  </a:srgbClr>
                </a:solidFill>
                <a:latin typeface="Santander Text" panose="020B0504020201020104" pitchFamily="34" charset="0"/>
              </a:rPr>
              <a:t>Financial Data Hub</a:t>
            </a:r>
            <a:endParaRPr lang="en-GB" sz="1100" kern="0">
              <a:solidFill>
                <a:srgbClr val="DEEDF1">
                  <a:lumMod val="25000"/>
                </a:srgbClr>
              </a:solidFill>
              <a:latin typeface="Santander Text" panose="020B0504020201020104" pitchFamily="34" charset="0"/>
            </a:endParaRPr>
          </a:p>
        </p:txBody>
      </p:sp>
      <p:sp>
        <p:nvSpPr>
          <p:cNvPr id="29" name="Rectángulo 114">
            <a:extLst>
              <a:ext uri="{FF2B5EF4-FFF2-40B4-BE49-F238E27FC236}">
                <a16:creationId xmlns:a16="http://schemas.microsoft.com/office/drawing/2014/main" id="{BA8EB3E6-545D-06FE-F547-473935543BBB}"/>
              </a:ext>
            </a:extLst>
          </p:cNvPr>
          <p:cNvSpPr/>
          <p:nvPr/>
        </p:nvSpPr>
        <p:spPr>
          <a:xfrm>
            <a:off x="8678392" y="3445978"/>
            <a:ext cx="919759" cy="368885"/>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kern="0">
                <a:solidFill>
                  <a:srgbClr val="DEEDF1">
                    <a:lumMod val="25000"/>
                  </a:srgbClr>
                </a:solidFill>
                <a:latin typeface="Santander Text" panose="020B0504020201020104" pitchFamily="34" charset="0"/>
              </a:rPr>
              <a:t>Risk Factor Repository</a:t>
            </a:r>
            <a:endParaRPr lang="en-GB" sz="1100" kern="0">
              <a:solidFill>
                <a:srgbClr val="DEEDF1">
                  <a:lumMod val="25000"/>
                </a:srgbClr>
              </a:solidFill>
              <a:latin typeface="Santander Text" panose="020B0504020201020104" pitchFamily="34" charset="0"/>
            </a:endParaRPr>
          </a:p>
        </p:txBody>
      </p:sp>
      <p:sp>
        <p:nvSpPr>
          <p:cNvPr id="30" name="Rectángulo 10">
            <a:extLst>
              <a:ext uri="{FF2B5EF4-FFF2-40B4-BE49-F238E27FC236}">
                <a16:creationId xmlns:a16="http://schemas.microsoft.com/office/drawing/2014/main" id="{D3803DA9-3A55-4D73-8C1E-203080B1D443}"/>
              </a:ext>
            </a:extLst>
          </p:cNvPr>
          <p:cNvSpPr/>
          <p:nvPr/>
        </p:nvSpPr>
        <p:spPr>
          <a:xfrm>
            <a:off x="579175" y="3413468"/>
            <a:ext cx="3619343" cy="412315"/>
          </a:xfrm>
          <a:prstGeom prst="rect">
            <a:avLst/>
          </a:prstGeom>
          <a:solidFill>
            <a:srgbClr val="DEEDF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36000" rtlCol="0" anchor="ctr"/>
          <a:lstStyle>
            <a:defPPr>
              <a:defRPr lang="es-E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55600" indent="-355600">
              <a:spcAft>
                <a:spcPts val="300"/>
              </a:spcAft>
            </a:pPr>
            <a:r>
              <a:rPr lang="en-GB" sz="900" b="1">
                <a:solidFill>
                  <a:srgbClr val="DEEDF1">
                    <a:lumMod val="25000"/>
                  </a:srgbClr>
                </a:solidFill>
                <a:latin typeface="Santander Text" panose="020B0504020201020104" pitchFamily="34" charset="0"/>
              </a:rPr>
              <a:t>5 – Market Risk management Services</a:t>
            </a:r>
          </a:p>
        </p:txBody>
      </p:sp>
      <p:sp>
        <p:nvSpPr>
          <p:cNvPr id="31" name="Rectángulo 114">
            <a:extLst>
              <a:ext uri="{FF2B5EF4-FFF2-40B4-BE49-F238E27FC236}">
                <a16:creationId xmlns:a16="http://schemas.microsoft.com/office/drawing/2014/main" id="{51D8B6B0-2EEE-DBA4-8EBD-C8A701322BD0}"/>
              </a:ext>
            </a:extLst>
          </p:cNvPr>
          <p:cNvSpPr/>
          <p:nvPr/>
        </p:nvSpPr>
        <p:spPr>
          <a:xfrm>
            <a:off x="4353454" y="3454177"/>
            <a:ext cx="1733435" cy="360687"/>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Asset Control Corporate</a:t>
            </a:r>
          </a:p>
        </p:txBody>
      </p:sp>
      <p:sp>
        <p:nvSpPr>
          <p:cNvPr id="32" name="Rectángulo 114">
            <a:extLst>
              <a:ext uri="{FF2B5EF4-FFF2-40B4-BE49-F238E27FC236}">
                <a16:creationId xmlns:a16="http://schemas.microsoft.com/office/drawing/2014/main" id="{A2A316B8-5FB7-843F-C251-29AC6C567425}"/>
              </a:ext>
            </a:extLst>
          </p:cNvPr>
          <p:cNvSpPr/>
          <p:nvPr/>
        </p:nvSpPr>
        <p:spPr>
          <a:xfrm>
            <a:off x="6154350" y="3456662"/>
            <a:ext cx="1139328" cy="371393"/>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AVA FVA</a:t>
            </a:r>
          </a:p>
        </p:txBody>
      </p:sp>
      <p:sp>
        <p:nvSpPr>
          <p:cNvPr id="33" name="Rectángulo 114">
            <a:extLst>
              <a:ext uri="{FF2B5EF4-FFF2-40B4-BE49-F238E27FC236}">
                <a16:creationId xmlns:a16="http://schemas.microsoft.com/office/drawing/2014/main" id="{A0DE3DE6-4F29-D28E-3BCA-993FC08BDD20}"/>
              </a:ext>
            </a:extLst>
          </p:cNvPr>
          <p:cNvSpPr/>
          <p:nvPr/>
        </p:nvSpPr>
        <p:spPr>
          <a:xfrm>
            <a:off x="10039261" y="4418100"/>
            <a:ext cx="1781529" cy="353140"/>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GER</a:t>
            </a:r>
          </a:p>
        </p:txBody>
      </p:sp>
      <p:sp>
        <p:nvSpPr>
          <p:cNvPr id="34" name="Rectángulo 114">
            <a:extLst>
              <a:ext uri="{FF2B5EF4-FFF2-40B4-BE49-F238E27FC236}">
                <a16:creationId xmlns:a16="http://schemas.microsoft.com/office/drawing/2014/main" id="{64C6A18B-E7AE-FBE1-1C28-1D0BB1897C46}"/>
              </a:ext>
            </a:extLst>
          </p:cNvPr>
          <p:cNvSpPr/>
          <p:nvPr/>
        </p:nvSpPr>
        <p:spPr>
          <a:xfrm>
            <a:off x="9689425" y="3456661"/>
            <a:ext cx="1106186" cy="358022"/>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Initial Margin</a:t>
            </a:r>
          </a:p>
        </p:txBody>
      </p:sp>
      <p:sp>
        <p:nvSpPr>
          <p:cNvPr id="36" name="Rectángulo 114">
            <a:extLst>
              <a:ext uri="{FF2B5EF4-FFF2-40B4-BE49-F238E27FC236}">
                <a16:creationId xmlns:a16="http://schemas.microsoft.com/office/drawing/2014/main" id="{91F6A061-A327-26DB-362E-1CBA3A5AC7A4}"/>
              </a:ext>
            </a:extLst>
          </p:cNvPr>
          <p:cNvSpPr/>
          <p:nvPr/>
        </p:nvSpPr>
        <p:spPr>
          <a:xfrm>
            <a:off x="7361139" y="3456659"/>
            <a:ext cx="1259814" cy="358205"/>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CRISTINE2</a:t>
            </a:r>
          </a:p>
        </p:txBody>
      </p:sp>
      <p:sp>
        <p:nvSpPr>
          <p:cNvPr id="38" name="Rectángulo 114">
            <a:extLst>
              <a:ext uri="{FF2B5EF4-FFF2-40B4-BE49-F238E27FC236}">
                <a16:creationId xmlns:a16="http://schemas.microsoft.com/office/drawing/2014/main" id="{82758BBA-ADF8-E152-1F87-C7B6B61CC73F}"/>
              </a:ext>
            </a:extLst>
          </p:cNvPr>
          <p:cNvSpPr/>
          <p:nvPr/>
        </p:nvSpPr>
        <p:spPr>
          <a:xfrm>
            <a:off x="10865515" y="3456661"/>
            <a:ext cx="949077" cy="368885"/>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MARS</a:t>
            </a:r>
          </a:p>
        </p:txBody>
      </p:sp>
      <p:sp>
        <p:nvSpPr>
          <p:cNvPr id="42" name="Rectángulo 10">
            <a:extLst>
              <a:ext uri="{FF2B5EF4-FFF2-40B4-BE49-F238E27FC236}">
                <a16:creationId xmlns:a16="http://schemas.microsoft.com/office/drawing/2014/main" id="{46E60785-E4D2-DBE4-CA6F-C016C770BA45}"/>
              </a:ext>
            </a:extLst>
          </p:cNvPr>
          <p:cNvSpPr/>
          <p:nvPr/>
        </p:nvSpPr>
        <p:spPr>
          <a:xfrm>
            <a:off x="4245652" y="1506193"/>
            <a:ext cx="7687268" cy="4812777"/>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a:solidFill>
                <a:srgbClr val="FF0000"/>
              </a:solidFill>
            </a:endParaRPr>
          </a:p>
        </p:txBody>
      </p:sp>
      <p:sp>
        <p:nvSpPr>
          <p:cNvPr id="46" name="TextBox 45">
            <a:extLst>
              <a:ext uri="{FF2B5EF4-FFF2-40B4-BE49-F238E27FC236}">
                <a16:creationId xmlns:a16="http://schemas.microsoft.com/office/drawing/2014/main" id="{DDDEA7F5-9D1B-73F2-F2B7-3552D8E7CB20}"/>
              </a:ext>
            </a:extLst>
          </p:cNvPr>
          <p:cNvSpPr txBox="1"/>
          <p:nvPr/>
        </p:nvSpPr>
        <p:spPr>
          <a:xfrm>
            <a:off x="4379322" y="1435159"/>
            <a:ext cx="3746538" cy="178053"/>
          </a:xfrm>
          <a:prstGeom prst="rect">
            <a:avLst/>
          </a:prstGeom>
          <a:solidFill>
            <a:schemeClr val="bg1"/>
          </a:solidFill>
        </p:spPr>
        <p:txBody>
          <a:bodyPr wrap="none" rtlCol="0">
            <a:spAutoFit/>
          </a:bodyPr>
          <a:lstStyle>
            <a:defPPr>
              <a:defRPr lang="es-ES"/>
            </a:defPPr>
            <a:lvl1pPr algn="ctr">
              <a:spcAft>
                <a:spcPts val="600"/>
              </a:spcAft>
              <a:defRPr sz="800" kern="0">
                <a:solidFill>
                  <a:schemeClr val="accent1"/>
                </a:solidFill>
              </a:defRPr>
            </a:lvl1pPr>
          </a:lstStyle>
          <a:p>
            <a:r>
              <a:rPr lang="en-GB"/>
              <a:t>Wholesale </a:t>
            </a:r>
            <a:r>
              <a:rPr lang="en-GB" err="1"/>
              <a:t>Operations,KYC,Credit&amp;Market</a:t>
            </a:r>
            <a:r>
              <a:rPr lang="en-GB"/>
              <a:t> Risk, Reg Reporting, </a:t>
            </a:r>
            <a:r>
              <a:rPr lang="en-GB" err="1"/>
              <a:t>Transac</a:t>
            </a:r>
            <a:r>
              <a:rPr lang="en-GB"/>
              <a:t> Monitoring</a:t>
            </a:r>
          </a:p>
        </p:txBody>
      </p:sp>
      <p:sp>
        <p:nvSpPr>
          <p:cNvPr id="3" name="Rectángulo 6">
            <a:extLst>
              <a:ext uri="{FF2B5EF4-FFF2-40B4-BE49-F238E27FC236}">
                <a16:creationId xmlns:a16="http://schemas.microsoft.com/office/drawing/2014/main" id="{217D8378-7FD8-1287-9523-C2A70F905A37}"/>
              </a:ext>
            </a:extLst>
          </p:cNvPr>
          <p:cNvSpPr/>
          <p:nvPr/>
        </p:nvSpPr>
        <p:spPr>
          <a:xfrm>
            <a:off x="2400853" y="6328528"/>
            <a:ext cx="244952" cy="107435"/>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a:solidFill>
                <a:srgbClr val="FF0000"/>
              </a:solidFill>
            </a:endParaRPr>
          </a:p>
        </p:txBody>
      </p:sp>
      <p:sp>
        <p:nvSpPr>
          <p:cNvPr id="25" name="CuadroTexto 9">
            <a:extLst>
              <a:ext uri="{FF2B5EF4-FFF2-40B4-BE49-F238E27FC236}">
                <a16:creationId xmlns:a16="http://schemas.microsoft.com/office/drawing/2014/main" id="{BB1FD46D-F5CE-EB00-DE23-F756A6334849}"/>
              </a:ext>
            </a:extLst>
          </p:cNvPr>
          <p:cNvSpPr txBox="1"/>
          <p:nvPr/>
        </p:nvSpPr>
        <p:spPr>
          <a:xfrm>
            <a:off x="2645805" y="6274524"/>
            <a:ext cx="1313180" cy="215444"/>
          </a:xfrm>
          <a:prstGeom prst="rect">
            <a:avLst/>
          </a:prstGeom>
          <a:noFill/>
        </p:spPr>
        <p:txBody>
          <a:bodyPr wrap="none" rtlCol="0">
            <a:spAutoFit/>
          </a:bodyPr>
          <a:lstStyle/>
          <a:p>
            <a:r>
              <a:rPr lang="es-ES" sz="800"/>
              <a:t>SCIB </a:t>
            </a:r>
            <a:r>
              <a:rPr lang="es-ES" sz="800" err="1"/>
              <a:t>Platform</a:t>
            </a:r>
            <a:r>
              <a:rPr lang="es-ES" sz="800"/>
              <a:t> </a:t>
            </a:r>
            <a:r>
              <a:rPr lang="es-ES" sz="800" err="1"/>
              <a:t>Component</a:t>
            </a:r>
            <a:endParaRPr lang="es-ES" sz="800"/>
          </a:p>
        </p:txBody>
      </p:sp>
      <p:sp>
        <p:nvSpPr>
          <p:cNvPr id="39" name="Rectángulo 114">
            <a:extLst>
              <a:ext uri="{FF2B5EF4-FFF2-40B4-BE49-F238E27FC236}">
                <a16:creationId xmlns:a16="http://schemas.microsoft.com/office/drawing/2014/main" id="{74E32E14-158F-9706-AA4A-7AE1449C75EF}"/>
              </a:ext>
            </a:extLst>
          </p:cNvPr>
          <p:cNvSpPr/>
          <p:nvPr/>
        </p:nvSpPr>
        <p:spPr>
          <a:xfrm>
            <a:off x="4340646" y="2941388"/>
            <a:ext cx="914204" cy="360687"/>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err="1">
                <a:solidFill>
                  <a:srgbClr val="DEEDF1">
                    <a:lumMod val="25000"/>
                  </a:srgbClr>
                </a:solidFill>
                <a:latin typeface="Santander Text" panose="020B0504020201020104" pitchFamily="34" charset="0"/>
              </a:rPr>
              <a:t>AquaPlus</a:t>
            </a:r>
            <a:endParaRPr lang="en-GB" sz="1100" kern="0">
              <a:solidFill>
                <a:srgbClr val="DEEDF1">
                  <a:lumMod val="25000"/>
                </a:srgbClr>
              </a:solidFill>
              <a:latin typeface="Santander Text" panose="020B0504020201020104" pitchFamily="34" charset="0"/>
            </a:endParaRPr>
          </a:p>
        </p:txBody>
      </p:sp>
      <p:sp>
        <p:nvSpPr>
          <p:cNvPr id="40" name="Rectángulo 114">
            <a:extLst>
              <a:ext uri="{FF2B5EF4-FFF2-40B4-BE49-F238E27FC236}">
                <a16:creationId xmlns:a16="http://schemas.microsoft.com/office/drawing/2014/main" id="{C512E3D5-77D7-80F0-9DD0-B12C71B01FF5}"/>
              </a:ext>
            </a:extLst>
          </p:cNvPr>
          <p:cNvSpPr/>
          <p:nvPr/>
        </p:nvSpPr>
        <p:spPr>
          <a:xfrm>
            <a:off x="5333945" y="2943873"/>
            <a:ext cx="952728" cy="371393"/>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Cream management</a:t>
            </a:r>
          </a:p>
        </p:txBody>
      </p:sp>
      <p:sp>
        <p:nvSpPr>
          <p:cNvPr id="41" name="Rectángulo 114">
            <a:extLst>
              <a:ext uri="{FF2B5EF4-FFF2-40B4-BE49-F238E27FC236}">
                <a16:creationId xmlns:a16="http://schemas.microsoft.com/office/drawing/2014/main" id="{92359ABD-9DA4-82E3-2797-438DE20B7772}"/>
              </a:ext>
            </a:extLst>
          </p:cNvPr>
          <p:cNvSpPr/>
          <p:nvPr/>
        </p:nvSpPr>
        <p:spPr>
          <a:xfrm>
            <a:off x="7372264" y="2953181"/>
            <a:ext cx="789293" cy="371393"/>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err="1">
                <a:solidFill>
                  <a:srgbClr val="DEEDF1">
                    <a:lumMod val="25000"/>
                  </a:srgbClr>
                </a:solidFill>
                <a:latin typeface="Santander Text" panose="020B0504020201020104" pitchFamily="34" charset="0"/>
              </a:rPr>
              <a:t>Nilo</a:t>
            </a:r>
            <a:r>
              <a:rPr lang="en-GB" sz="1100" kern="0">
                <a:solidFill>
                  <a:srgbClr val="DEEDF1">
                    <a:lumMod val="25000"/>
                  </a:srgbClr>
                </a:solidFill>
                <a:latin typeface="Santander Text" panose="020B0504020201020104" pitchFamily="34" charset="0"/>
              </a:rPr>
              <a:t> Plus</a:t>
            </a:r>
          </a:p>
        </p:txBody>
      </p:sp>
      <p:sp>
        <p:nvSpPr>
          <p:cNvPr id="45" name="Rectángulo 114">
            <a:extLst>
              <a:ext uri="{FF2B5EF4-FFF2-40B4-BE49-F238E27FC236}">
                <a16:creationId xmlns:a16="http://schemas.microsoft.com/office/drawing/2014/main" id="{A705ADAB-6AF2-BCC2-9475-3F7576320287}"/>
              </a:ext>
            </a:extLst>
          </p:cNvPr>
          <p:cNvSpPr/>
          <p:nvPr/>
        </p:nvSpPr>
        <p:spPr>
          <a:xfrm>
            <a:off x="8226657" y="2951823"/>
            <a:ext cx="789293" cy="371393"/>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RORAC</a:t>
            </a:r>
          </a:p>
        </p:txBody>
      </p:sp>
      <p:sp>
        <p:nvSpPr>
          <p:cNvPr id="47" name="Rectángulo 114">
            <a:extLst>
              <a:ext uri="{FF2B5EF4-FFF2-40B4-BE49-F238E27FC236}">
                <a16:creationId xmlns:a16="http://schemas.microsoft.com/office/drawing/2014/main" id="{3F34A482-6BA7-C26D-927B-1BEC3881047D}"/>
              </a:ext>
            </a:extLst>
          </p:cNvPr>
          <p:cNvSpPr/>
          <p:nvPr/>
        </p:nvSpPr>
        <p:spPr>
          <a:xfrm>
            <a:off x="6357494" y="2953180"/>
            <a:ext cx="914204" cy="371393"/>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Early Alerts</a:t>
            </a:r>
          </a:p>
        </p:txBody>
      </p:sp>
      <p:sp>
        <p:nvSpPr>
          <p:cNvPr id="48" name="Rectángulo 114">
            <a:extLst>
              <a:ext uri="{FF2B5EF4-FFF2-40B4-BE49-F238E27FC236}">
                <a16:creationId xmlns:a16="http://schemas.microsoft.com/office/drawing/2014/main" id="{2E8FEFAD-9368-532E-8576-9422BD6494C7}"/>
              </a:ext>
            </a:extLst>
          </p:cNvPr>
          <p:cNvSpPr/>
          <p:nvPr/>
        </p:nvSpPr>
        <p:spPr>
          <a:xfrm>
            <a:off x="9085883" y="2943872"/>
            <a:ext cx="789294" cy="371393"/>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SCAN</a:t>
            </a:r>
          </a:p>
        </p:txBody>
      </p:sp>
      <p:sp>
        <p:nvSpPr>
          <p:cNvPr id="51" name="Rectángulo 114">
            <a:extLst>
              <a:ext uri="{FF2B5EF4-FFF2-40B4-BE49-F238E27FC236}">
                <a16:creationId xmlns:a16="http://schemas.microsoft.com/office/drawing/2014/main" id="{9FD0964F-9D38-C05D-65A0-27E0A672E43B}"/>
              </a:ext>
            </a:extLst>
          </p:cNvPr>
          <p:cNvSpPr/>
          <p:nvPr/>
        </p:nvSpPr>
        <p:spPr>
          <a:xfrm>
            <a:off x="9941029" y="2943872"/>
            <a:ext cx="932550" cy="371393"/>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SIMA CIB</a:t>
            </a:r>
          </a:p>
        </p:txBody>
      </p:sp>
      <p:sp>
        <p:nvSpPr>
          <p:cNvPr id="52" name="Rectángulo 114">
            <a:extLst>
              <a:ext uri="{FF2B5EF4-FFF2-40B4-BE49-F238E27FC236}">
                <a16:creationId xmlns:a16="http://schemas.microsoft.com/office/drawing/2014/main" id="{72488EAC-FB3C-3915-9118-EE4DB09925ED}"/>
              </a:ext>
            </a:extLst>
          </p:cNvPr>
          <p:cNvSpPr/>
          <p:nvPr/>
        </p:nvSpPr>
        <p:spPr>
          <a:xfrm>
            <a:off x="10939431" y="2936311"/>
            <a:ext cx="922582" cy="371393"/>
          </a:xfrm>
          <a:prstGeom prst="rect">
            <a:avLst/>
          </a:prstGeom>
          <a:noFill/>
          <a:ln w="12700" cap="flat" cmpd="sng" algn="ctr">
            <a:solidFill>
              <a:srgbClr val="0070C0"/>
            </a:solidFill>
            <a:prstDash val="solid"/>
            <a:miter lim="800000"/>
          </a:ln>
          <a:effectLst/>
        </p:spPr>
        <p:txBody>
          <a:bodyPr lIns="36000" tIns="0" rIns="36000" bIns="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100" kern="0">
                <a:solidFill>
                  <a:srgbClr val="DEEDF1">
                    <a:lumMod val="25000"/>
                  </a:srgbClr>
                </a:solidFill>
                <a:latin typeface="Santander Text" panose="020B0504020201020104" pitchFamily="34" charset="0"/>
              </a:rPr>
              <a:t>ECO workflow</a:t>
            </a:r>
          </a:p>
        </p:txBody>
      </p:sp>
    </p:spTree>
    <p:extLst>
      <p:ext uri="{BB962C8B-B14F-4D97-AF65-F5344CB8AC3E}">
        <p14:creationId xmlns:p14="http://schemas.microsoft.com/office/powerpoint/2010/main" val="5150098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5974813" y="3244334"/>
            <a:ext cx="242374"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 </a:t>
            </a:r>
            <a:endParaRPr kumimoji="0" lang="en-GB" sz="1800" b="0" i="0" u="none" strike="noStrike" kern="1200" cap="none" spc="0" normalizeH="0" baseline="0" noProof="0">
              <a:ln>
                <a:noFill/>
              </a:ln>
              <a:solidFill>
                <a:prstClr val="black"/>
              </a:solidFill>
              <a:effectLst/>
              <a:uLnTx/>
              <a:uFillTx/>
              <a:latin typeface="Santander Text"/>
              <a:ea typeface="+mn-ea"/>
              <a:cs typeface="+mn-cs"/>
            </a:endParaRPr>
          </a:p>
        </p:txBody>
      </p:sp>
      <p:sp>
        <p:nvSpPr>
          <p:cNvPr id="3" name="Rectángulo 2"/>
          <p:cNvSpPr/>
          <p:nvPr/>
        </p:nvSpPr>
        <p:spPr>
          <a:xfrm>
            <a:off x="5974813" y="3244334"/>
            <a:ext cx="242374"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 </a:t>
            </a:r>
            <a:endParaRPr kumimoji="0" lang="en-GB" sz="1800" b="0" i="0" u="none" strike="noStrike" kern="1200" cap="none" spc="0" normalizeH="0" baseline="0" noProof="0">
              <a:ln>
                <a:noFill/>
              </a:ln>
              <a:solidFill>
                <a:prstClr val="black"/>
              </a:solidFill>
              <a:effectLst/>
              <a:uLnTx/>
              <a:uFillTx/>
              <a:latin typeface="Santander Text"/>
              <a:ea typeface="+mn-ea"/>
              <a:cs typeface="+mn-cs"/>
            </a:endParaRPr>
          </a:p>
        </p:txBody>
      </p:sp>
    </p:spTree>
    <p:extLst>
      <p:ext uri="{BB962C8B-B14F-4D97-AF65-F5344CB8AC3E}">
        <p14:creationId xmlns:p14="http://schemas.microsoft.com/office/powerpoint/2010/main" val="1310852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Marcador de texto 79">
            <a:extLst>
              <a:ext uri="{FF2B5EF4-FFF2-40B4-BE49-F238E27FC236}">
                <a16:creationId xmlns:a16="http://schemas.microsoft.com/office/drawing/2014/main" id="{D4563353-7A64-9FDD-7C9A-75C408694C4A}"/>
              </a:ext>
            </a:extLst>
          </p:cNvPr>
          <p:cNvSpPr>
            <a:spLocks noGrp="1"/>
          </p:cNvSpPr>
          <p:nvPr>
            <p:ph type="body" sz="quarter" idx="14"/>
          </p:nvPr>
        </p:nvSpPr>
        <p:spPr/>
        <p:txBody>
          <a:bodyPr/>
          <a:lstStyle/>
          <a:p>
            <a:r>
              <a:rPr lang="en-GB" b="0">
                <a:solidFill>
                  <a:schemeClr val="bg1">
                    <a:lumMod val="75000"/>
                  </a:schemeClr>
                </a:solidFill>
                <a:latin typeface="Santander Text" panose="020B0504020201020104" pitchFamily="34" charset="0"/>
              </a:rPr>
              <a:t>Platform Governance &amp; SD</a:t>
            </a:r>
          </a:p>
        </p:txBody>
      </p:sp>
      <p:sp>
        <p:nvSpPr>
          <p:cNvPr id="12" name="Título 11">
            <a:extLst>
              <a:ext uri="{FF2B5EF4-FFF2-40B4-BE49-F238E27FC236}">
                <a16:creationId xmlns:a16="http://schemas.microsoft.com/office/drawing/2014/main" id="{19D389F7-58A5-5C94-5FC6-90E884FAED5E}"/>
              </a:ext>
            </a:extLst>
          </p:cNvPr>
          <p:cNvSpPr>
            <a:spLocks noGrp="1"/>
          </p:cNvSpPr>
          <p:nvPr>
            <p:ph type="title"/>
          </p:nvPr>
        </p:nvSpPr>
        <p:spPr/>
        <p:txBody>
          <a:bodyPr/>
          <a:lstStyle/>
          <a:p>
            <a:r>
              <a:rPr lang="en-AU"/>
              <a:t>One Santander Platform| </a:t>
            </a:r>
            <a:r>
              <a:rPr lang="en-AU">
                <a:solidFill>
                  <a:schemeClr val="bg1">
                    <a:lumMod val="75000"/>
                  </a:schemeClr>
                </a:solidFill>
              </a:rPr>
              <a:t>Platform components definitions (1 of 2)</a:t>
            </a:r>
          </a:p>
        </p:txBody>
      </p:sp>
      <p:graphicFrame>
        <p:nvGraphicFramePr>
          <p:cNvPr id="2" name="Tabla 1">
            <a:extLst>
              <a:ext uri="{FF2B5EF4-FFF2-40B4-BE49-F238E27FC236}">
                <a16:creationId xmlns:a16="http://schemas.microsoft.com/office/drawing/2014/main" id="{42D5E48D-F266-127A-98B4-0B4B295A3875}"/>
              </a:ext>
            </a:extLst>
          </p:cNvPr>
          <p:cNvGraphicFramePr>
            <a:graphicFrameLocks noGrp="1"/>
          </p:cNvGraphicFramePr>
          <p:nvPr/>
        </p:nvGraphicFramePr>
        <p:xfrm>
          <a:off x="450783" y="1107138"/>
          <a:ext cx="11290433" cy="5108962"/>
        </p:xfrm>
        <a:graphic>
          <a:graphicData uri="http://schemas.openxmlformats.org/drawingml/2006/table">
            <a:tbl>
              <a:tblPr/>
              <a:tblGrid>
                <a:gridCol w="1201468">
                  <a:extLst>
                    <a:ext uri="{9D8B030D-6E8A-4147-A177-3AD203B41FA5}">
                      <a16:colId xmlns:a16="http://schemas.microsoft.com/office/drawing/2014/main" val="881587664"/>
                    </a:ext>
                  </a:extLst>
                </a:gridCol>
                <a:gridCol w="864608">
                  <a:extLst>
                    <a:ext uri="{9D8B030D-6E8A-4147-A177-3AD203B41FA5}">
                      <a16:colId xmlns:a16="http://schemas.microsoft.com/office/drawing/2014/main" val="1994912899"/>
                    </a:ext>
                  </a:extLst>
                </a:gridCol>
                <a:gridCol w="494062">
                  <a:extLst>
                    <a:ext uri="{9D8B030D-6E8A-4147-A177-3AD203B41FA5}">
                      <a16:colId xmlns:a16="http://schemas.microsoft.com/office/drawing/2014/main" val="2820305193"/>
                    </a:ext>
                  </a:extLst>
                </a:gridCol>
                <a:gridCol w="1880802">
                  <a:extLst>
                    <a:ext uri="{9D8B030D-6E8A-4147-A177-3AD203B41FA5}">
                      <a16:colId xmlns:a16="http://schemas.microsoft.com/office/drawing/2014/main" val="2178098895"/>
                    </a:ext>
                  </a:extLst>
                </a:gridCol>
                <a:gridCol w="6849493">
                  <a:extLst>
                    <a:ext uri="{9D8B030D-6E8A-4147-A177-3AD203B41FA5}">
                      <a16:colId xmlns:a16="http://schemas.microsoft.com/office/drawing/2014/main" val="1855213710"/>
                    </a:ext>
                  </a:extLst>
                </a:gridCol>
              </a:tblGrid>
              <a:tr h="176061">
                <a:tc>
                  <a:txBody>
                    <a:bodyPr/>
                    <a:lstStyle/>
                    <a:p>
                      <a:pPr algn="l" fontAlgn="t"/>
                      <a:endParaRPr lang="es-ES" sz="700" b="1" i="0" u="none" strike="noStrike">
                        <a:solidFill>
                          <a:srgbClr val="000000"/>
                        </a:solidFill>
                        <a:effectLst/>
                        <a:latin typeface="Santander Text" panose="020B0504020201020104" pitchFamily="34" charset="0"/>
                      </a:endParaRPr>
                    </a:p>
                  </a:txBody>
                  <a:tcPr marL="78436" marR="2615" marT="2615" marB="0">
                    <a:lnL>
                      <a:noFill/>
                    </a:lnL>
                    <a:lnR w="19050" cap="flat" cmpd="sng" algn="ctr">
                      <a:solidFill>
                        <a:srgbClr val="FFFFFF"/>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gridSpan="2">
                  <a:txBody>
                    <a:bodyPr/>
                    <a:lstStyle/>
                    <a:p>
                      <a:pPr algn="ctr" fontAlgn="t"/>
                      <a:r>
                        <a:rPr lang="es-ES" sz="700" b="1" i="0" u="none" strike="noStrike">
                          <a:solidFill>
                            <a:srgbClr val="FFFFFF"/>
                          </a:solidFill>
                          <a:effectLst/>
                          <a:latin typeface="Santander Text" panose="020B0504020201020104" pitchFamily="34" charset="0"/>
                        </a:rPr>
                        <a:t>Business Segment Owner</a:t>
                      </a:r>
                    </a:p>
                  </a:txBody>
                  <a:tcPr marL="2615" marR="2615" marT="2615"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6350" cap="flat" cmpd="sng" algn="ctr">
                      <a:solidFill>
                        <a:srgbClr val="D0CECE"/>
                      </a:solidFill>
                      <a:prstDash val="solid"/>
                      <a:round/>
                      <a:headEnd type="none" w="med" len="med"/>
                      <a:tailEnd type="none" w="med" len="med"/>
                    </a:lnB>
                    <a:solidFill>
                      <a:srgbClr val="002060"/>
                    </a:solidFill>
                  </a:tcPr>
                </a:tc>
                <a:tc hMerge="1">
                  <a:txBody>
                    <a:bodyPr/>
                    <a:lstStyle/>
                    <a:p>
                      <a:endParaRPr lang="es-ES"/>
                    </a:p>
                  </a:txBody>
                  <a:tcPr/>
                </a:tc>
                <a:tc>
                  <a:txBody>
                    <a:bodyPr/>
                    <a:lstStyle/>
                    <a:p>
                      <a:pPr algn="ctr" fontAlgn="t"/>
                      <a:r>
                        <a:rPr lang="es-ES" sz="700" b="1" i="0" u="none" strike="noStrike">
                          <a:solidFill>
                            <a:srgbClr val="FFFFFF"/>
                          </a:solidFill>
                          <a:effectLst/>
                          <a:latin typeface="Santander Text" panose="020B0504020201020104" pitchFamily="34" charset="0"/>
                        </a:rPr>
                        <a:t>Platform Component</a:t>
                      </a:r>
                    </a:p>
                  </a:txBody>
                  <a:tcPr marL="2615" marR="2615" marT="2615"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t"/>
                      <a:r>
                        <a:rPr lang="es-ES" sz="700" b="1" i="0" u="none" strike="noStrike">
                          <a:solidFill>
                            <a:srgbClr val="FFFFFF"/>
                          </a:solidFill>
                          <a:effectLst/>
                          <a:latin typeface="Santander Text" panose="020B0504020201020104" pitchFamily="34" charset="0"/>
                        </a:rPr>
                        <a:t>Description</a:t>
                      </a:r>
                    </a:p>
                  </a:txBody>
                  <a:tcPr marL="2615" marR="2615" marT="2615" marB="0">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w="6350" cap="flat" cmpd="sng" algn="ctr">
                      <a:solidFill>
                        <a:srgbClr val="D0CECE"/>
                      </a:solidFill>
                      <a:prstDash val="solid"/>
                      <a:round/>
                      <a:headEnd type="none" w="med" len="med"/>
                      <a:tailEnd type="none" w="med" len="med"/>
                    </a:lnB>
                    <a:solidFill>
                      <a:srgbClr val="002060"/>
                    </a:solidFill>
                  </a:tcPr>
                </a:tc>
                <a:extLst>
                  <a:ext uri="{0D108BD9-81ED-4DB2-BD59-A6C34878D82A}">
                    <a16:rowId xmlns:a16="http://schemas.microsoft.com/office/drawing/2014/main" val="637460044"/>
                  </a:ext>
                </a:extLst>
              </a:tr>
              <a:tr h="406293">
                <a:tc>
                  <a:txBody>
                    <a:bodyPr/>
                    <a:lstStyle/>
                    <a:p>
                      <a:pPr algn="l" fontAlgn="t"/>
                      <a:r>
                        <a:rPr lang="es-ES" sz="700" b="1" i="0" u="none" strike="noStrike">
                          <a:solidFill>
                            <a:srgbClr val="000000"/>
                          </a:solidFill>
                          <a:effectLst/>
                          <a:latin typeface="Santander Text" panose="020B0504020201020104" pitchFamily="34" charset="0"/>
                        </a:rPr>
                        <a:t>Distribution / Front</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t"/>
                      <a:r>
                        <a:rPr lang="es-ES" sz="700" b="1" i="0" u="none" strike="noStrike">
                          <a:solidFill>
                            <a:srgbClr val="FFFFFF"/>
                          </a:solidFill>
                          <a:effectLst/>
                          <a:latin typeface="Santander Text" panose="020B0504020201020104" pitchFamily="34" charset="0"/>
                        </a:rPr>
                        <a:t>R&amp;C</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solidFill>
                      <a:srgbClr val="2F75B5"/>
                    </a:solidFill>
                  </a:tcPr>
                </a:tc>
                <a:tc>
                  <a:txBody>
                    <a:bodyPr/>
                    <a:lstStyle/>
                    <a:p>
                      <a:pPr algn="l" fontAlgn="t"/>
                      <a:r>
                        <a:rPr lang="es-ES" sz="700" b="1" i="0" u="none" strike="noStrike">
                          <a:solidFill>
                            <a:srgbClr val="FFFFFF"/>
                          </a:solidFill>
                          <a:effectLst/>
                          <a:latin typeface="Santander Text" panose="020B0504020201020104" pitchFamily="34" charset="0"/>
                        </a:rPr>
                        <a:t> </a:t>
                      </a:r>
                    </a:p>
                  </a:txBody>
                  <a:tcPr marL="78436" marR="2615" marT="2615" marB="0">
                    <a:lnL w="6350" cap="flat" cmpd="sng" algn="ctr">
                      <a:solidFill>
                        <a:srgbClr val="D0CECE"/>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tc>
                  <a:txBody>
                    <a:bodyPr/>
                    <a:lstStyle/>
                    <a:p>
                      <a:pPr algn="l" fontAlgn="t"/>
                      <a:r>
                        <a:rPr lang="es-ES" sz="700" b="1" i="0" u="none" strike="noStrike">
                          <a:solidFill>
                            <a:srgbClr val="000000"/>
                          </a:solidFill>
                          <a:effectLst/>
                          <a:latin typeface="Santander Text" panose="020B0504020201020104" pitchFamily="34" charset="0"/>
                        </a:rPr>
                        <a:t>Assisted Channels</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EF1"/>
                    </a:solidFill>
                  </a:tcPr>
                </a:tc>
                <a:tc>
                  <a:txBody>
                    <a:bodyPr/>
                    <a:lstStyle/>
                    <a:p>
                      <a:pPr algn="l" fontAlgn="t"/>
                      <a:r>
                        <a:rPr lang="en-US" sz="700" b="1" i="0" u="none" strike="noStrike">
                          <a:solidFill>
                            <a:srgbClr val="000000"/>
                          </a:solidFill>
                          <a:effectLst/>
                          <a:latin typeface="Santander Text" panose="020B0504020201020104" pitchFamily="34" charset="0"/>
                        </a:rPr>
                        <a:t>Assisted Channel Platform Component integrating Branch and Contact Center channel, covering Presales, Sales, Transactional and Servicing capabilities to serve our customers by branch, contact center and remote agents,  in a single desktop enabling our strategy to become a truly a Digital Bank with branches</a:t>
                      </a:r>
                    </a:p>
                  </a:txBody>
                  <a:tcPr marL="2615" marR="2615" marT="2615" marB="0">
                    <a:lnL w="6350" cap="flat" cmpd="sng" algn="ctr">
                      <a:solidFill>
                        <a:srgbClr val="00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extLst>
                  <a:ext uri="{0D108BD9-81ED-4DB2-BD59-A6C34878D82A}">
                    <a16:rowId xmlns:a16="http://schemas.microsoft.com/office/drawing/2014/main" val="1191306492"/>
                  </a:ext>
                </a:extLst>
              </a:tr>
              <a:tr h="507866">
                <a:tc>
                  <a:txBody>
                    <a:bodyPr/>
                    <a:lstStyle/>
                    <a:p>
                      <a:pPr algn="l" fontAlgn="t"/>
                      <a:r>
                        <a:rPr lang="es-ES" sz="700" b="1" i="0" u="none" strike="noStrike">
                          <a:solidFill>
                            <a:srgbClr val="000000"/>
                          </a:solidFill>
                          <a:effectLst/>
                          <a:latin typeface="Santander Text" panose="020B0504020201020104" pitchFamily="34" charset="0"/>
                        </a:rPr>
                        <a:t>Distribution / Front</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t"/>
                      <a:r>
                        <a:rPr lang="es-ES" sz="700" b="1" i="0" u="none" strike="noStrike">
                          <a:solidFill>
                            <a:srgbClr val="FFFFFF"/>
                          </a:solidFill>
                          <a:effectLst/>
                          <a:latin typeface="Santander Text" panose="020B0504020201020104" pitchFamily="34" charset="0"/>
                        </a:rPr>
                        <a:t>R&amp;C</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solidFill>
                      <a:srgbClr val="2F75B5"/>
                    </a:solidFill>
                  </a:tcPr>
                </a:tc>
                <a:tc>
                  <a:txBody>
                    <a:bodyPr/>
                    <a:lstStyle/>
                    <a:p>
                      <a:pPr algn="l" fontAlgn="t"/>
                      <a:r>
                        <a:rPr lang="es-ES" sz="700" b="1" i="0" u="none" strike="noStrike">
                          <a:solidFill>
                            <a:srgbClr val="FFFFFF"/>
                          </a:solidFill>
                          <a:effectLst/>
                          <a:latin typeface="Santander Text" panose="020B0504020201020104" pitchFamily="34" charset="0"/>
                        </a:rPr>
                        <a:t> </a:t>
                      </a:r>
                    </a:p>
                  </a:txBody>
                  <a:tcPr marL="78436" marR="2615" marT="2615" marB="0">
                    <a:lnL w="6350" cap="flat" cmpd="sng" algn="ctr">
                      <a:solidFill>
                        <a:srgbClr val="D0CECE"/>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tc>
                  <a:txBody>
                    <a:bodyPr/>
                    <a:lstStyle/>
                    <a:p>
                      <a:pPr algn="l" fontAlgn="t"/>
                      <a:r>
                        <a:rPr lang="es-ES" sz="700" b="1" i="0" u="none" strike="noStrike">
                          <a:solidFill>
                            <a:srgbClr val="000000"/>
                          </a:solidFill>
                          <a:effectLst/>
                          <a:latin typeface="Santander Text" panose="020B0504020201020104" pitchFamily="34" charset="0"/>
                        </a:rPr>
                        <a:t>Customer Interactions</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FF0000"/>
                      </a:solidFill>
                      <a:prstDash val="solid"/>
                      <a:round/>
                      <a:headEnd type="none" w="med" len="med"/>
                      <a:tailEnd type="none" w="med" len="med"/>
                    </a:lnB>
                    <a:solidFill>
                      <a:srgbClr val="EBEEF1"/>
                    </a:solidFill>
                  </a:tcPr>
                </a:tc>
                <a:tc>
                  <a:txBody>
                    <a:bodyPr/>
                    <a:lstStyle/>
                    <a:p>
                      <a:pPr algn="l" fontAlgn="t"/>
                      <a:r>
                        <a:rPr lang="en-US" sz="700" b="1" i="0" u="none" strike="noStrike">
                          <a:solidFill>
                            <a:srgbClr val="000000"/>
                          </a:solidFill>
                          <a:effectLst/>
                          <a:latin typeface="Santander Text" panose="020B0504020201020104" pitchFamily="34" charset="0"/>
                        </a:rPr>
                        <a:t>The Customer Interaction Platform Component supports, based on a hybrid architecture our common global Customer Interaction strategy boosting  the Santander way to interact with our customers in our digital channels (Hyper-personalization, real time decisioning). It includes Campaigns management and communication, commercial customer intelligence  and channels interactions. </a:t>
                      </a:r>
                    </a:p>
                  </a:txBody>
                  <a:tcPr marL="2615" marR="2615" marT="2615" marB="0">
                    <a:lnL w="6350" cap="flat" cmpd="sng" algn="ctr">
                      <a:solidFill>
                        <a:srgbClr val="00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extLst>
                  <a:ext uri="{0D108BD9-81ED-4DB2-BD59-A6C34878D82A}">
                    <a16:rowId xmlns:a16="http://schemas.microsoft.com/office/drawing/2014/main" val="1525922895"/>
                  </a:ext>
                </a:extLst>
              </a:tr>
              <a:tr h="341965">
                <a:tc>
                  <a:txBody>
                    <a:bodyPr/>
                    <a:lstStyle/>
                    <a:p>
                      <a:pPr algn="l" fontAlgn="t"/>
                      <a:r>
                        <a:rPr lang="es-ES" sz="700" b="1" i="0" u="none" strike="noStrike">
                          <a:solidFill>
                            <a:srgbClr val="000000"/>
                          </a:solidFill>
                          <a:effectLst/>
                          <a:latin typeface="Santander Text" panose="020B0504020201020104" pitchFamily="34" charset="0"/>
                        </a:rPr>
                        <a:t>Distribution / Front - Business products</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t"/>
                      <a:r>
                        <a:rPr lang="es-ES" sz="700" b="1" i="0" u="none" strike="noStrike">
                          <a:solidFill>
                            <a:srgbClr val="FFFFFF"/>
                          </a:solidFill>
                          <a:effectLst/>
                          <a:latin typeface="Santander Text" panose="020B0504020201020104" pitchFamily="34" charset="0"/>
                        </a:rPr>
                        <a:t>R&amp;C</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solidFill>
                      <a:srgbClr val="2F75B5"/>
                    </a:solidFill>
                  </a:tcPr>
                </a:tc>
                <a:tc>
                  <a:txBody>
                    <a:bodyPr/>
                    <a:lstStyle/>
                    <a:p>
                      <a:pPr algn="l" fontAlgn="t"/>
                      <a:r>
                        <a:rPr lang="es-ES" sz="700" b="1" i="0" u="none" strike="noStrike">
                          <a:solidFill>
                            <a:srgbClr val="FFFFFF"/>
                          </a:solidFill>
                          <a:effectLst/>
                          <a:latin typeface="Santander Text" panose="020B0504020201020104" pitchFamily="34" charset="0"/>
                        </a:rPr>
                        <a:t> </a:t>
                      </a:r>
                    </a:p>
                  </a:txBody>
                  <a:tcPr marL="78436" marR="2615" marT="2615" marB="0">
                    <a:lnL w="6350" cap="flat" cmpd="sng" algn="ctr">
                      <a:solidFill>
                        <a:srgbClr val="D0CECE"/>
                      </a:solidFill>
                      <a:prstDash val="solid"/>
                      <a:round/>
                      <a:headEnd type="none" w="med" len="med"/>
                      <a:tailEnd type="none" w="med" len="med"/>
                    </a:lnL>
                    <a:lnR w="12700" cap="flat" cmpd="sng" algn="ctr">
                      <a:solidFill>
                        <a:srgbClr val="FF0000"/>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tc>
                  <a:txBody>
                    <a:bodyPr/>
                    <a:lstStyle/>
                    <a:p>
                      <a:pPr algn="l" fontAlgn="t"/>
                      <a:r>
                        <a:rPr lang="es-ES" sz="700" b="1" i="0" u="none" strike="noStrike">
                          <a:solidFill>
                            <a:srgbClr val="FFFFFF"/>
                          </a:solidFill>
                          <a:effectLst/>
                          <a:latin typeface="Santander Text" panose="020B0504020201020104" pitchFamily="34" charset="0"/>
                        </a:rPr>
                        <a:t>SMEs</a:t>
                      </a:r>
                    </a:p>
                  </a:txBody>
                  <a:tcPr marL="78436" marR="2615" marT="2615" marB="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l" fontAlgn="t"/>
                      <a:r>
                        <a:rPr lang="en-US" sz="700" b="1" i="0" u="none" strike="noStrike">
                          <a:solidFill>
                            <a:srgbClr val="000000"/>
                          </a:solidFill>
                          <a:effectLst/>
                          <a:latin typeface="Santander Text" panose="020B0504020201020104" pitchFamily="34" charset="0"/>
                        </a:rPr>
                        <a:t>Platform that embraces the capabilities required to support daily SMEs business needs</a:t>
                      </a:r>
                      <a:r>
                        <a:rPr lang="en-US" sz="700" b="0" i="0" u="none" strike="noStrike">
                          <a:solidFill>
                            <a:srgbClr val="000000"/>
                          </a:solidFill>
                          <a:effectLst/>
                          <a:latin typeface="Santander Text" panose="020B0504020201020104" pitchFamily="34" charset="0"/>
                        </a:rPr>
                        <a:t>, including front capabilities (specialized channels functionalities, ie Entitlements) and back-end products and services tailored for SMEs segment (ie. Specialized Lending) </a:t>
                      </a:r>
                      <a:endParaRPr lang="en-US" sz="700" b="1" i="0" u="none" strike="noStrike">
                        <a:solidFill>
                          <a:srgbClr val="000000"/>
                        </a:solidFill>
                        <a:effectLst/>
                        <a:latin typeface="Santander Text" panose="020B0504020201020104" pitchFamily="34" charset="0"/>
                      </a:endParaRPr>
                    </a:p>
                  </a:txBody>
                  <a:tcPr marL="2615" marR="2615" marT="2615" marB="0">
                    <a:lnL w="12700" cap="flat" cmpd="sng" algn="ctr">
                      <a:solidFill>
                        <a:srgbClr val="FF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extLst>
                  <a:ext uri="{0D108BD9-81ED-4DB2-BD59-A6C34878D82A}">
                    <a16:rowId xmlns:a16="http://schemas.microsoft.com/office/drawing/2014/main" val="515927894"/>
                  </a:ext>
                </a:extLst>
              </a:tr>
              <a:tr h="247163">
                <a:tc>
                  <a:txBody>
                    <a:bodyPr/>
                    <a:lstStyle/>
                    <a:p>
                      <a:pPr algn="l" fontAlgn="t"/>
                      <a:r>
                        <a:rPr lang="es-ES" sz="700" b="1" i="0" u="none" strike="noStrike">
                          <a:solidFill>
                            <a:srgbClr val="000000"/>
                          </a:solidFill>
                          <a:effectLst/>
                          <a:latin typeface="Santander Text" panose="020B0504020201020104" pitchFamily="34" charset="0"/>
                        </a:rPr>
                        <a:t>Technology</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l" fontAlgn="t"/>
                      <a:r>
                        <a:rPr lang="es-ES" sz="700" b="1" i="0" u="none" strike="noStrike">
                          <a:solidFill>
                            <a:srgbClr val="FFFFFF"/>
                          </a:solidFill>
                          <a:effectLst/>
                          <a:latin typeface="Santander Text" panose="020B0504020201020104" pitchFamily="34" charset="0"/>
                        </a:rPr>
                        <a:t>R&amp;C</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solidFill>
                      <a:srgbClr val="2F75B5"/>
                    </a:solidFill>
                  </a:tcPr>
                </a:tc>
                <a:tc>
                  <a:txBody>
                    <a:bodyPr/>
                    <a:lstStyle/>
                    <a:p>
                      <a:pPr algn="l" fontAlgn="t"/>
                      <a:r>
                        <a:rPr lang="es-ES" sz="700" b="1" i="0" u="none" strike="noStrike">
                          <a:solidFill>
                            <a:srgbClr val="FFFFFF"/>
                          </a:solidFill>
                          <a:effectLst/>
                          <a:latin typeface="Santander Text" panose="020B0504020201020104" pitchFamily="34" charset="0"/>
                        </a:rPr>
                        <a:t> </a:t>
                      </a:r>
                    </a:p>
                  </a:txBody>
                  <a:tcPr marL="78436" marR="2615" marT="2615" marB="0">
                    <a:lnL w="6350" cap="flat" cmpd="sng" algn="ctr">
                      <a:solidFill>
                        <a:srgbClr val="D0CECE"/>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tc>
                  <a:txBody>
                    <a:bodyPr/>
                    <a:lstStyle/>
                    <a:p>
                      <a:pPr algn="l" fontAlgn="t"/>
                      <a:r>
                        <a:rPr lang="es-ES" sz="700" b="1" i="0" u="none" strike="noStrike">
                          <a:solidFill>
                            <a:srgbClr val="000000"/>
                          </a:solidFill>
                          <a:effectLst/>
                          <a:latin typeface="Santander Text" panose="020B0504020201020104" pitchFamily="34" charset="0"/>
                        </a:rPr>
                        <a:t>Gravity+</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FF0000"/>
                      </a:solidFill>
                      <a:prstDash val="solid"/>
                      <a:round/>
                      <a:headEnd type="none" w="med" len="med"/>
                      <a:tailEnd type="none" w="med" len="med"/>
                    </a:lnB>
                    <a:solidFill>
                      <a:srgbClr val="E2EFDA"/>
                    </a:solidFill>
                  </a:tcPr>
                </a:tc>
                <a:tc>
                  <a:txBody>
                    <a:bodyPr/>
                    <a:lstStyle/>
                    <a:p>
                      <a:pPr algn="l" fontAlgn="t"/>
                      <a:r>
                        <a:rPr lang="en-US" sz="700" b="1" i="0" u="none" strike="noStrike">
                          <a:solidFill>
                            <a:srgbClr val="000000"/>
                          </a:solidFill>
                          <a:effectLst/>
                          <a:latin typeface="Santander Text" panose="020B0504020201020104" pitchFamily="34" charset="0"/>
                        </a:rPr>
                        <a:t>Our new Core Banking Platform Component resulting of re-platforming and engineering the legacy Core Platforms to run out of the Mainframe, open to channels and third parties through APIs and events, evolving to a new digital paradigm within a concept of Lean Core Processor </a:t>
                      </a:r>
                    </a:p>
                  </a:txBody>
                  <a:tcPr marL="2615" marR="2615" marT="2615" marB="0">
                    <a:lnL w="6350" cap="flat" cmpd="sng" algn="ctr">
                      <a:solidFill>
                        <a:srgbClr val="00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extLst>
                  <a:ext uri="{0D108BD9-81ED-4DB2-BD59-A6C34878D82A}">
                    <a16:rowId xmlns:a16="http://schemas.microsoft.com/office/drawing/2014/main" val="2293583487"/>
                  </a:ext>
                </a:extLst>
              </a:tr>
              <a:tr h="247163">
                <a:tc>
                  <a:txBody>
                    <a:bodyPr/>
                    <a:lstStyle/>
                    <a:p>
                      <a:pPr algn="l" fontAlgn="t"/>
                      <a:r>
                        <a:rPr lang="es-ES" sz="700" b="1" i="0" u="none" strike="noStrike">
                          <a:solidFill>
                            <a:srgbClr val="000000"/>
                          </a:solidFill>
                          <a:effectLst/>
                          <a:latin typeface="Santander Text" panose="020B0504020201020104" pitchFamily="34" charset="0"/>
                        </a:rPr>
                        <a:t>Business products</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s-ES" sz="700" b="1" i="0" u="none" strike="noStrike">
                          <a:solidFill>
                            <a:srgbClr val="FFFFFF"/>
                          </a:solidFill>
                          <a:effectLst/>
                          <a:latin typeface="Santander Text" panose="020B0504020201020104" pitchFamily="34" charset="0"/>
                        </a:rPr>
                        <a:t>WM&amp;I</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solidFill>
                      <a:srgbClr val="2F75B5"/>
                    </a:solidFill>
                  </a:tcPr>
                </a:tc>
                <a:tc>
                  <a:txBody>
                    <a:bodyPr/>
                    <a:lstStyle/>
                    <a:p>
                      <a:pPr algn="l" fontAlgn="t"/>
                      <a:r>
                        <a:rPr lang="es-ES" sz="700" b="1" i="0" u="none" strike="noStrike">
                          <a:solidFill>
                            <a:srgbClr val="FFFFFF"/>
                          </a:solidFill>
                          <a:effectLst/>
                          <a:latin typeface="Santander Text" panose="020B0504020201020104" pitchFamily="34" charset="0"/>
                        </a:rPr>
                        <a:t> </a:t>
                      </a:r>
                    </a:p>
                  </a:txBody>
                  <a:tcPr marL="78436" marR="2615" marT="2615" marB="0">
                    <a:lnL w="6350" cap="flat" cmpd="sng" algn="ctr">
                      <a:solidFill>
                        <a:srgbClr val="D0CECE"/>
                      </a:solidFill>
                      <a:prstDash val="solid"/>
                      <a:round/>
                      <a:headEnd type="none" w="med" len="med"/>
                      <a:tailEnd type="none" w="med" len="med"/>
                    </a:lnL>
                    <a:lnR w="12700" cap="flat" cmpd="sng" algn="ctr">
                      <a:solidFill>
                        <a:srgbClr val="FF0000"/>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tc>
                  <a:txBody>
                    <a:bodyPr/>
                    <a:lstStyle/>
                    <a:p>
                      <a:pPr algn="l" fontAlgn="t"/>
                      <a:r>
                        <a:rPr lang="es-ES" sz="700" b="1" i="0" u="none" strike="noStrike">
                          <a:solidFill>
                            <a:srgbClr val="FFFFFF"/>
                          </a:solidFill>
                          <a:effectLst/>
                          <a:latin typeface="Santander Text" panose="020B0504020201020104" pitchFamily="34" charset="0"/>
                        </a:rPr>
                        <a:t>Investments</a:t>
                      </a:r>
                    </a:p>
                  </a:txBody>
                  <a:tcPr marL="78436" marR="2615" marT="2615" marB="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solidFill>
                      <a:srgbClr val="00B0F0"/>
                    </a:solidFill>
                  </a:tcPr>
                </a:tc>
                <a:tc>
                  <a:txBody>
                    <a:bodyPr/>
                    <a:lstStyle/>
                    <a:p>
                      <a:pPr algn="l" fontAlgn="t"/>
                      <a:r>
                        <a:rPr lang="en-US" sz="700" b="1" i="0" u="none" strike="noStrike">
                          <a:solidFill>
                            <a:srgbClr val="000000"/>
                          </a:solidFill>
                          <a:effectLst/>
                          <a:latin typeface="Santander Text" panose="020B0504020201020104" pitchFamily="34" charset="0"/>
                        </a:rPr>
                        <a:t>Platform Component to support the advisory &amp; investments distribution for all segments, coverings all the investment products and providing a common set of operational &amp; commercial related processes</a:t>
                      </a:r>
                    </a:p>
                  </a:txBody>
                  <a:tcPr marL="2615" marR="2615" marT="2615" marB="0">
                    <a:lnL w="12700" cap="flat" cmpd="sng" algn="ctr">
                      <a:solidFill>
                        <a:srgbClr val="FF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extLst>
                  <a:ext uri="{0D108BD9-81ED-4DB2-BD59-A6C34878D82A}">
                    <a16:rowId xmlns:a16="http://schemas.microsoft.com/office/drawing/2014/main" val="4118665110"/>
                  </a:ext>
                </a:extLst>
              </a:tr>
              <a:tr h="125274">
                <a:tc>
                  <a:txBody>
                    <a:bodyPr/>
                    <a:lstStyle/>
                    <a:p>
                      <a:pPr algn="l" fontAlgn="t"/>
                      <a:r>
                        <a:rPr lang="es-ES" sz="700" b="1" i="0" u="none" strike="noStrike">
                          <a:solidFill>
                            <a:srgbClr val="000000"/>
                          </a:solidFill>
                          <a:effectLst/>
                          <a:latin typeface="Santander Text" panose="020B0504020201020104" pitchFamily="34" charset="0"/>
                        </a:rPr>
                        <a:t>Business products</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s-ES" sz="700" b="1" i="0" u="none" strike="noStrike">
                          <a:solidFill>
                            <a:srgbClr val="FFFFFF"/>
                          </a:solidFill>
                          <a:effectLst/>
                          <a:latin typeface="Santander Text" panose="020B0504020201020104" pitchFamily="34" charset="0"/>
                        </a:rPr>
                        <a:t>WM&amp;I</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solidFill>
                      <a:srgbClr val="2F75B5"/>
                    </a:solidFill>
                  </a:tcPr>
                </a:tc>
                <a:tc>
                  <a:txBody>
                    <a:bodyPr/>
                    <a:lstStyle/>
                    <a:p>
                      <a:pPr algn="l" fontAlgn="t"/>
                      <a:r>
                        <a:rPr lang="es-ES" sz="700" b="1" i="0" u="none" strike="noStrike">
                          <a:solidFill>
                            <a:srgbClr val="FFFFFF"/>
                          </a:solidFill>
                          <a:effectLst/>
                          <a:latin typeface="Santander Text" panose="020B0504020201020104" pitchFamily="34" charset="0"/>
                        </a:rPr>
                        <a:t> </a:t>
                      </a:r>
                    </a:p>
                  </a:txBody>
                  <a:tcPr marL="78436" marR="2615" marT="2615" marB="0">
                    <a:lnL w="6350" cap="flat" cmpd="sng" algn="ctr">
                      <a:solidFill>
                        <a:srgbClr val="D0CECE"/>
                      </a:solidFill>
                      <a:prstDash val="solid"/>
                      <a:round/>
                      <a:headEnd type="none" w="med" len="med"/>
                      <a:tailEnd type="none" w="med" len="med"/>
                    </a:lnL>
                    <a:lnR w="12700" cap="flat" cmpd="sng" algn="ctr">
                      <a:solidFill>
                        <a:srgbClr val="FF0000"/>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tc>
                  <a:txBody>
                    <a:bodyPr/>
                    <a:lstStyle/>
                    <a:p>
                      <a:pPr algn="l" fontAlgn="t"/>
                      <a:r>
                        <a:rPr lang="es-ES" sz="700" b="1" i="0" u="none" strike="noStrike">
                          <a:solidFill>
                            <a:srgbClr val="FFFFFF"/>
                          </a:solidFill>
                          <a:effectLst/>
                          <a:latin typeface="Santander Text" panose="020B0504020201020104" pitchFamily="34" charset="0"/>
                        </a:rPr>
                        <a:t>AM Factory</a:t>
                      </a:r>
                    </a:p>
                  </a:txBody>
                  <a:tcPr marL="78436" marR="2615" marT="2615" marB="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solidFill>
                      <a:srgbClr val="00B0F0"/>
                    </a:solidFill>
                  </a:tcPr>
                </a:tc>
                <a:tc>
                  <a:txBody>
                    <a:bodyPr/>
                    <a:lstStyle/>
                    <a:p>
                      <a:pPr algn="l" fontAlgn="t"/>
                      <a:r>
                        <a:rPr lang="en-US" sz="700" b="1" i="0" u="none" strike="noStrike">
                          <a:solidFill>
                            <a:srgbClr val="000000"/>
                          </a:solidFill>
                          <a:effectLst/>
                          <a:latin typeface="Santander Text" panose="020B0504020201020104" pitchFamily="34" charset="0"/>
                        </a:rPr>
                        <a:t>Platform Component that provides the solution for Portfolio Management, Trade execution,  Investment Operations Analysis and Risk Management for SAM funds</a:t>
                      </a:r>
                    </a:p>
                  </a:txBody>
                  <a:tcPr marL="2615" marR="2615" marT="2615" marB="0">
                    <a:lnL w="12700" cap="flat" cmpd="sng" algn="ctr">
                      <a:solidFill>
                        <a:srgbClr val="FF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extLst>
                  <a:ext uri="{0D108BD9-81ED-4DB2-BD59-A6C34878D82A}">
                    <a16:rowId xmlns:a16="http://schemas.microsoft.com/office/drawing/2014/main" val="1047902383"/>
                  </a:ext>
                </a:extLst>
              </a:tr>
              <a:tr h="125274">
                <a:tc>
                  <a:txBody>
                    <a:bodyPr/>
                    <a:lstStyle/>
                    <a:p>
                      <a:pPr algn="l" fontAlgn="t"/>
                      <a:r>
                        <a:rPr lang="es-ES" sz="700" b="1" i="0" u="none" strike="noStrike">
                          <a:solidFill>
                            <a:srgbClr val="000000"/>
                          </a:solidFill>
                          <a:effectLst/>
                          <a:latin typeface="Santander Text" panose="020B0504020201020104" pitchFamily="34" charset="0"/>
                        </a:rPr>
                        <a:t>Business products</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s-ES" sz="700" b="1" i="0" u="none" strike="noStrike">
                          <a:solidFill>
                            <a:srgbClr val="FFFFFF"/>
                          </a:solidFill>
                          <a:effectLst/>
                          <a:latin typeface="Santander Text" panose="020B0504020201020104" pitchFamily="34" charset="0"/>
                        </a:rPr>
                        <a:t>WM&amp;I</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solidFill>
                      <a:srgbClr val="2F75B5"/>
                    </a:solidFill>
                  </a:tcPr>
                </a:tc>
                <a:tc>
                  <a:txBody>
                    <a:bodyPr/>
                    <a:lstStyle/>
                    <a:p>
                      <a:pPr algn="l" fontAlgn="t"/>
                      <a:r>
                        <a:rPr lang="es-ES" sz="700" b="1" i="0" u="none" strike="noStrike">
                          <a:solidFill>
                            <a:srgbClr val="FFFFFF"/>
                          </a:solidFill>
                          <a:effectLst/>
                          <a:latin typeface="Santander Text" panose="020B0504020201020104" pitchFamily="34" charset="0"/>
                        </a:rPr>
                        <a:t> </a:t>
                      </a:r>
                    </a:p>
                  </a:txBody>
                  <a:tcPr marL="78436" marR="2615" marT="2615" marB="0">
                    <a:lnL w="6350" cap="flat" cmpd="sng" algn="ctr">
                      <a:solidFill>
                        <a:srgbClr val="D0CECE"/>
                      </a:solidFill>
                      <a:prstDash val="solid"/>
                      <a:round/>
                      <a:headEnd type="none" w="med" len="med"/>
                      <a:tailEnd type="none" w="med" len="med"/>
                    </a:lnL>
                    <a:lnR w="12700" cap="flat" cmpd="sng" algn="ctr">
                      <a:solidFill>
                        <a:srgbClr val="FF0000"/>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tc>
                  <a:txBody>
                    <a:bodyPr/>
                    <a:lstStyle/>
                    <a:p>
                      <a:pPr algn="l" fontAlgn="t"/>
                      <a:r>
                        <a:rPr lang="es-ES" sz="700" b="1" i="0" u="none" strike="noStrike">
                          <a:solidFill>
                            <a:srgbClr val="FFFFFF"/>
                          </a:solidFill>
                          <a:effectLst/>
                          <a:latin typeface="Santander Text" panose="020B0504020201020104" pitchFamily="34" charset="0"/>
                        </a:rPr>
                        <a:t>Private Banking</a:t>
                      </a:r>
                    </a:p>
                  </a:txBody>
                  <a:tcPr marL="78436" marR="2615" marT="2615" marB="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solidFill>
                      <a:srgbClr val="00B0F0"/>
                    </a:solidFill>
                  </a:tcPr>
                </a:tc>
                <a:tc>
                  <a:txBody>
                    <a:bodyPr/>
                    <a:lstStyle/>
                    <a:p>
                      <a:pPr algn="l" fontAlgn="t"/>
                      <a:r>
                        <a:rPr lang="en-US" sz="700" b="1" i="0" u="none" strike="noStrike">
                          <a:solidFill>
                            <a:srgbClr val="000000"/>
                          </a:solidFill>
                          <a:effectLst/>
                          <a:latin typeface="Santander Text" panose="020B0504020201020104" pitchFamily="34" charset="0"/>
                        </a:rPr>
                        <a:t>Global Private Banking (PB) solutions to manage end2end Private Banking clients relationship, mainly in focus on sales, servicing and specialized private banking products </a:t>
                      </a:r>
                    </a:p>
                  </a:txBody>
                  <a:tcPr marL="2615" marR="2615" marT="2615" marB="0">
                    <a:lnL w="12700" cap="flat" cmpd="sng" algn="ctr">
                      <a:solidFill>
                        <a:srgbClr val="FF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extLst>
                  <a:ext uri="{0D108BD9-81ED-4DB2-BD59-A6C34878D82A}">
                    <a16:rowId xmlns:a16="http://schemas.microsoft.com/office/drawing/2014/main" val="274854401"/>
                  </a:ext>
                </a:extLst>
              </a:tr>
              <a:tr h="247163">
                <a:tc>
                  <a:txBody>
                    <a:bodyPr/>
                    <a:lstStyle/>
                    <a:p>
                      <a:pPr algn="l" fontAlgn="t"/>
                      <a:r>
                        <a:rPr lang="es-ES" sz="700" b="1" i="0" u="none" strike="noStrike">
                          <a:solidFill>
                            <a:srgbClr val="000000"/>
                          </a:solidFill>
                          <a:effectLst/>
                          <a:latin typeface="Santander Text" panose="020B0504020201020104" pitchFamily="34" charset="0"/>
                        </a:rPr>
                        <a:t>Business products</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s-ES" sz="700" b="1" i="0" u="none" strike="noStrike">
                          <a:solidFill>
                            <a:srgbClr val="FFFFFF"/>
                          </a:solidFill>
                          <a:effectLst/>
                          <a:latin typeface="Santander Text" panose="020B0504020201020104" pitchFamily="34" charset="0"/>
                        </a:rPr>
                        <a:t>WM&amp;I</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solidFill>
                      <a:srgbClr val="2F75B5"/>
                    </a:solidFill>
                  </a:tcPr>
                </a:tc>
                <a:tc>
                  <a:txBody>
                    <a:bodyPr/>
                    <a:lstStyle/>
                    <a:p>
                      <a:pPr algn="l" fontAlgn="t"/>
                      <a:r>
                        <a:rPr lang="es-ES" sz="700" b="1" i="0" u="none" strike="noStrike">
                          <a:solidFill>
                            <a:srgbClr val="FFFFFF"/>
                          </a:solidFill>
                          <a:effectLst/>
                          <a:latin typeface="Santander Text" panose="020B0504020201020104" pitchFamily="34" charset="0"/>
                        </a:rPr>
                        <a:t> </a:t>
                      </a:r>
                    </a:p>
                  </a:txBody>
                  <a:tcPr marL="78436" marR="2615" marT="2615" marB="0">
                    <a:lnL w="6350" cap="flat" cmpd="sng" algn="ctr">
                      <a:solidFill>
                        <a:srgbClr val="D0CECE"/>
                      </a:solidFill>
                      <a:prstDash val="solid"/>
                      <a:round/>
                      <a:headEnd type="none" w="med" len="med"/>
                      <a:tailEnd type="none" w="med" len="med"/>
                    </a:lnL>
                    <a:lnR w="12700" cap="flat" cmpd="sng" algn="ctr">
                      <a:solidFill>
                        <a:srgbClr val="FF0000"/>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tc>
                  <a:txBody>
                    <a:bodyPr/>
                    <a:lstStyle/>
                    <a:p>
                      <a:pPr algn="l" fontAlgn="t"/>
                      <a:r>
                        <a:rPr lang="es-ES" sz="700" b="1" i="0" u="none" strike="noStrike">
                          <a:solidFill>
                            <a:srgbClr val="FFFFFF"/>
                          </a:solidFill>
                          <a:effectLst/>
                          <a:latin typeface="Santander Text" panose="020B0504020201020104" pitchFamily="34" charset="0"/>
                        </a:rPr>
                        <a:t>Insurance</a:t>
                      </a:r>
                    </a:p>
                  </a:txBody>
                  <a:tcPr marL="78436" marR="2615" marT="2615" marB="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l" fontAlgn="t"/>
                      <a:r>
                        <a:rPr lang="en-US" sz="700" b="1" i="0" u="none" strike="noStrike">
                          <a:solidFill>
                            <a:srgbClr val="000000"/>
                          </a:solidFill>
                          <a:effectLst/>
                          <a:latin typeface="Santander Text" panose="020B0504020201020104" pitchFamily="34" charset="0"/>
                        </a:rPr>
                        <a:t>Platform Component to build insurance products and services and their distribution through digital customer journeys and servicing processes, including different business model (Joint Venture, direct business) </a:t>
                      </a:r>
                    </a:p>
                  </a:txBody>
                  <a:tcPr marL="2615" marR="2615" marT="2615" marB="0">
                    <a:lnL w="12700" cap="flat" cmpd="sng" algn="ctr">
                      <a:solidFill>
                        <a:srgbClr val="FF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extLst>
                  <a:ext uri="{0D108BD9-81ED-4DB2-BD59-A6C34878D82A}">
                    <a16:rowId xmlns:a16="http://schemas.microsoft.com/office/drawing/2014/main" val="3125828354"/>
                  </a:ext>
                </a:extLst>
              </a:tr>
              <a:tr h="247163">
                <a:tc>
                  <a:txBody>
                    <a:bodyPr/>
                    <a:lstStyle/>
                    <a:p>
                      <a:pPr algn="l" fontAlgn="t"/>
                      <a:r>
                        <a:rPr lang="es-ES" sz="700" b="1" i="0" u="none" strike="noStrike">
                          <a:solidFill>
                            <a:srgbClr val="000000"/>
                          </a:solidFill>
                          <a:effectLst/>
                          <a:latin typeface="Santander Text" panose="020B0504020201020104" pitchFamily="34" charset="0"/>
                        </a:rPr>
                        <a:t>Distribution / Front</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t"/>
                      <a:r>
                        <a:rPr lang="es-ES" sz="700" b="1" i="0" u="none" strike="noStrike">
                          <a:solidFill>
                            <a:srgbClr val="FFFFFF"/>
                          </a:solidFill>
                          <a:effectLst/>
                          <a:latin typeface="Santander Text" panose="020B0504020201020104" pitchFamily="34" charset="0"/>
                        </a:rPr>
                        <a:t>DCB</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solidFill>
                      <a:srgbClr val="2F75B5"/>
                    </a:solidFill>
                  </a:tcPr>
                </a:tc>
                <a:tc>
                  <a:txBody>
                    <a:bodyPr/>
                    <a:lstStyle/>
                    <a:p>
                      <a:pPr algn="l" fontAlgn="t"/>
                      <a:r>
                        <a:rPr lang="es-ES" sz="700" b="1" i="0" u="none" strike="noStrike">
                          <a:solidFill>
                            <a:srgbClr val="FFFFFF"/>
                          </a:solidFill>
                          <a:effectLst/>
                          <a:latin typeface="Santander Text" panose="020B0504020201020104" pitchFamily="34" charset="0"/>
                        </a:rPr>
                        <a:t>Openbank</a:t>
                      </a:r>
                    </a:p>
                  </a:txBody>
                  <a:tcPr marL="78436" marR="2615" marT="2615" marB="0">
                    <a:lnL w="6350" cap="flat" cmpd="sng" algn="ctr">
                      <a:solidFill>
                        <a:srgbClr val="D0CECE"/>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solidFill>
                      <a:srgbClr val="2F75B5"/>
                    </a:solidFill>
                  </a:tcPr>
                </a:tc>
                <a:tc>
                  <a:txBody>
                    <a:bodyPr/>
                    <a:lstStyle/>
                    <a:p>
                      <a:pPr algn="l" fontAlgn="t"/>
                      <a:r>
                        <a:rPr lang="es-ES" sz="700" b="1" i="0" u="none" strike="noStrike">
                          <a:solidFill>
                            <a:srgbClr val="000000"/>
                          </a:solidFill>
                          <a:effectLst/>
                          <a:latin typeface="Santander Text" panose="020B0504020201020104" pitchFamily="34" charset="0"/>
                        </a:rPr>
                        <a:t>Digital Channels Individuals</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FF0000"/>
                      </a:solidFill>
                      <a:prstDash val="solid"/>
                      <a:round/>
                      <a:headEnd type="none" w="med" len="med"/>
                      <a:tailEnd type="none" w="med" len="med"/>
                    </a:lnB>
                    <a:solidFill>
                      <a:srgbClr val="EBEEF1"/>
                    </a:solidFill>
                  </a:tcPr>
                </a:tc>
                <a:tc>
                  <a:txBody>
                    <a:bodyPr/>
                    <a:lstStyle/>
                    <a:p>
                      <a:pPr algn="l" fontAlgn="t"/>
                      <a:r>
                        <a:rPr lang="en-US" sz="700" b="1" i="0" u="none" strike="noStrike">
                          <a:solidFill>
                            <a:srgbClr val="000000"/>
                          </a:solidFill>
                          <a:effectLst/>
                          <a:latin typeface="Santander Text" panose="020B0504020201020104" pitchFamily="34" charset="0"/>
                        </a:rPr>
                        <a:t>Digital Channel Individuals Platform integrating our Web and Mobile channels strategy, covering  Sales, full Transactional, Servicing and Add Value Services and capabilities, focusing on hyper personalization, customer experience and engage enabling a Mobile First business model approach. </a:t>
                      </a:r>
                    </a:p>
                  </a:txBody>
                  <a:tcPr marL="2615" marR="2615" marT="2615" marB="0">
                    <a:lnL w="6350" cap="flat" cmpd="sng" algn="ctr">
                      <a:solidFill>
                        <a:srgbClr val="00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extLst>
                  <a:ext uri="{0D108BD9-81ED-4DB2-BD59-A6C34878D82A}">
                    <a16:rowId xmlns:a16="http://schemas.microsoft.com/office/drawing/2014/main" val="3644418678"/>
                  </a:ext>
                </a:extLst>
              </a:tr>
              <a:tr h="200743">
                <a:tc>
                  <a:txBody>
                    <a:bodyPr/>
                    <a:lstStyle/>
                    <a:p>
                      <a:pPr algn="l" fontAlgn="t"/>
                      <a:r>
                        <a:rPr lang="es-ES" sz="700" b="1" i="0" u="none" strike="noStrike">
                          <a:solidFill>
                            <a:srgbClr val="000000"/>
                          </a:solidFill>
                          <a:effectLst/>
                          <a:latin typeface="Santander Text" panose="020B0504020201020104" pitchFamily="34" charset="0"/>
                        </a:rPr>
                        <a:t>Business products</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s-ES" sz="700" b="1" i="0" u="none" strike="noStrike">
                          <a:solidFill>
                            <a:srgbClr val="FFFFFF"/>
                          </a:solidFill>
                          <a:effectLst/>
                          <a:latin typeface="Santander Text" panose="020B0504020201020104" pitchFamily="34" charset="0"/>
                        </a:rPr>
                        <a:t>DCB</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solidFill>
                      <a:srgbClr val="2F75B5"/>
                    </a:solidFill>
                  </a:tcPr>
                </a:tc>
                <a:tc>
                  <a:txBody>
                    <a:bodyPr/>
                    <a:lstStyle/>
                    <a:p>
                      <a:pPr algn="l" fontAlgn="t"/>
                      <a:r>
                        <a:rPr lang="es-ES" sz="700" b="1" i="0" u="none" strike="noStrike">
                          <a:solidFill>
                            <a:srgbClr val="FFFFFF"/>
                          </a:solidFill>
                          <a:effectLst/>
                          <a:latin typeface="Santander Text" panose="020B0504020201020104" pitchFamily="34" charset="0"/>
                        </a:rPr>
                        <a:t>Openbank</a:t>
                      </a:r>
                    </a:p>
                  </a:txBody>
                  <a:tcPr marL="78436" marR="2615" marT="2615" marB="0">
                    <a:lnL w="6350" cap="flat" cmpd="sng" algn="ctr">
                      <a:solidFill>
                        <a:srgbClr val="D0CECE"/>
                      </a:solidFill>
                      <a:prstDash val="solid"/>
                      <a:round/>
                      <a:headEnd type="none" w="med" len="med"/>
                      <a:tailEnd type="none" w="med" len="med"/>
                    </a:lnL>
                    <a:lnR w="12700" cap="flat" cmpd="sng" algn="ctr">
                      <a:solidFill>
                        <a:srgbClr val="FF0000"/>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solidFill>
                      <a:srgbClr val="2F75B5"/>
                    </a:solidFill>
                  </a:tcPr>
                </a:tc>
                <a:tc>
                  <a:txBody>
                    <a:bodyPr/>
                    <a:lstStyle/>
                    <a:p>
                      <a:pPr algn="l" fontAlgn="t"/>
                      <a:r>
                        <a:rPr lang="es-ES" sz="700" b="1" i="0" u="none" strike="noStrike">
                          <a:solidFill>
                            <a:srgbClr val="FFFFFF"/>
                          </a:solidFill>
                          <a:effectLst/>
                          <a:latin typeface="Santander Text" panose="020B0504020201020104" pitchFamily="34" charset="0"/>
                        </a:rPr>
                        <a:t>Engine BNPL</a:t>
                      </a:r>
                    </a:p>
                  </a:txBody>
                  <a:tcPr marL="78436" marR="2615" marT="2615" marB="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solidFill>
                      <a:srgbClr val="00B0F0"/>
                    </a:solidFill>
                  </a:tcPr>
                </a:tc>
                <a:tc>
                  <a:txBody>
                    <a:bodyPr/>
                    <a:lstStyle/>
                    <a:p>
                      <a:pPr algn="l" fontAlgn="t"/>
                      <a:r>
                        <a:rPr lang="en-US" sz="700" b="1" i="0" u="none" strike="noStrike">
                          <a:solidFill>
                            <a:srgbClr val="000000"/>
                          </a:solidFill>
                          <a:effectLst/>
                          <a:latin typeface="Santander Text" panose="020B0504020201020104" pitchFamily="34" charset="0"/>
                        </a:rPr>
                        <a:t>ZINIA Core processor Platform Component that supports the e2e of the ZINIA business to merchants and customers, including presale, sales, servicing, enquiring, settlement and GL posting of the transactions with the correspondent bank </a:t>
                      </a:r>
                    </a:p>
                  </a:txBody>
                  <a:tcPr marL="2615" marR="2615" marT="2615" marB="0">
                    <a:lnL w="12700" cap="flat" cmpd="sng" algn="ctr">
                      <a:solidFill>
                        <a:srgbClr val="FF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extLst>
                  <a:ext uri="{0D108BD9-81ED-4DB2-BD59-A6C34878D82A}">
                    <a16:rowId xmlns:a16="http://schemas.microsoft.com/office/drawing/2014/main" val="3441799265"/>
                  </a:ext>
                </a:extLst>
              </a:tr>
              <a:tr h="125274">
                <a:tc>
                  <a:txBody>
                    <a:bodyPr/>
                    <a:lstStyle/>
                    <a:p>
                      <a:pPr algn="l" fontAlgn="t"/>
                      <a:r>
                        <a:rPr lang="es-ES" sz="700" b="1" i="0" u="none" strike="noStrike">
                          <a:solidFill>
                            <a:srgbClr val="000000"/>
                          </a:solidFill>
                          <a:effectLst/>
                          <a:latin typeface="Santander Text" panose="020B0504020201020104" pitchFamily="34" charset="0"/>
                        </a:rPr>
                        <a:t>Business products</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s-ES" sz="700" b="1" i="0" u="none" strike="noStrike">
                          <a:solidFill>
                            <a:srgbClr val="FFFFFF"/>
                          </a:solidFill>
                          <a:effectLst/>
                          <a:latin typeface="Santander Text" panose="020B0504020201020104" pitchFamily="34" charset="0"/>
                        </a:rPr>
                        <a:t>DCB</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solidFill>
                      <a:srgbClr val="2F75B5"/>
                    </a:solidFill>
                  </a:tcPr>
                </a:tc>
                <a:tc>
                  <a:txBody>
                    <a:bodyPr/>
                    <a:lstStyle/>
                    <a:p>
                      <a:pPr algn="l" fontAlgn="t"/>
                      <a:r>
                        <a:rPr lang="es-ES" sz="700" b="1" i="0" u="none" strike="noStrike">
                          <a:solidFill>
                            <a:srgbClr val="FFFFFF"/>
                          </a:solidFill>
                          <a:effectLst/>
                          <a:latin typeface="Santander Text" panose="020B0504020201020104" pitchFamily="34" charset="0"/>
                        </a:rPr>
                        <a:t>Openbank</a:t>
                      </a:r>
                    </a:p>
                  </a:txBody>
                  <a:tcPr marL="78436" marR="2615" marT="2615" marB="0">
                    <a:lnL w="6350" cap="flat" cmpd="sng" algn="ctr">
                      <a:solidFill>
                        <a:srgbClr val="D0CECE"/>
                      </a:solidFill>
                      <a:prstDash val="solid"/>
                      <a:round/>
                      <a:headEnd type="none" w="med" len="med"/>
                      <a:tailEnd type="none" w="med" len="med"/>
                    </a:lnL>
                    <a:lnR w="12700" cap="flat" cmpd="sng" algn="ctr">
                      <a:solidFill>
                        <a:srgbClr val="FF0000"/>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solidFill>
                      <a:srgbClr val="2F75B5"/>
                    </a:solidFill>
                  </a:tcPr>
                </a:tc>
                <a:tc>
                  <a:txBody>
                    <a:bodyPr/>
                    <a:lstStyle/>
                    <a:p>
                      <a:pPr algn="l" fontAlgn="t"/>
                      <a:r>
                        <a:rPr lang="es-ES" sz="700" b="1" i="0" u="none" strike="noStrike">
                          <a:solidFill>
                            <a:srgbClr val="FFFFFF"/>
                          </a:solidFill>
                          <a:effectLst/>
                          <a:latin typeface="Santander Text" panose="020B0504020201020104" pitchFamily="34" charset="0"/>
                        </a:rPr>
                        <a:t>Engine Checkout lending</a:t>
                      </a:r>
                    </a:p>
                  </a:txBody>
                  <a:tcPr marL="78436" marR="2615" marT="2615" marB="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solidFill>
                      <a:srgbClr val="00B0F0"/>
                    </a:solidFill>
                  </a:tcPr>
                </a:tc>
                <a:tc>
                  <a:txBody>
                    <a:bodyPr/>
                    <a:lstStyle/>
                    <a:p>
                      <a:pPr algn="l" fontAlgn="t"/>
                      <a:r>
                        <a:rPr lang="en-US" sz="700" b="1" i="0" u="none" strike="noStrike">
                          <a:solidFill>
                            <a:srgbClr val="000000"/>
                          </a:solidFill>
                          <a:effectLst/>
                          <a:latin typeface="Santander Text" panose="020B0504020201020104" pitchFamily="34" charset="0"/>
                        </a:rPr>
                        <a:t>System to support check out capability integrated in the merchant digital store Point of sale  and BackOffice processes</a:t>
                      </a:r>
                    </a:p>
                  </a:txBody>
                  <a:tcPr marL="2615" marR="2615" marT="2615" marB="0">
                    <a:lnL w="12700" cap="flat" cmpd="sng" algn="ctr">
                      <a:solidFill>
                        <a:srgbClr val="FF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extLst>
                  <a:ext uri="{0D108BD9-81ED-4DB2-BD59-A6C34878D82A}">
                    <a16:rowId xmlns:a16="http://schemas.microsoft.com/office/drawing/2014/main" val="2302815674"/>
                  </a:ext>
                </a:extLst>
              </a:tr>
              <a:tr h="125274">
                <a:tc>
                  <a:txBody>
                    <a:bodyPr/>
                    <a:lstStyle/>
                    <a:p>
                      <a:pPr algn="l" fontAlgn="t"/>
                      <a:r>
                        <a:rPr lang="es-ES" sz="700" b="1" i="0" u="none" strike="noStrike">
                          <a:solidFill>
                            <a:srgbClr val="000000"/>
                          </a:solidFill>
                          <a:effectLst/>
                          <a:latin typeface="Santander Text" panose="020B0504020201020104" pitchFamily="34" charset="0"/>
                        </a:rPr>
                        <a:t>Business products</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s-ES" sz="700" b="1" i="0" u="none" strike="noStrike">
                          <a:solidFill>
                            <a:srgbClr val="FFFFFF"/>
                          </a:solidFill>
                          <a:effectLst/>
                          <a:latin typeface="Santander Text" panose="020B0504020201020104" pitchFamily="34" charset="0"/>
                        </a:rPr>
                        <a:t>DCB</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solidFill>
                      <a:srgbClr val="2F75B5"/>
                    </a:solidFill>
                  </a:tcPr>
                </a:tc>
                <a:tc>
                  <a:txBody>
                    <a:bodyPr/>
                    <a:lstStyle/>
                    <a:p>
                      <a:pPr algn="l" fontAlgn="t"/>
                      <a:r>
                        <a:rPr lang="es-ES" sz="700" b="1" i="0" u="none" strike="noStrike">
                          <a:solidFill>
                            <a:srgbClr val="FFFFFF"/>
                          </a:solidFill>
                          <a:effectLst/>
                          <a:latin typeface="Santander Text" panose="020B0504020201020104" pitchFamily="34" charset="0"/>
                        </a:rPr>
                        <a:t>Openbank</a:t>
                      </a:r>
                    </a:p>
                  </a:txBody>
                  <a:tcPr marL="78436" marR="2615" marT="2615" marB="0">
                    <a:lnL w="6350" cap="flat" cmpd="sng" algn="ctr">
                      <a:solidFill>
                        <a:srgbClr val="D0CECE"/>
                      </a:solidFill>
                      <a:prstDash val="solid"/>
                      <a:round/>
                      <a:headEnd type="none" w="med" len="med"/>
                      <a:tailEnd type="none" w="med" len="med"/>
                    </a:lnL>
                    <a:lnR w="12700" cap="flat" cmpd="sng" algn="ctr">
                      <a:solidFill>
                        <a:srgbClr val="FF0000"/>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solidFill>
                      <a:srgbClr val="2F75B5"/>
                    </a:solidFill>
                  </a:tcPr>
                </a:tc>
                <a:tc>
                  <a:txBody>
                    <a:bodyPr/>
                    <a:lstStyle/>
                    <a:p>
                      <a:pPr algn="l" fontAlgn="t"/>
                      <a:r>
                        <a:rPr lang="es-ES" sz="700" b="1" i="0" u="none" strike="noStrike">
                          <a:solidFill>
                            <a:srgbClr val="FFFFFF"/>
                          </a:solidFill>
                          <a:effectLst/>
                          <a:latin typeface="Santander Text" panose="020B0504020201020104" pitchFamily="34" charset="0"/>
                        </a:rPr>
                        <a:t>Engine Co-Branded Card</a:t>
                      </a:r>
                    </a:p>
                  </a:txBody>
                  <a:tcPr marL="78436" marR="2615" marT="2615" marB="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l" fontAlgn="t"/>
                      <a:r>
                        <a:rPr lang="en-US" sz="700" b="1" i="0" u="none" strike="noStrike">
                          <a:solidFill>
                            <a:srgbClr val="000000"/>
                          </a:solidFill>
                          <a:effectLst/>
                          <a:latin typeface="Santander Text" panose="020B0504020201020104" pitchFamily="34" charset="0"/>
                        </a:rPr>
                        <a:t>System to support the co-branded card with a merchant that  offers financing (through a credit card) and loyalty program to the customers</a:t>
                      </a:r>
                    </a:p>
                  </a:txBody>
                  <a:tcPr marL="2615" marR="2615" marT="2615" marB="0">
                    <a:lnL w="12700" cap="flat" cmpd="sng" algn="ctr">
                      <a:solidFill>
                        <a:srgbClr val="FF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extLst>
                  <a:ext uri="{0D108BD9-81ED-4DB2-BD59-A6C34878D82A}">
                    <a16:rowId xmlns:a16="http://schemas.microsoft.com/office/drawing/2014/main" val="4213138071"/>
                  </a:ext>
                </a:extLst>
              </a:tr>
              <a:tr h="121889">
                <a:tc>
                  <a:txBody>
                    <a:bodyPr/>
                    <a:lstStyle/>
                    <a:p>
                      <a:pPr algn="l" fontAlgn="t"/>
                      <a:r>
                        <a:rPr lang="es-ES" sz="700" b="1" i="0" u="none" strike="noStrike">
                          <a:solidFill>
                            <a:srgbClr val="000000"/>
                          </a:solidFill>
                          <a:effectLst/>
                          <a:latin typeface="Santander Text" panose="020B0504020201020104" pitchFamily="34" charset="0"/>
                        </a:rPr>
                        <a:t>Distribution / Front</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t"/>
                      <a:r>
                        <a:rPr lang="es-ES" sz="700" b="1" i="0" u="none" strike="noStrike">
                          <a:solidFill>
                            <a:srgbClr val="FFFFFF"/>
                          </a:solidFill>
                          <a:effectLst/>
                          <a:latin typeface="Santander Text" panose="020B0504020201020104" pitchFamily="34" charset="0"/>
                        </a:rPr>
                        <a:t>DCB</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solidFill>
                      <a:srgbClr val="2F75B5"/>
                    </a:solidFill>
                  </a:tcPr>
                </a:tc>
                <a:tc>
                  <a:txBody>
                    <a:bodyPr/>
                    <a:lstStyle/>
                    <a:p>
                      <a:pPr algn="l" fontAlgn="t"/>
                      <a:r>
                        <a:rPr lang="es-ES" sz="700" b="1" i="0" u="none" strike="noStrike">
                          <a:solidFill>
                            <a:srgbClr val="FFFFFF"/>
                          </a:solidFill>
                          <a:effectLst/>
                          <a:latin typeface="Santander Text" panose="020B0504020201020104" pitchFamily="34" charset="0"/>
                        </a:rPr>
                        <a:t>Auto</a:t>
                      </a:r>
                    </a:p>
                  </a:txBody>
                  <a:tcPr marL="78436" marR="2615" marT="2615" marB="0">
                    <a:lnL w="6350" cap="flat" cmpd="sng" algn="ctr">
                      <a:solidFill>
                        <a:srgbClr val="D0CECE"/>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solidFill>
                      <a:srgbClr val="2F75B5"/>
                    </a:solidFill>
                  </a:tcPr>
                </a:tc>
                <a:tc>
                  <a:txBody>
                    <a:bodyPr/>
                    <a:lstStyle/>
                    <a:p>
                      <a:pPr algn="l" fontAlgn="t"/>
                      <a:r>
                        <a:rPr lang="es-ES" sz="700" b="1" i="0" u="none" strike="noStrike">
                          <a:solidFill>
                            <a:srgbClr val="000000"/>
                          </a:solidFill>
                          <a:effectLst/>
                          <a:latin typeface="Santander Text" panose="020B0504020201020104" pitchFamily="34" charset="0"/>
                        </a:rPr>
                        <a:t>Touchpoints (Marketplaces, dealer..)</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EF1"/>
                    </a:solidFill>
                  </a:tcPr>
                </a:tc>
                <a:tc>
                  <a:txBody>
                    <a:bodyPr/>
                    <a:lstStyle/>
                    <a:p>
                      <a:pPr algn="l" fontAlgn="t"/>
                      <a:r>
                        <a:rPr lang="en-US" sz="700" b="1" i="0" u="none" strike="noStrike">
                          <a:solidFill>
                            <a:srgbClr val="000000"/>
                          </a:solidFill>
                          <a:effectLst/>
                          <a:latin typeface="Santander Text" panose="020B0504020201020104" pitchFamily="34" charset="0"/>
                        </a:rPr>
                        <a:t>Main distribution channels to serve card dealers, third parties  and final customers. It includes pre sales, sales and servicing capabilities, like the  financial offer</a:t>
                      </a:r>
                    </a:p>
                  </a:txBody>
                  <a:tcPr marL="2615" marR="2615" marT="2615" marB="0">
                    <a:lnL w="6350" cap="flat" cmpd="sng" algn="ctr">
                      <a:solidFill>
                        <a:srgbClr val="00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extLst>
                  <a:ext uri="{0D108BD9-81ED-4DB2-BD59-A6C34878D82A}">
                    <a16:rowId xmlns:a16="http://schemas.microsoft.com/office/drawing/2014/main" val="1226587222"/>
                  </a:ext>
                </a:extLst>
              </a:tr>
              <a:tr h="200743">
                <a:tc>
                  <a:txBody>
                    <a:bodyPr/>
                    <a:lstStyle/>
                    <a:p>
                      <a:pPr algn="l" fontAlgn="t"/>
                      <a:r>
                        <a:rPr lang="es-ES" sz="700" b="1" i="0" u="none" strike="noStrike">
                          <a:solidFill>
                            <a:srgbClr val="000000"/>
                          </a:solidFill>
                          <a:effectLst/>
                          <a:latin typeface="Santander Text" panose="020B0504020201020104" pitchFamily="34" charset="0"/>
                        </a:rPr>
                        <a:t>Distribution / Front</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t"/>
                      <a:r>
                        <a:rPr lang="es-ES" sz="700" b="1" i="0" u="none" strike="noStrike">
                          <a:solidFill>
                            <a:srgbClr val="FFFFFF"/>
                          </a:solidFill>
                          <a:effectLst/>
                          <a:latin typeface="Santander Text" panose="020B0504020201020104" pitchFamily="34" charset="0"/>
                        </a:rPr>
                        <a:t>DCB</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solidFill>
                      <a:srgbClr val="2F75B5"/>
                    </a:solidFill>
                  </a:tcPr>
                </a:tc>
                <a:tc>
                  <a:txBody>
                    <a:bodyPr/>
                    <a:lstStyle/>
                    <a:p>
                      <a:pPr algn="l" fontAlgn="t"/>
                      <a:r>
                        <a:rPr lang="es-ES" sz="700" b="1" i="0" u="none" strike="noStrike">
                          <a:solidFill>
                            <a:srgbClr val="FFFFFF"/>
                          </a:solidFill>
                          <a:effectLst/>
                          <a:latin typeface="Santander Text" panose="020B0504020201020104" pitchFamily="34" charset="0"/>
                        </a:rPr>
                        <a:t>Auto</a:t>
                      </a:r>
                    </a:p>
                  </a:txBody>
                  <a:tcPr marL="78436" marR="2615" marT="2615" marB="0">
                    <a:lnL w="6350" cap="flat" cmpd="sng" algn="ctr">
                      <a:solidFill>
                        <a:srgbClr val="D0CECE"/>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solidFill>
                      <a:srgbClr val="2F75B5"/>
                    </a:solidFill>
                  </a:tcPr>
                </a:tc>
                <a:tc>
                  <a:txBody>
                    <a:bodyPr/>
                    <a:lstStyle/>
                    <a:p>
                      <a:pPr algn="l" fontAlgn="t"/>
                      <a:r>
                        <a:rPr lang="en-US" sz="700" b="1" i="0" u="none" strike="noStrike">
                          <a:solidFill>
                            <a:srgbClr val="000000"/>
                          </a:solidFill>
                          <a:effectLst/>
                          <a:latin typeface="Santander Text" panose="020B0504020201020104" pitchFamily="34" charset="0"/>
                        </a:rPr>
                        <a:t>OEM Ecosystem (Quotation, Prequalified, Advisory, Loyalty, …)</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EF1"/>
                    </a:solidFill>
                  </a:tcPr>
                </a:tc>
                <a:tc>
                  <a:txBody>
                    <a:bodyPr/>
                    <a:lstStyle/>
                    <a:p>
                      <a:pPr algn="l" fontAlgn="t"/>
                      <a:r>
                        <a:rPr lang="en-US" sz="700" b="1" i="0" u="none" strike="noStrike">
                          <a:solidFill>
                            <a:srgbClr val="000000"/>
                          </a:solidFill>
                          <a:effectLst/>
                          <a:latin typeface="Santander Text" panose="020B0504020201020104" pitchFamily="34" charset="0"/>
                        </a:rPr>
                        <a:t>Set of technical assets and digital capabilities integrated with OEM channels and processes to facilitate agency model distribution model providing a seamless online sale</a:t>
                      </a:r>
                    </a:p>
                  </a:txBody>
                  <a:tcPr marL="2615" marR="2615" marT="2615" marB="0">
                    <a:lnL w="6350" cap="flat" cmpd="sng" algn="ctr">
                      <a:solidFill>
                        <a:srgbClr val="00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extLst>
                  <a:ext uri="{0D108BD9-81ED-4DB2-BD59-A6C34878D82A}">
                    <a16:rowId xmlns:a16="http://schemas.microsoft.com/office/drawing/2014/main" val="3236996420"/>
                  </a:ext>
                </a:extLst>
              </a:tr>
              <a:tr h="125274">
                <a:tc>
                  <a:txBody>
                    <a:bodyPr/>
                    <a:lstStyle/>
                    <a:p>
                      <a:pPr algn="l" fontAlgn="t"/>
                      <a:r>
                        <a:rPr lang="es-ES" sz="700" b="1" i="0" u="none" strike="noStrike">
                          <a:solidFill>
                            <a:srgbClr val="000000"/>
                          </a:solidFill>
                          <a:effectLst/>
                          <a:latin typeface="Santander Text" panose="020B0504020201020104" pitchFamily="34" charset="0"/>
                        </a:rPr>
                        <a:t>Distribution / Front</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t"/>
                      <a:r>
                        <a:rPr lang="es-ES" sz="700" b="1" i="0" u="none" strike="noStrike">
                          <a:solidFill>
                            <a:srgbClr val="FFFFFF"/>
                          </a:solidFill>
                          <a:effectLst/>
                          <a:latin typeface="Santander Text" panose="020B0504020201020104" pitchFamily="34" charset="0"/>
                        </a:rPr>
                        <a:t>DCB</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solidFill>
                      <a:srgbClr val="2F75B5"/>
                    </a:solidFill>
                  </a:tcPr>
                </a:tc>
                <a:tc>
                  <a:txBody>
                    <a:bodyPr/>
                    <a:lstStyle/>
                    <a:p>
                      <a:pPr algn="l" fontAlgn="t"/>
                      <a:r>
                        <a:rPr lang="es-ES" sz="700" b="1" i="0" u="none" strike="noStrike">
                          <a:solidFill>
                            <a:srgbClr val="FFFFFF"/>
                          </a:solidFill>
                          <a:effectLst/>
                          <a:latin typeface="Santander Text" panose="020B0504020201020104" pitchFamily="34" charset="0"/>
                        </a:rPr>
                        <a:t>Auto</a:t>
                      </a:r>
                    </a:p>
                  </a:txBody>
                  <a:tcPr marL="78436" marR="2615" marT="2615" marB="0">
                    <a:lnL w="6350" cap="flat" cmpd="sng" algn="ctr">
                      <a:solidFill>
                        <a:srgbClr val="D0CECE"/>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solidFill>
                      <a:srgbClr val="2F75B5"/>
                    </a:solidFill>
                  </a:tcPr>
                </a:tc>
                <a:tc>
                  <a:txBody>
                    <a:bodyPr/>
                    <a:lstStyle/>
                    <a:p>
                      <a:pPr algn="l" fontAlgn="t"/>
                      <a:r>
                        <a:rPr lang="en-US" sz="700" b="1" i="0" u="none" strike="noStrike">
                          <a:solidFill>
                            <a:srgbClr val="000000"/>
                          </a:solidFill>
                          <a:effectLst/>
                          <a:latin typeface="Santander Text" panose="020B0504020201020104" pitchFamily="34" charset="0"/>
                        </a:rPr>
                        <a:t>LOS (Lending/Leasing, origination systems)</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FF0000"/>
                      </a:solidFill>
                      <a:prstDash val="solid"/>
                      <a:round/>
                      <a:headEnd type="none" w="med" len="med"/>
                      <a:tailEnd type="none" w="med" len="med"/>
                    </a:lnB>
                    <a:solidFill>
                      <a:srgbClr val="EBEEF1"/>
                    </a:solidFill>
                  </a:tcPr>
                </a:tc>
                <a:tc>
                  <a:txBody>
                    <a:bodyPr/>
                    <a:lstStyle/>
                    <a:p>
                      <a:pPr algn="l" fontAlgn="t"/>
                      <a:r>
                        <a:rPr lang="en-US" sz="700" b="1" i="0" u="none" strike="noStrike">
                          <a:solidFill>
                            <a:srgbClr val="000000"/>
                          </a:solidFill>
                          <a:effectLst/>
                          <a:latin typeface="Santander Text" panose="020B0504020201020104" pitchFamily="34" charset="0"/>
                        </a:rPr>
                        <a:t>Front and middle capabilities to support auto lending business products lifecycle from sales to servcing: customer and dealer onboarding and business capabilities components such as pricing and commissions management</a:t>
                      </a:r>
                    </a:p>
                  </a:txBody>
                  <a:tcPr marL="2615" marR="2615" marT="2615" marB="0">
                    <a:lnL w="6350" cap="flat" cmpd="sng" algn="ctr">
                      <a:solidFill>
                        <a:srgbClr val="00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extLst>
                  <a:ext uri="{0D108BD9-81ED-4DB2-BD59-A6C34878D82A}">
                    <a16:rowId xmlns:a16="http://schemas.microsoft.com/office/drawing/2014/main" val="2963582403"/>
                  </a:ext>
                </a:extLst>
              </a:tr>
              <a:tr h="125274">
                <a:tc>
                  <a:txBody>
                    <a:bodyPr/>
                    <a:lstStyle/>
                    <a:p>
                      <a:pPr algn="l" fontAlgn="t"/>
                      <a:r>
                        <a:rPr lang="es-ES" sz="700" b="1" i="0" u="none" strike="noStrike">
                          <a:solidFill>
                            <a:srgbClr val="000000"/>
                          </a:solidFill>
                          <a:effectLst/>
                          <a:latin typeface="Santander Text" panose="020B0504020201020104" pitchFamily="34" charset="0"/>
                        </a:rPr>
                        <a:t>Business products</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s-ES" sz="700" b="1" i="0" u="none" strike="noStrike">
                          <a:solidFill>
                            <a:srgbClr val="FFFFFF"/>
                          </a:solidFill>
                          <a:effectLst/>
                          <a:latin typeface="Santander Text" panose="020B0504020201020104" pitchFamily="34" charset="0"/>
                        </a:rPr>
                        <a:t>DCB</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solidFill>
                      <a:srgbClr val="2F75B5"/>
                    </a:solidFill>
                  </a:tcPr>
                </a:tc>
                <a:tc>
                  <a:txBody>
                    <a:bodyPr/>
                    <a:lstStyle/>
                    <a:p>
                      <a:pPr algn="l" fontAlgn="t"/>
                      <a:r>
                        <a:rPr lang="es-ES" sz="700" b="1" i="0" u="none" strike="noStrike">
                          <a:solidFill>
                            <a:srgbClr val="FFFFFF"/>
                          </a:solidFill>
                          <a:effectLst/>
                          <a:latin typeface="Santander Text" panose="020B0504020201020104" pitchFamily="34" charset="0"/>
                        </a:rPr>
                        <a:t>Auto</a:t>
                      </a:r>
                    </a:p>
                  </a:txBody>
                  <a:tcPr marL="78436" marR="2615" marT="2615" marB="0">
                    <a:lnL w="6350" cap="flat" cmpd="sng" algn="ctr">
                      <a:solidFill>
                        <a:srgbClr val="D0CECE"/>
                      </a:solidFill>
                      <a:prstDash val="solid"/>
                      <a:round/>
                      <a:headEnd type="none" w="med" len="med"/>
                      <a:tailEnd type="none" w="med" len="med"/>
                    </a:lnL>
                    <a:lnR w="12700" cap="flat" cmpd="sng" algn="ctr">
                      <a:solidFill>
                        <a:srgbClr val="FF0000"/>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solidFill>
                      <a:srgbClr val="2F75B5"/>
                    </a:solidFill>
                  </a:tcPr>
                </a:tc>
                <a:tc>
                  <a:txBody>
                    <a:bodyPr/>
                    <a:lstStyle/>
                    <a:p>
                      <a:pPr algn="l" fontAlgn="t"/>
                      <a:r>
                        <a:rPr lang="es-ES" sz="700" b="1" i="0" u="none" strike="noStrike">
                          <a:solidFill>
                            <a:srgbClr val="FFFFFF"/>
                          </a:solidFill>
                          <a:effectLst/>
                          <a:latin typeface="Santander Text" panose="020B0504020201020104" pitchFamily="34" charset="0"/>
                        </a:rPr>
                        <a:t>SASOL_Leasing</a:t>
                      </a:r>
                    </a:p>
                  </a:txBody>
                  <a:tcPr marL="78436" marR="2615" marT="2615" marB="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l" fontAlgn="t"/>
                      <a:r>
                        <a:rPr lang="en-US" sz="700" b="1" i="0" u="none" strike="noStrike">
                          <a:solidFill>
                            <a:srgbClr val="000000"/>
                          </a:solidFill>
                          <a:effectLst/>
                          <a:latin typeface="Santander Text" panose="020B0504020201020104" pitchFamily="34" charset="0"/>
                        </a:rPr>
                        <a:t>Front, middle and back-end capabilities to support auto renting  lifecycle from sales to aftersales: online and PoS onboardings, fleet management, suppliers &amp; services</a:t>
                      </a:r>
                    </a:p>
                  </a:txBody>
                  <a:tcPr marL="2615" marR="2615" marT="2615" marB="0">
                    <a:lnL w="12700" cap="flat" cmpd="sng" algn="ctr">
                      <a:solidFill>
                        <a:srgbClr val="FF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extLst>
                  <a:ext uri="{0D108BD9-81ED-4DB2-BD59-A6C34878D82A}">
                    <a16:rowId xmlns:a16="http://schemas.microsoft.com/office/drawing/2014/main" val="112399652"/>
                  </a:ext>
                </a:extLst>
              </a:tr>
              <a:tr h="121889">
                <a:tc>
                  <a:txBody>
                    <a:bodyPr/>
                    <a:lstStyle/>
                    <a:p>
                      <a:pPr algn="l" fontAlgn="t"/>
                      <a:r>
                        <a:rPr lang="es-ES" sz="700" b="1" i="0" u="none" strike="noStrike">
                          <a:solidFill>
                            <a:srgbClr val="000000"/>
                          </a:solidFill>
                          <a:effectLst/>
                          <a:latin typeface="Santander Text" panose="020B0504020201020104" pitchFamily="34" charset="0"/>
                        </a:rPr>
                        <a:t>Distribution / Front</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t"/>
                      <a:r>
                        <a:rPr lang="es-ES" sz="700" b="1" i="0" u="none" strike="noStrike">
                          <a:solidFill>
                            <a:srgbClr val="FFFFFF"/>
                          </a:solidFill>
                          <a:effectLst/>
                          <a:latin typeface="Santander Text" panose="020B0504020201020104" pitchFamily="34" charset="0"/>
                        </a:rPr>
                        <a:t>DCB</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solidFill>
                      <a:srgbClr val="2F75B5"/>
                    </a:solidFill>
                  </a:tcPr>
                </a:tc>
                <a:tc>
                  <a:txBody>
                    <a:bodyPr/>
                    <a:lstStyle/>
                    <a:p>
                      <a:pPr algn="l" fontAlgn="t"/>
                      <a:r>
                        <a:rPr lang="es-ES" sz="700" b="1" i="0" u="none" strike="noStrike">
                          <a:solidFill>
                            <a:srgbClr val="FFFFFF"/>
                          </a:solidFill>
                          <a:effectLst/>
                          <a:latin typeface="Santander Text" panose="020B0504020201020104" pitchFamily="34" charset="0"/>
                        </a:rPr>
                        <a:t>No Auto</a:t>
                      </a:r>
                    </a:p>
                  </a:txBody>
                  <a:tcPr marL="78436" marR="2615" marT="2615" marB="0">
                    <a:lnL w="6350" cap="flat" cmpd="sng" algn="ctr">
                      <a:solidFill>
                        <a:srgbClr val="D0CECE"/>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solidFill>
                      <a:srgbClr val="2F75B5"/>
                    </a:solidFill>
                  </a:tcPr>
                </a:tc>
                <a:tc>
                  <a:txBody>
                    <a:bodyPr/>
                    <a:lstStyle/>
                    <a:p>
                      <a:pPr algn="l" fontAlgn="t"/>
                      <a:r>
                        <a:rPr lang="es-ES" sz="700" b="1" i="0" u="none" strike="noStrike">
                          <a:solidFill>
                            <a:srgbClr val="000000"/>
                          </a:solidFill>
                          <a:effectLst/>
                          <a:latin typeface="Santander Text" panose="020B0504020201020104" pitchFamily="34" charset="0"/>
                        </a:rPr>
                        <a:t>Merchant &amp; Customer Assisted Channels</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EF1"/>
                    </a:solidFill>
                  </a:tcPr>
                </a:tc>
                <a:tc>
                  <a:txBody>
                    <a:bodyPr/>
                    <a:lstStyle/>
                    <a:p>
                      <a:pPr algn="l" fontAlgn="t"/>
                      <a:r>
                        <a:rPr lang="en-US" sz="700" b="1" i="0" u="none" strike="noStrike">
                          <a:solidFill>
                            <a:srgbClr val="000000"/>
                          </a:solidFill>
                          <a:effectLst/>
                          <a:latin typeface="Santander Text" panose="020B0504020201020104" pitchFamily="34" charset="0"/>
                        </a:rPr>
                        <a:t>Assisted Channel Platform Component for merchants and customers for ZINIA(*) business line, including onboarding, transactional and enquiries capabilities of the merchant contract and customer receipts</a:t>
                      </a:r>
                    </a:p>
                  </a:txBody>
                  <a:tcPr marL="2615" marR="2615" marT="2615" marB="0">
                    <a:lnL w="6350" cap="flat" cmpd="sng" algn="ctr">
                      <a:solidFill>
                        <a:srgbClr val="00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extLst>
                  <a:ext uri="{0D108BD9-81ED-4DB2-BD59-A6C34878D82A}">
                    <a16:rowId xmlns:a16="http://schemas.microsoft.com/office/drawing/2014/main" val="1446814732"/>
                  </a:ext>
                </a:extLst>
              </a:tr>
              <a:tr h="121889">
                <a:tc>
                  <a:txBody>
                    <a:bodyPr/>
                    <a:lstStyle/>
                    <a:p>
                      <a:pPr algn="l" fontAlgn="t"/>
                      <a:r>
                        <a:rPr lang="es-ES" sz="700" b="1" i="0" u="none" strike="noStrike">
                          <a:solidFill>
                            <a:srgbClr val="000000"/>
                          </a:solidFill>
                          <a:effectLst/>
                          <a:latin typeface="Santander Text" panose="020B0504020201020104" pitchFamily="34" charset="0"/>
                        </a:rPr>
                        <a:t>Distribution / Front</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t"/>
                      <a:r>
                        <a:rPr lang="es-ES" sz="700" b="1" i="0" u="none" strike="noStrike">
                          <a:solidFill>
                            <a:srgbClr val="FFFFFF"/>
                          </a:solidFill>
                          <a:effectLst/>
                          <a:latin typeface="Santander Text" panose="020B0504020201020104" pitchFamily="34" charset="0"/>
                        </a:rPr>
                        <a:t>DCB</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solidFill>
                      <a:srgbClr val="2F75B5"/>
                    </a:solidFill>
                  </a:tcPr>
                </a:tc>
                <a:tc>
                  <a:txBody>
                    <a:bodyPr/>
                    <a:lstStyle/>
                    <a:p>
                      <a:pPr algn="l" fontAlgn="t"/>
                      <a:r>
                        <a:rPr lang="es-ES" sz="700" b="1" i="0" u="none" strike="noStrike">
                          <a:solidFill>
                            <a:srgbClr val="FFFFFF"/>
                          </a:solidFill>
                          <a:effectLst/>
                          <a:latin typeface="Santander Text" panose="020B0504020201020104" pitchFamily="34" charset="0"/>
                        </a:rPr>
                        <a:t>No Auto</a:t>
                      </a:r>
                    </a:p>
                  </a:txBody>
                  <a:tcPr marL="78436" marR="2615" marT="2615" marB="0">
                    <a:lnL w="6350" cap="flat" cmpd="sng" algn="ctr">
                      <a:solidFill>
                        <a:srgbClr val="D0CECE"/>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solidFill>
                      <a:srgbClr val="2F75B5"/>
                    </a:solidFill>
                  </a:tcPr>
                </a:tc>
                <a:tc>
                  <a:txBody>
                    <a:bodyPr/>
                    <a:lstStyle/>
                    <a:p>
                      <a:pPr algn="l" fontAlgn="t"/>
                      <a:r>
                        <a:rPr lang="es-ES" sz="700" b="1" i="0" u="none" strike="noStrike">
                          <a:solidFill>
                            <a:srgbClr val="000000"/>
                          </a:solidFill>
                          <a:effectLst/>
                          <a:latin typeface="Santander Text" panose="020B0504020201020104" pitchFamily="34" charset="0"/>
                        </a:rPr>
                        <a:t>Digital Merchant Channels</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EF1"/>
                    </a:solidFill>
                  </a:tcPr>
                </a:tc>
                <a:tc>
                  <a:txBody>
                    <a:bodyPr/>
                    <a:lstStyle/>
                    <a:p>
                      <a:pPr algn="l" fontAlgn="t"/>
                      <a:r>
                        <a:rPr lang="en-US" sz="700" b="1" i="0" u="none" strike="noStrike">
                          <a:solidFill>
                            <a:srgbClr val="000000"/>
                          </a:solidFill>
                          <a:effectLst/>
                          <a:latin typeface="Santander Text" panose="020B0504020201020104" pitchFamily="34" charset="0"/>
                        </a:rPr>
                        <a:t>Web Channel Platform Component for merchants regarding ZINIA business line  supporting  cancel loans, repayment, orders, invoice, factoring etc .</a:t>
                      </a:r>
                    </a:p>
                  </a:txBody>
                  <a:tcPr marL="2615" marR="2615" marT="2615" marB="0">
                    <a:lnL w="6350" cap="flat" cmpd="sng" algn="ctr">
                      <a:solidFill>
                        <a:srgbClr val="00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extLst>
                  <a:ext uri="{0D108BD9-81ED-4DB2-BD59-A6C34878D82A}">
                    <a16:rowId xmlns:a16="http://schemas.microsoft.com/office/drawing/2014/main" val="136476253"/>
                  </a:ext>
                </a:extLst>
              </a:tr>
              <a:tr h="243776">
                <a:tc>
                  <a:txBody>
                    <a:bodyPr/>
                    <a:lstStyle/>
                    <a:p>
                      <a:pPr algn="l" fontAlgn="t"/>
                      <a:r>
                        <a:rPr lang="es-ES" sz="700" b="1" i="0" u="none" strike="noStrike">
                          <a:solidFill>
                            <a:srgbClr val="000000"/>
                          </a:solidFill>
                          <a:effectLst/>
                          <a:latin typeface="Santander Text" panose="020B0504020201020104" pitchFamily="34" charset="0"/>
                        </a:rPr>
                        <a:t>Distribution / Front</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t"/>
                      <a:r>
                        <a:rPr lang="es-ES" sz="700" b="1" i="0" u="none" strike="noStrike">
                          <a:solidFill>
                            <a:srgbClr val="FFFFFF"/>
                          </a:solidFill>
                          <a:effectLst/>
                          <a:latin typeface="Santander Text" panose="020B0504020201020104" pitchFamily="34" charset="0"/>
                        </a:rPr>
                        <a:t>DCB</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solidFill>
                      <a:srgbClr val="2F75B5"/>
                    </a:solidFill>
                  </a:tcPr>
                </a:tc>
                <a:tc>
                  <a:txBody>
                    <a:bodyPr/>
                    <a:lstStyle/>
                    <a:p>
                      <a:pPr algn="l" fontAlgn="t"/>
                      <a:r>
                        <a:rPr lang="es-ES" sz="700" b="1" i="0" u="none" strike="noStrike">
                          <a:solidFill>
                            <a:srgbClr val="FFFFFF"/>
                          </a:solidFill>
                          <a:effectLst/>
                          <a:latin typeface="Santander Text" panose="020B0504020201020104" pitchFamily="34" charset="0"/>
                        </a:rPr>
                        <a:t>No Auto</a:t>
                      </a:r>
                    </a:p>
                  </a:txBody>
                  <a:tcPr marL="78436" marR="2615" marT="2615" marB="0">
                    <a:lnL w="6350" cap="flat" cmpd="sng" algn="ctr">
                      <a:solidFill>
                        <a:srgbClr val="D0CECE"/>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solidFill>
                      <a:srgbClr val="2F75B5"/>
                    </a:solidFill>
                  </a:tcPr>
                </a:tc>
                <a:tc>
                  <a:txBody>
                    <a:bodyPr/>
                    <a:lstStyle/>
                    <a:p>
                      <a:pPr algn="l" fontAlgn="t"/>
                      <a:r>
                        <a:rPr lang="es-ES" sz="700" b="1" i="0" u="none" strike="noStrike">
                          <a:solidFill>
                            <a:srgbClr val="000000"/>
                          </a:solidFill>
                          <a:effectLst/>
                          <a:latin typeface="Santander Text" panose="020B0504020201020104" pitchFamily="34" charset="0"/>
                        </a:rPr>
                        <a:t>Digital Customer Channels</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EF1"/>
                    </a:solidFill>
                  </a:tcPr>
                </a:tc>
                <a:tc>
                  <a:txBody>
                    <a:bodyPr/>
                    <a:lstStyle/>
                    <a:p>
                      <a:pPr algn="l" fontAlgn="t"/>
                      <a:r>
                        <a:rPr lang="en-US" sz="700" b="1" i="0" u="none" strike="noStrike">
                          <a:solidFill>
                            <a:srgbClr val="000000"/>
                          </a:solidFill>
                          <a:effectLst/>
                          <a:latin typeface="Santander Text" panose="020B0504020201020104" pitchFamily="34" charset="0"/>
                        </a:rPr>
                        <a:t>APP for customer of ZINIA with financing features and capabilities to manage its ZINIA operations, like financing to pay his/her purchases, select the payment method (transfer or card), notifications to customer when he/she  will pay each purchase, etc.</a:t>
                      </a:r>
                    </a:p>
                  </a:txBody>
                  <a:tcPr marL="2615" marR="2615" marT="2615" marB="0">
                    <a:lnL w="6350" cap="flat" cmpd="sng" algn="ctr">
                      <a:solidFill>
                        <a:srgbClr val="00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extLst>
                  <a:ext uri="{0D108BD9-81ED-4DB2-BD59-A6C34878D82A}">
                    <a16:rowId xmlns:a16="http://schemas.microsoft.com/office/drawing/2014/main" val="1129073112"/>
                  </a:ext>
                </a:extLst>
              </a:tr>
              <a:tr h="125274">
                <a:tc>
                  <a:txBody>
                    <a:bodyPr/>
                    <a:lstStyle/>
                    <a:p>
                      <a:pPr algn="l" fontAlgn="t"/>
                      <a:r>
                        <a:rPr lang="es-ES" sz="700" b="1" i="0" u="none" strike="noStrike">
                          <a:solidFill>
                            <a:srgbClr val="000000"/>
                          </a:solidFill>
                          <a:effectLst/>
                          <a:latin typeface="Santander Text" panose="020B0504020201020104" pitchFamily="34" charset="0"/>
                        </a:rPr>
                        <a:t>Distribution / Front</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t"/>
                      <a:r>
                        <a:rPr lang="es-ES" sz="700" b="1" i="0" u="none" strike="noStrike">
                          <a:solidFill>
                            <a:srgbClr val="FFFFFF"/>
                          </a:solidFill>
                          <a:effectLst/>
                          <a:latin typeface="Santander Text" panose="020B0504020201020104" pitchFamily="34" charset="0"/>
                        </a:rPr>
                        <a:t>Payments</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solidFill>
                      <a:srgbClr val="2F75B5"/>
                    </a:solidFill>
                  </a:tcPr>
                </a:tc>
                <a:tc>
                  <a:txBody>
                    <a:bodyPr/>
                    <a:lstStyle/>
                    <a:p>
                      <a:pPr algn="l" fontAlgn="t"/>
                      <a:r>
                        <a:rPr lang="es-ES" sz="700" b="1" i="0" u="none" strike="noStrike">
                          <a:solidFill>
                            <a:srgbClr val="FFFFFF"/>
                          </a:solidFill>
                          <a:effectLst/>
                          <a:latin typeface="Santander Text" panose="020B0504020201020104" pitchFamily="34" charset="0"/>
                        </a:rPr>
                        <a:t>Global Cards</a:t>
                      </a:r>
                    </a:p>
                  </a:txBody>
                  <a:tcPr marL="78436" marR="2615" marT="2615" marB="0">
                    <a:lnL w="6350" cap="flat" cmpd="sng" algn="ctr">
                      <a:solidFill>
                        <a:srgbClr val="D0CECE"/>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solidFill>
                      <a:srgbClr val="2F75B5"/>
                    </a:solidFill>
                  </a:tcPr>
                </a:tc>
                <a:tc>
                  <a:txBody>
                    <a:bodyPr/>
                    <a:lstStyle/>
                    <a:p>
                      <a:pPr algn="l" fontAlgn="t"/>
                      <a:r>
                        <a:rPr lang="fr-FR" sz="700" b="1" i="0" u="none" strike="noStrike">
                          <a:solidFill>
                            <a:srgbClr val="000000"/>
                          </a:solidFill>
                          <a:effectLst/>
                          <a:latin typeface="Santander Text" panose="020B0504020201020104" pitchFamily="34" charset="0"/>
                        </a:rPr>
                        <a:t>Plard (Front) Disputes &amp; Commercial Cards</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FF0000"/>
                      </a:solidFill>
                      <a:prstDash val="solid"/>
                      <a:round/>
                      <a:headEnd type="none" w="med" len="med"/>
                      <a:tailEnd type="none" w="med" len="med"/>
                    </a:lnB>
                    <a:solidFill>
                      <a:srgbClr val="EBEEF1"/>
                    </a:solidFill>
                  </a:tcPr>
                </a:tc>
                <a:tc>
                  <a:txBody>
                    <a:bodyPr/>
                    <a:lstStyle/>
                    <a:p>
                      <a:pPr algn="l" fontAlgn="t"/>
                      <a:r>
                        <a:rPr lang="en-US" sz="700" b="1" i="0" u="none" strike="noStrike">
                          <a:solidFill>
                            <a:srgbClr val="000000"/>
                          </a:solidFill>
                          <a:effectLst/>
                          <a:latin typeface="Santander Text" panose="020B0504020201020104" pitchFamily="34" charset="0"/>
                        </a:rPr>
                        <a:t>Commercial Cards: Specialized front end for  company users to manage Corporate Cards issue to their employees</a:t>
                      </a:r>
                    </a:p>
                  </a:txBody>
                  <a:tcPr marL="2615" marR="2615" marT="2615" marB="0">
                    <a:lnL w="6350" cap="flat" cmpd="sng" algn="ctr">
                      <a:solidFill>
                        <a:srgbClr val="00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extLst>
                  <a:ext uri="{0D108BD9-81ED-4DB2-BD59-A6C34878D82A}">
                    <a16:rowId xmlns:a16="http://schemas.microsoft.com/office/drawing/2014/main" val="958216200"/>
                  </a:ext>
                </a:extLst>
              </a:tr>
              <a:tr h="247163">
                <a:tc>
                  <a:txBody>
                    <a:bodyPr/>
                    <a:lstStyle/>
                    <a:p>
                      <a:pPr algn="l" fontAlgn="t"/>
                      <a:r>
                        <a:rPr lang="es-ES" sz="700" b="1" i="0" u="none" strike="noStrike">
                          <a:solidFill>
                            <a:srgbClr val="000000"/>
                          </a:solidFill>
                          <a:effectLst/>
                          <a:latin typeface="Santander Text" panose="020B0504020201020104" pitchFamily="34" charset="0"/>
                        </a:rPr>
                        <a:t>Business products</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s-ES" sz="700" b="1" i="0" u="none" strike="noStrike">
                          <a:solidFill>
                            <a:srgbClr val="FFFFFF"/>
                          </a:solidFill>
                          <a:effectLst/>
                          <a:latin typeface="Santander Text" panose="020B0504020201020104" pitchFamily="34" charset="0"/>
                        </a:rPr>
                        <a:t>Payments</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solidFill>
                      <a:srgbClr val="2F75B5"/>
                    </a:solidFill>
                  </a:tcPr>
                </a:tc>
                <a:tc>
                  <a:txBody>
                    <a:bodyPr/>
                    <a:lstStyle/>
                    <a:p>
                      <a:pPr algn="l" fontAlgn="t"/>
                      <a:r>
                        <a:rPr lang="es-ES" sz="700" b="1" i="0" u="none" strike="noStrike">
                          <a:solidFill>
                            <a:srgbClr val="FFFFFF"/>
                          </a:solidFill>
                          <a:effectLst/>
                          <a:latin typeface="Santander Text" panose="020B0504020201020104" pitchFamily="34" charset="0"/>
                        </a:rPr>
                        <a:t>Global Cards</a:t>
                      </a:r>
                    </a:p>
                  </a:txBody>
                  <a:tcPr marL="78436" marR="2615" marT="2615" marB="0">
                    <a:lnL w="6350" cap="flat" cmpd="sng" algn="ctr">
                      <a:solidFill>
                        <a:srgbClr val="D0CECE"/>
                      </a:solidFill>
                      <a:prstDash val="solid"/>
                      <a:round/>
                      <a:headEnd type="none" w="med" len="med"/>
                      <a:tailEnd type="none" w="med" len="med"/>
                    </a:lnL>
                    <a:lnR w="12700" cap="flat" cmpd="sng" algn="ctr">
                      <a:solidFill>
                        <a:srgbClr val="FF0000"/>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solidFill>
                      <a:srgbClr val="2F75B5"/>
                    </a:solidFill>
                  </a:tcPr>
                </a:tc>
                <a:tc>
                  <a:txBody>
                    <a:bodyPr/>
                    <a:lstStyle/>
                    <a:p>
                      <a:pPr algn="l" fontAlgn="t"/>
                      <a:r>
                        <a:rPr lang="es-ES" sz="700" b="1" i="0" u="none" strike="noStrike">
                          <a:solidFill>
                            <a:srgbClr val="FFFFFF"/>
                          </a:solidFill>
                          <a:effectLst/>
                          <a:latin typeface="Santander Text" panose="020B0504020201020104" pitchFamily="34" charset="0"/>
                        </a:rPr>
                        <a:t>Plard</a:t>
                      </a:r>
                    </a:p>
                  </a:txBody>
                  <a:tcPr marL="78436" marR="2615" marT="2615" marB="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l" fontAlgn="t"/>
                      <a:r>
                        <a:rPr lang="en-US" sz="700" b="1" i="0" u="none" strike="noStrike">
                          <a:solidFill>
                            <a:srgbClr val="000000"/>
                          </a:solidFill>
                          <a:effectLst/>
                          <a:latin typeface="Santander Text" panose="020B0504020201020104" pitchFamily="34" charset="0"/>
                        </a:rPr>
                        <a:t>Back-end Card Platform Component processor supporting the core business for Debit and Credit Cards fully integrated with the rest of the bank platform components. In addition, it is including the Card Authorization system, Card schemes settlements and other Add Experience services (ie. Token Manager, Carbon footprint, etc)</a:t>
                      </a:r>
                    </a:p>
                  </a:txBody>
                  <a:tcPr marL="2615" marR="2615" marT="2615" marB="0">
                    <a:lnL w="12700" cap="flat" cmpd="sng" algn="ctr">
                      <a:solidFill>
                        <a:srgbClr val="FF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extLst>
                  <a:ext uri="{0D108BD9-81ED-4DB2-BD59-A6C34878D82A}">
                    <a16:rowId xmlns:a16="http://schemas.microsoft.com/office/drawing/2014/main" val="3952671093"/>
                  </a:ext>
                </a:extLst>
              </a:tr>
              <a:tr h="121889">
                <a:tc>
                  <a:txBody>
                    <a:bodyPr/>
                    <a:lstStyle/>
                    <a:p>
                      <a:pPr algn="l" fontAlgn="t"/>
                      <a:r>
                        <a:rPr lang="es-ES" sz="700" b="1" i="0" u="none" strike="noStrike">
                          <a:solidFill>
                            <a:srgbClr val="000000"/>
                          </a:solidFill>
                          <a:effectLst/>
                          <a:latin typeface="Santander Text" panose="020B0504020201020104" pitchFamily="34" charset="0"/>
                        </a:rPr>
                        <a:t>Distribution / Front</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t"/>
                      <a:r>
                        <a:rPr lang="es-ES" sz="700" b="1" i="0" u="none" strike="noStrike">
                          <a:solidFill>
                            <a:srgbClr val="FFFFFF"/>
                          </a:solidFill>
                          <a:effectLst/>
                          <a:latin typeface="Santander Text" panose="020B0504020201020104" pitchFamily="34" charset="0"/>
                        </a:rPr>
                        <a:t>Payments</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solidFill>
                      <a:srgbClr val="2F75B5"/>
                    </a:solidFill>
                  </a:tcPr>
                </a:tc>
                <a:tc>
                  <a:txBody>
                    <a:bodyPr/>
                    <a:lstStyle/>
                    <a:p>
                      <a:pPr algn="l" fontAlgn="t"/>
                      <a:r>
                        <a:rPr lang="es-ES" sz="700" b="1" i="0" u="none" strike="noStrike">
                          <a:solidFill>
                            <a:srgbClr val="FFFFFF"/>
                          </a:solidFill>
                          <a:effectLst/>
                          <a:latin typeface="Santander Text" panose="020B0504020201020104" pitchFamily="34" charset="0"/>
                        </a:rPr>
                        <a:t>PagoNxt</a:t>
                      </a:r>
                    </a:p>
                  </a:txBody>
                  <a:tcPr marL="78436" marR="2615" marT="2615" marB="0">
                    <a:lnL w="6350" cap="flat" cmpd="sng" algn="ctr">
                      <a:solidFill>
                        <a:srgbClr val="D0CECE"/>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solidFill>
                      <a:srgbClr val="2F75B5"/>
                    </a:solidFill>
                  </a:tcPr>
                </a:tc>
                <a:tc>
                  <a:txBody>
                    <a:bodyPr/>
                    <a:lstStyle/>
                    <a:p>
                      <a:pPr algn="l" fontAlgn="t"/>
                      <a:r>
                        <a:rPr lang="es-ES" sz="700" b="1" i="0" u="none" strike="noStrike">
                          <a:solidFill>
                            <a:srgbClr val="000000"/>
                          </a:solidFill>
                          <a:effectLst/>
                          <a:latin typeface="Santander Text" panose="020B0504020201020104" pitchFamily="34" charset="0"/>
                        </a:rPr>
                        <a:t>Payment (Front)</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EF1"/>
                    </a:solidFill>
                  </a:tcPr>
                </a:tc>
                <a:tc>
                  <a:txBody>
                    <a:bodyPr/>
                    <a:lstStyle/>
                    <a:p>
                      <a:pPr algn="l" fontAlgn="t"/>
                      <a:r>
                        <a:rPr lang="en-US" sz="700" b="1" i="0" u="none" strike="noStrike">
                          <a:solidFill>
                            <a:srgbClr val="000000"/>
                          </a:solidFill>
                          <a:effectLst/>
                          <a:latin typeface="Santander Text" panose="020B0504020201020104" pitchFamily="34" charset="0"/>
                        </a:rPr>
                        <a:t>Specialized Front End solution for real-time local and cross-border payments for Open market. </a:t>
                      </a:r>
                    </a:p>
                  </a:txBody>
                  <a:tcPr marL="2615" marR="2615" marT="2615" marB="0">
                    <a:lnL w="6350" cap="flat" cmpd="sng" algn="ctr">
                      <a:solidFill>
                        <a:srgbClr val="00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extLst>
                  <a:ext uri="{0D108BD9-81ED-4DB2-BD59-A6C34878D82A}">
                    <a16:rowId xmlns:a16="http://schemas.microsoft.com/office/drawing/2014/main" val="1318053331"/>
                  </a:ext>
                </a:extLst>
              </a:tr>
              <a:tr h="125274">
                <a:tc>
                  <a:txBody>
                    <a:bodyPr/>
                    <a:lstStyle/>
                    <a:p>
                      <a:pPr algn="l" fontAlgn="t"/>
                      <a:r>
                        <a:rPr lang="es-ES" sz="700" b="1" i="0" u="none" strike="noStrike">
                          <a:solidFill>
                            <a:srgbClr val="000000"/>
                          </a:solidFill>
                          <a:effectLst/>
                          <a:latin typeface="Santander Text" panose="020B0504020201020104" pitchFamily="34" charset="0"/>
                        </a:rPr>
                        <a:t>Distribution / Front</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t"/>
                      <a:r>
                        <a:rPr lang="es-ES" sz="700" b="1" i="0" u="none" strike="noStrike">
                          <a:solidFill>
                            <a:srgbClr val="FFFFFF"/>
                          </a:solidFill>
                          <a:effectLst/>
                          <a:latin typeface="Santander Text" panose="020B0504020201020104" pitchFamily="34" charset="0"/>
                        </a:rPr>
                        <a:t>Payments</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solidFill>
                      <a:srgbClr val="2F75B5"/>
                    </a:solidFill>
                  </a:tcPr>
                </a:tc>
                <a:tc>
                  <a:txBody>
                    <a:bodyPr/>
                    <a:lstStyle/>
                    <a:p>
                      <a:pPr algn="l" fontAlgn="t"/>
                      <a:r>
                        <a:rPr lang="es-ES" sz="700" b="1" i="0" u="none" strike="noStrike">
                          <a:solidFill>
                            <a:srgbClr val="FFFFFF"/>
                          </a:solidFill>
                          <a:effectLst/>
                          <a:latin typeface="Santander Text" panose="020B0504020201020104" pitchFamily="34" charset="0"/>
                        </a:rPr>
                        <a:t>PagoNxt</a:t>
                      </a:r>
                    </a:p>
                  </a:txBody>
                  <a:tcPr marL="78436" marR="2615" marT="2615" marB="0">
                    <a:lnL w="6350" cap="flat" cmpd="sng" algn="ctr">
                      <a:solidFill>
                        <a:srgbClr val="D0CECE"/>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solidFill>
                      <a:srgbClr val="2F75B5"/>
                    </a:solidFill>
                  </a:tcPr>
                </a:tc>
                <a:tc>
                  <a:txBody>
                    <a:bodyPr/>
                    <a:lstStyle/>
                    <a:p>
                      <a:pPr algn="l" fontAlgn="t"/>
                      <a:r>
                        <a:rPr lang="es-ES" sz="700" b="1" i="0" u="none" strike="noStrike">
                          <a:solidFill>
                            <a:srgbClr val="000000"/>
                          </a:solidFill>
                          <a:effectLst/>
                          <a:latin typeface="Santander Text" panose="020B0504020201020104" pitchFamily="34" charset="0"/>
                        </a:rPr>
                        <a:t>Merchants (Front)</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EF1"/>
                    </a:solidFill>
                  </a:tcPr>
                </a:tc>
                <a:tc>
                  <a:txBody>
                    <a:bodyPr/>
                    <a:lstStyle/>
                    <a:p>
                      <a:pPr algn="l" fontAlgn="t"/>
                      <a:r>
                        <a:rPr lang="en-US" sz="700" b="1" i="0" u="none" strike="noStrike">
                          <a:solidFill>
                            <a:srgbClr val="000000"/>
                          </a:solidFill>
                          <a:effectLst/>
                          <a:latin typeface="Santander Text" panose="020B0504020201020104" pitchFamily="34" charset="0"/>
                        </a:rPr>
                        <a:t>Specialized front end supporting all the capabilities required for Merchants as acquiring service customer, including onboarding, transactional and enquiries capabilities</a:t>
                      </a:r>
                    </a:p>
                  </a:txBody>
                  <a:tcPr marL="2615" marR="2615" marT="2615" marB="0">
                    <a:lnL w="6350" cap="flat" cmpd="sng" algn="ctr">
                      <a:solidFill>
                        <a:srgbClr val="00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extLst>
                  <a:ext uri="{0D108BD9-81ED-4DB2-BD59-A6C34878D82A}">
                    <a16:rowId xmlns:a16="http://schemas.microsoft.com/office/drawing/2014/main" val="3620064774"/>
                  </a:ext>
                </a:extLst>
              </a:tr>
            </a:tbl>
          </a:graphicData>
        </a:graphic>
      </p:graphicFrame>
    </p:spTree>
    <p:extLst>
      <p:ext uri="{BB962C8B-B14F-4D97-AF65-F5344CB8AC3E}">
        <p14:creationId xmlns:p14="http://schemas.microsoft.com/office/powerpoint/2010/main" val="3339110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6ABE1-D05B-2388-5B38-C53A08815306}"/>
            </a:ext>
          </a:extLst>
        </p:cNvPr>
        <p:cNvGrpSpPr/>
        <p:nvPr/>
      </p:nvGrpSpPr>
      <p:grpSpPr>
        <a:xfrm>
          <a:off x="0" y="0"/>
          <a:ext cx="0" cy="0"/>
          <a:chOff x="0" y="0"/>
          <a:chExt cx="0" cy="0"/>
        </a:xfrm>
      </p:grpSpPr>
      <p:sp>
        <p:nvSpPr>
          <p:cNvPr id="80" name="Marcador de texto 79">
            <a:extLst>
              <a:ext uri="{FF2B5EF4-FFF2-40B4-BE49-F238E27FC236}">
                <a16:creationId xmlns:a16="http://schemas.microsoft.com/office/drawing/2014/main" id="{A56A1AB3-4F00-427E-F4CD-3C989A075AA6}"/>
              </a:ext>
            </a:extLst>
          </p:cNvPr>
          <p:cNvSpPr>
            <a:spLocks noGrp="1"/>
          </p:cNvSpPr>
          <p:nvPr>
            <p:ph type="body" sz="quarter" idx="14"/>
          </p:nvPr>
        </p:nvSpPr>
        <p:spPr/>
        <p:txBody>
          <a:bodyPr/>
          <a:lstStyle/>
          <a:p>
            <a:r>
              <a:rPr lang="en-GB" b="0">
                <a:solidFill>
                  <a:schemeClr val="bg1">
                    <a:lumMod val="75000"/>
                  </a:schemeClr>
                </a:solidFill>
                <a:latin typeface="Santander Text" panose="020B0504020201020104" pitchFamily="34" charset="0"/>
              </a:rPr>
              <a:t>Platform Governance &amp; SD</a:t>
            </a:r>
          </a:p>
        </p:txBody>
      </p:sp>
      <p:sp>
        <p:nvSpPr>
          <p:cNvPr id="12" name="Título 11">
            <a:extLst>
              <a:ext uri="{FF2B5EF4-FFF2-40B4-BE49-F238E27FC236}">
                <a16:creationId xmlns:a16="http://schemas.microsoft.com/office/drawing/2014/main" id="{0C4A2509-9CB0-04F3-77EF-5F586CC17AC8}"/>
              </a:ext>
            </a:extLst>
          </p:cNvPr>
          <p:cNvSpPr>
            <a:spLocks noGrp="1"/>
          </p:cNvSpPr>
          <p:nvPr>
            <p:ph type="title"/>
          </p:nvPr>
        </p:nvSpPr>
        <p:spPr/>
        <p:txBody>
          <a:bodyPr/>
          <a:lstStyle/>
          <a:p>
            <a:r>
              <a:rPr lang="en-AU"/>
              <a:t>One Santander Platform| </a:t>
            </a:r>
            <a:r>
              <a:rPr lang="en-AU">
                <a:solidFill>
                  <a:schemeClr val="bg1">
                    <a:lumMod val="75000"/>
                  </a:schemeClr>
                </a:solidFill>
              </a:rPr>
              <a:t>Platform components definitions (2 of 2)</a:t>
            </a:r>
          </a:p>
        </p:txBody>
      </p:sp>
      <p:graphicFrame>
        <p:nvGraphicFramePr>
          <p:cNvPr id="2" name="Tabla 1">
            <a:extLst>
              <a:ext uri="{FF2B5EF4-FFF2-40B4-BE49-F238E27FC236}">
                <a16:creationId xmlns:a16="http://schemas.microsoft.com/office/drawing/2014/main" id="{16CA3DA9-6E38-E5BC-381B-FB4D482442D5}"/>
              </a:ext>
            </a:extLst>
          </p:cNvPr>
          <p:cNvGraphicFramePr>
            <a:graphicFrameLocks noGrp="1"/>
          </p:cNvGraphicFramePr>
          <p:nvPr/>
        </p:nvGraphicFramePr>
        <p:xfrm>
          <a:off x="711024" y="1231174"/>
          <a:ext cx="11106751" cy="4984926"/>
        </p:xfrm>
        <a:graphic>
          <a:graphicData uri="http://schemas.openxmlformats.org/drawingml/2006/table">
            <a:tbl>
              <a:tblPr/>
              <a:tblGrid>
                <a:gridCol w="1181922">
                  <a:extLst>
                    <a:ext uri="{9D8B030D-6E8A-4147-A177-3AD203B41FA5}">
                      <a16:colId xmlns:a16="http://schemas.microsoft.com/office/drawing/2014/main" val="1021969116"/>
                    </a:ext>
                  </a:extLst>
                </a:gridCol>
                <a:gridCol w="850542">
                  <a:extLst>
                    <a:ext uri="{9D8B030D-6E8A-4147-A177-3AD203B41FA5}">
                      <a16:colId xmlns:a16="http://schemas.microsoft.com/office/drawing/2014/main" val="928633527"/>
                    </a:ext>
                  </a:extLst>
                </a:gridCol>
                <a:gridCol w="486024">
                  <a:extLst>
                    <a:ext uri="{9D8B030D-6E8A-4147-A177-3AD203B41FA5}">
                      <a16:colId xmlns:a16="http://schemas.microsoft.com/office/drawing/2014/main" val="3801122790"/>
                    </a:ext>
                  </a:extLst>
                </a:gridCol>
                <a:gridCol w="1850204">
                  <a:extLst>
                    <a:ext uri="{9D8B030D-6E8A-4147-A177-3AD203B41FA5}">
                      <a16:colId xmlns:a16="http://schemas.microsoft.com/office/drawing/2014/main" val="1095640024"/>
                    </a:ext>
                  </a:extLst>
                </a:gridCol>
                <a:gridCol w="6738059">
                  <a:extLst>
                    <a:ext uri="{9D8B030D-6E8A-4147-A177-3AD203B41FA5}">
                      <a16:colId xmlns:a16="http://schemas.microsoft.com/office/drawing/2014/main" val="1681149181"/>
                    </a:ext>
                  </a:extLst>
                </a:gridCol>
              </a:tblGrid>
              <a:tr h="135851">
                <a:tc>
                  <a:txBody>
                    <a:bodyPr/>
                    <a:lstStyle/>
                    <a:p>
                      <a:pPr algn="l" fontAlgn="t"/>
                      <a:endParaRPr lang="es-ES" sz="700" b="1" i="0" u="none" strike="noStrike">
                        <a:solidFill>
                          <a:srgbClr val="000000"/>
                        </a:solidFill>
                        <a:effectLst/>
                        <a:latin typeface="Santander Text" panose="020B0504020201020104" pitchFamily="34" charset="0"/>
                      </a:endParaRPr>
                    </a:p>
                  </a:txBody>
                  <a:tcPr marL="78436" marR="2615" marT="261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algn="ctr" fontAlgn="t"/>
                      <a:r>
                        <a:rPr lang="es-ES" sz="700" b="1" i="0" u="none" strike="noStrike">
                          <a:solidFill>
                            <a:srgbClr val="FFFFFF"/>
                          </a:solidFill>
                          <a:effectLst/>
                          <a:latin typeface="Santander Text" panose="020B0504020201020104" pitchFamily="34" charset="0"/>
                        </a:rPr>
                        <a:t>Business Segment Owner</a:t>
                      </a:r>
                    </a:p>
                  </a:txBody>
                  <a:tcPr marL="2615" marR="2615" marT="2615" marB="0">
                    <a:lnL w="12700" cap="flat" cmpd="sng" algn="ctr">
                      <a:solidFill>
                        <a:schemeClr val="tx1"/>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a:noFill/>
                    </a:lnB>
                    <a:solidFill>
                      <a:srgbClr val="002060"/>
                    </a:solidFill>
                  </a:tcPr>
                </a:tc>
                <a:tc hMerge="1">
                  <a:txBody>
                    <a:bodyPr/>
                    <a:lstStyle/>
                    <a:p>
                      <a:endParaRPr lang="es-ES"/>
                    </a:p>
                  </a:txBody>
                  <a:tcPr/>
                </a:tc>
                <a:tc>
                  <a:txBody>
                    <a:bodyPr/>
                    <a:lstStyle/>
                    <a:p>
                      <a:pPr algn="ctr" fontAlgn="t"/>
                      <a:r>
                        <a:rPr lang="es-ES" sz="700" b="1" i="0" u="none" strike="noStrike">
                          <a:solidFill>
                            <a:srgbClr val="FFFFFF"/>
                          </a:solidFill>
                          <a:effectLst/>
                          <a:latin typeface="Santander Text" panose="020B0504020201020104" pitchFamily="34" charset="0"/>
                        </a:rPr>
                        <a:t>Platform Component</a:t>
                      </a:r>
                    </a:p>
                  </a:txBody>
                  <a:tcPr marL="2615" marR="2615" marT="2615" marB="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0000"/>
                      </a:solidFill>
                      <a:prstDash val="solid"/>
                      <a:round/>
                      <a:headEnd type="none" w="med" len="med"/>
                      <a:tailEnd type="none" w="med" len="med"/>
                    </a:lnB>
                    <a:solidFill>
                      <a:srgbClr val="002060"/>
                    </a:solidFill>
                  </a:tcPr>
                </a:tc>
                <a:tc>
                  <a:txBody>
                    <a:bodyPr/>
                    <a:lstStyle/>
                    <a:p>
                      <a:pPr algn="ctr" fontAlgn="t"/>
                      <a:r>
                        <a:rPr lang="es-ES" sz="700" b="1" i="0" u="none" strike="noStrike">
                          <a:solidFill>
                            <a:srgbClr val="FFFFFF"/>
                          </a:solidFill>
                          <a:effectLst/>
                          <a:latin typeface="Santander Text" panose="020B0504020201020104" pitchFamily="34" charset="0"/>
                        </a:rPr>
                        <a:t>Description</a:t>
                      </a:r>
                    </a:p>
                  </a:txBody>
                  <a:tcPr marL="2615" marR="2615" marT="2615" marB="0">
                    <a:lnL w="19050" cap="flat" cmpd="sng" algn="ctr">
                      <a:solidFill>
                        <a:srgbClr val="FFFFFF"/>
                      </a:solidFill>
                      <a:prstDash val="solid"/>
                      <a:round/>
                      <a:headEnd type="none" w="med" len="med"/>
                      <a:tailEnd type="none" w="med" len="med"/>
                    </a:lnL>
                    <a:lnR>
                      <a:noFill/>
                    </a:lnR>
                    <a:lnT w="19050" cap="flat" cmpd="sng" algn="ctr">
                      <a:solidFill>
                        <a:srgbClr val="FFFFFF"/>
                      </a:solidFill>
                      <a:prstDash val="solid"/>
                      <a:round/>
                      <a:headEnd type="none" w="med" len="med"/>
                      <a:tailEnd type="none" w="med" len="med"/>
                    </a:lnT>
                    <a:lnB>
                      <a:noFill/>
                    </a:lnB>
                    <a:solidFill>
                      <a:srgbClr val="002060"/>
                    </a:solidFill>
                  </a:tcPr>
                </a:tc>
                <a:extLst>
                  <a:ext uri="{0D108BD9-81ED-4DB2-BD59-A6C34878D82A}">
                    <a16:rowId xmlns:a16="http://schemas.microsoft.com/office/drawing/2014/main" val="1429728488"/>
                  </a:ext>
                </a:extLst>
              </a:tr>
              <a:tr h="316324">
                <a:tc>
                  <a:txBody>
                    <a:bodyPr/>
                    <a:lstStyle/>
                    <a:p>
                      <a:pPr algn="l" fontAlgn="t"/>
                      <a:r>
                        <a:rPr lang="es-ES" sz="700" b="1" i="0" u="none" strike="noStrike">
                          <a:solidFill>
                            <a:srgbClr val="000000"/>
                          </a:solidFill>
                          <a:effectLst/>
                          <a:latin typeface="Santander Text" panose="020B0504020201020104" pitchFamily="34" charset="0"/>
                        </a:rPr>
                        <a:t>Business </a:t>
                      </a:r>
                      <a:r>
                        <a:rPr lang="es-ES" sz="700" b="1" i="0" u="none" strike="noStrike" err="1">
                          <a:solidFill>
                            <a:srgbClr val="000000"/>
                          </a:solidFill>
                          <a:effectLst/>
                          <a:latin typeface="Santander Text" panose="020B0504020201020104" pitchFamily="34" charset="0"/>
                        </a:rPr>
                        <a:t>products</a:t>
                      </a:r>
                      <a:endParaRPr lang="es-ES" sz="700" b="1" i="0" u="none" strike="noStrike">
                        <a:solidFill>
                          <a:srgbClr val="000000"/>
                        </a:solidFill>
                        <a:effectLst/>
                        <a:latin typeface="Santander Text" panose="020B0504020201020104" pitchFamily="34" charset="0"/>
                      </a:endParaRPr>
                    </a:p>
                  </a:txBody>
                  <a:tcPr marL="78436" marR="2615" marT="261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s-ES" sz="700" b="1" i="0" u="none" strike="noStrike">
                          <a:solidFill>
                            <a:srgbClr val="FFFFFF"/>
                          </a:solidFill>
                          <a:effectLst/>
                          <a:latin typeface="Santander Text" panose="020B0504020201020104" pitchFamily="34" charset="0"/>
                        </a:rPr>
                        <a:t>Payments</a:t>
                      </a:r>
                    </a:p>
                  </a:txBody>
                  <a:tcPr marL="78436" marR="2615" marT="2615" marB="0">
                    <a:lnL w="12700" cap="flat" cmpd="sng" algn="ctr">
                      <a:solidFill>
                        <a:schemeClr val="tx1"/>
                      </a:solidFill>
                      <a:prstDash val="solid"/>
                      <a:round/>
                      <a:headEnd type="none" w="med" len="med"/>
                      <a:tailEnd type="none" w="med" len="med"/>
                    </a:lnL>
                    <a:lnR w="6350" cap="flat" cmpd="sng" algn="ctr">
                      <a:solidFill>
                        <a:srgbClr val="D0CECE"/>
                      </a:solidFill>
                      <a:prstDash val="solid"/>
                      <a:round/>
                      <a:headEnd type="none" w="med" len="med"/>
                      <a:tailEnd type="none" w="med" len="med"/>
                    </a:lnR>
                    <a:lnT>
                      <a:noFill/>
                    </a:lnT>
                    <a:lnB w="6350" cap="flat" cmpd="sng" algn="ctr">
                      <a:solidFill>
                        <a:srgbClr val="D0CECE"/>
                      </a:solidFill>
                      <a:prstDash val="solid"/>
                      <a:round/>
                      <a:headEnd type="none" w="med" len="med"/>
                      <a:tailEnd type="none" w="med" len="med"/>
                    </a:lnB>
                    <a:solidFill>
                      <a:srgbClr val="2F75B5"/>
                    </a:solidFill>
                  </a:tcPr>
                </a:tc>
                <a:tc>
                  <a:txBody>
                    <a:bodyPr/>
                    <a:lstStyle/>
                    <a:p>
                      <a:pPr algn="l" fontAlgn="t"/>
                      <a:r>
                        <a:rPr lang="es-ES" sz="700" b="1" i="0" u="none" strike="noStrike">
                          <a:solidFill>
                            <a:srgbClr val="FFFFFF"/>
                          </a:solidFill>
                          <a:effectLst/>
                          <a:latin typeface="Santander Text" panose="020B0504020201020104" pitchFamily="34" charset="0"/>
                        </a:rPr>
                        <a:t>PagoNxt</a:t>
                      </a:r>
                    </a:p>
                  </a:txBody>
                  <a:tcPr marL="78436" marR="2615" marT="2615" marB="0">
                    <a:lnL w="6350" cap="flat" cmpd="sng" algn="ctr">
                      <a:solidFill>
                        <a:srgbClr val="D0CECE"/>
                      </a:solidFill>
                      <a:prstDash val="solid"/>
                      <a:round/>
                      <a:headEnd type="none" w="med" len="med"/>
                      <a:tailEnd type="none" w="med" len="med"/>
                    </a:lnL>
                    <a:lnR w="12700" cap="flat" cmpd="sng" algn="ctr">
                      <a:solidFill>
                        <a:srgbClr val="FF0000"/>
                      </a:solidFill>
                      <a:prstDash val="solid"/>
                      <a:round/>
                      <a:headEnd type="none" w="med" len="med"/>
                      <a:tailEnd type="none" w="med" len="med"/>
                    </a:lnR>
                    <a:lnT>
                      <a:noFill/>
                    </a:lnT>
                    <a:lnB w="6350" cap="flat" cmpd="sng" algn="ctr">
                      <a:solidFill>
                        <a:srgbClr val="D0CECE"/>
                      </a:solidFill>
                      <a:prstDash val="solid"/>
                      <a:round/>
                      <a:headEnd type="none" w="med" len="med"/>
                      <a:tailEnd type="none" w="med" len="med"/>
                    </a:lnB>
                    <a:solidFill>
                      <a:srgbClr val="2F75B5"/>
                    </a:solidFill>
                  </a:tcPr>
                </a:tc>
                <a:tc>
                  <a:txBody>
                    <a:bodyPr/>
                    <a:lstStyle/>
                    <a:p>
                      <a:pPr algn="l" fontAlgn="t"/>
                      <a:r>
                        <a:rPr lang="es-ES" sz="700" b="1" i="0" u="none" strike="noStrike">
                          <a:solidFill>
                            <a:srgbClr val="FFFFFF"/>
                          </a:solidFill>
                          <a:effectLst/>
                          <a:latin typeface="Santander Text" panose="020B0504020201020104" pitchFamily="34" charset="0"/>
                        </a:rPr>
                        <a:t>Payments</a:t>
                      </a:r>
                    </a:p>
                  </a:txBody>
                  <a:tcPr marL="78436" marR="2615" marT="2615" marB="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solidFill>
                      <a:srgbClr val="00B0F0"/>
                    </a:solidFill>
                  </a:tcPr>
                </a:tc>
                <a:tc>
                  <a:txBody>
                    <a:bodyPr/>
                    <a:lstStyle/>
                    <a:p>
                      <a:pPr algn="l" fontAlgn="t"/>
                      <a:r>
                        <a:rPr lang="en-US" sz="700" b="1" i="0" u="none" strike="noStrike">
                          <a:solidFill>
                            <a:srgbClr val="000000"/>
                          </a:solidFill>
                          <a:effectLst/>
                          <a:latin typeface="Santander Text" panose="020B0504020201020104" pitchFamily="34" charset="0"/>
                        </a:rPr>
                        <a:t>Back-end Payments Platform Component processor supporting the e2e of the payments processing fully integrated with the rest of the bank platform. It covers domestic and international payments in different currencies, instant payments, transactional FX, documentary payments, etc in different  payments rails and clearing house connections. </a:t>
                      </a:r>
                    </a:p>
                  </a:txBody>
                  <a:tcPr marL="2615" marR="2615" marT="2615" marB="0">
                    <a:lnL w="12700" cap="flat" cmpd="sng" algn="ctr">
                      <a:solidFill>
                        <a:srgbClr val="FF0000"/>
                      </a:solidFill>
                      <a:prstDash val="solid"/>
                      <a:round/>
                      <a:headEnd type="none" w="med" len="med"/>
                      <a:tailEnd type="none" w="med" len="med"/>
                    </a:lnL>
                    <a:lnR w="6350" cap="flat" cmpd="sng" algn="ctr">
                      <a:solidFill>
                        <a:srgbClr val="D0CECE"/>
                      </a:solidFill>
                      <a:prstDash val="solid"/>
                      <a:round/>
                      <a:headEnd type="none" w="med" len="med"/>
                      <a:tailEnd type="none" w="med" len="med"/>
                    </a:lnR>
                    <a:lnT>
                      <a:noFill/>
                    </a:lnT>
                    <a:lnB w="6350" cap="flat" cmpd="sng" algn="ctr">
                      <a:solidFill>
                        <a:srgbClr val="D0CECE"/>
                      </a:solidFill>
                      <a:prstDash val="solid"/>
                      <a:round/>
                      <a:headEnd type="none" w="med" len="med"/>
                      <a:tailEnd type="none" w="med" len="med"/>
                    </a:lnB>
                    <a:noFill/>
                  </a:tcPr>
                </a:tc>
                <a:extLst>
                  <a:ext uri="{0D108BD9-81ED-4DB2-BD59-A6C34878D82A}">
                    <a16:rowId xmlns:a16="http://schemas.microsoft.com/office/drawing/2014/main" val="2560178299"/>
                  </a:ext>
                </a:extLst>
              </a:tr>
              <a:tr h="211737">
                <a:tc>
                  <a:txBody>
                    <a:bodyPr/>
                    <a:lstStyle/>
                    <a:p>
                      <a:pPr algn="l" fontAlgn="t"/>
                      <a:r>
                        <a:rPr lang="es-ES" sz="700" b="1" i="0" u="none" strike="noStrike">
                          <a:solidFill>
                            <a:srgbClr val="000000"/>
                          </a:solidFill>
                          <a:effectLst/>
                          <a:latin typeface="Santander Text" panose="020B0504020201020104" pitchFamily="34" charset="0"/>
                        </a:rPr>
                        <a:t>Business products</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s-ES" sz="700" b="1" i="0" u="none" strike="noStrike">
                          <a:solidFill>
                            <a:srgbClr val="FFFFFF"/>
                          </a:solidFill>
                          <a:effectLst/>
                          <a:latin typeface="Santander Text" panose="020B0504020201020104" pitchFamily="34" charset="0"/>
                        </a:rPr>
                        <a:t>Payments</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solidFill>
                      <a:srgbClr val="2F75B5"/>
                    </a:solidFill>
                  </a:tcPr>
                </a:tc>
                <a:tc>
                  <a:txBody>
                    <a:bodyPr/>
                    <a:lstStyle/>
                    <a:p>
                      <a:pPr algn="l" fontAlgn="t"/>
                      <a:r>
                        <a:rPr lang="es-ES" sz="700" b="1" i="0" u="none" strike="noStrike">
                          <a:solidFill>
                            <a:srgbClr val="FFFFFF"/>
                          </a:solidFill>
                          <a:effectLst/>
                          <a:latin typeface="Santander Text" panose="020B0504020201020104" pitchFamily="34" charset="0"/>
                        </a:rPr>
                        <a:t>PagoNxt</a:t>
                      </a:r>
                    </a:p>
                  </a:txBody>
                  <a:tcPr marL="78436" marR="2615" marT="2615" marB="0">
                    <a:lnL w="6350" cap="flat" cmpd="sng" algn="ctr">
                      <a:solidFill>
                        <a:srgbClr val="D0CECE"/>
                      </a:solidFill>
                      <a:prstDash val="solid"/>
                      <a:round/>
                      <a:headEnd type="none" w="med" len="med"/>
                      <a:tailEnd type="none" w="med" len="med"/>
                    </a:lnL>
                    <a:lnR w="12700" cap="flat" cmpd="sng" algn="ctr">
                      <a:solidFill>
                        <a:srgbClr val="FF0000"/>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solidFill>
                      <a:srgbClr val="2F75B5"/>
                    </a:solidFill>
                  </a:tcPr>
                </a:tc>
                <a:tc>
                  <a:txBody>
                    <a:bodyPr/>
                    <a:lstStyle/>
                    <a:p>
                      <a:pPr algn="l" fontAlgn="t"/>
                      <a:r>
                        <a:rPr lang="es-ES" sz="700" b="1" i="0" u="none" strike="noStrike">
                          <a:solidFill>
                            <a:srgbClr val="FFFFFF"/>
                          </a:solidFill>
                          <a:effectLst/>
                          <a:latin typeface="Santander Text" panose="020B0504020201020104" pitchFamily="34" charset="0"/>
                        </a:rPr>
                        <a:t>Merchants</a:t>
                      </a:r>
                    </a:p>
                  </a:txBody>
                  <a:tcPr marL="78436" marR="2615" marT="2615" marB="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l" fontAlgn="t"/>
                      <a:r>
                        <a:rPr lang="en-US" sz="700" b="1" i="0" u="none" strike="noStrike">
                          <a:solidFill>
                            <a:srgbClr val="000000"/>
                          </a:solidFill>
                          <a:effectLst/>
                          <a:latin typeface="Santander Text" panose="020B0504020201020104" pitchFamily="34" charset="0"/>
                        </a:rPr>
                        <a:t>Back-end Acquiring Platform Component processor supporting the e2e of the Acquiring  processing in a SaaS Model fully integrated with the rest of the bank platform. It includes the acquiring product configuration, product sale and servicing and  enquiries, merchant operations settlement and card schemes clearing. </a:t>
                      </a:r>
                    </a:p>
                  </a:txBody>
                  <a:tcPr marL="2615" marR="2615" marT="2615" marB="0">
                    <a:lnL w="12700" cap="flat" cmpd="sng" algn="ctr">
                      <a:solidFill>
                        <a:srgbClr val="FF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extLst>
                  <a:ext uri="{0D108BD9-81ED-4DB2-BD59-A6C34878D82A}">
                    <a16:rowId xmlns:a16="http://schemas.microsoft.com/office/drawing/2014/main" val="1093679001"/>
                  </a:ext>
                </a:extLst>
              </a:tr>
              <a:tr h="211737">
                <a:tc>
                  <a:txBody>
                    <a:bodyPr/>
                    <a:lstStyle/>
                    <a:p>
                      <a:pPr algn="l" fontAlgn="t"/>
                      <a:r>
                        <a:rPr lang="es-ES" sz="700" b="1" i="0" u="none" strike="noStrike">
                          <a:solidFill>
                            <a:srgbClr val="000000"/>
                          </a:solidFill>
                          <a:effectLst/>
                          <a:latin typeface="Santander Text" panose="020B0504020201020104" pitchFamily="34" charset="0"/>
                        </a:rPr>
                        <a:t>Distribution / Front</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t"/>
                      <a:r>
                        <a:rPr lang="es-ES" sz="700" b="1" i="0" u="none" strike="noStrike">
                          <a:solidFill>
                            <a:srgbClr val="FFFFFF"/>
                          </a:solidFill>
                          <a:effectLst/>
                          <a:latin typeface="Santander Text" panose="020B0504020201020104" pitchFamily="34" charset="0"/>
                        </a:rPr>
                        <a:t>CIB</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solidFill>
                      <a:srgbClr val="2F75B5"/>
                    </a:solidFill>
                  </a:tcPr>
                </a:tc>
                <a:tc>
                  <a:txBody>
                    <a:bodyPr/>
                    <a:lstStyle/>
                    <a:p>
                      <a:pPr algn="l" fontAlgn="t"/>
                      <a:r>
                        <a:rPr lang="es-ES" sz="700" b="1" i="0" u="none" strike="noStrike">
                          <a:solidFill>
                            <a:srgbClr val="FFFFFF"/>
                          </a:solidFill>
                          <a:effectLst/>
                          <a:latin typeface="Santander Text" panose="020B0504020201020104" pitchFamily="34" charset="0"/>
                        </a:rPr>
                        <a:t> </a:t>
                      </a:r>
                    </a:p>
                  </a:txBody>
                  <a:tcPr marL="78436" marR="2615" marT="2615" marB="0">
                    <a:lnL w="6350" cap="flat" cmpd="sng" algn="ctr">
                      <a:solidFill>
                        <a:srgbClr val="D0CECE"/>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tc>
                  <a:txBody>
                    <a:bodyPr/>
                    <a:lstStyle/>
                    <a:p>
                      <a:pPr algn="l" fontAlgn="t"/>
                      <a:r>
                        <a:rPr lang="es-ES" sz="700" b="1" i="0" u="none" strike="noStrike">
                          <a:solidFill>
                            <a:srgbClr val="000000"/>
                          </a:solidFill>
                          <a:effectLst/>
                          <a:latin typeface="Santander Text" panose="020B0504020201020104" pitchFamily="34" charset="0"/>
                        </a:rPr>
                        <a:t>CIB Specialized Channels</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EF1"/>
                    </a:solidFill>
                  </a:tcPr>
                </a:tc>
                <a:tc>
                  <a:txBody>
                    <a:bodyPr/>
                    <a:lstStyle/>
                    <a:p>
                      <a:pPr algn="l" fontAlgn="t"/>
                      <a:r>
                        <a:rPr lang="en-US" sz="700" b="1" i="0" u="none" strike="noStrike">
                          <a:solidFill>
                            <a:srgbClr val="000000"/>
                          </a:solidFill>
                          <a:effectLst/>
                          <a:latin typeface="Santander Text" panose="020B0504020201020104" pitchFamily="34" charset="0"/>
                        </a:rPr>
                        <a:t>Specialized digital channel Platform Component for Wholesale customers that embraces a set of different capabilities to support international business across the Santander footprint, including global cash management, Santander global cross position, payments orders, etc. </a:t>
                      </a:r>
                    </a:p>
                  </a:txBody>
                  <a:tcPr marL="2615" marR="2615" marT="2615" marB="0">
                    <a:lnL w="6350" cap="flat" cmpd="sng" algn="ctr">
                      <a:solidFill>
                        <a:srgbClr val="00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extLst>
                  <a:ext uri="{0D108BD9-81ED-4DB2-BD59-A6C34878D82A}">
                    <a16:rowId xmlns:a16="http://schemas.microsoft.com/office/drawing/2014/main" val="3066907679"/>
                  </a:ext>
                </a:extLst>
              </a:tr>
              <a:tr h="211737">
                <a:tc>
                  <a:txBody>
                    <a:bodyPr/>
                    <a:lstStyle/>
                    <a:p>
                      <a:pPr algn="l" fontAlgn="t"/>
                      <a:r>
                        <a:rPr lang="es-ES" sz="700" b="1" i="0" u="none" strike="noStrike">
                          <a:solidFill>
                            <a:srgbClr val="000000"/>
                          </a:solidFill>
                          <a:effectLst/>
                          <a:latin typeface="Santander Text" panose="020B0504020201020104" pitchFamily="34" charset="0"/>
                        </a:rPr>
                        <a:t>Distribution / Front</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t"/>
                      <a:r>
                        <a:rPr lang="es-ES" sz="700" b="1" i="0" u="none" strike="noStrike">
                          <a:solidFill>
                            <a:srgbClr val="FFFFFF"/>
                          </a:solidFill>
                          <a:effectLst/>
                          <a:latin typeface="Santander Text" panose="020B0504020201020104" pitchFamily="34" charset="0"/>
                        </a:rPr>
                        <a:t>CIB</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solidFill>
                      <a:srgbClr val="2F75B5"/>
                    </a:solidFill>
                  </a:tcPr>
                </a:tc>
                <a:tc>
                  <a:txBody>
                    <a:bodyPr/>
                    <a:lstStyle/>
                    <a:p>
                      <a:pPr algn="l" fontAlgn="t"/>
                      <a:r>
                        <a:rPr lang="es-ES" sz="700" b="1" i="0" u="none" strike="noStrike">
                          <a:solidFill>
                            <a:srgbClr val="FFFFFF"/>
                          </a:solidFill>
                          <a:effectLst/>
                          <a:latin typeface="Santander Text" panose="020B0504020201020104" pitchFamily="34" charset="0"/>
                        </a:rPr>
                        <a:t> </a:t>
                      </a:r>
                    </a:p>
                  </a:txBody>
                  <a:tcPr marL="78436" marR="2615" marT="2615" marB="0">
                    <a:lnL w="6350" cap="flat" cmpd="sng" algn="ctr">
                      <a:solidFill>
                        <a:srgbClr val="D0CECE"/>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tc>
                  <a:txBody>
                    <a:bodyPr/>
                    <a:lstStyle/>
                    <a:p>
                      <a:pPr algn="l" fontAlgn="t"/>
                      <a:r>
                        <a:rPr lang="es-ES" sz="700" b="1" i="0" u="none" strike="noStrike">
                          <a:solidFill>
                            <a:srgbClr val="000000"/>
                          </a:solidFill>
                          <a:effectLst/>
                          <a:latin typeface="Santander Text" panose="020B0504020201020104" pitchFamily="34" charset="0"/>
                        </a:rPr>
                        <a:t>Markets E-Trading</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FF0000"/>
                      </a:solidFill>
                      <a:prstDash val="solid"/>
                      <a:round/>
                      <a:headEnd type="none" w="med" len="med"/>
                      <a:tailEnd type="none" w="med" len="med"/>
                    </a:lnB>
                    <a:solidFill>
                      <a:srgbClr val="EBEEF1"/>
                    </a:solidFill>
                  </a:tcPr>
                </a:tc>
                <a:tc>
                  <a:txBody>
                    <a:bodyPr/>
                    <a:lstStyle/>
                    <a:p>
                      <a:pPr algn="l" fontAlgn="t"/>
                      <a:r>
                        <a:rPr lang="en-US" sz="700" b="1" i="0" u="none" strike="noStrike">
                          <a:solidFill>
                            <a:srgbClr val="000000"/>
                          </a:solidFill>
                          <a:effectLst/>
                          <a:latin typeface="Santander Text" panose="020B0504020201020104" pitchFamily="34" charset="0"/>
                        </a:rPr>
                        <a:t>Markets investment management digital Platform Component to trade with stocks, bonds, foreign currencies, financial derivatives  and other financial instruments online. electronic trading platforms where traders can place orders and have them executed at a trading venue such as a stock market either directly or via a broker</a:t>
                      </a:r>
                    </a:p>
                  </a:txBody>
                  <a:tcPr marL="2615" marR="2615" marT="2615" marB="0">
                    <a:lnL w="6350" cap="flat" cmpd="sng" algn="ctr">
                      <a:solidFill>
                        <a:srgbClr val="00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extLst>
                  <a:ext uri="{0D108BD9-81ED-4DB2-BD59-A6C34878D82A}">
                    <a16:rowId xmlns:a16="http://schemas.microsoft.com/office/drawing/2014/main" val="1705102441"/>
                  </a:ext>
                </a:extLst>
              </a:tr>
              <a:tr h="211737">
                <a:tc>
                  <a:txBody>
                    <a:bodyPr/>
                    <a:lstStyle/>
                    <a:p>
                      <a:pPr algn="l" fontAlgn="t"/>
                      <a:r>
                        <a:rPr lang="es-ES" sz="700" b="1" i="0" u="none" strike="noStrike">
                          <a:solidFill>
                            <a:srgbClr val="000000"/>
                          </a:solidFill>
                          <a:effectLst/>
                          <a:latin typeface="Santander Text" panose="020B0504020201020104" pitchFamily="34" charset="0"/>
                        </a:rPr>
                        <a:t>Distribution / Front - Business products</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t"/>
                      <a:r>
                        <a:rPr lang="es-ES" sz="700" b="1" i="0" u="none" strike="noStrike">
                          <a:solidFill>
                            <a:srgbClr val="FFFFFF"/>
                          </a:solidFill>
                          <a:effectLst/>
                          <a:latin typeface="Santander Text" panose="020B0504020201020104" pitchFamily="34" charset="0"/>
                        </a:rPr>
                        <a:t>CIB</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solidFill>
                      <a:srgbClr val="2F75B5"/>
                    </a:solidFill>
                  </a:tcPr>
                </a:tc>
                <a:tc>
                  <a:txBody>
                    <a:bodyPr/>
                    <a:lstStyle/>
                    <a:p>
                      <a:pPr algn="l" fontAlgn="t"/>
                      <a:r>
                        <a:rPr lang="es-ES" sz="700" b="1" i="0" u="none" strike="noStrike">
                          <a:solidFill>
                            <a:srgbClr val="FFFFFF"/>
                          </a:solidFill>
                          <a:effectLst/>
                          <a:latin typeface="Santander Text" panose="020B0504020201020104" pitchFamily="34" charset="0"/>
                        </a:rPr>
                        <a:t> </a:t>
                      </a:r>
                    </a:p>
                  </a:txBody>
                  <a:tcPr marL="78436" marR="2615" marT="2615" marB="0">
                    <a:lnL w="6350" cap="flat" cmpd="sng" algn="ctr">
                      <a:solidFill>
                        <a:srgbClr val="D0CECE"/>
                      </a:solidFill>
                      <a:prstDash val="solid"/>
                      <a:round/>
                      <a:headEnd type="none" w="med" len="med"/>
                      <a:tailEnd type="none" w="med" len="med"/>
                    </a:lnL>
                    <a:lnR w="12700" cap="flat" cmpd="sng" algn="ctr">
                      <a:solidFill>
                        <a:srgbClr val="FF0000"/>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tc>
                  <a:txBody>
                    <a:bodyPr/>
                    <a:lstStyle/>
                    <a:p>
                      <a:pPr algn="l" fontAlgn="t"/>
                      <a:r>
                        <a:rPr lang="es-ES" sz="700" b="1" i="0" u="none" strike="noStrike">
                          <a:solidFill>
                            <a:srgbClr val="FFFFFF"/>
                          </a:solidFill>
                          <a:effectLst/>
                          <a:latin typeface="Santander Text" panose="020B0504020201020104" pitchFamily="34" charset="0"/>
                        </a:rPr>
                        <a:t>Trade Finance</a:t>
                      </a:r>
                    </a:p>
                  </a:txBody>
                  <a:tcPr marL="78436" marR="2615" marT="2615" marB="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solidFill>
                      <a:srgbClr val="00B0F0"/>
                    </a:solidFill>
                  </a:tcPr>
                </a:tc>
                <a:tc>
                  <a:txBody>
                    <a:bodyPr/>
                    <a:lstStyle/>
                    <a:p>
                      <a:pPr algn="l" fontAlgn="t"/>
                      <a:r>
                        <a:rPr lang="en-US" sz="700" b="1" i="0" u="none" strike="noStrike">
                          <a:solidFill>
                            <a:srgbClr val="000000"/>
                          </a:solidFill>
                          <a:effectLst/>
                          <a:latin typeface="Santander Text" panose="020B0504020201020104" pitchFamily="34" charset="0"/>
                        </a:rPr>
                        <a:t>Platform component that embraces the different products to support Import / Export business, including Risk mitigation, financing, documentary loans, payments assurance, etc. The reference platform component to support this is TradeNxt</a:t>
                      </a:r>
                    </a:p>
                  </a:txBody>
                  <a:tcPr marL="2615" marR="2615" marT="2615" marB="0">
                    <a:lnL w="12700" cap="flat" cmpd="sng" algn="ctr">
                      <a:solidFill>
                        <a:srgbClr val="FF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extLst>
                  <a:ext uri="{0D108BD9-81ED-4DB2-BD59-A6C34878D82A}">
                    <a16:rowId xmlns:a16="http://schemas.microsoft.com/office/drawing/2014/main" val="2985140875"/>
                  </a:ext>
                </a:extLst>
              </a:tr>
              <a:tr h="107151">
                <a:tc>
                  <a:txBody>
                    <a:bodyPr/>
                    <a:lstStyle/>
                    <a:p>
                      <a:pPr algn="l" fontAlgn="t"/>
                      <a:r>
                        <a:rPr lang="es-ES" sz="700" b="1" i="0" u="none" strike="noStrike">
                          <a:solidFill>
                            <a:srgbClr val="000000"/>
                          </a:solidFill>
                          <a:effectLst/>
                          <a:latin typeface="Santander Text" panose="020B0504020201020104" pitchFamily="34" charset="0"/>
                        </a:rPr>
                        <a:t>Business products</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s-ES" sz="700" b="1" i="0" u="none" strike="noStrike">
                          <a:solidFill>
                            <a:srgbClr val="FFFFFF"/>
                          </a:solidFill>
                          <a:effectLst/>
                          <a:latin typeface="Santander Text" panose="020B0504020201020104" pitchFamily="34" charset="0"/>
                        </a:rPr>
                        <a:t>CIB</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solidFill>
                      <a:srgbClr val="2F75B5"/>
                    </a:solidFill>
                  </a:tcPr>
                </a:tc>
                <a:tc>
                  <a:txBody>
                    <a:bodyPr/>
                    <a:lstStyle/>
                    <a:p>
                      <a:pPr algn="l" fontAlgn="t"/>
                      <a:r>
                        <a:rPr lang="es-ES" sz="700" b="1" i="0" u="none" strike="noStrike">
                          <a:solidFill>
                            <a:srgbClr val="FFFFFF"/>
                          </a:solidFill>
                          <a:effectLst/>
                          <a:latin typeface="Santander Text" panose="020B0504020201020104" pitchFamily="34" charset="0"/>
                        </a:rPr>
                        <a:t> </a:t>
                      </a:r>
                    </a:p>
                  </a:txBody>
                  <a:tcPr marL="78436" marR="2615" marT="2615" marB="0">
                    <a:lnL w="6350" cap="flat" cmpd="sng" algn="ctr">
                      <a:solidFill>
                        <a:srgbClr val="D0CECE"/>
                      </a:solidFill>
                      <a:prstDash val="solid"/>
                      <a:round/>
                      <a:headEnd type="none" w="med" len="med"/>
                      <a:tailEnd type="none" w="med" len="med"/>
                    </a:lnL>
                    <a:lnR w="12700" cap="flat" cmpd="sng" algn="ctr">
                      <a:solidFill>
                        <a:srgbClr val="FF0000"/>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tc>
                  <a:txBody>
                    <a:bodyPr/>
                    <a:lstStyle/>
                    <a:p>
                      <a:pPr algn="l" fontAlgn="t"/>
                      <a:r>
                        <a:rPr lang="es-ES" sz="700" b="1" i="0" u="none" strike="noStrike">
                          <a:solidFill>
                            <a:srgbClr val="FFFFFF"/>
                          </a:solidFill>
                          <a:effectLst/>
                          <a:latin typeface="Santander Text" panose="020B0504020201020104" pitchFamily="34" charset="0"/>
                        </a:rPr>
                        <a:t>Markets Back</a:t>
                      </a:r>
                    </a:p>
                  </a:txBody>
                  <a:tcPr marL="78436" marR="2615" marT="2615" marB="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solidFill>
                      <a:srgbClr val="00B0F0"/>
                    </a:solidFill>
                  </a:tcPr>
                </a:tc>
                <a:tc>
                  <a:txBody>
                    <a:bodyPr/>
                    <a:lstStyle/>
                    <a:p>
                      <a:pPr algn="l" fontAlgn="t"/>
                      <a:r>
                        <a:rPr lang="en-US" sz="700" b="1" i="0" u="none" strike="noStrike">
                          <a:solidFill>
                            <a:srgbClr val="000000"/>
                          </a:solidFill>
                          <a:effectLst/>
                          <a:latin typeface="Santander Text" panose="020B0504020201020104" pitchFamily="34" charset="0"/>
                        </a:rPr>
                        <a:t>Backend Platform Component to support the e-Trading Platform Component , including registration and processing of orders, their positions and settlements </a:t>
                      </a:r>
                    </a:p>
                  </a:txBody>
                  <a:tcPr marL="2615" marR="2615" marT="2615" marB="0">
                    <a:lnL w="12700" cap="flat" cmpd="sng" algn="ctr">
                      <a:solidFill>
                        <a:srgbClr val="FF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extLst>
                  <a:ext uri="{0D108BD9-81ED-4DB2-BD59-A6C34878D82A}">
                    <a16:rowId xmlns:a16="http://schemas.microsoft.com/office/drawing/2014/main" val="3643820399"/>
                  </a:ext>
                </a:extLst>
              </a:tr>
              <a:tr h="107151">
                <a:tc>
                  <a:txBody>
                    <a:bodyPr/>
                    <a:lstStyle/>
                    <a:p>
                      <a:pPr algn="l" fontAlgn="t"/>
                      <a:r>
                        <a:rPr lang="es-ES" sz="700" b="1" i="0" u="none" strike="noStrike">
                          <a:solidFill>
                            <a:srgbClr val="000000"/>
                          </a:solidFill>
                          <a:effectLst/>
                          <a:latin typeface="Santander Text" panose="020B0504020201020104" pitchFamily="34" charset="0"/>
                        </a:rPr>
                        <a:t>Business products</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s-ES" sz="700" b="1" i="0" u="none" strike="noStrike">
                          <a:solidFill>
                            <a:srgbClr val="FFFFFF"/>
                          </a:solidFill>
                          <a:effectLst/>
                          <a:latin typeface="Santander Text" panose="020B0504020201020104" pitchFamily="34" charset="0"/>
                        </a:rPr>
                        <a:t>CIB</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solidFill>
                      <a:srgbClr val="2F75B5"/>
                    </a:solidFill>
                  </a:tcPr>
                </a:tc>
                <a:tc>
                  <a:txBody>
                    <a:bodyPr/>
                    <a:lstStyle/>
                    <a:p>
                      <a:pPr algn="l" fontAlgn="t"/>
                      <a:r>
                        <a:rPr lang="es-ES" sz="700" b="1" i="0" u="none" strike="noStrike">
                          <a:solidFill>
                            <a:srgbClr val="FFFFFF"/>
                          </a:solidFill>
                          <a:effectLst/>
                          <a:latin typeface="Santander Text" panose="020B0504020201020104" pitchFamily="34" charset="0"/>
                        </a:rPr>
                        <a:t> </a:t>
                      </a:r>
                    </a:p>
                  </a:txBody>
                  <a:tcPr marL="78436" marR="2615" marT="2615" marB="0">
                    <a:lnL w="6350" cap="flat" cmpd="sng" algn="ctr">
                      <a:solidFill>
                        <a:srgbClr val="D0CECE"/>
                      </a:solidFill>
                      <a:prstDash val="solid"/>
                      <a:round/>
                      <a:headEnd type="none" w="med" len="med"/>
                      <a:tailEnd type="none" w="med" len="med"/>
                    </a:lnL>
                    <a:lnR w="12700" cap="flat" cmpd="sng" algn="ctr">
                      <a:solidFill>
                        <a:srgbClr val="FF0000"/>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tc>
                  <a:txBody>
                    <a:bodyPr/>
                    <a:lstStyle/>
                    <a:p>
                      <a:pPr algn="l" fontAlgn="t"/>
                      <a:r>
                        <a:rPr lang="es-ES" sz="700" b="1" i="0" u="none" strike="noStrike">
                          <a:solidFill>
                            <a:srgbClr val="FFFFFF"/>
                          </a:solidFill>
                          <a:effectLst/>
                          <a:latin typeface="Santander Text" panose="020B0504020201020104" pitchFamily="34" charset="0"/>
                        </a:rPr>
                        <a:t>Supply Chain Finance</a:t>
                      </a:r>
                    </a:p>
                  </a:txBody>
                  <a:tcPr marL="78436" marR="2615" marT="2615" marB="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solidFill>
                      <a:srgbClr val="00B0F0"/>
                    </a:solidFill>
                  </a:tcPr>
                </a:tc>
                <a:tc>
                  <a:txBody>
                    <a:bodyPr/>
                    <a:lstStyle/>
                    <a:p>
                      <a:pPr algn="l" fontAlgn="t"/>
                      <a:r>
                        <a:rPr lang="en-US" sz="700" b="1" i="0" u="none" strike="noStrike">
                          <a:solidFill>
                            <a:srgbClr val="000000"/>
                          </a:solidFill>
                          <a:effectLst/>
                          <a:latin typeface="Santander Text" panose="020B0504020201020104" pitchFamily="34" charset="0"/>
                        </a:rPr>
                        <a:t>Platform Component to support different products and services that provides finance and liquidity to companies working capital  </a:t>
                      </a:r>
                    </a:p>
                  </a:txBody>
                  <a:tcPr marL="2615" marR="2615" marT="2615" marB="0">
                    <a:lnL w="12700" cap="flat" cmpd="sng" algn="ctr">
                      <a:solidFill>
                        <a:srgbClr val="FF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extLst>
                  <a:ext uri="{0D108BD9-81ED-4DB2-BD59-A6C34878D82A}">
                    <a16:rowId xmlns:a16="http://schemas.microsoft.com/office/drawing/2014/main" val="3934450115"/>
                  </a:ext>
                </a:extLst>
              </a:tr>
              <a:tr h="211737">
                <a:tc>
                  <a:txBody>
                    <a:bodyPr/>
                    <a:lstStyle/>
                    <a:p>
                      <a:pPr algn="l" fontAlgn="t"/>
                      <a:r>
                        <a:rPr lang="es-ES" sz="700" b="1" i="0" u="none" strike="noStrike">
                          <a:solidFill>
                            <a:srgbClr val="000000"/>
                          </a:solidFill>
                          <a:effectLst/>
                          <a:latin typeface="Santander Text" panose="020B0504020201020104" pitchFamily="34" charset="0"/>
                        </a:rPr>
                        <a:t>Business products</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s-ES" sz="700" b="1" i="0" u="none" strike="noStrike">
                          <a:solidFill>
                            <a:srgbClr val="FFFFFF"/>
                          </a:solidFill>
                          <a:effectLst/>
                          <a:latin typeface="Santander Text" panose="020B0504020201020104" pitchFamily="34" charset="0"/>
                        </a:rPr>
                        <a:t>CIB</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solidFill>
                      <a:srgbClr val="2F75B5"/>
                    </a:solidFill>
                  </a:tcPr>
                </a:tc>
                <a:tc>
                  <a:txBody>
                    <a:bodyPr/>
                    <a:lstStyle/>
                    <a:p>
                      <a:pPr algn="l" fontAlgn="t"/>
                      <a:r>
                        <a:rPr lang="es-ES" sz="700" b="1" i="0" u="none" strike="noStrike">
                          <a:solidFill>
                            <a:srgbClr val="FFFFFF"/>
                          </a:solidFill>
                          <a:effectLst/>
                          <a:latin typeface="Santander Text" panose="020B0504020201020104" pitchFamily="34" charset="0"/>
                        </a:rPr>
                        <a:t> </a:t>
                      </a:r>
                    </a:p>
                  </a:txBody>
                  <a:tcPr marL="78436" marR="2615" marT="2615" marB="0">
                    <a:lnL w="6350" cap="flat" cmpd="sng" algn="ctr">
                      <a:solidFill>
                        <a:srgbClr val="D0CECE"/>
                      </a:solidFill>
                      <a:prstDash val="solid"/>
                      <a:round/>
                      <a:headEnd type="none" w="med" len="med"/>
                      <a:tailEnd type="none" w="med" len="med"/>
                    </a:lnL>
                    <a:lnR w="12700" cap="flat" cmpd="sng" algn="ctr">
                      <a:solidFill>
                        <a:srgbClr val="FF0000"/>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tc>
                  <a:txBody>
                    <a:bodyPr/>
                    <a:lstStyle/>
                    <a:p>
                      <a:pPr algn="l" fontAlgn="t"/>
                      <a:r>
                        <a:rPr lang="es-ES" sz="700" b="1" i="0" u="none" strike="noStrike">
                          <a:solidFill>
                            <a:srgbClr val="FFFFFF"/>
                          </a:solidFill>
                          <a:effectLst/>
                          <a:latin typeface="Santander Text" panose="020B0504020201020104" pitchFamily="34" charset="0"/>
                        </a:rPr>
                        <a:t>Receivables Finance</a:t>
                      </a:r>
                    </a:p>
                  </a:txBody>
                  <a:tcPr marL="78436" marR="2615" marT="2615" marB="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solidFill>
                      <a:srgbClr val="00B0F0"/>
                    </a:solidFill>
                  </a:tcPr>
                </a:tc>
                <a:tc>
                  <a:txBody>
                    <a:bodyPr/>
                    <a:lstStyle/>
                    <a:p>
                      <a:pPr algn="l" fontAlgn="t"/>
                      <a:r>
                        <a:rPr lang="en-US" sz="700" b="1" i="0" u="none" strike="noStrike">
                          <a:solidFill>
                            <a:srgbClr val="000000"/>
                          </a:solidFill>
                          <a:effectLst/>
                          <a:latin typeface="Santander Text" panose="020B0504020201020104" pitchFamily="34" charset="0"/>
                        </a:rPr>
                        <a:t>Platform Component to support our customer finance by buying outstanding invoices with their customer.  The Platform supports the onboarding, disbursement and collections of the invoices. </a:t>
                      </a:r>
                    </a:p>
                  </a:txBody>
                  <a:tcPr marL="2615" marR="2615" marT="2615" marB="0">
                    <a:lnL w="12700" cap="flat" cmpd="sng" algn="ctr">
                      <a:solidFill>
                        <a:srgbClr val="FF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extLst>
                  <a:ext uri="{0D108BD9-81ED-4DB2-BD59-A6C34878D82A}">
                    <a16:rowId xmlns:a16="http://schemas.microsoft.com/office/drawing/2014/main" val="2793619165"/>
                  </a:ext>
                </a:extLst>
              </a:tr>
              <a:tr h="211737">
                <a:tc>
                  <a:txBody>
                    <a:bodyPr/>
                    <a:lstStyle/>
                    <a:p>
                      <a:pPr algn="l" fontAlgn="t"/>
                      <a:r>
                        <a:rPr lang="es-ES" sz="700" b="1" i="0" u="none" strike="noStrike">
                          <a:solidFill>
                            <a:srgbClr val="000000"/>
                          </a:solidFill>
                          <a:effectLst/>
                          <a:latin typeface="Santander Text" panose="020B0504020201020104" pitchFamily="34" charset="0"/>
                        </a:rPr>
                        <a:t>Business products</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s-ES" sz="700" b="1" i="0" u="none" strike="noStrike">
                          <a:solidFill>
                            <a:srgbClr val="FFFFFF"/>
                          </a:solidFill>
                          <a:effectLst/>
                          <a:latin typeface="Santander Text" panose="020B0504020201020104" pitchFamily="34" charset="0"/>
                        </a:rPr>
                        <a:t>CIB</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solidFill>
                      <a:srgbClr val="2F75B5"/>
                    </a:solidFill>
                  </a:tcPr>
                </a:tc>
                <a:tc>
                  <a:txBody>
                    <a:bodyPr/>
                    <a:lstStyle/>
                    <a:p>
                      <a:pPr algn="l" fontAlgn="t"/>
                      <a:r>
                        <a:rPr lang="es-ES" sz="700" b="1" i="0" u="none" strike="noStrike">
                          <a:solidFill>
                            <a:srgbClr val="FFFFFF"/>
                          </a:solidFill>
                          <a:effectLst/>
                          <a:latin typeface="Santander Text" panose="020B0504020201020104" pitchFamily="34" charset="0"/>
                        </a:rPr>
                        <a:t> </a:t>
                      </a:r>
                    </a:p>
                  </a:txBody>
                  <a:tcPr marL="78436" marR="2615" marT="2615" marB="0">
                    <a:lnL w="6350" cap="flat" cmpd="sng" algn="ctr">
                      <a:solidFill>
                        <a:srgbClr val="D0CECE"/>
                      </a:solidFill>
                      <a:prstDash val="solid"/>
                      <a:round/>
                      <a:headEnd type="none" w="med" len="med"/>
                      <a:tailEnd type="none" w="med" len="med"/>
                    </a:lnL>
                    <a:lnR w="12700" cap="flat" cmpd="sng" algn="ctr">
                      <a:solidFill>
                        <a:srgbClr val="FF0000"/>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tc>
                  <a:txBody>
                    <a:bodyPr/>
                    <a:lstStyle/>
                    <a:p>
                      <a:pPr algn="l" fontAlgn="t"/>
                      <a:r>
                        <a:rPr lang="en-US" sz="700" b="1" i="0" u="none" strike="noStrike">
                          <a:solidFill>
                            <a:srgbClr val="FFFFFF"/>
                          </a:solidFill>
                          <a:effectLst/>
                          <a:latin typeface="Santander Text" panose="020B0504020201020104" pitchFamily="34" charset="0"/>
                        </a:rPr>
                        <a:t>Specialized lending and capital optimization</a:t>
                      </a:r>
                    </a:p>
                  </a:txBody>
                  <a:tcPr marL="78436" marR="2615" marT="2615" marB="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6350" cap="flat" cmpd="sng" algn="ctr">
                      <a:solidFill>
                        <a:srgbClr val="FFC000"/>
                      </a:solidFill>
                      <a:prstDash val="solid"/>
                      <a:round/>
                      <a:headEnd type="none" w="med" len="med"/>
                      <a:tailEnd type="none" w="med" len="med"/>
                    </a:lnB>
                    <a:solidFill>
                      <a:srgbClr val="00B0F0"/>
                    </a:solidFill>
                  </a:tcPr>
                </a:tc>
                <a:tc>
                  <a:txBody>
                    <a:bodyPr/>
                    <a:lstStyle/>
                    <a:p>
                      <a:pPr algn="l" fontAlgn="t"/>
                      <a:r>
                        <a:rPr lang="en-US" sz="700" b="1" i="0" u="none" strike="noStrike">
                          <a:solidFill>
                            <a:srgbClr val="000000"/>
                          </a:solidFill>
                          <a:effectLst/>
                          <a:latin typeface="Santander Text" panose="020B0504020201020104" pitchFamily="34" charset="0"/>
                        </a:rPr>
                        <a:t>Platform Component to support specialized lending products and services to wholesale banking, including syndicated loans, multicurrency loans, M&amp;A, Capital Optimisation, etc</a:t>
                      </a:r>
                    </a:p>
                  </a:txBody>
                  <a:tcPr marL="2615" marR="2615" marT="2615" marB="0">
                    <a:lnL w="12700" cap="flat" cmpd="sng" algn="ctr">
                      <a:solidFill>
                        <a:srgbClr val="FF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extLst>
                  <a:ext uri="{0D108BD9-81ED-4DB2-BD59-A6C34878D82A}">
                    <a16:rowId xmlns:a16="http://schemas.microsoft.com/office/drawing/2014/main" val="1370615209"/>
                  </a:ext>
                </a:extLst>
              </a:tr>
              <a:tr h="211737">
                <a:tc>
                  <a:txBody>
                    <a:bodyPr/>
                    <a:lstStyle/>
                    <a:p>
                      <a:pPr algn="l" fontAlgn="t"/>
                      <a:r>
                        <a:rPr lang="es-ES" sz="700" b="1" i="0" u="none" strike="noStrike">
                          <a:solidFill>
                            <a:srgbClr val="000000"/>
                          </a:solidFill>
                          <a:effectLst/>
                          <a:latin typeface="Santander Text" panose="020B0504020201020104" pitchFamily="34" charset="0"/>
                        </a:rPr>
                        <a:t>Global support functions</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EF1"/>
                    </a:solidFill>
                  </a:tcPr>
                </a:tc>
                <a:tc>
                  <a:txBody>
                    <a:bodyPr/>
                    <a:lstStyle/>
                    <a:p>
                      <a:pPr algn="l" fontAlgn="t"/>
                      <a:r>
                        <a:rPr lang="es-ES" sz="700" b="1" i="0" u="none" strike="noStrike">
                          <a:solidFill>
                            <a:srgbClr val="FFFFFF"/>
                          </a:solidFill>
                          <a:effectLst/>
                          <a:latin typeface="Santander Text" panose="020B0504020201020104" pitchFamily="34" charset="0"/>
                        </a:rPr>
                        <a:t>CIB</a:t>
                      </a:r>
                    </a:p>
                  </a:txBody>
                  <a:tcPr marL="78436" marR="2615" marT="2615" marB="0">
                    <a:lnL w="6350" cap="flat" cmpd="sng" algn="ctr">
                      <a:solidFill>
                        <a:srgbClr val="000000"/>
                      </a:solidFill>
                      <a:prstDash val="solid"/>
                      <a:round/>
                      <a:headEnd type="none" w="med" len="med"/>
                      <a:tailEnd type="none" w="med" len="med"/>
                    </a:lnL>
                    <a:lnR>
                      <a:noFill/>
                    </a:lnR>
                    <a:lnT w="6350" cap="flat" cmpd="sng" algn="ctr">
                      <a:solidFill>
                        <a:srgbClr val="D0CECE"/>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F75B5"/>
                    </a:solidFill>
                  </a:tcPr>
                </a:tc>
                <a:tc>
                  <a:txBody>
                    <a:bodyPr/>
                    <a:lstStyle/>
                    <a:p>
                      <a:pPr algn="l" fontAlgn="t"/>
                      <a:endParaRPr lang="es-ES" sz="700" b="1" i="0" u="none" strike="noStrike">
                        <a:solidFill>
                          <a:srgbClr val="FFFFFF"/>
                        </a:solidFill>
                        <a:effectLst/>
                        <a:latin typeface="Santander Text" panose="020B0504020201020104" pitchFamily="34" charset="0"/>
                      </a:endParaRPr>
                    </a:p>
                  </a:txBody>
                  <a:tcPr marL="78436" marR="2615" marT="2615" marB="0">
                    <a:lnL>
                      <a:noFill/>
                    </a:lnL>
                    <a:lnR w="6350" cap="flat" cmpd="sng" algn="ctr">
                      <a:solidFill>
                        <a:srgbClr val="FFC000"/>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s-ES" sz="700" b="1" i="0" u="none" strike="noStrike">
                          <a:solidFill>
                            <a:srgbClr val="FFFFFF"/>
                          </a:solidFill>
                          <a:effectLst/>
                          <a:latin typeface="Santander Text" panose="020B0504020201020104" pitchFamily="34" charset="0"/>
                        </a:rPr>
                        <a:t>Wholesale Operations,KYC,Credit&amp;Market Risk, Reg Reporting, Transac Monitoring</a:t>
                      </a:r>
                    </a:p>
                  </a:txBody>
                  <a:tcPr marL="78436" marR="2615" marT="2615" marB="0">
                    <a:lnL w="6350" cap="flat" cmpd="sng" algn="ctr">
                      <a:solidFill>
                        <a:srgbClr val="FFC000"/>
                      </a:solidFill>
                      <a:prstDash val="solid"/>
                      <a:round/>
                      <a:headEnd type="none" w="med" len="med"/>
                      <a:tailEnd type="none" w="med" len="med"/>
                    </a:lnL>
                    <a:lnR>
                      <a:noFill/>
                    </a:lnR>
                    <a:lnT w="6350" cap="flat" cmpd="sng" algn="ctr">
                      <a:solidFill>
                        <a:srgbClr val="FFC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r>
                        <a:rPr lang="en-US" sz="700" b="1" i="0" u="none" strike="noStrike">
                          <a:solidFill>
                            <a:srgbClr val="000000"/>
                          </a:solidFill>
                          <a:effectLst/>
                          <a:latin typeface="Santander Text" panose="020B0504020201020104" pitchFamily="34" charset="0"/>
                        </a:rPr>
                        <a:t>Set of specialized Wholesale banking segment business support capabilities that cover mainly areas related to complaint, risk management, fraud and regulatory reporting  different from the one applicable to Retail and commercial segments </a:t>
                      </a:r>
                    </a:p>
                  </a:txBody>
                  <a:tcPr marL="2615" marR="2615" marT="2615" marB="0">
                    <a:lnL>
                      <a:noFill/>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extLst>
                  <a:ext uri="{0D108BD9-81ED-4DB2-BD59-A6C34878D82A}">
                    <a16:rowId xmlns:a16="http://schemas.microsoft.com/office/drawing/2014/main" val="1756815712"/>
                  </a:ext>
                </a:extLst>
              </a:tr>
              <a:tr h="107151">
                <a:tc>
                  <a:txBody>
                    <a:bodyPr/>
                    <a:lstStyle/>
                    <a:p>
                      <a:pPr algn="l" fontAlgn="t"/>
                      <a:r>
                        <a:rPr lang="es-ES" sz="700" b="1" i="0" u="none" strike="noStrike">
                          <a:solidFill>
                            <a:srgbClr val="000000"/>
                          </a:solidFill>
                          <a:effectLst/>
                          <a:latin typeface="Santander Text" panose="020B0504020201020104" pitchFamily="34" charset="0"/>
                        </a:rPr>
                        <a:t>Technology</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l" fontAlgn="t"/>
                      <a:r>
                        <a:rPr lang="es-ES" sz="700" b="0" i="0" u="none" strike="noStrike">
                          <a:solidFill>
                            <a:srgbClr val="000000"/>
                          </a:solidFill>
                          <a:effectLst/>
                          <a:latin typeface="Santander Text" panose="020B0504020201020104" pitchFamily="34" charset="0"/>
                        </a:rPr>
                        <a:t>Global Technology</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l" fontAlgn="t"/>
                      <a:r>
                        <a:rPr lang="es-ES" sz="700" b="0" i="0" u="none" strike="noStrike">
                          <a:solidFill>
                            <a:srgbClr val="000000"/>
                          </a:solidFill>
                          <a:effectLst/>
                          <a:latin typeface="Santander Text" panose="020B0504020201020104" pitchFamily="34" charset="0"/>
                        </a:rPr>
                        <a:t> </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l" fontAlgn="t"/>
                      <a:r>
                        <a:rPr lang="es-ES" sz="700" b="1" i="0" u="none" strike="noStrike">
                          <a:solidFill>
                            <a:srgbClr val="000000"/>
                          </a:solidFill>
                          <a:effectLst/>
                          <a:latin typeface="Santander Text" panose="020B0504020201020104" pitchFamily="34" charset="0"/>
                        </a:rPr>
                        <a:t>Customer Identity</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fontAlgn="t"/>
                      <a:r>
                        <a:rPr lang="en-US" sz="700" b="1" i="0" u="none" strike="noStrike">
                          <a:solidFill>
                            <a:srgbClr val="000000"/>
                          </a:solidFill>
                          <a:effectLst/>
                          <a:latin typeface="Santander Text" panose="020B0504020201020104" pitchFamily="34" charset="0"/>
                        </a:rPr>
                        <a:t>Platform Component that covers all the security aspects related to assure and protect customers identity as well as his operative and data</a:t>
                      </a:r>
                    </a:p>
                  </a:txBody>
                  <a:tcPr marL="2615" marR="2615" marT="2615" marB="0">
                    <a:lnL w="6350" cap="flat" cmpd="sng" algn="ctr">
                      <a:solidFill>
                        <a:srgbClr val="00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extLst>
                  <a:ext uri="{0D108BD9-81ED-4DB2-BD59-A6C34878D82A}">
                    <a16:rowId xmlns:a16="http://schemas.microsoft.com/office/drawing/2014/main" val="1043517971"/>
                  </a:ext>
                </a:extLst>
              </a:tr>
              <a:tr h="107151">
                <a:tc>
                  <a:txBody>
                    <a:bodyPr/>
                    <a:lstStyle/>
                    <a:p>
                      <a:pPr algn="l" fontAlgn="t"/>
                      <a:r>
                        <a:rPr lang="es-ES" sz="700" b="1" i="0" u="none" strike="noStrike">
                          <a:solidFill>
                            <a:srgbClr val="000000"/>
                          </a:solidFill>
                          <a:effectLst/>
                          <a:latin typeface="Santander Text" panose="020B0504020201020104" pitchFamily="34" charset="0"/>
                        </a:rPr>
                        <a:t>Technology</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l" fontAlgn="t"/>
                      <a:r>
                        <a:rPr lang="es-ES" sz="700" b="0" i="0" u="none" strike="noStrike">
                          <a:solidFill>
                            <a:srgbClr val="000000"/>
                          </a:solidFill>
                          <a:effectLst/>
                          <a:latin typeface="Santander Text" panose="020B0504020201020104" pitchFamily="34" charset="0"/>
                        </a:rPr>
                        <a:t>Global Technology</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l" fontAlgn="t"/>
                      <a:r>
                        <a:rPr lang="es-ES" sz="700" b="0" i="0" u="none" strike="noStrike">
                          <a:solidFill>
                            <a:srgbClr val="000000"/>
                          </a:solidFill>
                          <a:effectLst/>
                          <a:latin typeface="Santander Text" panose="020B0504020201020104" pitchFamily="34" charset="0"/>
                        </a:rPr>
                        <a:t> </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l" fontAlgn="t"/>
                      <a:r>
                        <a:rPr lang="es-ES" sz="700" b="1" i="0" u="none" strike="noStrike">
                          <a:solidFill>
                            <a:srgbClr val="000000"/>
                          </a:solidFill>
                          <a:effectLst/>
                          <a:latin typeface="Santander Text" panose="020B0504020201020104" pitchFamily="34" charset="0"/>
                        </a:rPr>
                        <a:t>Processes</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fontAlgn="t"/>
                      <a:r>
                        <a:rPr lang="en-US" sz="700" b="1" i="0" u="none" strike="noStrike">
                          <a:solidFill>
                            <a:srgbClr val="000000"/>
                          </a:solidFill>
                          <a:effectLst/>
                          <a:latin typeface="Santander Text" panose="020B0504020201020104" pitchFamily="34" charset="0"/>
                        </a:rPr>
                        <a:t>Platform Component to design, build, deploy, monitor and operate all the group's processes</a:t>
                      </a:r>
                    </a:p>
                  </a:txBody>
                  <a:tcPr marL="2615" marR="2615" marT="2615" marB="0">
                    <a:lnL w="6350" cap="flat" cmpd="sng" algn="ctr">
                      <a:solidFill>
                        <a:srgbClr val="00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extLst>
                  <a:ext uri="{0D108BD9-81ED-4DB2-BD59-A6C34878D82A}">
                    <a16:rowId xmlns:a16="http://schemas.microsoft.com/office/drawing/2014/main" val="3517583246"/>
                  </a:ext>
                </a:extLst>
              </a:tr>
              <a:tr h="316324">
                <a:tc>
                  <a:txBody>
                    <a:bodyPr/>
                    <a:lstStyle/>
                    <a:p>
                      <a:pPr algn="l" fontAlgn="t"/>
                      <a:r>
                        <a:rPr lang="es-ES" sz="700" b="1" i="0" u="none" strike="noStrike">
                          <a:solidFill>
                            <a:srgbClr val="000000"/>
                          </a:solidFill>
                          <a:effectLst/>
                          <a:latin typeface="Santander Text" panose="020B0504020201020104" pitchFamily="34" charset="0"/>
                        </a:rPr>
                        <a:t>Technology</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l" fontAlgn="t"/>
                      <a:r>
                        <a:rPr lang="es-ES" sz="700" b="0" i="0" u="none" strike="noStrike">
                          <a:solidFill>
                            <a:srgbClr val="000000"/>
                          </a:solidFill>
                          <a:effectLst/>
                          <a:latin typeface="Santander Text" panose="020B0504020201020104" pitchFamily="34" charset="0"/>
                        </a:rPr>
                        <a:t>Global Technology</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l" fontAlgn="t"/>
                      <a:r>
                        <a:rPr lang="es-ES" sz="700" b="0" i="0" u="none" strike="noStrike">
                          <a:solidFill>
                            <a:srgbClr val="000000"/>
                          </a:solidFill>
                          <a:effectLst/>
                          <a:latin typeface="Santander Text" panose="020B0504020201020104" pitchFamily="34" charset="0"/>
                        </a:rPr>
                        <a:t> </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l" fontAlgn="t"/>
                      <a:r>
                        <a:rPr lang="es-ES" sz="700" b="1" i="0" u="none" strike="noStrike">
                          <a:solidFill>
                            <a:srgbClr val="000000"/>
                          </a:solidFill>
                          <a:effectLst/>
                          <a:latin typeface="Santander Text" panose="020B0504020201020104" pitchFamily="34" charset="0"/>
                        </a:rPr>
                        <a:t>GenAI Platform</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fontAlgn="t"/>
                      <a:r>
                        <a:rPr lang="en-US" sz="700" b="1" i="0" u="none" strike="noStrike">
                          <a:solidFill>
                            <a:srgbClr val="000000"/>
                          </a:solidFill>
                          <a:effectLst/>
                          <a:latin typeface="Santander Text" panose="020B0504020201020104" pitchFamily="34" charset="0"/>
                        </a:rPr>
                        <a:t>Provides internal AI as a Service platform for democratizing access to Artificial Intelligence capabilities, products, guidelines and building blocks within the Santander Group. Enables all businesses, local banks, and business units of the Group to efficiently, securely, and easily leverage AI capabilities in their applications and workflows</a:t>
                      </a:r>
                    </a:p>
                  </a:txBody>
                  <a:tcPr marL="2615" marR="2615" marT="2615" marB="0">
                    <a:lnL w="6350" cap="flat" cmpd="sng" algn="ctr">
                      <a:solidFill>
                        <a:srgbClr val="00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extLst>
                  <a:ext uri="{0D108BD9-81ED-4DB2-BD59-A6C34878D82A}">
                    <a16:rowId xmlns:a16="http://schemas.microsoft.com/office/drawing/2014/main" val="204558741"/>
                  </a:ext>
                </a:extLst>
              </a:tr>
              <a:tr h="107151">
                <a:tc>
                  <a:txBody>
                    <a:bodyPr/>
                    <a:lstStyle/>
                    <a:p>
                      <a:pPr algn="l" fontAlgn="t"/>
                      <a:r>
                        <a:rPr lang="es-ES" sz="700" b="1" i="0" u="none" strike="noStrike">
                          <a:solidFill>
                            <a:srgbClr val="000000"/>
                          </a:solidFill>
                          <a:effectLst/>
                          <a:latin typeface="Santander Text" panose="020B0504020201020104" pitchFamily="34" charset="0"/>
                        </a:rPr>
                        <a:t>Technology</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l" fontAlgn="t"/>
                      <a:r>
                        <a:rPr lang="es-ES" sz="700" b="0" i="0" u="none" strike="noStrike">
                          <a:solidFill>
                            <a:srgbClr val="000000"/>
                          </a:solidFill>
                          <a:effectLst/>
                          <a:latin typeface="Santander Text" panose="020B0504020201020104" pitchFamily="34" charset="0"/>
                        </a:rPr>
                        <a:t>Global Technology</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l" fontAlgn="t"/>
                      <a:r>
                        <a:rPr lang="es-ES" sz="700" b="0" i="0" u="none" strike="noStrike">
                          <a:solidFill>
                            <a:srgbClr val="000000"/>
                          </a:solidFill>
                          <a:effectLst/>
                          <a:latin typeface="Santander Text" panose="020B0504020201020104" pitchFamily="34" charset="0"/>
                        </a:rPr>
                        <a:t> </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l" fontAlgn="t"/>
                      <a:r>
                        <a:rPr lang="es-ES" sz="700" b="1" i="0" u="none" strike="noStrike">
                          <a:solidFill>
                            <a:srgbClr val="000000"/>
                          </a:solidFill>
                          <a:effectLst/>
                          <a:latin typeface="Santander Text" panose="020B0504020201020104" pitchFamily="34" charset="0"/>
                        </a:rPr>
                        <a:t>Crypto &amp; Blockchain</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fontAlgn="t"/>
                      <a:r>
                        <a:rPr lang="en-US" sz="700" b="1" i="0" u="none" strike="noStrike">
                          <a:solidFill>
                            <a:srgbClr val="000000"/>
                          </a:solidFill>
                          <a:effectLst/>
                          <a:latin typeface="Santander Text" panose="020B0504020201020104" pitchFamily="34" charset="0"/>
                        </a:rPr>
                        <a:t>Platform Component that covers crypto investing capabilities and others that imply deploying a blockchain network</a:t>
                      </a:r>
                    </a:p>
                  </a:txBody>
                  <a:tcPr marL="2615" marR="2615" marT="2615" marB="0">
                    <a:lnL w="6350" cap="flat" cmpd="sng" algn="ctr">
                      <a:solidFill>
                        <a:srgbClr val="00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extLst>
                  <a:ext uri="{0D108BD9-81ED-4DB2-BD59-A6C34878D82A}">
                    <a16:rowId xmlns:a16="http://schemas.microsoft.com/office/drawing/2014/main" val="3269120072"/>
                  </a:ext>
                </a:extLst>
              </a:tr>
              <a:tr h="211737">
                <a:tc>
                  <a:txBody>
                    <a:bodyPr/>
                    <a:lstStyle/>
                    <a:p>
                      <a:pPr algn="l" fontAlgn="t"/>
                      <a:r>
                        <a:rPr lang="es-ES" sz="700" b="1" i="0" u="none" strike="noStrike">
                          <a:solidFill>
                            <a:srgbClr val="000000"/>
                          </a:solidFill>
                          <a:effectLst/>
                          <a:latin typeface="Santander Text" panose="020B0504020201020104" pitchFamily="34" charset="0"/>
                        </a:rPr>
                        <a:t>Technology</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l" fontAlgn="t"/>
                      <a:r>
                        <a:rPr lang="es-ES" sz="700" b="0" i="0" u="none" strike="noStrike">
                          <a:solidFill>
                            <a:srgbClr val="000000"/>
                          </a:solidFill>
                          <a:effectLst/>
                          <a:latin typeface="Santander Text" panose="020B0504020201020104" pitchFamily="34" charset="0"/>
                        </a:rPr>
                        <a:t>Global Technology</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l" fontAlgn="t"/>
                      <a:r>
                        <a:rPr lang="es-ES" sz="700" b="0" i="0" u="none" strike="noStrike">
                          <a:solidFill>
                            <a:srgbClr val="000000"/>
                          </a:solidFill>
                          <a:effectLst/>
                          <a:latin typeface="Santander Text" panose="020B0504020201020104" pitchFamily="34" charset="0"/>
                        </a:rPr>
                        <a:t> </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l" fontAlgn="t"/>
                      <a:r>
                        <a:rPr lang="es-ES" sz="700" b="1" i="0" u="none" strike="noStrike">
                          <a:solidFill>
                            <a:srgbClr val="000000"/>
                          </a:solidFill>
                          <a:effectLst/>
                          <a:latin typeface="Santander Text" panose="020B0504020201020104" pitchFamily="34" charset="0"/>
                        </a:rPr>
                        <a:t>Data</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fontAlgn="t"/>
                      <a:r>
                        <a:rPr lang="en-US" sz="700" b="1" i="0" u="none" strike="noStrike">
                          <a:solidFill>
                            <a:srgbClr val="000000"/>
                          </a:solidFill>
                          <a:effectLst/>
                          <a:latin typeface="Santander Text" panose="020B0504020201020104" pitchFamily="34" charset="0"/>
                        </a:rPr>
                        <a:t>Platform Component that provides technological capabilities to Users and Systems in terms of provision and consumption of data as products, with unified governance and control</a:t>
                      </a:r>
                    </a:p>
                  </a:txBody>
                  <a:tcPr marL="2615" marR="2615" marT="2615" marB="0">
                    <a:lnL w="6350" cap="flat" cmpd="sng" algn="ctr">
                      <a:solidFill>
                        <a:srgbClr val="00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extLst>
                  <a:ext uri="{0D108BD9-81ED-4DB2-BD59-A6C34878D82A}">
                    <a16:rowId xmlns:a16="http://schemas.microsoft.com/office/drawing/2014/main" val="1230710428"/>
                  </a:ext>
                </a:extLst>
              </a:tr>
              <a:tr h="211737">
                <a:tc>
                  <a:txBody>
                    <a:bodyPr/>
                    <a:lstStyle/>
                    <a:p>
                      <a:pPr algn="l" fontAlgn="t"/>
                      <a:r>
                        <a:rPr lang="es-ES" sz="700" b="1" i="0" u="none" strike="noStrike">
                          <a:solidFill>
                            <a:srgbClr val="000000"/>
                          </a:solidFill>
                          <a:effectLst/>
                          <a:latin typeface="Santander Text" panose="020B0504020201020104" pitchFamily="34" charset="0"/>
                        </a:rPr>
                        <a:t>Technology</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l" fontAlgn="t"/>
                      <a:r>
                        <a:rPr lang="es-ES" sz="700" b="0" i="0" u="none" strike="noStrike">
                          <a:solidFill>
                            <a:srgbClr val="000000"/>
                          </a:solidFill>
                          <a:effectLst/>
                          <a:latin typeface="Santander Text" panose="020B0504020201020104" pitchFamily="34" charset="0"/>
                        </a:rPr>
                        <a:t>Global Technology</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l" fontAlgn="t"/>
                      <a:r>
                        <a:rPr lang="es-ES" sz="700" b="0" i="0" u="none" strike="noStrike">
                          <a:solidFill>
                            <a:srgbClr val="000000"/>
                          </a:solidFill>
                          <a:effectLst/>
                          <a:latin typeface="Santander Text" panose="020B0504020201020104" pitchFamily="34" charset="0"/>
                        </a:rPr>
                        <a:t> </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l" fontAlgn="t"/>
                      <a:r>
                        <a:rPr lang="es-ES" sz="700" b="1" i="0" u="none" strike="noStrike">
                          <a:solidFill>
                            <a:srgbClr val="000000"/>
                          </a:solidFill>
                          <a:effectLst/>
                          <a:latin typeface="Santander Text" panose="020B0504020201020104" pitchFamily="34" charset="0"/>
                        </a:rPr>
                        <a:t>Cyber and Fraud</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fontAlgn="t"/>
                      <a:r>
                        <a:rPr lang="en-US" sz="700" b="1" i="0" u="none" strike="noStrike">
                          <a:solidFill>
                            <a:srgbClr val="000000"/>
                          </a:solidFill>
                          <a:effectLst/>
                          <a:latin typeface="Santander Text" panose="020B0504020201020104" pitchFamily="34" charset="0"/>
                        </a:rPr>
                        <a:t>Global Cyber &amp; Fraud Platform Component that supports the capabilities for protection, threat detection, response, and external fraud prevention across the Group’s entities</a:t>
                      </a:r>
                    </a:p>
                  </a:txBody>
                  <a:tcPr marL="2615" marR="2615" marT="2615" marB="0">
                    <a:lnL w="6350" cap="flat" cmpd="sng" algn="ctr">
                      <a:solidFill>
                        <a:srgbClr val="00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extLst>
                  <a:ext uri="{0D108BD9-81ED-4DB2-BD59-A6C34878D82A}">
                    <a16:rowId xmlns:a16="http://schemas.microsoft.com/office/drawing/2014/main" val="614565011"/>
                  </a:ext>
                </a:extLst>
              </a:tr>
              <a:tr h="107151">
                <a:tc>
                  <a:txBody>
                    <a:bodyPr/>
                    <a:lstStyle/>
                    <a:p>
                      <a:pPr algn="l" fontAlgn="t"/>
                      <a:r>
                        <a:rPr lang="es-ES" sz="700" b="1" i="0" u="none" strike="noStrike">
                          <a:solidFill>
                            <a:srgbClr val="000000"/>
                          </a:solidFill>
                          <a:effectLst/>
                          <a:latin typeface="Santander Text" panose="020B0504020201020104" pitchFamily="34" charset="0"/>
                        </a:rPr>
                        <a:t>Technology</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l" fontAlgn="t"/>
                      <a:r>
                        <a:rPr lang="es-ES" sz="700" b="0" i="0" u="none" strike="noStrike">
                          <a:solidFill>
                            <a:srgbClr val="000000"/>
                          </a:solidFill>
                          <a:effectLst/>
                          <a:latin typeface="Santander Text" panose="020B0504020201020104" pitchFamily="34" charset="0"/>
                        </a:rPr>
                        <a:t>Global Technology</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l" fontAlgn="t"/>
                      <a:r>
                        <a:rPr lang="es-ES" sz="700" b="0" i="0" u="none" strike="noStrike">
                          <a:solidFill>
                            <a:srgbClr val="000000"/>
                          </a:solidFill>
                          <a:effectLst/>
                          <a:latin typeface="Santander Text" panose="020B0504020201020104" pitchFamily="34" charset="0"/>
                        </a:rPr>
                        <a:t> </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l" fontAlgn="t"/>
                      <a:r>
                        <a:rPr lang="es-ES" sz="700" b="1" i="0" u="none" strike="noStrike">
                          <a:solidFill>
                            <a:srgbClr val="000000"/>
                          </a:solidFill>
                          <a:effectLst/>
                          <a:latin typeface="Santander Text" panose="020B0504020201020104" pitchFamily="34" charset="0"/>
                        </a:rPr>
                        <a:t>Gluon - Global Dev Hub</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fontAlgn="t"/>
                      <a:r>
                        <a:rPr lang="en-US" sz="700" b="1" i="0" u="none" strike="noStrike">
                          <a:solidFill>
                            <a:srgbClr val="000000"/>
                          </a:solidFill>
                          <a:effectLst/>
                          <a:latin typeface="Santander Text" panose="020B0504020201020104" pitchFamily="34" charset="0"/>
                        </a:rPr>
                        <a:t>Development Platform Component that provides a common IT Stack, enabling building and deployment of the One Santander Platform</a:t>
                      </a:r>
                    </a:p>
                  </a:txBody>
                  <a:tcPr marL="2615" marR="2615" marT="2615" marB="0">
                    <a:lnL w="6350" cap="flat" cmpd="sng" algn="ctr">
                      <a:solidFill>
                        <a:srgbClr val="00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extLst>
                  <a:ext uri="{0D108BD9-81ED-4DB2-BD59-A6C34878D82A}">
                    <a16:rowId xmlns:a16="http://schemas.microsoft.com/office/drawing/2014/main" val="2191457107"/>
                  </a:ext>
                </a:extLst>
              </a:tr>
              <a:tr h="107151">
                <a:tc>
                  <a:txBody>
                    <a:bodyPr/>
                    <a:lstStyle/>
                    <a:p>
                      <a:pPr algn="l" fontAlgn="t"/>
                      <a:r>
                        <a:rPr lang="es-ES" sz="700" b="1" i="0" u="none" strike="noStrike">
                          <a:solidFill>
                            <a:srgbClr val="000000"/>
                          </a:solidFill>
                          <a:effectLst/>
                          <a:latin typeface="Santander Text" panose="020B0504020201020104" pitchFamily="34" charset="0"/>
                        </a:rPr>
                        <a:t>Technology</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l" fontAlgn="t"/>
                      <a:r>
                        <a:rPr lang="es-ES" sz="700" b="0" i="0" u="none" strike="noStrike">
                          <a:solidFill>
                            <a:srgbClr val="000000"/>
                          </a:solidFill>
                          <a:effectLst/>
                          <a:latin typeface="Santander Text" panose="020B0504020201020104" pitchFamily="34" charset="0"/>
                        </a:rPr>
                        <a:t>Global Technology</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l" fontAlgn="t"/>
                      <a:r>
                        <a:rPr lang="es-ES" sz="700" b="0" i="0" u="none" strike="noStrike">
                          <a:solidFill>
                            <a:srgbClr val="000000"/>
                          </a:solidFill>
                          <a:effectLst/>
                          <a:latin typeface="Santander Text" panose="020B0504020201020104" pitchFamily="34" charset="0"/>
                        </a:rPr>
                        <a:t> </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l" fontAlgn="t"/>
                      <a:r>
                        <a:rPr lang="es-ES" sz="700" b="1" i="0" u="none" strike="noStrike">
                          <a:solidFill>
                            <a:srgbClr val="000000"/>
                          </a:solidFill>
                          <a:effectLst/>
                          <a:latin typeface="Santander Text" panose="020B0504020201020104" pitchFamily="34" charset="0"/>
                        </a:rPr>
                        <a:t>Global Tech &amp; Infra Hub</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C000"/>
                      </a:solidFill>
                      <a:prstDash val="solid"/>
                      <a:round/>
                      <a:headEnd type="none" w="med" len="med"/>
                      <a:tailEnd type="none" w="med" len="med"/>
                    </a:lnB>
                    <a:solidFill>
                      <a:srgbClr val="E2EFDA"/>
                    </a:solidFill>
                  </a:tcPr>
                </a:tc>
                <a:tc>
                  <a:txBody>
                    <a:bodyPr/>
                    <a:lstStyle/>
                    <a:p>
                      <a:pPr algn="l" fontAlgn="t"/>
                      <a:r>
                        <a:rPr lang="en-US" sz="700" b="1" i="0" u="none" strike="noStrike">
                          <a:solidFill>
                            <a:srgbClr val="000000"/>
                          </a:solidFill>
                          <a:effectLst/>
                          <a:latin typeface="Santander Text" panose="020B0504020201020104" pitchFamily="34" charset="0"/>
                        </a:rPr>
                        <a:t>Set of foundational technical infrastructure supporting the execution and operation of the One Santander Platform</a:t>
                      </a:r>
                    </a:p>
                  </a:txBody>
                  <a:tcPr marL="2615" marR="2615" marT="2615" marB="0">
                    <a:lnL w="6350" cap="flat" cmpd="sng" algn="ctr">
                      <a:solidFill>
                        <a:srgbClr val="00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extLst>
                  <a:ext uri="{0D108BD9-81ED-4DB2-BD59-A6C34878D82A}">
                    <a16:rowId xmlns:a16="http://schemas.microsoft.com/office/drawing/2014/main" val="1363782570"/>
                  </a:ext>
                </a:extLst>
              </a:tr>
              <a:tr h="211737">
                <a:tc>
                  <a:txBody>
                    <a:bodyPr/>
                    <a:lstStyle/>
                    <a:p>
                      <a:pPr algn="l" fontAlgn="t"/>
                      <a:r>
                        <a:rPr lang="es-ES" sz="700" b="1" i="0" u="none" strike="noStrike">
                          <a:solidFill>
                            <a:srgbClr val="000000"/>
                          </a:solidFill>
                          <a:effectLst/>
                          <a:latin typeface="Santander Text" panose="020B0504020201020104" pitchFamily="34" charset="0"/>
                        </a:rPr>
                        <a:t>Global support functions</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EF1"/>
                    </a:solidFill>
                  </a:tcPr>
                </a:tc>
                <a:tc>
                  <a:txBody>
                    <a:bodyPr/>
                    <a:lstStyle/>
                    <a:p>
                      <a:pPr algn="l" fontAlgn="t"/>
                      <a:r>
                        <a:rPr lang="es-ES" sz="700" b="0" i="0" u="none" strike="noStrike">
                          <a:solidFill>
                            <a:srgbClr val="000000"/>
                          </a:solidFill>
                          <a:effectLst/>
                          <a:latin typeface="Santander Text" panose="020B0504020201020104" pitchFamily="34" charset="0"/>
                        </a:rPr>
                        <a:t>Global support functions</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EF1"/>
                    </a:solidFill>
                  </a:tcPr>
                </a:tc>
                <a:tc>
                  <a:txBody>
                    <a:bodyPr/>
                    <a:lstStyle/>
                    <a:p>
                      <a:pPr algn="l" fontAlgn="t"/>
                      <a:r>
                        <a:rPr lang="es-ES" sz="700" b="0" i="0" u="none" strike="noStrike">
                          <a:solidFill>
                            <a:srgbClr val="000000"/>
                          </a:solidFill>
                          <a:effectLst/>
                          <a:latin typeface="Santander Text" panose="020B0504020201020104" pitchFamily="34" charset="0"/>
                        </a:rPr>
                        <a:t> </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FFC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EF1"/>
                    </a:solidFill>
                  </a:tcPr>
                </a:tc>
                <a:tc>
                  <a:txBody>
                    <a:bodyPr/>
                    <a:lstStyle/>
                    <a:p>
                      <a:pPr algn="l" fontAlgn="t"/>
                      <a:r>
                        <a:rPr lang="es-ES" sz="700" b="1" i="0" u="none" strike="noStrike">
                          <a:solidFill>
                            <a:srgbClr val="FFFFFF"/>
                          </a:solidFill>
                          <a:effectLst/>
                          <a:latin typeface="Santander Text" panose="020B0504020201020104" pitchFamily="34" charset="0"/>
                        </a:rPr>
                        <a:t>One P&amp;C</a:t>
                      </a:r>
                    </a:p>
                  </a:txBody>
                  <a:tcPr marL="78436" marR="2615" marT="2615" marB="0">
                    <a:lnL w="6350" cap="flat" cmpd="sng" algn="ctr">
                      <a:solidFill>
                        <a:srgbClr val="FFC000"/>
                      </a:solidFill>
                      <a:prstDash val="solid"/>
                      <a:round/>
                      <a:headEnd type="none" w="med" len="med"/>
                      <a:tailEnd type="none" w="med" len="med"/>
                    </a:lnL>
                    <a:lnR>
                      <a:noFill/>
                    </a:lnR>
                    <a:lnT w="6350" cap="flat" cmpd="sng" algn="ctr">
                      <a:solidFill>
                        <a:srgbClr val="FFC000"/>
                      </a:solidFill>
                      <a:prstDash val="solid"/>
                      <a:round/>
                      <a:headEnd type="none" w="med" len="med"/>
                      <a:tailEnd type="none" w="med" len="med"/>
                    </a:lnT>
                    <a:lnB w="6350" cap="flat" cmpd="sng" algn="ctr">
                      <a:solidFill>
                        <a:srgbClr val="FFC000"/>
                      </a:solidFill>
                      <a:prstDash val="solid"/>
                      <a:round/>
                      <a:headEnd type="none" w="med" len="med"/>
                      <a:tailEnd type="none" w="med" len="med"/>
                    </a:lnB>
                    <a:solidFill>
                      <a:srgbClr val="0070C0"/>
                    </a:solidFill>
                  </a:tcPr>
                </a:tc>
                <a:tc>
                  <a:txBody>
                    <a:bodyPr/>
                    <a:lstStyle/>
                    <a:p>
                      <a:pPr algn="l" fontAlgn="t"/>
                      <a:r>
                        <a:rPr lang="en-US" sz="700" b="1" i="0" u="none" strike="noStrike">
                          <a:solidFill>
                            <a:srgbClr val="000000"/>
                          </a:solidFill>
                          <a:effectLst/>
                          <a:latin typeface="Santander Text" panose="020B0504020201020104" pitchFamily="34" charset="0"/>
                        </a:rPr>
                        <a:t>The Group's global Human Resources Platform Component, unifying and standardizing the management of Santander´s employees </a:t>
                      </a:r>
                    </a:p>
                  </a:txBody>
                  <a:tcPr marL="2615" marR="2615" marT="2615" marB="0">
                    <a:lnL>
                      <a:noFill/>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extLst>
                  <a:ext uri="{0D108BD9-81ED-4DB2-BD59-A6C34878D82A}">
                    <a16:rowId xmlns:a16="http://schemas.microsoft.com/office/drawing/2014/main" val="2044826290"/>
                  </a:ext>
                </a:extLst>
              </a:tr>
              <a:tr h="211737">
                <a:tc>
                  <a:txBody>
                    <a:bodyPr/>
                    <a:lstStyle/>
                    <a:p>
                      <a:pPr algn="l" fontAlgn="t"/>
                      <a:r>
                        <a:rPr lang="es-ES" sz="700" b="1" i="0" u="none" strike="noStrike">
                          <a:solidFill>
                            <a:srgbClr val="000000"/>
                          </a:solidFill>
                          <a:effectLst/>
                          <a:latin typeface="Santander Text" panose="020B0504020201020104" pitchFamily="34" charset="0"/>
                        </a:rPr>
                        <a:t>Global support functions</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EF1"/>
                    </a:solidFill>
                  </a:tcPr>
                </a:tc>
                <a:tc>
                  <a:txBody>
                    <a:bodyPr/>
                    <a:lstStyle/>
                    <a:p>
                      <a:pPr algn="l" fontAlgn="t"/>
                      <a:r>
                        <a:rPr lang="es-ES" sz="700" b="0" i="0" u="none" strike="noStrike">
                          <a:solidFill>
                            <a:srgbClr val="000000"/>
                          </a:solidFill>
                          <a:effectLst/>
                          <a:latin typeface="Santander Text" panose="020B0504020201020104" pitchFamily="34" charset="0"/>
                        </a:rPr>
                        <a:t>Global support functions</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EF1"/>
                    </a:solidFill>
                  </a:tcPr>
                </a:tc>
                <a:tc>
                  <a:txBody>
                    <a:bodyPr/>
                    <a:lstStyle/>
                    <a:p>
                      <a:pPr algn="l" fontAlgn="t"/>
                      <a:r>
                        <a:rPr lang="es-ES" sz="700" b="0" i="0" u="none" strike="noStrike">
                          <a:solidFill>
                            <a:srgbClr val="000000"/>
                          </a:solidFill>
                          <a:effectLst/>
                          <a:latin typeface="Santander Text" panose="020B0504020201020104" pitchFamily="34" charset="0"/>
                        </a:rPr>
                        <a:t> </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FFC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EF1"/>
                    </a:solidFill>
                  </a:tcPr>
                </a:tc>
                <a:tc>
                  <a:txBody>
                    <a:bodyPr/>
                    <a:lstStyle/>
                    <a:p>
                      <a:pPr algn="l" fontAlgn="t"/>
                      <a:r>
                        <a:rPr lang="es-ES" sz="700" b="1" i="0" u="none" strike="noStrike">
                          <a:solidFill>
                            <a:srgbClr val="FFFFFF"/>
                          </a:solidFill>
                          <a:effectLst/>
                          <a:latin typeface="Santander Text" panose="020B0504020201020104" pitchFamily="34" charset="0"/>
                        </a:rPr>
                        <a:t>One FCC / Compliance</a:t>
                      </a:r>
                    </a:p>
                  </a:txBody>
                  <a:tcPr marL="78436" marR="2615" marT="2615" marB="0">
                    <a:lnL w="6350" cap="flat" cmpd="sng" algn="ctr">
                      <a:solidFill>
                        <a:srgbClr val="FFC000"/>
                      </a:solidFill>
                      <a:prstDash val="solid"/>
                      <a:round/>
                      <a:headEnd type="none" w="med" len="med"/>
                      <a:tailEnd type="none" w="med" len="med"/>
                    </a:lnL>
                    <a:lnR>
                      <a:noFill/>
                    </a:lnR>
                    <a:lnT w="6350" cap="flat" cmpd="sng" algn="ctr">
                      <a:solidFill>
                        <a:srgbClr val="FFC000"/>
                      </a:solidFill>
                      <a:prstDash val="solid"/>
                      <a:round/>
                      <a:headEnd type="none" w="med" len="med"/>
                      <a:tailEnd type="none" w="med" len="med"/>
                    </a:lnT>
                    <a:lnB w="6350" cap="flat" cmpd="sng" algn="ctr">
                      <a:solidFill>
                        <a:srgbClr val="FFC000"/>
                      </a:solidFill>
                      <a:prstDash val="solid"/>
                      <a:round/>
                      <a:headEnd type="none" w="med" len="med"/>
                      <a:tailEnd type="none" w="med" len="med"/>
                    </a:lnB>
                    <a:solidFill>
                      <a:srgbClr val="0070C0"/>
                    </a:solidFill>
                  </a:tcPr>
                </a:tc>
                <a:tc>
                  <a:txBody>
                    <a:bodyPr/>
                    <a:lstStyle/>
                    <a:p>
                      <a:pPr algn="l" fontAlgn="t"/>
                      <a:r>
                        <a:rPr lang="en-US" sz="700" b="1" i="0" u="none" strike="noStrike">
                          <a:solidFill>
                            <a:srgbClr val="000000"/>
                          </a:solidFill>
                          <a:effectLst/>
                          <a:latin typeface="Santander Text" panose="020B0504020201020104" pitchFamily="34" charset="0"/>
                        </a:rPr>
                        <a:t>Global Financial Crime Compliance Platform Component to manage money laundering prevention and financial crime compliance in a unified way and with a group vision</a:t>
                      </a:r>
                    </a:p>
                  </a:txBody>
                  <a:tcPr marL="2615" marR="2615" marT="2615" marB="0">
                    <a:lnL>
                      <a:noFill/>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extLst>
                  <a:ext uri="{0D108BD9-81ED-4DB2-BD59-A6C34878D82A}">
                    <a16:rowId xmlns:a16="http://schemas.microsoft.com/office/drawing/2014/main" val="3091565422"/>
                  </a:ext>
                </a:extLst>
              </a:tr>
              <a:tr h="211737">
                <a:tc>
                  <a:txBody>
                    <a:bodyPr/>
                    <a:lstStyle/>
                    <a:p>
                      <a:pPr algn="l" fontAlgn="t"/>
                      <a:r>
                        <a:rPr lang="es-ES" sz="700" b="1" i="0" u="none" strike="noStrike">
                          <a:solidFill>
                            <a:srgbClr val="000000"/>
                          </a:solidFill>
                          <a:effectLst/>
                          <a:latin typeface="Santander Text" panose="020B0504020201020104" pitchFamily="34" charset="0"/>
                        </a:rPr>
                        <a:t>Global support functions</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EF1"/>
                    </a:solidFill>
                  </a:tcPr>
                </a:tc>
                <a:tc>
                  <a:txBody>
                    <a:bodyPr/>
                    <a:lstStyle/>
                    <a:p>
                      <a:pPr algn="l" fontAlgn="t"/>
                      <a:r>
                        <a:rPr lang="es-ES" sz="700" b="0" i="0" u="none" strike="noStrike">
                          <a:solidFill>
                            <a:srgbClr val="000000"/>
                          </a:solidFill>
                          <a:effectLst/>
                          <a:latin typeface="Santander Text" panose="020B0504020201020104" pitchFamily="34" charset="0"/>
                        </a:rPr>
                        <a:t>Global support functions</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EF1"/>
                    </a:solidFill>
                  </a:tcPr>
                </a:tc>
                <a:tc>
                  <a:txBody>
                    <a:bodyPr/>
                    <a:lstStyle/>
                    <a:p>
                      <a:pPr algn="l" fontAlgn="t"/>
                      <a:r>
                        <a:rPr lang="es-ES" sz="700" b="0" i="0" u="none" strike="noStrike">
                          <a:solidFill>
                            <a:srgbClr val="000000"/>
                          </a:solidFill>
                          <a:effectLst/>
                          <a:latin typeface="Santander Text" panose="020B0504020201020104" pitchFamily="34" charset="0"/>
                        </a:rPr>
                        <a:t> </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FFC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EF1"/>
                    </a:solidFill>
                  </a:tcPr>
                </a:tc>
                <a:tc>
                  <a:txBody>
                    <a:bodyPr/>
                    <a:lstStyle/>
                    <a:p>
                      <a:pPr algn="l" fontAlgn="t"/>
                      <a:r>
                        <a:rPr lang="es-ES" sz="700" b="1" i="0" u="none" strike="noStrike">
                          <a:solidFill>
                            <a:srgbClr val="FFFFFF"/>
                          </a:solidFill>
                          <a:effectLst/>
                          <a:latin typeface="Santander Text" panose="020B0504020201020104" pitchFamily="34" charset="0"/>
                        </a:rPr>
                        <a:t>ERP systems</a:t>
                      </a:r>
                    </a:p>
                  </a:txBody>
                  <a:tcPr marL="78436" marR="2615" marT="2615" marB="0">
                    <a:lnL w="6350" cap="flat" cmpd="sng" algn="ctr">
                      <a:solidFill>
                        <a:srgbClr val="FFC000"/>
                      </a:solidFill>
                      <a:prstDash val="solid"/>
                      <a:round/>
                      <a:headEnd type="none" w="med" len="med"/>
                      <a:tailEnd type="none" w="med" len="med"/>
                    </a:lnL>
                    <a:lnR>
                      <a:noFill/>
                    </a:lnR>
                    <a:lnT w="6350" cap="flat" cmpd="sng" algn="ctr">
                      <a:solidFill>
                        <a:srgbClr val="FFC000"/>
                      </a:solidFill>
                      <a:prstDash val="solid"/>
                      <a:round/>
                      <a:headEnd type="none" w="med" len="med"/>
                      <a:tailEnd type="none" w="med" len="med"/>
                    </a:lnT>
                    <a:lnB w="6350" cap="flat" cmpd="sng" algn="ctr">
                      <a:solidFill>
                        <a:srgbClr val="FFC000"/>
                      </a:solidFill>
                      <a:prstDash val="solid"/>
                      <a:round/>
                      <a:headEnd type="none" w="med" len="med"/>
                      <a:tailEnd type="none" w="med" len="med"/>
                    </a:lnB>
                    <a:solidFill>
                      <a:srgbClr val="0070C0"/>
                    </a:solidFill>
                  </a:tcPr>
                </a:tc>
                <a:tc>
                  <a:txBody>
                    <a:bodyPr/>
                    <a:lstStyle/>
                    <a:p>
                      <a:pPr algn="l" fontAlgn="t"/>
                      <a:r>
                        <a:rPr lang="en-US" sz="700" b="1" i="0" u="none" strike="noStrike">
                          <a:solidFill>
                            <a:srgbClr val="000000"/>
                          </a:solidFill>
                          <a:effectLst/>
                          <a:latin typeface="Santander Text" panose="020B0504020201020104" pitchFamily="34" charset="0"/>
                        </a:rPr>
                        <a:t>Platform component to manage the end to end Procure to Pay process</a:t>
                      </a:r>
                    </a:p>
                  </a:txBody>
                  <a:tcPr marL="2615" marR="2615" marT="2615" marB="0">
                    <a:lnL>
                      <a:noFill/>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extLst>
                  <a:ext uri="{0D108BD9-81ED-4DB2-BD59-A6C34878D82A}">
                    <a16:rowId xmlns:a16="http://schemas.microsoft.com/office/drawing/2014/main" val="265387236"/>
                  </a:ext>
                </a:extLst>
              </a:tr>
              <a:tr h="211737">
                <a:tc>
                  <a:txBody>
                    <a:bodyPr/>
                    <a:lstStyle/>
                    <a:p>
                      <a:pPr algn="l" fontAlgn="t"/>
                      <a:r>
                        <a:rPr lang="es-ES" sz="700" b="1" i="0" u="none" strike="noStrike">
                          <a:solidFill>
                            <a:srgbClr val="000000"/>
                          </a:solidFill>
                          <a:effectLst/>
                          <a:latin typeface="Santander Text" panose="020B0504020201020104" pitchFamily="34" charset="0"/>
                        </a:rPr>
                        <a:t>Global support functions</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EF1"/>
                    </a:solidFill>
                  </a:tcPr>
                </a:tc>
                <a:tc>
                  <a:txBody>
                    <a:bodyPr/>
                    <a:lstStyle/>
                    <a:p>
                      <a:pPr algn="l" fontAlgn="t"/>
                      <a:r>
                        <a:rPr lang="es-ES" sz="700" b="0" i="0" u="none" strike="noStrike">
                          <a:solidFill>
                            <a:srgbClr val="000000"/>
                          </a:solidFill>
                          <a:effectLst/>
                          <a:latin typeface="Santander Text" panose="020B0504020201020104" pitchFamily="34" charset="0"/>
                        </a:rPr>
                        <a:t>Global support functions</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EF1"/>
                    </a:solidFill>
                  </a:tcPr>
                </a:tc>
                <a:tc>
                  <a:txBody>
                    <a:bodyPr/>
                    <a:lstStyle/>
                    <a:p>
                      <a:pPr algn="l" fontAlgn="t"/>
                      <a:r>
                        <a:rPr lang="es-ES" sz="700" b="0" i="0" u="none" strike="noStrike">
                          <a:solidFill>
                            <a:srgbClr val="000000"/>
                          </a:solidFill>
                          <a:effectLst/>
                          <a:latin typeface="Santander Text" panose="020B0504020201020104" pitchFamily="34" charset="0"/>
                        </a:rPr>
                        <a:t> </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FFC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EF1"/>
                    </a:solidFill>
                  </a:tcPr>
                </a:tc>
                <a:tc>
                  <a:txBody>
                    <a:bodyPr/>
                    <a:lstStyle/>
                    <a:p>
                      <a:pPr algn="l" fontAlgn="t"/>
                      <a:r>
                        <a:rPr lang="es-ES" sz="700" b="1" i="0" u="none" strike="noStrike">
                          <a:solidFill>
                            <a:srgbClr val="FFFFFF"/>
                          </a:solidFill>
                          <a:effectLst/>
                          <a:latin typeface="Santander Text" panose="020B0504020201020104" pitchFamily="34" charset="0"/>
                        </a:rPr>
                        <a:t>Risks</a:t>
                      </a:r>
                    </a:p>
                  </a:txBody>
                  <a:tcPr marL="78436" marR="2615" marT="2615" marB="0">
                    <a:lnL w="6350" cap="flat" cmpd="sng" algn="ctr">
                      <a:solidFill>
                        <a:srgbClr val="FFC000"/>
                      </a:solidFill>
                      <a:prstDash val="solid"/>
                      <a:round/>
                      <a:headEnd type="none" w="med" len="med"/>
                      <a:tailEnd type="none" w="med" len="med"/>
                    </a:lnL>
                    <a:lnR>
                      <a:noFill/>
                    </a:lnR>
                    <a:lnT w="6350" cap="flat" cmpd="sng" algn="ctr">
                      <a:solidFill>
                        <a:srgbClr val="FFC000"/>
                      </a:solidFill>
                      <a:prstDash val="solid"/>
                      <a:round/>
                      <a:headEnd type="none" w="med" len="med"/>
                      <a:tailEnd type="none" w="med" len="med"/>
                    </a:lnT>
                    <a:lnB w="6350" cap="flat" cmpd="sng" algn="ctr">
                      <a:solidFill>
                        <a:srgbClr val="FFC000"/>
                      </a:solidFill>
                      <a:prstDash val="solid"/>
                      <a:round/>
                      <a:headEnd type="none" w="med" len="med"/>
                      <a:tailEnd type="none" w="med" len="med"/>
                    </a:lnB>
                    <a:solidFill>
                      <a:srgbClr val="0070C0"/>
                    </a:solidFill>
                  </a:tcPr>
                </a:tc>
                <a:tc>
                  <a:txBody>
                    <a:bodyPr/>
                    <a:lstStyle/>
                    <a:p>
                      <a:pPr algn="l" fontAlgn="t"/>
                      <a:r>
                        <a:rPr lang="en-US" sz="700" b="1" i="0" u="none" strike="noStrike">
                          <a:solidFill>
                            <a:srgbClr val="000000"/>
                          </a:solidFill>
                          <a:effectLst/>
                          <a:latin typeface="Santander Text" panose="020B0504020201020104" pitchFamily="34" charset="0"/>
                        </a:rPr>
                        <a:t>Consolidated and global vision of Santander Group's risks for their adequate management and minimization </a:t>
                      </a:r>
                    </a:p>
                  </a:txBody>
                  <a:tcPr marL="2615" marR="2615" marT="2615" marB="0">
                    <a:lnL>
                      <a:noFill/>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extLst>
                  <a:ext uri="{0D108BD9-81ED-4DB2-BD59-A6C34878D82A}">
                    <a16:rowId xmlns:a16="http://schemas.microsoft.com/office/drawing/2014/main" val="107646548"/>
                  </a:ext>
                </a:extLst>
              </a:tr>
              <a:tr h="211737">
                <a:tc>
                  <a:txBody>
                    <a:bodyPr/>
                    <a:lstStyle/>
                    <a:p>
                      <a:pPr algn="l" fontAlgn="t"/>
                      <a:r>
                        <a:rPr lang="es-ES" sz="700" b="1" i="0" u="none" strike="noStrike">
                          <a:solidFill>
                            <a:srgbClr val="000000"/>
                          </a:solidFill>
                          <a:effectLst/>
                          <a:latin typeface="Santander Text" panose="020B0504020201020104" pitchFamily="34" charset="0"/>
                        </a:rPr>
                        <a:t>Global support functions</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EF1"/>
                    </a:solidFill>
                  </a:tcPr>
                </a:tc>
                <a:tc>
                  <a:txBody>
                    <a:bodyPr/>
                    <a:lstStyle/>
                    <a:p>
                      <a:pPr algn="l" fontAlgn="t"/>
                      <a:r>
                        <a:rPr lang="es-ES" sz="700" b="0" i="0" u="none" strike="noStrike">
                          <a:solidFill>
                            <a:srgbClr val="000000"/>
                          </a:solidFill>
                          <a:effectLst/>
                          <a:latin typeface="Santander Text" panose="020B0504020201020104" pitchFamily="34" charset="0"/>
                        </a:rPr>
                        <a:t>Global support functions</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EF1"/>
                    </a:solidFill>
                  </a:tcPr>
                </a:tc>
                <a:tc>
                  <a:txBody>
                    <a:bodyPr/>
                    <a:lstStyle/>
                    <a:p>
                      <a:pPr algn="l" fontAlgn="t"/>
                      <a:r>
                        <a:rPr lang="es-ES" sz="700" b="0" i="0" u="none" strike="noStrike">
                          <a:solidFill>
                            <a:srgbClr val="000000"/>
                          </a:solidFill>
                          <a:effectLst/>
                          <a:latin typeface="Santander Text" panose="020B0504020201020104" pitchFamily="34" charset="0"/>
                        </a:rPr>
                        <a:t> </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FFC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EF1"/>
                    </a:solidFill>
                  </a:tcPr>
                </a:tc>
                <a:tc>
                  <a:txBody>
                    <a:bodyPr/>
                    <a:lstStyle/>
                    <a:p>
                      <a:pPr algn="l" fontAlgn="t"/>
                      <a:r>
                        <a:rPr lang="es-ES" sz="700" b="1" i="0" u="none" strike="noStrike">
                          <a:solidFill>
                            <a:srgbClr val="FFFFFF"/>
                          </a:solidFill>
                          <a:effectLst/>
                          <a:latin typeface="Santander Text" panose="020B0504020201020104" pitchFamily="34" charset="0"/>
                        </a:rPr>
                        <a:t>Regulatory Reporting</a:t>
                      </a:r>
                    </a:p>
                  </a:txBody>
                  <a:tcPr marL="78436" marR="2615" marT="2615" marB="0">
                    <a:lnL w="6350" cap="flat" cmpd="sng" algn="ctr">
                      <a:solidFill>
                        <a:srgbClr val="FFC000"/>
                      </a:solidFill>
                      <a:prstDash val="solid"/>
                      <a:round/>
                      <a:headEnd type="none" w="med" len="med"/>
                      <a:tailEnd type="none" w="med" len="med"/>
                    </a:lnL>
                    <a:lnR>
                      <a:noFill/>
                    </a:lnR>
                    <a:lnT w="6350" cap="flat" cmpd="sng" algn="ctr">
                      <a:solidFill>
                        <a:srgbClr val="FFC000"/>
                      </a:solidFill>
                      <a:prstDash val="solid"/>
                      <a:round/>
                      <a:headEnd type="none" w="med" len="med"/>
                      <a:tailEnd type="none" w="med" len="med"/>
                    </a:lnT>
                    <a:lnB w="6350" cap="flat" cmpd="sng" algn="ctr">
                      <a:solidFill>
                        <a:srgbClr val="FFC000"/>
                      </a:solidFill>
                      <a:prstDash val="solid"/>
                      <a:round/>
                      <a:headEnd type="none" w="med" len="med"/>
                      <a:tailEnd type="none" w="med" len="med"/>
                    </a:lnB>
                    <a:solidFill>
                      <a:srgbClr val="0070C0"/>
                    </a:solidFill>
                  </a:tcPr>
                </a:tc>
                <a:tc>
                  <a:txBody>
                    <a:bodyPr/>
                    <a:lstStyle/>
                    <a:p>
                      <a:pPr algn="l" fontAlgn="t"/>
                      <a:r>
                        <a:rPr lang="en-US" sz="700" b="1" i="0" u="none" strike="noStrike">
                          <a:solidFill>
                            <a:srgbClr val="000000"/>
                          </a:solidFill>
                          <a:effectLst/>
                          <a:latin typeface="Santander Text" panose="020B0504020201020104" pitchFamily="34" charset="0"/>
                        </a:rPr>
                        <a:t>Global platform for the generation of regulatory and management reporting in the entities of the Santander Group</a:t>
                      </a:r>
                    </a:p>
                  </a:txBody>
                  <a:tcPr marL="2615" marR="2615" marT="2615" marB="0">
                    <a:lnL>
                      <a:noFill/>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extLst>
                  <a:ext uri="{0D108BD9-81ED-4DB2-BD59-A6C34878D82A}">
                    <a16:rowId xmlns:a16="http://schemas.microsoft.com/office/drawing/2014/main" val="2568656259"/>
                  </a:ext>
                </a:extLst>
              </a:tr>
              <a:tr h="211737">
                <a:tc>
                  <a:txBody>
                    <a:bodyPr/>
                    <a:lstStyle/>
                    <a:p>
                      <a:pPr algn="l" fontAlgn="t"/>
                      <a:r>
                        <a:rPr lang="es-ES" sz="700" b="1" i="0" u="none" strike="noStrike">
                          <a:solidFill>
                            <a:srgbClr val="000000"/>
                          </a:solidFill>
                          <a:effectLst/>
                          <a:latin typeface="Santander Text" panose="020B0504020201020104" pitchFamily="34" charset="0"/>
                        </a:rPr>
                        <a:t>Global support functions</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EF1"/>
                    </a:solidFill>
                  </a:tcPr>
                </a:tc>
                <a:tc>
                  <a:txBody>
                    <a:bodyPr/>
                    <a:lstStyle/>
                    <a:p>
                      <a:pPr algn="l" fontAlgn="t"/>
                      <a:r>
                        <a:rPr lang="es-ES" sz="700" b="0" i="0" u="none" strike="noStrike">
                          <a:solidFill>
                            <a:srgbClr val="000000"/>
                          </a:solidFill>
                          <a:effectLst/>
                          <a:latin typeface="Santander Text" panose="020B0504020201020104" pitchFamily="34" charset="0"/>
                        </a:rPr>
                        <a:t>Global support functions</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EF1"/>
                    </a:solidFill>
                  </a:tcPr>
                </a:tc>
                <a:tc>
                  <a:txBody>
                    <a:bodyPr/>
                    <a:lstStyle/>
                    <a:p>
                      <a:pPr algn="l" fontAlgn="t"/>
                      <a:r>
                        <a:rPr lang="es-ES" sz="700" b="0" i="0" u="none" strike="noStrike">
                          <a:solidFill>
                            <a:srgbClr val="000000"/>
                          </a:solidFill>
                          <a:effectLst/>
                          <a:latin typeface="Santander Text" panose="020B0504020201020104" pitchFamily="34" charset="0"/>
                        </a:rPr>
                        <a:t> </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FFC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EF1"/>
                    </a:solidFill>
                  </a:tcPr>
                </a:tc>
                <a:tc>
                  <a:txBody>
                    <a:bodyPr/>
                    <a:lstStyle/>
                    <a:p>
                      <a:pPr algn="l" fontAlgn="t"/>
                      <a:r>
                        <a:rPr lang="es-ES" sz="700" b="1" i="0" u="none" strike="noStrike">
                          <a:solidFill>
                            <a:srgbClr val="FFFFFF"/>
                          </a:solidFill>
                          <a:effectLst/>
                          <a:latin typeface="Santander Text" panose="020B0504020201020104" pitchFamily="34" charset="0"/>
                        </a:rPr>
                        <a:t>Finance</a:t>
                      </a:r>
                    </a:p>
                  </a:txBody>
                  <a:tcPr marL="78436" marR="2615" marT="2615" marB="0">
                    <a:lnL w="6350" cap="flat" cmpd="sng" algn="ctr">
                      <a:solidFill>
                        <a:srgbClr val="FFC000"/>
                      </a:solidFill>
                      <a:prstDash val="solid"/>
                      <a:round/>
                      <a:headEnd type="none" w="med" len="med"/>
                      <a:tailEnd type="none" w="med" len="med"/>
                    </a:lnL>
                    <a:lnR>
                      <a:noFill/>
                    </a:lnR>
                    <a:lnT w="6350" cap="flat" cmpd="sng" algn="ctr">
                      <a:solidFill>
                        <a:srgbClr val="FFC000"/>
                      </a:solidFill>
                      <a:prstDash val="solid"/>
                      <a:round/>
                      <a:headEnd type="none" w="med" len="med"/>
                      <a:tailEnd type="none" w="med" len="med"/>
                    </a:lnT>
                    <a:lnB w="6350" cap="flat" cmpd="sng" algn="ctr">
                      <a:solidFill>
                        <a:srgbClr val="FFC000"/>
                      </a:solidFill>
                      <a:prstDash val="solid"/>
                      <a:round/>
                      <a:headEnd type="none" w="med" len="med"/>
                      <a:tailEnd type="none" w="med" len="med"/>
                    </a:lnB>
                    <a:solidFill>
                      <a:srgbClr val="0070C0"/>
                    </a:solidFill>
                  </a:tcPr>
                </a:tc>
                <a:tc>
                  <a:txBody>
                    <a:bodyPr/>
                    <a:lstStyle/>
                    <a:p>
                      <a:pPr algn="l" fontAlgn="t"/>
                      <a:r>
                        <a:rPr lang="en-US" sz="700" b="1" i="0" u="none" strike="noStrike">
                          <a:solidFill>
                            <a:srgbClr val="000000"/>
                          </a:solidFill>
                          <a:effectLst/>
                          <a:latin typeface="Santander Text" panose="020B0504020201020104" pitchFamily="34" charset="0"/>
                        </a:rPr>
                        <a:t>One ALM Initiative to cover Interest and Liquidity Risks for management and regulatory purposes</a:t>
                      </a:r>
                    </a:p>
                  </a:txBody>
                  <a:tcPr marL="2615" marR="2615" marT="2615" marB="0">
                    <a:lnL>
                      <a:noFill/>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extLst>
                  <a:ext uri="{0D108BD9-81ED-4DB2-BD59-A6C34878D82A}">
                    <a16:rowId xmlns:a16="http://schemas.microsoft.com/office/drawing/2014/main" val="241682617"/>
                  </a:ext>
                </a:extLst>
              </a:tr>
              <a:tr h="211737">
                <a:tc>
                  <a:txBody>
                    <a:bodyPr/>
                    <a:lstStyle/>
                    <a:p>
                      <a:pPr algn="l" fontAlgn="t"/>
                      <a:r>
                        <a:rPr lang="es-ES" sz="700" b="1" i="0" u="none" strike="noStrike">
                          <a:solidFill>
                            <a:srgbClr val="000000"/>
                          </a:solidFill>
                          <a:effectLst/>
                          <a:latin typeface="Santander Text" panose="020B0504020201020104" pitchFamily="34" charset="0"/>
                        </a:rPr>
                        <a:t>Global support functions</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EF1"/>
                    </a:solidFill>
                  </a:tcPr>
                </a:tc>
                <a:tc>
                  <a:txBody>
                    <a:bodyPr/>
                    <a:lstStyle/>
                    <a:p>
                      <a:pPr algn="l" fontAlgn="t"/>
                      <a:r>
                        <a:rPr lang="es-ES" sz="700" b="0" i="0" u="none" strike="noStrike">
                          <a:solidFill>
                            <a:srgbClr val="000000"/>
                          </a:solidFill>
                          <a:effectLst/>
                          <a:latin typeface="Santander Text" panose="020B0504020201020104" pitchFamily="34" charset="0"/>
                        </a:rPr>
                        <a:t>Global support functions</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EF1"/>
                    </a:solidFill>
                  </a:tcPr>
                </a:tc>
                <a:tc>
                  <a:txBody>
                    <a:bodyPr/>
                    <a:lstStyle/>
                    <a:p>
                      <a:pPr algn="l" fontAlgn="t"/>
                      <a:r>
                        <a:rPr lang="es-ES" sz="700" b="0" i="0" u="none" strike="noStrike">
                          <a:solidFill>
                            <a:srgbClr val="000000"/>
                          </a:solidFill>
                          <a:effectLst/>
                          <a:latin typeface="Santander Text" panose="020B0504020201020104" pitchFamily="34" charset="0"/>
                        </a:rPr>
                        <a:t> </a:t>
                      </a:r>
                    </a:p>
                  </a:txBody>
                  <a:tcPr marL="78436" marR="2615" marT="2615" marB="0">
                    <a:lnL w="6350" cap="flat" cmpd="sng" algn="ctr">
                      <a:solidFill>
                        <a:srgbClr val="000000"/>
                      </a:solidFill>
                      <a:prstDash val="solid"/>
                      <a:round/>
                      <a:headEnd type="none" w="med" len="med"/>
                      <a:tailEnd type="none" w="med" len="med"/>
                    </a:lnL>
                    <a:lnR w="6350" cap="flat" cmpd="sng" algn="ctr">
                      <a:solidFill>
                        <a:srgbClr val="FFC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EEF1"/>
                    </a:solidFill>
                  </a:tcPr>
                </a:tc>
                <a:tc>
                  <a:txBody>
                    <a:bodyPr/>
                    <a:lstStyle/>
                    <a:p>
                      <a:pPr algn="l" fontAlgn="t"/>
                      <a:r>
                        <a:rPr lang="es-ES" sz="700" b="1" i="0" u="none" strike="noStrike">
                          <a:solidFill>
                            <a:srgbClr val="FFFFFF"/>
                          </a:solidFill>
                          <a:effectLst/>
                          <a:latin typeface="Santander Text" panose="020B0504020201020104" pitchFamily="34" charset="0"/>
                        </a:rPr>
                        <a:t>ESG (MIS &amp; SCFS)</a:t>
                      </a:r>
                    </a:p>
                  </a:txBody>
                  <a:tcPr marL="78436" marR="2615" marT="2615" marB="0">
                    <a:lnL w="6350" cap="flat" cmpd="sng" algn="ctr">
                      <a:solidFill>
                        <a:srgbClr val="FFC000"/>
                      </a:solidFill>
                      <a:prstDash val="solid"/>
                      <a:round/>
                      <a:headEnd type="none" w="med" len="med"/>
                      <a:tailEnd type="none" w="med" len="med"/>
                    </a:lnL>
                    <a:lnR>
                      <a:noFill/>
                    </a:lnR>
                    <a:lnT w="6350" cap="flat" cmpd="sng" algn="ctr">
                      <a:solidFill>
                        <a:srgbClr val="FFC000"/>
                      </a:solidFill>
                      <a:prstDash val="solid"/>
                      <a:round/>
                      <a:headEnd type="none" w="med" len="med"/>
                      <a:tailEnd type="none" w="med" len="med"/>
                    </a:lnT>
                    <a:lnB w="6350" cap="flat" cmpd="sng" algn="ctr">
                      <a:solidFill>
                        <a:srgbClr val="FFC000"/>
                      </a:solidFill>
                      <a:prstDash val="solid"/>
                      <a:round/>
                      <a:headEnd type="none" w="med" len="med"/>
                      <a:tailEnd type="none" w="med" len="med"/>
                    </a:lnB>
                    <a:solidFill>
                      <a:srgbClr val="0070C0"/>
                    </a:solidFill>
                  </a:tcPr>
                </a:tc>
                <a:tc>
                  <a:txBody>
                    <a:bodyPr/>
                    <a:lstStyle/>
                    <a:p>
                      <a:pPr algn="l" fontAlgn="t"/>
                      <a:r>
                        <a:rPr lang="en-US" sz="700" b="1" i="0" u="none" strike="noStrike">
                          <a:solidFill>
                            <a:srgbClr val="000000"/>
                          </a:solidFill>
                          <a:effectLst/>
                          <a:latin typeface="Santander Text" panose="020B0504020201020104" pitchFamily="34" charset="0"/>
                        </a:rPr>
                        <a:t>ESG aims to consolidate, automate, and standardize ESG processes and information across the Group to ensure transparency, consistency, regulatory compliance, and facilitate business generation</a:t>
                      </a:r>
                    </a:p>
                  </a:txBody>
                  <a:tcPr marL="2615" marR="2615" marT="2615" marB="0">
                    <a:lnL>
                      <a:noFill/>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D0CECE"/>
                      </a:solidFill>
                      <a:prstDash val="solid"/>
                      <a:round/>
                      <a:headEnd type="none" w="med" len="med"/>
                      <a:tailEnd type="none" w="med" len="med"/>
                    </a:lnB>
                    <a:noFill/>
                  </a:tcPr>
                </a:tc>
                <a:extLst>
                  <a:ext uri="{0D108BD9-81ED-4DB2-BD59-A6C34878D82A}">
                    <a16:rowId xmlns:a16="http://schemas.microsoft.com/office/drawing/2014/main" val="2159491115"/>
                  </a:ext>
                </a:extLst>
              </a:tr>
            </a:tbl>
          </a:graphicData>
        </a:graphic>
      </p:graphicFrame>
    </p:spTree>
    <p:extLst>
      <p:ext uri="{BB962C8B-B14F-4D97-AF65-F5344CB8AC3E}">
        <p14:creationId xmlns:p14="http://schemas.microsoft.com/office/powerpoint/2010/main" val="4017754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F95F6-79F8-A372-C5AE-4966179B474F}"/>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3D9D08F7-7BC8-E72A-8FED-33AF9D82C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antander Text"/>
              <a:ea typeface="+mn-ea"/>
              <a:cs typeface="+mn-cs"/>
            </a:endParaRPr>
          </a:p>
        </p:txBody>
      </p:sp>
      <p:sp>
        <p:nvSpPr>
          <p:cNvPr id="5" name="CuadroTexto 7">
            <a:extLst>
              <a:ext uri="{FF2B5EF4-FFF2-40B4-BE49-F238E27FC236}">
                <a16:creationId xmlns:a16="http://schemas.microsoft.com/office/drawing/2014/main" id="{29B57E21-9101-B989-0332-880D55D8C5D4}"/>
              </a:ext>
            </a:extLst>
          </p:cNvPr>
          <p:cNvSpPr txBox="1"/>
          <p:nvPr/>
        </p:nvSpPr>
        <p:spPr>
          <a:xfrm>
            <a:off x="5031441" y="269074"/>
            <a:ext cx="6855759"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antander Text"/>
                <a:ea typeface="+mn-ea"/>
                <a:cs typeface="+mn-cs"/>
              </a:rPr>
              <a:t>- For Approval -   </a:t>
            </a:r>
          </a:p>
        </p:txBody>
      </p:sp>
      <p:sp>
        <p:nvSpPr>
          <p:cNvPr id="6" name="TextBox 7">
            <a:extLst>
              <a:ext uri="{FF2B5EF4-FFF2-40B4-BE49-F238E27FC236}">
                <a16:creationId xmlns:a16="http://schemas.microsoft.com/office/drawing/2014/main" id="{1CFBF122-6558-A5BA-317D-507001A553E6}"/>
              </a:ext>
            </a:extLst>
          </p:cNvPr>
          <p:cNvSpPr txBox="1"/>
          <p:nvPr/>
        </p:nvSpPr>
        <p:spPr>
          <a:xfrm>
            <a:off x="255116" y="1994973"/>
            <a:ext cx="6204461" cy="2400657"/>
          </a:xfrm>
          <a:prstGeom prst="rect">
            <a:avLst/>
          </a:prstGeom>
          <a:noFill/>
          <a:ln>
            <a:solidFill>
              <a:schemeClr val="bg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000" i="0" u="none" strike="noStrike" kern="1200" cap="none" spc="0" normalizeH="0" baseline="0" noProof="0">
                <a:ln>
                  <a:noFill/>
                </a:ln>
                <a:solidFill>
                  <a:srgbClr val="EC0000"/>
                </a:solidFill>
                <a:effectLst/>
                <a:uLnTx/>
                <a:uFillTx/>
                <a:latin typeface="Santander Text" panose="020B0504020201020104" pitchFamily="34" charset="0"/>
                <a:ea typeface="+mn-ea"/>
                <a:cs typeface="+mn-cs"/>
              </a:rPr>
              <a:t>Annex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000" i="0" u="none" strike="noStrike" kern="1200" cap="none" spc="0" normalizeH="0" baseline="0" noProof="0">
                <a:ln>
                  <a:noFill/>
                </a:ln>
                <a:solidFill>
                  <a:srgbClr val="EC0000"/>
                </a:solidFill>
                <a:effectLst/>
                <a:uLnTx/>
                <a:uFillTx/>
                <a:latin typeface="Santander Text" panose="020B0504020201020104" pitchFamily="34" charset="0"/>
                <a:ea typeface="+mn-ea"/>
                <a:cs typeface="+mn-cs"/>
              </a:rPr>
              <a:t>Platform Component</a:t>
            </a:r>
            <a:r>
              <a:rPr lang="en-US" sz="5000">
                <a:solidFill>
                  <a:srgbClr val="EC0000"/>
                </a:solidFill>
                <a:latin typeface="Santander Text" panose="020B0504020201020104" pitchFamily="34" charset="0"/>
              </a:rPr>
              <a:t> </a:t>
            </a:r>
            <a:r>
              <a:rPr kumimoji="0" lang="en-US" sz="5000" i="0" u="none" strike="noStrike" kern="1200" cap="none" spc="0" normalizeH="0" baseline="0" noProof="0">
                <a:ln>
                  <a:noFill/>
                </a:ln>
                <a:solidFill>
                  <a:srgbClr val="EC0000"/>
                </a:solidFill>
                <a:effectLst/>
                <a:uLnTx/>
                <a:uFillTx/>
                <a:latin typeface="Santander Text" panose="020B0504020201020104" pitchFamily="34" charset="0"/>
                <a:ea typeface="+mn-ea"/>
                <a:cs typeface="+mn-cs"/>
              </a:rPr>
              <a:t>description</a:t>
            </a:r>
          </a:p>
        </p:txBody>
      </p:sp>
      <p:pic>
        <p:nvPicPr>
          <p:cNvPr id="18" name="Picture 17" descr="A picture containing colorfulness, light&#10;&#10;Description automatically generated">
            <a:extLst>
              <a:ext uri="{FF2B5EF4-FFF2-40B4-BE49-F238E27FC236}">
                <a16:creationId xmlns:a16="http://schemas.microsoft.com/office/drawing/2014/main" id="{597CA386-36A1-BDA6-0F08-E31A168E1E84}"/>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3285" t="310" r="18620"/>
          <a:stretch/>
        </p:blipFill>
        <p:spPr>
          <a:xfrm>
            <a:off x="6662789" y="815147"/>
            <a:ext cx="5274095" cy="5090674"/>
          </a:xfrm>
          <a:prstGeom prst="rect">
            <a:avLst/>
          </a:prstGeom>
          <a:ln w="9525">
            <a:solidFill>
              <a:schemeClr val="tx1"/>
            </a:solidFill>
          </a:ln>
        </p:spPr>
      </p:pic>
      <p:sp>
        <p:nvSpPr>
          <p:cNvPr id="20" name="Rectangle 19">
            <a:extLst>
              <a:ext uri="{FF2B5EF4-FFF2-40B4-BE49-F238E27FC236}">
                <a16:creationId xmlns:a16="http://schemas.microsoft.com/office/drawing/2014/main" id="{47FF2FE9-C58B-8C03-C12D-4C902C257010}"/>
              </a:ext>
            </a:extLst>
          </p:cNvPr>
          <p:cNvSpPr/>
          <p:nvPr/>
        </p:nvSpPr>
        <p:spPr>
          <a:xfrm>
            <a:off x="5284381" y="136526"/>
            <a:ext cx="6831786" cy="65849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antander Text"/>
              <a:ea typeface="+mn-ea"/>
              <a:cs typeface="+mn-cs"/>
            </a:endParaRPr>
          </a:p>
        </p:txBody>
      </p:sp>
      <p:sp>
        <p:nvSpPr>
          <p:cNvPr id="21" name="Rectangle 20">
            <a:extLst>
              <a:ext uri="{FF2B5EF4-FFF2-40B4-BE49-F238E27FC236}">
                <a16:creationId xmlns:a16="http://schemas.microsoft.com/office/drawing/2014/main" id="{FAA43CBC-7629-DF0C-7AB3-B1913384F8F6}"/>
              </a:ext>
            </a:extLst>
          </p:cNvPr>
          <p:cNvSpPr/>
          <p:nvPr/>
        </p:nvSpPr>
        <p:spPr>
          <a:xfrm>
            <a:off x="5379227" y="136524"/>
            <a:ext cx="6663774" cy="6584950"/>
          </a:xfrm>
          <a:prstGeom prst="rect">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antander Text"/>
              <a:ea typeface="+mn-ea"/>
              <a:cs typeface="+mn-cs"/>
            </a:endParaRPr>
          </a:p>
        </p:txBody>
      </p:sp>
    </p:spTree>
    <p:extLst>
      <p:ext uri="{BB962C8B-B14F-4D97-AF65-F5344CB8AC3E}">
        <p14:creationId xmlns:p14="http://schemas.microsoft.com/office/powerpoint/2010/main" val="4291690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2">
            <a:extLst>
              <a:ext uri="{FF2B5EF4-FFF2-40B4-BE49-F238E27FC236}">
                <a16:creationId xmlns:a16="http://schemas.microsoft.com/office/drawing/2014/main" id="{C5F67029-F219-FC96-7D6C-5F6C446E76B2}"/>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15" name="Rectángulo 14">
            <a:extLst>
              <a:ext uri="{FF2B5EF4-FFF2-40B4-BE49-F238E27FC236}">
                <a16:creationId xmlns:a16="http://schemas.microsoft.com/office/drawing/2014/main" id="{532E11D7-B060-9FE8-9DBC-290E6C96DE16}"/>
              </a:ext>
            </a:extLst>
          </p:cNvPr>
          <p:cNvSpPr/>
          <p:nvPr/>
        </p:nvSpPr>
        <p:spPr>
          <a:xfrm>
            <a:off x="711024" y="3201415"/>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200" b="0" i="0" u="none" strike="noStrike" kern="0" cap="none" spc="0" normalizeH="0" baseline="0" noProof="0">
                <a:ln>
                  <a:noFill/>
                </a:ln>
                <a:solidFill>
                  <a:srgbClr val="DEEDF1">
                    <a:lumMod val="25000"/>
                  </a:srgbClr>
                </a:solidFill>
                <a:effectLst/>
                <a:uLnTx/>
                <a:uFillTx/>
                <a:latin typeface="Santander Text"/>
                <a:ea typeface="+mn-ea"/>
                <a:cs typeface="+mn-cs"/>
              </a:rPr>
              <a:t>Dual Omnichannel View</a:t>
            </a:r>
          </a:p>
        </p:txBody>
      </p:sp>
      <p:sp>
        <p:nvSpPr>
          <p:cNvPr id="18" name="Rectángulo 17">
            <a:extLst>
              <a:ext uri="{FF2B5EF4-FFF2-40B4-BE49-F238E27FC236}">
                <a16:creationId xmlns:a16="http://schemas.microsoft.com/office/drawing/2014/main" id="{1BB5F719-890D-38E1-45DB-8EAA38B16BA1}"/>
              </a:ext>
            </a:extLst>
          </p:cNvPr>
          <p:cNvSpPr/>
          <p:nvPr/>
        </p:nvSpPr>
        <p:spPr>
          <a:xfrm>
            <a:off x="711024" y="4186812"/>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Menu Bar</a:t>
            </a:r>
          </a:p>
        </p:txBody>
      </p:sp>
      <p:sp>
        <p:nvSpPr>
          <p:cNvPr id="19" name="Rectángulo 18">
            <a:extLst>
              <a:ext uri="{FF2B5EF4-FFF2-40B4-BE49-F238E27FC236}">
                <a16:creationId xmlns:a16="http://schemas.microsoft.com/office/drawing/2014/main" id="{81107006-DEAA-61FE-5DFA-9A97FCDB224A}"/>
              </a:ext>
            </a:extLst>
          </p:cNvPr>
          <p:cNvSpPr/>
          <p:nvPr/>
        </p:nvSpPr>
        <p:spPr>
          <a:xfrm>
            <a:off x="711024" y="2216018"/>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Container</a:t>
            </a:r>
          </a:p>
        </p:txBody>
      </p:sp>
      <p:sp>
        <p:nvSpPr>
          <p:cNvPr id="20" name="Rectángulo 19">
            <a:extLst>
              <a:ext uri="{FF2B5EF4-FFF2-40B4-BE49-F238E27FC236}">
                <a16:creationId xmlns:a16="http://schemas.microsoft.com/office/drawing/2014/main" id="{B58357C3-A59A-8528-2609-D98BFD8B6F5C}"/>
              </a:ext>
            </a:extLst>
          </p:cNvPr>
          <p:cNvSpPr/>
          <p:nvPr/>
        </p:nvSpPr>
        <p:spPr>
          <a:xfrm>
            <a:off x="711024" y="5135097"/>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Device Management</a:t>
            </a:r>
          </a:p>
        </p:txBody>
      </p:sp>
      <p:sp>
        <p:nvSpPr>
          <p:cNvPr id="21" name="CuadroTexto 20">
            <a:extLst>
              <a:ext uri="{FF2B5EF4-FFF2-40B4-BE49-F238E27FC236}">
                <a16:creationId xmlns:a16="http://schemas.microsoft.com/office/drawing/2014/main" id="{521604CC-F7C4-A23D-26ED-6006C261FAEE}"/>
              </a:ext>
            </a:extLst>
          </p:cNvPr>
          <p:cNvSpPr txBox="1"/>
          <p:nvPr/>
        </p:nvSpPr>
        <p:spPr>
          <a:xfrm>
            <a:off x="684799" y="1128886"/>
            <a:ext cx="4391698" cy="807913"/>
          </a:xfrm>
          <a:prstGeom prst="rect">
            <a:avLst/>
          </a:prstGeom>
          <a:noFill/>
        </p:spPr>
        <p:txBody>
          <a:bodyPr wrap="square" rtlCol="0">
            <a:spAutoFit/>
          </a:bodyPr>
          <a:lstStyle/>
          <a:p>
            <a:pPr marL="355600" marR="0" lvl="0" indent="-355600" algn="l" defTabSz="914400" rtl="0" eaLnBrk="1" fontAlgn="auto" latinLnBrk="0" hangingPunct="1">
              <a:lnSpc>
                <a:spcPct val="100000"/>
              </a:lnSpc>
              <a:spcBef>
                <a:spcPts val="0"/>
              </a:spcBef>
              <a:spcAft>
                <a:spcPts val="300"/>
              </a:spcAft>
              <a:buClrTx/>
              <a:buSzTx/>
              <a:buFontTx/>
              <a:buNone/>
              <a:tabLst/>
              <a:defRPr/>
            </a:pPr>
            <a:r>
              <a:rPr kumimoji="0" lang="en-AU"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1 - Global Container  (Agent Desktop) </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400" b="0" i="1"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Single container to integrate the building blocks that supports customer lifecycle services</a:t>
            </a:r>
            <a:endParaRPr kumimoji="0" lang="en-AU" sz="1400" b="0" i="1"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endParaRPr>
          </a:p>
        </p:txBody>
      </p:sp>
      <p:cxnSp>
        <p:nvCxnSpPr>
          <p:cNvPr id="22" name="Conector recto 21">
            <a:extLst>
              <a:ext uri="{FF2B5EF4-FFF2-40B4-BE49-F238E27FC236}">
                <a16:creationId xmlns:a16="http://schemas.microsoft.com/office/drawing/2014/main" id="{95D3203A-A6F6-8622-675E-1B6CCD9AB872}"/>
              </a:ext>
            </a:extLst>
          </p:cNvPr>
          <p:cNvCxnSpPr>
            <a:cxnSpLocks/>
          </p:cNvCxnSpPr>
          <p:nvPr/>
        </p:nvCxnSpPr>
        <p:spPr>
          <a:xfrm flipH="1" flipV="1">
            <a:off x="711024" y="1933750"/>
            <a:ext cx="5112000" cy="0"/>
          </a:xfrm>
          <a:prstGeom prst="line">
            <a:avLst/>
          </a:prstGeom>
          <a:noFill/>
          <a:ln w="12700" cap="flat" cmpd="sng" algn="ctr">
            <a:solidFill>
              <a:srgbClr val="595959"/>
            </a:solidFill>
            <a:prstDash val="solid"/>
            <a:miter lim="800000"/>
          </a:ln>
          <a:effectLst/>
        </p:spPr>
      </p:cxnSp>
      <p:sp>
        <p:nvSpPr>
          <p:cNvPr id="23" name="CuadroTexto 22">
            <a:extLst>
              <a:ext uri="{FF2B5EF4-FFF2-40B4-BE49-F238E27FC236}">
                <a16:creationId xmlns:a16="http://schemas.microsoft.com/office/drawing/2014/main" id="{D0DF7234-D303-7B43-9FFE-366CABE65C67}"/>
              </a:ext>
            </a:extLst>
          </p:cNvPr>
          <p:cNvSpPr txBox="1"/>
          <p:nvPr/>
        </p:nvSpPr>
        <p:spPr>
          <a:xfrm>
            <a:off x="2192764" y="1965879"/>
            <a:ext cx="3658438" cy="909402"/>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0" cap="none" spc="0" normalizeH="0" baseline="0" noProof="0">
                <a:ln>
                  <a:noFill/>
                </a:ln>
                <a:solidFill>
                  <a:prstClr val="black"/>
                </a:solidFill>
                <a:effectLst/>
                <a:uLnTx/>
                <a:uFillTx/>
                <a:latin typeface="Santander Text"/>
                <a:ea typeface="+mn-ea"/>
                <a:cs typeface="+mn-cs"/>
              </a:rPr>
              <a:t>Offer a dynamic context to present services to the users in relation with Customer which is attended, Employee position and Role. </a:t>
            </a:r>
          </a:p>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0" cap="none" spc="0" normalizeH="0" baseline="0" noProof="0">
                <a:ln>
                  <a:noFill/>
                </a:ln>
                <a:solidFill>
                  <a:prstClr val="black"/>
                </a:solidFill>
                <a:effectLst/>
                <a:uLnTx/>
                <a:uFillTx/>
                <a:latin typeface="Santander Text"/>
                <a:ea typeface="+mn-ea"/>
                <a:cs typeface="+mn-cs"/>
              </a:rPr>
              <a:t>Contextual View offered to the Employee with a Configuration that allows to share information</a:t>
            </a:r>
          </a:p>
        </p:txBody>
      </p:sp>
      <p:cxnSp>
        <p:nvCxnSpPr>
          <p:cNvPr id="24" name="Conector recto 23">
            <a:extLst>
              <a:ext uri="{FF2B5EF4-FFF2-40B4-BE49-F238E27FC236}">
                <a16:creationId xmlns:a16="http://schemas.microsoft.com/office/drawing/2014/main" id="{8FB168E4-4482-3337-ECA4-1613C78248BE}"/>
              </a:ext>
            </a:extLst>
          </p:cNvPr>
          <p:cNvCxnSpPr>
            <a:cxnSpLocks/>
          </p:cNvCxnSpPr>
          <p:nvPr/>
        </p:nvCxnSpPr>
        <p:spPr>
          <a:xfrm flipH="1" flipV="1">
            <a:off x="684799" y="3060921"/>
            <a:ext cx="5112000" cy="0"/>
          </a:xfrm>
          <a:prstGeom prst="line">
            <a:avLst/>
          </a:prstGeom>
          <a:noFill/>
          <a:ln w="12700" cap="flat" cmpd="sng" algn="ctr">
            <a:solidFill>
              <a:schemeClr val="bg1">
                <a:lumMod val="85000"/>
              </a:schemeClr>
            </a:solidFill>
            <a:prstDash val="solid"/>
            <a:miter lim="800000"/>
          </a:ln>
          <a:effectLst/>
        </p:spPr>
      </p:cxnSp>
      <p:sp>
        <p:nvSpPr>
          <p:cNvPr id="26" name="CuadroTexto 25">
            <a:extLst>
              <a:ext uri="{FF2B5EF4-FFF2-40B4-BE49-F238E27FC236}">
                <a16:creationId xmlns:a16="http://schemas.microsoft.com/office/drawing/2014/main" id="{6D26BBC5-3876-5692-5E14-58110D472B80}"/>
              </a:ext>
            </a:extLst>
          </p:cNvPr>
          <p:cNvSpPr txBox="1"/>
          <p:nvPr/>
        </p:nvSpPr>
        <p:spPr>
          <a:xfrm>
            <a:off x="2192764" y="3152534"/>
            <a:ext cx="3630260" cy="830997"/>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0" cap="none" spc="0" normalizeH="0" baseline="0" noProof="0">
                <a:ln>
                  <a:noFill/>
                </a:ln>
                <a:solidFill>
                  <a:prstClr val="black"/>
                </a:solidFill>
                <a:effectLst/>
                <a:uLnTx/>
                <a:uFillTx/>
                <a:latin typeface="Santander Text"/>
                <a:ea typeface="+mn-ea"/>
                <a:cs typeface="+mn-cs"/>
              </a:rPr>
              <a:t>Unifying environment for commercial, customer service and support and transactional activities, so both the client and the employee have the same user experience and speed up service times</a:t>
            </a:r>
          </a:p>
        </p:txBody>
      </p:sp>
      <p:cxnSp>
        <p:nvCxnSpPr>
          <p:cNvPr id="27" name="Conector recto 26">
            <a:extLst>
              <a:ext uri="{FF2B5EF4-FFF2-40B4-BE49-F238E27FC236}">
                <a16:creationId xmlns:a16="http://schemas.microsoft.com/office/drawing/2014/main" id="{70843F3A-A2BD-26FA-4872-61326913BCF4}"/>
              </a:ext>
            </a:extLst>
          </p:cNvPr>
          <p:cNvCxnSpPr>
            <a:cxnSpLocks/>
          </p:cNvCxnSpPr>
          <p:nvPr/>
        </p:nvCxnSpPr>
        <p:spPr>
          <a:xfrm flipH="1" flipV="1">
            <a:off x="684799" y="3965161"/>
            <a:ext cx="5112000" cy="0"/>
          </a:xfrm>
          <a:prstGeom prst="line">
            <a:avLst/>
          </a:prstGeom>
          <a:noFill/>
          <a:ln w="12700" cap="flat" cmpd="sng" algn="ctr">
            <a:solidFill>
              <a:schemeClr val="bg1">
                <a:lumMod val="85000"/>
              </a:schemeClr>
            </a:solidFill>
            <a:prstDash val="solid"/>
            <a:miter lim="800000"/>
          </a:ln>
          <a:effectLst/>
        </p:spPr>
      </p:cxnSp>
      <p:sp>
        <p:nvSpPr>
          <p:cNvPr id="32" name="CuadroTexto 31">
            <a:extLst>
              <a:ext uri="{FF2B5EF4-FFF2-40B4-BE49-F238E27FC236}">
                <a16:creationId xmlns:a16="http://schemas.microsoft.com/office/drawing/2014/main" id="{8AB399CC-4E62-396B-4950-9F03F95F814C}"/>
              </a:ext>
            </a:extLst>
          </p:cNvPr>
          <p:cNvSpPr txBox="1"/>
          <p:nvPr/>
        </p:nvSpPr>
        <p:spPr>
          <a:xfrm>
            <a:off x="6140407" y="1024815"/>
            <a:ext cx="5111999" cy="807913"/>
          </a:xfrm>
          <a:prstGeom prst="rect">
            <a:avLst/>
          </a:prstGeom>
          <a:noFill/>
        </p:spPr>
        <p:txBody>
          <a:bodyPr wrap="square" rtlCol="0">
            <a:spAutoFit/>
          </a:bodyPr>
          <a:lstStyle/>
          <a:p>
            <a:pPr marL="355600" marR="0" lvl="0" indent="-355600" algn="l" defTabSz="914400" rtl="0" eaLnBrk="1" fontAlgn="auto" latinLnBrk="0" hangingPunct="1">
              <a:lnSpc>
                <a:spcPct val="100000"/>
              </a:lnSpc>
              <a:spcBef>
                <a:spcPts val="0"/>
              </a:spcBef>
              <a:spcAft>
                <a:spcPts val="300"/>
              </a:spcAft>
              <a:buClrTx/>
              <a:buSzTx/>
              <a:buFontTx/>
              <a:buNone/>
              <a:tabLst/>
              <a:defRPr/>
            </a:pPr>
            <a:r>
              <a:rPr kumimoji="0" lang="en-AU"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2 – Commercial Tools</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400" b="0" i="1"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Set of Homebuilt capacities to manage commercial activities with customers (pre-sales and sales)</a:t>
            </a:r>
            <a:endParaRPr kumimoji="0" lang="en-AU" sz="1400" b="0" i="1"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endParaRPr>
          </a:p>
        </p:txBody>
      </p:sp>
      <p:cxnSp>
        <p:nvCxnSpPr>
          <p:cNvPr id="33" name="Conector recto 32">
            <a:extLst>
              <a:ext uri="{FF2B5EF4-FFF2-40B4-BE49-F238E27FC236}">
                <a16:creationId xmlns:a16="http://schemas.microsoft.com/office/drawing/2014/main" id="{86F93A5B-47ED-0086-F0A8-1DFF037A0884}"/>
              </a:ext>
            </a:extLst>
          </p:cNvPr>
          <p:cNvCxnSpPr>
            <a:cxnSpLocks/>
          </p:cNvCxnSpPr>
          <p:nvPr/>
        </p:nvCxnSpPr>
        <p:spPr>
          <a:xfrm flipH="1" flipV="1">
            <a:off x="6166633" y="1829679"/>
            <a:ext cx="5112000" cy="0"/>
          </a:xfrm>
          <a:prstGeom prst="line">
            <a:avLst/>
          </a:prstGeom>
          <a:noFill/>
          <a:ln w="12700" cap="flat" cmpd="sng" algn="ctr">
            <a:solidFill>
              <a:srgbClr val="595959"/>
            </a:solidFill>
            <a:prstDash val="solid"/>
            <a:miter lim="800000"/>
          </a:ln>
          <a:effectLst/>
        </p:spPr>
      </p:cxnSp>
      <p:sp>
        <p:nvSpPr>
          <p:cNvPr id="34" name="CuadroTexto 33">
            <a:extLst>
              <a:ext uri="{FF2B5EF4-FFF2-40B4-BE49-F238E27FC236}">
                <a16:creationId xmlns:a16="http://schemas.microsoft.com/office/drawing/2014/main" id="{F2599503-9F52-81AF-B186-BA0272476971}"/>
              </a:ext>
            </a:extLst>
          </p:cNvPr>
          <p:cNvSpPr txBox="1"/>
          <p:nvPr/>
        </p:nvSpPr>
        <p:spPr>
          <a:xfrm>
            <a:off x="7723898" y="1901629"/>
            <a:ext cx="4004805" cy="909402"/>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AU"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rPr>
              <a:t>Main page of the application which contains a summary of the most relevant  and hyperlinks to navigate</a:t>
            </a:r>
            <a:endParaRPr kumimoji="0" lang="en-US" sz="1200" b="0" i="0" u="none" strike="noStrike" kern="0" cap="none" spc="0" normalizeH="0" baseline="0" noProof="0">
              <a:ln>
                <a:noFill/>
              </a:ln>
              <a:solidFill>
                <a:prstClr val="black"/>
              </a:solidFill>
              <a:effectLst/>
              <a:uLnTx/>
              <a:uFillTx/>
              <a:latin typeface="Santander Text"/>
              <a:ea typeface="+mn-ea"/>
              <a:cs typeface="+mn-cs"/>
            </a:endParaRPr>
          </a:p>
        </p:txBody>
      </p:sp>
      <p:cxnSp>
        <p:nvCxnSpPr>
          <p:cNvPr id="35" name="Conector recto 34">
            <a:extLst>
              <a:ext uri="{FF2B5EF4-FFF2-40B4-BE49-F238E27FC236}">
                <a16:creationId xmlns:a16="http://schemas.microsoft.com/office/drawing/2014/main" id="{898D6A82-26BF-1216-98A7-D746061A9797}"/>
              </a:ext>
            </a:extLst>
          </p:cNvPr>
          <p:cNvCxnSpPr>
            <a:cxnSpLocks/>
          </p:cNvCxnSpPr>
          <p:nvPr/>
        </p:nvCxnSpPr>
        <p:spPr>
          <a:xfrm flipH="1" flipV="1">
            <a:off x="6177175" y="2479137"/>
            <a:ext cx="5112000" cy="0"/>
          </a:xfrm>
          <a:prstGeom prst="line">
            <a:avLst/>
          </a:prstGeom>
          <a:noFill/>
          <a:ln w="12700" cap="flat" cmpd="sng" algn="ctr">
            <a:solidFill>
              <a:schemeClr val="bg1">
                <a:lumMod val="85000"/>
              </a:schemeClr>
            </a:solidFill>
            <a:prstDash val="solid"/>
            <a:miter lim="800000"/>
          </a:ln>
          <a:effectLst/>
        </p:spPr>
      </p:cxnSp>
      <p:cxnSp>
        <p:nvCxnSpPr>
          <p:cNvPr id="37" name="Conector recto 36">
            <a:extLst>
              <a:ext uri="{FF2B5EF4-FFF2-40B4-BE49-F238E27FC236}">
                <a16:creationId xmlns:a16="http://schemas.microsoft.com/office/drawing/2014/main" id="{75EE2D35-D8CD-EDA1-C9D7-DFC8B538DC98}"/>
              </a:ext>
            </a:extLst>
          </p:cNvPr>
          <p:cNvCxnSpPr>
            <a:cxnSpLocks/>
          </p:cNvCxnSpPr>
          <p:nvPr/>
        </p:nvCxnSpPr>
        <p:spPr>
          <a:xfrm flipH="1" flipV="1">
            <a:off x="6177175" y="3162278"/>
            <a:ext cx="5112000" cy="0"/>
          </a:xfrm>
          <a:prstGeom prst="line">
            <a:avLst/>
          </a:prstGeom>
          <a:noFill/>
          <a:ln w="12700" cap="flat" cmpd="sng" algn="ctr">
            <a:solidFill>
              <a:schemeClr val="bg1">
                <a:lumMod val="85000"/>
              </a:schemeClr>
            </a:solidFill>
            <a:prstDash val="solid"/>
            <a:miter lim="800000"/>
          </a:ln>
          <a:effectLst/>
        </p:spPr>
      </p:cxnSp>
      <p:sp>
        <p:nvSpPr>
          <p:cNvPr id="38" name="Rectángulo 37">
            <a:extLst>
              <a:ext uri="{FF2B5EF4-FFF2-40B4-BE49-F238E27FC236}">
                <a16:creationId xmlns:a16="http://schemas.microsoft.com/office/drawing/2014/main" id="{997B093E-02C2-D040-644C-66CEEEEDD09A}"/>
              </a:ext>
            </a:extLst>
          </p:cNvPr>
          <p:cNvSpPr/>
          <p:nvPr/>
        </p:nvSpPr>
        <p:spPr>
          <a:xfrm>
            <a:off x="6177175" y="1992509"/>
            <a:ext cx="1440000" cy="382138"/>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Home</a:t>
            </a:r>
          </a:p>
        </p:txBody>
      </p:sp>
      <p:sp>
        <p:nvSpPr>
          <p:cNvPr id="39" name="Rectángulo 38">
            <a:extLst>
              <a:ext uri="{FF2B5EF4-FFF2-40B4-BE49-F238E27FC236}">
                <a16:creationId xmlns:a16="http://schemas.microsoft.com/office/drawing/2014/main" id="{766A0797-9B2C-B806-C250-4BE67C33781B}"/>
              </a:ext>
            </a:extLst>
          </p:cNvPr>
          <p:cNvSpPr/>
          <p:nvPr/>
        </p:nvSpPr>
        <p:spPr>
          <a:xfrm>
            <a:off x="6177175" y="2601403"/>
            <a:ext cx="1440000" cy="387183"/>
          </a:xfrm>
          <a:prstGeom prst="rect">
            <a:avLst/>
          </a:prstGeom>
          <a:noFill/>
          <a:ln w="12700" cap="flat" cmpd="sng" algn="ctr">
            <a:solidFill>
              <a:schemeClr val="bg1">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Agenda </a:t>
            </a:r>
          </a:p>
        </p:txBody>
      </p:sp>
      <p:sp>
        <p:nvSpPr>
          <p:cNvPr id="42" name="Rectángulo 41">
            <a:extLst>
              <a:ext uri="{FF2B5EF4-FFF2-40B4-BE49-F238E27FC236}">
                <a16:creationId xmlns:a16="http://schemas.microsoft.com/office/drawing/2014/main" id="{2B5BF63C-1831-BC70-9D3A-CC7ABED1A6B5}"/>
              </a:ext>
            </a:extLst>
          </p:cNvPr>
          <p:cNvSpPr/>
          <p:nvPr/>
        </p:nvSpPr>
        <p:spPr>
          <a:xfrm>
            <a:off x="6177175" y="3259011"/>
            <a:ext cx="1440000" cy="366141"/>
          </a:xfrm>
          <a:prstGeom prst="rect">
            <a:avLst/>
          </a:prstGeom>
          <a:noFill/>
          <a:ln w="12700" cap="flat" cmpd="sng" algn="ctr">
            <a:solidFill>
              <a:schemeClr val="bg1">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How I Am</a:t>
            </a:r>
          </a:p>
        </p:txBody>
      </p:sp>
      <p:sp>
        <p:nvSpPr>
          <p:cNvPr id="46" name="CuadroTexto 45">
            <a:extLst>
              <a:ext uri="{FF2B5EF4-FFF2-40B4-BE49-F238E27FC236}">
                <a16:creationId xmlns:a16="http://schemas.microsoft.com/office/drawing/2014/main" id="{8758E097-F9AB-2AA3-8D87-80D5165DD659}"/>
              </a:ext>
            </a:extLst>
          </p:cNvPr>
          <p:cNvSpPr txBox="1"/>
          <p:nvPr/>
        </p:nvSpPr>
        <p:spPr>
          <a:xfrm>
            <a:off x="2192764" y="4149011"/>
            <a:ext cx="3630260" cy="830997"/>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0" cap="none" spc="0" normalizeH="0" baseline="0" noProof="0">
                <a:ln>
                  <a:noFill/>
                </a:ln>
                <a:solidFill>
                  <a:prstClr val="black"/>
                </a:solidFill>
                <a:effectLst/>
                <a:uLnTx/>
                <a:uFillTx/>
                <a:latin typeface="Santander Text"/>
                <a:ea typeface="+mn-ea"/>
                <a:cs typeface="+mn-cs"/>
              </a:rPr>
              <a:t>Content personalization for Employee Role, for accessing Apps, and Operative</a:t>
            </a:r>
          </a:p>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0" cap="none" spc="0" normalizeH="0" baseline="0" noProof="0">
                <a:ln>
                  <a:noFill/>
                </a:ln>
                <a:solidFill>
                  <a:prstClr val="black"/>
                </a:solidFill>
                <a:effectLst/>
                <a:uLnTx/>
                <a:uFillTx/>
                <a:latin typeface="Santander Text"/>
                <a:ea typeface="+mn-ea"/>
                <a:cs typeface="+mn-cs"/>
              </a:rPr>
              <a:t>Allows to provide an only one point of access for whole Assisted Channel Apps</a:t>
            </a:r>
          </a:p>
        </p:txBody>
      </p:sp>
      <p:cxnSp>
        <p:nvCxnSpPr>
          <p:cNvPr id="47" name="Conector recto 46">
            <a:extLst>
              <a:ext uri="{FF2B5EF4-FFF2-40B4-BE49-F238E27FC236}">
                <a16:creationId xmlns:a16="http://schemas.microsoft.com/office/drawing/2014/main" id="{3965777B-357D-B15D-3E24-8672DBA6E4A6}"/>
              </a:ext>
            </a:extLst>
          </p:cNvPr>
          <p:cNvCxnSpPr>
            <a:cxnSpLocks/>
          </p:cNvCxnSpPr>
          <p:nvPr/>
        </p:nvCxnSpPr>
        <p:spPr>
          <a:xfrm flipH="1" flipV="1">
            <a:off x="684799" y="4971001"/>
            <a:ext cx="5112000" cy="0"/>
          </a:xfrm>
          <a:prstGeom prst="line">
            <a:avLst/>
          </a:prstGeom>
          <a:noFill/>
          <a:ln w="12700" cap="flat" cmpd="sng" algn="ctr">
            <a:solidFill>
              <a:schemeClr val="bg1">
                <a:lumMod val="85000"/>
              </a:schemeClr>
            </a:solidFill>
            <a:prstDash val="solid"/>
            <a:miter lim="800000"/>
          </a:ln>
          <a:effectLst/>
        </p:spPr>
      </p:cxnSp>
      <p:sp>
        <p:nvSpPr>
          <p:cNvPr id="48" name="CuadroTexto 47">
            <a:extLst>
              <a:ext uri="{FF2B5EF4-FFF2-40B4-BE49-F238E27FC236}">
                <a16:creationId xmlns:a16="http://schemas.microsoft.com/office/drawing/2014/main" id="{BA55D2FF-7B26-8AF7-9EBC-41F0398B92B8}"/>
              </a:ext>
            </a:extLst>
          </p:cNvPr>
          <p:cNvSpPr txBox="1"/>
          <p:nvPr/>
        </p:nvSpPr>
        <p:spPr>
          <a:xfrm>
            <a:off x="2192764" y="5112683"/>
            <a:ext cx="3630260" cy="646331"/>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0" cap="none" spc="0" normalizeH="0" baseline="0" noProof="0">
                <a:ln>
                  <a:noFill/>
                </a:ln>
                <a:solidFill>
                  <a:prstClr val="black"/>
                </a:solidFill>
                <a:effectLst/>
                <a:uLnTx/>
                <a:uFillTx/>
                <a:latin typeface="Santander Text"/>
                <a:ea typeface="+mn-ea"/>
                <a:cs typeface="+mn-cs"/>
              </a:rPr>
              <a:t>Allows Container Apps to make use of any financial device from any office position (pc, laptop, tablet, mobile) regardless of its location. </a:t>
            </a:r>
          </a:p>
        </p:txBody>
      </p:sp>
      <p:sp>
        <p:nvSpPr>
          <p:cNvPr id="50" name="CuadroTexto 49">
            <a:extLst>
              <a:ext uri="{FF2B5EF4-FFF2-40B4-BE49-F238E27FC236}">
                <a16:creationId xmlns:a16="http://schemas.microsoft.com/office/drawing/2014/main" id="{34AFC41E-669F-C794-D008-452CF0555F1B}"/>
              </a:ext>
            </a:extLst>
          </p:cNvPr>
          <p:cNvSpPr txBox="1"/>
          <p:nvPr/>
        </p:nvSpPr>
        <p:spPr>
          <a:xfrm>
            <a:off x="7723898" y="2539572"/>
            <a:ext cx="4248645" cy="646331"/>
          </a:xfrm>
          <a:prstGeom prst="rect">
            <a:avLst/>
          </a:prstGeom>
          <a:noFill/>
        </p:spPr>
        <p:txBody>
          <a:bodyPr wrap="square">
            <a:spAutoFit/>
          </a:bodyPr>
          <a:lstStyle/>
          <a:p>
            <a:pPr marL="180000" marR="0" lvl="1"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rPr>
              <a:t>It shows the agent upcoming activities related to customers, categorized into different types (i.e. phone calls, appointments, commercial activity or alert notifications)</a:t>
            </a:r>
          </a:p>
        </p:txBody>
      </p:sp>
      <p:sp>
        <p:nvSpPr>
          <p:cNvPr id="55" name="CuadroTexto 54">
            <a:extLst>
              <a:ext uri="{FF2B5EF4-FFF2-40B4-BE49-F238E27FC236}">
                <a16:creationId xmlns:a16="http://schemas.microsoft.com/office/drawing/2014/main" id="{790D8B16-1ED1-33C1-29EC-5486228E8D06}"/>
              </a:ext>
            </a:extLst>
          </p:cNvPr>
          <p:cNvSpPr txBox="1"/>
          <p:nvPr/>
        </p:nvSpPr>
        <p:spPr>
          <a:xfrm>
            <a:off x="7723898" y="3259457"/>
            <a:ext cx="4095734" cy="461665"/>
          </a:xfrm>
          <a:prstGeom prst="rect">
            <a:avLst/>
          </a:prstGeom>
          <a:noFill/>
        </p:spPr>
        <p:txBody>
          <a:bodyPr wrap="square">
            <a:spAutoFit/>
          </a:bodyPr>
          <a:lstStyle/>
          <a:p>
            <a:pPr marL="180000" marR="0" lvl="1"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rPr>
              <a:t>Aggregate view for the Employee, on different aspects related to their activity and for Supervisor Teams activity</a:t>
            </a:r>
          </a:p>
        </p:txBody>
      </p:sp>
      <p:cxnSp>
        <p:nvCxnSpPr>
          <p:cNvPr id="59" name="Conector recto 58">
            <a:extLst>
              <a:ext uri="{FF2B5EF4-FFF2-40B4-BE49-F238E27FC236}">
                <a16:creationId xmlns:a16="http://schemas.microsoft.com/office/drawing/2014/main" id="{3EF6B3FD-879A-38DB-A80E-54AFB96FB1E6}"/>
              </a:ext>
            </a:extLst>
          </p:cNvPr>
          <p:cNvCxnSpPr>
            <a:cxnSpLocks/>
          </p:cNvCxnSpPr>
          <p:nvPr/>
        </p:nvCxnSpPr>
        <p:spPr>
          <a:xfrm flipH="1" flipV="1">
            <a:off x="6070431" y="3690288"/>
            <a:ext cx="5112000" cy="0"/>
          </a:xfrm>
          <a:prstGeom prst="line">
            <a:avLst/>
          </a:prstGeom>
          <a:noFill/>
          <a:ln w="12700" cap="flat" cmpd="sng" algn="ctr">
            <a:solidFill>
              <a:schemeClr val="bg1">
                <a:lumMod val="85000"/>
              </a:schemeClr>
            </a:solidFill>
            <a:prstDash val="solid"/>
            <a:miter lim="800000"/>
          </a:ln>
          <a:effectLst/>
        </p:spPr>
      </p:cxnSp>
      <p:sp>
        <p:nvSpPr>
          <p:cNvPr id="8" name="Título 1">
            <a:extLst>
              <a:ext uri="{FF2B5EF4-FFF2-40B4-BE49-F238E27FC236}">
                <a16:creationId xmlns:a16="http://schemas.microsoft.com/office/drawing/2014/main" id="{A7157809-BB3B-0356-A1A3-C53EEC811091}"/>
              </a:ext>
            </a:extLst>
          </p:cNvPr>
          <p:cNvSpPr txBox="1">
            <a:spLocks/>
          </p:cNvSpPr>
          <p:nvPr/>
        </p:nvSpPr>
        <p:spPr>
          <a:xfrm>
            <a:off x="711024" y="623339"/>
            <a:ext cx="10758733" cy="836992"/>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lang="en-US" sz="2800" b="1" kern="1200" dirty="0">
                <a:solidFill>
                  <a:schemeClr val="accent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s-ES" sz="2800" b="1" i="0" u="none" strike="noStrike" kern="1200" cap="none" spc="0" normalizeH="0" baseline="0" noProof="0" err="1">
                <a:ln>
                  <a:noFill/>
                </a:ln>
                <a:solidFill>
                  <a:srgbClr val="EC0000"/>
                </a:solidFill>
                <a:effectLst/>
                <a:uLnTx/>
                <a:uFillTx/>
                <a:latin typeface="Santander Headline"/>
                <a:ea typeface="+mj-ea"/>
                <a:cs typeface="+mj-cs"/>
              </a:rPr>
              <a:t>Retail</a:t>
            </a:r>
            <a:r>
              <a:rPr kumimoji="0" lang="es-ES" sz="2800" b="1" i="0" u="none" strike="noStrike" kern="1200" cap="none" spc="0" normalizeH="0" baseline="0" noProof="0">
                <a:ln>
                  <a:noFill/>
                </a:ln>
                <a:solidFill>
                  <a:srgbClr val="EC0000"/>
                </a:solidFill>
                <a:effectLst/>
                <a:uLnTx/>
                <a:uFillTx/>
                <a:latin typeface="Santander Headline"/>
                <a:ea typeface="+mj-ea"/>
                <a:cs typeface="+mj-cs"/>
              </a:rPr>
              <a:t> &amp; </a:t>
            </a:r>
            <a:r>
              <a:rPr kumimoji="0" lang="es-ES" sz="2800" b="1" i="0" u="none" strike="noStrike" kern="1200" cap="none" spc="0" normalizeH="0" baseline="0" noProof="0" err="1">
                <a:ln>
                  <a:noFill/>
                </a:ln>
                <a:solidFill>
                  <a:srgbClr val="EC0000"/>
                </a:solidFill>
                <a:effectLst/>
                <a:uLnTx/>
                <a:uFillTx/>
                <a:latin typeface="Santander Headline"/>
                <a:ea typeface="+mj-ea"/>
                <a:cs typeface="+mj-cs"/>
              </a:rPr>
              <a:t>Commercial</a:t>
            </a:r>
            <a:r>
              <a:rPr lang="es-ES">
                <a:solidFill>
                  <a:srgbClr val="EC0000"/>
                </a:solidFill>
                <a:latin typeface="Santander Headline"/>
              </a:rPr>
              <a:t>.</a:t>
            </a:r>
            <a:r>
              <a:rPr kumimoji="0" lang="es-ES" sz="2800" b="1" i="0" u="none" strike="noStrike" kern="1200" cap="none" spc="0" normalizeH="0" baseline="0" noProof="0">
                <a:ln>
                  <a:noFill/>
                </a:ln>
                <a:solidFill>
                  <a:srgbClr val="EC0000"/>
                </a:solidFill>
                <a:effectLst/>
                <a:uLnTx/>
                <a:uFillTx/>
                <a:latin typeface="Santander Headline"/>
                <a:ea typeface="+mj-ea"/>
                <a:cs typeface="+mj-cs"/>
              </a:rPr>
              <a:t> </a:t>
            </a:r>
            <a:r>
              <a:rPr kumimoji="0" lang="en-AU" sz="2800" b="1" i="0" u="none" strike="noStrike" kern="1200" cap="none" spc="0" normalizeH="0" baseline="0" noProof="0">
                <a:ln>
                  <a:noFill/>
                </a:ln>
                <a:solidFill>
                  <a:srgbClr val="BFBFBF"/>
                </a:solidFill>
                <a:effectLst/>
                <a:uLnTx/>
                <a:uFillTx/>
                <a:latin typeface="Santander Headline"/>
                <a:ea typeface="+mj-ea"/>
                <a:cs typeface="+mj-cs"/>
              </a:rPr>
              <a:t>Assisted Channels</a:t>
            </a:r>
          </a:p>
        </p:txBody>
      </p:sp>
      <p:sp>
        <p:nvSpPr>
          <p:cNvPr id="12" name="Rectángulo 41">
            <a:extLst>
              <a:ext uri="{FF2B5EF4-FFF2-40B4-BE49-F238E27FC236}">
                <a16:creationId xmlns:a16="http://schemas.microsoft.com/office/drawing/2014/main" id="{D9A3C991-5BE2-9EBF-5675-925630A32DBA}"/>
              </a:ext>
            </a:extLst>
          </p:cNvPr>
          <p:cNvSpPr/>
          <p:nvPr/>
        </p:nvSpPr>
        <p:spPr>
          <a:xfrm>
            <a:off x="6177175" y="3795011"/>
            <a:ext cx="1440000" cy="350494"/>
          </a:xfrm>
          <a:prstGeom prst="rect">
            <a:avLst/>
          </a:prstGeom>
          <a:noFill/>
          <a:ln w="12700" cap="flat" cmpd="sng" algn="ctr">
            <a:solidFill>
              <a:schemeClr val="bg1">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My Customer</a:t>
            </a:r>
          </a:p>
        </p:txBody>
      </p:sp>
      <p:sp>
        <p:nvSpPr>
          <p:cNvPr id="13" name="CuadroTexto 54">
            <a:extLst>
              <a:ext uri="{FF2B5EF4-FFF2-40B4-BE49-F238E27FC236}">
                <a16:creationId xmlns:a16="http://schemas.microsoft.com/office/drawing/2014/main" id="{6CD47B46-000B-29F8-FEB1-54CDA7A7C311}"/>
              </a:ext>
            </a:extLst>
          </p:cNvPr>
          <p:cNvSpPr txBox="1"/>
          <p:nvPr/>
        </p:nvSpPr>
        <p:spPr>
          <a:xfrm>
            <a:off x="7723898" y="3777504"/>
            <a:ext cx="3916840" cy="461665"/>
          </a:xfrm>
          <a:prstGeom prst="rect">
            <a:avLst/>
          </a:prstGeom>
          <a:noFill/>
        </p:spPr>
        <p:txBody>
          <a:bodyPr wrap="square">
            <a:spAutoFit/>
          </a:bodyPr>
          <a:lstStyle/>
          <a:p>
            <a:pPr marL="180000" marR="0" lvl="1"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rPr>
              <a:t>Information for employees about Customer Base (customers active, digital, linked and ADQ)</a:t>
            </a:r>
          </a:p>
        </p:txBody>
      </p:sp>
      <p:cxnSp>
        <p:nvCxnSpPr>
          <p:cNvPr id="14" name="Conector recto 58">
            <a:extLst>
              <a:ext uri="{FF2B5EF4-FFF2-40B4-BE49-F238E27FC236}">
                <a16:creationId xmlns:a16="http://schemas.microsoft.com/office/drawing/2014/main" id="{6D08AC26-4479-DAFD-E132-38F9FFC5E538}"/>
              </a:ext>
            </a:extLst>
          </p:cNvPr>
          <p:cNvCxnSpPr>
            <a:cxnSpLocks/>
          </p:cNvCxnSpPr>
          <p:nvPr/>
        </p:nvCxnSpPr>
        <p:spPr>
          <a:xfrm flipH="1" flipV="1">
            <a:off x="6215933" y="4239169"/>
            <a:ext cx="5112000" cy="0"/>
          </a:xfrm>
          <a:prstGeom prst="line">
            <a:avLst/>
          </a:prstGeom>
          <a:noFill/>
          <a:ln w="12700" cap="flat" cmpd="sng" algn="ctr">
            <a:solidFill>
              <a:schemeClr val="bg1">
                <a:lumMod val="85000"/>
              </a:schemeClr>
            </a:solidFill>
            <a:prstDash val="solid"/>
            <a:miter lim="800000"/>
          </a:ln>
          <a:effectLst/>
        </p:spPr>
      </p:cxnSp>
      <p:sp>
        <p:nvSpPr>
          <p:cNvPr id="16" name="Rectángulo 41">
            <a:extLst>
              <a:ext uri="{FF2B5EF4-FFF2-40B4-BE49-F238E27FC236}">
                <a16:creationId xmlns:a16="http://schemas.microsoft.com/office/drawing/2014/main" id="{19B2C7C6-58D9-F1E3-2586-BD96883D093D}"/>
              </a:ext>
            </a:extLst>
          </p:cNvPr>
          <p:cNvSpPr/>
          <p:nvPr/>
        </p:nvSpPr>
        <p:spPr>
          <a:xfrm>
            <a:off x="6177175" y="4309894"/>
            <a:ext cx="1440000" cy="389243"/>
          </a:xfrm>
          <a:prstGeom prst="rect">
            <a:avLst/>
          </a:prstGeom>
          <a:noFill/>
          <a:ln w="12700" cap="flat" cmpd="sng" algn="ctr">
            <a:solidFill>
              <a:schemeClr val="bg1">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My Store</a:t>
            </a:r>
          </a:p>
        </p:txBody>
      </p:sp>
      <p:sp>
        <p:nvSpPr>
          <p:cNvPr id="25" name="CuadroTexto 54">
            <a:extLst>
              <a:ext uri="{FF2B5EF4-FFF2-40B4-BE49-F238E27FC236}">
                <a16:creationId xmlns:a16="http://schemas.microsoft.com/office/drawing/2014/main" id="{84FAD3E9-C1C5-6BC5-1DB1-3E303AB2E134}"/>
              </a:ext>
            </a:extLst>
          </p:cNvPr>
          <p:cNvSpPr txBox="1"/>
          <p:nvPr/>
        </p:nvSpPr>
        <p:spPr>
          <a:xfrm>
            <a:off x="7723898" y="4335921"/>
            <a:ext cx="3657894" cy="276999"/>
          </a:xfrm>
          <a:prstGeom prst="rect">
            <a:avLst/>
          </a:prstGeom>
          <a:noFill/>
        </p:spPr>
        <p:txBody>
          <a:bodyPr wrap="square">
            <a:spAutoFit/>
          </a:bodyPr>
          <a:lstStyle/>
          <a:p>
            <a:pPr marL="180000" marR="0" lvl="1"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rPr>
              <a:t>Information about Incentives</a:t>
            </a:r>
          </a:p>
        </p:txBody>
      </p:sp>
      <p:cxnSp>
        <p:nvCxnSpPr>
          <p:cNvPr id="29" name="Conector recto 58">
            <a:extLst>
              <a:ext uri="{FF2B5EF4-FFF2-40B4-BE49-F238E27FC236}">
                <a16:creationId xmlns:a16="http://schemas.microsoft.com/office/drawing/2014/main" id="{1657A4AE-407C-CDFE-0F7E-898164FAD695}"/>
              </a:ext>
            </a:extLst>
          </p:cNvPr>
          <p:cNvCxnSpPr>
            <a:cxnSpLocks/>
          </p:cNvCxnSpPr>
          <p:nvPr/>
        </p:nvCxnSpPr>
        <p:spPr>
          <a:xfrm flipH="1" flipV="1">
            <a:off x="6207193" y="4754041"/>
            <a:ext cx="5112000" cy="0"/>
          </a:xfrm>
          <a:prstGeom prst="line">
            <a:avLst/>
          </a:prstGeom>
          <a:noFill/>
          <a:ln w="12700" cap="flat" cmpd="sng" algn="ctr">
            <a:solidFill>
              <a:schemeClr val="bg1">
                <a:lumMod val="85000"/>
              </a:schemeClr>
            </a:solidFill>
            <a:prstDash val="solid"/>
            <a:miter lim="800000"/>
          </a:ln>
          <a:effectLst/>
        </p:spPr>
      </p:cxnSp>
      <p:sp>
        <p:nvSpPr>
          <p:cNvPr id="2" name="Rectángulo 1">
            <a:extLst>
              <a:ext uri="{FF2B5EF4-FFF2-40B4-BE49-F238E27FC236}">
                <a16:creationId xmlns:a16="http://schemas.microsoft.com/office/drawing/2014/main" id="{DEE610CF-9DB3-B6A9-A908-ECCBA3AB0D61}"/>
              </a:ext>
            </a:extLst>
          </p:cNvPr>
          <p:cNvSpPr/>
          <p:nvPr/>
        </p:nvSpPr>
        <p:spPr>
          <a:xfrm>
            <a:off x="6177175" y="5576665"/>
            <a:ext cx="1440000" cy="393059"/>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NBC/Action</a:t>
            </a:r>
          </a:p>
        </p:txBody>
      </p:sp>
      <p:sp>
        <p:nvSpPr>
          <p:cNvPr id="3" name="Rectángulo 2">
            <a:extLst>
              <a:ext uri="{FF2B5EF4-FFF2-40B4-BE49-F238E27FC236}">
                <a16:creationId xmlns:a16="http://schemas.microsoft.com/office/drawing/2014/main" id="{25721818-00C8-3A2E-9059-1775B5983646}"/>
              </a:ext>
            </a:extLst>
          </p:cNvPr>
          <p:cNvSpPr/>
          <p:nvPr/>
        </p:nvSpPr>
        <p:spPr>
          <a:xfrm>
            <a:off x="6177175" y="6234661"/>
            <a:ext cx="1440000" cy="393059"/>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My Courses</a:t>
            </a:r>
          </a:p>
        </p:txBody>
      </p:sp>
      <p:sp>
        <p:nvSpPr>
          <p:cNvPr id="4" name="Rectángulo 3">
            <a:extLst>
              <a:ext uri="{FF2B5EF4-FFF2-40B4-BE49-F238E27FC236}">
                <a16:creationId xmlns:a16="http://schemas.microsoft.com/office/drawing/2014/main" id="{A765566C-A130-B0B6-7134-336415DA3786}"/>
              </a:ext>
            </a:extLst>
          </p:cNvPr>
          <p:cNvSpPr/>
          <p:nvPr/>
        </p:nvSpPr>
        <p:spPr>
          <a:xfrm>
            <a:off x="6177175" y="4854466"/>
            <a:ext cx="1440000" cy="440566"/>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Visit Map</a:t>
            </a:r>
          </a:p>
        </p:txBody>
      </p:sp>
      <p:sp>
        <p:nvSpPr>
          <p:cNvPr id="5" name="CuadroTexto 4">
            <a:extLst>
              <a:ext uri="{FF2B5EF4-FFF2-40B4-BE49-F238E27FC236}">
                <a16:creationId xmlns:a16="http://schemas.microsoft.com/office/drawing/2014/main" id="{6FAC6E9A-29CC-ACFE-3C68-75165A679751}"/>
              </a:ext>
            </a:extLst>
          </p:cNvPr>
          <p:cNvSpPr txBox="1"/>
          <p:nvPr/>
        </p:nvSpPr>
        <p:spPr>
          <a:xfrm>
            <a:off x="7723898" y="4790669"/>
            <a:ext cx="4461099" cy="616162"/>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0" cap="none" spc="0" normalizeH="0" baseline="0" noProof="0">
                <a:ln>
                  <a:noFill/>
                </a:ln>
                <a:solidFill>
                  <a:prstClr val="black"/>
                </a:solidFill>
                <a:effectLst/>
                <a:uLnTx/>
                <a:uFillTx/>
                <a:latin typeface="Santander Text"/>
                <a:ea typeface="+mn-ea"/>
                <a:cs typeface="+mn-cs"/>
              </a:rPr>
              <a:t>Visual Map to locate coordinates for a specific address, providing several filters to facilitate location. It allows to map to track last visits of the employe in different ranges of days </a:t>
            </a:r>
          </a:p>
        </p:txBody>
      </p:sp>
      <p:cxnSp>
        <p:nvCxnSpPr>
          <p:cNvPr id="6" name="Conector recto 5">
            <a:extLst>
              <a:ext uri="{FF2B5EF4-FFF2-40B4-BE49-F238E27FC236}">
                <a16:creationId xmlns:a16="http://schemas.microsoft.com/office/drawing/2014/main" id="{D6F69C36-EE93-40BF-8EDE-E6F4C7304C1E}"/>
              </a:ext>
            </a:extLst>
          </p:cNvPr>
          <p:cNvCxnSpPr>
            <a:cxnSpLocks/>
          </p:cNvCxnSpPr>
          <p:nvPr/>
        </p:nvCxnSpPr>
        <p:spPr>
          <a:xfrm flipH="1" flipV="1">
            <a:off x="6215933" y="5435848"/>
            <a:ext cx="5112000" cy="0"/>
          </a:xfrm>
          <a:prstGeom prst="line">
            <a:avLst/>
          </a:prstGeom>
          <a:noFill/>
          <a:ln w="12700" cap="flat" cmpd="sng" algn="ctr">
            <a:solidFill>
              <a:schemeClr val="bg1">
                <a:lumMod val="85000"/>
              </a:schemeClr>
            </a:solidFill>
            <a:prstDash val="solid"/>
            <a:miter lim="800000"/>
          </a:ln>
          <a:effectLst/>
        </p:spPr>
      </p:cxnSp>
      <p:sp>
        <p:nvSpPr>
          <p:cNvPr id="7" name="CuadroTexto 6">
            <a:extLst>
              <a:ext uri="{FF2B5EF4-FFF2-40B4-BE49-F238E27FC236}">
                <a16:creationId xmlns:a16="http://schemas.microsoft.com/office/drawing/2014/main" id="{4AE26DC9-D744-F1AC-930A-3ED9A6738D63}"/>
              </a:ext>
            </a:extLst>
          </p:cNvPr>
          <p:cNvSpPr txBox="1"/>
          <p:nvPr/>
        </p:nvSpPr>
        <p:spPr>
          <a:xfrm>
            <a:off x="7723898" y="5493884"/>
            <a:ext cx="4468101" cy="646331"/>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0" cap="none" spc="0" normalizeH="0" baseline="0" noProof="0">
                <a:ln>
                  <a:noFill/>
                </a:ln>
                <a:solidFill>
                  <a:prstClr val="black"/>
                </a:solidFill>
                <a:effectLst/>
                <a:uLnTx/>
                <a:uFillTx/>
                <a:latin typeface="Santander Text"/>
                <a:ea typeface="+mn-ea"/>
                <a:cs typeface="+mn-cs"/>
              </a:rPr>
              <a:t>Present Next Best Conversations associated with Employee / Supervisor (overall team) that includes the conversation to have with the customer</a:t>
            </a:r>
          </a:p>
        </p:txBody>
      </p:sp>
      <p:sp>
        <p:nvSpPr>
          <p:cNvPr id="11" name="CuadroTexto 10">
            <a:extLst>
              <a:ext uri="{FF2B5EF4-FFF2-40B4-BE49-F238E27FC236}">
                <a16:creationId xmlns:a16="http://schemas.microsoft.com/office/drawing/2014/main" id="{7D2516E6-4BD4-BD3C-165B-CCACDAD9BAF0}"/>
              </a:ext>
            </a:extLst>
          </p:cNvPr>
          <p:cNvSpPr txBox="1"/>
          <p:nvPr/>
        </p:nvSpPr>
        <p:spPr>
          <a:xfrm>
            <a:off x="7723898" y="6146707"/>
            <a:ext cx="3630260" cy="461665"/>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0" cap="none" spc="0" normalizeH="0" baseline="0" noProof="0">
                <a:ln>
                  <a:noFill/>
                </a:ln>
                <a:solidFill>
                  <a:prstClr val="black"/>
                </a:solidFill>
                <a:effectLst/>
                <a:uLnTx/>
                <a:uFillTx/>
                <a:latin typeface="Santander Text"/>
                <a:ea typeface="+mn-ea"/>
                <a:cs typeface="+mn-cs"/>
              </a:rPr>
              <a:t>Aggregate view for the Employee, about personal development</a:t>
            </a:r>
          </a:p>
        </p:txBody>
      </p:sp>
      <p:cxnSp>
        <p:nvCxnSpPr>
          <p:cNvPr id="28" name="Conector recto 27">
            <a:extLst>
              <a:ext uri="{FF2B5EF4-FFF2-40B4-BE49-F238E27FC236}">
                <a16:creationId xmlns:a16="http://schemas.microsoft.com/office/drawing/2014/main" id="{4980350E-3A1B-4BED-5AAA-7DC3D1ABC2AF}"/>
              </a:ext>
            </a:extLst>
          </p:cNvPr>
          <p:cNvCxnSpPr>
            <a:cxnSpLocks/>
          </p:cNvCxnSpPr>
          <p:nvPr/>
        </p:nvCxnSpPr>
        <p:spPr>
          <a:xfrm flipH="1" flipV="1">
            <a:off x="6270559" y="6140215"/>
            <a:ext cx="5112000" cy="0"/>
          </a:xfrm>
          <a:prstGeom prst="line">
            <a:avLst/>
          </a:prstGeom>
          <a:noFill/>
          <a:ln w="12700" cap="flat" cmpd="sng" algn="ctr">
            <a:solidFill>
              <a:schemeClr val="bg1">
                <a:lumMod val="85000"/>
              </a:schemeClr>
            </a:solidFill>
            <a:prstDash val="solid"/>
            <a:miter lim="800000"/>
          </a:ln>
          <a:effectLst/>
        </p:spPr>
      </p:cxnSp>
    </p:spTree>
    <p:extLst>
      <p:ext uri="{BB962C8B-B14F-4D97-AF65-F5344CB8AC3E}">
        <p14:creationId xmlns:p14="http://schemas.microsoft.com/office/powerpoint/2010/main" val="9860463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15FBA-1FA4-AB59-2ACA-D46BF6141AD5}"/>
            </a:ext>
          </a:extLst>
        </p:cNvPr>
        <p:cNvGrpSpPr/>
        <p:nvPr/>
      </p:nvGrpSpPr>
      <p:grpSpPr>
        <a:xfrm>
          <a:off x="0" y="0"/>
          <a:ext cx="0" cy="0"/>
          <a:chOff x="0" y="0"/>
          <a:chExt cx="0" cy="0"/>
        </a:xfrm>
      </p:grpSpPr>
      <p:sp>
        <p:nvSpPr>
          <p:cNvPr id="17" name="Text Placeholder 2">
            <a:extLst>
              <a:ext uri="{FF2B5EF4-FFF2-40B4-BE49-F238E27FC236}">
                <a16:creationId xmlns:a16="http://schemas.microsoft.com/office/drawing/2014/main" id="{6363EB33-B05B-ADE2-D3C2-E16D2DA4751F}"/>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15" name="Rectángulo 14">
            <a:extLst>
              <a:ext uri="{FF2B5EF4-FFF2-40B4-BE49-F238E27FC236}">
                <a16:creationId xmlns:a16="http://schemas.microsoft.com/office/drawing/2014/main" id="{234B14DD-E16E-DABA-BF16-31EDFCDCAE3B}"/>
              </a:ext>
            </a:extLst>
          </p:cNvPr>
          <p:cNvSpPr/>
          <p:nvPr/>
        </p:nvSpPr>
        <p:spPr>
          <a:xfrm>
            <a:off x="6096000" y="2924087"/>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Alerts</a:t>
            </a:r>
          </a:p>
        </p:txBody>
      </p:sp>
      <p:sp>
        <p:nvSpPr>
          <p:cNvPr id="18" name="Rectángulo 17">
            <a:extLst>
              <a:ext uri="{FF2B5EF4-FFF2-40B4-BE49-F238E27FC236}">
                <a16:creationId xmlns:a16="http://schemas.microsoft.com/office/drawing/2014/main" id="{FC2F48F3-5085-BDCC-463D-2862389EA755}"/>
              </a:ext>
            </a:extLst>
          </p:cNvPr>
          <p:cNvSpPr/>
          <p:nvPr/>
        </p:nvSpPr>
        <p:spPr>
          <a:xfrm>
            <a:off x="6096000" y="3994862"/>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Processes View</a:t>
            </a:r>
          </a:p>
        </p:txBody>
      </p:sp>
      <p:sp>
        <p:nvSpPr>
          <p:cNvPr id="19" name="Rectángulo 18">
            <a:extLst>
              <a:ext uri="{FF2B5EF4-FFF2-40B4-BE49-F238E27FC236}">
                <a16:creationId xmlns:a16="http://schemas.microsoft.com/office/drawing/2014/main" id="{8CD76CA6-F473-DCA2-835D-53F84B21E2E1}"/>
              </a:ext>
            </a:extLst>
          </p:cNvPr>
          <p:cNvSpPr/>
          <p:nvPr/>
        </p:nvSpPr>
        <p:spPr>
          <a:xfrm>
            <a:off x="6096000" y="2024068"/>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Tasks</a:t>
            </a:r>
          </a:p>
        </p:txBody>
      </p:sp>
      <p:sp>
        <p:nvSpPr>
          <p:cNvPr id="21" name="CuadroTexto 20">
            <a:extLst>
              <a:ext uri="{FF2B5EF4-FFF2-40B4-BE49-F238E27FC236}">
                <a16:creationId xmlns:a16="http://schemas.microsoft.com/office/drawing/2014/main" id="{971E449E-A184-1F6D-DCA3-D073CC6AD439}"/>
              </a:ext>
            </a:extLst>
          </p:cNvPr>
          <p:cNvSpPr txBox="1"/>
          <p:nvPr/>
        </p:nvSpPr>
        <p:spPr>
          <a:xfrm>
            <a:off x="524788" y="1104304"/>
            <a:ext cx="4391698" cy="807913"/>
          </a:xfrm>
          <a:prstGeom prst="rect">
            <a:avLst/>
          </a:prstGeom>
          <a:noFill/>
        </p:spPr>
        <p:txBody>
          <a:bodyPr wrap="square" rtlCol="0">
            <a:spAutoFit/>
          </a:bodyPr>
          <a:lstStyle/>
          <a:p>
            <a:pPr marL="355600" marR="0" lvl="0" indent="-355600" algn="l" defTabSz="914400" rtl="0" eaLnBrk="1" fontAlgn="auto" latinLnBrk="0" hangingPunct="1">
              <a:lnSpc>
                <a:spcPct val="100000"/>
              </a:lnSpc>
              <a:spcBef>
                <a:spcPts val="0"/>
              </a:spcBef>
              <a:spcAft>
                <a:spcPts val="300"/>
              </a:spcAft>
              <a:buClrTx/>
              <a:buSzTx/>
              <a:buFontTx/>
              <a:buNone/>
              <a:tabLst/>
              <a:defRPr/>
            </a:pPr>
            <a:r>
              <a:rPr kumimoji="0" lang="en-AU"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3 – Customer View</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400" b="0" i="1"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Support to the registration and follow-up of customer requests, claims and complaints</a:t>
            </a:r>
            <a:endParaRPr kumimoji="0" lang="en-AU" sz="1600" b="0" i="1"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endParaRPr>
          </a:p>
        </p:txBody>
      </p:sp>
      <p:cxnSp>
        <p:nvCxnSpPr>
          <p:cNvPr id="22" name="Conector recto 21">
            <a:extLst>
              <a:ext uri="{FF2B5EF4-FFF2-40B4-BE49-F238E27FC236}">
                <a16:creationId xmlns:a16="http://schemas.microsoft.com/office/drawing/2014/main" id="{27D2A57F-B0C3-4FE3-F5EA-727BB64D079F}"/>
              </a:ext>
            </a:extLst>
          </p:cNvPr>
          <p:cNvCxnSpPr>
            <a:cxnSpLocks/>
          </p:cNvCxnSpPr>
          <p:nvPr/>
        </p:nvCxnSpPr>
        <p:spPr>
          <a:xfrm flipH="1" flipV="1">
            <a:off x="551013" y="1873982"/>
            <a:ext cx="5112000" cy="0"/>
          </a:xfrm>
          <a:prstGeom prst="line">
            <a:avLst/>
          </a:prstGeom>
          <a:noFill/>
          <a:ln w="12700" cap="flat" cmpd="sng" algn="ctr">
            <a:solidFill>
              <a:srgbClr val="595959"/>
            </a:solidFill>
            <a:prstDash val="solid"/>
            <a:miter lim="800000"/>
          </a:ln>
          <a:effectLst/>
        </p:spPr>
      </p:cxnSp>
      <p:sp>
        <p:nvSpPr>
          <p:cNvPr id="23" name="CuadroTexto 22">
            <a:extLst>
              <a:ext uri="{FF2B5EF4-FFF2-40B4-BE49-F238E27FC236}">
                <a16:creationId xmlns:a16="http://schemas.microsoft.com/office/drawing/2014/main" id="{B58D8437-8941-FC9A-E2A6-DE395FF720FE}"/>
              </a:ext>
            </a:extLst>
          </p:cNvPr>
          <p:cNvSpPr txBox="1"/>
          <p:nvPr/>
        </p:nvSpPr>
        <p:spPr>
          <a:xfrm>
            <a:off x="7577740" y="1953273"/>
            <a:ext cx="3658438" cy="671796"/>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0" cap="none" spc="0" normalizeH="0" baseline="0" noProof="0">
                <a:ln>
                  <a:noFill/>
                </a:ln>
                <a:solidFill>
                  <a:prstClr val="black"/>
                </a:solidFill>
                <a:effectLst/>
                <a:uLnTx/>
                <a:uFillTx/>
                <a:latin typeface="Santander Text"/>
                <a:ea typeface="+mn-ea"/>
                <a:cs typeface="+mn-cs"/>
              </a:rPr>
              <a:t>Checklist of specific piece of work or an action that Agent must complete, with description, dates for accomplish the action</a:t>
            </a:r>
          </a:p>
        </p:txBody>
      </p:sp>
      <p:cxnSp>
        <p:nvCxnSpPr>
          <p:cNvPr id="24" name="Conector recto 23">
            <a:extLst>
              <a:ext uri="{FF2B5EF4-FFF2-40B4-BE49-F238E27FC236}">
                <a16:creationId xmlns:a16="http://schemas.microsoft.com/office/drawing/2014/main" id="{83AC9097-20A4-0DB1-0B54-92CCCADFD184}"/>
              </a:ext>
            </a:extLst>
          </p:cNvPr>
          <p:cNvCxnSpPr>
            <a:cxnSpLocks/>
          </p:cNvCxnSpPr>
          <p:nvPr/>
        </p:nvCxnSpPr>
        <p:spPr>
          <a:xfrm flipH="1" flipV="1">
            <a:off x="6069775" y="2754364"/>
            <a:ext cx="5112000" cy="0"/>
          </a:xfrm>
          <a:prstGeom prst="line">
            <a:avLst/>
          </a:prstGeom>
          <a:noFill/>
          <a:ln w="12700" cap="flat" cmpd="sng" algn="ctr">
            <a:solidFill>
              <a:schemeClr val="bg1">
                <a:lumMod val="85000"/>
              </a:schemeClr>
            </a:solidFill>
            <a:prstDash val="solid"/>
            <a:miter lim="800000"/>
          </a:ln>
          <a:effectLst/>
        </p:spPr>
      </p:cxnSp>
      <p:sp>
        <p:nvSpPr>
          <p:cNvPr id="26" name="CuadroTexto 25">
            <a:extLst>
              <a:ext uri="{FF2B5EF4-FFF2-40B4-BE49-F238E27FC236}">
                <a16:creationId xmlns:a16="http://schemas.microsoft.com/office/drawing/2014/main" id="{9F86AFD0-8068-213C-CFC4-7AE4A00CDAA7}"/>
              </a:ext>
            </a:extLst>
          </p:cNvPr>
          <p:cNvSpPr txBox="1"/>
          <p:nvPr/>
        </p:nvSpPr>
        <p:spPr>
          <a:xfrm>
            <a:off x="7577740" y="2863966"/>
            <a:ext cx="3630260" cy="830997"/>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0" cap="none" spc="0" normalizeH="0" baseline="0" noProof="0">
                <a:ln>
                  <a:noFill/>
                </a:ln>
                <a:solidFill>
                  <a:prstClr val="black"/>
                </a:solidFill>
                <a:effectLst/>
                <a:uLnTx/>
                <a:uFillTx/>
                <a:latin typeface="Santander Text"/>
                <a:ea typeface="+mn-ea"/>
                <a:cs typeface="+mn-cs"/>
              </a:rPr>
              <a:t>Notification view for Employees to be aware about financial and non-financial notifications to be aware and facilitate routing, servicing and commercial actions. </a:t>
            </a:r>
          </a:p>
        </p:txBody>
      </p:sp>
      <p:cxnSp>
        <p:nvCxnSpPr>
          <p:cNvPr id="27" name="Conector recto 26">
            <a:extLst>
              <a:ext uri="{FF2B5EF4-FFF2-40B4-BE49-F238E27FC236}">
                <a16:creationId xmlns:a16="http://schemas.microsoft.com/office/drawing/2014/main" id="{DC153105-9C6C-1195-E513-455C32B264BD}"/>
              </a:ext>
            </a:extLst>
          </p:cNvPr>
          <p:cNvCxnSpPr>
            <a:cxnSpLocks/>
          </p:cNvCxnSpPr>
          <p:nvPr/>
        </p:nvCxnSpPr>
        <p:spPr>
          <a:xfrm flipH="1" flipV="1">
            <a:off x="6069775" y="3773211"/>
            <a:ext cx="5112000" cy="0"/>
          </a:xfrm>
          <a:prstGeom prst="line">
            <a:avLst/>
          </a:prstGeom>
          <a:noFill/>
          <a:ln w="12700" cap="flat" cmpd="sng" algn="ctr">
            <a:solidFill>
              <a:schemeClr val="bg1">
                <a:lumMod val="85000"/>
              </a:schemeClr>
            </a:solidFill>
            <a:prstDash val="solid"/>
            <a:miter lim="800000"/>
          </a:ln>
          <a:effectLst/>
        </p:spPr>
      </p:cxnSp>
      <p:sp>
        <p:nvSpPr>
          <p:cNvPr id="46" name="CuadroTexto 45">
            <a:extLst>
              <a:ext uri="{FF2B5EF4-FFF2-40B4-BE49-F238E27FC236}">
                <a16:creationId xmlns:a16="http://schemas.microsoft.com/office/drawing/2014/main" id="{3B88891D-D533-0C21-4916-C2ACA7FE3108}"/>
              </a:ext>
            </a:extLst>
          </p:cNvPr>
          <p:cNvSpPr txBox="1"/>
          <p:nvPr/>
        </p:nvSpPr>
        <p:spPr>
          <a:xfrm>
            <a:off x="7577740" y="3853893"/>
            <a:ext cx="3630260" cy="830997"/>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0" cap="none" spc="0" normalizeH="0" baseline="0" noProof="0">
                <a:ln>
                  <a:noFill/>
                </a:ln>
                <a:solidFill>
                  <a:prstClr val="black"/>
                </a:solidFill>
                <a:effectLst/>
                <a:uLnTx/>
                <a:uFillTx/>
                <a:latin typeface="Santander Text"/>
                <a:ea typeface="+mn-ea"/>
                <a:cs typeface="+mn-cs"/>
              </a:rPr>
              <a:t>Global View of the status of the Customer's origination processes, covering customer and Bank side, viewing pending tasks associated with those processes </a:t>
            </a:r>
          </a:p>
        </p:txBody>
      </p:sp>
      <p:sp>
        <p:nvSpPr>
          <p:cNvPr id="8" name="Título 1">
            <a:extLst>
              <a:ext uri="{FF2B5EF4-FFF2-40B4-BE49-F238E27FC236}">
                <a16:creationId xmlns:a16="http://schemas.microsoft.com/office/drawing/2014/main" id="{24C07837-CC76-BE70-4517-988CCCA96701}"/>
              </a:ext>
            </a:extLst>
          </p:cNvPr>
          <p:cNvSpPr txBox="1">
            <a:spLocks/>
          </p:cNvSpPr>
          <p:nvPr/>
        </p:nvSpPr>
        <p:spPr>
          <a:xfrm>
            <a:off x="711024" y="623339"/>
            <a:ext cx="10758733" cy="836992"/>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lang="en-US" sz="2800" b="1" kern="1200" dirty="0">
                <a:solidFill>
                  <a:schemeClr val="accent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s-ES" sz="2800" b="1" i="0" u="none" strike="noStrike" kern="1200" cap="none" spc="0" normalizeH="0" baseline="0" noProof="0" err="1">
                <a:ln>
                  <a:noFill/>
                </a:ln>
                <a:solidFill>
                  <a:srgbClr val="EC0000"/>
                </a:solidFill>
                <a:effectLst/>
                <a:uLnTx/>
                <a:uFillTx/>
                <a:latin typeface="Santander Headline"/>
                <a:ea typeface="+mj-ea"/>
                <a:cs typeface="+mj-cs"/>
              </a:rPr>
              <a:t>Retail</a:t>
            </a:r>
            <a:r>
              <a:rPr kumimoji="0" lang="es-ES" sz="2800" b="1" i="0" u="none" strike="noStrike" kern="1200" cap="none" spc="0" normalizeH="0" baseline="0" noProof="0">
                <a:ln>
                  <a:noFill/>
                </a:ln>
                <a:solidFill>
                  <a:srgbClr val="EC0000"/>
                </a:solidFill>
                <a:effectLst/>
                <a:uLnTx/>
                <a:uFillTx/>
                <a:latin typeface="Santander Headline"/>
                <a:ea typeface="+mj-ea"/>
                <a:cs typeface="+mj-cs"/>
              </a:rPr>
              <a:t> &amp; </a:t>
            </a:r>
            <a:r>
              <a:rPr kumimoji="0" lang="es-ES" sz="2800" b="1" i="0" u="none" strike="noStrike" kern="1200" cap="none" spc="0" normalizeH="0" baseline="0" noProof="0" err="1">
                <a:ln>
                  <a:noFill/>
                </a:ln>
                <a:solidFill>
                  <a:srgbClr val="EC0000"/>
                </a:solidFill>
                <a:effectLst/>
                <a:uLnTx/>
                <a:uFillTx/>
                <a:latin typeface="Santander Headline"/>
                <a:ea typeface="+mj-ea"/>
                <a:cs typeface="+mj-cs"/>
              </a:rPr>
              <a:t>Commercial</a:t>
            </a:r>
            <a:r>
              <a:rPr lang="es-ES">
                <a:solidFill>
                  <a:srgbClr val="EC0000"/>
                </a:solidFill>
                <a:latin typeface="Santander Headline"/>
              </a:rPr>
              <a:t>.</a:t>
            </a:r>
            <a:r>
              <a:rPr kumimoji="0" lang="es-ES" sz="2800" b="1" i="0" u="none" strike="noStrike" kern="1200" cap="none" spc="0" normalizeH="0" baseline="0" noProof="0">
                <a:ln>
                  <a:noFill/>
                </a:ln>
                <a:solidFill>
                  <a:srgbClr val="EC0000"/>
                </a:solidFill>
                <a:effectLst/>
                <a:uLnTx/>
                <a:uFillTx/>
                <a:latin typeface="Santander Headline"/>
                <a:ea typeface="+mj-ea"/>
                <a:cs typeface="+mj-cs"/>
              </a:rPr>
              <a:t> </a:t>
            </a:r>
            <a:r>
              <a:rPr kumimoji="0" lang="en-AU" sz="2800" b="1" i="0" u="none" strike="noStrike" kern="1200" cap="none" spc="0" normalizeH="0" baseline="0" noProof="0">
                <a:ln>
                  <a:noFill/>
                </a:ln>
                <a:solidFill>
                  <a:srgbClr val="BFBFBF"/>
                </a:solidFill>
                <a:effectLst/>
                <a:uLnTx/>
                <a:uFillTx/>
                <a:latin typeface="Santander Headline"/>
                <a:ea typeface="+mj-ea"/>
                <a:cs typeface="+mj-cs"/>
              </a:rPr>
              <a:t>Assisted Channels</a:t>
            </a:r>
          </a:p>
        </p:txBody>
      </p:sp>
      <p:sp>
        <p:nvSpPr>
          <p:cNvPr id="32" name="CuadroTexto 31">
            <a:extLst>
              <a:ext uri="{FF2B5EF4-FFF2-40B4-BE49-F238E27FC236}">
                <a16:creationId xmlns:a16="http://schemas.microsoft.com/office/drawing/2014/main" id="{5B4BD651-4B57-6572-2F95-DB4F26B4D573}"/>
              </a:ext>
            </a:extLst>
          </p:cNvPr>
          <p:cNvSpPr txBox="1"/>
          <p:nvPr/>
        </p:nvSpPr>
        <p:spPr>
          <a:xfrm>
            <a:off x="2063255" y="1933188"/>
            <a:ext cx="3745858" cy="909402"/>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rPr>
              <a:t>Tool to Search for Customers/Prospects to Identify and continue with Commercial or Servicing actions.</a:t>
            </a:r>
          </a:p>
        </p:txBody>
      </p:sp>
      <p:cxnSp>
        <p:nvCxnSpPr>
          <p:cNvPr id="36" name="Conector recto 35">
            <a:extLst>
              <a:ext uri="{FF2B5EF4-FFF2-40B4-BE49-F238E27FC236}">
                <a16:creationId xmlns:a16="http://schemas.microsoft.com/office/drawing/2014/main" id="{D6E87A70-6938-2368-8C3E-C791BC8A1F92}"/>
              </a:ext>
            </a:extLst>
          </p:cNvPr>
          <p:cNvCxnSpPr>
            <a:cxnSpLocks/>
          </p:cNvCxnSpPr>
          <p:nvPr/>
        </p:nvCxnSpPr>
        <p:spPr>
          <a:xfrm flipH="1" flipV="1">
            <a:off x="516531" y="2692950"/>
            <a:ext cx="5112000" cy="0"/>
          </a:xfrm>
          <a:prstGeom prst="line">
            <a:avLst/>
          </a:prstGeom>
          <a:noFill/>
          <a:ln w="12700" cap="flat" cmpd="sng" algn="ctr">
            <a:solidFill>
              <a:schemeClr val="bg1">
                <a:lumMod val="85000"/>
              </a:schemeClr>
            </a:solidFill>
            <a:prstDash val="solid"/>
            <a:miter lim="800000"/>
          </a:ln>
          <a:effectLst/>
        </p:spPr>
      </p:cxnSp>
      <p:cxnSp>
        <p:nvCxnSpPr>
          <p:cNvPr id="40" name="Conector recto 39">
            <a:extLst>
              <a:ext uri="{FF2B5EF4-FFF2-40B4-BE49-F238E27FC236}">
                <a16:creationId xmlns:a16="http://schemas.microsoft.com/office/drawing/2014/main" id="{C78D52F1-EE47-2DF1-D499-B033B9194834}"/>
              </a:ext>
            </a:extLst>
          </p:cNvPr>
          <p:cNvCxnSpPr>
            <a:cxnSpLocks/>
          </p:cNvCxnSpPr>
          <p:nvPr/>
        </p:nvCxnSpPr>
        <p:spPr>
          <a:xfrm flipH="1" flipV="1">
            <a:off x="516531" y="3491526"/>
            <a:ext cx="5112000" cy="0"/>
          </a:xfrm>
          <a:prstGeom prst="line">
            <a:avLst/>
          </a:prstGeom>
          <a:noFill/>
          <a:ln w="12700" cap="flat" cmpd="sng" algn="ctr">
            <a:solidFill>
              <a:schemeClr val="bg1">
                <a:lumMod val="85000"/>
              </a:schemeClr>
            </a:solidFill>
            <a:prstDash val="solid"/>
            <a:miter lim="800000"/>
          </a:ln>
          <a:effectLst/>
        </p:spPr>
      </p:cxnSp>
      <p:sp>
        <p:nvSpPr>
          <p:cNvPr id="41" name="Rectángulo 40">
            <a:extLst>
              <a:ext uri="{FF2B5EF4-FFF2-40B4-BE49-F238E27FC236}">
                <a16:creationId xmlns:a16="http://schemas.microsoft.com/office/drawing/2014/main" id="{B1041093-DD9B-776F-877E-7F16B6F833A2}"/>
              </a:ext>
            </a:extLst>
          </p:cNvPr>
          <p:cNvSpPr/>
          <p:nvPr/>
        </p:nvSpPr>
        <p:spPr>
          <a:xfrm>
            <a:off x="524788" y="2024068"/>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Customer Search</a:t>
            </a:r>
          </a:p>
        </p:txBody>
      </p:sp>
      <p:sp>
        <p:nvSpPr>
          <p:cNvPr id="43" name="Rectángulo 42">
            <a:extLst>
              <a:ext uri="{FF2B5EF4-FFF2-40B4-BE49-F238E27FC236}">
                <a16:creationId xmlns:a16="http://schemas.microsoft.com/office/drawing/2014/main" id="{AA0F3454-8D30-8B5C-37FC-83394CE254CE}"/>
              </a:ext>
            </a:extLst>
          </p:cNvPr>
          <p:cNvSpPr/>
          <p:nvPr/>
        </p:nvSpPr>
        <p:spPr>
          <a:xfrm>
            <a:off x="524788" y="2767913"/>
            <a:ext cx="1440000" cy="540000"/>
          </a:xfrm>
          <a:prstGeom prst="rect">
            <a:avLst/>
          </a:prstGeom>
          <a:noFill/>
          <a:ln w="12700" cap="flat" cmpd="sng" algn="ctr">
            <a:solidFill>
              <a:schemeClr val="bg1">
                <a:lumMod val="50000"/>
              </a:schemeClr>
            </a:solidFill>
            <a:prstDash val="solid"/>
            <a:miter lim="800000"/>
          </a:ln>
          <a:effectLst/>
        </p:spPr>
        <p:txBody>
          <a:bodyPr lIns="72000" rIns="72000" rtlCol="0" anchor="ctr"/>
          <a:lstStyle/>
          <a:p>
            <a:pPr algn="ctr">
              <a:spcAft>
                <a:spcPts val="600"/>
              </a:spcAf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Customer Profile</a:t>
            </a:r>
            <a:r>
              <a:rPr kumimoji="0" lang="en-AU" sz="1400" b="0"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 </a:t>
            </a:r>
          </a:p>
        </p:txBody>
      </p:sp>
      <p:sp>
        <p:nvSpPr>
          <p:cNvPr id="44" name="Rectángulo 43">
            <a:extLst>
              <a:ext uri="{FF2B5EF4-FFF2-40B4-BE49-F238E27FC236}">
                <a16:creationId xmlns:a16="http://schemas.microsoft.com/office/drawing/2014/main" id="{AE77623D-533C-B5E4-43E8-EB0DABDB7BC7}"/>
              </a:ext>
            </a:extLst>
          </p:cNvPr>
          <p:cNvSpPr/>
          <p:nvPr/>
        </p:nvSpPr>
        <p:spPr>
          <a:xfrm>
            <a:off x="524788" y="3671253"/>
            <a:ext cx="1440000" cy="540000"/>
          </a:xfrm>
          <a:prstGeom prst="rect">
            <a:avLst/>
          </a:prstGeom>
          <a:noFill/>
          <a:ln w="12700" cap="flat" cmpd="sng" algn="ctr">
            <a:solidFill>
              <a:schemeClr val="bg1">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Interactions</a:t>
            </a:r>
          </a:p>
        </p:txBody>
      </p:sp>
      <p:sp>
        <p:nvSpPr>
          <p:cNvPr id="45" name="CuadroTexto 44">
            <a:extLst>
              <a:ext uri="{FF2B5EF4-FFF2-40B4-BE49-F238E27FC236}">
                <a16:creationId xmlns:a16="http://schemas.microsoft.com/office/drawing/2014/main" id="{364C3E2D-6781-05B4-3EA2-7DDB2FCB5D59}"/>
              </a:ext>
            </a:extLst>
          </p:cNvPr>
          <p:cNvSpPr txBox="1"/>
          <p:nvPr/>
        </p:nvSpPr>
        <p:spPr>
          <a:xfrm>
            <a:off x="2063255" y="2691009"/>
            <a:ext cx="3718224" cy="646331"/>
          </a:xfrm>
          <a:prstGeom prst="rect">
            <a:avLst/>
          </a:prstGeom>
          <a:noFill/>
        </p:spPr>
        <p:txBody>
          <a:bodyPr wrap="square">
            <a:spAutoFit/>
          </a:bodyPr>
          <a:lstStyle/>
          <a:p>
            <a:pPr marL="180000" marR="0" lvl="1"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rPr>
              <a:t>Bring together all information related to customers and their relationships, along with an overview of all contracted products. </a:t>
            </a:r>
          </a:p>
        </p:txBody>
      </p:sp>
      <p:sp>
        <p:nvSpPr>
          <p:cNvPr id="47" name="CuadroTexto 46">
            <a:extLst>
              <a:ext uri="{FF2B5EF4-FFF2-40B4-BE49-F238E27FC236}">
                <a16:creationId xmlns:a16="http://schemas.microsoft.com/office/drawing/2014/main" id="{ADA0CFC5-6B0A-3494-1454-5DA08F2D5E12}"/>
              </a:ext>
            </a:extLst>
          </p:cNvPr>
          <p:cNvSpPr txBox="1"/>
          <p:nvPr/>
        </p:nvSpPr>
        <p:spPr>
          <a:xfrm>
            <a:off x="2082054" y="3684815"/>
            <a:ext cx="3657894" cy="461665"/>
          </a:xfrm>
          <a:prstGeom prst="rect">
            <a:avLst/>
          </a:prstGeom>
          <a:noFill/>
        </p:spPr>
        <p:txBody>
          <a:bodyPr wrap="square">
            <a:spAutoFit/>
          </a:bodyPr>
          <a:lstStyle/>
          <a:p>
            <a:pPr marL="180000" marR="0" lvl="1"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rPr>
              <a:t>Omnichannel view of the customer's last interactions with the bank</a:t>
            </a:r>
          </a:p>
        </p:txBody>
      </p:sp>
      <p:cxnSp>
        <p:nvCxnSpPr>
          <p:cNvPr id="48" name="Conector recto 47">
            <a:extLst>
              <a:ext uri="{FF2B5EF4-FFF2-40B4-BE49-F238E27FC236}">
                <a16:creationId xmlns:a16="http://schemas.microsoft.com/office/drawing/2014/main" id="{C08757BB-8AF4-8921-8E3F-9D424AB58F95}"/>
              </a:ext>
            </a:extLst>
          </p:cNvPr>
          <p:cNvCxnSpPr>
            <a:cxnSpLocks/>
          </p:cNvCxnSpPr>
          <p:nvPr/>
        </p:nvCxnSpPr>
        <p:spPr>
          <a:xfrm flipH="1" flipV="1">
            <a:off x="535330" y="4316306"/>
            <a:ext cx="5112000" cy="0"/>
          </a:xfrm>
          <a:prstGeom prst="line">
            <a:avLst/>
          </a:prstGeom>
          <a:noFill/>
          <a:ln w="12700" cap="flat" cmpd="sng" algn="ctr">
            <a:solidFill>
              <a:schemeClr val="bg1">
                <a:lumMod val="85000"/>
              </a:schemeClr>
            </a:solidFill>
            <a:prstDash val="solid"/>
            <a:miter lim="800000"/>
          </a:ln>
          <a:effectLst/>
        </p:spPr>
      </p:cxnSp>
      <p:sp>
        <p:nvSpPr>
          <p:cNvPr id="49" name="Rectángulo 41">
            <a:extLst>
              <a:ext uri="{FF2B5EF4-FFF2-40B4-BE49-F238E27FC236}">
                <a16:creationId xmlns:a16="http://schemas.microsoft.com/office/drawing/2014/main" id="{9604B4DA-FB6C-4167-E868-E039EDBCDBDB}"/>
              </a:ext>
            </a:extLst>
          </p:cNvPr>
          <p:cNvSpPr/>
          <p:nvPr/>
        </p:nvSpPr>
        <p:spPr>
          <a:xfrm>
            <a:off x="524788" y="4449854"/>
            <a:ext cx="1440000" cy="540000"/>
          </a:xfrm>
          <a:prstGeom prst="rect">
            <a:avLst/>
          </a:prstGeom>
          <a:noFill/>
          <a:ln w="12700" cap="flat" cmpd="sng" algn="ctr">
            <a:solidFill>
              <a:schemeClr val="bg1">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Wrap Up</a:t>
            </a:r>
          </a:p>
        </p:txBody>
      </p:sp>
      <p:sp>
        <p:nvSpPr>
          <p:cNvPr id="51" name="CuadroTexto 54">
            <a:extLst>
              <a:ext uri="{FF2B5EF4-FFF2-40B4-BE49-F238E27FC236}">
                <a16:creationId xmlns:a16="http://schemas.microsoft.com/office/drawing/2014/main" id="{710FDEF0-916A-3B6A-5ADA-81456D43E2EC}"/>
              </a:ext>
            </a:extLst>
          </p:cNvPr>
          <p:cNvSpPr txBox="1"/>
          <p:nvPr/>
        </p:nvSpPr>
        <p:spPr>
          <a:xfrm>
            <a:off x="2082054" y="4442409"/>
            <a:ext cx="3657894" cy="646331"/>
          </a:xfrm>
          <a:prstGeom prst="rect">
            <a:avLst/>
          </a:prstGeom>
          <a:noFill/>
        </p:spPr>
        <p:txBody>
          <a:bodyPr wrap="square">
            <a:spAutoFit/>
          </a:bodyPr>
          <a:lstStyle/>
          <a:p>
            <a:pPr marL="180000" marR="0" lvl="1"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rPr>
              <a:t>Records Customer contact end result, includes Customer contact reason, conversation summary, outcomes </a:t>
            </a:r>
          </a:p>
        </p:txBody>
      </p:sp>
      <p:cxnSp>
        <p:nvCxnSpPr>
          <p:cNvPr id="52" name="Conector recto 58">
            <a:extLst>
              <a:ext uri="{FF2B5EF4-FFF2-40B4-BE49-F238E27FC236}">
                <a16:creationId xmlns:a16="http://schemas.microsoft.com/office/drawing/2014/main" id="{00394F20-3AAD-BE9F-0D46-EFD1861DE2DB}"/>
              </a:ext>
            </a:extLst>
          </p:cNvPr>
          <p:cNvCxnSpPr>
            <a:cxnSpLocks/>
          </p:cNvCxnSpPr>
          <p:nvPr/>
        </p:nvCxnSpPr>
        <p:spPr>
          <a:xfrm flipH="1" flipV="1">
            <a:off x="535330" y="5094907"/>
            <a:ext cx="5112000" cy="0"/>
          </a:xfrm>
          <a:prstGeom prst="line">
            <a:avLst/>
          </a:prstGeom>
          <a:noFill/>
          <a:ln w="12700" cap="flat" cmpd="sng" algn="ctr">
            <a:solidFill>
              <a:schemeClr val="bg1">
                <a:lumMod val="85000"/>
              </a:schemeClr>
            </a:solidFill>
            <a:prstDash val="solid"/>
            <a:miter lim="800000"/>
          </a:ln>
          <a:effectLst/>
        </p:spPr>
      </p:cxnSp>
      <p:sp>
        <p:nvSpPr>
          <p:cNvPr id="53" name="Rectángulo 41">
            <a:extLst>
              <a:ext uri="{FF2B5EF4-FFF2-40B4-BE49-F238E27FC236}">
                <a16:creationId xmlns:a16="http://schemas.microsoft.com/office/drawing/2014/main" id="{3FB3243F-E636-1F88-280E-8DDEA827179E}"/>
              </a:ext>
            </a:extLst>
          </p:cNvPr>
          <p:cNvSpPr/>
          <p:nvPr/>
        </p:nvSpPr>
        <p:spPr>
          <a:xfrm>
            <a:off x="524788" y="5184305"/>
            <a:ext cx="1440000" cy="540000"/>
          </a:xfrm>
          <a:prstGeom prst="rect">
            <a:avLst/>
          </a:prstGeom>
          <a:noFill/>
          <a:ln w="12700" cap="flat" cmpd="sng" algn="ctr">
            <a:solidFill>
              <a:schemeClr val="bg1">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CRM Offers / Opportunities</a:t>
            </a:r>
          </a:p>
        </p:txBody>
      </p:sp>
      <p:sp>
        <p:nvSpPr>
          <p:cNvPr id="54" name="CuadroTexto 54">
            <a:extLst>
              <a:ext uri="{FF2B5EF4-FFF2-40B4-BE49-F238E27FC236}">
                <a16:creationId xmlns:a16="http://schemas.microsoft.com/office/drawing/2014/main" id="{7CEA15B5-555B-D162-D4E0-045C4F0D5D23}"/>
              </a:ext>
            </a:extLst>
          </p:cNvPr>
          <p:cNvSpPr txBox="1"/>
          <p:nvPr/>
        </p:nvSpPr>
        <p:spPr>
          <a:xfrm>
            <a:off x="2082054" y="5141086"/>
            <a:ext cx="3657894" cy="646331"/>
          </a:xfrm>
          <a:prstGeom prst="rect">
            <a:avLst/>
          </a:prstGeom>
          <a:noFill/>
        </p:spPr>
        <p:txBody>
          <a:bodyPr wrap="square">
            <a:spAutoFit/>
          </a:bodyPr>
          <a:lstStyle/>
          <a:p>
            <a:pPr marL="180000" marR="0" lvl="1"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rPr>
              <a:t>Next best offer and next best actions are provided with commercial offers or post-sale actions to leverage customer experience</a:t>
            </a:r>
          </a:p>
        </p:txBody>
      </p:sp>
      <p:cxnSp>
        <p:nvCxnSpPr>
          <p:cNvPr id="56" name="Conector recto 58">
            <a:extLst>
              <a:ext uri="{FF2B5EF4-FFF2-40B4-BE49-F238E27FC236}">
                <a16:creationId xmlns:a16="http://schemas.microsoft.com/office/drawing/2014/main" id="{9F2E804D-3249-1451-1CEB-7EB50F843EB8}"/>
              </a:ext>
            </a:extLst>
          </p:cNvPr>
          <p:cNvCxnSpPr>
            <a:cxnSpLocks/>
          </p:cNvCxnSpPr>
          <p:nvPr/>
        </p:nvCxnSpPr>
        <p:spPr>
          <a:xfrm flipH="1" flipV="1">
            <a:off x="535330" y="5829358"/>
            <a:ext cx="5112000" cy="0"/>
          </a:xfrm>
          <a:prstGeom prst="line">
            <a:avLst/>
          </a:prstGeom>
          <a:noFill/>
          <a:ln w="12700" cap="flat" cmpd="sng" algn="ctr">
            <a:solidFill>
              <a:schemeClr val="bg1">
                <a:lumMod val="85000"/>
              </a:schemeClr>
            </a:solidFill>
            <a:prstDash val="solid"/>
            <a:miter lim="800000"/>
          </a:ln>
          <a:effectLst/>
        </p:spPr>
      </p:cxnSp>
    </p:spTree>
    <p:extLst>
      <p:ext uri="{BB962C8B-B14F-4D97-AF65-F5344CB8AC3E}">
        <p14:creationId xmlns:p14="http://schemas.microsoft.com/office/powerpoint/2010/main" val="14808783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6C9D3-F769-BD6B-AD77-D3677D60458E}"/>
            </a:ext>
          </a:extLst>
        </p:cNvPr>
        <p:cNvGrpSpPr/>
        <p:nvPr/>
      </p:nvGrpSpPr>
      <p:grpSpPr>
        <a:xfrm>
          <a:off x="0" y="0"/>
          <a:ext cx="0" cy="0"/>
          <a:chOff x="0" y="0"/>
          <a:chExt cx="0" cy="0"/>
        </a:xfrm>
      </p:grpSpPr>
      <p:sp>
        <p:nvSpPr>
          <p:cNvPr id="17" name="Text Placeholder 2">
            <a:extLst>
              <a:ext uri="{FF2B5EF4-FFF2-40B4-BE49-F238E27FC236}">
                <a16:creationId xmlns:a16="http://schemas.microsoft.com/office/drawing/2014/main" id="{42C95660-0E01-55FE-1D76-C0599A72BDC7}"/>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cxnSp>
        <p:nvCxnSpPr>
          <p:cNvPr id="33" name="Conector recto 32">
            <a:extLst>
              <a:ext uri="{FF2B5EF4-FFF2-40B4-BE49-F238E27FC236}">
                <a16:creationId xmlns:a16="http://schemas.microsoft.com/office/drawing/2014/main" id="{F78C9002-B11E-FC02-263C-4DE658F7481F}"/>
              </a:ext>
            </a:extLst>
          </p:cNvPr>
          <p:cNvCxnSpPr>
            <a:cxnSpLocks/>
          </p:cNvCxnSpPr>
          <p:nvPr/>
        </p:nvCxnSpPr>
        <p:spPr>
          <a:xfrm flipH="1" flipV="1">
            <a:off x="6167296" y="1933750"/>
            <a:ext cx="5112000" cy="0"/>
          </a:xfrm>
          <a:prstGeom prst="line">
            <a:avLst/>
          </a:prstGeom>
          <a:noFill/>
          <a:ln w="12700" cap="flat" cmpd="sng" algn="ctr">
            <a:solidFill>
              <a:srgbClr val="595959"/>
            </a:solidFill>
            <a:prstDash val="solid"/>
            <a:miter lim="800000"/>
          </a:ln>
          <a:effectLst/>
        </p:spPr>
      </p:cxnSp>
      <p:sp>
        <p:nvSpPr>
          <p:cNvPr id="34" name="CuadroTexto 33">
            <a:extLst>
              <a:ext uri="{FF2B5EF4-FFF2-40B4-BE49-F238E27FC236}">
                <a16:creationId xmlns:a16="http://schemas.microsoft.com/office/drawing/2014/main" id="{F7C2A8B3-9EB3-DF94-739F-E7BF9C49E8E3}"/>
              </a:ext>
            </a:extLst>
          </p:cNvPr>
          <p:cNvSpPr txBox="1"/>
          <p:nvPr/>
        </p:nvSpPr>
        <p:spPr>
          <a:xfrm>
            <a:off x="7724562" y="1958213"/>
            <a:ext cx="3745858" cy="909402"/>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rPr>
              <a:t>Automated phone system that allows incoming callers to access information via a voice response system of pre-recorded messages without having to speak to an agent</a:t>
            </a:r>
          </a:p>
        </p:txBody>
      </p:sp>
      <p:cxnSp>
        <p:nvCxnSpPr>
          <p:cNvPr id="35" name="Conector recto 34">
            <a:extLst>
              <a:ext uri="{FF2B5EF4-FFF2-40B4-BE49-F238E27FC236}">
                <a16:creationId xmlns:a16="http://schemas.microsoft.com/office/drawing/2014/main" id="{10B8CB69-0026-90D9-92D4-FAEE024B2609}"/>
              </a:ext>
            </a:extLst>
          </p:cNvPr>
          <p:cNvCxnSpPr>
            <a:cxnSpLocks/>
          </p:cNvCxnSpPr>
          <p:nvPr/>
        </p:nvCxnSpPr>
        <p:spPr>
          <a:xfrm flipH="1" flipV="1">
            <a:off x="6177838" y="2765462"/>
            <a:ext cx="5112000" cy="0"/>
          </a:xfrm>
          <a:prstGeom prst="line">
            <a:avLst/>
          </a:prstGeom>
          <a:noFill/>
          <a:ln w="12700" cap="flat" cmpd="sng" algn="ctr">
            <a:solidFill>
              <a:schemeClr val="bg1">
                <a:lumMod val="85000"/>
              </a:schemeClr>
            </a:solidFill>
            <a:prstDash val="solid"/>
            <a:miter lim="800000"/>
          </a:ln>
          <a:effectLst/>
        </p:spPr>
      </p:cxnSp>
      <p:cxnSp>
        <p:nvCxnSpPr>
          <p:cNvPr id="37" name="Conector recto 36">
            <a:extLst>
              <a:ext uri="{FF2B5EF4-FFF2-40B4-BE49-F238E27FC236}">
                <a16:creationId xmlns:a16="http://schemas.microsoft.com/office/drawing/2014/main" id="{448EBD05-E372-7D2C-1E3F-1DE3225380F5}"/>
              </a:ext>
            </a:extLst>
          </p:cNvPr>
          <p:cNvCxnSpPr>
            <a:cxnSpLocks/>
          </p:cNvCxnSpPr>
          <p:nvPr/>
        </p:nvCxnSpPr>
        <p:spPr>
          <a:xfrm flipH="1" flipV="1">
            <a:off x="6177838" y="3564038"/>
            <a:ext cx="5112000" cy="0"/>
          </a:xfrm>
          <a:prstGeom prst="line">
            <a:avLst/>
          </a:prstGeom>
          <a:noFill/>
          <a:ln w="12700" cap="flat" cmpd="sng" algn="ctr">
            <a:solidFill>
              <a:schemeClr val="bg1">
                <a:lumMod val="85000"/>
              </a:schemeClr>
            </a:solidFill>
            <a:prstDash val="solid"/>
            <a:miter lim="800000"/>
          </a:ln>
          <a:effectLst/>
        </p:spPr>
      </p:cxnSp>
      <p:sp>
        <p:nvSpPr>
          <p:cNvPr id="38" name="Rectángulo 37">
            <a:extLst>
              <a:ext uri="{FF2B5EF4-FFF2-40B4-BE49-F238E27FC236}">
                <a16:creationId xmlns:a16="http://schemas.microsoft.com/office/drawing/2014/main" id="{9F9B60EA-3914-BD65-A4AF-237774184571}"/>
              </a:ext>
            </a:extLst>
          </p:cNvPr>
          <p:cNvSpPr/>
          <p:nvPr/>
        </p:nvSpPr>
        <p:spPr>
          <a:xfrm>
            <a:off x="6186095" y="2096580"/>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IVR</a:t>
            </a:r>
          </a:p>
        </p:txBody>
      </p:sp>
      <p:sp>
        <p:nvSpPr>
          <p:cNvPr id="39" name="Rectángulo 38">
            <a:extLst>
              <a:ext uri="{FF2B5EF4-FFF2-40B4-BE49-F238E27FC236}">
                <a16:creationId xmlns:a16="http://schemas.microsoft.com/office/drawing/2014/main" id="{D078096C-D64F-E77B-B7F2-E938C1C9CDD0}"/>
              </a:ext>
            </a:extLst>
          </p:cNvPr>
          <p:cNvSpPr/>
          <p:nvPr/>
        </p:nvSpPr>
        <p:spPr>
          <a:xfrm>
            <a:off x="6186095" y="2840425"/>
            <a:ext cx="1440000" cy="540000"/>
          </a:xfrm>
          <a:prstGeom prst="rect">
            <a:avLst/>
          </a:prstGeom>
          <a:noFill/>
          <a:ln w="12700" cap="flat" cmpd="sng" algn="ctr">
            <a:solidFill>
              <a:schemeClr val="bg1">
                <a:lumMod val="50000"/>
              </a:schemeClr>
            </a:solidFill>
            <a:prstDash val="solid"/>
            <a:miter lim="800000"/>
          </a:ln>
          <a:effectLst/>
        </p:spPr>
        <p:txBody>
          <a:bodyPr lIns="72000" rIns="72000" rtlCol="0" anchor="ctr"/>
          <a:lstStyle/>
          <a:p>
            <a:pPr algn="ctr">
              <a:spcAft>
                <a:spcPts val="600"/>
              </a:spcAf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Digital Assist</a:t>
            </a:r>
          </a:p>
        </p:txBody>
      </p:sp>
      <p:sp>
        <p:nvSpPr>
          <p:cNvPr id="42" name="Rectángulo 41">
            <a:extLst>
              <a:ext uri="{FF2B5EF4-FFF2-40B4-BE49-F238E27FC236}">
                <a16:creationId xmlns:a16="http://schemas.microsoft.com/office/drawing/2014/main" id="{6666F0A1-5922-DAB7-4BD1-682ACDBFE0E9}"/>
              </a:ext>
            </a:extLst>
          </p:cNvPr>
          <p:cNvSpPr/>
          <p:nvPr/>
        </p:nvSpPr>
        <p:spPr>
          <a:xfrm>
            <a:off x="6186095" y="3743765"/>
            <a:ext cx="1440000" cy="540000"/>
          </a:xfrm>
          <a:prstGeom prst="rect">
            <a:avLst/>
          </a:prstGeom>
          <a:noFill/>
          <a:ln w="12700" cap="flat" cmpd="sng" algn="ctr">
            <a:solidFill>
              <a:schemeClr val="bg1">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Bot</a:t>
            </a:r>
          </a:p>
        </p:txBody>
      </p:sp>
      <p:sp>
        <p:nvSpPr>
          <p:cNvPr id="50" name="CuadroTexto 49">
            <a:extLst>
              <a:ext uri="{FF2B5EF4-FFF2-40B4-BE49-F238E27FC236}">
                <a16:creationId xmlns:a16="http://schemas.microsoft.com/office/drawing/2014/main" id="{C139C5A4-EF45-1C47-CDA5-A44082FC5368}"/>
              </a:ext>
            </a:extLst>
          </p:cNvPr>
          <p:cNvSpPr txBox="1"/>
          <p:nvPr/>
        </p:nvSpPr>
        <p:spPr>
          <a:xfrm>
            <a:off x="7724562" y="2763521"/>
            <a:ext cx="3718224" cy="830997"/>
          </a:xfrm>
          <a:prstGeom prst="rect">
            <a:avLst/>
          </a:prstGeom>
          <a:noFill/>
        </p:spPr>
        <p:txBody>
          <a:bodyPr wrap="square">
            <a:spAutoFit/>
          </a:bodyPr>
          <a:lstStyle/>
          <a:p>
            <a:pPr marL="180000" marR="0" lvl="1"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rPr>
              <a:t>Chat. Provides chat support to Digital customers.</a:t>
            </a:r>
          </a:p>
          <a:p>
            <a:pPr marL="180000" marR="0" lvl="1"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rPr>
              <a:t>WhatsApp. Depending on regulation, provides non-financial and financial services</a:t>
            </a:r>
          </a:p>
          <a:p>
            <a:pPr marL="180000" marR="0" lvl="1"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rPr>
              <a:t>Social networks</a:t>
            </a:r>
          </a:p>
        </p:txBody>
      </p:sp>
      <p:sp>
        <p:nvSpPr>
          <p:cNvPr id="55" name="CuadroTexto 54">
            <a:extLst>
              <a:ext uri="{FF2B5EF4-FFF2-40B4-BE49-F238E27FC236}">
                <a16:creationId xmlns:a16="http://schemas.microsoft.com/office/drawing/2014/main" id="{944303B7-EB10-29E0-E1F1-591B83339FD2}"/>
              </a:ext>
            </a:extLst>
          </p:cNvPr>
          <p:cNvSpPr txBox="1"/>
          <p:nvPr/>
        </p:nvSpPr>
        <p:spPr>
          <a:xfrm>
            <a:off x="7743361" y="3676747"/>
            <a:ext cx="3657894" cy="646331"/>
          </a:xfrm>
          <a:prstGeom prst="rect">
            <a:avLst/>
          </a:prstGeom>
          <a:noFill/>
        </p:spPr>
        <p:txBody>
          <a:bodyPr wrap="square">
            <a:spAutoFit/>
          </a:bodyPr>
          <a:lstStyle/>
          <a:p>
            <a:pPr marL="180000" marR="0" lvl="1"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rPr>
              <a:t>Dialog managers. Orchestrates the context of the dialog and responses, analyzing the intention of the call (via menu or open question)</a:t>
            </a:r>
          </a:p>
        </p:txBody>
      </p:sp>
      <p:sp>
        <p:nvSpPr>
          <p:cNvPr id="8" name="Título 1">
            <a:extLst>
              <a:ext uri="{FF2B5EF4-FFF2-40B4-BE49-F238E27FC236}">
                <a16:creationId xmlns:a16="http://schemas.microsoft.com/office/drawing/2014/main" id="{8425C8C2-8BD7-474E-DFF1-A447E02BF6BD}"/>
              </a:ext>
            </a:extLst>
          </p:cNvPr>
          <p:cNvSpPr txBox="1">
            <a:spLocks/>
          </p:cNvSpPr>
          <p:nvPr/>
        </p:nvSpPr>
        <p:spPr>
          <a:xfrm>
            <a:off x="711024" y="623339"/>
            <a:ext cx="10758733" cy="836992"/>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lang="en-US" sz="2800" b="1" kern="1200" dirty="0">
                <a:solidFill>
                  <a:schemeClr val="accent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s-ES" sz="2800" b="1" i="0" u="none" strike="noStrike" kern="1200" cap="none" spc="0" normalizeH="0" baseline="0" noProof="0" err="1">
                <a:ln>
                  <a:noFill/>
                </a:ln>
                <a:solidFill>
                  <a:srgbClr val="EC0000"/>
                </a:solidFill>
                <a:effectLst/>
                <a:uLnTx/>
                <a:uFillTx/>
                <a:latin typeface="Santander Headline"/>
                <a:ea typeface="+mj-ea"/>
                <a:cs typeface="+mj-cs"/>
              </a:rPr>
              <a:t>Retail</a:t>
            </a:r>
            <a:r>
              <a:rPr kumimoji="0" lang="es-ES" sz="2800" b="1" i="0" u="none" strike="noStrike" kern="1200" cap="none" spc="0" normalizeH="0" baseline="0" noProof="0">
                <a:ln>
                  <a:noFill/>
                </a:ln>
                <a:solidFill>
                  <a:srgbClr val="EC0000"/>
                </a:solidFill>
                <a:effectLst/>
                <a:uLnTx/>
                <a:uFillTx/>
                <a:latin typeface="Santander Headline"/>
                <a:ea typeface="+mj-ea"/>
                <a:cs typeface="+mj-cs"/>
              </a:rPr>
              <a:t> &amp; </a:t>
            </a:r>
            <a:r>
              <a:rPr kumimoji="0" lang="es-ES" sz="2800" b="1" i="0" u="none" strike="noStrike" kern="1200" cap="none" spc="0" normalizeH="0" baseline="0" noProof="0" err="1">
                <a:ln>
                  <a:noFill/>
                </a:ln>
                <a:solidFill>
                  <a:srgbClr val="EC0000"/>
                </a:solidFill>
                <a:effectLst/>
                <a:uLnTx/>
                <a:uFillTx/>
                <a:latin typeface="Santander Headline"/>
                <a:ea typeface="+mj-ea"/>
                <a:cs typeface="+mj-cs"/>
              </a:rPr>
              <a:t>Commercial</a:t>
            </a:r>
            <a:r>
              <a:rPr lang="es-ES">
                <a:solidFill>
                  <a:srgbClr val="EC0000"/>
                </a:solidFill>
                <a:latin typeface="Santander Headline"/>
              </a:rPr>
              <a:t>.</a:t>
            </a:r>
            <a:r>
              <a:rPr kumimoji="0" lang="es-ES" sz="2800" b="1" i="0" u="none" strike="noStrike" kern="1200" cap="none" spc="0" normalizeH="0" baseline="0" noProof="0">
                <a:ln>
                  <a:noFill/>
                </a:ln>
                <a:solidFill>
                  <a:srgbClr val="EC0000"/>
                </a:solidFill>
                <a:effectLst/>
                <a:uLnTx/>
                <a:uFillTx/>
                <a:latin typeface="Santander Headline"/>
                <a:ea typeface="+mj-ea"/>
                <a:cs typeface="+mj-cs"/>
              </a:rPr>
              <a:t> </a:t>
            </a:r>
            <a:r>
              <a:rPr kumimoji="0" lang="en-AU" sz="2800" b="1" i="0" u="none" strike="noStrike" kern="1200" cap="none" spc="0" normalizeH="0" baseline="0" noProof="0">
                <a:ln>
                  <a:noFill/>
                </a:ln>
                <a:solidFill>
                  <a:srgbClr val="BFBFBF"/>
                </a:solidFill>
                <a:effectLst/>
                <a:uLnTx/>
                <a:uFillTx/>
                <a:latin typeface="Santander Headline"/>
                <a:ea typeface="+mj-ea"/>
                <a:cs typeface="+mj-cs"/>
              </a:rPr>
              <a:t>Assisted Channels</a:t>
            </a:r>
          </a:p>
        </p:txBody>
      </p:sp>
      <p:sp>
        <p:nvSpPr>
          <p:cNvPr id="4" name="CuadroTexto 20">
            <a:extLst>
              <a:ext uri="{FF2B5EF4-FFF2-40B4-BE49-F238E27FC236}">
                <a16:creationId xmlns:a16="http://schemas.microsoft.com/office/drawing/2014/main" id="{84BD989C-EE71-6BA9-8266-B0FA28C443AB}"/>
              </a:ext>
            </a:extLst>
          </p:cNvPr>
          <p:cNvSpPr txBox="1"/>
          <p:nvPr/>
        </p:nvSpPr>
        <p:spPr>
          <a:xfrm>
            <a:off x="6167296" y="1031262"/>
            <a:ext cx="4776743" cy="807913"/>
          </a:xfrm>
          <a:prstGeom prst="rect">
            <a:avLst/>
          </a:prstGeom>
          <a:noFill/>
        </p:spPr>
        <p:txBody>
          <a:bodyPr wrap="square" rtlCol="0">
            <a:spAutoFit/>
          </a:bodyPr>
          <a:lstStyle/>
          <a:p>
            <a:pPr marL="355600" marR="0" lvl="0" indent="-355600" algn="l" defTabSz="914400" rtl="0" eaLnBrk="1" fontAlgn="auto" latinLnBrk="0" hangingPunct="1">
              <a:lnSpc>
                <a:spcPct val="100000"/>
              </a:lnSpc>
              <a:spcBef>
                <a:spcPts val="0"/>
              </a:spcBef>
              <a:spcAft>
                <a:spcPts val="300"/>
              </a:spcAft>
              <a:buClrTx/>
              <a:buSzTx/>
              <a:buFontTx/>
              <a:buNone/>
              <a:tabLst/>
              <a:defRPr/>
            </a:pPr>
            <a:r>
              <a:rPr kumimoji="0" lang="en-AU"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5 – Digital Assistant</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400" b="0" i="1"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Mainly based on Genesys Cloud and AI, provides Voice and Assisted interaction capabilities &amp; tools customers vs agents</a:t>
            </a:r>
          </a:p>
        </p:txBody>
      </p:sp>
      <p:cxnSp>
        <p:nvCxnSpPr>
          <p:cNvPr id="2" name="Conector recto 1">
            <a:extLst>
              <a:ext uri="{FF2B5EF4-FFF2-40B4-BE49-F238E27FC236}">
                <a16:creationId xmlns:a16="http://schemas.microsoft.com/office/drawing/2014/main" id="{306A0A64-F3CE-E34F-714F-FD5F515C0E1B}"/>
              </a:ext>
            </a:extLst>
          </p:cNvPr>
          <p:cNvCxnSpPr>
            <a:cxnSpLocks/>
          </p:cNvCxnSpPr>
          <p:nvPr/>
        </p:nvCxnSpPr>
        <p:spPr>
          <a:xfrm flipH="1" flipV="1">
            <a:off x="466374" y="1772023"/>
            <a:ext cx="5112000" cy="0"/>
          </a:xfrm>
          <a:prstGeom prst="line">
            <a:avLst/>
          </a:prstGeom>
          <a:noFill/>
          <a:ln w="12700" cap="flat" cmpd="sng" algn="ctr">
            <a:solidFill>
              <a:srgbClr val="595959"/>
            </a:solidFill>
            <a:prstDash val="solid"/>
            <a:miter lim="800000"/>
          </a:ln>
          <a:effectLst/>
        </p:spPr>
      </p:cxnSp>
      <p:sp>
        <p:nvSpPr>
          <p:cNvPr id="3" name="CuadroTexto 2">
            <a:extLst>
              <a:ext uri="{FF2B5EF4-FFF2-40B4-BE49-F238E27FC236}">
                <a16:creationId xmlns:a16="http://schemas.microsoft.com/office/drawing/2014/main" id="{2A6221C9-6738-FF3F-03C8-DB8F7CF54514}"/>
              </a:ext>
            </a:extLst>
          </p:cNvPr>
          <p:cNvSpPr txBox="1"/>
          <p:nvPr/>
        </p:nvSpPr>
        <p:spPr>
          <a:xfrm>
            <a:off x="2019957" y="1848751"/>
            <a:ext cx="3745858" cy="909402"/>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rPr>
              <a:t>Outbound contact with customer to manage Appointments in Employee Agenda (Click to Dial)</a:t>
            </a:r>
          </a:p>
        </p:txBody>
      </p:sp>
      <p:cxnSp>
        <p:nvCxnSpPr>
          <p:cNvPr id="6" name="Conector recto 5">
            <a:extLst>
              <a:ext uri="{FF2B5EF4-FFF2-40B4-BE49-F238E27FC236}">
                <a16:creationId xmlns:a16="http://schemas.microsoft.com/office/drawing/2014/main" id="{CE5B4D92-B59F-84DC-3116-56E8C4EDB141}"/>
              </a:ext>
            </a:extLst>
          </p:cNvPr>
          <p:cNvCxnSpPr>
            <a:cxnSpLocks/>
          </p:cNvCxnSpPr>
          <p:nvPr/>
        </p:nvCxnSpPr>
        <p:spPr>
          <a:xfrm flipH="1" flipV="1">
            <a:off x="439750" y="2417074"/>
            <a:ext cx="5112000" cy="0"/>
          </a:xfrm>
          <a:prstGeom prst="line">
            <a:avLst/>
          </a:prstGeom>
          <a:noFill/>
          <a:ln w="12700" cap="flat" cmpd="sng" algn="ctr">
            <a:solidFill>
              <a:schemeClr val="bg1">
                <a:lumMod val="85000"/>
              </a:schemeClr>
            </a:solidFill>
            <a:prstDash val="solid"/>
            <a:miter lim="800000"/>
          </a:ln>
          <a:effectLst/>
        </p:spPr>
      </p:cxnSp>
      <p:cxnSp>
        <p:nvCxnSpPr>
          <p:cNvPr id="7" name="Conector recto 6">
            <a:extLst>
              <a:ext uri="{FF2B5EF4-FFF2-40B4-BE49-F238E27FC236}">
                <a16:creationId xmlns:a16="http://schemas.microsoft.com/office/drawing/2014/main" id="{56897EE4-A4A6-CAE1-BD6A-5CA9D41BA05D}"/>
              </a:ext>
            </a:extLst>
          </p:cNvPr>
          <p:cNvCxnSpPr>
            <a:cxnSpLocks/>
          </p:cNvCxnSpPr>
          <p:nvPr/>
        </p:nvCxnSpPr>
        <p:spPr>
          <a:xfrm flipH="1" flipV="1">
            <a:off x="391395" y="3055759"/>
            <a:ext cx="5112000" cy="0"/>
          </a:xfrm>
          <a:prstGeom prst="line">
            <a:avLst/>
          </a:prstGeom>
          <a:noFill/>
          <a:ln w="12700" cap="flat" cmpd="sng" algn="ctr">
            <a:solidFill>
              <a:schemeClr val="bg1">
                <a:lumMod val="85000"/>
              </a:schemeClr>
            </a:solidFill>
            <a:prstDash val="solid"/>
            <a:miter lim="800000"/>
          </a:ln>
          <a:effectLst/>
        </p:spPr>
      </p:cxnSp>
      <p:sp>
        <p:nvSpPr>
          <p:cNvPr id="11" name="Rectángulo 10">
            <a:extLst>
              <a:ext uri="{FF2B5EF4-FFF2-40B4-BE49-F238E27FC236}">
                <a16:creationId xmlns:a16="http://schemas.microsoft.com/office/drawing/2014/main" id="{3946DDFC-59FB-115F-20D3-6915B8A2CE4C}"/>
              </a:ext>
            </a:extLst>
          </p:cNvPr>
          <p:cNvSpPr/>
          <p:nvPr/>
        </p:nvSpPr>
        <p:spPr>
          <a:xfrm>
            <a:off x="385785" y="1816354"/>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200" b="0" i="0" u="none" strike="noStrike" kern="0" cap="none" spc="0" normalizeH="0" baseline="0" noProof="0">
                <a:ln>
                  <a:noFill/>
                </a:ln>
                <a:solidFill>
                  <a:srgbClr val="DEEDF1">
                    <a:lumMod val="25000"/>
                  </a:srgbClr>
                </a:solidFill>
                <a:effectLst/>
                <a:uLnTx/>
                <a:uFillTx/>
                <a:latin typeface="Santander Text"/>
                <a:ea typeface="+mn-ea"/>
                <a:cs typeface="+mn-cs"/>
              </a:rPr>
              <a:t>Appointment and Visit Manager</a:t>
            </a:r>
          </a:p>
        </p:txBody>
      </p:sp>
      <p:sp>
        <p:nvSpPr>
          <p:cNvPr id="12" name="Rectángulo 11">
            <a:extLst>
              <a:ext uri="{FF2B5EF4-FFF2-40B4-BE49-F238E27FC236}">
                <a16:creationId xmlns:a16="http://schemas.microsoft.com/office/drawing/2014/main" id="{4E7D23BA-4CD3-790F-10C4-461CBBFFC000}"/>
              </a:ext>
            </a:extLst>
          </p:cNvPr>
          <p:cNvSpPr/>
          <p:nvPr/>
        </p:nvSpPr>
        <p:spPr>
          <a:xfrm>
            <a:off x="385785" y="2535759"/>
            <a:ext cx="1440000" cy="432602"/>
          </a:xfrm>
          <a:prstGeom prst="rect">
            <a:avLst/>
          </a:prstGeom>
          <a:noFill/>
          <a:ln w="12700" cap="flat" cmpd="sng" algn="ctr">
            <a:solidFill>
              <a:schemeClr val="bg1">
                <a:lumMod val="50000"/>
              </a:schemeClr>
            </a:solidFill>
            <a:prstDash val="solid"/>
            <a:miter lim="800000"/>
          </a:ln>
          <a:effectLst/>
        </p:spPr>
        <p:txBody>
          <a:bodyPr lIns="72000" rIns="72000" rtlCol="0" anchor="ctr"/>
          <a:lstStyle/>
          <a:p>
            <a:pPr algn="ctr">
              <a:spcAft>
                <a:spcPts val="600"/>
              </a:spcAf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Interaction Manager</a:t>
            </a:r>
          </a:p>
        </p:txBody>
      </p:sp>
      <p:sp>
        <p:nvSpPr>
          <p:cNvPr id="13" name="Rectángulo 12">
            <a:extLst>
              <a:ext uri="{FF2B5EF4-FFF2-40B4-BE49-F238E27FC236}">
                <a16:creationId xmlns:a16="http://schemas.microsoft.com/office/drawing/2014/main" id="{E2D5F2F8-7401-6913-D207-36875282B4CE}"/>
              </a:ext>
            </a:extLst>
          </p:cNvPr>
          <p:cNvSpPr/>
          <p:nvPr/>
        </p:nvSpPr>
        <p:spPr>
          <a:xfrm>
            <a:off x="385785" y="3137172"/>
            <a:ext cx="1440000" cy="540000"/>
          </a:xfrm>
          <a:prstGeom prst="rect">
            <a:avLst/>
          </a:prstGeom>
          <a:noFill/>
          <a:ln w="12700" cap="flat" cmpd="sng" algn="ctr">
            <a:solidFill>
              <a:schemeClr val="bg1">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CC Interactions</a:t>
            </a:r>
          </a:p>
        </p:txBody>
      </p:sp>
      <p:sp>
        <p:nvSpPr>
          <p:cNvPr id="14" name="CuadroTexto 13">
            <a:extLst>
              <a:ext uri="{FF2B5EF4-FFF2-40B4-BE49-F238E27FC236}">
                <a16:creationId xmlns:a16="http://schemas.microsoft.com/office/drawing/2014/main" id="{CBA167AF-A0CA-C29E-5601-89AE3E09F721}"/>
              </a:ext>
            </a:extLst>
          </p:cNvPr>
          <p:cNvSpPr txBox="1"/>
          <p:nvPr/>
        </p:nvSpPr>
        <p:spPr>
          <a:xfrm>
            <a:off x="1991778" y="2409428"/>
            <a:ext cx="4190817" cy="646331"/>
          </a:xfrm>
          <a:prstGeom prst="rect">
            <a:avLst/>
          </a:prstGeom>
          <a:noFill/>
        </p:spPr>
        <p:txBody>
          <a:bodyPr wrap="square">
            <a:spAutoFit/>
          </a:bodyPr>
          <a:lstStyle/>
          <a:p>
            <a:pPr marL="180000" marR="0" lvl="1"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rPr>
              <a:t>Manage whole interactions of Customer with Employees in the environment of Assisted Channel, for every channel and provides integration with others component of container</a:t>
            </a:r>
          </a:p>
        </p:txBody>
      </p:sp>
      <p:sp>
        <p:nvSpPr>
          <p:cNvPr id="16" name="CuadroTexto 15">
            <a:extLst>
              <a:ext uri="{FF2B5EF4-FFF2-40B4-BE49-F238E27FC236}">
                <a16:creationId xmlns:a16="http://schemas.microsoft.com/office/drawing/2014/main" id="{45FA1960-1587-6D16-244E-809F8404C5A8}"/>
              </a:ext>
            </a:extLst>
          </p:cNvPr>
          <p:cNvSpPr txBox="1"/>
          <p:nvPr/>
        </p:nvSpPr>
        <p:spPr>
          <a:xfrm>
            <a:off x="1991777" y="3093346"/>
            <a:ext cx="4190817" cy="646331"/>
          </a:xfrm>
          <a:prstGeom prst="rect">
            <a:avLst/>
          </a:prstGeom>
          <a:noFill/>
        </p:spPr>
        <p:txBody>
          <a:bodyPr wrap="square">
            <a:spAutoFit/>
          </a:bodyPr>
          <a:lstStyle/>
          <a:p>
            <a:pPr marL="180000" marR="0" lvl="1"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rPr>
              <a:t>Voice and Digital service interface for Agents in CC to interact with Customer</a:t>
            </a:r>
          </a:p>
          <a:p>
            <a:pPr marL="180000" marR="0" lvl="1"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rPr>
              <a:t>Inbound / Outbound interaction (Contact List Management)</a:t>
            </a:r>
          </a:p>
        </p:txBody>
      </p:sp>
      <p:cxnSp>
        <p:nvCxnSpPr>
          <p:cNvPr id="59" name="Conector recto 58">
            <a:extLst>
              <a:ext uri="{FF2B5EF4-FFF2-40B4-BE49-F238E27FC236}">
                <a16:creationId xmlns:a16="http://schemas.microsoft.com/office/drawing/2014/main" id="{99C5A560-0E83-DF88-2205-9AAD906B8606}"/>
              </a:ext>
            </a:extLst>
          </p:cNvPr>
          <p:cNvCxnSpPr>
            <a:cxnSpLocks/>
          </p:cNvCxnSpPr>
          <p:nvPr/>
        </p:nvCxnSpPr>
        <p:spPr>
          <a:xfrm flipH="1" flipV="1">
            <a:off x="439750" y="3763759"/>
            <a:ext cx="5112000" cy="0"/>
          </a:xfrm>
          <a:prstGeom prst="line">
            <a:avLst/>
          </a:prstGeom>
          <a:noFill/>
          <a:ln w="12700" cap="flat" cmpd="sng" algn="ctr">
            <a:solidFill>
              <a:schemeClr val="bg1">
                <a:lumMod val="85000"/>
              </a:schemeClr>
            </a:solidFill>
            <a:prstDash val="solid"/>
            <a:miter lim="800000"/>
          </a:ln>
          <a:effectLst/>
        </p:spPr>
      </p:cxnSp>
      <p:sp>
        <p:nvSpPr>
          <p:cNvPr id="20" name="Rectángulo 41">
            <a:extLst>
              <a:ext uri="{FF2B5EF4-FFF2-40B4-BE49-F238E27FC236}">
                <a16:creationId xmlns:a16="http://schemas.microsoft.com/office/drawing/2014/main" id="{C0A91FB0-CD9F-C44D-A98D-1197F8B824FA}"/>
              </a:ext>
            </a:extLst>
          </p:cNvPr>
          <p:cNvSpPr/>
          <p:nvPr/>
        </p:nvSpPr>
        <p:spPr>
          <a:xfrm>
            <a:off x="385785" y="3830215"/>
            <a:ext cx="1440000" cy="453826"/>
          </a:xfrm>
          <a:prstGeom prst="rect">
            <a:avLst/>
          </a:prstGeom>
          <a:noFill/>
          <a:ln w="12700" cap="flat" cmpd="sng" algn="ctr">
            <a:solidFill>
              <a:schemeClr val="bg1">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Reporting</a:t>
            </a:r>
          </a:p>
        </p:txBody>
      </p:sp>
      <p:sp>
        <p:nvSpPr>
          <p:cNvPr id="21" name="CuadroTexto 54">
            <a:extLst>
              <a:ext uri="{FF2B5EF4-FFF2-40B4-BE49-F238E27FC236}">
                <a16:creationId xmlns:a16="http://schemas.microsoft.com/office/drawing/2014/main" id="{C9E2EDE8-5EEA-2AF0-4C3C-CD9397D03EAB}"/>
              </a:ext>
            </a:extLst>
          </p:cNvPr>
          <p:cNvSpPr txBox="1"/>
          <p:nvPr/>
        </p:nvSpPr>
        <p:spPr>
          <a:xfrm>
            <a:off x="1991777" y="3822376"/>
            <a:ext cx="4398082" cy="461665"/>
          </a:xfrm>
          <a:prstGeom prst="rect">
            <a:avLst/>
          </a:prstGeom>
          <a:noFill/>
        </p:spPr>
        <p:txBody>
          <a:bodyPr wrap="square">
            <a:spAutoFit/>
          </a:bodyPr>
          <a:lstStyle/>
          <a:p>
            <a:pPr marL="180000" marR="0" lvl="1"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rPr>
              <a:t>Monitoring tool composed of reports and dashboards which allows calculating and visualizing KPIs </a:t>
            </a:r>
          </a:p>
        </p:txBody>
      </p:sp>
      <p:cxnSp>
        <p:nvCxnSpPr>
          <p:cNvPr id="25" name="Conector recto 58">
            <a:extLst>
              <a:ext uri="{FF2B5EF4-FFF2-40B4-BE49-F238E27FC236}">
                <a16:creationId xmlns:a16="http://schemas.microsoft.com/office/drawing/2014/main" id="{A918641D-DE1C-BCF5-62F4-91FE0F08057C}"/>
              </a:ext>
            </a:extLst>
          </p:cNvPr>
          <p:cNvCxnSpPr>
            <a:cxnSpLocks/>
          </p:cNvCxnSpPr>
          <p:nvPr/>
        </p:nvCxnSpPr>
        <p:spPr>
          <a:xfrm flipH="1" flipV="1">
            <a:off x="439750" y="4363722"/>
            <a:ext cx="5112000" cy="0"/>
          </a:xfrm>
          <a:prstGeom prst="line">
            <a:avLst/>
          </a:prstGeom>
          <a:noFill/>
          <a:ln w="12700" cap="flat" cmpd="sng" algn="ctr">
            <a:solidFill>
              <a:schemeClr val="bg1">
                <a:lumMod val="85000"/>
              </a:schemeClr>
            </a:solidFill>
            <a:prstDash val="solid"/>
            <a:miter lim="800000"/>
          </a:ln>
          <a:effectLst/>
        </p:spPr>
      </p:cxnSp>
      <p:sp>
        <p:nvSpPr>
          <p:cNvPr id="28" name="Rectángulo 41">
            <a:extLst>
              <a:ext uri="{FF2B5EF4-FFF2-40B4-BE49-F238E27FC236}">
                <a16:creationId xmlns:a16="http://schemas.microsoft.com/office/drawing/2014/main" id="{F51697DD-67B1-31AF-FC39-F16450ED2537}"/>
              </a:ext>
            </a:extLst>
          </p:cNvPr>
          <p:cNvSpPr/>
          <p:nvPr/>
        </p:nvSpPr>
        <p:spPr>
          <a:xfrm>
            <a:off x="385785" y="4482407"/>
            <a:ext cx="1440000" cy="459377"/>
          </a:xfrm>
          <a:prstGeom prst="rect">
            <a:avLst/>
          </a:prstGeom>
          <a:noFill/>
          <a:ln w="12700" cap="flat" cmpd="sng" algn="ctr">
            <a:solidFill>
              <a:schemeClr val="bg1">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Campaigns</a:t>
            </a:r>
          </a:p>
        </p:txBody>
      </p:sp>
      <p:sp>
        <p:nvSpPr>
          <p:cNvPr id="29" name="CuadroTexto 54">
            <a:extLst>
              <a:ext uri="{FF2B5EF4-FFF2-40B4-BE49-F238E27FC236}">
                <a16:creationId xmlns:a16="http://schemas.microsoft.com/office/drawing/2014/main" id="{A7C21922-941A-19CE-4BDE-9C271D5F1F14}"/>
              </a:ext>
            </a:extLst>
          </p:cNvPr>
          <p:cNvSpPr txBox="1"/>
          <p:nvPr/>
        </p:nvSpPr>
        <p:spPr>
          <a:xfrm>
            <a:off x="1944907" y="4480119"/>
            <a:ext cx="4589358" cy="461665"/>
          </a:xfrm>
          <a:prstGeom prst="rect">
            <a:avLst/>
          </a:prstGeom>
          <a:noFill/>
        </p:spPr>
        <p:txBody>
          <a:bodyPr wrap="square">
            <a:spAutoFit/>
          </a:bodyPr>
          <a:lstStyle/>
          <a:p>
            <a:pPr marL="180000" marR="0" lvl="1"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rPr>
              <a:t>Outbound Campaign Management with Contact List to be carried out in the following modes: Preview, Progressive or Predictive.</a:t>
            </a:r>
          </a:p>
        </p:txBody>
      </p:sp>
      <p:cxnSp>
        <p:nvCxnSpPr>
          <p:cNvPr id="30" name="Conector recto 58">
            <a:extLst>
              <a:ext uri="{FF2B5EF4-FFF2-40B4-BE49-F238E27FC236}">
                <a16:creationId xmlns:a16="http://schemas.microsoft.com/office/drawing/2014/main" id="{CD06B3F4-56A0-0BE6-3BFA-265F7E50F861}"/>
              </a:ext>
            </a:extLst>
          </p:cNvPr>
          <p:cNvCxnSpPr>
            <a:cxnSpLocks/>
          </p:cNvCxnSpPr>
          <p:nvPr/>
        </p:nvCxnSpPr>
        <p:spPr>
          <a:xfrm flipH="1" flipV="1">
            <a:off x="492032" y="5048223"/>
            <a:ext cx="5112000" cy="0"/>
          </a:xfrm>
          <a:prstGeom prst="line">
            <a:avLst/>
          </a:prstGeom>
          <a:noFill/>
          <a:ln w="12700" cap="flat" cmpd="sng" algn="ctr">
            <a:solidFill>
              <a:schemeClr val="bg1">
                <a:lumMod val="85000"/>
              </a:schemeClr>
            </a:solidFill>
            <a:prstDash val="solid"/>
            <a:miter lim="800000"/>
          </a:ln>
          <a:effectLst/>
        </p:spPr>
      </p:cxnSp>
      <p:sp>
        <p:nvSpPr>
          <p:cNvPr id="31" name="CuadroTexto 20">
            <a:extLst>
              <a:ext uri="{FF2B5EF4-FFF2-40B4-BE49-F238E27FC236}">
                <a16:creationId xmlns:a16="http://schemas.microsoft.com/office/drawing/2014/main" id="{865873C0-AC4D-AA44-7D14-33DD26340ABF}"/>
              </a:ext>
            </a:extLst>
          </p:cNvPr>
          <p:cNvSpPr txBox="1"/>
          <p:nvPr/>
        </p:nvSpPr>
        <p:spPr>
          <a:xfrm>
            <a:off x="458559" y="971937"/>
            <a:ext cx="4776743" cy="807913"/>
          </a:xfrm>
          <a:prstGeom prst="rect">
            <a:avLst/>
          </a:prstGeom>
          <a:noFill/>
        </p:spPr>
        <p:txBody>
          <a:bodyPr wrap="square" rtlCol="0">
            <a:spAutoFit/>
          </a:bodyPr>
          <a:lstStyle/>
          <a:p>
            <a:pPr marL="355600" marR="0" lvl="0" indent="-355600" algn="l" defTabSz="914400" rtl="0" eaLnBrk="1" fontAlgn="auto" latinLnBrk="0" hangingPunct="1">
              <a:lnSpc>
                <a:spcPct val="100000"/>
              </a:lnSpc>
              <a:spcBef>
                <a:spcPts val="0"/>
              </a:spcBef>
              <a:spcAft>
                <a:spcPts val="300"/>
              </a:spcAft>
              <a:buClrTx/>
              <a:buSzTx/>
              <a:buFontTx/>
              <a:buNone/>
              <a:tabLst/>
              <a:defRPr/>
            </a:pPr>
            <a:r>
              <a:rPr kumimoji="0" lang="en-AU"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4 – Interaction Manager</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400" b="0" i="1"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Organize, Supervise and controlling communications between Customers, focus in the continuous improvement</a:t>
            </a:r>
          </a:p>
        </p:txBody>
      </p:sp>
      <p:sp>
        <p:nvSpPr>
          <p:cNvPr id="32" name="Rectángulo 31">
            <a:extLst>
              <a:ext uri="{FF2B5EF4-FFF2-40B4-BE49-F238E27FC236}">
                <a16:creationId xmlns:a16="http://schemas.microsoft.com/office/drawing/2014/main" id="{21314156-77D3-4B70-F187-A840E3AA85C5}"/>
              </a:ext>
            </a:extLst>
          </p:cNvPr>
          <p:cNvSpPr/>
          <p:nvPr/>
        </p:nvSpPr>
        <p:spPr>
          <a:xfrm>
            <a:off x="385785" y="5907106"/>
            <a:ext cx="1440000" cy="396098"/>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WFM</a:t>
            </a:r>
          </a:p>
        </p:txBody>
      </p:sp>
      <p:sp>
        <p:nvSpPr>
          <p:cNvPr id="36" name="Rectángulo 35">
            <a:extLst>
              <a:ext uri="{FF2B5EF4-FFF2-40B4-BE49-F238E27FC236}">
                <a16:creationId xmlns:a16="http://schemas.microsoft.com/office/drawing/2014/main" id="{6C035C6E-AE09-6292-72F5-CEF7827ADC68}"/>
              </a:ext>
            </a:extLst>
          </p:cNvPr>
          <p:cNvSpPr/>
          <p:nvPr/>
        </p:nvSpPr>
        <p:spPr>
          <a:xfrm>
            <a:off x="385785" y="5120131"/>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Quality Manager</a:t>
            </a:r>
          </a:p>
        </p:txBody>
      </p:sp>
      <p:sp>
        <p:nvSpPr>
          <p:cNvPr id="40" name="CuadroTexto 39">
            <a:extLst>
              <a:ext uri="{FF2B5EF4-FFF2-40B4-BE49-F238E27FC236}">
                <a16:creationId xmlns:a16="http://schemas.microsoft.com/office/drawing/2014/main" id="{E882B0D0-7EBA-5ECD-90BE-BA380D1343DF}"/>
              </a:ext>
            </a:extLst>
          </p:cNvPr>
          <p:cNvSpPr txBox="1"/>
          <p:nvPr/>
        </p:nvSpPr>
        <p:spPr>
          <a:xfrm>
            <a:off x="2019957" y="5103645"/>
            <a:ext cx="4467438" cy="671796"/>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0" cap="none" spc="0" normalizeH="0" baseline="0" noProof="0">
                <a:ln>
                  <a:noFill/>
                </a:ln>
                <a:solidFill>
                  <a:prstClr val="black"/>
                </a:solidFill>
                <a:effectLst/>
                <a:uLnTx/>
                <a:uFillTx/>
                <a:latin typeface="Santander Text"/>
                <a:ea typeface="+mn-ea"/>
                <a:cs typeface="+mn-cs"/>
              </a:rPr>
              <a:t>Provides tools for controlling, ensuring, and improving quality in Customer Commercial and Servicing process, for being Customer Focus</a:t>
            </a:r>
          </a:p>
        </p:txBody>
      </p:sp>
      <p:sp>
        <p:nvSpPr>
          <p:cNvPr id="41" name="CuadroTexto 40">
            <a:extLst>
              <a:ext uri="{FF2B5EF4-FFF2-40B4-BE49-F238E27FC236}">
                <a16:creationId xmlns:a16="http://schemas.microsoft.com/office/drawing/2014/main" id="{532D2F1C-5F91-A521-73A4-D912E97028CC}"/>
              </a:ext>
            </a:extLst>
          </p:cNvPr>
          <p:cNvSpPr txBox="1"/>
          <p:nvPr/>
        </p:nvSpPr>
        <p:spPr>
          <a:xfrm>
            <a:off x="2005867" y="5798884"/>
            <a:ext cx="4495618" cy="646331"/>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0" cap="none" spc="0" normalizeH="0" baseline="0" noProof="0">
                <a:ln>
                  <a:noFill/>
                </a:ln>
                <a:solidFill>
                  <a:prstClr val="black"/>
                </a:solidFill>
                <a:effectLst/>
                <a:uLnTx/>
                <a:uFillTx/>
                <a:latin typeface="Santander Text"/>
                <a:ea typeface="+mn-ea"/>
                <a:cs typeface="+mn-cs"/>
              </a:rPr>
              <a:t>Workforce management encompasses strategic planning, scheduling, and monitoring of employees to optimize productivity and resource allocation</a:t>
            </a:r>
          </a:p>
        </p:txBody>
      </p:sp>
      <p:cxnSp>
        <p:nvCxnSpPr>
          <p:cNvPr id="43" name="Conector recto 58">
            <a:extLst>
              <a:ext uri="{FF2B5EF4-FFF2-40B4-BE49-F238E27FC236}">
                <a16:creationId xmlns:a16="http://schemas.microsoft.com/office/drawing/2014/main" id="{1B81944E-4BCD-1A47-695C-607886EB90AE}"/>
              </a:ext>
            </a:extLst>
          </p:cNvPr>
          <p:cNvCxnSpPr>
            <a:cxnSpLocks/>
          </p:cNvCxnSpPr>
          <p:nvPr/>
        </p:nvCxnSpPr>
        <p:spPr>
          <a:xfrm flipH="1" flipV="1">
            <a:off x="391395" y="5746719"/>
            <a:ext cx="5112000" cy="0"/>
          </a:xfrm>
          <a:prstGeom prst="line">
            <a:avLst/>
          </a:prstGeom>
          <a:noFill/>
          <a:ln w="12700" cap="flat" cmpd="sng" algn="ctr">
            <a:solidFill>
              <a:schemeClr val="bg1">
                <a:lumMod val="85000"/>
              </a:schemeClr>
            </a:solidFill>
            <a:prstDash val="solid"/>
            <a:miter lim="800000"/>
          </a:ln>
          <a:effectLst/>
        </p:spPr>
      </p:cxnSp>
    </p:spTree>
    <p:extLst>
      <p:ext uri="{BB962C8B-B14F-4D97-AF65-F5344CB8AC3E}">
        <p14:creationId xmlns:p14="http://schemas.microsoft.com/office/powerpoint/2010/main" val="40945338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15920-58FF-87AA-6122-B23CF9157A7E}"/>
            </a:ext>
          </a:extLst>
        </p:cNvPr>
        <p:cNvGrpSpPr/>
        <p:nvPr/>
      </p:nvGrpSpPr>
      <p:grpSpPr>
        <a:xfrm>
          <a:off x="0" y="0"/>
          <a:ext cx="0" cy="0"/>
          <a:chOff x="0" y="0"/>
          <a:chExt cx="0" cy="0"/>
        </a:xfrm>
      </p:grpSpPr>
      <p:sp>
        <p:nvSpPr>
          <p:cNvPr id="17" name="Text Placeholder 2">
            <a:extLst>
              <a:ext uri="{FF2B5EF4-FFF2-40B4-BE49-F238E27FC236}">
                <a16:creationId xmlns:a16="http://schemas.microsoft.com/office/drawing/2014/main" id="{873CDAFB-E718-4B89-B714-B563C5BB5250}"/>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15" name="Rectángulo 14">
            <a:extLst>
              <a:ext uri="{FF2B5EF4-FFF2-40B4-BE49-F238E27FC236}">
                <a16:creationId xmlns:a16="http://schemas.microsoft.com/office/drawing/2014/main" id="{A1DBFC87-921E-A311-5BC8-21AABE162A42}"/>
              </a:ext>
            </a:extLst>
          </p:cNvPr>
          <p:cNvSpPr/>
          <p:nvPr/>
        </p:nvSpPr>
        <p:spPr>
          <a:xfrm>
            <a:off x="711024" y="3201415"/>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Complaints</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Solution</a:t>
            </a:r>
          </a:p>
        </p:txBody>
      </p:sp>
      <p:sp>
        <p:nvSpPr>
          <p:cNvPr id="18" name="Rectángulo 17">
            <a:extLst>
              <a:ext uri="{FF2B5EF4-FFF2-40B4-BE49-F238E27FC236}">
                <a16:creationId xmlns:a16="http://schemas.microsoft.com/office/drawing/2014/main" id="{132962EF-22DB-525D-0698-BA32ADDA7FDD}"/>
              </a:ext>
            </a:extLst>
          </p:cNvPr>
          <p:cNvSpPr/>
          <p:nvPr/>
        </p:nvSpPr>
        <p:spPr>
          <a:xfrm>
            <a:off x="711024" y="4186812"/>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Knowledge Base</a:t>
            </a:r>
          </a:p>
        </p:txBody>
      </p:sp>
      <p:sp>
        <p:nvSpPr>
          <p:cNvPr id="19" name="Rectángulo 18">
            <a:extLst>
              <a:ext uri="{FF2B5EF4-FFF2-40B4-BE49-F238E27FC236}">
                <a16:creationId xmlns:a16="http://schemas.microsoft.com/office/drawing/2014/main" id="{F2E50135-0F7E-BD29-1D4D-5BF6A587C7A9}"/>
              </a:ext>
            </a:extLst>
          </p:cNvPr>
          <p:cNvSpPr/>
          <p:nvPr/>
        </p:nvSpPr>
        <p:spPr>
          <a:xfrm>
            <a:off x="711024" y="2216018"/>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Case and Request Solution</a:t>
            </a:r>
          </a:p>
        </p:txBody>
      </p:sp>
      <p:cxnSp>
        <p:nvCxnSpPr>
          <p:cNvPr id="22" name="Conector recto 21">
            <a:extLst>
              <a:ext uri="{FF2B5EF4-FFF2-40B4-BE49-F238E27FC236}">
                <a16:creationId xmlns:a16="http://schemas.microsoft.com/office/drawing/2014/main" id="{46C247C9-F337-E1B4-4DD6-B1962071E76A}"/>
              </a:ext>
            </a:extLst>
          </p:cNvPr>
          <p:cNvCxnSpPr>
            <a:cxnSpLocks/>
          </p:cNvCxnSpPr>
          <p:nvPr/>
        </p:nvCxnSpPr>
        <p:spPr>
          <a:xfrm flipH="1" flipV="1">
            <a:off x="711024" y="1933750"/>
            <a:ext cx="5112000" cy="0"/>
          </a:xfrm>
          <a:prstGeom prst="line">
            <a:avLst/>
          </a:prstGeom>
          <a:noFill/>
          <a:ln w="12700" cap="flat" cmpd="sng" algn="ctr">
            <a:solidFill>
              <a:srgbClr val="595959"/>
            </a:solidFill>
            <a:prstDash val="solid"/>
            <a:miter lim="800000"/>
          </a:ln>
          <a:effectLst/>
        </p:spPr>
      </p:cxnSp>
      <p:sp>
        <p:nvSpPr>
          <p:cNvPr id="23" name="CuadroTexto 22">
            <a:extLst>
              <a:ext uri="{FF2B5EF4-FFF2-40B4-BE49-F238E27FC236}">
                <a16:creationId xmlns:a16="http://schemas.microsoft.com/office/drawing/2014/main" id="{626A53A1-37A5-57AB-505B-D9BB5CB69190}"/>
              </a:ext>
            </a:extLst>
          </p:cNvPr>
          <p:cNvSpPr txBox="1"/>
          <p:nvPr/>
        </p:nvSpPr>
        <p:spPr>
          <a:xfrm>
            <a:off x="2192764" y="2145223"/>
            <a:ext cx="3658438" cy="671796"/>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0" cap="none" spc="0" normalizeH="0" baseline="0" noProof="0">
                <a:ln>
                  <a:noFill/>
                </a:ln>
                <a:solidFill>
                  <a:prstClr val="black"/>
                </a:solidFill>
                <a:effectLst/>
                <a:uLnTx/>
                <a:uFillTx/>
                <a:latin typeface="Santander Text"/>
                <a:ea typeface="+mn-ea"/>
                <a:cs typeface="+mn-cs"/>
              </a:rPr>
              <a:t>Ability to collect customer and internal requests of different nature from any of available assisted and digital channels, categorize and prioritize them</a:t>
            </a:r>
          </a:p>
        </p:txBody>
      </p:sp>
      <p:cxnSp>
        <p:nvCxnSpPr>
          <p:cNvPr id="24" name="Conector recto 23">
            <a:extLst>
              <a:ext uri="{FF2B5EF4-FFF2-40B4-BE49-F238E27FC236}">
                <a16:creationId xmlns:a16="http://schemas.microsoft.com/office/drawing/2014/main" id="{8F369F01-8FCA-E360-FC05-946C5B6208C4}"/>
              </a:ext>
            </a:extLst>
          </p:cNvPr>
          <p:cNvCxnSpPr>
            <a:cxnSpLocks/>
          </p:cNvCxnSpPr>
          <p:nvPr/>
        </p:nvCxnSpPr>
        <p:spPr>
          <a:xfrm flipH="1" flipV="1">
            <a:off x="684799" y="3060921"/>
            <a:ext cx="5112000" cy="0"/>
          </a:xfrm>
          <a:prstGeom prst="line">
            <a:avLst/>
          </a:prstGeom>
          <a:noFill/>
          <a:ln w="12700" cap="flat" cmpd="sng" algn="ctr">
            <a:solidFill>
              <a:schemeClr val="bg1">
                <a:lumMod val="85000"/>
              </a:schemeClr>
            </a:solidFill>
            <a:prstDash val="solid"/>
            <a:miter lim="800000"/>
          </a:ln>
          <a:effectLst/>
        </p:spPr>
      </p:cxnSp>
      <p:sp>
        <p:nvSpPr>
          <p:cNvPr id="26" name="CuadroTexto 25">
            <a:extLst>
              <a:ext uri="{FF2B5EF4-FFF2-40B4-BE49-F238E27FC236}">
                <a16:creationId xmlns:a16="http://schemas.microsoft.com/office/drawing/2014/main" id="{7EE7A813-4640-055C-51DD-A6CD8FF3C6DC}"/>
              </a:ext>
            </a:extLst>
          </p:cNvPr>
          <p:cNvSpPr txBox="1"/>
          <p:nvPr/>
        </p:nvSpPr>
        <p:spPr>
          <a:xfrm>
            <a:off x="2192764" y="3152534"/>
            <a:ext cx="3630260" cy="461665"/>
          </a:xfrm>
          <a:prstGeom prst="rect">
            <a:avLst/>
          </a:prstGeom>
          <a:noFill/>
        </p:spPr>
        <p:txBody>
          <a:bodyPr wrap="square" numCol="1">
            <a:spAutoFit/>
          </a:body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0" cap="none" spc="0" normalizeH="0" baseline="0" noProof="0">
                <a:ln>
                  <a:noFill/>
                </a:ln>
                <a:solidFill>
                  <a:prstClr val="black"/>
                </a:solidFill>
                <a:effectLst/>
                <a:uLnTx/>
                <a:uFillTx/>
                <a:latin typeface="Santander Text"/>
                <a:ea typeface="+mn-ea"/>
                <a:cs typeface="+mn-cs"/>
              </a:rPr>
              <a:t>Ability to collect customer complaints ensuring cover process</a:t>
            </a:r>
          </a:p>
        </p:txBody>
      </p:sp>
      <p:cxnSp>
        <p:nvCxnSpPr>
          <p:cNvPr id="27" name="Conector recto 26">
            <a:extLst>
              <a:ext uri="{FF2B5EF4-FFF2-40B4-BE49-F238E27FC236}">
                <a16:creationId xmlns:a16="http://schemas.microsoft.com/office/drawing/2014/main" id="{1E50ACCF-19C6-3812-CDDF-2EF72BF86ADA}"/>
              </a:ext>
            </a:extLst>
          </p:cNvPr>
          <p:cNvCxnSpPr>
            <a:cxnSpLocks/>
          </p:cNvCxnSpPr>
          <p:nvPr/>
        </p:nvCxnSpPr>
        <p:spPr>
          <a:xfrm flipH="1" flipV="1">
            <a:off x="684799" y="3965161"/>
            <a:ext cx="5112000" cy="0"/>
          </a:xfrm>
          <a:prstGeom prst="line">
            <a:avLst/>
          </a:prstGeom>
          <a:noFill/>
          <a:ln w="12700" cap="flat" cmpd="sng" algn="ctr">
            <a:solidFill>
              <a:schemeClr val="bg1">
                <a:lumMod val="85000"/>
              </a:schemeClr>
            </a:solidFill>
            <a:prstDash val="solid"/>
            <a:miter lim="800000"/>
          </a:ln>
          <a:effectLst/>
        </p:spPr>
      </p:cxnSp>
      <p:sp>
        <p:nvSpPr>
          <p:cNvPr id="46" name="CuadroTexto 45">
            <a:extLst>
              <a:ext uri="{FF2B5EF4-FFF2-40B4-BE49-F238E27FC236}">
                <a16:creationId xmlns:a16="http://schemas.microsoft.com/office/drawing/2014/main" id="{EFDDABB5-5C08-2204-3B0B-6D37A4D37487}"/>
              </a:ext>
            </a:extLst>
          </p:cNvPr>
          <p:cNvSpPr txBox="1"/>
          <p:nvPr/>
        </p:nvSpPr>
        <p:spPr>
          <a:xfrm>
            <a:off x="2192764" y="4045843"/>
            <a:ext cx="3630260" cy="1015663"/>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0" cap="none" spc="0" normalizeH="0" baseline="0" noProof="0">
                <a:ln>
                  <a:noFill/>
                </a:ln>
                <a:solidFill>
                  <a:prstClr val="black"/>
                </a:solidFill>
                <a:effectLst/>
                <a:uLnTx/>
                <a:uFillTx/>
                <a:latin typeface="Santander Text"/>
                <a:ea typeface="+mn-ea"/>
                <a:cs typeface="+mn-cs"/>
              </a:rPr>
              <a:t>Common KB: Capabilities that allow the Employee to obtain information</a:t>
            </a:r>
          </a:p>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0" cap="none" spc="0" normalizeH="0" baseline="0" noProof="0">
                <a:ln>
                  <a:noFill/>
                </a:ln>
                <a:solidFill>
                  <a:prstClr val="black"/>
                </a:solidFill>
                <a:effectLst/>
                <a:uLnTx/>
                <a:uFillTx/>
                <a:latin typeface="Santander Text"/>
                <a:ea typeface="+mn-ea"/>
                <a:cs typeface="+mn-cs"/>
              </a:rPr>
              <a:t>Internal/Collaborative Chat: Advanced Chat where the employees can exchange information between them, links and documentation</a:t>
            </a:r>
          </a:p>
        </p:txBody>
      </p:sp>
      <p:sp>
        <p:nvSpPr>
          <p:cNvPr id="8" name="Título 1">
            <a:extLst>
              <a:ext uri="{FF2B5EF4-FFF2-40B4-BE49-F238E27FC236}">
                <a16:creationId xmlns:a16="http://schemas.microsoft.com/office/drawing/2014/main" id="{34F71101-CA90-592E-FDC0-33388B7BEF6A}"/>
              </a:ext>
            </a:extLst>
          </p:cNvPr>
          <p:cNvSpPr txBox="1">
            <a:spLocks/>
          </p:cNvSpPr>
          <p:nvPr/>
        </p:nvSpPr>
        <p:spPr>
          <a:xfrm>
            <a:off x="711024" y="623339"/>
            <a:ext cx="10758733" cy="836992"/>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lang="en-US" sz="2800" b="1" kern="1200" dirty="0">
                <a:solidFill>
                  <a:schemeClr val="accent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s-ES" sz="2800" b="1" i="0" u="none" strike="noStrike" kern="1200" cap="none" spc="0" normalizeH="0" baseline="0" noProof="0" err="1">
                <a:ln>
                  <a:noFill/>
                </a:ln>
                <a:solidFill>
                  <a:srgbClr val="EC0000"/>
                </a:solidFill>
                <a:effectLst/>
                <a:uLnTx/>
                <a:uFillTx/>
                <a:latin typeface="Santander Headline"/>
                <a:ea typeface="+mj-ea"/>
                <a:cs typeface="+mj-cs"/>
              </a:rPr>
              <a:t>Retail</a:t>
            </a:r>
            <a:r>
              <a:rPr kumimoji="0" lang="es-ES" sz="2800" b="1" i="0" u="none" strike="noStrike" kern="1200" cap="none" spc="0" normalizeH="0" baseline="0" noProof="0">
                <a:ln>
                  <a:noFill/>
                </a:ln>
                <a:solidFill>
                  <a:srgbClr val="EC0000"/>
                </a:solidFill>
                <a:effectLst/>
                <a:uLnTx/>
                <a:uFillTx/>
                <a:latin typeface="Santander Headline"/>
                <a:ea typeface="+mj-ea"/>
                <a:cs typeface="+mj-cs"/>
              </a:rPr>
              <a:t> &amp; </a:t>
            </a:r>
            <a:r>
              <a:rPr kumimoji="0" lang="es-ES" sz="2800" b="1" i="0" u="none" strike="noStrike" kern="1200" cap="none" spc="0" normalizeH="0" baseline="0" noProof="0" err="1">
                <a:ln>
                  <a:noFill/>
                </a:ln>
                <a:solidFill>
                  <a:srgbClr val="EC0000"/>
                </a:solidFill>
                <a:effectLst/>
                <a:uLnTx/>
                <a:uFillTx/>
                <a:latin typeface="Santander Headline"/>
                <a:ea typeface="+mj-ea"/>
                <a:cs typeface="+mj-cs"/>
              </a:rPr>
              <a:t>Commercial</a:t>
            </a:r>
            <a:r>
              <a:rPr lang="es-ES">
                <a:solidFill>
                  <a:srgbClr val="EC0000"/>
                </a:solidFill>
                <a:latin typeface="Santander Headline"/>
              </a:rPr>
              <a:t>.</a:t>
            </a:r>
            <a:r>
              <a:rPr kumimoji="0" lang="es-ES" sz="2800" b="1" i="0" u="none" strike="noStrike" kern="1200" cap="none" spc="0" normalizeH="0" baseline="0" noProof="0">
                <a:ln>
                  <a:noFill/>
                </a:ln>
                <a:solidFill>
                  <a:srgbClr val="EC0000"/>
                </a:solidFill>
                <a:effectLst/>
                <a:uLnTx/>
                <a:uFillTx/>
                <a:latin typeface="Santander Headline"/>
                <a:ea typeface="+mj-ea"/>
                <a:cs typeface="+mj-cs"/>
              </a:rPr>
              <a:t> </a:t>
            </a:r>
            <a:r>
              <a:rPr kumimoji="0" lang="en-AU" sz="2800" b="1" i="0" u="none" strike="noStrike" kern="1200" cap="none" spc="0" normalizeH="0" baseline="0" noProof="0">
                <a:ln>
                  <a:noFill/>
                </a:ln>
                <a:solidFill>
                  <a:srgbClr val="BFBFBF"/>
                </a:solidFill>
                <a:effectLst/>
                <a:uLnTx/>
                <a:uFillTx/>
                <a:latin typeface="Santander Headline"/>
                <a:ea typeface="+mj-ea"/>
                <a:cs typeface="+mj-cs"/>
              </a:rPr>
              <a:t>Assisted Channels</a:t>
            </a:r>
          </a:p>
        </p:txBody>
      </p:sp>
      <p:sp>
        <p:nvSpPr>
          <p:cNvPr id="5" name="CuadroTexto 31">
            <a:extLst>
              <a:ext uri="{FF2B5EF4-FFF2-40B4-BE49-F238E27FC236}">
                <a16:creationId xmlns:a16="http://schemas.microsoft.com/office/drawing/2014/main" id="{5722FC80-1F46-A7EB-F2AA-026CB9783E72}"/>
              </a:ext>
            </a:extLst>
          </p:cNvPr>
          <p:cNvSpPr txBox="1"/>
          <p:nvPr/>
        </p:nvSpPr>
        <p:spPr>
          <a:xfrm>
            <a:off x="6625125" y="1128886"/>
            <a:ext cx="5111999" cy="807913"/>
          </a:xfrm>
          <a:prstGeom prst="rect">
            <a:avLst/>
          </a:prstGeom>
          <a:noFill/>
        </p:spPr>
        <p:txBody>
          <a:bodyPr wrap="square" rtlCol="0">
            <a:spAutoFit/>
          </a:bodyPr>
          <a:lstStyle/>
          <a:p>
            <a:pPr marL="355600" marR="0" lvl="0" indent="-355600" algn="l" defTabSz="914400" rtl="0" eaLnBrk="1" fontAlgn="auto" latinLnBrk="0" hangingPunct="1">
              <a:lnSpc>
                <a:spcPct val="100000"/>
              </a:lnSpc>
              <a:spcBef>
                <a:spcPts val="0"/>
              </a:spcBef>
              <a:spcAft>
                <a:spcPts val="300"/>
              </a:spcAft>
              <a:buClrTx/>
              <a:buSzTx/>
              <a:buFontTx/>
              <a:buNone/>
              <a:tabLst/>
              <a:defRPr/>
            </a:pPr>
            <a:r>
              <a:rPr kumimoji="0" lang="en-AU"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7 – Transaction Omnichannel View</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400" b="0" i="1"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Multichannel designed components to support the transactional operative at branch &amp; CC , provided by Digital Channel Platform</a:t>
            </a:r>
          </a:p>
        </p:txBody>
      </p:sp>
      <p:sp>
        <p:nvSpPr>
          <p:cNvPr id="6" name="CuadroTexto 31">
            <a:extLst>
              <a:ext uri="{FF2B5EF4-FFF2-40B4-BE49-F238E27FC236}">
                <a16:creationId xmlns:a16="http://schemas.microsoft.com/office/drawing/2014/main" id="{F467DEA1-EC2E-0420-892E-79D27F4FEDD3}"/>
              </a:ext>
            </a:extLst>
          </p:cNvPr>
          <p:cNvSpPr txBox="1"/>
          <p:nvPr/>
        </p:nvSpPr>
        <p:spPr>
          <a:xfrm>
            <a:off x="711025" y="1128886"/>
            <a:ext cx="5111999" cy="807913"/>
          </a:xfrm>
          <a:prstGeom prst="rect">
            <a:avLst/>
          </a:prstGeom>
          <a:noFill/>
        </p:spPr>
        <p:txBody>
          <a:bodyPr wrap="square" rtlCol="0">
            <a:spAutoFit/>
          </a:bodyPr>
          <a:lstStyle/>
          <a:p>
            <a:pPr marL="355600" marR="0" lvl="0" indent="-355600" algn="l" defTabSz="914400" rtl="0" eaLnBrk="1" fontAlgn="auto" latinLnBrk="0" hangingPunct="1">
              <a:lnSpc>
                <a:spcPct val="100000"/>
              </a:lnSpc>
              <a:spcBef>
                <a:spcPts val="0"/>
              </a:spcBef>
              <a:spcAft>
                <a:spcPts val="300"/>
              </a:spcAft>
              <a:buClrTx/>
              <a:buSzTx/>
              <a:buFontTx/>
              <a:buNone/>
              <a:tabLst/>
              <a:defRPr/>
            </a:pPr>
            <a:r>
              <a:rPr kumimoji="0" lang="en-AU"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6 – Customer Ops</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400" b="0" i="1"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Multichannel designed components to support the transactional operative at branch &amp; CC , provided by Digital Channel Platform</a:t>
            </a:r>
          </a:p>
        </p:txBody>
      </p:sp>
      <p:sp>
        <p:nvSpPr>
          <p:cNvPr id="29" name="Rectángulo 28">
            <a:extLst>
              <a:ext uri="{FF2B5EF4-FFF2-40B4-BE49-F238E27FC236}">
                <a16:creationId xmlns:a16="http://schemas.microsoft.com/office/drawing/2014/main" id="{EF8CC400-BFF0-EDE0-FF87-83E32295C8B8}"/>
              </a:ext>
            </a:extLst>
          </p:cNvPr>
          <p:cNvSpPr/>
          <p:nvPr/>
        </p:nvSpPr>
        <p:spPr>
          <a:xfrm>
            <a:off x="6340800" y="2011801"/>
            <a:ext cx="1440000" cy="359637"/>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200" b="0" i="0" u="none" strike="noStrike" kern="0" cap="none" spc="0" normalizeH="0" baseline="0" noProof="0">
                <a:ln>
                  <a:noFill/>
                </a:ln>
                <a:solidFill>
                  <a:srgbClr val="DEEDF1">
                    <a:lumMod val="25000"/>
                  </a:srgbClr>
                </a:solidFill>
                <a:effectLst/>
                <a:uLnTx/>
                <a:uFillTx/>
                <a:latin typeface="Santander Text"/>
                <a:ea typeface="+mn-ea"/>
                <a:cs typeface="+mn-cs"/>
              </a:rPr>
              <a:t>G. Position / Balance</a:t>
            </a:r>
          </a:p>
        </p:txBody>
      </p:sp>
      <p:sp>
        <p:nvSpPr>
          <p:cNvPr id="30" name="CuadroTexto 29">
            <a:extLst>
              <a:ext uri="{FF2B5EF4-FFF2-40B4-BE49-F238E27FC236}">
                <a16:creationId xmlns:a16="http://schemas.microsoft.com/office/drawing/2014/main" id="{40925244-3F5A-C77C-8969-C096A73ADBE9}"/>
              </a:ext>
            </a:extLst>
          </p:cNvPr>
          <p:cNvSpPr txBox="1"/>
          <p:nvPr/>
        </p:nvSpPr>
        <p:spPr>
          <a:xfrm>
            <a:off x="7811319" y="1968844"/>
            <a:ext cx="3658438" cy="314262"/>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0" cap="none" spc="0" normalizeH="0" baseline="0" noProof="0">
                <a:ln>
                  <a:noFill/>
                </a:ln>
                <a:solidFill>
                  <a:prstClr val="black"/>
                </a:solidFill>
                <a:effectLst/>
                <a:uLnTx/>
                <a:uFillTx/>
                <a:latin typeface="Santander Text"/>
                <a:ea typeface="+mn-ea"/>
                <a:cs typeface="+mn-cs"/>
              </a:rPr>
              <a:t>Customer Global Position / Balance Operative</a:t>
            </a:r>
          </a:p>
        </p:txBody>
      </p:sp>
      <p:cxnSp>
        <p:nvCxnSpPr>
          <p:cNvPr id="31" name="Conector recto 30">
            <a:extLst>
              <a:ext uri="{FF2B5EF4-FFF2-40B4-BE49-F238E27FC236}">
                <a16:creationId xmlns:a16="http://schemas.microsoft.com/office/drawing/2014/main" id="{6E2CDFF2-64B2-D051-E0C4-79C750463584}"/>
              </a:ext>
            </a:extLst>
          </p:cNvPr>
          <p:cNvCxnSpPr>
            <a:cxnSpLocks/>
          </p:cNvCxnSpPr>
          <p:nvPr/>
        </p:nvCxnSpPr>
        <p:spPr>
          <a:xfrm flipH="1" flipV="1">
            <a:off x="6340800" y="2439566"/>
            <a:ext cx="5112000" cy="0"/>
          </a:xfrm>
          <a:prstGeom prst="line">
            <a:avLst/>
          </a:prstGeom>
          <a:noFill/>
          <a:ln w="12700" cap="flat" cmpd="sng" algn="ctr">
            <a:solidFill>
              <a:schemeClr val="bg1">
                <a:lumMod val="85000"/>
              </a:schemeClr>
            </a:solidFill>
            <a:prstDash val="solid"/>
            <a:miter lim="800000"/>
          </a:ln>
          <a:effectLst/>
        </p:spPr>
      </p:cxnSp>
      <p:cxnSp>
        <p:nvCxnSpPr>
          <p:cNvPr id="32" name="Conector recto 31">
            <a:extLst>
              <a:ext uri="{FF2B5EF4-FFF2-40B4-BE49-F238E27FC236}">
                <a16:creationId xmlns:a16="http://schemas.microsoft.com/office/drawing/2014/main" id="{0757D117-7617-0C3E-B2FF-4CB8846AB8E0}"/>
              </a:ext>
            </a:extLst>
          </p:cNvPr>
          <p:cNvCxnSpPr>
            <a:cxnSpLocks/>
          </p:cNvCxnSpPr>
          <p:nvPr/>
        </p:nvCxnSpPr>
        <p:spPr>
          <a:xfrm flipH="1" flipV="1">
            <a:off x="6340800" y="1934822"/>
            <a:ext cx="5112000" cy="0"/>
          </a:xfrm>
          <a:prstGeom prst="line">
            <a:avLst/>
          </a:prstGeom>
          <a:noFill/>
          <a:ln w="12700" cap="flat" cmpd="sng" algn="ctr">
            <a:solidFill>
              <a:schemeClr val="bg1">
                <a:lumMod val="85000"/>
              </a:schemeClr>
            </a:solidFill>
            <a:prstDash val="solid"/>
            <a:miter lim="800000"/>
          </a:ln>
          <a:effectLst/>
        </p:spPr>
      </p:cxnSp>
      <p:sp>
        <p:nvSpPr>
          <p:cNvPr id="36" name="Rectángulo 35">
            <a:extLst>
              <a:ext uri="{FF2B5EF4-FFF2-40B4-BE49-F238E27FC236}">
                <a16:creationId xmlns:a16="http://schemas.microsoft.com/office/drawing/2014/main" id="{F75FE9ED-4CAA-2D25-46DF-C04B08C974F1}"/>
              </a:ext>
            </a:extLst>
          </p:cNvPr>
          <p:cNvSpPr/>
          <p:nvPr/>
        </p:nvSpPr>
        <p:spPr>
          <a:xfrm>
            <a:off x="6340800" y="2568003"/>
            <a:ext cx="1440000" cy="275071"/>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AU" sz="1400" kern="0">
                <a:solidFill>
                  <a:srgbClr val="DEEDF1">
                    <a:lumMod val="25000"/>
                  </a:srgbClr>
                </a:solidFill>
                <a:latin typeface="Santander Text"/>
              </a:rPr>
              <a:t>Customer</a:t>
            </a:r>
            <a:endPar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endParaRPr>
          </a:p>
        </p:txBody>
      </p:sp>
      <p:cxnSp>
        <p:nvCxnSpPr>
          <p:cNvPr id="37" name="Conector recto 36">
            <a:extLst>
              <a:ext uri="{FF2B5EF4-FFF2-40B4-BE49-F238E27FC236}">
                <a16:creationId xmlns:a16="http://schemas.microsoft.com/office/drawing/2014/main" id="{9500127C-C96B-8942-477D-00780D24F3AF}"/>
              </a:ext>
            </a:extLst>
          </p:cNvPr>
          <p:cNvCxnSpPr>
            <a:cxnSpLocks/>
          </p:cNvCxnSpPr>
          <p:nvPr/>
        </p:nvCxnSpPr>
        <p:spPr>
          <a:xfrm flipH="1" flipV="1">
            <a:off x="6340800" y="2959327"/>
            <a:ext cx="5112000" cy="0"/>
          </a:xfrm>
          <a:prstGeom prst="line">
            <a:avLst/>
          </a:prstGeom>
          <a:noFill/>
          <a:ln w="12700" cap="flat" cmpd="sng" algn="ctr">
            <a:solidFill>
              <a:schemeClr val="bg1">
                <a:lumMod val="85000"/>
              </a:schemeClr>
            </a:solidFill>
            <a:prstDash val="solid"/>
            <a:miter lim="800000"/>
          </a:ln>
          <a:effectLst/>
        </p:spPr>
      </p:cxnSp>
      <p:sp>
        <p:nvSpPr>
          <p:cNvPr id="38" name="Rectángulo 37">
            <a:extLst>
              <a:ext uri="{FF2B5EF4-FFF2-40B4-BE49-F238E27FC236}">
                <a16:creationId xmlns:a16="http://schemas.microsoft.com/office/drawing/2014/main" id="{4A227550-9C01-CFBD-2B2F-5583928C1A8D}"/>
              </a:ext>
            </a:extLst>
          </p:cNvPr>
          <p:cNvSpPr/>
          <p:nvPr/>
        </p:nvSpPr>
        <p:spPr>
          <a:xfrm>
            <a:off x="6340800" y="3111526"/>
            <a:ext cx="1440000" cy="275071"/>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Accounts</a:t>
            </a:r>
          </a:p>
        </p:txBody>
      </p:sp>
      <p:cxnSp>
        <p:nvCxnSpPr>
          <p:cNvPr id="39" name="Conector recto 38">
            <a:extLst>
              <a:ext uri="{FF2B5EF4-FFF2-40B4-BE49-F238E27FC236}">
                <a16:creationId xmlns:a16="http://schemas.microsoft.com/office/drawing/2014/main" id="{5975AC98-2BB6-1EC2-AD09-ACDD9FB8166D}"/>
              </a:ext>
            </a:extLst>
          </p:cNvPr>
          <p:cNvCxnSpPr>
            <a:cxnSpLocks/>
          </p:cNvCxnSpPr>
          <p:nvPr/>
        </p:nvCxnSpPr>
        <p:spPr>
          <a:xfrm flipH="1" flipV="1">
            <a:off x="6357757" y="3471415"/>
            <a:ext cx="5112000" cy="0"/>
          </a:xfrm>
          <a:prstGeom prst="line">
            <a:avLst/>
          </a:prstGeom>
          <a:noFill/>
          <a:ln w="12700" cap="flat" cmpd="sng" algn="ctr">
            <a:solidFill>
              <a:schemeClr val="bg1">
                <a:lumMod val="85000"/>
              </a:schemeClr>
            </a:solidFill>
            <a:prstDash val="solid"/>
            <a:miter lim="800000"/>
          </a:ln>
          <a:effectLst/>
        </p:spPr>
      </p:cxnSp>
      <p:sp>
        <p:nvSpPr>
          <p:cNvPr id="40" name="Rectángulo 39">
            <a:extLst>
              <a:ext uri="{FF2B5EF4-FFF2-40B4-BE49-F238E27FC236}">
                <a16:creationId xmlns:a16="http://schemas.microsoft.com/office/drawing/2014/main" id="{32D8FA97-764B-FC14-AB19-C4DE1691177C}"/>
              </a:ext>
            </a:extLst>
          </p:cNvPr>
          <p:cNvSpPr/>
          <p:nvPr/>
        </p:nvSpPr>
        <p:spPr>
          <a:xfrm>
            <a:off x="6340800" y="3672559"/>
            <a:ext cx="1440000" cy="275071"/>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Deposits</a:t>
            </a:r>
          </a:p>
        </p:txBody>
      </p:sp>
      <p:cxnSp>
        <p:nvCxnSpPr>
          <p:cNvPr id="41" name="Conector recto 40">
            <a:extLst>
              <a:ext uri="{FF2B5EF4-FFF2-40B4-BE49-F238E27FC236}">
                <a16:creationId xmlns:a16="http://schemas.microsoft.com/office/drawing/2014/main" id="{A2DDE999-D21E-2804-9804-B85B49DCEBC7}"/>
              </a:ext>
            </a:extLst>
          </p:cNvPr>
          <p:cNvCxnSpPr>
            <a:cxnSpLocks/>
          </p:cNvCxnSpPr>
          <p:nvPr/>
        </p:nvCxnSpPr>
        <p:spPr>
          <a:xfrm flipH="1" flipV="1">
            <a:off x="6357757" y="4062639"/>
            <a:ext cx="5112000" cy="0"/>
          </a:xfrm>
          <a:prstGeom prst="line">
            <a:avLst/>
          </a:prstGeom>
          <a:noFill/>
          <a:ln w="12700" cap="flat" cmpd="sng" algn="ctr">
            <a:solidFill>
              <a:schemeClr val="bg1">
                <a:lumMod val="85000"/>
              </a:schemeClr>
            </a:solidFill>
            <a:prstDash val="solid"/>
            <a:miter lim="800000"/>
          </a:ln>
          <a:effectLst/>
        </p:spPr>
      </p:cxnSp>
      <p:sp>
        <p:nvSpPr>
          <p:cNvPr id="42" name="Rectángulo 41">
            <a:extLst>
              <a:ext uri="{FF2B5EF4-FFF2-40B4-BE49-F238E27FC236}">
                <a16:creationId xmlns:a16="http://schemas.microsoft.com/office/drawing/2014/main" id="{B32A3C49-6ACA-6F88-9A6B-10BB9699ABFA}"/>
              </a:ext>
            </a:extLst>
          </p:cNvPr>
          <p:cNvSpPr/>
          <p:nvPr/>
        </p:nvSpPr>
        <p:spPr>
          <a:xfrm>
            <a:off x="6340800" y="4171017"/>
            <a:ext cx="1440000" cy="275071"/>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Cards</a:t>
            </a:r>
          </a:p>
        </p:txBody>
      </p:sp>
      <p:cxnSp>
        <p:nvCxnSpPr>
          <p:cNvPr id="43" name="Conector recto 42">
            <a:extLst>
              <a:ext uri="{FF2B5EF4-FFF2-40B4-BE49-F238E27FC236}">
                <a16:creationId xmlns:a16="http://schemas.microsoft.com/office/drawing/2014/main" id="{7D73BB4D-DD93-141C-A826-CCFC81D9BDA0}"/>
              </a:ext>
            </a:extLst>
          </p:cNvPr>
          <p:cNvCxnSpPr>
            <a:cxnSpLocks/>
          </p:cNvCxnSpPr>
          <p:nvPr/>
        </p:nvCxnSpPr>
        <p:spPr>
          <a:xfrm flipH="1" flipV="1">
            <a:off x="6391391" y="4553674"/>
            <a:ext cx="5112000" cy="0"/>
          </a:xfrm>
          <a:prstGeom prst="line">
            <a:avLst/>
          </a:prstGeom>
          <a:noFill/>
          <a:ln w="12700" cap="flat" cmpd="sng" algn="ctr">
            <a:solidFill>
              <a:schemeClr val="bg1">
                <a:lumMod val="85000"/>
              </a:schemeClr>
            </a:solidFill>
            <a:prstDash val="solid"/>
            <a:miter lim="800000"/>
          </a:ln>
          <a:effectLst/>
        </p:spPr>
      </p:cxnSp>
      <p:sp>
        <p:nvSpPr>
          <p:cNvPr id="44" name="Rectángulo 43">
            <a:extLst>
              <a:ext uri="{FF2B5EF4-FFF2-40B4-BE49-F238E27FC236}">
                <a16:creationId xmlns:a16="http://schemas.microsoft.com/office/drawing/2014/main" id="{207FB8CA-BCC0-7994-E4CA-AA35FB72D72A}"/>
              </a:ext>
            </a:extLst>
          </p:cNvPr>
          <p:cNvSpPr/>
          <p:nvPr/>
        </p:nvSpPr>
        <p:spPr>
          <a:xfrm>
            <a:off x="6340800" y="4682050"/>
            <a:ext cx="1440000" cy="275071"/>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Pay</a:t>
            </a:r>
          </a:p>
        </p:txBody>
      </p:sp>
      <p:cxnSp>
        <p:nvCxnSpPr>
          <p:cNvPr id="45" name="Conector recto 44">
            <a:extLst>
              <a:ext uri="{FF2B5EF4-FFF2-40B4-BE49-F238E27FC236}">
                <a16:creationId xmlns:a16="http://schemas.microsoft.com/office/drawing/2014/main" id="{EE4485BA-126B-8010-DE2D-E3886C89383B}"/>
              </a:ext>
            </a:extLst>
          </p:cNvPr>
          <p:cNvCxnSpPr>
            <a:cxnSpLocks/>
          </p:cNvCxnSpPr>
          <p:nvPr/>
        </p:nvCxnSpPr>
        <p:spPr>
          <a:xfrm flipH="1" flipV="1">
            <a:off x="6340800" y="5061506"/>
            <a:ext cx="5112000" cy="0"/>
          </a:xfrm>
          <a:prstGeom prst="line">
            <a:avLst/>
          </a:prstGeom>
          <a:noFill/>
          <a:ln w="12700" cap="flat" cmpd="sng" algn="ctr">
            <a:solidFill>
              <a:schemeClr val="bg1">
                <a:lumMod val="85000"/>
              </a:schemeClr>
            </a:solidFill>
            <a:prstDash val="solid"/>
            <a:miter lim="800000"/>
          </a:ln>
          <a:effectLst/>
        </p:spPr>
      </p:cxnSp>
      <p:sp>
        <p:nvSpPr>
          <p:cNvPr id="47" name="Rectángulo 46">
            <a:extLst>
              <a:ext uri="{FF2B5EF4-FFF2-40B4-BE49-F238E27FC236}">
                <a16:creationId xmlns:a16="http://schemas.microsoft.com/office/drawing/2014/main" id="{AE636788-1E7F-FA68-E22D-D9802E261F15}"/>
              </a:ext>
            </a:extLst>
          </p:cNvPr>
          <p:cNvSpPr/>
          <p:nvPr/>
        </p:nvSpPr>
        <p:spPr>
          <a:xfrm>
            <a:off x="6340800" y="5189881"/>
            <a:ext cx="1440000" cy="275071"/>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Loans</a:t>
            </a:r>
          </a:p>
        </p:txBody>
      </p:sp>
      <p:cxnSp>
        <p:nvCxnSpPr>
          <p:cNvPr id="48" name="Conector recto 47">
            <a:extLst>
              <a:ext uri="{FF2B5EF4-FFF2-40B4-BE49-F238E27FC236}">
                <a16:creationId xmlns:a16="http://schemas.microsoft.com/office/drawing/2014/main" id="{60F26586-3FA0-8BA8-8969-299579D0A583}"/>
              </a:ext>
            </a:extLst>
          </p:cNvPr>
          <p:cNvCxnSpPr>
            <a:cxnSpLocks/>
          </p:cNvCxnSpPr>
          <p:nvPr/>
        </p:nvCxnSpPr>
        <p:spPr>
          <a:xfrm flipH="1" flipV="1">
            <a:off x="6391391" y="5551960"/>
            <a:ext cx="5112000" cy="0"/>
          </a:xfrm>
          <a:prstGeom prst="line">
            <a:avLst/>
          </a:prstGeom>
          <a:noFill/>
          <a:ln w="12700" cap="flat" cmpd="sng" algn="ctr">
            <a:solidFill>
              <a:schemeClr val="bg1">
                <a:lumMod val="85000"/>
              </a:schemeClr>
            </a:solidFill>
            <a:prstDash val="solid"/>
            <a:miter lim="800000"/>
          </a:ln>
          <a:effectLst/>
        </p:spPr>
      </p:cxnSp>
      <p:sp>
        <p:nvSpPr>
          <p:cNvPr id="49" name="Rectángulo 48">
            <a:extLst>
              <a:ext uri="{FF2B5EF4-FFF2-40B4-BE49-F238E27FC236}">
                <a16:creationId xmlns:a16="http://schemas.microsoft.com/office/drawing/2014/main" id="{47CD018D-76EE-AF15-F499-59BF928D97DF}"/>
              </a:ext>
            </a:extLst>
          </p:cNvPr>
          <p:cNvSpPr/>
          <p:nvPr/>
        </p:nvSpPr>
        <p:spPr>
          <a:xfrm>
            <a:off x="6340800" y="5656499"/>
            <a:ext cx="1440000" cy="275071"/>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200" b="0" i="0" u="none" strike="noStrike" kern="0" cap="none" spc="0" normalizeH="0" baseline="0" noProof="0">
                <a:ln>
                  <a:noFill/>
                </a:ln>
                <a:solidFill>
                  <a:srgbClr val="DEEDF1">
                    <a:lumMod val="25000"/>
                  </a:srgbClr>
                </a:solidFill>
                <a:effectLst/>
                <a:uLnTx/>
                <a:uFillTx/>
                <a:latin typeface="Santander Text"/>
                <a:ea typeface="+mn-ea"/>
                <a:cs typeface="+mn-cs"/>
              </a:rPr>
              <a:t>Customer Security</a:t>
            </a:r>
          </a:p>
        </p:txBody>
      </p:sp>
      <p:sp>
        <p:nvSpPr>
          <p:cNvPr id="50" name="Rectángulo 49">
            <a:extLst>
              <a:ext uri="{FF2B5EF4-FFF2-40B4-BE49-F238E27FC236}">
                <a16:creationId xmlns:a16="http://schemas.microsoft.com/office/drawing/2014/main" id="{58040AA3-4039-5BC0-D4C0-2B92BC3FC09E}"/>
              </a:ext>
            </a:extLst>
          </p:cNvPr>
          <p:cNvSpPr/>
          <p:nvPr/>
        </p:nvSpPr>
        <p:spPr>
          <a:xfrm>
            <a:off x="6349239" y="6094977"/>
            <a:ext cx="1440000" cy="275071"/>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Investment</a:t>
            </a:r>
          </a:p>
        </p:txBody>
      </p:sp>
      <p:sp>
        <p:nvSpPr>
          <p:cNvPr id="51" name="CuadroTexto 50">
            <a:extLst>
              <a:ext uri="{FF2B5EF4-FFF2-40B4-BE49-F238E27FC236}">
                <a16:creationId xmlns:a16="http://schemas.microsoft.com/office/drawing/2014/main" id="{F67B3180-9C23-5F5F-CAB8-7E8610B3FB9A}"/>
              </a:ext>
            </a:extLst>
          </p:cNvPr>
          <p:cNvSpPr txBox="1"/>
          <p:nvPr/>
        </p:nvSpPr>
        <p:spPr>
          <a:xfrm>
            <a:off x="7811319" y="2521326"/>
            <a:ext cx="3658438" cy="314262"/>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0" cap="none" spc="0" normalizeH="0" baseline="0" noProof="0">
                <a:ln>
                  <a:noFill/>
                </a:ln>
                <a:solidFill>
                  <a:prstClr val="black"/>
                </a:solidFill>
                <a:effectLst/>
                <a:uLnTx/>
                <a:uFillTx/>
                <a:latin typeface="Santander Text"/>
                <a:ea typeface="+mn-ea"/>
                <a:cs typeface="+mn-cs"/>
              </a:rPr>
              <a:t>Customer General Operative</a:t>
            </a:r>
          </a:p>
        </p:txBody>
      </p:sp>
      <p:sp>
        <p:nvSpPr>
          <p:cNvPr id="52" name="CuadroTexto 51">
            <a:extLst>
              <a:ext uri="{FF2B5EF4-FFF2-40B4-BE49-F238E27FC236}">
                <a16:creationId xmlns:a16="http://schemas.microsoft.com/office/drawing/2014/main" id="{979E99B6-FBB4-AB8D-8DA6-BAC15B61C83F}"/>
              </a:ext>
            </a:extLst>
          </p:cNvPr>
          <p:cNvSpPr txBox="1"/>
          <p:nvPr/>
        </p:nvSpPr>
        <p:spPr>
          <a:xfrm>
            <a:off x="7811319" y="3065411"/>
            <a:ext cx="3658438" cy="314262"/>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0" cap="none" spc="0" normalizeH="0" baseline="0" noProof="0">
                <a:ln>
                  <a:noFill/>
                </a:ln>
                <a:solidFill>
                  <a:prstClr val="black"/>
                </a:solidFill>
                <a:effectLst/>
                <a:uLnTx/>
                <a:uFillTx/>
                <a:latin typeface="Santander Text"/>
                <a:ea typeface="+mn-ea"/>
                <a:cs typeface="+mn-cs"/>
              </a:rPr>
              <a:t>Transactional Account Operative</a:t>
            </a:r>
          </a:p>
        </p:txBody>
      </p:sp>
      <p:sp>
        <p:nvSpPr>
          <p:cNvPr id="53" name="CuadroTexto 52">
            <a:extLst>
              <a:ext uri="{FF2B5EF4-FFF2-40B4-BE49-F238E27FC236}">
                <a16:creationId xmlns:a16="http://schemas.microsoft.com/office/drawing/2014/main" id="{2D00A0C5-5CE8-8980-B5CE-6433D5C4B0D9}"/>
              </a:ext>
            </a:extLst>
          </p:cNvPr>
          <p:cNvSpPr txBox="1"/>
          <p:nvPr/>
        </p:nvSpPr>
        <p:spPr>
          <a:xfrm>
            <a:off x="7811319" y="3584284"/>
            <a:ext cx="3658438" cy="314262"/>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0" cap="none" spc="0" normalizeH="0" baseline="0" noProof="0">
                <a:ln>
                  <a:noFill/>
                </a:ln>
                <a:solidFill>
                  <a:prstClr val="black"/>
                </a:solidFill>
                <a:effectLst/>
                <a:uLnTx/>
                <a:uFillTx/>
                <a:latin typeface="Santander Text"/>
                <a:ea typeface="+mn-ea"/>
                <a:cs typeface="+mn-cs"/>
              </a:rPr>
              <a:t>Operative with Deposits</a:t>
            </a:r>
          </a:p>
        </p:txBody>
      </p:sp>
      <p:sp>
        <p:nvSpPr>
          <p:cNvPr id="54" name="CuadroTexto 53">
            <a:extLst>
              <a:ext uri="{FF2B5EF4-FFF2-40B4-BE49-F238E27FC236}">
                <a16:creationId xmlns:a16="http://schemas.microsoft.com/office/drawing/2014/main" id="{7F30ED54-EFED-B17D-7390-60709519C527}"/>
              </a:ext>
            </a:extLst>
          </p:cNvPr>
          <p:cNvSpPr txBox="1"/>
          <p:nvPr/>
        </p:nvSpPr>
        <p:spPr>
          <a:xfrm>
            <a:off x="7811319" y="4140762"/>
            <a:ext cx="3658438" cy="314262"/>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0" cap="none" spc="0" normalizeH="0" baseline="0" noProof="0">
                <a:ln>
                  <a:noFill/>
                </a:ln>
                <a:solidFill>
                  <a:prstClr val="black"/>
                </a:solidFill>
                <a:effectLst/>
                <a:uLnTx/>
                <a:uFillTx/>
                <a:latin typeface="Santander Text"/>
                <a:ea typeface="+mn-ea"/>
                <a:cs typeface="+mn-cs"/>
              </a:rPr>
              <a:t>Operative with Cards</a:t>
            </a:r>
          </a:p>
        </p:txBody>
      </p:sp>
      <p:sp>
        <p:nvSpPr>
          <p:cNvPr id="55" name="CuadroTexto 54">
            <a:extLst>
              <a:ext uri="{FF2B5EF4-FFF2-40B4-BE49-F238E27FC236}">
                <a16:creationId xmlns:a16="http://schemas.microsoft.com/office/drawing/2014/main" id="{E61447FE-DB86-BFBB-CD2A-0F1CDFD86476}"/>
              </a:ext>
            </a:extLst>
          </p:cNvPr>
          <p:cNvSpPr txBox="1"/>
          <p:nvPr/>
        </p:nvSpPr>
        <p:spPr>
          <a:xfrm>
            <a:off x="7811319" y="4694040"/>
            <a:ext cx="3658438" cy="314262"/>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0" cap="none" spc="0" normalizeH="0" baseline="0" noProof="0">
                <a:ln>
                  <a:noFill/>
                </a:ln>
                <a:solidFill>
                  <a:prstClr val="black"/>
                </a:solidFill>
                <a:effectLst/>
                <a:uLnTx/>
                <a:uFillTx/>
                <a:latin typeface="Santander Text"/>
                <a:ea typeface="+mn-ea"/>
                <a:cs typeface="+mn-cs"/>
              </a:rPr>
              <a:t>Operative for Payments</a:t>
            </a:r>
          </a:p>
        </p:txBody>
      </p:sp>
      <p:sp>
        <p:nvSpPr>
          <p:cNvPr id="56" name="CuadroTexto 55">
            <a:extLst>
              <a:ext uri="{FF2B5EF4-FFF2-40B4-BE49-F238E27FC236}">
                <a16:creationId xmlns:a16="http://schemas.microsoft.com/office/drawing/2014/main" id="{D39F7419-8428-9F70-6FA7-301FE506555A}"/>
              </a:ext>
            </a:extLst>
          </p:cNvPr>
          <p:cNvSpPr txBox="1"/>
          <p:nvPr/>
        </p:nvSpPr>
        <p:spPr>
          <a:xfrm>
            <a:off x="7811319" y="5150690"/>
            <a:ext cx="3658438" cy="314262"/>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0" cap="none" spc="0" normalizeH="0" baseline="0" noProof="0">
                <a:ln>
                  <a:noFill/>
                </a:ln>
                <a:solidFill>
                  <a:prstClr val="black"/>
                </a:solidFill>
                <a:effectLst/>
                <a:uLnTx/>
                <a:uFillTx/>
                <a:latin typeface="Santander Text"/>
                <a:ea typeface="+mn-ea"/>
                <a:cs typeface="+mn-cs"/>
              </a:rPr>
              <a:t>Operative with Loans</a:t>
            </a:r>
          </a:p>
        </p:txBody>
      </p:sp>
      <p:sp>
        <p:nvSpPr>
          <p:cNvPr id="57" name="CuadroTexto 56">
            <a:extLst>
              <a:ext uri="{FF2B5EF4-FFF2-40B4-BE49-F238E27FC236}">
                <a16:creationId xmlns:a16="http://schemas.microsoft.com/office/drawing/2014/main" id="{D3382937-BC91-19E7-76DC-06919DD6D2C4}"/>
              </a:ext>
            </a:extLst>
          </p:cNvPr>
          <p:cNvSpPr txBox="1"/>
          <p:nvPr/>
        </p:nvSpPr>
        <p:spPr>
          <a:xfrm>
            <a:off x="7811319" y="5656499"/>
            <a:ext cx="3658438" cy="314262"/>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0" cap="none" spc="0" normalizeH="0" baseline="0" noProof="0">
                <a:ln>
                  <a:noFill/>
                </a:ln>
                <a:solidFill>
                  <a:prstClr val="black"/>
                </a:solidFill>
                <a:effectLst/>
                <a:uLnTx/>
                <a:uFillTx/>
                <a:latin typeface="Santander Text"/>
                <a:ea typeface="+mn-ea"/>
                <a:cs typeface="+mn-cs"/>
              </a:rPr>
              <a:t>Related to </a:t>
            </a:r>
            <a:r>
              <a:rPr lang="en-US" kern="0">
                <a:solidFill>
                  <a:prstClr val="black"/>
                </a:solidFill>
                <a:latin typeface="Santander Text"/>
              </a:rPr>
              <a:t>Customer Security Operative</a:t>
            </a:r>
            <a:endParaRPr kumimoji="0" lang="en-US" sz="1200" b="0" i="0" u="none" strike="noStrike" kern="0" cap="none" spc="0" normalizeH="0" baseline="0" noProof="0">
              <a:ln>
                <a:noFill/>
              </a:ln>
              <a:solidFill>
                <a:prstClr val="black"/>
              </a:solidFill>
              <a:effectLst/>
              <a:uLnTx/>
              <a:uFillTx/>
              <a:latin typeface="Santander Text"/>
              <a:ea typeface="+mn-ea"/>
              <a:cs typeface="+mn-cs"/>
            </a:endParaRPr>
          </a:p>
        </p:txBody>
      </p:sp>
      <p:cxnSp>
        <p:nvCxnSpPr>
          <p:cNvPr id="58" name="Conector recto 57">
            <a:extLst>
              <a:ext uri="{FF2B5EF4-FFF2-40B4-BE49-F238E27FC236}">
                <a16:creationId xmlns:a16="http://schemas.microsoft.com/office/drawing/2014/main" id="{8FF01405-3098-B167-9A2B-E6CF9E5855BA}"/>
              </a:ext>
            </a:extLst>
          </p:cNvPr>
          <p:cNvCxnSpPr>
            <a:cxnSpLocks/>
          </p:cNvCxnSpPr>
          <p:nvPr/>
        </p:nvCxnSpPr>
        <p:spPr>
          <a:xfrm flipH="1" flipV="1">
            <a:off x="6396962" y="6005841"/>
            <a:ext cx="5112000" cy="0"/>
          </a:xfrm>
          <a:prstGeom prst="line">
            <a:avLst/>
          </a:prstGeom>
          <a:noFill/>
          <a:ln w="12700" cap="flat" cmpd="sng" algn="ctr">
            <a:solidFill>
              <a:schemeClr val="bg1">
                <a:lumMod val="85000"/>
              </a:schemeClr>
            </a:solidFill>
            <a:prstDash val="solid"/>
            <a:miter lim="800000"/>
          </a:ln>
          <a:effectLst/>
        </p:spPr>
      </p:cxnSp>
      <p:sp>
        <p:nvSpPr>
          <p:cNvPr id="59" name="CuadroTexto 58">
            <a:extLst>
              <a:ext uri="{FF2B5EF4-FFF2-40B4-BE49-F238E27FC236}">
                <a16:creationId xmlns:a16="http://schemas.microsoft.com/office/drawing/2014/main" id="{EFFB52BD-4950-3E91-D573-90C6668632CC}"/>
              </a:ext>
            </a:extLst>
          </p:cNvPr>
          <p:cNvSpPr txBox="1"/>
          <p:nvPr/>
        </p:nvSpPr>
        <p:spPr>
          <a:xfrm>
            <a:off x="7811319" y="6093954"/>
            <a:ext cx="3658438" cy="314262"/>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0" cap="none" spc="0" normalizeH="0" baseline="0" noProof="0">
                <a:ln>
                  <a:noFill/>
                </a:ln>
                <a:solidFill>
                  <a:prstClr val="black"/>
                </a:solidFill>
                <a:effectLst/>
                <a:uLnTx/>
                <a:uFillTx/>
                <a:latin typeface="Santander Text"/>
                <a:ea typeface="+mn-ea"/>
                <a:cs typeface="+mn-cs"/>
              </a:rPr>
              <a:t>Support for investment operations</a:t>
            </a:r>
          </a:p>
        </p:txBody>
      </p:sp>
    </p:spTree>
    <p:extLst>
      <p:ext uri="{BB962C8B-B14F-4D97-AF65-F5344CB8AC3E}">
        <p14:creationId xmlns:p14="http://schemas.microsoft.com/office/powerpoint/2010/main" val="715195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46B10-16D5-1013-871C-1141E63A2B15}"/>
            </a:ext>
          </a:extLst>
        </p:cNvPr>
        <p:cNvGrpSpPr/>
        <p:nvPr/>
      </p:nvGrpSpPr>
      <p:grpSpPr>
        <a:xfrm>
          <a:off x="0" y="0"/>
          <a:ext cx="0" cy="0"/>
          <a:chOff x="0" y="0"/>
          <a:chExt cx="0" cy="0"/>
        </a:xfrm>
      </p:grpSpPr>
      <p:sp>
        <p:nvSpPr>
          <p:cNvPr id="17" name="Text Placeholder 2">
            <a:extLst>
              <a:ext uri="{FF2B5EF4-FFF2-40B4-BE49-F238E27FC236}">
                <a16:creationId xmlns:a16="http://schemas.microsoft.com/office/drawing/2014/main" id="{DAE533AC-B8E1-A2C0-EBBB-20026098BE9D}"/>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15" name="Rectángulo 14">
            <a:extLst>
              <a:ext uri="{FF2B5EF4-FFF2-40B4-BE49-F238E27FC236}">
                <a16:creationId xmlns:a16="http://schemas.microsoft.com/office/drawing/2014/main" id="{7E87EAD0-11F7-0B8C-C3ED-5FF5348BA894}"/>
              </a:ext>
            </a:extLst>
          </p:cNvPr>
          <p:cNvSpPr/>
          <p:nvPr/>
        </p:nvSpPr>
        <p:spPr>
          <a:xfrm>
            <a:off x="711024" y="3201415"/>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Cash</a:t>
            </a:r>
          </a:p>
        </p:txBody>
      </p:sp>
      <p:sp>
        <p:nvSpPr>
          <p:cNvPr id="18" name="Rectángulo 17">
            <a:extLst>
              <a:ext uri="{FF2B5EF4-FFF2-40B4-BE49-F238E27FC236}">
                <a16:creationId xmlns:a16="http://schemas.microsoft.com/office/drawing/2014/main" id="{D17D4961-38B4-FFEB-1113-DAB20D043EFB}"/>
              </a:ext>
            </a:extLst>
          </p:cNvPr>
          <p:cNvSpPr/>
          <p:nvPr/>
        </p:nvSpPr>
        <p:spPr>
          <a:xfrm>
            <a:off x="711024" y="4186812"/>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Cheques</a:t>
            </a:r>
          </a:p>
        </p:txBody>
      </p:sp>
      <p:sp>
        <p:nvSpPr>
          <p:cNvPr id="19" name="Rectángulo 18">
            <a:extLst>
              <a:ext uri="{FF2B5EF4-FFF2-40B4-BE49-F238E27FC236}">
                <a16:creationId xmlns:a16="http://schemas.microsoft.com/office/drawing/2014/main" id="{3752E38A-3747-9D42-5E8B-9815CBC04127}"/>
              </a:ext>
            </a:extLst>
          </p:cNvPr>
          <p:cNvSpPr/>
          <p:nvPr/>
        </p:nvSpPr>
        <p:spPr>
          <a:xfrm>
            <a:off x="711024" y="2216018"/>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Console</a:t>
            </a:r>
          </a:p>
        </p:txBody>
      </p:sp>
      <p:cxnSp>
        <p:nvCxnSpPr>
          <p:cNvPr id="22" name="Conector recto 21">
            <a:extLst>
              <a:ext uri="{FF2B5EF4-FFF2-40B4-BE49-F238E27FC236}">
                <a16:creationId xmlns:a16="http://schemas.microsoft.com/office/drawing/2014/main" id="{A672D530-A16D-2FBF-4A40-24E92FE60B46}"/>
              </a:ext>
            </a:extLst>
          </p:cNvPr>
          <p:cNvCxnSpPr>
            <a:cxnSpLocks/>
          </p:cNvCxnSpPr>
          <p:nvPr/>
        </p:nvCxnSpPr>
        <p:spPr>
          <a:xfrm flipH="1" flipV="1">
            <a:off x="711024" y="1933750"/>
            <a:ext cx="5112000" cy="0"/>
          </a:xfrm>
          <a:prstGeom prst="line">
            <a:avLst/>
          </a:prstGeom>
          <a:noFill/>
          <a:ln w="12700" cap="flat" cmpd="sng" algn="ctr">
            <a:solidFill>
              <a:srgbClr val="595959"/>
            </a:solidFill>
            <a:prstDash val="solid"/>
            <a:miter lim="800000"/>
          </a:ln>
          <a:effectLst/>
        </p:spPr>
      </p:cxnSp>
      <p:sp>
        <p:nvSpPr>
          <p:cNvPr id="23" name="CuadroTexto 22">
            <a:extLst>
              <a:ext uri="{FF2B5EF4-FFF2-40B4-BE49-F238E27FC236}">
                <a16:creationId xmlns:a16="http://schemas.microsoft.com/office/drawing/2014/main" id="{30760DD1-03E3-82FD-60BE-6420C0254A3F}"/>
              </a:ext>
            </a:extLst>
          </p:cNvPr>
          <p:cNvSpPr txBox="1"/>
          <p:nvPr/>
        </p:nvSpPr>
        <p:spPr>
          <a:xfrm>
            <a:off x="2192764" y="1991500"/>
            <a:ext cx="3658438" cy="1014361"/>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lang="en-US" kern="0">
                <a:solidFill>
                  <a:prstClr val="black"/>
                </a:solidFill>
                <a:latin typeface="Santander Text"/>
              </a:rPr>
              <a:t>Operative:</a:t>
            </a:r>
          </a:p>
          <a:p>
            <a:pPr lvl="1">
              <a:spcBef>
                <a:spcPts val="0"/>
              </a:spcBef>
              <a:buClr>
                <a:srgbClr val="FF0000"/>
              </a:buClr>
              <a:buFont typeface="Wingdings" panose="05000000000000000000" pitchFamily="2" charset="2"/>
              <a:buChar char="§"/>
              <a:defRPr/>
            </a:pPr>
            <a:r>
              <a:rPr kumimoji="0" lang="en-US" b="0" i="0" u="none" strike="noStrike" kern="0" cap="none" spc="0" normalizeH="0" baseline="0" noProof="0">
                <a:ln>
                  <a:noFill/>
                </a:ln>
                <a:solidFill>
                  <a:prstClr val="black"/>
                </a:solidFill>
                <a:effectLst/>
                <a:uLnTx/>
                <a:uFillTx/>
                <a:latin typeface="Santander Text"/>
                <a:ea typeface="+mn-ea"/>
                <a:cs typeface="+mn-cs"/>
              </a:rPr>
              <a:t>Assign Tills</a:t>
            </a:r>
          </a:p>
          <a:p>
            <a:pPr lvl="1">
              <a:spcBef>
                <a:spcPts val="0"/>
              </a:spcBef>
              <a:buClr>
                <a:srgbClr val="FF0000"/>
              </a:buClr>
              <a:buFont typeface="Wingdings" panose="05000000000000000000" pitchFamily="2" charset="2"/>
              <a:buChar char="§"/>
              <a:defRPr/>
            </a:pPr>
            <a:r>
              <a:rPr lang="en-US" kern="0">
                <a:solidFill>
                  <a:prstClr val="black"/>
                </a:solidFill>
                <a:latin typeface="Santander Text"/>
              </a:rPr>
              <a:t>Internal Transport</a:t>
            </a:r>
          </a:p>
          <a:p>
            <a:pPr lvl="1">
              <a:spcBef>
                <a:spcPts val="0"/>
              </a:spcBef>
              <a:buClr>
                <a:srgbClr val="FF0000"/>
              </a:buClr>
              <a:buFont typeface="Wingdings" panose="05000000000000000000" pitchFamily="2" charset="2"/>
              <a:buChar char="§"/>
              <a:defRPr/>
            </a:pPr>
            <a:r>
              <a:rPr lang="en-US" kern="0">
                <a:solidFill>
                  <a:prstClr val="black"/>
                </a:solidFill>
                <a:latin typeface="Santander Text"/>
              </a:rPr>
              <a:t>Operation </a:t>
            </a:r>
            <a:r>
              <a:rPr lang="en-US" kern="0" err="1">
                <a:solidFill>
                  <a:prstClr val="black"/>
                </a:solidFill>
                <a:latin typeface="Santander Text"/>
              </a:rPr>
              <a:t>LogBook</a:t>
            </a:r>
            <a:endParaRPr lang="en-US" kern="0">
              <a:solidFill>
                <a:prstClr val="black"/>
              </a:solidFill>
              <a:latin typeface="Santander Text"/>
            </a:endParaRPr>
          </a:p>
          <a:p>
            <a:pPr lvl="1">
              <a:spcBef>
                <a:spcPts val="0"/>
              </a:spcBef>
              <a:buClr>
                <a:srgbClr val="FF0000"/>
              </a:buClr>
              <a:buFont typeface="Wingdings" panose="05000000000000000000" pitchFamily="2" charset="2"/>
              <a:buChar char="§"/>
              <a:defRPr/>
            </a:pPr>
            <a:r>
              <a:rPr kumimoji="0" lang="en-US" b="0" i="0" u="none" strike="noStrike" kern="0" cap="none" spc="0" normalizeH="0" baseline="0" noProof="0">
                <a:ln>
                  <a:noFill/>
                </a:ln>
                <a:solidFill>
                  <a:prstClr val="black"/>
                </a:solidFill>
                <a:effectLst/>
                <a:uLnTx/>
                <a:uFillTx/>
                <a:latin typeface="Santander Text"/>
                <a:ea typeface="+mn-ea"/>
                <a:cs typeface="+mn-cs"/>
              </a:rPr>
              <a:t>Close Branch</a:t>
            </a:r>
          </a:p>
        </p:txBody>
      </p:sp>
      <p:cxnSp>
        <p:nvCxnSpPr>
          <p:cNvPr id="24" name="Conector recto 23">
            <a:extLst>
              <a:ext uri="{FF2B5EF4-FFF2-40B4-BE49-F238E27FC236}">
                <a16:creationId xmlns:a16="http://schemas.microsoft.com/office/drawing/2014/main" id="{D2B4C685-C531-0773-E7EF-A3333AE3F7BA}"/>
              </a:ext>
            </a:extLst>
          </p:cNvPr>
          <p:cNvCxnSpPr>
            <a:cxnSpLocks/>
          </p:cNvCxnSpPr>
          <p:nvPr/>
        </p:nvCxnSpPr>
        <p:spPr>
          <a:xfrm flipH="1" flipV="1">
            <a:off x="684799" y="3060921"/>
            <a:ext cx="5112000" cy="0"/>
          </a:xfrm>
          <a:prstGeom prst="line">
            <a:avLst/>
          </a:prstGeom>
          <a:noFill/>
          <a:ln w="12700" cap="flat" cmpd="sng" algn="ctr">
            <a:solidFill>
              <a:schemeClr val="bg1">
                <a:lumMod val="85000"/>
              </a:schemeClr>
            </a:solidFill>
            <a:prstDash val="solid"/>
            <a:miter lim="800000"/>
          </a:ln>
          <a:effectLst/>
        </p:spPr>
      </p:cxnSp>
      <p:sp>
        <p:nvSpPr>
          <p:cNvPr id="26" name="CuadroTexto 25">
            <a:extLst>
              <a:ext uri="{FF2B5EF4-FFF2-40B4-BE49-F238E27FC236}">
                <a16:creationId xmlns:a16="http://schemas.microsoft.com/office/drawing/2014/main" id="{0837527E-A59D-EF63-02F2-A00EB8FB103A}"/>
              </a:ext>
            </a:extLst>
          </p:cNvPr>
          <p:cNvSpPr txBox="1"/>
          <p:nvPr/>
        </p:nvSpPr>
        <p:spPr>
          <a:xfrm>
            <a:off x="2192764" y="3152534"/>
            <a:ext cx="3630260" cy="276999"/>
          </a:xfrm>
          <a:prstGeom prst="rect">
            <a:avLst/>
          </a:prstGeom>
          <a:noFill/>
        </p:spPr>
        <p:txBody>
          <a:bodyPr wrap="square" numCol="1">
            <a:spAutoFit/>
          </a:body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0" cap="none" spc="0" normalizeH="0" baseline="0" noProof="0">
                <a:ln>
                  <a:noFill/>
                </a:ln>
                <a:solidFill>
                  <a:prstClr val="black"/>
                </a:solidFill>
                <a:effectLst/>
                <a:uLnTx/>
                <a:uFillTx/>
                <a:latin typeface="Santander Text"/>
                <a:ea typeface="+mn-ea"/>
                <a:cs typeface="+mn-cs"/>
              </a:rPr>
              <a:t>Daily administration of cash inflows and outflows</a:t>
            </a:r>
          </a:p>
        </p:txBody>
      </p:sp>
      <p:cxnSp>
        <p:nvCxnSpPr>
          <p:cNvPr id="27" name="Conector recto 26">
            <a:extLst>
              <a:ext uri="{FF2B5EF4-FFF2-40B4-BE49-F238E27FC236}">
                <a16:creationId xmlns:a16="http://schemas.microsoft.com/office/drawing/2014/main" id="{EECE0817-2DD4-4DF8-3C7D-307B1921AF60}"/>
              </a:ext>
            </a:extLst>
          </p:cNvPr>
          <p:cNvCxnSpPr>
            <a:cxnSpLocks/>
          </p:cNvCxnSpPr>
          <p:nvPr/>
        </p:nvCxnSpPr>
        <p:spPr>
          <a:xfrm flipH="1" flipV="1">
            <a:off x="684799" y="3965161"/>
            <a:ext cx="5112000" cy="0"/>
          </a:xfrm>
          <a:prstGeom prst="line">
            <a:avLst/>
          </a:prstGeom>
          <a:noFill/>
          <a:ln w="12700" cap="flat" cmpd="sng" algn="ctr">
            <a:solidFill>
              <a:schemeClr val="bg1">
                <a:lumMod val="85000"/>
              </a:schemeClr>
            </a:solidFill>
            <a:prstDash val="solid"/>
            <a:miter lim="800000"/>
          </a:ln>
          <a:effectLst/>
        </p:spPr>
      </p:cxnSp>
      <p:sp>
        <p:nvSpPr>
          <p:cNvPr id="46" name="CuadroTexto 45">
            <a:extLst>
              <a:ext uri="{FF2B5EF4-FFF2-40B4-BE49-F238E27FC236}">
                <a16:creationId xmlns:a16="http://schemas.microsoft.com/office/drawing/2014/main" id="{5FDC78F9-0EE1-CCC1-4E85-C509C9EE054F}"/>
              </a:ext>
            </a:extLst>
          </p:cNvPr>
          <p:cNvSpPr txBox="1"/>
          <p:nvPr/>
        </p:nvSpPr>
        <p:spPr>
          <a:xfrm>
            <a:off x="2206853" y="4179813"/>
            <a:ext cx="3630260" cy="276999"/>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0" cap="none" spc="0" normalizeH="0" baseline="0" noProof="0">
                <a:ln>
                  <a:noFill/>
                </a:ln>
                <a:solidFill>
                  <a:prstClr val="black"/>
                </a:solidFill>
                <a:effectLst/>
                <a:uLnTx/>
                <a:uFillTx/>
                <a:latin typeface="Santander Text"/>
                <a:ea typeface="+mn-ea"/>
                <a:cs typeface="+mn-cs"/>
              </a:rPr>
              <a:t>Check Deposits</a:t>
            </a:r>
          </a:p>
        </p:txBody>
      </p:sp>
      <p:sp>
        <p:nvSpPr>
          <p:cNvPr id="8" name="Título 1">
            <a:extLst>
              <a:ext uri="{FF2B5EF4-FFF2-40B4-BE49-F238E27FC236}">
                <a16:creationId xmlns:a16="http://schemas.microsoft.com/office/drawing/2014/main" id="{D0AA337F-E2D6-48FF-AAC6-23677CDEF25A}"/>
              </a:ext>
            </a:extLst>
          </p:cNvPr>
          <p:cNvSpPr txBox="1">
            <a:spLocks/>
          </p:cNvSpPr>
          <p:nvPr/>
        </p:nvSpPr>
        <p:spPr>
          <a:xfrm>
            <a:off x="711024" y="623339"/>
            <a:ext cx="10758733" cy="836992"/>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lang="en-US" sz="2800" b="1" kern="1200" dirty="0">
                <a:solidFill>
                  <a:schemeClr val="accent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s-ES" sz="2800" b="1" i="0" u="none" strike="noStrike" kern="1200" cap="none" spc="0" normalizeH="0" baseline="0" noProof="0" err="1">
                <a:ln>
                  <a:noFill/>
                </a:ln>
                <a:solidFill>
                  <a:srgbClr val="EC0000"/>
                </a:solidFill>
                <a:effectLst/>
                <a:uLnTx/>
                <a:uFillTx/>
                <a:latin typeface="Santander Headline"/>
                <a:ea typeface="+mj-ea"/>
                <a:cs typeface="+mj-cs"/>
              </a:rPr>
              <a:t>Retail</a:t>
            </a:r>
            <a:r>
              <a:rPr kumimoji="0" lang="es-ES" sz="2800" b="1" i="0" u="none" strike="noStrike" kern="1200" cap="none" spc="0" normalizeH="0" baseline="0" noProof="0">
                <a:ln>
                  <a:noFill/>
                </a:ln>
                <a:solidFill>
                  <a:srgbClr val="EC0000"/>
                </a:solidFill>
                <a:effectLst/>
                <a:uLnTx/>
                <a:uFillTx/>
                <a:latin typeface="Santander Headline"/>
                <a:ea typeface="+mj-ea"/>
                <a:cs typeface="+mj-cs"/>
              </a:rPr>
              <a:t> &amp; </a:t>
            </a:r>
            <a:r>
              <a:rPr kumimoji="0" lang="es-ES" sz="2800" b="1" i="0" u="none" strike="noStrike" kern="1200" cap="none" spc="0" normalizeH="0" baseline="0" noProof="0" err="1">
                <a:ln>
                  <a:noFill/>
                </a:ln>
                <a:solidFill>
                  <a:srgbClr val="EC0000"/>
                </a:solidFill>
                <a:effectLst/>
                <a:uLnTx/>
                <a:uFillTx/>
                <a:latin typeface="Santander Headline"/>
                <a:ea typeface="+mj-ea"/>
                <a:cs typeface="+mj-cs"/>
              </a:rPr>
              <a:t>Commercial</a:t>
            </a:r>
            <a:r>
              <a:rPr lang="es-ES">
                <a:solidFill>
                  <a:srgbClr val="EC0000"/>
                </a:solidFill>
                <a:latin typeface="Santander Headline"/>
              </a:rPr>
              <a:t>.</a:t>
            </a:r>
            <a:r>
              <a:rPr kumimoji="0" lang="es-ES" sz="2800" b="1" i="0" u="none" strike="noStrike" kern="1200" cap="none" spc="0" normalizeH="0" baseline="0" noProof="0">
                <a:ln>
                  <a:noFill/>
                </a:ln>
                <a:solidFill>
                  <a:srgbClr val="EC0000"/>
                </a:solidFill>
                <a:effectLst/>
                <a:uLnTx/>
                <a:uFillTx/>
                <a:latin typeface="Santander Headline"/>
                <a:ea typeface="+mj-ea"/>
                <a:cs typeface="+mj-cs"/>
              </a:rPr>
              <a:t> </a:t>
            </a:r>
            <a:r>
              <a:rPr kumimoji="0" lang="en-AU" sz="2800" b="1" i="0" u="none" strike="noStrike" kern="1200" cap="none" spc="0" normalizeH="0" baseline="0" noProof="0">
                <a:ln>
                  <a:noFill/>
                </a:ln>
                <a:solidFill>
                  <a:srgbClr val="BFBFBF"/>
                </a:solidFill>
                <a:effectLst/>
                <a:uLnTx/>
                <a:uFillTx/>
                <a:latin typeface="Santander Headline"/>
                <a:ea typeface="+mj-ea"/>
                <a:cs typeface="+mj-cs"/>
              </a:rPr>
              <a:t>Assisted Channels</a:t>
            </a:r>
          </a:p>
        </p:txBody>
      </p:sp>
      <p:sp>
        <p:nvSpPr>
          <p:cNvPr id="7" name="CuadroTexto 31">
            <a:extLst>
              <a:ext uri="{FF2B5EF4-FFF2-40B4-BE49-F238E27FC236}">
                <a16:creationId xmlns:a16="http://schemas.microsoft.com/office/drawing/2014/main" id="{17E048A1-305A-7BE1-DBA2-32D4D82DA825}"/>
              </a:ext>
            </a:extLst>
          </p:cNvPr>
          <p:cNvSpPr txBox="1"/>
          <p:nvPr/>
        </p:nvSpPr>
        <p:spPr>
          <a:xfrm>
            <a:off x="711025" y="1128886"/>
            <a:ext cx="5111999" cy="807913"/>
          </a:xfrm>
          <a:prstGeom prst="rect">
            <a:avLst/>
          </a:prstGeom>
          <a:noFill/>
        </p:spPr>
        <p:txBody>
          <a:bodyPr wrap="square" rtlCol="0">
            <a:spAutoFit/>
          </a:bodyPr>
          <a:lstStyle/>
          <a:p>
            <a:pPr marL="355600" marR="0" lvl="0" indent="-355600" algn="l" defTabSz="914400" rtl="0" eaLnBrk="1" fontAlgn="auto" latinLnBrk="0" hangingPunct="1">
              <a:lnSpc>
                <a:spcPct val="100000"/>
              </a:lnSpc>
              <a:spcBef>
                <a:spcPts val="0"/>
              </a:spcBef>
              <a:spcAft>
                <a:spcPts val="300"/>
              </a:spcAft>
              <a:buClrTx/>
              <a:buSzTx/>
              <a:buFontTx/>
              <a:buNone/>
              <a:tabLst/>
              <a:defRPr/>
            </a:pPr>
            <a:r>
              <a:rPr lang="en-AU" sz="1600" b="1" kern="0">
                <a:solidFill>
                  <a:srgbClr val="DEEDF1">
                    <a:lumMod val="25000"/>
                  </a:srgbClr>
                </a:solidFill>
                <a:latin typeface="Santander Text" panose="020B0504020201020104" pitchFamily="34" charset="0"/>
              </a:rPr>
              <a:t>8</a:t>
            </a:r>
            <a:r>
              <a:rPr kumimoji="0" lang="en-AU"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 – Teller Solutions</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400" b="0" i="1"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Transactional service for carrying out deposits, withdrawals, cashing checks, and providing other financial services at Branch</a:t>
            </a:r>
          </a:p>
        </p:txBody>
      </p:sp>
    </p:spTree>
    <p:extLst>
      <p:ext uri="{BB962C8B-B14F-4D97-AF65-F5344CB8AC3E}">
        <p14:creationId xmlns:p14="http://schemas.microsoft.com/office/powerpoint/2010/main" val="5373081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D66A0-568D-3755-2D60-99584A858E4B}"/>
            </a:ext>
          </a:extLst>
        </p:cNvPr>
        <p:cNvGrpSpPr/>
        <p:nvPr/>
      </p:nvGrpSpPr>
      <p:grpSpPr>
        <a:xfrm>
          <a:off x="0" y="0"/>
          <a:ext cx="0" cy="0"/>
          <a:chOff x="0" y="0"/>
          <a:chExt cx="0" cy="0"/>
        </a:xfrm>
      </p:grpSpPr>
      <p:sp>
        <p:nvSpPr>
          <p:cNvPr id="17" name="Text Placeholder 2">
            <a:extLst>
              <a:ext uri="{FF2B5EF4-FFF2-40B4-BE49-F238E27FC236}">
                <a16:creationId xmlns:a16="http://schemas.microsoft.com/office/drawing/2014/main" id="{C3393E9F-2FE2-76E5-353F-0F0BE20367C9}"/>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32" name="CuadroTexto 31">
            <a:extLst>
              <a:ext uri="{FF2B5EF4-FFF2-40B4-BE49-F238E27FC236}">
                <a16:creationId xmlns:a16="http://schemas.microsoft.com/office/drawing/2014/main" id="{0BDF072F-F32B-2C45-98AD-989CE7AAB572}"/>
              </a:ext>
            </a:extLst>
          </p:cNvPr>
          <p:cNvSpPr txBox="1"/>
          <p:nvPr/>
        </p:nvSpPr>
        <p:spPr>
          <a:xfrm>
            <a:off x="6368978" y="1011880"/>
            <a:ext cx="5111999" cy="623248"/>
          </a:xfrm>
          <a:prstGeom prst="rect">
            <a:avLst/>
          </a:prstGeom>
          <a:noFill/>
        </p:spPr>
        <p:txBody>
          <a:bodyPr wrap="square" rtlCol="0">
            <a:spAutoFit/>
          </a:bodyPr>
          <a:lstStyle/>
          <a:p>
            <a:pPr marL="355600" marR="0" lvl="0" indent="-355600" algn="l" defTabSz="914400" rtl="0" eaLnBrk="1" fontAlgn="auto" latinLnBrk="0" hangingPunct="1">
              <a:lnSpc>
                <a:spcPct val="100000"/>
              </a:lnSpc>
              <a:spcBef>
                <a:spcPts val="0"/>
              </a:spcBef>
              <a:spcAft>
                <a:spcPts val="300"/>
              </a:spcAft>
              <a:buClrTx/>
              <a:buSzTx/>
              <a:buFontTx/>
              <a:buNone/>
              <a:tabLst/>
              <a:defRPr/>
            </a:pPr>
            <a:endParaRPr lang="en-GB" sz="1600" b="1" kern="0">
              <a:solidFill>
                <a:srgbClr val="DEEDF1">
                  <a:lumMod val="25000"/>
                </a:srgbClr>
              </a:solidFill>
              <a:latin typeface="Santander Text" panose="020B0504020201020104" pitchFamily="34" charset="0"/>
            </a:endParaRPr>
          </a:p>
          <a:p>
            <a:pPr marL="355600" marR="0" lvl="0" indent="-355600" algn="l" defTabSz="914400" rtl="0" eaLnBrk="1" fontAlgn="auto" latinLnBrk="0" hangingPunct="1">
              <a:lnSpc>
                <a:spcPct val="100000"/>
              </a:lnSpc>
              <a:spcBef>
                <a:spcPts val="0"/>
              </a:spcBef>
              <a:spcAft>
                <a:spcPts val="300"/>
              </a:spcAft>
              <a:buClrTx/>
              <a:buSzTx/>
              <a:buFontTx/>
              <a:buNone/>
              <a:tabLst/>
              <a:defRPr/>
            </a:pPr>
            <a:r>
              <a:rPr lang="en-GB" sz="1600" b="1" kern="0">
                <a:solidFill>
                  <a:srgbClr val="DEEDF1">
                    <a:lumMod val="25000"/>
                  </a:srgbClr>
                </a:solidFill>
                <a:latin typeface="Santander Text" panose="020B0504020201020104" pitchFamily="34" charset="0"/>
              </a:rPr>
              <a:t>2</a:t>
            </a:r>
            <a:r>
              <a:rPr kumimoji="0" lang="en-GB"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 – Customer Interaction Orchestration</a:t>
            </a:r>
          </a:p>
        </p:txBody>
      </p:sp>
      <p:sp>
        <p:nvSpPr>
          <p:cNvPr id="6" name="Título 1">
            <a:extLst>
              <a:ext uri="{FF2B5EF4-FFF2-40B4-BE49-F238E27FC236}">
                <a16:creationId xmlns:a16="http://schemas.microsoft.com/office/drawing/2014/main" id="{B6F360E3-C689-9F81-96A5-C6BF78E0B304}"/>
              </a:ext>
            </a:extLst>
          </p:cNvPr>
          <p:cNvSpPr>
            <a:spLocks noGrp="1"/>
          </p:cNvSpPr>
          <p:nvPr>
            <p:ph type="title"/>
          </p:nvPr>
        </p:nvSpPr>
        <p:spPr>
          <a:xfrm>
            <a:off x="711024" y="641900"/>
            <a:ext cx="10758733" cy="445400"/>
          </a:xfrm>
        </p:spPr>
        <p:txBody>
          <a:bodyPr/>
          <a:lstStyle/>
          <a:p>
            <a:pPr>
              <a:defRPr/>
            </a:pPr>
            <a:r>
              <a:rPr kumimoji="0" lang="es-ES" sz="2800" b="1" i="0" u="none" strike="noStrike" kern="1200" cap="none" spc="0" normalizeH="0" baseline="0" noProof="0" err="1">
                <a:ln>
                  <a:noFill/>
                </a:ln>
                <a:solidFill>
                  <a:srgbClr val="EC0000"/>
                </a:solidFill>
                <a:effectLst/>
                <a:uLnTx/>
                <a:uFillTx/>
                <a:latin typeface="Santander Headline"/>
                <a:ea typeface="+mj-ea"/>
                <a:cs typeface="+mj-cs"/>
              </a:rPr>
              <a:t>Retail</a:t>
            </a:r>
            <a:r>
              <a:rPr kumimoji="0" lang="es-ES" sz="2800" b="1" i="0" u="none" strike="noStrike" kern="1200" cap="none" spc="0" normalizeH="0" baseline="0" noProof="0">
                <a:ln>
                  <a:noFill/>
                </a:ln>
                <a:solidFill>
                  <a:srgbClr val="EC0000"/>
                </a:solidFill>
                <a:effectLst/>
                <a:uLnTx/>
                <a:uFillTx/>
                <a:latin typeface="Santander Headline"/>
                <a:ea typeface="+mj-ea"/>
                <a:cs typeface="+mj-cs"/>
              </a:rPr>
              <a:t> &amp; </a:t>
            </a:r>
            <a:r>
              <a:rPr kumimoji="0" lang="es-ES" sz="2800" b="1" i="0" u="none" strike="noStrike" kern="1200" cap="none" spc="0" normalizeH="0" baseline="0" noProof="0" err="1">
                <a:ln>
                  <a:noFill/>
                </a:ln>
                <a:solidFill>
                  <a:srgbClr val="EC0000"/>
                </a:solidFill>
                <a:effectLst/>
                <a:uLnTx/>
                <a:uFillTx/>
                <a:latin typeface="Santander Headline"/>
                <a:ea typeface="+mj-ea"/>
                <a:cs typeface="+mj-cs"/>
              </a:rPr>
              <a:t>Commercial</a:t>
            </a:r>
            <a:r>
              <a:rPr lang="es-ES">
                <a:solidFill>
                  <a:srgbClr val="EC0000"/>
                </a:solidFill>
                <a:latin typeface="Santander Headline"/>
              </a:rPr>
              <a:t>.</a:t>
            </a:r>
            <a:r>
              <a:rPr kumimoji="0" lang="es-ES" sz="2800" b="1" i="0" u="none" strike="noStrike" kern="1200" cap="none" spc="0" normalizeH="0" baseline="0" noProof="0">
                <a:ln>
                  <a:noFill/>
                </a:ln>
                <a:solidFill>
                  <a:srgbClr val="EC0000"/>
                </a:solidFill>
                <a:effectLst/>
                <a:uLnTx/>
                <a:uFillTx/>
                <a:latin typeface="Santander Headline"/>
                <a:ea typeface="+mj-ea"/>
                <a:cs typeface="+mj-cs"/>
              </a:rPr>
              <a:t> </a:t>
            </a:r>
            <a:r>
              <a:rPr kumimoji="0" lang="en-AU" sz="2800" b="1" i="0" u="none" strike="noStrike" kern="1200" cap="none" spc="0" normalizeH="0" baseline="0" noProof="0">
                <a:ln>
                  <a:noFill/>
                </a:ln>
                <a:solidFill>
                  <a:srgbClr val="BFBFBF"/>
                </a:solidFill>
                <a:effectLst/>
                <a:uLnTx/>
                <a:uFillTx/>
                <a:latin typeface="Santander Headline"/>
                <a:ea typeface="+mj-ea"/>
                <a:cs typeface="+mj-cs"/>
              </a:rPr>
              <a:t>Customer Interactions</a:t>
            </a:r>
            <a:endParaRPr lang="en-US">
              <a:solidFill>
                <a:schemeClr val="bg1">
                  <a:lumMod val="75000"/>
                </a:schemeClr>
              </a:solidFill>
            </a:endParaRPr>
          </a:p>
        </p:txBody>
      </p:sp>
      <p:sp>
        <p:nvSpPr>
          <p:cNvPr id="2" name="Rectángulo 1">
            <a:extLst>
              <a:ext uri="{FF2B5EF4-FFF2-40B4-BE49-F238E27FC236}">
                <a16:creationId xmlns:a16="http://schemas.microsoft.com/office/drawing/2014/main" id="{0C8B03A8-DEA2-8A0D-CF5E-877214A4FAB1}"/>
              </a:ext>
            </a:extLst>
          </p:cNvPr>
          <p:cNvSpPr/>
          <p:nvPr/>
        </p:nvSpPr>
        <p:spPr>
          <a:xfrm>
            <a:off x="737251" y="5583101"/>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Notifications Platform</a:t>
            </a:r>
          </a:p>
        </p:txBody>
      </p:sp>
      <p:sp>
        <p:nvSpPr>
          <p:cNvPr id="5" name="Rectángulo 4">
            <a:extLst>
              <a:ext uri="{FF2B5EF4-FFF2-40B4-BE49-F238E27FC236}">
                <a16:creationId xmlns:a16="http://schemas.microsoft.com/office/drawing/2014/main" id="{AB12F79A-F761-8505-A854-A9F0CAADEEA6}"/>
              </a:ext>
            </a:extLst>
          </p:cNvPr>
          <p:cNvSpPr/>
          <p:nvPr/>
        </p:nvSpPr>
        <p:spPr>
          <a:xfrm>
            <a:off x="737251" y="4263369"/>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Campaign Manager</a:t>
            </a:r>
          </a:p>
        </p:txBody>
      </p:sp>
      <p:sp>
        <p:nvSpPr>
          <p:cNvPr id="7" name="CuadroTexto 6">
            <a:extLst>
              <a:ext uri="{FF2B5EF4-FFF2-40B4-BE49-F238E27FC236}">
                <a16:creationId xmlns:a16="http://schemas.microsoft.com/office/drawing/2014/main" id="{FF746E3A-199B-B3E0-7606-B258F2FE5EF6}"/>
              </a:ext>
            </a:extLst>
          </p:cNvPr>
          <p:cNvSpPr txBox="1"/>
          <p:nvPr/>
        </p:nvSpPr>
        <p:spPr>
          <a:xfrm>
            <a:off x="711025" y="3322324"/>
            <a:ext cx="5111999" cy="623248"/>
          </a:xfrm>
          <a:prstGeom prst="rect">
            <a:avLst/>
          </a:prstGeom>
          <a:noFill/>
        </p:spPr>
        <p:txBody>
          <a:bodyPr wrap="square" rtlCol="0">
            <a:spAutoFit/>
          </a:bodyPr>
          <a:lstStyle/>
          <a:p>
            <a:pPr marL="355600" marR="0" lvl="0" indent="-355600" algn="l" defTabSz="914400" rtl="0" eaLnBrk="1" fontAlgn="auto" latinLnBrk="0" hangingPunct="1">
              <a:lnSpc>
                <a:spcPct val="100000"/>
              </a:lnSpc>
              <a:spcBef>
                <a:spcPts val="0"/>
              </a:spcBef>
              <a:spcAft>
                <a:spcPts val="300"/>
              </a:spcAft>
              <a:buClrTx/>
              <a:buSzTx/>
              <a:buFontTx/>
              <a:buNone/>
              <a:tabLst/>
              <a:defRPr/>
            </a:pPr>
            <a:endParaRPr lang="en-GB" sz="1600" b="1" kern="0">
              <a:solidFill>
                <a:srgbClr val="DEEDF1">
                  <a:lumMod val="25000"/>
                </a:srgbClr>
              </a:solidFill>
              <a:latin typeface="Santander Text" panose="020B0504020201020104" pitchFamily="34" charset="0"/>
            </a:endParaRPr>
          </a:p>
          <a:p>
            <a:pPr marL="355600" marR="0" lvl="0" indent="-355600" algn="l" defTabSz="914400" rtl="0" eaLnBrk="1" fontAlgn="auto" latinLnBrk="0" hangingPunct="1">
              <a:lnSpc>
                <a:spcPct val="100000"/>
              </a:lnSpc>
              <a:spcBef>
                <a:spcPts val="0"/>
              </a:spcBef>
              <a:spcAft>
                <a:spcPts val="300"/>
              </a:spcAft>
              <a:buClrTx/>
              <a:buSzTx/>
              <a:buFontTx/>
              <a:buNone/>
              <a:tabLst/>
              <a:defRPr/>
            </a:pPr>
            <a:r>
              <a:rPr lang="en-GB" sz="1600" b="1" kern="0">
                <a:solidFill>
                  <a:srgbClr val="DEEDF1">
                    <a:lumMod val="25000"/>
                  </a:srgbClr>
                </a:solidFill>
                <a:latin typeface="Santander Text" panose="020B0504020201020104" pitchFamily="34" charset="0"/>
              </a:rPr>
              <a:t>3</a:t>
            </a:r>
            <a:r>
              <a:rPr kumimoji="0" lang="en-GB"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 – Campaign Management &amp; Communications</a:t>
            </a:r>
          </a:p>
        </p:txBody>
      </p:sp>
      <p:cxnSp>
        <p:nvCxnSpPr>
          <p:cNvPr id="10" name="Conector recto 9">
            <a:extLst>
              <a:ext uri="{FF2B5EF4-FFF2-40B4-BE49-F238E27FC236}">
                <a16:creationId xmlns:a16="http://schemas.microsoft.com/office/drawing/2014/main" id="{5A8D7B6C-B109-F717-8031-33D40EB676E5}"/>
              </a:ext>
            </a:extLst>
          </p:cNvPr>
          <p:cNvCxnSpPr>
            <a:cxnSpLocks/>
          </p:cNvCxnSpPr>
          <p:nvPr/>
        </p:nvCxnSpPr>
        <p:spPr>
          <a:xfrm flipH="1" flipV="1">
            <a:off x="737251" y="4127188"/>
            <a:ext cx="5112000" cy="0"/>
          </a:xfrm>
          <a:prstGeom prst="line">
            <a:avLst/>
          </a:prstGeom>
          <a:solidFill>
            <a:schemeClr val="accent4">
              <a:lumMod val="40000"/>
              <a:lumOff val="60000"/>
            </a:schemeClr>
          </a:solidFill>
          <a:ln w="12700" cap="flat" cmpd="sng" algn="ctr">
            <a:solidFill>
              <a:schemeClr val="bg2">
                <a:lumMod val="50000"/>
              </a:schemeClr>
            </a:solidFill>
            <a:prstDash val="solid"/>
            <a:miter lim="800000"/>
          </a:ln>
          <a:effectLst/>
        </p:spPr>
      </p:cxnSp>
      <p:sp>
        <p:nvSpPr>
          <p:cNvPr id="11" name="CuadroTexto 10">
            <a:extLst>
              <a:ext uri="{FF2B5EF4-FFF2-40B4-BE49-F238E27FC236}">
                <a16:creationId xmlns:a16="http://schemas.microsoft.com/office/drawing/2014/main" id="{007345C1-54CD-55DC-9E72-5E2E0138B544}"/>
              </a:ext>
            </a:extLst>
          </p:cNvPr>
          <p:cNvSpPr txBox="1"/>
          <p:nvPr/>
        </p:nvSpPr>
        <p:spPr>
          <a:xfrm>
            <a:off x="2218991" y="4159317"/>
            <a:ext cx="3658438" cy="909402"/>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180000" marR="0" lvl="0" indent="-180000" algn="l" defTabSz="914400" rtl="0" eaLnBrk="1" fontAlgn="auto" latinLnBrk="0" hangingPunct="1">
              <a:lnSpc>
                <a:spcPct val="100000"/>
              </a:lnSpc>
              <a:spcBef>
                <a:spcPts val="600"/>
              </a:spcBef>
              <a:spcAft>
                <a:spcPts val="0"/>
              </a:spcAft>
              <a:buClr>
                <a:srgbClr val="EC0000"/>
              </a:buClr>
              <a:buSzTx/>
              <a:buFont typeface="Arial" panose="020B0604020202020204" pitchFamily="34" charset="0"/>
              <a:buChar char="•"/>
              <a:tabLst/>
              <a:defRPr/>
            </a:pPr>
            <a:endParaRPr kumimoji="0" lang="en-GB" sz="1200" b="0" i="0" u="none" strike="noStrike" kern="1200" cap="none" spc="0" normalizeH="0" baseline="0" noProof="0">
              <a:ln>
                <a:noFill/>
              </a:ln>
              <a:solidFill>
                <a:srgbClr val="595959"/>
              </a:solidFill>
              <a:effectLst/>
              <a:uLnTx/>
              <a:uFillTx/>
              <a:latin typeface="Santander Text"/>
              <a:ea typeface="+mn-ea"/>
              <a:cs typeface="+mn-cs"/>
            </a:endParaRPr>
          </a:p>
        </p:txBody>
      </p:sp>
      <p:cxnSp>
        <p:nvCxnSpPr>
          <p:cNvPr id="12" name="Conector recto 11">
            <a:extLst>
              <a:ext uri="{FF2B5EF4-FFF2-40B4-BE49-F238E27FC236}">
                <a16:creationId xmlns:a16="http://schemas.microsoft.com/office/drawing/2014/main" id="{05F908F1-3166-9562-0E25-991C159C0E30}"/>
              </a:ext>
            </a:extLst>
          </p:cNvPr>
          <p:cNvCxnSpPr>
            <a:cxnSpLocks/>
          </p:cNvCxnSpPr>
          <p:nvPr/>
        </p:nvCxnSpPr>
        <p:spPr>
          <a:xfrm flipH="1" flipV="1">
            <a:off x="711026" y="5444924"/>
            <a:ext cx="5112000" cy="0"/>
          </a:xfrm>
          <a:prstGeom prst="line">
            <a:avLst/>
          </a:prstGeom>
          <a:noFill/>
          <a:ln w="12700" cap="flat" cmpd="sng" algn="ctr">
            <a:solidFill>
              <a:schemeClr val="bg1">
                <a:lumMod val="85000"/>
              </a:schemeClr>
            </a:solidFill>
            <a:prstDash val="solid"/>
            <a:miter lim="800000"/>
          </a:ln>
          <a:effectLst/>
        </p:spPr>
      </p:cxnSp>
      <p:sp>
        <p:nvSpPr>
          <p:cNvPr id="14" name="CuadroTexto 13">
            <a:extLst>
              <a:ext uri="{FF2B5EF4-FFF2-40B4-BE49-F238E27FC236}">
                <a16:creationId xmlns:a16="http://schemas.microsoft.com/office/drawing/2014/main" id="{6EE3C058-E71D-D867-1BDD-153AEBDB4ED4}"/>
              </a:ext>
            </a:extLst>
          </p:cNvPr>
          <p:cNvSpPr txBox="1"/>
          <p:nvPr/>
        </p:nvSpPr>
        <p:spPr>
          <a:xfrm>
            <a:off x="2300271" y="5461078"/>
            <a:ext cx="3630260" cy="646331"/>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rPr>
              <a:t>Master communications module which will be used to centralize and manage every communication to customers.</a:t>
            </a:r>
          </a:p>
        </p:txBody>
      </p:sp>
      <p:sp>
        <p:nvSpPr>
          <p:cNvPr id="16" name="CuadroTexto 15">
            <a:extLst>
              <a:ext uri="{FF2B5EF4-FFF2-40B4-BE49-F238E27FC236}">
                <a16:creationId xmlns:a16="http://schemas.microsoft.com/office/drawing/2014/main" id="{98EB299C-E45C-54DB-A85F-555A18D081A8}"/>
              </a:ext>
            </a:extLst>
          </p:cNvPr>
          <p:cNvSpPr txBox="1"/>
          <p:nvPr/>
        </p:nvSpPr>
        <p:spPr>
          <a:xfrm>
            <a:off x="2300271" y="4196620"/>
            <a:ext cx="3454489" cy="1200329"/>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rPr>
              <a:t>Main functionality. It allows the management of marketing journeys and campaigns in an automated way through multiple channels. It is designed to maximize the efficiency of department's activities in terms of digital marketing strategy</a:t>
            </a:r>
            <a:endParaRPr kumimoji="0" lang="en-GB"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endParaRPr>
          </a:p>
        </p:txBody>
      </p:sp>
      <p:sp>
        <p:nvSpPr>
          <p:cNvPr id="20" name="Rectángulo 19">
            <a:extLst>
              <a:ext uri="{FF2B5EF4-FFF2-40B4-BE49-F238E27FC236}">
                <a16:creationId xmlns:a16="http://schemas.microsoft.com/office/drawing/2014/main" id="{D50486C6-C1F6-8270-310E-34FB86D038A1}"/>
              </a:ext>
            </a:extLst>
          </p:cNvPr>
          <p:cNvSpPr/>
          <p:nvPr/>
        </p:nvSpPr>
        <p:spPr>
          <a:xfrm>
            <a:off x="737251" y="2761154"/>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0" cap="none" spc="0" normalizeH="0" baseline="0" noProof="0">
                <a:ln>
                  <a:noFill/>
                </a:ln>
                <a:solidFill>
                  <a:srgbClr val="DEEDF1">
                    <a:lumMod val="25000"/>
                  </a:srgbClr>
                </a:solidFill>
                <a:effectLst/>
                <a:uLnTx/>
                <a:uFillTx/>
                <a:latin typeface="Santander Text"/>
                <a:ea typeface="+mn-ea"/>
                <a:cs typeface="+mn-cs"/>
              </a:rPr>
              <a:t>Near Real Time Events processing</a:t>
            </a:r>
          </a:p>
        </p:txBody>
      </p:sp>
      <p:sp>
        <p:nvSpPr>
          <p:cNvPr id="27" name="Rectángulo 26">
            <a:extLst>
              <a:ext uri="{FF2B5EF4-FFF2-40B4-BE49-F238E27FC236}">
                <a16:creationId xmlns:a16="http://schemas.microsoft.com/office/drawing/2014/main" id="{BD14BCBC-788D-5204-593D-3A9ECFD9CC2C}"/>
              </a:ext>
            </a:extLst>
          </p:cNvPr>
          <p:cNvSpPr/>
          <p:nvPr/>
        </p:nvSpPr>
        <p:spPr>
          <a:xfrm>
            <a:off x="711024" y="1776213"/>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Segmentation</a:t>
            </a:r>
          </a:p>
        </p:txBody>
      </p:sp>
      <p:sp>
        <p:nvSpPr>
          <p:cNvPr id="28" name="CuadroTexto 27">
            <a:extLst>
              <a:ext uri="{FF2B5EF4-FFF2-40B4-BE49-F238E27FC236}">
                <a16:creationId xmlns:a16="http://schemas.microsoft.com/office/drawing/2014/main" id="{E45F871E-C7BD-DE9C-B7C7-3F4433558227}"/>
              </a:ext>
            </a:extLst>
          </p:cNvPr>
          <p:cNvSpPr txBox="1"/>
          <p:nvPr/>
        </p:nvSpPr>
        <p:spPr>
          <a:xfrm>
            <a:off x="711025" y="971856"/>
            <a:ext cx="5111999" cy="623248"/>
          </a:xfrm>
          <a:prstGeom prst="rect">
            <a:avLst/>
          </a:prstGeom>
          <a:noFill/>
        </p:spPr>
        <p:txBody>
          <a:bodyPr wrap="square" rtlCol="0">
            <a:spAutoFit/>
          </a:bodyPr>
          <a:lstStyle/>
          <a:p>
            <a:pPr marL="355600" marR="0" lvl="0" indent="-355600" algn="l" defTabSz="914400" rtl="0" eaLnBrk="1" fontAlgn="auto" latinLnBrk="0" hangingPunct="1">
              <a:lnSpc>
                <a:spcPct val="100000"/>
              </a:lnSpc>
              <a:spcBef>
                <a:spcPts val="0"/>
              </a:spcBef>
              <a:spcAft>
                <a:spcPts val="300"/>
              </a:spcAft>
              <a:buClrTx/>
              <a:buSzTx/>
              <a:buFontTx/>
              <a:buNone/>
              <a:tabLst/>
              <a:defRPr/>
            </a:pPr>
            <a:endParaRPr lang="en-GB" sz="1600" b="1" kern="0">
              <a:solidFill>
                <a:srgbClr val="DEEDF1">
                  <a:lumMod val="25000"/>
                </a:srgbClr>
              </a:solidFill>
              <a:latin typeface="Santander Text" panose="020B0504020201020104" pitchFamily="34" charset="0"/>
            </a:endParaRPr>
          </a:p>
          <a:p>
            <a:pPr marL="355600" marR="0" lvl="0" indent="-355600" algn="l" defTabSz="914400" rtl="0" eaLnBrk="1" fontAlgn="auto" latinLnBrk="0" hangingPunct="1">
              <a:lnSpc>
                <a:spcPct val="100000"/>
              </a:lnSpc>
              <a:spcBef>
                <a:spcPts val="0"/>
              </a:spcBef>
              <a:spcAft>
                <a:spcPts val="300"/>
              </a:spcAft>
              <a:buClrTx/>
              <a:buSzTx/>
              <a:buFontTx/>
              <a:buNone/>
              <a:tabLst/>
              <a:defRPr/>
            </a:pPr>
            <a:r>
              <a:rPr lang="en-GB" sz="1600" b="1" kern="0">
                <a:solidFill>
                  <a:srgbClr val="DEEDF1">
                    <a:lumMod val="25000"/>
                  </a:srgbClr>
                </a:solidFill>
                <a:latin typeface="Santander Text" panose="020B0504020201020104" pitchFamily="34" charset="0"/>
              </a:rPr>
              <a:t>1</a:t>
            </a:r>
            <a:r>
              <a:rPr kumimoji="0" lang="en-GB"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 – Customer Intelligence</a:t>
            </a:r>
          </a:p>
        </p:txBody>
      </p:sp>
      <p:cxnSp>
        <p:nvCxnSpPr>
          <p:cNvPr id="29" name="Conector recto 28">
            <a:extLst>
              <a:ext uri="{FF2B5EF4-FFF2-40B4-BE49-F238E27FC236}">
                <a16:creationId xmlns:a16="http://schemas.microsoft.com/office/drawing/2014/main" id="{D50331B9-F2F6-95EF-02F0-2258CC35262F}"/>
              </a:ext>
            </a:extLst>
          </p:cNvPr>
          <p:cNvCxnSpPr>
            <a:cxnSpLocks/>
          </p:cNvCxnSpPr>
          <p:nvPr/>
        </p:nvCxnSpPr>
        <p:spPr>
          <a:xfrm flipH="1" flipV="1">
            <a:off x="711024" y="1640032"/>
            <a:ext cx="5112000" cy="0"/>
          </a:xfrm>
          <a:prstGeom prst="line">
            <a:avLst/>
          </a:prstGeom>
          <a:solidFill>
            <a:schemeClr val="accent4">
              <a:lumMod val="40000"/>
              <a:lumOff val="60000"/>
            </a:schemeClr>
          </a:solidFill>
          <a:ln w="12700" cap="flat" cmpd="sng" algn="ctr">
            <a:solidFill>
              <a:schemeClr val="bg2">
                <a:lumMod val="50000"/>
              </a:schemeClr>
            </a:solidFill>
            <a:prstDash val="solid"/>
            <a:miter lim="800000"/>
          </a:ln>
          <a:effectLst/>
        </p:spPr>
      </p:cxnSp>
      <p:sp>
        <p:nvSpPr>
          <p:cNvPr id="30" name="CuadroTexto 29">
            <a:extLst>
              <a:ext uri="{FF2B5EF4-FFF2-40B4-BE49-F238E27FC236}">
                <a16:creationId xmlns:a16="http://schemas.microsoft.com/office/drawing/2014/main" id="{E90620C8-6DB4-6523-752B-950FC354127A}"/>
              </a:ext>
            </a:extLst>
          </p:cNvPr>
          <p:cNvSpPr txBox="1"/>
          <p:nvPr/>
        </p:nvSpPr>
        <p:spPr>
          <a:xfrm>
            <a:off x="2192764" y="1672161"/>
            <a:ext cx="3658438" cy="909402"/>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180000" marR="0" lvl="0" indent="-180000" algn="l" defTabSz="914400" rtl="0" eaLnBrk="1" fontAlgn="auto" latinLnBrk="0" hangingPunct="1">
              <a:lnSpc>
                <a:spcPct val="100000"/>
              </a:lnSpc>
              <a:spcBef>
                <a:spcPts val="600"/>
              </a:spcBef>
              <a:spcAft>
                <a:spcPts val="0"/>
              </a:spcAft>
              <a:buClr>
                <a:srgbClr val="EC0000"/>
              </a:buClr>
              <a:buSzTx/>
              <a:buFont typeface="Arial" panose="020B0604020202020204" pitchFamily="34" charset="0"/>
              <a:buChar char="•"/>
              <a:tabLst/>
              <a:defRPr/>
            </a:pPr>
            <a:endParaRPr kumimoji="0" lang="en-GB" sz="1200" b="0" i="0" u="none" strike="noStrike" kern="1200" cap="none" spc="0" normalizeH="0" baseline="0" noProof="0">
              <a:ln>
                <a:noFill/>
              </a:ln>
              <a:solidFill>
                <a:srgbClr val="595959"/>
              </a:solidFill>
              <a:effectLst/>
              <a:uLnTx/>
              <a:uFillTx/>
              <a:latin typeface="Santander Text"/>
              <a:ea typeface="+mn-ea"/>
              <a:cs typeface="+mn-cs"/>
            </a:endParaRPr>
          </a:p>
        </p:txBody>
      </p:sp>
      <p:cxnSp>
        <p:nvCxnSpPr>
          <p:cNvPr id="31" name="Conector recto 30">
            <a:extLst>
              <a:ext uri="{FF2B5EF4-FFF2-40B4-BE49-F238E27FC236}">
                <a16:creationId xmlns:a16="http://schemas.microsoft.com/office/drawing/2014/main" id="{F63DA0D2-3D46-767D-15C5-68D1B00F7791}"/>
              </a:ext>
            </a:extLst>
          </p:cNvPr>
          <p:cNvCxnSpPr>
            <a:cxnSpLocks/>
          </p:cNvCxnSpPr>
          <p:nvPr/>
        </p:nvCxnSpPr>
        <p:spPr>
          <a:xfrm flipH="1" flipV="1">
            <a:off x="711026" y="2622977"/>
            <a:ext cx="5112000" cy="0"/>
          </a:xfrm>
          <a:prstGeom prst="line">
            <a:avLst/>
          </a:prstGeom>
          <a:noFill/>
          <a:ln w="12700" cap="flat" cmpd="sng" algn="ctr">
            <a:solidFill>
              <a:schemeClr val="bg1">
                <a:lumMod val="85000"/>
              </a:schemeClr>
            </a:solidFill>
            <a:prstDash val="solid"/>
            <a:miter lim="800000"/>
          </a:ln>
          <a:effectLst/>
        </p:spPr>
      </p:cxnSp>
      <p:sp>
        <p:nvSpPr>
          <p:cNvPr id="38" name="CuadroTexto 37">
            <a:extLst>
              <a:ext uri="{FF2B5EF4-FFF2-40B4-BE49-F238E27FC236}">
                <a16:creationId xmlns:a16="http://schemas.microsoft.com/office/drawing/2014/main" id="{2000B158-D75F-3092-06AD-3C822FB8D752}"/>
              </a:ext>
            </a:extLst>
          </p:cNvPr>
          <p:cNvSpPr txBox="1"/>
          <p:nvPr/>
        </p:nvSpPr>
        <p:spPr>
          <a:xfrm>
            <a:off x="2300271" y="2615188"/>
            <a:ext cx="3630260" cy="646331"/>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rPr>
              <a:t>Filtering, parametrization &amp; enrichment of the events in real time from the channels, core, etc. to the segmentation and decisioning tool</a:t>
            </a:r>
          </a:p>
        </p:txBody>
      </p:sp>
      <p:sp>
        <p:nvSpPr>
          <p:cNvPr id="39" name="CuadroTexto 38">
            <a:extLst>
              <a:ext uri="{FF2B5EF4-FFF2-40B4-BE49-F238E27FC236}">
                <a16:creationId xmlns:a16="http://schemas.microsoft.com/office/drawing/2014/main" id="{C77686BA-9BDD-DEE8-5DF3-4F5B4B7BD787}"/>
              </a:ext>
            </a:extLst>
          </p:cNvPr>
          <p:cNvSpPr txBox="1"/>
          <p:nvPr/>
        </p:nvSpPr>
        <p:spPr>
          <a:xfrm>
            <a:off x="2274044" y="1709464"/>
            <a:ext cx="3454489" cy="830997"/>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rPr>
              <a:t>Customers segmentation based on their behavior, relationships and profile information, it means, ability to determine profiles and build segments</a:t>
            </a:r>
            <a:endParaRPr kumimoji="0" lang="en-GB"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endParaRPr>
          </a:p>
        </p:txBody>
      </p:sp>
      <p:cxnSp>
        <p:nvCxnSpPr>
          <p:cNvPr id="40" name="Conector recto 39">
            <a:extLst>
              <a:ext uri="{FF2B5EF4-FFF2-40B4-BE49-F238E27FC236}">
                <a16:creationId xmlns:a16="http://schemas.microsoft.com/office/drawing/2014/main" id="{F04A7AB7-FC6A-E6A7-1DE9-EE9DF895398B}"/>
              </a:ext>
            </a:extLst>
          </p:cNvPr>
          <p:cNvCxnSpPr>
            <a:cxnSpLocks/>
          </p:cNvCxnSpPr>
          <p:nvPr/>
        </p:nvCxnSpPr>
        <p:spPr>
          <a:xfrm flipH="1" flipV="1">
            <a:off x="6512736" y="1662762"/>
            <a:ext cx="5112000" cy="0"/>
          </a:xfrm>
          <a:prstGeom prst="line">
            <a:avLst/>
          </a:prstGeom>
          <a:noFill/>
          <a:ln w="12700" cap="flat" cmpd="sng" algn="ctr">
            <a:solidFill>
              <a:srgbClr val="595959"/>
            </a:solidFill>
            <a:prstDash val="solid"/>
            <a:miter lim="800000"/>
          </a:ln>
          <a:effectLst/>
        </p:spPr>
      </p:cxnSp>
      <p:sp>
        <p:nvSpPr>
          <p:cNvPr id="43" name="CuadroTexto 42">
            <a:extLst>
              <a:ext uri="{FF2B5EF4-FFF2-40B4-BE49-F238E27FC236}">
                <a16:creationId xmlns:a16="http://schemas.microsoft.com/office/drawing/2014/main" id="{BB6FF2D4-AFBD-3DC9-624C-02A27C5D2B0D}"/>
              </a:ext>
            </a:extLst>
          </p:cNvPr>
          <p:cNvSpPr txBox="1"/>
          <p:nvPr/>
        </p:nvSpPr>
        <p:spPr>
          <a:xfrm>
            <a:off x="7990643" y="1708456"/>
            <a:ext cx="3745858" cy="909402"/>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buClr>
                <a:srgbClr val="EC0000"/>
              </a:buClr>
              <a:buFont typeface="Wingdings" panose="05000000000000000000" pitchFamily="2" charset="2"/>
              <a:buChar char="§"/>
              <a:defRPr/>
            </a:pPr>
            <a:r>
              <a:rPr lang="en-US">
                <a:solidFill>
                  <a:schemeClr val="tx1"/>
                </a:solidFill>
                <a:latin typeface="Santander Text"/>
              </a:rPr>
              <a:t>Relevant customer information that includes an insight that will provide us with the necessary intelligence to activate NBX models, improve decision making and eliminate inefficiencies</a:t>
            </a:r>
            <a:endParaRPr kumimoji="0" lang="en-GB" sz="1200" b="0" i="0" u="none" strike="noStrike" kern="1200" cap="none" spc="0" normalizeH="0" baseline="0" noProof="0">
              <a:ln>
                <a:noFill/>
              </a:ln>
              <a:solidFill>
                <a:schemeClr val="tx1"/>
              </a:solidFill>
              <a:effectLst/>
              <a:uLnTx/>
              <a:uFillTx/>
              <a:latin typeface="Santander Text"/>
              <a:ea typeface="+mn-ea"/>
              <a:cs typeface="+mn-cs"/>
            </a:endParaRPr>
          </a:p>
        </p:txBody>
      </p:sp>
      <p:cxnSp>
        <p:nvCxnSpPr>
          <p:cNvPr id="44" name="Conector recto 43">
            <a:extLst>
              <a:ext uri="{FF2B5EF4-FFF2-40B4-BE49-F238E27FC236}">
                <a16:creationId xmlns:a16="http://schemas.microsoft.com/office/drawing/2014/main" id="{0A36A728-E3EC-D4A7-CD54-346E0041CB5F}"/>
              </a:ext>
            </a:extLst>
          </p:cNvPr>
          <p:cNvCxnSpPr>
            <a:cxnSpLocks/>
          </p:cNvCxnSpPr>
          <p:nvPr/>
        </p:nvCxnSpPr>
        <p:spPr>
          <a:xfrm flipH="1" flipV="1">
            <a:off x="6512736" y="2560225"/>
            <a:ext cx="5112000" cy="0"/>
          </a:xfrm>
          <a:prstGeom prst="line">
            <a:avLst/>
          </a:prstGeom>
          <a:noFill/>
          <a:ln w="12700" cap="flat" cmpd="sng" algn="ctr">
            <a:solidFill>
              <a:schemeClr val="bg1">
                <a:lumMod val="85000"/>
              </a:schemeClr>
            </a:solidFill>
            <a:prstDash val="solid"/>
            <a:miter lim="800000"/>
          </a:ln>
          <a:effectLst/>
        </p:spPr>
      </p:cxnSp>
      <p:cxnSp>
        <p:nvCxnSpPr>
          <p:cNvPr id="45" name="Conector recto 44">
            <a:extLst>
              <a:ext uri="{FF2B5EF4-FFF2-40B4-BE49-F238E27FC236}">
                <a16:creationId xmlns:a16="http://schemas.microsoft.com/office/drawing/2014/main" id="{480AF7D7-B209-92D3-F895-8693625F6E10}"/>
              </a:ext>
            </a:extLst>
          </p:cNvPr>
          <p:cNvCxnSpPr>
            <a:cxnSpLocks/>
          </p:cNvCxnSpPr>
          <p:nvPr/>
        </p:nvCxnSpPr>
        <p:spPr>
          <a:xfrm flipH="1" flipV="1">
            <a:off x="6506158" y="3460038"/>
            <a:ext cx="5112000" cy="0"/>
          </a:xfrm>
          <a:prstGeom prst="line">
            <a:avLst/>
          </a:prstGeom>
          <a:noFill/>
          <a:ln w="12700" cap="flat" cmpd="sng" algn="ctr">
            <a:solidFill>
              <a:schemeClr val="bg1">
                <a:lumMod val="85000"/>
              </a:schemeClr>
            </a:solidFill>
            <a:prstDash val="solid"/>
            <a:miter lim="800000"/>
          </a:ln>
          <a:effectLst/>
        </p:spPr>
      </p:cxnSp>
      <p:sp>
        <p:nvSpPr>
          <p:cNvPr id="46" name="CuadroTexto 45">
            <a:extLst>
              <a:ext uri="{FF2B5EF4-FFF2-40B4-BE49-F238E27FC236}">
                <a16:creationId xmlns:a16="http://schemas.microsoft.com/office/drawing/2014/main" id="{DFC0604A-BEC1-4C38-BF44-34E2C78E93EA}"/>
              </a:ext>
            </a:extLst>
          </p:cNvPr>
          <p:cNvSpPr txBox="1"/>
          <p:nvPr/>
        </p:nvSpPr>
        <p:spPr>
          <a:xfrm>
            <a:off x="8004460" y="2659777"/>
            <a:ext cx="3718224" cy="461665"/>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lang="en-US" sz="1200">
                <a:solidFill>
                  <a:prstClr val="black"/>
                </a:solidFill>
                <a:latin typeface="Santander Text" panose="020B0504020201020104" pitchFamily="34" charset="0"/>
              </a:rPr>
              <a:t>Centralized location which provides the means to create, edit and organize digital content.</a:t>
            </a:r>
          </a:p>
        </p:txBody>
      </p:sp>
      <p:sp>
        <p:nvSpPr>
          <p:cNvPr id="47" name="Rectángulo 262">
            <a:extLst>
              <a:ext uri="{FF2B5EF4-FFF2-40B4-BE49-F238E27FC236}">
                <a16:creationId xmlns:a16="http://schemas.microsoft.com/office/drawing/2014/main" id="{E0FC8313-81BC-1B09-714E-1832DF2AC90C}"/>
              </a:ext>
            </a:extLst>
          </p:cNvPr>
          <p:cNvSpPr/>
          <p:nvPr/>
        </p:nvSpPr>
        <p:spPr>
          <a:xfrm>
            <a:off x="6450640" y="1798943"/>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Omnichannel Orchestration</a:t>
            </a:r>
          </a:p>
        </p:txBody>
      </p:sp>
      <p:sp>
        <p:nvSpPr>
          <p:cNvPr id="48" name="Rectángulo 262">
            <a:extLst>
              <a:ext uri="{FF2B5EF4-FFF2-40B4-BE49-F238E27FC236}">
                <a16:creationId xmlns:a16="http://schemas.microsoft.com/office/drawing/2014/main" id="{57844D65-DE33-D14C-2CC9-A067B39EDC39}"/>
              </a:ext>
            </a:extLst>
          </p:cNvPr>
          <p:cNvSpPr/>
          <p:nvPr/>
        </p:nvSpPr>
        <p:spPr>
          <a:xfrm>
            <a:off x="6450640" y="2748448"/>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Digital Asset Management</a:t>
            </a:r>
          </a:p>
        </p:txBody>
      </p:sp>
      <p:sp>
        <p:nvSpPr>
          <p:cNvPr id="49" name="Rectángulo 14">
            <a:extLst>
              <a:ext uri="{FF2B5EF4-FFF2-40B4-BE49-F238E27FC236}">
                <a16:creationId xmlns:a16="http://schemas.microsoft.com/office/drawing/2014/main" id="{A85A08CE-7C35-7165-20EB-2AA4C40C914C}"/>
              </a:ext>
            </a:extLst>
          </p:cNvPr>
          <p:cNvSpPr/>
          <p:nvPr/>
        </p:nvSpPr>
        <p:spPr>
          <a:xfrm>
            <a:off x="6441440" y="3602043"/>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1:1 Personalization</a:t>
            </a:r>
          </a:p>
        </p:txBody>
      </p:sp>
      <p:sp>
        <p:nvSpPr>
          <p:cNvPr id="51" name="CuadroTexto 25">
            <a:extLst>
              <a:ext uri="{FF2B5EF4-FFF2-40B4-BE49-F238E27FC236}">
                <a16:creationId xmlns:a16="http://schemas.microsoft.com/office/drawing/2014/main" id="{536C014B-B7C5-4041-7A10-C8F5AC8D82B3}"/>
              </a:ext>
            </a:extLst>
          </p:cNvPr>
          <p:cNvSpPr txBox="1"/>
          <p:nvPr/>
        </p:nvSpPr>
        <p:spPr>
          <a:xfrm>
            <a:off x="8004460" y="3525818"/>
            <a:ext cx="3630260" cy="830997"/>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lang="en-US" sz="1200">
                <a:solidFill>
                  <a:prstClr val="black"/>
                </a:solidFill>
                <a:latin typeface="Santander Text" panose="020B0504020201020104" pitchFamily="34" charset="0"/>
              </a:rPr>
              <a:t>Set of functionalities to enhance customer engagement. These are the capabilities and resources related to the creation and delivery of actions in digital channels</a:t>
            </a:r>
          </a:p>
        </p:txBody>
      </p:sp>
      <p:cxnSp>
        <p:nvCxnSpPr>
          <p:cNvPr id="52" name="Conector recto 36">
            <a:extLst>
              <a:ext uri="{FF2B5EF4-FFF2-40B4-BE49-F238E27FC236}">
                <a16:creationId xmlns:a16="http://schemas.microsoft.com/office/drawing/2014/main" id="{B7BB1518-29CF-1077-BE65-7F4B9B559DC8}"/>
              </a:ext>
            </a:extLst>
          </p:cNvPr>
          <p:cNvCxnSpPr>
            <a:cxnSpLocks/>
          </p:cNvCxnSpPr>
          <p:nvPr/>
        </p:nvCxnSpPr>
        <p:spPr>
          <a:xfrm flipH="1" flipV="1">
            <a:off x="6506158" y="4337878"/>
            <a:ext cx="5112000" cy="0"/>
          </a:xfrm>
          <a:prstGeom prst="line">
            <a:avLst/>
          </a:prstGeom>
          <a:noFill/>
          <a:ln w="12700" cap="flat" cmpd="sng" algn="ctr">
            <a:solidFill>
              <a:schemeClr val="bg1">
                <a:lumMod val="85000"/>
              </a:schemeClr>
            </a:solidFill>
            <a:prstDash val="solid"/>
            <a:miter lim="800000"/>
          </a:ln>
          <a:effectLst/>
        </p:spPr>
      </p:cxnSp>
      <p:sp>
        <p:nvSpPr>
          <p:cNvPr id="53" name="Rectángulo 14">
            <a:extLst>
              <a:ext uri="{FF2B5EF4-FFF2-40B4-BE49-F238E27FC236}">
                <a16:creationId xmlns:a16="http://schemas.microsoft.com/office/drawing/2014/main" id="{EF03E125-A689-DE3B-6211-8CF63404F9B8}"/>
              </a:ext>
            </a:extLst>
          </p:cNvPr>
          <p:cNvSpPr/>
          <p:nvPr/>
        </p:nvSpPr>
        <p:spPr>
          <a:xfrm>
            <a:off x="6441440" y="4479883"/>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Interactions Analytics</a:t>
            </a:r>
          </a:p>
        </p:txBody>
      </p:sp>
      <p:sp>
        <p:nvSpPr>
          <p:cNvPr id="54" name="CuadroTexto 25">
            <a:extLst>
              <a:ext uri="{FF2B5EF4-FFF2-40B4-BE49-F238E27FC236}">
                <a16:creationId xmlns:a16="http://schemas.microsoft.com/office/drawing/2014/main" id="{88B65C8A-3DCB-E216-2F98-1D300264E1F3}"/>
              </a:ext>
            </a:extLst>
          </p:cNvPr>
          <p:cNvSpPr txBox="1"/>
          <p:nvPr/>
        </p:nvSpPr>
        <p:spPr>
          <a:xfrm>
            <a:off x="8004460" y="4403658"/>
            <a:ext cx="3630260" cy="1200329"/>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lang="en-US" sz="1200">
                <a:solidFill>
                  <a:prstClr val="black"/>
                </a:solidFill>
                <a:latin typeface="Santander Text" panose="020B0504020201020104" pitchFamily="34" charset="0"/>
              </a:rPr>
              <a:t>Gather, organize data and analyze it to produce reports and predictions. It collects information about which rules and propositions have been used during segmentations and their results, allowing to create reports and predict future volumes by channel</a:t>
            </a:r>
            <a:endPar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endParaRPr>
          </a:p>
        </p:txBody>
      </p:sp>
    </p:spTree>
    <p:extLst>
      <p:ext uri="{BB962C8B-B14F-4D97-AF65-F5344CB8AC3E}">
        <p14:creationId xmlns:p14="http://schemas.microsoft.com/office/powerpoint/2010/main" val="1542890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2">
            <a:extLst>
              <a:ext uri="{FF2B5EF4-FFF2-40B4-BE49-F238E27FC236}">
                <a16:creationId xmlns:a16="http://schemas.microsoft.com/office/drawing/2014/main" id="{C5F67029-F219-FC96-7D6C-5F6C446E76B2}"/>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21" name="CuadroTexto 20">
            <a:extLst>
              <a:ext uri="{FF2B5EF4-FFF2-40B4-BE49-F238E27FC236}">
                <a16:creationId xmlns:a16="http://schemas.microsoft.com/office/drawing/2014/main" id="{521604CC-F7C4-A23D-26ED-6006C261FAEE}"/>
              </a:ext>
            </a:extLst>
          </p:cNvPr>
          <p:cNvSpPr txBox="1"/>
          <p:nvPr/>
        </p:nvSpPr>
        <p:spPr>
          <a:xfrm>
            <a:off x="639728" y="1372726"/>
            <a:ext cx="5203713" cy="1023357"/>
          </a:xfrm>
          <a:prstGeom prst="rect">
            <a:avLst/>
          </a:prstGeom>
          <a:noFill/>
        </p:spPr>
        <p:txBody>
          <a:bodyPr wrap="square" rtlCol="0">
            <a:spAutoFit/>
          </a:bodyPr>
          <a:lstStyle/>
          <a:p>
            <a:pPr marL="355600" marR="0" lvl="0" indent="-355600" fontAlgn="auto">
              <a:lnSpc>
                <a:spcPct val="100000"/>
              </a:lnSpc>
              <a:spcBef>
                <a:spcPts val="0"/>
              </a:spcBef>
              <a:spcAft>
                <a:spcPts val="300"/>
              </a:spcAft>
              <a:buClrTx/>
              <a:buSzTx/>
              <a:buFontTx/>
              <a:buNone/>
              <a:tabLst/>
              <a:defRPr/>
            </a:pPr>
            <a:r>
              <a:rPr lang="en-AU" sz="1600" b="1" kern="0">
                <a:solidFill>
                  <a:srgbClr val="DEEDF1">
                    <a:lumMod val="25000"/>
                  </a:srgbClr>
                </a:solidFill>
                <a:latin typeface="Santander Text" panose="020B0504020201020104" pitchFamily="34" charset="0"/>
              </a:rPr>
              <a:t>1 – Gravity Zero - </a:t>
            </a:r>
            <a:r>
              <a:rPr lang="en-AU" sz="1600" b="1" kern="0" err="1">
                <a:solidFill>
                  <a:srgbClr val="DEEDF1">
                    <a:lumMod val="25000"/>
                  </a:srgbClr>
                </a:solidFill>
                <a:latin typeface="Santander Text" panose="020B0504020201020104" pitchFamily="34" charset="0"/>
              </a:rPr>
              <a:t>Replataforming</a:t>
            </a:r>
            <a:endParaRPr lang="en-AU" sz="1600" b="1" kern="0">
              <a:solidFill>
                <a:srgbClr val="DEEDF1">
                  <a:lumMod val="25000"/>
                </a:srgbClr>
              </a:solidFill>
              <a:latin typeface="Santander Text" panose="020B0504020201020104" pitchFamily="34" charset="0"/>
            </a:endParaRPr>
          </a:p>
          <a:p>
            <a:pPr marR="0" lvl="0" indent="-355600" fontAlgn="auto">
              <a:lnSpc>
                <a:spcPct val="100000"/>
              </a:lnSpc>
              <a:spcBef>
                <a:spcPts val="0"/>
              </a:spcBef>
              <a:spcAft>
                <a:spcPts val="300"/>
              </a:spcAft>
              <a:buClrTx/>
              <a:buSzTx/>
              <a:buFontTx/>
              <a:buNone/>
              <a:tabLst/>
              <a:defRPr/>
            </a:pPr>
            <a:r>
              <a:rPr lang="en-US" sz="1400" i="1" kern="0" err="1">
                <a:solidFill>
                  <a:srgbClr val="DEEDF1">
                    <a:lumMod val="25000"/>
                  </a:srgbClr>
                </a:solidFill>
                <a:latin typeface="Santander Text" panose="020B0504020201020104" pitchFamily="34" charset="0"/>
              </a:rPr>
              <a:t>Replatform</a:t>
            </a:r>
            <a:r>
              <a:rPr lang="en-US" sz="1400" i="1" kern="0">
                <a:solidFill>
                  <a:srgbClr val="DEEDF1">
                    <a:lumMod val="25000"/>
                  </a:srgbClr>
                </a:solidFill>
                <a:latin typeface="Santander Text" panose="020B0504020201020104" pitchFamily="34" charset="0"/>
              </a:rPr>
              <a:t> all current core banking architectures running on legacy mainframes (PARTENON and ALTAIR) to a new cloud-based platform</a:t>
            </a:r>
          </a:p>
        </p:txBody>
      </p:sp>
      <p:cxnSp>
        <p:nvCxnSpPr>
          <p:cNvPr id="22" name="Conector recto 21">
            <a:extLst>
              <a:ext uri="{FF2B5EF4-FFF2-40B4-BE49-F238E27FC236}">
                <a16:creationId xmlns:a16="http://schemas.microsoft.com/office/drawing/2014/main" id="{95D3203A-A6F6-8622-675E-1B6CCD9AB872}"/>
              </a:ext>
            </a:extLst>
          </p:cNvPr>
          <p:cNvCxnSpPr>
            <a:cxnSpLocks/>
          </p:cNvCxnSpPr>
          <p:nvPr/>
        </p:nvCxnSpPr>
        <p:spPr>
          <a:xfrm flipH="1" flipV="1">
            <a:off x="665954" y="2360470"/>
            <a:ext cx="5112000" cy="0"/>
          </a:xfrm>
          <a:prstGeom prst="line">
            <a:avLst/>
          </a:prstGeom>
          <a:noFill/>
          <a:ln w="12700" cap="flat" cmpd="sng" algn="ctr">
            <a:solidFill>
              <a:srgbClr val="595959"/>
            </a:solidFill>
            <a:prstDash val="solid"/>
            <a:miter lim="800000"/>
          </a:ln>
          <a:effectLst/>
        </p:spPr>
      </p:cxnSp>
      <p:sp>
        <p:nvSpPr>
          <p:cNvPr id="4" name="CuadroTexto 3">
            <a:extLst>
              <a:ext uri="{FF2B5EF4-FFF2-40B4-BE49-F238E27FC236}">
                <a16:creationId xmlns:a16="http://schemas.microsoft.com/office/drawing/2014/main" id="{C8499EAC-4545-6B67-5BFE-334EE5237205}"/>
              </a:ext>
            </a:extLst>
          </p:cNvPr>
          <p:cNvSpPr txBox="1"/>
          <p:nvPr/>
        </p:nvSpPr>
        <p:spPr>
          <a:xfrm>
            <a:off x="2300094" y="2421215"/>
            <a:ext cx="3477860" cy="909402"/>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180000" marR="0" lvl="1" fontAlgn="auto">
              <a:lnSpc>
                <a:spcPct val="100000"/>
              </a:lnSpc>
              <a:spcBef>
                <a:spcPts val="0"/>
              </a:spcBef>
              <a:spcAft>
                <a:spcPts val="0"/>
              </a:spcAft>
              <a:buClr>
                <a:srgbClr val="FF0000"/>
              </a:buClr>
              <a:buSzTx/>
              <a:buFont typeface="Wingdings" panose="05000000000000000000" pitchFamily="2" charset="2"/>
              <a:buChar char="§"/>
              <a:tabLst/>
              <a:defRPr/>
            </a:pPr>
            <a:r>
              <a:rPr lang="en-US">
                <a:solidFill>
                  <a:srgbClr val="2A444A"/>
                </a:solidFill>
              </a:rPr>
              <a:t>One global platform model with local implementation</a:t>
            </a:r>
          </a:p>
          <a:p>
            <a:pPr marL="180000" marR="0" lvl="1" fontAlgn="auto">
              <a:lnSpc>
                <a:spcPct val="100000"/>
              </a:lnSpc>
              <a:spcBef>
                <a:spcPts val="0"/>
              </a:spcBef>
              <a:spcAft>
                <a:spcPts val="0"/>
              </a:spcAft>
              <a:buClr>
                <a:srgbClr val="FF0000"/>
              </a:buClr>
              <a:buSzTx/>
              <a:buFont typeface="Wingdings" panose="05000000000000000000" pitchFamily="2" charset="2"/>
              <a:buChar char="§"/>
              <a:tabLst/>
              <a:defRPr/>
            </a:pPr>
            <a:r>
              <a:rPr lang="en-US">
                <a:solidFill>
                  <a:srgbClr val="2A444A"/>
                </a:solidFill>
              </a:rPr>
              <a:t>Cloud-based backend platform that sunsets legacy mainframes exposing data to the front previously hidden by layers of proprietary logic, breaking vendor lock-in</a:t>
            </a:r>
          </a:p>
          <a:p>
            <a:pPr marL="180000" marR="0" lvl="1" fontAlgn="auto">
              <a:lnSpc>
                <a:spcPct val="100000"/>
              </a:lnSpc>
              <a:spcBef>
                <a:spcPts val="0"/>
              </a:spcBef>
              <a:spcAft>
                <a:spcPts val="0"/>
              </a:spcAft>
              <a:buClr>
                <a:srgbClr val="FF0000"/>
              </a:buClr>
              <a:buSzTx/>
              <a:buFont typeface="Wingdings" panose="05000000000000000000" pitchFamily="2" charset="2"/>
              <a:buChar char="§"/>
              <a:tabLst/>
              <a:defRPr/>
            </a:pPr>
            <a:r>
              <a:rPr lang="en-US">
                <a:solidFill>
                  <a:srgbClr val="2A444A"/>
                </a:solidFill>
              </a:rPr>
              <a:t>Key features: </a:t>
            </a:r>
          </a:p>
          <a:p>
            <a:pPr marL="539750" lvl="1" indent="-179388">
              <a:buClr>
                <a:srgbClr val="EC0000"/>
              </a:buClr>
              <a:buFont typeface="Arial" panose="020B0604020202020204" pitchFamily="34" charset="0"/>
              <a:buChar char="•"/>
              <a:defRPr/>
            </a:pPr>
            <a:r>
              <a:rPr lang="en-US" kern="0">
                <a:solidFill>
                  <a:prstClr val="black"/>
                </a:solidFill>
                <a:latin typeface="Santander Text"/>
              </a:rPr>
              <a:t>HW performance Optimization for x86 platforms meeting the highest standards</a:t>
            </a:r>
          </a:p>
          <a:p>
            <a:pPr marL="539750" lvl="1" indent="-179388">
              <a:buClr>
                <a:srgbClr val="EC0000"/>
              </a:buClr>
              <a:buFont typeface="Arial" panose="020B0604020202020204" pitchFamily="34" charset="0"/>
              <a:buChar char="•"/>
              <a:defRPr/>
            </a:pPr>
            <a:r>
              <a:rPr lang="en-US" kern="0">
                <a:solidFill>
                  <a:prstClr val="black"/>
                </a:solidFill>
                <a:latin typeface="Santander Text"/>
              </a:rPr>
              <a:t>Automated code conversion tools have reached as high as 99% performance with high quality</a:t>
            </a:r>
          </a:p>
          <a:p>
            <a:pPr marL="539750" lvl="1" indent="-179388">
              <a:buClr>
                <a:srgbClr val="EC0000"/>
              </a:buClr>
              <a:buFont typeface="Arial" panose="020B0604020202020204" pitchFamily="34" charset="0"/>
              <a:buChar char="•"/>
              <a:defRPr/>
            </a:pPr>
            <a:r>
              <a:rPr lang="en-US" kern="0">
                <a:solidFill>
                  <a:prstClr val="black"/>
                </a:solidFill>
                <a:latin typeface="Santander Text"/>
              </a:rPr>
              <a:t>Avoid massive amounts of regression testing with the dual-run strategy encompassed with solid rollback optionality</a:t>
            </a:r>
          </a:p>
        </p:txBody>
      </p:sp>
      <p:sp>
        <p:nvSpPr>
          <p:cNvPr id="5" name="Rectángulo 4">
            <a:extLst>
              <a:ext uri="{FF2B5EF4-FFF2-40B4-BE49-F238E27FC236}">
                <a16:creationId xmlns:a16="http://schemas.microsoft.com/office/drawing/2014/main" id="{74C6D4F5-4EC2-270C-3DA8-CF4E9A022CCB}"/>
              </a:ext>
            </a:extLst>
          </p:cNvPr>
          <p:cNvSpPr/>
          <p:nvPr/>
        </p:nvSpPr>
        <p:spPr>
          <a:xfrm>
            <a:off x="710354" y="2497656"/>
            <a:ext cx="1440000" cy="576000"/>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spcAft>
                <a:spcPts val="600"/>
              </a:spcAft>
            </a:pPr>
            <a:r>
              <a:rPr lang="en-AU" sz="1400" kern="0">
                <a:solidFill>
                  <a:srgbClr val="DEEDF1">
                    <a:lumMod val="25000"/>
                  </a:srgbClr>
                </a:solidFill>
              </a:rPr>
              <a:t>Gravity Zero -   Core Banking Platform   </a:t>
            </a:r>
          </a:p>
        </p:txBody>
      </p:sp>
      <p:sp>
        <p:nvSpPr>
          <p:cNvPr id="12" name="Título 1">
            <a:extLst>
              <a:ext uri="{FF2B5EF4-FFF2-40B4-BE49-F238E27FC236}">
                <a16:creationId xmlns:a16="http://schemas.microsoft.com/office/drawing/2014/main" id="{411C5DC4-E2E6-B317-09BB-6A45CC1898AA}"/>
              </a:ext>
            </a:extLst>
          </p:cNvPr>
          <p:cNvSpPr txBox="1">
            <a:spLocks/>
          </p:cNvSpPr>
          <p:nvPr/>
        </p:nvSpPr>
        <p:spPr>
          <a:xfrm>
            <a:off x="509145" y="692861"/>
            <a:ext cx="5026024" cy="46863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lang="en-US" sz="2800" b="1" kern="1200" dirty="0">
                <a:solidFill>
                  <a:schemeClr val="accent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s-ES" sz="2800" b="1" i="0" u="none" strike="noStrike" kern="1200" cap="none" spc="0" normalizeH="0" baseline="0" noProof="0" err="1">
                <a:ln>
                  <a:noFill/>
                </a:ln>
                <a:solidFill>
                  <a:srgbClr val="EC0000"/>
                </a:solidFill>
                <a:effectLst/>
                <a:uLnTx/>
                <a:uFillTx/>
                <a:latin typeface="Santander Headline"/>
                <a:ea typeface="+mj-ea"/>
                <a:cs typeface="+mj-cs"/>
              </a:rPr>
              <a:t>Retail</a:t>
            </a:r>
            <a:r>
              <a:rPr kumimoji="0" lang="es-ES" sz="2800" b="1" i="0" u="none" strike="noStrike" kern="1200" cap="none" spc="0" normalizeH="0" baseline="0" noProof="0">
                <a:ln>
                  <a:noFill/>
                </a:ln>
                <a:solidFill>
                  <a:srgbClr val="EC0000"/>
                </a:solidFill>
                <a:effectLst/>
                <a:uLnTx/>
                <a:uFillTx/>
                <a:latin typeface="Santander Headline"/>
                <a:ea typeface="+mj-ea"/>
                <a:cs typeface="+mj-cs"/>
              </a:rPr>
              <a:t> &amp; </a:t>
            </a:r>
            <a:r>
              <a:rPr kumimoji="0" lang="es-ES" sz="2800" b="1" i="0" u="none" strike="noStrike" kern="1200" cap="none" spc="0" normalizeH="0" baseline="0" noProof="0" err="1">
                <a:ln>
                  <a:noFill/>
                </a:ln>
                <a:solidFill>
                  <a:srgbClr val="EC0000"/>
                </a:solidFill>
                <a:effectLst/>
                <a:uLnTx/>
                <a:uFillTx/>
                <a:latin typeface="Santander Headline"/>
                <a:ea typeface="+mj-ea"/>
                <a:cs typeface="+mj-cs"/>
              </a:rPr>
              <a:t>Commercial</a:t>
            </a:r>
            <a:r>
              <a:rPr lang="es-ES">
                <a:solidFill>
                  <a:srgbClr val="EC0000"/>
                </a:solidFill>
                <a:latin typeface="Santander Headline"/>
              </a:rPr>
              <a:t>.</a:t>
            </a:r>
            <a:r>
              <a:rPr kumimoji="0" lang="es-ES" sz="2800" b="1" i="0" u="none" strike="noStrike" kern="1200" cap="none" spc="0" normalizeH="0" baseline="0" noProof="0">
                <a:ln>
                  <a:noFill/>
                </a:ln>
                <a:solidFill>
                  <a:srgbClr val="EC0000"/>
                </a:solidFill>
                <a:effectLst/>
                <a:uLnTx/>
                <a:uFillTx/>
                <a:latin typeface="Santander Headline"/>
                <a:ea typeface="+mj-ea"/>
                <a:cs typeface="+mj-cs"/>
              </a:rPr>
              <a:t> </a:t>
            </a:r>
            <a:r>
              <a:rPr kumimoji="0" lang="en-AU" sz="2800" b="1" i="0" u="none" strike="noStrike" kern="1200" cap="none" spc="0" normalizeH="0" baseline="0" noProof="0">
                <a:ln>
                  <a:noFill/>
                </a:ln>
                <a:solidFill>
                  <a:srgbClr val="BFBFBF"/>
                </a:solidFill>
                <a:effectLst/>
                <a:uLnTx/>
                <a:uFillTx/>
                <a:latin typeface="Santander Headline"/>
                <a:ea typeface="+mj-ea"/>
                <a:cs typeface="+mj-cs"/>
              </a:rPr>
              <a:t>Gravity+</a:t>
            </a:r>
            <a:endParaRPr kumimoji="0" lang="es-ES" sz="2800" b="1" i="0" u="none" strike="noStrike" kern="1200" cap="none" spc="0" normalizeH="0" baseline="0" noProof="0">
              <a:ln>
                <a:noFill/>
              </a:ln>
              <a:solidFill>
                <a:srgbClr val="EB0000"/>
              </a:solidFill>
              <a:effectLst/>
              <a:uLnTx/>
              <a:uFillTx/>
              <a:latin typeface="Santander Headline"/>
              <a:ea typeface="+mj-ea"/>
              <a:cs typeface="+mj-cs"/>
            </a:endParaRPr>
          </a:p>
        </p:txBody>
      </p:sp>
      <p:sp>
        <p:nvSpPr>
          <p:cNvPr id="42" name="CuadroTexto 41">
            <a:extLst>
              <a:ext uri="{FF2B5EF4-FFF2-40B4-BE49-F238E27FC236}">
                <a16:creationId xmlns:a16="http://schemas.microsoft.com/office/drawing/2014/main" id="{B0ADBF37-873B-8543-9228-9731191D047E}"/>
              </a:ext>
            </a:extLst>
          </p:cNvPr>
          <p:cNvSpPr txBox="1"/>
          <p:nvPr/>
        </p:nvSpPr>
        <p:spPr>
          <a:xfrm>
            <a:off x="6547648" y="584730"/>
            <a:ext cx="5203713" cy="1023357"/>
          </a:xfrm>
          <a:prstGeom prst="rect">
            <a:avLst/>
          </a:prstGeom>
          <a:noFill/>
        </p:spPr>
        <p:txBody>
          <a:bodyPr wrap="square" rtlCol="0">
            <a:spAutoFit/>
          </a:bodyPr>
          <a:lstStyle/>
          <a:p>
            <a:pPr marL="355600" marR="0" lvl="0" indent="-355600" fontAlgn="auto">
              <a:lnSpc>
                <a:spcPct val="100000"/>
              </a:lnSpc>
              <a:spcBef>
                <a:spcPts val="0"/>
              </a:spcBef>
              <a:spcAft>
                <a:spcPts val="300"/>
              </a:spcAft>
              <a:buClrTx/>
              <a:buSzTx/>
              <a:buFontTx/>
              <a:buNone/>
              <a:tabLst/>
              <a:defRPr/>
            </a:pPr>
            <a:r>
              <a:rPr lang="en-AU" sz="1600" b="1" kern="0">
                <a:solidFill>
                  <a:srgbClr val="DEEDF1">
                    <a:lumMod val="25000"/>
                  </a:srgbClr>
                </a:solidFill>
                <a:latin typeface="Santander Text" panose="020B0504020201020104" pitchFamily="34" charset="0"/>
              </a:rPr>
              <a:t>2 – Lean Core - </a:t>
            </a:r>
            <a:r>
              <a:rPr lang="en-AU" sz="1600" b="1" kern="0" err="1">
                <a:solidFill>
                  <a:srgbClr val="DEEDF1">
                    <a:lumMod val="25000"/>
                  </a:srgbClr>
                </a:solidFill>
                <a:latin typeface="Santander Text" panose="020B0504020201020104" pitchFamily="34" charset="0"/>
              </a:rPr>
              <a:t>Reingeniering</a:t>
            </a:r>
            <a:endParaRPr lang="en-AU" sz="1600" b="1" kern="0">
              <a:solidFill>
                <a:srgbClr val="DEEDF1">
                  <a:lumMod val="25000"/>
                </a:srgbClr>
              </a:solidFill>
              <a:latin typeface="Santander Text" panose="020B0504020201020104" pitchFamily="34" charset="0"/>
            </a:endParaRPr>
          </a:p>
          <a:p>
            <a:pPr marR="0" lvl="0" indent="-355600" fontAlgn="auto">
              <a:lnSpc>
                <a:spcPct val="100000"/>
              </a:lnSpc>
              <a:spcBef>
                <a:spcPts val="0"/>
              </a:spcBef>
              <a:spcAft>
                <a:spcPts val="300"/>
              </a:spcAft>
              <a:buClrTx/>
              <a:buSzTx/>
              <a:buFontTx/>
              <a:buNone/>
              <a:tabLst/>
              <a:defRPr/>
            </a:pPr>
            <a:r>
              <a:rPr lang="en-US" sz="1400" i="1" kern="0">
                <a:solidFill>
                  <a:srgbClr val="DEEDF1">
                    <a:lumMod val="25000"/>
                  </a:srgbClr>
                </a:solidFill>
                <a:latin typeface="Santander Text" panose="020B0504020201020104" pitchFamily="34" charset="0"/>
              </a:rPr>
              <a:t>‘Evolve and Erode’ approach where key core functional capabilities are redesigned to their leanest form and re-engineered as replacement to legacy solutions. </a:t>
            </a:r>
          </a:p>
        </p:txBody>
      </p:sp>
      <p:cxnSp>
        <p:nvCxnSpPr>
          <p:cNvPr id="43" name="Conector recto 42">
            <a:extLst>
              <a:ext uri="{FF2B5EF4-FFF2-40B4-BE49-F238E27FC236}">
                <a16:creationId xmlns:a16="http://schemas.microsoft.com/office/drawing/2014/main" id="{C7270E0A-6FCB-BDC8-2D31-62BCF8DA12E0}"/>
              </a:ext>
            </a:extLst>
          </p:cNvPr>
          <p:cNvCxnSpPr>
            <a:cxnSpLocks/>
          </p:cNvCxnSpPr>
          <p:nvPr/>
        </p:nvCxnSpPr>
        <p:spPr>
          <a:xfrm flipH="1" flipV="1">
            <a:off x="6579966" y="1608087"/>
            <a:ext cx="5112000" cy="0"/>
          </a:xfrm>
          <a:prstGeom prst="line">
            <a:avLst/>
          </a:prstGeom>
          <a:noFill/>
          <a:ln w="12700" cap="flat" cmpd="sng" algn="ctr">
            <a:solidFill>
              <a:srgbClr val="595959"/>
            </a:solidFill>
            <a:prstDash val="solid"/>
            <a:miter lim="800000"/>
          </a:ln>
          <a:effectLst/>
        </p:spPr>
      </p:cxnSp>
      <p:sp>
        <p:nvSpPr>
          <p:cNvPr id="44" name="Rectángulo 43">
            <a:extLst>
              <a:ext uri="{FF2B5EF4-FFF2-40B4-BE49-F238E27FC236}">
                <a16:creationId xmlns:a16="http://schemas.microsoft.com/office/drawing/2014/main" id="{481D8AF2-FC68-0557-5765-8253E6D00853}"/>
              </a:ext>
            </a:extLst>
          </p:cNvPr>
          <p:cNvSpPr/>
          <p:nvPr/>
        </p:nvSpPr>
        <p:spPr>
          <a:xfrm>
            <a:off x="6504570" y="3122723"/>
            <a:ext cx="1440000" cy="848973"/>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marR="0" lvl="0" indent="0" algn="ctr" fontAlgn="auto">
              <a:lnSpc>
                <a:spcPct val="100000"/>
              </a:lnSpc>
              <a:spcBef>
                <a:spcPts val="0"/>
              </a:spcBef>
              <a:spcAft>
                <a:spcPts val="600"/>
              </a:spcAft>
              <a:buClrTx/>
              <a:buSzTx/>
              <a:buFontTx/>
              <a:buNone/>
              <a:tabLst/>
              <a:defRPr/>
            </a:pPr>
            <a:r>
              <a:rPr lang="en-AU" sz="1400" kern="0">
                <a:solidFill>
                  <a:srgbClr val="DEEDF1">
                    <a:lumMod val="25000"/>
                  </a:srgbClr>
                </a:solidFill>
              </a:rPr>
              <a:t>Accounting Interface</a:t>
            </a:r>
          </a:p>
        </p:txBody>
      </p:sp>
      <p:sp>
        <p:nvSpPr>
          <p:cNvPr id="47" name="CuadroTexto 46">
            <a:extLst>
              <a:ext uri="{FF2B5EF4-FFF2-40B4-BE49-F238E27FC236}">
                <a16:creationId xmlns:a16="http://schemas.microsoft.com/office/drawing/2014/main" id="{F6F0E0CD-1A12-EFEE-99A3-9F48D23BC39A}"/>
              </a:ext>
            </a:extLst>
          </p:cNvPr>
          <p:cNvSpPr txBox="1"/>
          <p:nvPr/>
        </p:nvSpPr>
        <p:spPr>
          <a:xfrm>
            <a:off x="8033504" y="3083986"/>
            <a:ext cx="3901340" cy="715543"/>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180000" lvl="1">
              <a:spcBef>
                <a:spcPts val="0"/>
              </a:spcBef>
              <a:buClr>
                <a:srgbClr val="FF0000"/>
              </a:buClr>
              <a:buFont typeface="Wingdings" panose="05000000000000000000" pitchFamily="2" charset="2"/>
              <a:buChar char="§"/>
              <a:defRPr/>
            </a:pPr>
            <a:r>
              <a:rPr lang="en-US">
                <a:solidFill>
                  <a:srgbClr val="2A444A"/>
                </a:solidFill>
              </a:rPr>
              <a:t>It is responsible for transforming all operational data related to contracts and services into accounting entries, ensuring their accuracy and integrity. These entries are then seamlessly delivered to the local accounting system.</a:t>
            </a:r>
          </a:p>
        </p:txBody>
      </p:sp>
      <p:cxnSp>
        <p:nvCxnSpPr>
          <p:cNvPr id="50" name="Conector recto 49">
            <a:extLst>
              <a:ext uri="{FF2B5EF4-FFF2-40B4-BE49-F238E27FC236}">
                <a16:creationId xmlns:a16="http://schemas.microsoft.com/office/drawing/2014/main" id="{8BD9044D-93B7-C950-17EB-AF54B6E04725}"/>
              </a:ext>
            </a:extLst>
          </p:cNvPr>
          <p:cNvCxnSpPr>
            <a:cxnSpLocks/>
          </p:cNvCxnSpPr>
          <p:nvPr/>
        </p:nvCxnSpPr>
        <p:spPr>
          <a:xfrm flipH="1" flipV="1">
            <a:off x="6546174" y="4133100"/>
            <a:ext cx="5112000" cy="0"/>
          </a:xfrm>
          <a:prstGeom prst="line">
            <a:avLst/>
          </a:prstGeom>
          <a:noFill/>
          <a:ln w="12700" cap="flat" cmpd="sng" algn="ctr">
            <a:solidFill>
              <a:schemeClr val="bg1">
                <a:lumMod val="85000"/>
              </a:schemeClr>
            </a:solidFill>
            <a:prstDash val="solid"/>
            <a:miter lim="800000"/>
          </a:ln>
          <a:effectLst/>
        </p:spPr>
      </p:cxnSp>
      <p:cxnSp>
        <p:nvCxnSpPr>
          <p:cNvPr id="51" name="Conector recto 50">
            <a:extLst>
              <a:ext uri="{FF2B5EF4-FFF2-40B4-BE49-F238E27FC236}">
                <a16:creationId xmlns:a16="http://schemas.microsoft.com/office/drawing/2014/main" id="{1BD78E2B-676D-E034-13B5-2E166106AA1D}"/>
              </a:ext>
            </a:extLst>
          </p:cNvPr>
          <p:cNvCxnSpPr>
            <a:cxnSpLocks/>
          </p:cNvCxnSpPr>
          <p:nvPr/>
        </p:nvCxnSpPr>
        <p:spPr>
          <a:xfrm flipH="1" flipV="1">
            <a:off x="6498844" y="5704934"/>
            <a:ext cx="5112000" cy="0"/>
          </a:xfrm>
          <a:prstGeom prst="line">
            <a:avLst/>
          </a:prstGeom>
          <a:noFill/>
          <a:ln w="12700" cap="flat" cmpd="sng" algn="ctr">
            <a:solidFill>
              <a:schemeClr val="bg1">
                <a:lumMod val="85000"/>
              </a:schemeClr>
            </a:solidFill>
            <a:prstDash val="solid"/>
            <a:miter lim="800000"/>
          </a:ln>
          <a:effectLst/>
        </p:spPr>
      </p:cxnSp>
      <p:cxnSp>
        <p:nvCxnSpPr>
          <p:cNvPr id="58" name="Conector recto 28">
            <a:extLst>
              <a:ext uri="{FF2B5EF4-FFF2-40B4-BE49-F238E27FC236}">
                <a16:creationId xmlns:a16="http://schemas.microsoft.com/office/drawing/2014/main" id="{5FC6C225-F220-84E9-4623-4C56F2316C82}"/>
              </a:ext>
            </a:extLst>
          </p:cNvPr>
          <p:cNvCxnSpPr>
            <a:cxnSpLocks/>
          </p:cNvCxnSpPr>
          <p:nvPr/>
        </p:nvCxnSpPr>
        <p:spPr>
          <a:xfrm flipH="1" flipV="1">
            <a:off x="6518963" y="6696621"/>
            <a:ext cx="5112000" cy="0"/>
          </a:xfrm>
          <a:prstGeom prst="line">
            <a:avLst/>
          </a:prstGeom>
          <a:noFill/>
          <a:ln w="12700" cap="flat" cmpd="sng" algn="ctr">
            <a:solidFill>
              <a:schemeClr val="bg1">
                <a:lumMod val="85000"/>
              </a:schemeClr>
            </a:solidFill>
            <a:prstDash val="solid"/>
            <a:miter lim="800000"/>
          </a:ln>
          <a:effectLst/>
        </p:spPr>
      </p:cxnSp>
      <p:sp>
        <p:nvSpPr>
          <p:cNvPr id="61" name="Rectángulo 14">
            <a:extLst>
              <a:ext uri="{FF2B5EF4-FFF2-40B4-BE49-F238E27FC236}">
                <a16:creationId xmlns:a16="http://schemas.microsoft.com/office/drawing/2014/main" id="{F0766245-E540-1FFC-8E4C-D3A1A0743A3A}"/>
              </a:ext>
            </a:extLst>
          </p:cNvPr>
          <p:cNvSpPr/>
          <p:nvPr/>
        </p:nvSpPr>
        <p:spPr>
          <a:xfrm>
            <a:off x="6504570" y="1716346"/>
            <a:ext cx="1440000" cy="745060"/>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marR="0" lvl="0" indent="0" algn="ctr" fontAlgn="auto">
              <a:lnSpc>
                <a:spcPct val="100000"/>
              </a:lnSpc>
              <a:spcBef>
                <a:spcPts val="0"/>
              </a:spcBef>
              <a:spcAft>
                <a:spcPts val="600"/>
              </a:spcAft>
              <a:buClrTx/>
              <a:buSzTx/>
              <a:buFontTx/>
              <a:buNone/>
              <a:tabLst/>
              <a:defRPr/>
            </a:pPr>
            <a:r>
              <a:rPr lang="en-AU" sz="1400" kern="0">
                <a:solidFill>
                  <a:srgbClr val="DEEDF1">
                    <a:lumMod val="25000"/>
                  </a:srgbClr>
                </a:solidFill>
              </a:rPr>
              <a:t>Journal Operational Control</a:t>
            </a:r>
          </a:p>
        </p:txBody>
      </p:sp>
      <p:sp>
        <p:nvSpPr>
          <p:cNvPr id="62" name="CuadroTexto 24">
            <a:extLst>
              <a:ext uri="{FF2B5EF4-FFF2-40B4-BE49-F238E27FC236}">
                <a16:creationId xmlns:a16="http://schemas.microsoft.com/office/drawing/2014/main" id="{22C9F3F0-B9E3-AA14-FF13-E8D6B9976AAD}"/>
              </a:ext>
            </a:extLst>
          </p:cNvPr>
          <p:cNvSpPr txBox="1"/>
          <p:nvPr/>
        </p:nvSpPr>
        <p:spPr>
          <a:xfrm>
            <a:off x="7884124" y="1663513"/>
            <a:ext cx="4200100" cy="540000"/>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180000" lvl="1" algn="just">
              <a:spcBef>
                <a:spcPts val="0"/>
              </a:spcBef>
              <a:buClr>
                <a:srgbClr val="FF0000"/>
              </a:buClr>
              <a:buFont typeface="Wingdings" panose="05000000000000000000" pitchFamily="2" charset="2"/>
              <a:buChar char="§"/>
              <a:defRPr/>
            </a:pPr>
            <a:r>
              <a:rPr lang="en-US">
                <a:solidFill>
                  <a:srgbClr val="2A444A"/>
                </a:solidFill>
              </a:rPr>
              <a:t>Operational Journal is the system within the banking platform responsible for gathering all operational information about contracts/services along with their monetary transactions. It transforms them into operational movements and verifies their integrity, subsequently delivering them to the local accounting platform. </a:t>
            </a:r>
          </a:p>
        </p:txBody>
      </p:sp>
      <p:sp>
        <p:nvSpPr>
          <p:cNvPr id="66" name="Rectángulo 65">
            <a:extLst>
              <a:ext uri="{FF2B5EF4-FFF2-40B4-BE49-F238E27FC236}">
                <a16:creationId xmlns:a16="http://schemas.microsoft.com/office/drawing/2014/main" id="{1A41E38F-9499-3F70-969E-3B8777ED4A0A}"/>
              </a:ext>
            </a:extLst>
          </p:cNvPr>
          <p:cNvSpPr/>
          <p:nvPr/>
        </p:nvSpPr>
        <p:spPr>
          <a:xfrm>
            <a:off x="6504570" y="4229589"/>
            <a:ext cx="1440000" cy="540000"/>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marR="0" lvl="0" indent="0" algn="ctr" fontAlgn="auto">
              <a:lnSpc>
                <a:spcPct val="100000"/>
              </a:lnSpc>
              <a:spcBef>
                <a:spcPts val="0"/>
              </a:spcBef>
              <a:spcAft>
                <a:spcPts val="600"/>
              </a:spcAft>
              <a:buClrTx/>
              <a:buSzTx/>
              <a:buFontTx/>
              <a:buNone/>
              <a:tabLst/>
              <a:defRPr/>
            </a:pPr>
            <a:r>
              <a:rPr lang="en-AU" sz="1400" kern="0">
                <a:solidFill>
                  <a:srgbClr val="DEEDF1">
                    <a:lumMod val="25000"/>
                  </a:srgbClr>
                </a:solidFill>
              </a:rPr>
              <a:t>Accounts</a:t>
            </a:r>
          </a:p>
        </p:txBody>
      </p:sp>
      <p:sp>
        <p:nvSpPr>
          <p:cNvPr id="67" name="CuadroTexto 66">
            <a:extLst>
              <a:ext uri="{FF2B5EF4-FFF2-40B4-BE49-F238E27FC236}">
                <a16:creationId xmlns:a16="http://schemas.microsoft.com/office/drawing/2014/main" id="{ED3AF5A7-FE57-D8CE-A873-DBA2F27AA287}"/>
              </a:ext>
            </a:extLst>
          </p:cNvPr>
          <p:cNvSpPr txBox="1"/>
          <p:nvPr/>
        </p:nvSpPr>
        <p:spPr>
          <a:xfrm>
            <a:off x="8033504" y="4179702"/>
            <a:ext cx="3624669" cy="715543"/>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180000" lvl="1">
              <a:spcBef>
                <a:spcPts val="0"/>
              </a:spcBef>
              <a:buClr>
                <a:srgbClr val="FF0000"/>
              </a:buClr>
              <a:buFont typeface="Wingdings" panose="05000000000000000000" pitchFamily="2" charset="2"/>
              <a:buChar char="§"/>
              <a:defRPr/>
            </a:pPr>
            <a:r>
              <a:rPr lang="en-US">
                <a:solidFill>
                  <a:srgbClr val="2A444A"/>
                </a:solidFill>
              </a:rPr>
              <a:t>As a fundamental, resilient, high performant  transactional tool  for most retail banking transactions</a:t>
            </a:r>
          </a:p>
        </p:txBody>
      </p:sp>
      <p:cxnSp>
        <p:nvCxnSpPr>
          <p:cNvPr id="68" name="Conector recto 67">
            <a:extLst>
              <a:ext uri="{FF2B5EF4-FFF2-40B4-BE49-F238E27FC236}">
                <a16:creationId xmlns:a16="http://schemas.microsoft.com/office/drawing/2014/main" id="{A0C5FEE5-A4C1-3F8A-0A40-5828CF7DC62C}"/>
              </a:ext>
            </a:extLst>
          </p:cNvPr>
          <p:cNvCxnSpPr>
            <a:cxnSpLocks/>
          </p:cNvCxnSpPr>
          <p:nvPr/>
        </p:nvCxnSpPr>
        <p:spPr>
          <a:xfrm flipH="1" flipV="1">
            <a:off x="6562041" y="4838316"/>
            <a:ext cx="5112000" cy="0"/>
          </a:xfrm>
          <a:prstGeom prst="line">
            <a:avLst/>
          </a:prstGeom>
          <a:noFill/>
          <a:ln w="12700" cap="flat" cmpd="sng" algn="ctr">
            <a:solidFill>
              <a:schemeClr val="bg1">
                <a:lumMod val="85000"/>
              </a:schemeClr>
            </a:solidFill>
            <a:prstDash val="solid"/>
            <a:miter lim="800000"/>
          </a:ln>
          <a:effectLst/>
        </p:spPr>
      </p:cxnSp>
      <p:cxnSp>
        <p:nvCxnSpPr>
          <p:cNvPr id="69" name="Conector recto 68">
            <a:extLst>
              <a:ext uri="{FF2B5EF4-FFF2-40B4-BE49-F238E27FC236}">
                <a16:creationId xmlns:a16="http://schemas.microsoft.com/office/drawing/2014/main" id="{BA4C512F-E526-E10A-B36C-64F55BF8B2A3}"/>
              </a:ext>
            </a:extLst>
          </p:cNvPr>
          <p:cNvCxnSpPr>
            <a:cxnSpLocks/>
          </p:cNvCxnSpPr>
          <p:nvPr/>
        </p:nvCxnSpPr>
        <p:spPr>
          <a:xfrm flipH="1" flipV="1">
            <a:off x="6562041" y="2917716"/>
            <a:ext cx="5112000" cy="0"/>
          </a:xfrm>
          <a:prstGeom prst="line">
            <a:avLst/>
          </a:prstGeom>
          <a:noFill/>
          <a:ln w="12700" cap="flat" cmpd="sng" algn="ctr">
            <a:solidFill>
              <a:schemeClr val="bg1">
                <a:lumMod val="85000"/>
              </a:schemeClr>
            </a:solidFill>
            <a:prstDash val="solid"/>
            <a:miter lim="800000"/>
          </a:ln>
          <a:effectLst/>
        </p:spPr>
      </p:cxnSp>
      <p:sp>
        <p:nvSpPr>
          <p:cNvPr id="70" name="Rectángulo 17">
            <a:extLst>
              <a:ext uri="{FF2B5EF4-FFF2-40B4-BE49-F238E27FC236}">
                <a16:creationId xmlns:a16="http://schemas.microsoft.com/office/drawing/2014/main" id="{9B9A96AB-7F0C-6E54-8F9D-11C33D064378}"/>
              </a:ext>
            </a:extLst>
          </p:cNvPr>
          <p:cNvSpPr/>
          <p:nvPr/>
        </p:nvSpPr>
        <p:spPr>
          <a:xfrm>
            <a:off x="6498844" y="4923475"/>
            <a:ext cx="1440000" cy="626443"/>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spcAft>
                <a:spcPts val="600"/>
              </a:spcAft>
              <a:defRPr/>
            </a:pPr>
            <a:r>
              <a:rPr lang="en-AU" sz="1400" kern="0">
                <a:solidFill>
                  <a:srgbClr val="DEEDF1">
                    <a:lumMod val="25000"/>
                  </a:srgbClr>
                </a:solidFill>
              </a:rPr>
              <a:t>Lending</a:t>
            </a:r>
          </a:p>
        </p:txBody>
      </p:sp>
      <p:sp>
        <p:nvSpPr>
          <p:cNvPr id="71" name="CuadroTexto 26">
            <a:extLst>
              <a:ext uri="{FF2B5EF4-FFF2-40B4-BE49-F238E27FC236}">
                <a16:creationId xmlns:a16="http://schemas.microsoft.com/office/drawing/2014/main" id="{313C61B4-AED0-EC75-FDD2-91E693315316}"/>
              </a:ext>
            </a:extLst>
          </p:cNvPr>
          <p:cNvSpPr txBox="1"/>
          <p:nvPr/>
        </p:nvSpPr>
        <p:spPr>
          <a:xfrm>
            <a:off x="8067297" y="4895245"/>
            <a:ext cx="3624669" cy="423879"/>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180000" marR="0" lvl="1" fontAlgn="auto">
              <a:spcBef>
                <a:spcPts val="0"/>
              </a:spcBef>
              <a:buClr>
                <a:srgbClr val="FF0000"/>
              </a:buClr>
              <a:buSzTx/>
              <a:buFont typeface="Wingdings" panose="05000000000000000000" pitchFamily="2" charset="2"/>
              <a:buChar char="§"/>
              <a:tabLst/>
              <a:defRPr/>
            </a:pPr>
            <a:r>
              <a:rPr lang="en-US">
                <a:solidFill>
                  <a:srgbClr val="2A444A"/>
                </a:solidFill>
              </a:rPr>
              <a:t>Built from scratch as a cloud native global software to progressively replace our multiple existing lending back-end platforms</a:t>
            </a:r>
          </a:p>
        </p:txBody>
      </p:sp>
      <p:sp>
        <p:nvSpPr>
          <p:cNvPr id="72" name="Rectángulo 18">
            <a:extLst>
              <a:ext uri="{FF2B5EF4-FFF2-40B4-BE49-F238E27FC236}">
                <a16:creationId xmlns:a16="http://schemas.microsoft.com/office/drawing/2014/main" id="{A18BD0FD-BF61-29DA-E79A-648A5CA4AC78}"/>
              </a:ext>
            </a:extLst>
          </p:cNvPr>
          <p:cNvSpPr/>
          <p:nvPr/>
        </p:nvSpPr>
        <p:spPr>
          <a:xfrm>
            <a:off x="6529022" y="5786665"/>
            <a:ext cx="1419881" cy="681653"/>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marR="0" lvl="0" indent="0" algn="ctr" fontAlgn="auto">
              <a:lnSpc>
                <a:spcPct val="100000"/>
              </a:lnSpc>
              <a:spcBef>
                <a:spcPts val="0"/>
              </a:spcBef>
              <a:spcAft>
                <a:spcPts val="600"/>
              </a:spcAft>
              <a:buClrTx/>
              <a:buSzTx/>
              <a:buFontTx/>
              <a:buNone/>
              <a:tabLst/>
              <a:defRPr/>
            </a:pPr>
            <a:r>
              <a:rPr lang="en-AU" sz="1400" kern="0">
                <a:solidFill>
                  <a:srgbClr val="DEEDF1">
                    <a:lumMod val="25000"/>
                  </a:srgbClr>
                </a:solidFill>
              </a:rPr>
              <a:t>Persons Management Directory</a:t>
            </a:r>
          </a:p>
        </p:txBody>
      </p:sp>
      <p:sp>
        <p:nvSpPr>
          <p:cNvPr id="73" name="CuadroTexto 27">
            <a:extLst>
              <a:ext uri="{FF2B5EF4-FFF2-40B4-BE49-F238E27FC236}">
                <a16:creationId xmlns:a16="http://schemas.microsoft.com/office/drawing/2014/main" id="{CA305438-396D-742F-2B6D-55048ECC97BF}"/>
              </a:ext>
            </a:extLst>
          </p:cNvPr>
          <p:cNvSpPr txBox="1"/>
          <p:nvPr/>
        </p:nvSpPr>
        <p:spPr>
          <a:xfrm>
            <a:off x="8006293" y="5705080"/>
            <a:ext cx="3759461" cy="909402"/>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spcBef>
                <a:spcPts val="0"/>
              </a:spcBef>
              <a:buClr>
                <a:srgbClr val="FF0000"/>
              </a:buClr>
              <a:buFont typeface="Wingdings" panose="05000000000000000000" pitchFamily="2" charset="2"/>
              <a:buChar char="§"/>
              <a:defRPr/>
            </a:pPr>
            <a:r>
              <a:rPr lang="en-US">
                <a:solidFill>
                  <a:srgbClr val="2A444A"/>
                </a:solidFill>
              </a:rPr>
              <a:t>Built from scratch and decoupled from our core banking system as the master operational repository to manage our customer’s key information.</a:t>
            </a:r>
            <a:endParaRPr lang="en-US">
              <a:solidFill>
                <a:srgbClr val="FF0000"/>
              </a:solidFill>
            </a:endParaRPr>
          </a:p>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endParaRPr lang="en-US">
              <a:solidFill>
                <a:srgbClr val="2A444A"/>
              </a:solidFill>
            </a:endParaRPr>
          </a:p>
        </p:txBody>
      </p:sp>
    </p:spTree>
    <p:extLst>
      <p:ext uri="{BB962C8B-B14F-4D97-AF65-F5344CB8AC3E}">
        <p14:creationId xmlns:p14="http://schemas.microsoft.com/office/powerpoint/2010/main" val="38083724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2">
            <a:extLst>
              <a:ext uri="{FF2B5EF4-FFF2-40B4-BE49-F238E27FC236}">
                <a16:creationId xmlns:a16="http://schemas.microsoft.com/office/drawing/2014/main" id="{C5F67029-F219-FC96-7D6C-5F6C446E76B2}"/>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15" name="Rectángulo 14">
            <a:extLst>
              <a:ext uri="{FF2B5EF4-FFF2-40B4-BE49-F238E27FC236}">
                <a16:creationId xmlns:a16="http://schemas.microsoft.com/office/drawing/2014/main" id="{532E11D7-B060-9FE8-9DBC-290E6C96DE16}"/>
              </a:ext>
            </a:extLst>
          </p:cNvPr>
          <p:cNvSpPr/>
          <p:nvPr/>
        </p:nvSpPr>
        <p:spPr>
          <a:xfrm>
            <a:off x="711024" y="2976405"/>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Web Shells</a:t>
            </a:r>
          </a:p>
        </p:txBody>
      </p:sp>
      <p:sp>
        <p:nvSpPr>
          <p:cNvPr id="19" name="Rectángulo 18">
            <a:extLst>
              <a:ext uri="{FF2B5EF4-FFF2-40B4-BE49-F238E27FC236}">
                <a16:creationId xmlns:a16="http://schemas.microsoft.com/office/drawing/2014/main" id="{81107006-DEAA-61FE-5DFA-9A97FCDB224A}"/>
              </a:ext>
            </a:extLst>
          </p:cNvPr>
          <p:cNvSpPr/>
          <p:nvPr/>
        </p:nvSpPr>
        <p:spPr>
          <a:xfrm>
            <a:off x="711024" y="2069931"/>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Mobile Shells</a:t>
            </a:r>
          </a:p>
        </p:txBody>
      </p:sp>
      <p:sp>
        <p:nvSpPr>
          <p:cNvPr id="21" name="CuadroTexto 20">
            <a:extLst>
              <a:ext uri="{FF2B5EF4-FFF2-40B4-BE49-F238E27FC236}">
                <a16:creationId xmlns:a16="http://schemas.microsoft.com/office/drawing/2014/main" id="{521604CC-F7C4-A23D-26ED-6006C261FAEE}"/>
              </a:ext>
            </a:extLst>
          </p:cNvPr>
          <p:cNvSpPr txBox="1"/>
          <p:nvPr/>
        </p:nvSpPr>
        <p:spPr>
          <a:xfrm>
            <a:off x="684799" y="1128886"/>
            <a:ext cx="4391698" cy="807913"/>
          </a:xfrm>
          <a:prstGeom prst="rect">
            <a:avLst/>
          </a:prstGeom>
          <a:noFill/>
        </p:spPr>
        <p:txBody>
          <a:bodyPr wrap="square" rtlCol="0">
            <a:spAutoFit/>
          </a:bodyPr>
          <a:lstStyle/>
          <a:p>
            <a:pPr marL="355600" marR="0" lvl="0" indent="-355600" algn="l" defTabSz="914400" rtl="0" eaLnBrk="1" fontAlgn="auto" latinLnBrk="0" hangingPunct="1">
              <a:lnSpc>
                <a:spcPct val="100000"/>
              </a:lnSpc>
              <a:spcBef>
                <a:spcPts val="0"/>
              </a:spcBef>
              <a:spcAft>
                <a:spcPts val="300"/>
              </a:spcAft>
              <a:buClrTx/>
              <a:buSzTx/>
              <a:buFontTx/>
              <a:buNone/>
              <a:tabLst/>
              <a:defRPr/>
            </a:pPr>
            <a:r>
              <a:rPr kumimoji="0" lang="en-GB"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1 - Global Container</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GB" sz="1400" b="0" i="1"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Shell for Mobile and Web to integrate the </a:t>
            </a:r>
            <a:r>
              <a:rPr kumimoji="0" lang="en-GB" sz="1400" b="0" i="1" u="none" strike="noStrike" kern="0" cap="none" spc="0" normalizeH="0" baseline="0" noProof="0" err="1">
                <a:ln>
                  <a:noFill/>
                </a:ln>
                <a:solidFill>
                  <a:srgbClr val="DEEDF1">
                    <a:lumMod val="25000"/>
                  </a:srgbClr>
                </a:solidFill>
                <a:effectLst/>
                <a:uLnTx/>
                <a:uFillTx/>
                <a:latin typeface="Santander Text" panose="020B0504020201020104" pitchFamily="34" charset="0"/>
                <a:ea typeface="+mn-ea"/>
                <a:cs typeface="+mn-cs"/>
              </a:rPr>
              <a:t>MicroFronts</a:t>
            </a:r>
            <a:r>
              <a:rPr kumimoji="0" lang="en-GB" sz="1400" b="0" i="1"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 for each channel</a:t>
            </a:r>
          </a:p>
        </p:txBody>
      </p:sp>
      <p:cxnSp>
        <p:nvCxnSpPr>
          <p:cNvPr id="22" name="Conector recto 21">
            <a:extLst>
              <a:ext uri="{FF2B5EF4-FFF2-40B4-BE49-F238E27FC236}">
                <a16:creationId xmlns:a16="http://schemas.microsoft.com/office/drawing/2014/main" id="{95D3203A-A6F6-8622-675E-1B6CCD9AB872}"/>
              </a:ext>
            </a:extLst>
          </p:cNvPr>
          <p:cNvCxnSpPr>
            <a:cxnSpLocks/>
          </p:cNvCxnSpPr>
          <p:nvPr/>
        </p:nvCxnSpPr>
        <p:spPr>
          <a:xfrm flipH="1" flipV="1">
            <a:off x="711024" y="1933750"/>
            <a:ext cx="5112000" cy="0"/>
          </a:xfrm>
          <a:prstGeom prst="line">
            <a:avLst/>
          </a:prstGeom>
          <a:solidFill>
            <a:schemeClr val="accent4">
              <a:lumMod val="40000"/>
              <a:lumOff val="60000"/>
            </a:schemeClr>
          </a:solidFill>
          <a:ln w="12700" cap="flat" cmpd="sng" algn="ctr">
            <a:solidFill>
              <a:schemeClr val="bg2">
                <a:lumMod val="50000"/>
              </a:schemeClr>
            </a:solidFill>
            <a:prstDash val="solid"/>
            <a:miter lim="800000"/>
          </a:ln>
          <a:effectLst/>
        </p:spPr>
      </p:cxnSp>
      <p:sp>
        <p:nvSpPr>
          <p:cNvPr id="23" name="CuadroTexto 22">
            <a:extLst>
              <a:ext uri="{FF2B5EF4-FFF2-40B4-BE49-F238E27FC236}">
                <a16:creationId xmlns:a16="http://schemas.microsoft.com/office/drawing/2014/main" id="{D0DF7234-D303-7B43-9FFE-366CABE65C67}"/>
              </a:ext>
            </a:extLst>
          </p:cNvPr>
          <p:cNvSpPr txBox="1"/>
          <p:nvPr/>
        </p:nvSpPr>
        <p:spPr>
          <a:xfrm>
            <a:off x="2192764" y="1965879"/>
            <a:ext cx="3658438" cy="909402"/>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180000" marR="0" lvl="0" indent="-180000" algn="l" defTabSz="914400" rtl="0" eaLnBrk="1" fontAlgn="auto" latinLnBrk="0" hangingPunct="1">
              <a:lnSpc>
                <a:spcPct val="100000"/>
              </a:lnSpc>
              <a:spcBef>
                <a:spcPts val="600"/>
              </a:spcBef>
              <a:spcAft>
                <a:spcPts val="0"/>
              </a:spcAft>
              <a:buClr>
                <a:srgbClr val="EC0000"/>
              </a:buClr>
              <a:buSzTx/>
              <a:buFont typeface="Arial" panose="020B0604020202020204" pitchFamily="34" charset="0"/>
              <a:buChar char="•"/>
              <a:tabLst/>
              <a:defRPr/>
            </a:pPr>
            <a:endParaRPr kumimoji="0" lang="en-GB" sz="1200" b="0" i="0" u="none" strike="noStrike" kern="1200" cap="none" spc="0" normalizeH="0" baseline="0" noProof="0">
              <a:ln>
                <a:noFill/>
              </a:ln>
              <a:solidFill>
                <a:srgbClr val="595959"/>
              </a:solidFill>
              <a:effectLst/>
              <a:uLnTx/>
              <a:uFillTx/>
              <a:latin typeface="Santander Text"/>
              <a:ea typeface="+mn-ea"/>
              <a:cs typeface="+mn-cs"/>
            </a:endParaRPr>
          </a:p>
        </p:txBody>
      </p:sp>
      <p:cxnSp>
        <p:nvCxnSpPr>
          <p:cNvPr id="24" name="Conector recto 23">
            <a:extLst>
              <a:ext uri="{FF2B5EF4-FFF2-40B4-BE49-F238E27FC236}">
                <a16:creationId xmlns:a16="http://schemas.microsoft.com/office/drawing/2014/main" id="{8FB168E4-4482-3337-ECA4-1613C78248BE}"/>
              </a:ext>
            </a:extLst>
          </p:cNvPr>
          <p:cNvCxnSpPr>
            <a:cxnSpLocks/>
          </p:cNvCxnSpPr>
          <p:nvPr/>
        </p:nvCxnSpPr>
        <p:spPr>
          <a:xfrm flipH="1" flipV="1">
            <a:off x="684799" y="2838228"/>
            <a:ext cx="5112000" cy="0"/>
          </a:xfrm>
          <a:prstGeom prst="line">
            <a:avLst/>
          </a:prstGeom>
          <a:noFill/>
          <a:ln w="12700" cap="flat" cmpd="sng" algn="ctr">
            <a:solidFill>
              <a:schemeClr val="bg1">
                <a:lumMod val="85000"/>
              </a:schemeClr>
            </a:solidFill>
            <a:prstDash val="solid"/>
            <a:miter lim="800000"/>
          </a:ln>
          <a:effectLst/>
        </p:spPr>
      </p:cxnSp>
      <p:sp>
        <p:nvSpPr>
          <p:cNvPr id="26" name="CuadroTexto 25">
            <a:extLst>
              <a:ext uri="{FF2B5EF4-FFF2-40B4-BE49-F238E27FC236}">
                <a16:creationId xmlns:a16="http://schemas.microsoft.com/office/drawing/2014/main" id="{6D26BBC5-3876-5692-5E14-58110D472B80}"/>
              </a:ext>
            </a:extLst>
          </p:cNvPr>
          <p:cNvSpPr txBox="1"/>
          <p:nvPr/>
        </p:nvSpPr>
        <p:spPr>
          <a:xfrm>
            <a:off x="2274044" y="2900180"/>
            <a:ext cx="3630260" cy="830997"/>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rPr>
              <a:t>The Digital Branch application will load the </a:t>
            </a:r>
            <a:r>
              <a:rPr kumimoji="0" lang="en-US" sz="1200" b="0" i="0" u="none" strike="noStrike" kern="1200" cap="none" spc="0" normalizeH="0" baseline="0" noProof="0" err="1">
                <a:ln>
                  <a:noFill/>
                </a:ln>
                <a:solidFill>
                  <a:prstClr val="black"/>
                </a:solidFill>
                <a:effectLst/>
                <a:uLnTx/>
                <a:uFillTx/>
                <a:latin typeface="Santander Text" panose="020B0504020201020104" pitchFamily="34" charset="0"/>
                <a:ea typeface="+mn-ea"/>
                <a:cs typeface="+mn-cs"/>
              </a:rPr>
              <a:t>microfront</a:t>
            </a:r>
            <a:r>
              <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rPr>
              <a:t> wrapped inside a SPA (Shell) that will act as a pipe between the application and the </a:t>
            </a:r>
            <a:r>
              <a:rPr kumimoji="0" lang="en-US" sz="1200" b="0" i="0" u="none" strike="noStrike" kern="1200" cap="none" spc="0" normalizeH="0" baseline="0" noProof="0" err="1">
                <a:ln>
                  <a:noFill/>
                </a:ln>
                <a:solidFill>
                  <a:prstClr val="black"/>
                </a:solidFill>
                <a:effectLst/>
                <a:uLnTx/>
                <a:uFillTx/>
                <a:latin typeface="Santander Text" panose="020B0504020201020104" pitchFamily="34" charset="0"/>
                <a:ea typeface="+mn-ea"/>
                <a:cs typeface="+mn-cs"/>
              </a:rPr>
              <a:t>microfront</a:t>
            </a:r>
            <a:r>
              <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rPr>
              <a:t>.</a:t>
            </a:r>
          </a:p>
        </p:txBody>
      </p:sp>
      <p:sp>
        <p:nvSpPr>
          <p:cNvPr id="32" name="CuadroTexto 31">
            <a:extLst>
              <a:ext uri="{FF2B5EF4-FFF2-40B4-BE49-F238E27FC236}">
                <a16:creationId xmlns:a16="http://schemas.microsoft.com/office/drawing/2014/main" id="{8AB399CC-4E62-396B-4950-9F03F95F814C}"/>
              </a:ext>
            </a:extLst>
          </p:cNvPr>
          <p:cNvSpPr txBox="1"/>
          <p:nvPr/>
        </p:nvSpPr>
        <p:spPr>
          <a:xfrm>
            <a:off x="6141070" y="1128886"/>
            <a:ext cx="5111999" cy="807913"/>
          </a:xfrm>
          <a:prstGeom prst="rect">
            <a:avLst/>
          </a:prstGeom>
          <a:noFill/>
        </p:spPr>
        <p:txBody>
          <a:bodyPr wrap="square" rtlCol="0">
            <a:spAutoFit/>
          </a:bodyPr>
          <a:lstStyle/>
          <a:p>
            <a:pPr marL="355600" marR="0" lvl="0" indent="-355600" algn="l" defTabSz="914400" rtl="0" eaLnBrk="1" fontAlgn="auto" latinLnBrk="0" hangingPunct="1">
              <a:lnSpc>
                <a:spcPct val="100000"/>
              </a:lnSpc>
              <a:spcBef>
                <a:spcPts val="0"/>
              </a:spcBef>
              <a:spcAft>
                <a:spcPts val="300"/>
              </a:spcAft>
              <a:buClrTx/>
              <a:buSzTx/>
              <a:buFontTx/>
              <a:buNone/>
              <a:tabLst/>
              <a:defRPr/>
            </a:pPr>
            <a:r>
              <a:rPr kumimoji="0" lang="en-GB"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2 – Advisory &amp; Added value Services </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GB" sz="1400" b="0" i="1"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Set of capabilities to provide financial insights and tools to customers</a:t>
            </a:r>
          </a:p>
        </p:txBody>
      </p:sp>
      <p:cxnSp>
        <p:nvCxnSpPr>
          <p:cNvPr id="33" name="Conector recto 32">
            <a:extLst>
              <a:ext uri="{FF2B5EF4-FFF2-40B4-BE49-F238E27FC236}">
                <a16:creationId xmlns:a16="http://schemas.microsoft.com/office/drawing/2014/main" id="{86F93A5B-47ED-0086-F0A8-1DFF037A0884}"/>
              </a:ext>
            </a:extLst>
          </p:cNvPr>
          <p:cNvCxnSpPr>
            <a:cxnSpLocks/>
          </p:cNvCxnSpPr>
          <p:nvPr/>
        </p:nvCxnSpPr>
        <p:spPr>
          <a:xfrm flipH="1" flipV="1">
            <a:off x="6167296" y="1933750"/>
            <a:ext cx="5112000" cy="0"/>
          </a:xfrm>
          <a:prstGeom prst="line">
            <a:avLst/>
          </a:prstGeom>
          <a:noFill/>
          <a:ln w="12700" cap="flat" cmpd="sng" algn="ctr">
            <a:solidFill>
              <a:srgbClr val="595959"/>
            </a:solidFill>
            <a:prstDash val="solid"/>
            <a:miter lim="800000"/>
          </a:ln>
          <a:effectLst/>
        </p:spPr>
      </p:cxnSp>
      <p:sp>
        <p:nvSpPr>
          <p:cNvPr id="34" name="CuadroTexto 33">
            <a:extLst>
              <a:ext uri="{FF2B5EF4-FFF2-40B4-BE49-F238E27FC236}">
                <a16:creationId xmlns:a16="http://schemas.microsoft.com/office/drawing/2014/main" id="{F2599503-9F52-81AF-B186-BA0272476971}"/>
              </a:ext>
            </a:extLst>
          </p:cNvPr>
          <p:cNvSpPr txBox="1"/>
          <p:nvPr/>
        </p:nvSpPr>
        <p:spPr>
          <a:xfrm>
            <a:off x="7645203" y="1979444"/>
            <a:ext cx="3745858" cy="909402"/>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buClr>
                <a:srgbClr val="EC0000"/>
              </a:buClr>
              <a:buFont typeface="Wingdings" panose="05000000000000000000" pitchFamily="2" charset="2"/>
              <a:buChar char="§"/>
              <a:defRPr/>
            </a:pPr>
            <a:r>
              <a:rPr kumimoji="0" lang="en-US" sz="1200" b="0" i="0" u="none" strike="noStrike" kern="1200" cap="none" spc="0" normalizeH="0" baseline="0" noProof="0">
                <a:ln>
                  <a:noFill/>
                </a:ln>
                <a:solidFill>
                  <a:schemeClr val="tx1"/>
                </a:solidFill>
                <a:effectLst/>
                <a:uLnTx/>
                <a:uFillTx/>
                <a:latin typeface="Santander Text"/>
                <a:ea typeface="+mn-ea"/>
                <a:cs typeface="+mn-cs"/>
              </a:rPr>
              <a:t>Is a tool that helps clients understand their financial situation and improve their money management by providing an overview of their finances through charts, unifying all their financial needs </a:t>
            </a:r>
            <a:endParaRPr kumimoji="0" lang="en-GB" sz="1200" b="0" i="0" u="none" strike="noStrike" kern="1200" cap="none" spc="0" normalizeH="0" baseline="0" noProof="0">
              <a:ln>
                <a:noFill/>
              </a:ln>
              <a:solidFill>
                <a:schemeClr val="tx1"/>
              </a:solidFill>
              <a:effectLst/>
              <a:uLnTx/>
              <a:uFillTx/>
              <a:latin typeface="Santander Text"/>
              <a:ea typeface="+mn-ea"/>
              <a:cs typeface="+mn-cs"/>
            </a:endParaRPr>
          </a:p>
        </p:txBody>
      </p:sp>
      <p:cxnSp>
        <p:nvCxnSpPr>
          <p:cNvPr id="35" name="Conector recto 34">
            <a:extLst>
              <a:ext uri="{FF2B5EF4-FFF2-40B4-BE49-F238E27FC236}">
                <a16:creationId xmlns:a16="http://schemas.microsoft.com/office/drawing/2014/main" id="{898D6A82-26BF-1216-98A7-D746061A9797}"/>
              </a:ext>
            </a:extLst>
          </p:cNvPr>
          <p:cNvCxnSpPr>
            <a:cxnSpLocks/>
          </p:cNvCxnSpPr>
          <p:nvPr/>
        </p:nvCxnSpPr>
        <p:spPr>
          <a:xfrm flipH="1" flipV="1">
            <a:off x="6167296" y="2831213"/>
            <a:ext cx="5112000" cy="0"/>
          </a:xfrm>
          <a:prstGeom prst="line">
            <a:avLst/>
          </a:prstGeom>
          <a:noFill/>
          <a:ln w="12700" cap="flat" cmpd="sng" algn="ctr">
            <a:solidFill>
              <a:schemeClr val="bg1">
                <a:lumMod val="85000"/>
              </a:schemeClr>
            </a:solidFill>
            <a:prstDash val="solid"/>
            <a:miter lim="800000"/>
          </a:ln>
          <a:effectLst/>
        </p:spPr>
      </p:cxnSp>
      <p:cxnSp>
        <p:nvCxnSpPr>
          <p:cNvPr id="37" name="Conector recto 36">
            <a:extLst>
              <a:ext uri="{FF2B5EF4-FFF2-40B4-BE49-F238E27FC236}">
                <a16:creationId xmlns:a16="http://schemas.microsoft.com/office/drawing/2014/main" id="{75EE2D35-D8CD-EDA1-C9D7-DFC8B538DC98}"/>
              </a:ext>
            </a:extLst>
          </p:cNvPr>
          <p:cNvCxnSpPr>
            <a:cxnSpLocks/>
          </p:cNvCxnSpPr>
          <p:nvPr/>
        </p:nvCxnSpPr>
        <p:spPr>
          <a:xfrm flipH="1" flipV="1">
            <a:off x="6160718" y="3731026"/>
            <a:ext cx="5112000" cy="0"/>
          </a:xfrm>
          <a:prstGeom prst="line">
            <a:avLst/>
          </a:prstGeom>
          <a:noFill/>
          <a:ln w="12700" cap="flat" cmpd="sng" algn="ctr">
            <a:solidFill>
              <a:schemeClr val="bg1">
                <a:lumMod val="85000"/>
              </a:schemeClr>
            </a:solidFill>
            <a:prstDash val="solid"/>
            <a:miter lim="800000"/>
          </a:ln>
          <a:effectLst/>
        </p:spPr>
      </p:cxnSp>
      <p:sp>
        <p:nvSpPr>
          <p:cNvPr id="50" name="CuadroTexto 49">
            <a:extLst>
              <a:ext uri="{FF2B5EF4-FFF2-40B4-BE49-F238E27FC236}">
                <a16:creationId xmlns:a16="http://schemas.microsoft.com/office/drawing/2014/main" id="{34AFC41E-669F-C794-D008-452CF0555F1B}"/>
              </a:ext>
            </a:extLst>
          </p:cNvPr>
          <p:cNvSpPr txBox="1"/>
          <p:nvPr/>
        </p:nvSpPr>
        <p:spPr>
          <a:xfrm>
            <a:off x="7659020" y="2930765"/>
            <a:ext cx="3718224" cy="646331"/>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600"/>
              </a:spcBef>
              <a:spcAft>
                <a:spcPts val="0"/>
              </a:spcAft>
              <a:buClr>
                <a:srgbClr val="EC0000"/>
              </a:buClr>
              <a:buSzTx/>
              <a:buFont typeface="Wingdings" panose="05000000000000000000" pitchFamily="2" charset="2"/>
              <a:buChar char="§"/>
              <a:tabLst/>
              <a:defRPr/>
            </a:pPr>
            <a:r>
              <a:rPr lang="en-US" sz="1200">
                <a:latin typeface="Santander Text"/>
              </a:rPr>
              <a:t>H</a:t>
            </a:r>
            <a:r>
              <a:rPr kumimoji="0" lang="en-US" sz="1200" b="0" i="0" u="none" strike="noStrike" kern="1200" cap="none" spc="0" normalizeH="0" baseline="0" noProof="0" err="1">
                <a:ln>
                  <a:noFill/>
                </a:ln>
                <a:effectLst/>
                <a:uLnTx/>
                <a:uFillTx/>
                <a:latin typeface="Santander Text"/>
                <a:ea typeface="+mn-ea"/>
                <a:cs typeface="+mn-cs"/>
              </a:rPr>
              <a:t>elp</a:t>
            </a:r>
            <a:r>
              <a:rPr kumimoji="0" lang="en-US" sz="1200" b="0" i="0" u="none" strike="noStrike" kern="1200" cap="none" spc="0" normalizeH="0" baseline="0" noProof="0">
                <a:ln>
                  <a:noFill/>
                </a:ln>
                <a:effectLst/>
                <a:uLnTx/>
                <a:uFillTx/>
                <a:latin typeface="Santander Text"/>
                <a:ea typeface="+mn-ea"/>
                <a:cs typeface="+mn-cs"/>
              </a:rPr>
              <a:t> customers save money linked to a specific goal by setting certain rules: rounding after shopping, payment received, regular contributions</a:t>
            </a:r>
            <a:endParaRPr kumimoji="0" lang="en-GB" sz="1200" b="0" i="0" u="none" strike="noStrike" kern="1200" cap="none" spc="0" normalizeH="0" baseline="0" noProof="0">
              <a:ln>
                <a:noFill/>
              </a:ln>
              <a:effectLst/>
              <a:uLnTx/>
              <a:uFillTx/>
              <a:latin typeface="Santander Text"/>
              <a:ea typeface="+mn-ea"/>
              <a:cs typeface="+mn-cs"/>
            </a:endParaRPr>
          </a:p>
        </p:txBody>
      </p:sp>
      <p:sp>
        <p:nvSpPr>
          <p:cNvPr id="4" name="Rectángulo 262">
            <a:extLst>
              <a:ext uri="{FF2B5EF4-FFF2-40B4-BE49-F238E27FC236}">
                <a16:creationId xmlns:a16="http://schemas.microsoft.com/office/drawing/2014/main" id="{EE08DB0D-4425-7AE3-A079-C68A695EE864}"/>
              </a:ext>
            </a:extLst>
          </p:cNvPr>
          <p:cNvSpPr/>
          <p:nvPr/>
        </p:nvSpPr>
        <p:spPr>
          <a:xfrm>
            <a:off x="6105200" y="2069931"/>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PFM</a:t>
            </a:r>
          </a:p>
        </p:txBody>
      </p:sp>
      <p:sp>
        <p:nvSpPr>
          <p:cNvPr id="13" name="Rectángulo 262">
            <a:extLst>
              <a:ext uri="{FF2B5EF4-FFF2-40B4-BE49-F238E27FC236}">
                <a16:creationId xmlns:a16="http://schemas.microsoft.com/office/drawing/2014/main" id="{7216245B-56D8-F50F-52A5-FFA411E39952}"/>
              </a:ext>
            </a:extLst>
          </p:cNvPr>
          <p:cNvSpPr/>
          <p:nvPr/>
        </p:nvSpPr>
        <p:spPr>
          <a:xfrm>
            <a:off x="6105200" y="3019436"/>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Savings Goals</a:t>
            </a:r>
          </a:p>
        </p:txBody>
      </p:sp>
      <p:sp>
        <p:nvSpPr>
          <p:cNvPr id="25" name="CuadroTexto 24">
            <a:extLst>
              <a:ext uri="{FF2B5EF4-FFF2-40B4-BE49-F238E27FC236}">
                <a16:creationId xmlns:a16="http://schemas.microsoft.com/office/drawing/2014/main" id="{5219F90F-ECBE-8AAA-73E3-91B8B384A808}"/>
              </a:ext>
            </a:extLst>
          </p:cNvPr>
          <p:cNvSpPr txBox="1"/>
          <p:nvPr/>
        </p:nvSpPr>
        <p:spPr>
          <a:xfrm>
            <a:off x="2274044" y="2003182"/>
            <a:ext cx="3454489" cy="830997"/>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lang="en-US" sz="1200">
                <a:solidFill>
                  <a:prstClr val="black"/>
                </a:solidFill>
                <a:latin typeface="Santander Text" panose="020B0504020201020104" pitchFamily="34" charset="0"/>
              </a:rPr>
              <a:t>F</a:t>
            </a:r>
            <a:r>
              <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rPr>
              <a:t>or Android and iOS mobile applications. The proposal is to provide a native shell within the basic operative and the best UX and then load the rest of the operative through Web Views</a:t>
            </a:r>
            <a:endParaRPr kumimoji="0" lang="en-GB"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endParaRPr>
          </a:p>
        </p:txBody>
      </p:sp>
      <p:sp>
        <p:nvSpPr>
          <p:cNvPr id="6" name="Título 1">
            <a:extLst>
              <a:ext uri="{FF2B5EF4-FFF2-40B4-BE49-F238E27FC236}">
                <a16:creationId xmlns:a16="http://schemas.microsoft.com/office/drawing/2014/main" id="{BE01CA1D-46C9-569A-43A0-917782B8730F}"/>
              </a:ext>
            </a:extLst>
          </p:cNvPr>
          <p:cNvSpPr>
            <a:spLocks noGrp="1"/>
          </p:cNvSpPr>
          <p:nvPr>
            <p:ph type="title"/>
          </p:nvPr>
        </p:nvSpPr>
        <p:spPr>
          <a:xfrm>
            <a:off x="711024" y="641900"/>
            <a:ext cx="10758733" cy="445400"/>
          </a:xfrm>
        </p:spPr>
        <p:txBody>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s-ES" sz="2800" b="1" i="0" u="none" strike="noStrike" kern="1200" cap="none" spc="0" normalizeH="0" baseline="0" noProof="0">
                <a:ln>
                  <a:noFill/>
                </a:ln>
                <a:solidFill>
                  <a:srgbClr val="EC0000"/>
                </a:solidFill>
                <a:effectLst/>
                <a:uLnTx/>
                <a:uFillTx/>
                <a:latin typeface="Santander Headline"/>
                <a:ea typeface="+mj-ea"/>
                <a:cs typeface="+mj-cs"/>
              </a:rPr>
              <a:t>DCB</a:t>
            </a:r>
            <a:r>
              <a:rPr lang="es-ES">
                <a:solidFill>
                  <a:srgbClr val="EC0000"/>
                </a:solidFill>
                <a:latin typeface="Santander Headline"/>
              </a:rPr>
              <a:t>.</a:t>
            </a:r>
            <a:r>
              <a:rPr kumimoji="0" lang="es-ES" sz="2800" b="1" i="0" u="none" strike="noStrike" kern="1200" cap="none" spc="0" normalizeH="0" baseline="0" noProof="0">
                <a:ln>
                  <a:noFill/>
                </a:ln>
                <a:solidFill>
                  <a:srgbClr val="EC0000"/>
                </a:solidFill>
                <a:effectLst/>
                <a:uLnTx/>
                <a:uFillTx/>
                <a:latin typeface="Santander Headline"/>
                <a:ea typeface="+mj-ea"/>
                <a:cs typeface="+mj-cs"/>
              </a:rPr>
              <a:t> </a:t>
            </a:r>
            <a:r>
              <a:rPr kumimoji="0" lang="en-AU" sz="2800" b="1" i="0" u="none" strike="noStrike" kern="1200" cap="none" spc="0" normalizeH="0" baseline="0" noProof="0">
                <a:ln>
                  <a:noFill/>
                </a:ln>
                <a:solidFill>
                  <a:srgbClr val="BFBFBF"/>
                </a:solidFill>
                <a:effectLst/>
                <a:uLnTx/>
                <a:uFillTx/>
                <a:latin typeface="Santander Headline"/>
                <a:ea typeface="+mj-ea"/>
                <a:cs typeface="+mj-cs"/>
              </a:rPr>
              <a:t>Digital Channels Individuals</a:t>
            </a:r>
          </a:p>
        </p:txBody>
      </p:sp>
      <p:sp>
        <p:nvSpPr>
          <p:cNvPr id="20" name="Rectángulo 14">
            <a:extLst>
              <a:ext uri="{FF2B5EF4-FFF2-40B4-BE49-F238E27FC236}">
                <a16:creationId xmlns:a16="http://schemas.microsoft.com/office/drawing/2014/main" id="{19A3E0CD-19D9-2A14-592D-EC262F08604B}"/>
              </a:ext>
            </a:extLst>
          </p:cNvPr>
          <p:cNvSpPr/>
          <p:nvPr/>
        </p:nvSpPr>
        <p:spPr>
          <a:xfrm>
            <a:off x="711024" y="3873031"/>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Cross Channel Services</a:t>
            </a:r>
          </a:p>
        </p:txBody>
      </p:sp>
      <p:cxnSp>
        <p:nvCxnSpPr>
          <p:cNvPr id="28" name="Conector recto 23">
            <a:extLst>
              <a:ext uri="{FF2B5EF4-FFF2-40B4-BE49-F238E27FC236}">
                <a16:creationId xmlns:a16="http://schemas.microsoft.com/office/drawing/2014/main" id="{4991CDA5-BDC5-0B78-6EC0-4AECB6C351FA}"/>
              </a:ext>
            </a:extLst>
          </p:cNvPr>
          <p:cNvCxnSpPr>
            <a:cxnSpLocks/>
          </p:cNvCxnSpPr>
          <p:nvPr/>
        </p:nvCxnSpPr>
        <p:spPr>
          <a:xfrm flipH="1" flipV="1">
            <a:off x="684799" y="3734854"/>
            <a:ext cx="5112000" cy="0"/>
          </a:xfrm>
          <a:prstGeom prst="line">
            <a:avLst/>
          </a:prstGeom>
          <a:noFill/>
          <a:ln w="12700" cap="flat" cmpd="sng" algn="ctr">
            <a:solidFill>
              <a:schemeClr val="bg1">
                <a:lumMod val="85000"/>
              </a:schemeClr>
            </a:solidFill>
            <a:prstDash val="solid"/>
            <a:miter lim="800000"/>
          </a:ln>
          <a:effectLst/>
        </p:spPr>
      </p:cxnSp>
      <p:sp>
        <p:nvSpPr>
          <p:cNvPr id="29" name="CuadroTexto 25">
            <a:extLst>
              <a:ext uri="{FF2B5EF4-FFF2-40B4-BE49-F238E27FC236}">
                <a16:creationId xmlns:a16="http://schemas.microsoft.com/office/drawing/2014/main" id="{E82471D2-FA13-E7CB-1487-16D11B3FFFA1}"/>
              </a:ext>
            </a:extLst>
          </p:cNvPr>
          <p:cNvSpPr txBox="1"/>
          <p:nvPr/>
        </p:nvSpPr>
        <p:spPr>
          <a:xfrm>
            <a:off x="2274044" y="3796806"/>
            <a:ext cx="3630260" cy="646331"/>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lang="en-US" sz="1200">
                <a:solidFill>
                  <a:prstClr val="black"/>
                </a:solidFill>
                <a:latin typeface="Santander Text" panose="020B0504020201020104" pitchFamily="34" charset="0"/>
              </a:rPr>
              <a:t>T</a:t>
            </a:r>
            <a:r>
              <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rPr>
              <a:t>o interact with µFronts / libraries which redounds in that µFronts / libraries built by different teams/entities can be later integrated</a:t>
            </a:r>
          </a:p>
        </p:txBody>
      </p:sp>
      <p:sp>
        <p:nvSpPr>
          <p:cNvPr id="30" name="Rectángulo 14">
            <a:extLst>
              <a:ext uri="{FF2B5EF4-FFF2-40B4-BE49-F238E27FC236}">
                <a16:creationId xmlns:a16="http://schemas.microsoft.com/office/drawing/2014/main" id="{23BC1F09-F9AA-BB33-6D1E-40463AC4888A}"/>
              </a:ext>
            </a:extLst>
          </p:cNvPr>
          <p:cNvSpPr/>
          <p:nvPr/>
        </p:nvSpPr>
        <p:spPr>
          <a:xfrm>
            <a:off x="711024" y="4711665"/>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Cloud</a:t>
            </a:r>
          </a:p>
        </p:txBody>
      </p:sp>
      <p:cxnSp>
        <p:nvCxnSpPr>
          <p:cNvPr id="31" name="Conector recto 23">
            <a:extLst>
              <a:ext uri="{FF2B5EF4-FFF2-40B4-BE49-F238E27FC236}">
                <a16:creationId xmlns:a16="http://schemas.microsoft.com/office/drawing/2014/main" id="{D043A952-3D87-D56E-22BE-9E987BC01AF8}"/>
              </a:ext>
            </a:extLst>
          </p:cNvPr>
          <p:cNvCxnSpPr>
            <a:cxnSpLocks/>
          </p:cNvCxnSpPr>
          <p:nvPr/>
        </p:nvCxnSpPr>
        <p:spPr>
          <a:xfrm flipH="1" flipV="1">
            <a:off x="684799" y="4573488"/>
            <a:ext cx="5112000" cy="0"/>
          </a:xfrm>
          <a:prstGeom prst="line">
            <a:avLst/>
          </a:prstGeom>
          <a:noFill/>
          <a:ln w="12700" cap="flat" cmpd="sng" algn="ctr">
            <a:solidFill>
              <a:schemeClr val="bg1">
                <a:lumMod val="85000"/>
              </a:schemeClr>
            </a:solidFill>
            <a:prstDash val="solid"/>
            <a:miter lim="800000"/>
          </a:ln>
          <a:effectLst/>
        </p:spPr>
      </p:cxnSp>
      <p:sp>
        <p:nvSpPr>
          <p:cNvPr id="36" name="CuadroTexto 25">
            <a:extLst>
              <a:ext uri="{FF2B5EF4-FFF2-40B4-BE49-F238E27FC236}">
                <a16:creationId xmlns:a16="http://schemas.microsoft.com/office/drawing/2014/main" id="{280E356D-DF32-BB79-A872-7F2BEA5576F0}"/>
              </a:ext>
            </a:extLst>
          </p:cNvPr>
          <p:cNvSpPr txBox="1"/>
          <p:nvPr/>
        </p:nvSpPr>
        <p:spPr>
          <a:xfrm>
            <a:off x="2274044" y="4635440"/>
            <a:ext cx="3630260" cy="830997"/>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rPr>
              <a:t>The product is deployed in AWS Public Cloud Infrastructure setting up different Instances for the different countries and recommended to be operated by the same Digital Channels Team</a:t>
            </a:r>
          </a:p>
        </p:txBody>
      </p:sp>
      <p:sp>
        <p:nvSpPr>
          <p:cNvPr id="38" name="Rectángulo 14">
            <a:extLst>
              <a:ext uri="{FF2B5EF4-FFF2-40B4-BE49-F238E27FC236}">
                <a16:creationId xmlns:a16="http://schemas.microsoft.com/office/drawing/2014/main" id="{8E2154EE-9CF7-B08F-643A-EAAB48130C4C}"/>
              </a:ext>
            </a:extLst>
          </p:cNvPr>
          <p:cNvSpPr/>
          <p:nvPr/>
        </p:nvSpPr>
        <p:spPr>
          <a:xfrm>
            <a:off x="711024" y="5584798"/>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Security</a:t>
            </a:r>
          </a:p>
        </p:txBody>
      </p:sp>
      <p:cxnSp>
        <p:nvCxnSpPr>
          <p:cNvPr id="39" name="Conector recto 23">
            <a:extLst>
              <a:ext uri="{FF2B5EF4-FFF2-40B4-BE49-F238E27FC236}">
                <a16:creationId xmlns:a16="http://schemas.microsoft.com/office/drawing/2014/main" id="{94DC92D5-21CF-4814-B7BB-08EB47D6E6CB}"/>
              </a:ext>
            </a:extLst>
          </p:cNvPr>
          <p:cNvCxnSpPr>
            <a:cxnSpLocks/>
          </p:cNvCxnSpPr>
          <p:nvPr/>
        </p:nvCxnSpPr>
        <p:spPr>
          <a:xfrm flipH="1" flipV="1">
            <a:off x="684799" y="5446621"/>
            <a:ext cx="5112000" cy="0"/>
          </a:xfrm>
          <a:prstGeom prst="line">
            <a:avLst/>
          </a:prstGeom>
          <a:noFill/>
          <a:ln w="12700" cap="flat" cmpd="sng" algn="ctr">
            <a:solidFill>
              <a:schemeClr val="bg1">
                <a:lumMod val="85000"/>
              </a:schemeClr>
            </a:solidFill>
            <a:prstDash val="solid"/>
            <a:miter lim="800000"/>
          </a:ln>
          <a:effectLst/>
        </p:spPr>
      </p:cxnSp>
      <p:sp>
        <p:nvSpPr>
          <p:cNvPr id="40" name="CuadroTexto 25">
            <a:extLst>
              <a:ext uri="{FF2B5EF4-FFF2-40B4-BE49-F238E27FC236}">
                <a16:creationId xmlns:a16="http://schemas.microsoft.com/office/drawing/2014/main" id="{E257EC08-D466-B7AD-6B92-3882FCC56CD0}"/>
              </a:ext>
            </a:extLst>
          </p:cNvPr>
          <p:cNvSpPr txBox="1"/>
          <p:nvPr/>
        </p:nvSpPr>
        <p:spPr>
          <a:xfrm>
            <a:off x="2274044" y="5508573"/>
            <a:ext cx="3630260" cy="830997"/>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rPr>
              <a:t>Security. Same security for all entities that provides seamless security process with a unique authentication and authorization (local tokens generation)</a:t>
            </a:r>
          </a:p>
        </p:txBody>
      </p:sp>
      <p:sp>
        <p:nvSpPr>
          <p:cNvPr id="41" name="Rectángulo 14">
            <a:extLst>
              <a:ext uri="{FF2B5EF4-FFF2-40B4-BE49-F238E27FC236}">
                <a16:creationId xmlns:a16="http://schemas.microsoft.com/office/drawing/2014/main" id="{678FA07D-0BC4-01D7-5B32-6FD91B9FA862}"/>
              </a:ext>
            </a:extLst>
          </p:cNvPr>
          <p:cNvSpPr/>
          <p:nvPr/>
        </p:nvSpPr>
        <p:spPr>
          <a:xfrm>
            <a:off x="6096000" y="3873031"/>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Timeline</a:t>
            </a:r>
          </a:p>
        </p:txBody>
      </p:sp>
      <p:sp>
        <p:nvSpPr>
          <p:cNvPr id="42" name="CuadroTexto 25">
            <a:extLst>
              <a:ext uri="{FF2B5EF4-FFF2-40B4-BE49-F238E27FC236}">
                <a16:creationId xmlns:a16="http://schemas.microsoft.com/office/drawing/2014/main" id="{CB3D0541-FDBC-1B6A-DE70-4F177D452E0E}"/>
              </a:ext>
            </a:extLst>
          </p:cNvPr>
          <p:cNvSpPr txBox="1"/>
          <p:nvPr/>
        </p:nvSpPr>
        <p:spPr>
          <a:xfrm>
            <a:off x="7659020" y="3796806"/>
            <a:ext cx="3630260" cy="646331"/>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lang="en-US" sz="1200">
                <a:solidFill>
                  <a:prstClr val="black"/>
                </a:solidFill>
                <a:latin typeface="Santander Text" panose="020B0504020201020104" pitchFamily="34" charset="0"/>
              </a:rPr>
              <a:t>Let the customer understand done operations with a visual representation of a chronological sequence of events along a drawn line</a:t>
            </a:r>
            <a:endPar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endParaRPr>
          </a:p>
        </p:txBody>
      </p:sp>
      <p:sp>
        <p:nvSpPr>
          <p:cNvPr id="43" name="Rectángulo 14">
            <a:extLst>
              <a:ext uri="{FF2B5EF4-FFF2-40B4-BE49-F238E27FC236}">
                <a16:creationId xmlns:a16="http://schemas.microsoft.com/office/drawing/2014/main" id="{0949A13A-2484-16C6-CE8B-A65186AD0779}"/>
              </a:ext>
            </a:extLst>
          </p:cNvPr>
          <p:cNvSpPr/>
          <p:nvPr/>
        </p:nvSpPr>
        <p:spPr>
          <a:xfrm>
            <a:off x="6096000" y="4711665"/>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Subscriptions</a:t>
            </a:r>
          </a:p>
        </p:txBody>
      </p:sp>
      <p:cxnSp>
        <p:nvCxnSpPr>
          <p:cNvPr id="44" name="Conector recto 23">
            <a:extLst>
              <a:ext uri="{FF2B5EF4-FFF2-40B4-BE49-F238E27FC236}">
                <a16:creationId xmlns:a16="http://schemas.microsoft.com/office/drawing/2014/main" id="{3B67F2F2-067F-19A6-476B-F302C70DABB8}"/>
              </a:ext>
            </a:extLst>
          </p:cNvPr>
          <p:cNvCxnSpPr>
            <a:cxnSpLocks/>
          </p:cNvCxnSpPr>
          <p:nvPr/>
        </p:nvCxnSpPr>
        <p:spPr>
          <a:xfrm flipH="1" flipV="1">
            <a:off x="6069775" y="4573488"/>
            <a:ext cx="5112000" cy="0"/>
          </a:xfrm>
          <a:prstGeom prst="line">
            <a:avLst/>
          </a:prstGeom>
          <a:noFill/>
          <a:ln w="12700" cap="flat" cmpd="sng" algn="ctr">
            <a:solidFill>
              <a:schemeClr val="bg1">
                <a:lumMod val="85000"/>
              </a:schemeClr>
            </a:solidFill>
            <a:prstDash val="solid"/>
            <a:miter lim="800000"/>
          </a:ln>
          <a:effectLst/>
        </p:spPr>
      </p:cxnSp>
      <p:sp>
        <p:nvSpPr>
          <p:cNvPr id="45" name="CuadroTexto 25">
            <a:extLst>
              <a:ext uri="{FF2B5EF4-FFF2-40B4-BE49-F238E27FC236}">
                <a16:creationId xmlns:a16="http://schemas.microsoft.com/office/drawing/2014/main" id="{182012CC-6C39-B208-C423-6A83B5B19109}"/>
              </a:ext>
            </a:extLst>
          </p:cNvPr>
          <p:cNvSpPr txBox="1"/>
          <p:nvPr/>
        </p:nvSpPr>
        <p:spPr>
          <a:xfrm>
            <a:off x="7659020" y="4603454"/>
            <a:ext cx="3630260" cy="830997"/>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lang="en-US" sz="1200">
                <a:solidFill>
                  <a:prstClr val="black"/>
                </a:solidFill>
                <a:latin typeface="Santander Text" panose="020B0504020201020104" pitchFamily="34" charset="0"/>
              </a:rPr>
              <a:t>S</a:t>
            </a:r>
            <a:r>
              <a:rPr kumimoji="0" lang="en-US" sz="1200" b="0" i="0" u="none" strike="noStrike" kern="1200" cap="none" spc="0" normalizeH="0" baseline="0" noProof="0" err="1">
                <a:ln>
                  <a:noFill/>
                </a:ln>
                <a:solidFill>
                  <a:prstClr val="black"/>
                </a:solidFill>
                <a:effectLst/>
                <a:uLnTx/>
                <a:uFillTx/>
                <a:latin typeface="Santander Text" panose="020B0504020201020104" pitchFamily="34" charset="0"/>
                <a:ea typeface="+mn-ea"/>
                <a:cs typeface="+mn-cs"/>
              </a:rPr>
              <a:t>implify</a:t>
            </a:r>
            <a:r>
              <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rPr>
              <a:t> customer management of cards and accounts subscriptions from one place and boost customer engagement with the use of relevant notifications about subscriptions status</a:t>
            </a:r>
          </a:p>
        </p:txBody>
      </p:sp>
      <p:sp>
        <p:nvSpPr>
          <p:cNvPr id="46" name="Rectángulo 14">
            <a:extLst>
              <a:ext uri="{FF2B5EF4-FFF2-40B4-BE49-F238E27FC236}">
                <a16:creationId xmlns:a16="http://schemas.microsoft.com/office/drawing/2014/main" id="{C7FA23A3-D339-B007-7880-4DE9A947FB2F}"/>
              </a:ext>
            </a:extLst>
          </p:cNvPr>
          <p:cNvSpPr/>
          <p:nvPr/>
        </p:nvSpPr>
        <p:spPr>
          <a:xfrm>
            <a:off x="6096000" y="5584798"/>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Financial Aggregator </a:t>
            </a:r>
          </a:p>
        </p:txBody>
      </p:sp>
      <p:cxnSp>
        <p:nvCxnSpPr>
          <p:cNvPr id="47" name="Conector recto 23">
            <a:extLst>
              <a:ext uri="{FF2B5EF4-FFF2-40B4-BE49-F238E27FC236}">
                <a16:creationId xmlns:a16="http://schemas.microsoft.com/office/drawing/2014/main" id="{70E786CA-7485-6F74-4DAE-AE6C7BDB4638}"/>
              </a:ext>
            </a:extLst>
          </p:cNvPr>
          <p:cNvCxnSpPr>
            <a:cxnSpLocks/>
          </p:cNvCxnSpPr>
          <p:nvPr/>
        </p:nvCxnSpPr>
        <p:spPr>
          <a:xfrm flipH="1" flipV="1">
            <a:off x="6069775" y="5446621"/>
            <a:ext cx="5112000" cy="0"/>
          </a:xfrm>
          <a:prstGeom prst="line">
            <a:avLst/>
          </a:prstGeom>
          <a:noFill/>
          <a:ln w="12700" cap="flat" cmpd="sng" algn="ctr">
            <a:solidFill>
              <a:schemeClr val="bg1">
                <a:lumMod val="85000"/>
              </a:schemeClr>
            </a:solidFill>
            <a:prstDash val="solid"/>
            <a:miter lim="800000"/>
          </a:ln>
          <a:effectLst/>
        </p:spPr>
      </p:cxnSp>
      <p:sp>
        <p:nvSpPr>
          <p:cNvPr id="48" name="CuadroTexto 25">
            <a:extLst>
              <a:ext uri="{FF2B5EF4-FFF2-40B4-BE49-F238E27FC236}">
                <a16:creationId xmlns:a16="http://schemas.microsoft.com/office/drawing/2014/main" id="{25E2C076-489B-A53F-3330-1109CB290226}"/>
              </a:ext>
            </a:extLst>
          </p:cNvPr>
          <p:cNvSpPr txBox="1"/>
          <p:nvPr/>
        </p:nvSpPr>
        <p:spPr>
          <a:xfrm>
            <a:off x="7659020" y="5508573"/>
            <a:ext cx="3630260" cy="830997"/>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lang="en-US" sz="1200">
                <a:solidFill>
                  <a:prstClr val="black"/>
                </a:solidFill>
                <a:latin typeface="Santander Text" panose="020B0504020201020104" pitchFamily="34" charset="0"/>
              </a:rPr>
              <a:t>B</a:t>
            </a:r>
            <a:r>
              <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rPr>
              <a:t>rings together information from a variety of financial accounts into a single dashboard-like view, allowing the customer to get a more complete picture of him/her financial situation</a:t>
            </a:r>
          </a:p>
        </p:txBody>
      </p:sp>
    </p:spTree>
    <p:extLst>
      <p:ext uri="{BB962C8B-B14F-4D97-AF65-F5344CB8AC3E}">
        <p14:creationId xmlns:p14="http://schemas.microsoft.com/office/powerpoint/2010/main" val="33385393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849C0-6525-8B5B-643D-795098344844}"/>
            </a:ext>
          </a:extLst>
        </p:cNvPr>
        <p:cNvGrpSpPr/>
        <p:nvPr/>
      </p:nvGrpSpPr>
      <p:grpSpPr>
        <a:xfrm>
          <a:off x="0" y="0"/>
          <a:ext cx="0" cy="0"/>
          <a:chOff x="0" y="0"/>
          <a:chExt cx="0" cy="0"/>
        </a:xfrm>
      </p:grpSpPr>
      <p:sp>
        <p:nvSpPr>
          <p:cNvPr id="17" name="Text Placeholder 2">
            <a:extLst>
              <a:ext uri="{FF2B5EF4-FFF2-40B4-BE49-F238E27FC236}">
                <a16:creationId xmlns:a16="http://schemas.microsoft.com/office/drawing/2014/main" id="{43A1DB95-F194-4DEB-B6C3-EDCBC1521B02}"/>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15" name="Rectángulo 14">
            <a:extLst>
              <a:ext uri="{FF2B5EF4-FFF2-40B4-BE49-F238E27FC236}">
                <a16:creationId xmlns:a16="http://schemas.microsoft.com/office/drawing/2014/main" id="{3426E039-7C5A-DB23-86A9-8A50297FFC3D}"/>
              </a:ext>
            </a:extLst>
          </p:cNvPr>
          <p:cNvSpPr/>
          <p:nvPr/>
        </p:nvSpPr>
        <p:spPr>
          <a:xfrm>
            <a:off x="711024" y="2976405"/>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Third Party Services </a:t>
            </a:r>
          </a:p>
        </p:txBody>
      </p:sp>
      <p:sp>
        <p:nvSpPr>
          <p:cNvPr id="19" name="Rectángulo 18">
            <a:extLst>
              <a:ext uri="{FF2B5EF4-FFF2-40B4-BE49-F238E27FC236}">
                <a16:creationId xmlns:a16="http://schemas.microsoft.com/office/drawing/2014/main" id="{16CB5B50-97EB-BCDA-6000-5D70EDCD65D8}"/>
              </a:ext>
            </a:extLst>
          </p:cNvPr>
          <p:cNvSpPr/>
          <p:nvPr/>
        </p:nvSpPr>
        <p:spPr>
          <a:xfrm>
            <a:off x="711024" y="2069931"/>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Social Services</a:t>
            </a:r>
          </a:p>
        </p:txBody>
      </p:sp>
      <p:sp>
        <p:nvSpPr>
          <p:cNvPr id="21" name="CuadroTexto 20">
            <a:extLst>
              <a:ext uri="{FF2B5EF4-FFF2-40B4-BE49-F238E27FC236}">
                <a16:creationId xmlns:a16="http://schemas.microsoft.com/office/drawing/2014/main" id="{95AEA894-3D6E-8E99-1235-6BCC2B57EE67}"/>
              </a:ext>
            </a:extLst>
          </p:cNvPr>
          <p:cNvSpPr txBox="1"/>
          <p:nvPr/>
        </p:nvSpPr>
        <p:spPr>
          <a:xfrm>
            <a:off x="684799" y="1128886"/>
            <a:ext cx="4391698" cy="807913"/>
          </a:xfrm>
          <a:prstGeom prst="rect">
            <a:avLst/>
          </a:prstGeom>
          <a:noFill/>
        </p:spPr>
        <p:txBody>
          <a:bodyPr wrap="square" rtlCol="0">
            <a:spAutoFit/>
          </a:bodyPr>
          <a:lstStyle/>
          <a:p>
            <a:pPr marL="355600" marR="0" lvl="0" indent="-355600" algn="l" defTabSz="914400" rtl="0" eaLnBrk="1" fontAlgn="auto" latinLnBrk="0" hangingPunct="1">
              <a:lnSpc>
                <a:spcPct val="100000"/>
              </a:lnSpc>
              <a:spcBef>
                <a:spcPts val="0"/>
              </a:spcBef>
              <a:spcAft>
                <a:spcPts val="300"/>
              </a:spcAft>
              <a:buClrTx/>
              <a:buSzTx/>
              <a:buFontTx/>
              <a:buNone/>
              <a:tabLst/>
              <a:defRPr/>
            </a:pPr>
            <a:r>
              <a:rPr kumimoji="0" lang="en-GB"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2 – Advisory &amp; Added value Services </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GB" sz="1400" b="0" i="1"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Set of capabilities to provide financial insights and tools to customers</a:t>
            </a:r>
          </a:p>
        </p:txBody>
      </p:sp>
      <p:cxnSp>
        <p:nvCxnSpPr>
          <p:cNvPr id="22" name="Conector recto 21">
            <a:extLst>
              <a:ext uri="{FF2B5EF4-FFF2-40B4-BE49-F238E27FC236}">
                <a16:creationId xmlns:a16="http://schemas.microsoft.com/office/drawing/2014/main" id="{8DBB620B-20D4-C176-5421-7195D8615A4A}"/>
              </a:ext>
            </a:extLst>
          </p:cNvPr>
          <p:cNvCxnSpPr>
            <a:cxnSpLocks/>
          </p:cNvCxnSpPr>
          <p:nvPr/>
        </p:nvCxnSpPr>
        <p:spPr>
          <a:xfrm flipH="1" flipV="1">
            <a:off x="711024" y="1933750"/>
            <a:ext cx="5112000" cy="0"/>
          </a:xfrm>
          <a:prstGeom prst="line">
            <a:avLst/>
          </a:prstGeom>
          <a:solidFill>
            <a:schemeClr val="accent4">
              <a:lumMod val="40000"/>
              <a:lumOff val="60000"/>
            </a:schemeClr>
          </a:solidFill>
          <a:ln w="12700" cap="flat" cmpd="sng" algn="ctr">
            <a:solidFill>
              <a:schemeClr val="bg2">
                <a:lumMod val="50000"/>
              </a:schemeClr>
            </a:solidFill>
            <a:prstDash val="solid"/>
            <a:miter lim="800000"/>
          </a:ln>
          <a:effectLst/>
        </p:spPr>
      </p:cxnSp>
      <p:sp>
        <p:nvSpPr>
          <p:cNvPr id="23" name="CuadroTexto 22">
            <a:extLst>
              <a:ext uri="{FF2B5EF4-FFF2-40B4-BE49-F238E27FC236}">
                <a16:creationId xmlns:a16="http://schemas.microsoft.com/office/drawing/2014/main" id="{2BCA9112-A76E-7E5A-6166-B18FCBA8E77F}"/>
              </a:ext>
            </a:extLst>
          </p:cNvPr>
          <p:cNvSpPr txBox="1"/>
          <p:nvPr/>
        </p:nvSpPr>
        <p:spPr>
          <a:xfrm>
            <a:off x="2192764" y="1965879"/>
            <a:ext cx="3658438" cy="909402"/>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180000" marR="0" lvl="0" indent="-180000" algn="l" defTabSz="914400" rtl="0" eaLnBrk="1" fontAlgn="auto" latinLnBrk="0" hangingPunct="1">
              <a:lnSpc>
                <a:spcPct val="100000"/>
              </a:lnSpc>
              <a:spcBef>
                <a:spcPts val="600"/>
              </a:spcBef>
              <a:spcAft>
                <a:spcPts val="0"/>
              </a:spcAft>
              <a:buClr>
                <a:srgbClr val="EC0000"/>
              </a:buClr>
              <a:buSzTx/>
              <a:buFont typeface="Arial" panose="020B0604020202020204" pitchFamily="34" charset="0"/>
              <a:buChar char="•"/>
              <a:tabLst/>
              <a:defRPr/>
            </a:pPr>
            <a:endParaRPr kumimoji="0" lang="en-GB" sz="1200" b="0" i="0" u="none" strike="noStrike" kern="1200" cap="none" spc="0" normalizeH="0" baseline="0" noProof="0">
              <a:ln>
                <a:noFill/>
              </a:ln>
              <a:solidFill>
                <a:srgbClr val="595959"/>
              </a:solidFill>
              <a:effectLst/>
              <a:uLnTx/>
              <a:uFillTx/>
              <a:latin typeface="Santander Text"/>
              <a:ea typeface="+mn-ea"/>
              <a:cs typeface="+mn-cs"/>
            </a:endParaRPr>
          </a:p>
        </p:txBody>
      </p:sp>
      <p:cxnSp>
        <p:nvCxnSpPr>
          <p:cNvPr id="24" name="Conector recto 23">
            <a:extLst>
              <a:ext uri="{FF2B5EF4-FFF2-40B4-BE49-F238E27FC236}">
                <a16:creationId xmlns:a16="http://schemas.microsoft.com/office/drawing/2014/main" id="{7790EDB7-921C-7389-A958-955E6E19A882}"/>
              </a:ext>
            </a:extLst>
          </p:cNvPr>
          <p:cNvCxnSpPr>
            <a:cxnSpLocks/>
          </p:cNvCxnSpPr>
          <p:nvPr/>
        </p:nvCxnSpPr>
        <p:spPr>
          <a:xfrm flipH="1" flipV="1">
            <a:off x="684799" y="2838228"/>
            <a:ext cx="5112000" cy="0"/>
          </a:xfrm>
          <a:prstGeom prst="line">
            <a:avLst/>
          </a:prstGeom>
          <a:noFill/>
          <a:ln w="12700" cap="flat" cmpd="sng" algn="ctr">
            <a:solidFill>
              <a:schemeClr val="bg1">
                <a:lumMod val="85000"/>
              </a:schemeClr>
            </a:solidFill>
            <a:prstDash val="solid"/>
            <a:miter lim="800000"/>
          </a:ln>
          <a:effectLst/>
        </p:spPr>
      </p:cxnSp>
      <p:sp>
        <p:nvSpPr>
          <p:cNvPr id="26" name="CuadroTexto 25">
            <a:extLst>
              <a:ext uri="{FF2B5EF4-FFF2-40B4-BE49-F238E27FC236}">
                <a16:creationId xmlns:a16="http://schemas.microsoft.com/office/drawing/2014/main" id="{47D867DE-ABBB-ECB1-F13C-934F4128AF11}"/>
              </a:ext>
            </a:extLst>
          </p:cNvPr>
          <p:cNvSpPr txBox="1"/>
          <p:nvPr/>
        </p:nvSpPr>
        <p:spPr>
          <a:xfrm>
            <a:off x="2274044" y="2900180"/>
            <a:ext cx="3630260" cy="461665"/>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lang="en-US" sz="1200">
                <a:solidFill>
                  <a:prstClr val="black"/>
                </a:solidFill>
                <a:latin typeface="Santander Text" panose="020B0504020201020104" pitchFamily="34" charset="0"/>
              </a:rPr>
              <a:t>P</a:t>
            </a:r>
            <a:r>
              <a:rPr kumimoji="0" lang="en-US" sz="1200" b="0" i="0" u="none" strike="noStrike" kern="1200" cap="none" spc="0" normalizeH="0" baseline="0" noProof="0" err="1">
                <a:ln>
                  <a:noFill/>
                </a:ln>
                <a:solidFill>
                  <a:prstClr val="black"/>
                </a:solidFill>
                <a:effectLst/>
                <a:uLnTx/>
                <a:uFillTx/>
                <a:latin typeface="Santander Text" panose="020B0504020201020104" pitchFamily="34" charset="0"/>
                <a:ea typeface="+mn-ea"/>
                <a:cs typeface="+mn-cs"/>
              </a:rPr>
              <a:t>rovide</a:t>
            </a:r>
            <a:r>
              <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rPr>
              <a:t> additional software services (e.g., analytics software) to the product</a:t>
            </a:r>
          </a:p>
        </p:txBody>
      </p:sp>
      <p:sp>
        <p:nvSpPr>
          <p:cNvPr id="32" name="CuadroTexto 31">
            <a:extLst>
              <a:ext uri="{FF2B5EF4-FFF2-40B4-BE49-F238E27FC236}">
                <a16:creationId xmlns:a16="http://schemas.microsoft.com/office/drawing/2014/main" id="{928BCA17-541A-B589-FFF7-84435217C900}"/>
              </a:ext>
            </a:extLst>
          </p:cNvPr>
          <p:cNvSpPr txBox="1"/>
          <p:nvPr/>
        </p:nvSpPr>
        <p:spPr>
          <a:xfrm>
            <a:off x="6141070" y="1128886"/>
            <a:ext cx="5111999" cy="807913"/>
          </a:xfrm>
          <a:prstGeom prst="rect">
            <a:avLst/>
          </a:prstGeom>
          <a:noFill/>
        </p:spPr>
        <p:txBody>
          <a:bodyPr wrap="square" rtlCol="0">
            <a:spAutoFit/>
          </a:bodyPr>
          <a:lstStyle/>
          <a:p>
            <a:pPr marL="355600" marR="0" lvl="0" indent="-355600" algn="l" defTabSz="914400" rtl="0" eaLnBrk="1" fontAlgn="auto" latinLnBrk="0" hangingPunct="1">
              <a:lnSpc>
                <a:spcPct val="100000"/>
              </a:lnSpc>
              <a:spcBef>
                <a:spcPts val="0"/>
              </a:spcBef>
              <a:spcAft>
                <a:spcPts val="300"/>
              </a:spcAft>
              <a:buClrTx/>
              <a:buSzTx/>
              <a:buFontTx/>
              <a:buNone/>
              <a:tabLst/>
              <a:defRPr/>
            </a:pPr>
            <a:r>
              <a:rPr kumimoji="0" lang="en-GB"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3 – Digital Sales</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GB" sz="1400" b="0" i="1"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Advertising and Self-service customer onboarding and origination processes</a:t>
            </a:r>
          </a:p>
        </p:txBody>
      </p:sp>
      <p:cxnSp>
        <p:nvCxnSpPr>
          <p:cNvPr id="33" name="Conector recto 32">
            <a:extLst>
              <a:ext uri="{FF2B5EF4-FFF2-40B4-BE49-F238E27FC236}">
                <a16:creationId xmlns:a16="http://schemas.microsoft.com/office/drawing/2014/main" id="{0B637F72-DF4D-23EA-83E0-0453F1D2032B}"/>
              </a:ext>
            </a:extLst>
          </p:cNvPr>
          <p:cNvCxnSpPr>
            <a:cxnSpLocks/>
          </p:cNvCxnSpPr>
          <p:nvPr/>
        </p:nvCxnSpPr>
        <p:spPr>
          <a:xfrm flipH="1" flipV="1">
            <a:off x="6167296" y="1933750"/>
            <a:ext cx="5112000" cy="0"/>
          </a:xfrm>
          <a:prstGeom prst="line">
            <a:avLst/>
          </a:prstGeom>
          <a:noFill/>
          <a:ln w="12700" cap="flat" cmpd="sng" algn="ctr">
            <a:solidFill>
              <a:srgbClr val="595959"/>
            </a:solidFill>
            <a:prstDash val="solid"/>
            <a:miter lim="800000"/>
          </a:ln>
          <a:effectLst/>
        </p:spPr>
      </p:cxnSp>
      <p:sp>
        <p:nvSpPr>
          <p:cNvPr id="34" name="CuadroTexto 33">
            <a:extLst>
              <a:ext uri="{FF2B5EF4-FFF2-40B4-BE49-F238E27FC236}">
                <a16:creationId xmlns:a16="http://schemas.microsoft.com/office/drawing/2014/main" id="{D32A1011-703E-792A-D02C-D56C488FB7A6}"/>
              </a:ext>
            </a:extLst>
          </p:cNvPr>
          <p:cNvSpPr txBox="1"/>
          <p:nvPr/>
        </p:nvSpPr>
        <p:spPr>
          <a:xfrm>
            <a:off x="7645203" y="1979444"/>
            <a:ext cx="3745858" cy="909402"/>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buClr>
                <a:srgbClr val="EC0000"/>
              </a:buClr>
              <a:buFont typeface="Wingdings" panose="05000000000000000000" pitchFamily="2" charset="2"/>
              <a:buChar char="§"/>
              <a:defRPr/>
            </a:pPr>
            <a:r>
              <a:rPr kumimoji="0" lang="en-US" sz="1200" b="0" i="0" u="none" strike="noStrike" kern="1200" cap="none" spc="0" normalizeH="0" baseline="0" noProof="0">
                <a:ln>
                  <a:noFill/>
                </a:ln>
                <a:solidFill>
                  <a:schemeClr val="tx1"/>
                </a:solidFill>
                <a:effectLst/>
                <a:uLnTx/>
                <a:uFillTx/>
                <a:latin typeface="Santander Text"/>
                <a:ea typeface="+mn-ea"/>
                <a:cs typeface="+mn-cs"/>
              </a:rPr>
              <a:t>Give the customer the most adequate commercial content and commercial space inside the applications</a:t>
            </a:r>
            <a:endParaRPr kumimoji="0" lang="en-GB" sz="1200" b="0" i="0" u="none" strike="noStrike" kern="1200" cap="none" spc="0" normalizeH="0" baseline="0" noProof="0">
              <a:ln>
                <a:noFill/>
              </a:ln>
              <a:solidFill>
                <a:schemeClr val="tx1"/>
              </a:solidFill>
              <a:effectLst/>
              <a:uLnTx/>
              <a:uFillTx/>
              <a:latin typeface="Santander Text"/>
              <a:ea typeface="+mn-ea"/>
              <a:cs typeface="+mn-cs"/>
            </a:endParaRPr>
          </a:p>
        </p:txBody>
      </p:sp>
      <p:cxnSp>
        <p:nvCxnSpPr>
          <p:cNvPr id="35" name="Conector recto 34">
            <a:extLst>
              <a:ext uri="{FF2B5EF4-FFF2-40B4-BE49-F238E27FC236}">
                <a16:creationId xmlns:a16="http://schemas.microsoft.com/office/drawing/2014/main" id="{153E8D93-7B20-4898-0850-2CA737D46BC3}"/>
              </a:ext>
            </a:extLst>
          </p:cNvPr>
          <p:cNvCxnSpPr>
            <a:cxnSpLocks/>
          </p:cNvCxnSpPr>
          <p:nvPr/>
        </p:nvCxnSpPr>
        <p:spPr>
          <a:xfrm flipH="1" flipV="1">
            <a:off x="6167296" y="2831213"/>
            <a:ext cx="5112000" cy="0"/>
          </a:xfrm>
          <a:prstGeom prst="line">
            <a:avLst/>
          </a:prstGeom>
          <a:noFill/>
          <a:ln w="12700" cap="flat" cmpd="sng" algn="ctr">
            <a:solidFill>
              <a:schemeClr val="bg1">
                <a:lumMod val="85000"/>
              </a:schemeClr>
            </a:solidFill>
            <a:prstDash val="solid"/>
            <a:miter lim="800000"/>
          </a:ln>
          <a:effectLst/>
        </p:spPr>
      </p:cxnSp>
      <p:cxnSp>
        <p:nvCxnSpPr>
          <p:cNvPr id="37" name="Conector recto 36">
            <a:extLst>
              <a:ext uri="{FF2B5EF4-FFF2-40B4-BE49-F238E27FC236}">
                <a16:creationId xmlns:a16="http://schemas.microsoft.com/office/drawing/2014/main" id="{B07DFBCF-712A-FA1F-2B7B-B15B1306A4F6}"/>
              </a:ext>
            </a:extLst>
          </p:cNvPr>
          <p:cNvCxnSpPr>
            <a:cxnSpLocks/>
          </p:cNvCxnSpPr>
          <p:nvPr/>
        </p:nvCxnSpPr>
        <p:spPr>
          <a:xfrm flipH="1" flipV="1">
            <a:off x="6160718" y="3731026"/>
            <a:ext cx="5112000" cy="0"/>
          </a:xfrm>
          <a:prstGeom prst="line">
            <a:avLst/>
          </a:prstGeom>
          <a:noFill/>
          <a:ln w="12700" cap="flat" cmpd="sng" algn="ctr">
            <a:solidFill>
              <a:schemeClr val="bg1">
                <a:lumMod val="85000"/>
              </a:schemeClr>
            </a:solidFill>
            <a:prstDash val="solid"/>
            <a:miter lim="800000"/>
          </a:ln>
          <a:effectLst/>
        </p:spPr>
      </p:cxnSp>
      <p:sp>
        <p:nvSpPr>
          <p:cNvPr id="50" name="CuadroTexto 49">
            <a:extLst>
              <a:ext uri="{FF2B5EF4-FFF2-40B4-BE49-F238E27FC236}">
                <a16:creationId xmlns:a16="http://schemas.microsoft.com/office/drawing/2014/main" id="{31911262-5B14-A6C7-AF0F-EA4DCE9602FA}"/>
              </a:ext>
            </a:extLst>
          </p:cNvPr>
          <p:cNvSpPr txBox="1"/>
          <p:nvPr/>
        </p:nvSpPr>
        <p:spPr>
          <a:xfrm>
            <a:off x="7659020" y="2930765"/>
            <a:ext cx="3718224" cy="646331"/>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600"/>
              </a:spcBef>
              <a:spcAft>
                <a:spcPts val="0"/>
              </a:spcAft>
              <a:buClr>
                <a:srgbClr val="EC0000"/>
              </a:buClr>
              <a:buSzTx/>
              <a:buFont typeface="Wingdings" panose="05000000000000000000" pitchFamily="2" charset="2"/>
              <a:buChar char="§"/>
              <a:tabLst/>
              <a:defRPr/>
            </a:pPr>
            <a:r>
              <a:rPr lang="en-US" sz="1200">
                <a:latin typeface="Santander Text"/>
              </a:rPr>
              <a:t>Provides the customer Omnichannel Identity Experience consistent in acquiring customer information to onboard the customer.</a:t>
            </a:r>
          </a:p>
        </p:txBody>
      </p:sp>
      <p:sp>
        <p:nvSpPr>
          <p:cNvPr id="4" name="Rectángulo 262">
            <a:extLst>
              <a:ext uri="{FF2B5EF4-FFF2-40B4-BE49-F238E27FC236}">
                <a16:creationId xmlns:a16="http://schemas.microsoft.com/office/drawing/2014/main" id="{D53A5BD2-4E93-2200-B531-480B93DB8039}"/>
              </a:ext>
            </a:extLst>
          </p:cNvPr>
          <p:cNvSpPr/>
          <p:nvPr/>
        </p:nvSpPr>
        <p:spPr>
          <a:xfrm>
            <a:off x="6105200" y="2069931"/>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Commercial Banners </a:t>
            </a:r>
          </a:p>
        </p:txBody>
      </p:sp>
      <p:sp>
        <p:nvSpPr>
          <p:cNvPr id="13" name="Rectángulo 262">
            <a:extLst>
              <a:ext uri="{FF2B5EF4-FFF2-40B4-BE49-F238E27FC236}">
                <a16:creationId xmlns:a16="http://schemas.microsoft.com/office/drawing/2014/main" id="{3CABDA86-7285-4E04-CD2F-BBCD13978DC4}"/>
              </a:ext>
            </a:extLst>
          </p:cNvPr>
          <p:cNvSpPr/>
          <p:nvPr/>
        </p:nvSpPr>
        <p:spPr>
          <a:xfrm>
            <a:off x="6105200" y="3019436"/>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Customer Onboarding </a:t>
            </a:r>
          </a:p>
        </p:txBody>
      </p:sp>
      <p:sp>
        <p:nvSpPr>
          <p:cNvPr id="25" name="CuadroTexto 24">
            <a:extLst>
              <a:ext uri="{FF2B5EF4-FFF2-40B4-BE49-F238E27FC236}">
                <a16:creationId xmlns:a16="http://schemas.microsoft.com/office/drawing/2014/main" id="{A3057522-8258-0108-FC81-BE6BF2A3490D}"/>
              </a:ext>
            </a:extLst>
          </p:cNvPr>
          <p:cNvSpPr txBox="1"/>
          <p:nvPr/>
        </p:nvSpPr>
        <p:spPr>
          <a:xfrm>
            <a:off x="2274044" y="2003182"/>
            <a:ext cx="3454489" cy="646331"/>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lang="en-US" sz="1200">
                <a:solidFill>
                  <a:prstClr val="black"/>
                </a:solidFill>
                <a:latin typeface="Santander Text" panose="020B0504020201020104" pitchFamily="34" charset="0"/>
              </a:rPr>
              <a:t>Provide support and assistance towards particular groups, which commonly include the disadvantaged</a:t>
            </a:r>
            <a:endParaRPr kumimoji="0" lang="en-GB"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endParaRPr>
          </a:p>
        </p:txBody>
      </p:sp>
      <p:sp>
        <p:nvSpPr>
          <p:cNvPr id="6" name="Título 1">
            <a:extLst>
              <a:ext uri="{FF2B5EF4-FFF2-40B4-BE49-F238E27FC236}">
                <a16:creationId xmlns:a16="http://schemas.microsoft.com/office/drawing/2014/main" id="{6E470911-B0DF-8342-6E0A-2D4779548391}"/>
              </a:ext>
            </a:extLst>
          </p:cNvPr>
          <p:cNvSpPr>
            <a:spLocks noGrp="1"/>
          </p:cNvSpPr>
          <p:nvPr>
            <p:ph type="title"/>
          </p:nvPr>
        </p:nvSpPr>
        <p:spPr>
          <a:xfrm>
            <a:off x="711024" y="641900"/>
            <a:ext cx="10758733" cy="445400"/>
          </a:xfrm>
        </p:spPr>
        <p:txBody>
          <a:bodyPr/>
          <a:lstStyle/>
          <a:p>
            <a:pPr>
              <a:defRPr/>
            </a:pPr>
            <a:r>
              <a:rPr kumimoji="0" lang="es-ES" sz="2800" b="1" i="0" u="none" strike="noStrike" kern="1200" cap="none" spc="0" normalizeH="0" baseline="0" noProof="0">
                <a:ln>
                  <a:noFill/>
                </a:ln>
                <a:solidFill>
                  <a:srgbClr val="EC0000"/>
                </a:solidFill>
                <a:effectLst/>
                <a:uLnTx/>
                <a:uFillTx/>
                <a:latin typeface="Santander Headline"/>
                <a:ea typeface="+mj-ea"/>
                <a:cs typeface="+mj-cs"/>
              </a:rPr>
              <a:t>DCB</a:t>
            </a:r>
            <a:r>
              <a:rPr lang="es-ES">
                <a:solidFill>
                  <a:srgbClr val="EC0000"/>
                </a:solidFill>
                <a:latin typeface="Santander Headline"/>
              </a:rPr>
              <a:t>.</a:t>
            </a:r>
            <a:r>
              <a:rPr kumimoji="0" lang="es-ES" sz="2800" b="1" i="0" u="none" strike="noStrike" kern="1200" cap="none" spc="0" normalizeH="0" baseline="0" noProof="0">
                <a:ln>
                  <a:noFill/>
                </a:ln>
                <a:solidFill>
                  <a:srgbClr val="EC0000"/>
                </a:solidFill>
                <a:effectLst/>
                <a:uLnTx/>
                <a:uFillTx/>
                <a:latin typeface="Santander Headline"/>
                <a:ea typeface="+mj-ea"/>
                <a:cs typeface="+mj-cs"/>
              </a:rPr>
              <a:t> </a:t>
            </a:r>
            <a:r>
              <a:rPr kumimoji="0" lang="en-AU" sz="2800" b="1" i="0" u="none" strike="noStrike" kern="1200" cap="none" spc="0" normalizeH="0" baseline="0" noProof="0">
                <a:ln>
                  <a:noFill/>
                </a:ln>
                <a:solidFill>
                  <a:srgbClr val="BFBFBF"/>
                </a:solidFill>
                <a:effectLst/>
                <a:uLnTx/>
                <a:uFillTx/>
                <a:latin typeface="Santander Headline"/>
                <a:ea typeface="+mj-ea"/>
                <a:cs typeface="+mj-cs"/>
              </a:rPr>
              <a:t>Digital Channels Individuals</a:t>
            </a:r>
            <a:endParaRPr lang="en-US">
              <a:solidFill>
                <a:schemeClr val="bg1">
                  <a:lumMod val="75000"/>
                </a:schemeClr>
              </a:solidFill>
            </a:endParaRPr>
          </a:p>
        </p:txBody>
      </p:sp>
      <p:sp>
        <p:nvSpPr>
          <p:cNvPr id="20" name="Rectángulo 14">
            <a:extLst>
              <a:ext uri="{FF2B5EF4-FFF2-40B4-BE49-F238E27FC236}">
                <a16:creationId xmlns:a16="http://schemas.microsoft.com/office/drawing/2014/main" id="{8AB70D1D-16DA-9CEC-8AC9-94ECC5B0F92C}"/>
              </a:ext>
            </a:extLst>
          </p:cNvPr>
          <p:cNvSpPr/>
          <p:nvPr/>
        </p:nvSpPr>
        <p:spPr>
          <a:xfrm>
            <a:off x="711024" y="3873031"/>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Alerts &amp; Warnings </a:t>
            </a:r>
          </a:p>
        </p:txBody>
      </p:sp>
      <p:cxnSp>
        <p:nvCxnSpPr>
          <p:cNvPr id="28" name="Conector recto 23">
            <a:extLst>
              <a:ext uri="{FF2B5EF4-FFF2-40B4-BE49-F238E27FC236}">
                <a16:creationId xmlns:a16="http://schemas.microsoft.com/office/drawing/2014/main" id="{1520ABC6-07EA-A689-B739-BE0BD92258F0}"/>
              </a:ext>
            </a:extLst>
          </p:cNvPr>
          <p:cNvCxnSpPr>
            <a:cxnSpLocks/>
          </p:cNvCxnSpPr>
          <p:nvPr/>
        </p:nvCxnSpPr>
        <p:spPr>
          <a:xfrm flipH="1" flipV="1">
            <a:off x="684799" y="3734854"/>
            <a:ext cx="5112000" cy="0"/>
          </a:xfrm>
          <a:prstGeom prst="line">
            <a:avLst/>
          </a:prstGeom>
          <a:noFill/>
          <a:ln w="12700" cap="flat" cmpd="sng" algn="ctr">
            <a:solidFill>
              <a:schemeClr val="bg1">
                <a:lumMod val="85000"/>
              </a:schemeClr>
            </a:solidFill>
            <a:prstDash val="solid"/>
            <a:miter lim="800000"/>
          </a:ln>
          <a:effectLst/>
        </p:spPr>
      </p:cxnSp>
      <p:sp>
        <p:nvSpPr>
          <p:cNvPr id="29" name="CuadroTexto 25">
            <a:extLst>
              <a:ext uri="{FF2B5EF4-FFF2-40B4-BE49-F238E27FC236}">
                <a16:creationId xmlns:a16="http://schemas.microsoft.com/office/drawing/2014/main" id="{167AB572-F9AB-22A9-A2D1-13F1FAD9F9CC}"/>
              </a:ext>
            </a:extLst>
          </p:cNvPr>
          <p:cNvSpPr txBox="1"/>
          <p:nvPr/>
        </p:nvSpPr>
        <p:spPr>
          <a:xfrm>
            <a:off x="2274044" y="3796806"/>
            <a:ext cx="3630260" cy="646331"/>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lang="en-US" sz="1200">
                <a:solidFill>
                  <a:prstClr val="black"/>
                </a:solidFill>
                <a:latin typeface="Santander Text" panose="020B0504020201020104" pitchFamily="34" charset="0"/>
              </a:rPr>
              <a:t>Sent to the customer in real time about transactional operations or potential risks (security or financial)</a:t>
            </a:r>
            <a:endPar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endParaRPr>
          </a:p>
        </p:txBody>
      </p:sp>
      <p:sp>
        <p:nvSpPr>
          <p:cNvPr id="30" name="Rectángulo 14">
            <a:extLst>
              <a:ext uri="{FF2B5EF4-FFF2-40B4-BE49-F238E27FC236}">
                <a16:creationId xmlns:a16="http://schemas.microsoft.com/office/drawing/2014/main" id="{6F39137D-82C3-8FD7-7DE9-5B34F0D35E22}"/>
              </a:ext>
            </a:extLst>
          </p:cNvPr>
          <p:cNvSpPr/>
          <p:nvPr/>
        </p:nvSpPr>
        <p:spPr>
          <a:xfrm>
            <a:off x="711024" y="4711665"/>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Wallets </a:t>
            </a:r>
          </a:p>
        </p:txBody>
      </p:sp>
      <p:cxnSp>
        <p:nvCxnSpPr>
          <p:cNvPr id="31" name="Conector recto 23">
            <a:extLst>
              <a:ext uri="{FF2B5EF4-FFF2-40B4-BE49-F238E27FC236}">
                <a16:creationId xmlns:a16="http://schemas.microsoft.com/office/drawing/2014/main" id="{4A221A30-01B2-0352-2846-4DC1D4A22AB6}"/>
              </a:ext>
            </a:extLst>
          </p:cNvPr>
          <p:cNvCxnSpPr>
            <a:cxnSpLocks/>
          </p:cNvCxnSpPr>
          <p:nvPr/>
        </p:nvCxnSpPr>
        <p:spPr>
          <a:xfrm flipH="1" flipV="1">
            <a:off x="684799" y="4573488"/>
            <a:ext cx="5112000" cy="0"/>
          </a:xfrm>
          <a:prstGeom prst="line">
            <a:avLst/>
          </a:prstGeom>
          <a:noFill/>
          <a:ln w="12700" cap="flat" cmpd="sng" algn="ctr">
            <a:solidFill>
              <a:schemeClr val="bg1">
                <a:lumMod val="85000"/>
              </a:schemeClr>
            </a:solidFill>
            <a:prstDash val="solid"/>
            <a:miter lim="800000"/>
          </a:ln>
          <a:effectLst/>
        </p:spPr>
      </p:cxnSp>
      <p:sp>
        <p:nvSpPr>
          <p:cNvPr id="36" name="CuadroTexto 25">
            <a:extLst>
              <a:ext uri="{FF2B5EF4-FFF2-40B4-BE49-F238E27FC236}">
                <a16:creationId xmlns:a16="http://schemas.microsoft.com/office/drawing/2014/main" id="{4518A6AA-9B4E-EFBD-97A3-F63C3F946462}"/>
              </a:ext>
            </a:extLst>
          </p:cNvPr>
          <p:cNvSpPr txBox="1"/>
          <p:nvPr/>
        </p:nvSpPr>
        <p:spPr>
          <a:xfrm>
            <a:off x="2274044" y="4635440"/>
            <a:ext cx="3630260" cy="830997"/>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rPr>
              <a:t>Let customers add a payment pass from within a bank or card issuer app, they need to intentionally already be in the app and have the goal of adding the pass</a:t>
            </a:r>
          </a:p>
        </p:txBody>
      </p:sp>
      <p:sp>
        <p:nvSpPr>
          <p:cNvPr id="41" name="Rectángulo 14">
            <a:extLst>
              <a:ext uri="{FF2B5EF4-FFF2-40B4-BE49-F238E27FC236}">
                <a16:creationId xmlns:a16="http://schemas.microsoft.com/office/drawing/2014/main" id="{047F360F-DA1A-0493-FF4F-B9DA79A3034F}"/>
              </a:ext>
            </a:extLst>
          </p:cNvPr>
          <p:cNvSpPr/>
          <p:nvPr/>
        </p:nvSpPr>
        <p:spPr>
          <a:xfrm>
            <a:off x="6096000" y="3873031"/>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Product Sales</a:t>
            </a:r>
          </a:p>
        </p:txBody>
      </p:sp>
      <p:sp>
        <p:nvSpPr>
          <p:cNvPr id="42" name="CuadroTexto 25">
            <a:extLst>
              <a:ext uri="{FF2B5EF4-FFF2-40B4-BE49-F238E27FC236}">
                <a16:creationId xmlns:a16="http://schemas.microsoft.com/office/drawing/2014/main" id="{E36A3FD4-2A5E-794B-8C3A-963A28FA0854}"/>
              </a:ext>
            </a:extLst>
          </p:cNvPr>
          <p:cNvSpPr txBox="1"/>
          <p:nvPr/>
        </p:nvSpPr>
        <p:spPr>
          <a:xfrm>
            <a:off x="7659020" y="3796806"/>
            <a:ext cx="3630260" cy="646331"/>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lang="en-US" sz="1200">
                <a:solidFill>
                  <a:prstClr val="black"/>
                </a:solidFill>
                <a:latin typeface="Santander Text" panose="020B0504020201020104" pitchFamily="34" charset="0"/>
              </a:rPr>
              <a:t>Coordinate commercial actions in the different channels and maintain user experience across the channels</a:t>
            </a:r>
            <a:endPar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endParaRPr>
          </a:p>
        </p:txBody>
      </p:sp>
      <p:sp>
        <p:nvSpPr>
          <p:cNvPr id="43" name="Rectángulo 14">
            <a:extLst>
              <a:ext uri="{FF2B5EF4-FFF2-40B4-BE49-F238E27FC236}">
                <a16:creationId xmlns:a16="http://schemas.microsoft.com/office/drawing/2014/main" id="{1A5E652C-406E-6B03-8CD2-AF1B3FD08B4B}"/>
              </a:ext>
            </a:extLst>
          </p:cNvPr>
          <p:cNvSpPr/>
          <p:nvPr/>
        </p:nvSpPr>
        <p:spPr>
          <a:xfrm>
            <a:off x="6096000" y="4711665"/>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Search Engine Optimization (SEO)</a:t>
            </a:r>
          </a:p>
        </p:txBody>
      </p:sp>
      <p:cxnSp>
        <p:nvCxnSpPr>
          <p:cNvPr id="44" name="Conector recto 23">
            <a:extLst>
              <a:ext uri="{FF2B5EF4-FFF2-40B4-BE49-F238E27FC236}">
                <a16:creationId xmlns:a16="http://schemas.microsoft.com/office/drawing/2014/main" id="{0C88E74F-2BB0-7E4A-3B46-8112BB5FFA6A}"/>
              </a:ext>
            </a:extLst>
          </p:cNvPr>
          <p:cNvCxnSpPr>
            <a:cxnSpLocks/>
          </p:cNvCxnSpPr>
          <p:nvPr/>
        </p:nvCxnSpPr>
        <p:spPr>
          <a:xfrm flipH="1" flipV="1">
            <a:off x="6069775" y="4573488"/>
            <a:ext cx="5112000" cy="0"/>
          </a:xfrm>
          <a:prstGeom prst="line">
            <a:avLst/>
          </a:prstGeom>
          <a:noFill/>
          <a:ln w="12700" cap="flat" cmpd="sng" algn="ctr">
            <a:solidFill>
              <a:schemeClr val="bg1">
                <a:lumMod val="85000"/>
              </a:schemeClr>
            </a:solidFill>
            <a:prstDash val="solid"/>
            <a:miter lim="800000"/>
          </a:ln>
          <a:effectLst/>
        </p:spPr>
      </p:cxnSp>
      <p:sp>
        <p:nvSpPr>
          <p:cNvPr id="45" name="CuadroTexto 25">
            <a:extLst>
              <a:ext uri="{FF2B5EF4-FFF2-40B4-BE49-F238E27FC236}">
                <a16:creationId xmlns:a16="http://schemas.microsoft.com/office/drawing/2014/main" id="{3F78F6B6-4244-149C-AE21-623818F7A310}"/>
              </a:ext>
            </a:extLst>
          </p:cNvPr>
          <p:cNvSpPr txBox="1"/>
          <p:nvPr/>
        </p:nvSpPr>
        <p:spPr>
          <a:xfrm>
            <a:off x="7659020" y="4603454"/>
            <a:ext cx="3630260" cy="646331"/>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lang="en-US" sz="1200">
                <a:solidFill>
                  <a:prstClr val="black"/>
                </a:solidFill>
                <a:latin typeface="Santander Text" panose="020B0504020201020104" pitchFamily="34" charset="0"/>
              </a:rPr>
              <a:t>Have the purpose of give us techniques and strategies adapted to improve the visibility in the public global search engines</a:t>
            </a:r>
            <a:endPar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endParaRPr>
          </a:p>
        </p:txBody>
      </p:sp>
      <p:sp>
        <p:nvSpPr>
          <p:cNvPr id="46" name="Rectángulo 14">
            <a:extLst>
              <a:ext uri="{FF2B5EF4-FFF2-40B4-BE49-F238E27FC236}">
                <a16:creationId xmlns:a16="http://schemas.microsoft.com/office/drawing/2014/main" id="{4AEEDB82-32E1-0EDB-5369-345D74E4D0F6}"/>
              </a:ext>
            </a:extLst>
          </p:cNvPr>
          <p:cNvSpPr/>
          <p:nvPr/>
        </p:nvSpPr>
        <p:spPr>
          <a:xfrm>
            <a:off x="6096000" y="5584798"/>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Public Web Site</a:t>
            </a:r>
          </a:p>
        </p:txBody>
      </p:sp>
      <p:cxnSp>
        <p:nvCxnSpPr>
          <p:cNvPr id="47" name="Conector recto 23">
            <a:extLst>
              <a:ext uri="{FF2B5EF4-FFF2-40B4-BE49-F238E27FC236}">
                <a16:creationId xmlns:a16="http://schemas.microsoft.com/office/drawing/2014/main" id="{61D62AA3-2AC3-3E7F-F56F-A461A1AEC345}"/>
              </a:ext>
            </a:extLst>
          </p:cNvPr>
          <p:cNvCxnSpPr>
            <a:cxnSpLocks/>
          </p:cNvCxnSpPr>
          <p:nvPr/>
        </p:nvCxnSpPr>
        <p:spPr>
          <a:xfrm flipH="1" flipV="1">
            <a:off x="6069775" y="5446621"/>
            <a:ext cx="5112000" cy="0"/>
          </a:xfrm>
          <a:prstGeom prst="line">
            <a:avLst/>
          </a:prstGeom>
          <a:noFill/>
          <a:ln w="12700" cap="flat" cmpd="sng" algn="ctr">
            <a:solidFill>
              <a:schemeClr val="bg1">
                <a:lumMod val="85000"/>
              </a:schemeClr>
            </a:solidFill>
            <a:prstDash val="solid"/>
            <a:miter lim="800000"/>
          </a:ln>
          <a:effectLst/>
        </p:spPr>
      </p:cxnSp>
      <p:sp>
        <p:nvSpPr>
          <p:cNvPr id="48" name="CuadroTexto 25">
            <a:extLst>
              <a:ext uri="{FF2B5EF4-FFF2-40B4-BE49-F238E27FC236}">
                <a16:creationId xmlns:a16="http://schemas.microsoft.com/office/drawing/2014/main" id="{0B672723-E6FB-60D8-2E31-DDA31950AE04}"/>
              </a:ext>
            </a:extLst>
          </p:cNvPr>
          <p:cNvSpPr txBox="1"/>
          <p:nvPr/>
        </p:nvSpPr>
        <p:spPr>
          <a:xfrm>
            <a:off x="7659020" y="5508573"/>
            <a:ext cx="3630260" cy="830997"/>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lang="en-US" sz="1200">
                <a:solidFill>
                  <a:prstClr val="black"/>
                </a:solidFill>
                <a:latin typeface="Santander Text" panose="020B0504020201020104" pitchFamily="34" charset="0"/>
              </a:rPr>
              <a:t>Provides access to public enterprise resources for public consumption. Its main responsibilities are Content Lifecycle, Content Personalization, Digital Asset Management and Advance Search</a:t>
            </a:r>
            <a:endPar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endParaRPr>
          </a:p>
        </p:txBody>
      </p:sp>
    </p:spTree>
    <p:extLst>
      <p:ext uri="{BB962C8B-B14F-4D97-AF65-F5344CB8AC3E}">
        <p14:creationId xmlns:p14="http://schemas.microsoft.com/office/powerpoint/2010/main" val="24148070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37FBE-BF17-8F17-49BE-64A8B96E196E}"/>
            </a:ext>
          </a:extLst>
        </p:cNvPr>
        <p:cNvGrpSpPr/>
        <p:nvPr/>
      </p:nvGrpSpPr>
      <p:grpSpPr>
        <a:xfrm>
          <a:off x="0" y="0"/>
          <a:ext cx="0" cy="0"/>
          <a:chOff x="0" y="0"/>
          <a:chExt cx="0" cy="0"/>
        </a:xfrm>
      </p:grpSpPr>
      <p:sp>
        <p:nvSpPr>
          <p:cNvPr id="17" name="Text Placeholder 2">
            <a:extLst>
              <a:ext uri="{FF2B5EF4-FFF2-40B4-BE49-F238E27FC236}">
                <a16:creationId xmlns:a16="http://schemas.microsoft.com/office/drawing/2014/main" id="{F20DADFE-DDC9-D13D-668A-464813888302}"/>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15" name="Rectángulo 14">
            <a:extLst>
              <a:ext uri="{FF2B5EF4-FFF2-40B4-BE49-F238E27FC236}">
                <a16:creationId xmlns:a16="http://schemas.microsoft.com/office/drawing/2014/main" id="{F1D9737E-5109-4AEB-A291-7113A1EDD859}"/>
              </a:ext>
            </a:extLst>
          </p:cNvPr>
          <p:cNvSpPr/>
          <p:nvPr/>
        </p:nvSpPr>
        <p:spPr>
          <a:xfrm>
            <a:off x="711024" y="2976405"/>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Accounts &amp; Deposits</a:t>
            </a:r>
          </a:p>
        </p:txBody>
      </p:sp>
      <p:sp>
        <p:nvSpPr>
          <p:cNvPr id="19" name="Rectángulo 18">
            <a:extLst>
              <a:ext uri="{FF2B5EF4-FFF2-40B4-BE49-F238E27FC236}">
                <a16:creationId xmlns:a16="http://schemas.microsoft.com/office/drawing/2014/main" id="{A36180CD-7A71-A0AC-F36B-B5D8FBB19F9C}"/>
              </a:ext>
            </a:extLst>
          </p:cNvPr>
          <p:cNvSpPr/>
          <p:nvPr/>
        </p:nvSpPr>
        <p:spPr>
          <a:xfrm>
            <a:off x="711024" y="2069931"/>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Global Position</a:t>
            </a:r>
          </a:p>
        </p:txBody>
      </p:sp>
      <p:sp>
        <p:nvSpPr>
          <p:cNvPr id="21" name="CuadroTexto 20">
            <a:extLst>
              <a:ext uri="{FF2B5EF4-FFF2-40B4-BE49-F238E27FC236}">
                <a16:creationId xmlns:a16="http://schemas.microsoft.com/office/drawing/2014/main" id="{C6F22D3B-46AD-C29C-A35B-BC4E06998708}"/>
              </a:ext>
            </a:extLst>
          </p:cNvPr>
          <p:cNvSpPr txBox="1"/>
          <p:nvPr/>
        </p:nvSpPr>
        <p:spPr>
          <a:xfrm>
            <a:off x="684798" y="1128886"/>
            <a:ext cx="5111999" cy="807913"/>
          </a:xfrm>
          <a:prstGeom prst="rect">
            <a:avLst/>
          </a:prstGeom>
          <a:noFill/>
        </p:spPr>
        <p:txBody>
          <a:bodyPr wrap="square" rtlCol="0">
            <a:spAutoFit/>
          </a:bodyPr>
          <a:lstStyle/>
          <a:p>
            <a:pPr marL="355600" marR="0" lvl="0" indent="-355600" algn="l" defTabSz="914400" rtl="0" eaLnBrk="1" fontAlgn="auto" latinLnBrk="0" hangingPunct="1">
              <a:lnSpc>
                <a:spcPct val="100000"/>
              </a:lnSpc>
              <a:spcBef>
                <a:spcPts val="0"/>
              </a:spcBef>
              <a:spcAft>
                <a:spcPts val="300"/>
              </a:spcAft>
              <a:buClrTx/>
              <a:buSzTx/>
              <a:buFontTx/>
              <a:buNone/>
              <a:tabLst/>
              <a:defRPr/>
            </a:pPr>
            <a:r>
              <a:rPr kumimoji="0" lang="en-GB"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4 –Transactional Services </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GB" sz="1400" b="0" i="1"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Multichannel designed components to support the transactional operative at web and APP (mainly Global and some Local)</a:t>
            </a:r>
          </a:p>
        </p:txBody>
      </p:sp>
      <p:cxnSp>
        <p:nvCxnSpPr>
          <p:cNvPr id="22" name="Conector recto 21">
            <a:extLst>
              <a:ext uri="{FF2B5EF4-FFF2-40B4-BE49-F238E27FC236}">
                <a16:creationId xmlns:a16="http://schemas.microsoft.com/office/drawing/2014/main" id="{7A3DCBDF-213E-6B89-A244-E76EBD621EF2}"/>
              </a:ext>
            </a:extLst>
          </p:cNvPr>
          <p:cNvCxnSpPr>
            <a:cxnSpLocks/>
          </p:cNvCxnSpPr>
          <p:nvPr/>
        </p:nvCxnSpPr>
        <p:spPr>
          <a:xfrm flipH="1" flipV="1">
            <a:off x="711024" y="1933750"/>
            <a:ext cx="5112000" cy="0"/>
          </a:xfrm>
          <a:prstGeom prst="line">
            <a:avLst/>
          </a:prstGeom>
          <a:solidFill>
            <a:schemeClr val="accent4">
              <a:lumMod val="40000"/>
              <a:lumOff val="60000"/>
            </a:schemeClr>
          </a:solidFill>
          <a:ln w="12700" cap="flat" cmpd="sng" algn="ctr">
            <a:solidFill>
              <a:schemeClr val="bg2">
                <a:lumMod val="50000"/>
              </a:schemeClr>
            </a:solidFill>
            <a:prstDash val="solid"/>
            <a:miter lim="800000"/>
          </a:ln>
          <a:effectLst/>
        </p:spPr>
      </p:cxnSp>
      <p:sp>
        <p:nvSpPr>
          <p:cNvPr id="23" name="CuadroTexto 22">
            <a:extLst>
              <a:ext uri="{FF2B5EF4-FFF2-40B4-BE49-F238E27FC236}">
                <a16:creationId xmlns:a16="http://schemas.microsoft.com/office/drawing/2014/main" id="{914DA8C2-A9B8-DFE2-2CEE-7A95A0418F3F}"/>
              </a:ext>
            </a:extLst>
          </p:cNvPr>
          <p:cNvSpPr txBox="1"/>
          <p:nvPr/>
        </p:nvSpPr>
        <p:spPr>
          <a:xfrm>
            <a:off x="2192764" y="1965879"/>
            <a:ext cx="3658438" cy="909402"/>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180000" marR="0" lvl="0" indent="-180000" algn="l" defTabSz="914400" rtl="0" eaLnBrk="1" fontAlgn="auto" latinLnBrk="0" hangingPunct="1">
              <a:lnSpc>
                <a:spcPct val="100000"/>
              </a:lnSpc>
              <a:spcBef>
                <a:spcPts val="600"/>
              </a:spcBef>
              <a:spcAft>
                <a:spcPts val="0"/>
              </a:spcAft>
              <a:buClr>
                <a:srgbClr val="EC0000"/>
              </a:buClr>
              <a:buSzTx/>
              <a:buFont typeface="Arial" panose="020B0604020202020204" pitchFamily="34" charset="0"/>
              <a:buChar char="•"/>
              <a:tabLst/>
              <a:defRPr/>
            </a:pPr>
            <a:endParaRPr kumimoji="0" lang="en-GB" sz="1200" b="0" i="0" u="none" strike="noStrike" kern="1200" cap="none" spc="0" normalizeH="0" baseline="0" noProof="0">
              <a:ln>
                <a:noFill/>
              </a:ln>
              <a:solidFill>
                <a:srgbClr val="595959"/>
              </a:solidFill>
              <a:effectLst/>
              <a:uLnTx/>
              <a:uFillTx/>
              <a:latin typeface="Santander Text"/>
              <a:ea typeface="+mn-ea"/>
              <a:cs typeface="+mn-cs"/>
            </a:endParaRPr>
          </a:p>
        </p:txBody>
      </p:sp>
      <p:cxnSp>
        <p:nvCxnSpPr>
          <p:cNvPr id="24" name="Conector recto 23">
            <a:extLst>
              <a:ext uri="{FF2B5EF4-FFF2-40B4-BE49-F238E27FC236}">
                <a16:creationId xmlns:a16="http://schemas.microsoft.com/office/drawing/2014/main" id="{4C1C81B1-EBC5-440F-0F84-CCFD4A5DF3EA}"/>
              </a:ext>
            </a:extLst>
          </p:cNvPr>
          <p:cNvCxnSpPr>
            <a:cxnSpLocks/>
          </p:cNvCxnSpPr>
          <p:nvPr/>
        </p:nvCxnSpPr>
        <p:spPr>
          <a:xfrm flipH="1" flipV="1">
            <a:off x="684799" y="2838228"/>
            <a:ext cx="5112000" cy="0"/>
          </a:xfrm>
          <a:prstGeom prst="line">
            <a:avLst/>
          </a:prstGeom>
          <a:noFill/>
          <a:ln w="12700" cap="flat" cmpd="sng" algn="ctr">
            <a:solidFill>
              <a:schemeClr val="bg1">
                <a:lumMod val="85000"/>
              </a:schemeClr>
            </a:solidFill>
            <a:prstDash val="solid"/>
            <a:miter lim="800000"/>
          </a:ln>
          <a:effectLst/>
        </p:spPr>
      </p:cxnSp>
      <p:sp>
        <p:nvSpPr>
          <p:cNvPr id="26" name="CuadroTexto 25">
            <a:extLst>
              <a:ext uri="{FF2B5EF4-FFF2-40B4-BE49-F238E27FC236}">
                <a16:creationId xmlns:a16="http://schemas.microsoft.com/office/drawing/2014/main" id="{F933787F-5563-284E-F131-C6D9BDB122FA}"/>
              </a:ext>
            </a:extLst>
          </p:cNvPr>
          <p:cNvSpPr txBox="1"/>
          <p:nvPr/>
        </p:nvSpPr>
        <p:spPr>
          <a:xfrm>
            <a:off x="2274044" y="2854382"/>
            <a:ext cx="3630260" cy="861774"/>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000" b="1" i="0" u="none" strike="noStrike" kern="1200" cap="none" spc="0" normalizeH="0" baseline="0" noProof="0">
                <a:ln>
                  <a:noFill/>
                </a:ln>
                <a:solidFill>
                  <a:prstClr val="black"/>
                </a:solidFill>
                <a:effectLst/>
                <a:uLnTx/>
                <a:uFillTx/>
                <a:latin typeface="Santander Text" panose="020B0504020201020104" pitchFamily="34" charset="0"/>
                <a:ea typeface="+mn-ea"/>
                <a:cs typeface="+mn-cs"/>
              </a:rPr>
              <a:t>Account</a:t>
            </a:r>
            <a:r>
              <a:rPr kumimoji="0" lang="en-US" sz="10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rPr>
              <a:t> refers to an arrangement by which the bank accepts a customer's financial assets and holds them on behalf of the customer at his or her discretion. A </a:t>
            </a:r>
            <a:r>
              <a:rPr kumimoji="0" lang="en-US" sz="1000" b="1" i="0" u="none" strike="noStrike" kern="1200" cap="none" spc="0" normalizeH="0" baseline="0" noProof="0">
                <a:ln>
                  <a:noFill/>
                </a:ln>
                <a:solidFill>
                  <a:prstClr val="black"/>
                </a:solidFill>
                <a:effectLst/>
                <a:uLnTx/>
                <a:uFillTx/>
                <a:latin typeface="Santander Text" panose="020B0504020201020104" pitchFamily="34" charset="0"/>
                <a:ea typeface="+mn-ea"/>
                <a:cs typeface="+mn-cs"/>
              </a:rPr>
              <a:t>deposit </a:t>
            </a:r>
            <a:r>
              <a:rPr kumimoji="0" lang="en-US" sz="10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rPr>
              <a:t>is money held in a bank account or with another financial institution that requires a transfer from one party to another</a:t>
            </a:r>
          </a:p>
        </p:txBody>
      </p:sp>
      <p:sp>
        <p:nvSpPr>
          <p:cNvPr id="32" name="CuadroTexto 31">
            <a:extLst>
              <a:ext uri="{FF2B5EF4-FFF2-40B4-BE49-F238E27FC236}">
                <a16:creationId xmlns:a16="http://schemas.microsoft.com/office/drawing/2014/main" id="{936081E9-DA03-A33F-BE53-789B62BC571E}"/>
              </a:ext>
            </a:extLst>
          </p:cNvPr>
          <p:cNvSpPr txBox="1"/>
          <p:nvPr/>
        </p:nvSpPr>
        <p:spPr>
          <a:xfrm>
            <a:off x="6141070" y="1128886"/>
            <a:ext cx="5111999" cy="807913"/>
          </a:xfrm>
          <a:prstGeom prst="rect">
            <a:avLst/>
          </a:prstGeom>
          <a:noFill/>
        </p:spPr>
        <p:txBody>
          <a:bodyPr wrap="square" rtlCol="0">
            <a:spAutoFit/>
          </a:bodyPr>
          <a:lstStyle/>
          <a:p>
            <a:pPr marL="355600" marR="0" lvl="0" indent="-355600" algn="l" defTabSz="914400" rtl="0" eaLnBrk="1" fontAlgn="auto" latinLnBrk="0" hangingPunct="1">
              <a:lnSpc>
                <a:spcPct val="100000"/>
              </a:lnSpc>
              <a:spcBef>
                <a:spcPts val="0"/>
              </a:spcBef>
              <a:spcAft>
                <a:spcPts val="300"/>
              </a:spcAft>
              <a:buClrTx/>
              <a:buSzTx/>
              <a:buFontTx/>
              <a:buNone/>
              <a:tabLst/>
              <a:defRPr/>
            </a:pPr>
            <a:r>
              <a:rPr kumimoji="0" lang="en-GB"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4 –Transactional Services </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GB" sz="1400" b="0" i="1"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Multichannel designed components to support the transactional operative at web and APP (mainly Global and some Local)</a:t>
            </a:r>
          </a:p>
        </p:txBody>
      </p:sp>
      <p:cxnSp>
        <p:nvCxnSpPr>
          <p:cNvPr id="33" name="Conector recto 32">
            <a:extLst>
              <a:ext uri="{FF2B5EF4-FFF2-40B4-BE49-F238E27FC236}">
                <a16:creationId xmlns:a16="http://schemas.microsoft.com/office/drawing/2014/main" id="{4BF573D7-727F-84DC-2520-FB223153A505}"/>
              </a:ext>
            </a:extLst>
          </p:cNvPr>
          <p:cNvCxnSpPr>
            <a:cxnSpLocks/>
          </p:cNvCxnSpPr>
          <p:nvPr/>
        </p:nvCxnSpPr>
        <p:spPr>
          <a:xfrm flipH="1" flipV="1">
            <a:off x="6167296" y="1933750"/>
            <a:ext cx="5112000" cy="0"/>
          </a:xfrm>
          <a:prstGeom prst="line">
            <a:avLst/>
          </a:prstGeom>
          <a:noFill/>
          <a:ln w="12700" cap="flat" cmpd="sng" algn="ctr">
            <a:solidFill>
              <a:srgbClr val="595959"/>
            </a:solidFill>
            <a:prstDash val="solid"/>
            <a:miter lim="800000"/>
          </a:ln>
          <a:effectLst/>
        </p:spPr>
      </p:cxnSp>
      <p:sp>
        <p:nvSpPr>
          <p:cNvPr id="34" name="CuadroTexto 33">
            <a:extLst>
              <a:ext uri="{FF2B5EF4-FFF2-40B4-BE49-F238E27FC236}">
                <a16:creationId xmlns:a16="http://schemas.microsoft.com/office/drawing/2014/main" id="{7FED8373-0F73-070F-68CA-AE1A5A08E811}"/>
              </a:ext>
            </a:extLst>
          </p:cNvPr>
          <p:cNvSpPr txBox="1"/>
          <p:nvPr/>
        </p:nvSpPr>
        <p:spPr>
          <a:xfrm>
            <a:off x="7645203" y="1979444"/>
            <a:ext cx="3745858" cy="909402"/>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buClr>
                <a:srgbClr val="EC0000"/>
              </a:buClr>
              <a:buFont typeface="Wingdings" panose="05000000000000000000" pitchFamily="2" charset="2"/>
              <a:buChar char="§"/>
              <a:defRPr/>
            </a:pPr>
            <a:r>
              <a:rPr lang="en-US">
                <a:solidFill>
                  <a:schemeClr val="tx1"/>
                </a:solidFill>
                <a:latin typeface="Santander Text"/>
              </a:rPr>
              <a:t>A</a:t>
            </a:r>
            <a:r>
              <a:rPr kumimoji="0" lang="en-US" sz="1200" b="0" i="0" u="none" strike="noStrike" kern="1200" cap="none" spc="0" normalizeH="0" baseline="0" noProof="0">
                <a:ln>
                  <a:noFill/>
                </a:ln>
                <a:solidFill>
                  <a:schemeClr val="tx1"/>
                </a:solidFill>
                <a:effectLst/>
                <a:uLnTx/>
                <a:uFillTx/>
                <a:latin typeface="Santander Text"/>
                <a:ea typeface="+mn-ea"/>
                <a:cs typeface="+mn-cs"/>
              </a:rPr>
              <a:t>re an agreement between you and a lender that gives the lender the right to take your property if you don't repay the money you've borrowed plus interest</a:t>
            </a:r>
            <a:endParaRPr kumimoji="0" lang="en-GB" sz="1200" b="0" i="0" u="none" strike="noStrike" kern="1200" cap="none" spc="0" normalizeH="0" baseline="0" noProof="0">
              <a:ln>
                <a:noFill/>
              </a:ln>
              <a:solidFill>
                <a:schemeClr val="tx1"/>
              </a:solidFill>
              <a:effectLst/>
              <a:uLnTx/>
              <a:uFillTx/>
              <a:latin typeface="Santander Text"/>
              <a:ea typeface="+mn-ea"/>
              <a:cs typeface="+mn-cs"/>
            </a:endParaRPr>
          </a:p>
        </p:txBody>
      </p:sp>
      <p:cxnSp>
        <p:nvCxnSpPr>
          <p:cNvPr id="35" name="Conector recto 34">
            <a:extLst>
              <a:ext uri="{FF2B5EF4-FFF2-40B4-BE49-F238E27FC236}">
                <a16:creationId xmlns:a16="http://schemas.microsoft.com/office/drawing/2014/main" id="{C3628FD5-805C-2F0D-679E-FD138A80F6F1}"/>
              </a:ext>
            </a:extLst>
          </p:cNvPr>
          <p:cNvCxnSpPr>
            <a:cxnSpLocks/>
          </p:cNvCxnSpPr>
          <p:nvPr/>
        </p:nvCxnSpPr>
        <p:spPr>
          <a:xfrm flipH="1" flipV="1">
            <a:off x="6167296" y="2831213"/>
            <a:ext cx="5112000" cy="0"/>
          </a:xfrm>
          <a:prstGeom prst="line">
            <a:avLst/>
          </a:prstGeom>
          <a:noFill/>
          <a:ln w="12700" cap="flat" cmpd="sng" algn="ctr">
            <a:solidFill>
              <a:schemeClr val="bg1">
                <a:lumMod val="85000"/>
              </a:schemeClr>
            </a:solidFill>
            <a:prstDash val="solid"/>
            <a:miter lim="800000"/>
          </a:ln>
          <a:effectLst/>
        </p:spPr>
      </p:cxnSp>
      <p:cxnSp>
        <p:nvCxnSpPr>
          <p:cNvPr id="37" name="Conector recto 36">
            <a:extLst>
              <a:ext uri="{FF2B5EF4-FFF2-40B4-BE49-F238E27FC236}">
                <a16:creationId xmlns:a16="http://schemas.microsoft.com/office/drawing/2014/main" id="{FE74B8BA-BE0A-D813-3026-579A34B4374E}"/>
              </a:ext>
            </a:extLst>
          </p:cNvPr>
          <p:cNvCxnSpPr>
            <a:cxnSpLocks/>
          </p:cNvCxnSpPr>
          <p:nvPr/>
        </p:nvCxnSpPr>
        <p:spPr>
          <a:xfrm flipH="1" flipV="1">
            <a:off x="6160718" y="3731026"/>
            <a:ext cx="5112000" cy="0"/>
          </a:xfrm>
          <a:prstGeom prst="line">
            <a:avLst/>
          </a:prstGeom>
          <a:noFill/>
          <a:ln w="12700" cap="flat" cmpd="sng" algn="ctr">
            <a:solidFill>
              <a:schemeClr val="bg1">
                <a:lumMod val="85000"/>
              </a:schemeClr>
            </a:solidFill>
            <a:prstDash val="solid"/>
            <a:miter lim="800000"/>
          </a:ln>
          <a:effectLst/>
        </p:spPr>
      </p:cxnSp>
      <p:sp>
        <p:nvSpPr>
          <p:cNvPr id="50" name="CuadroTexto 49">
            <a:extLst>
              <a:ext uri="{FF2B5EF4-FFF2-40B4-BE49-F238E27FC236}">
                <a16:creationId xmlns:a16="http://schemas.microsoft.com/office/drawing/2014/main" id="{3CFEE04E-A676-9438-D6D7-443EC3B594AD}"/>
              </a:ext>
            </a:extLst>
          </p:cNvPr>
          <p:cNvSpPr txBox="1"/>
          <p:nvPr/>
        </p:nvSpPr>
        <p:spPr>
          <a:xfrm>
            <a:off x="7659020" y="2930765"/>
            <a:ext cx="3718224" cy="646331"/>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lang="en-US" sz="1200">
                <a:solidFill>
                  <a:prstClr val="black"/>
                </a:solidFill>
                <a:latin typeface="Santander Text" panose="020B0504020201020104" pitchFamily="34" charset="0"/>
              </a:rPr>
              <a:t>Facilitates to all countries a state-of-the-art solution for investment services, setting up progressively a common business and operating model </a:t>
            </a:r>
            <a:endPar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endParaRPr>
          </a:p>
        </p:txBody>
      </p:sp>
      <p:sp>
        <p:nvSpPr>
          <p:cNvPr id="4" name="Rectángulo 262">
            <a:extLst>
              <a:ext uri="{FF2B5EF4-FFF2-40B4-BE49-F238E27FC236}">
                <a16:creationId xmlns:a16="http://schemas.microsoft.com/office/drawing/2014/main" id="{143A9391-7FCF-8BD2-4FAC-F43082C4CA11}"/>
              </a:ext>
            </a:extLst>
          </p:cNvPr>
          <p:cNvSpPr/>
          <p:nvPr/>
        </p:nvSpPr>
        <p:spPr>
          <a:xfrm>
            <a:off x="6105200" y="2069931"/>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Mortgages</a:t>
            </a:r>
          </a:p>
        </p:txBody>
      </p:sp>
      <p:sp>
        <p:nvSpPr>
          <p:cNvPr id="13" name="Rectángulo 262">
            <a:extLst>
              <a:ext uri="{FF2B5EF4-FFF2-40B4-BE49-F238E27FC236}">
                <a16:creationId xmlns:a16="http://schemas.microsoft.com/office/drawing/2014/main" id="{62E26039-7718-9E97-E47D-2CD61B2A2798}"/>
              </a:ext>
            </a:extLst>
          </p:cNvPr>
          <p:cNvSpPr/>
          <p:nvPr/>
        </p:nvSpPr>
        <p:spPr>
          <a:xfrm>
            <a:off x="6105200" y="3019436"/>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200" b="0" i="0" u="none" strike="noStrike" kern="0" cap="none" spc="0" normalizeH="0" baseline="0" noProof="0">
                <a:ln>
                  <a:noFill/>
                </a:ln>
                <a:solidFill>
                  <a:srgbClr val="DEEDF1">
                    <a:lumMod val="25000"/>
                  </a:srgbClr>
                </a:solidFill>
                <a:effectLst/>
                <a:uLnTx/>
                <a:uFillTx/>
                <a:latin typeface="Santander Text"/>
                <a:ea typeface="+mn-ea"/>
                <a:cs typeface="+mn-cs"/>
              </a:rPr>
              <a:t>Wealth &amp; Management Investment </a:t>
            </a:r>
          </a:p>
        </p:txBody>
      </p:sp>
      <p:sp>
        <p:nvSpPr>
          <p:cNvPr id="25" name="CuadroTexto 24">
            <a:extLst>
              <a:ext uri="{FF2B5EF4-FFF2-40B4-BE49-F238E27FC236}">
                <a16:creationId xmlns:a16="http://schemas.microsoft.com/office/drawing/2014/main" id="{E3F745CE-0E31-1BF4-33FB-684A00EE9A12}"/>
              </a:ext>
            </a:extLst>
          </p:cNvPr>
          <p:cNvSpPr txBox="1"/>
          <p:nvPr/>
        </p:nvSpPr>
        <p:spPr>
          <a:xfrm>
            <a:off x="2274044" y="2003182"/>
            <a:ext cx="3454489" cy="830997"/>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lang="en-US" sz="1200">
                <a:solidFill>
                  <a:prstClr val="black"/>
                </a:solidFill>
                <a:latin typeface="Santander Text" panose="020B0504020201020104" pitchFamily="34" charset="0"/>
              </a:rPr>
              <a:t>Allows users to view and delve into the features of a specific product before contracting it. This view hosts the information for all products in a unified structure</a:t>
            </a:r>
            <a:endParaRPr kumimoji="0" lang="en-GB"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endParaRPr>
          </a:p>
        </p:txBody>
      </p:sp>
      <p:sp>
        <p:nvSpPr>
          <p:cNvPr id="6" name="Título 1">
            <a:extLst>
              <a:ext uri="{FF2B5EF4-FFF2-40B4-BE49-F238E27FC236}">
                <a16:creationId xmlns:a16="http://schemas.microsoft.com/office/drawing/2014/main" id="{20CE2606-AC75-17CE-9DD4-6C9E624F772C}"/>
              </a:ext>
            </a:extLst>
          </p:cNvPr>
          <p:cNvSpPr>
            <a:spLocks noGrp="1"/>
          </p:cNvSpPr>
          <p:nvPr>
            <p:ph type="title"/>
          </p:nvPr>
        </p:nvSpPr>
        <p:spPr>
          <a:xfrm>
            <a:off x="711024" y="641900"/>
            <a:ext cx="10758733" cy="445400"/>
          </a:xfrm>
        </p:spPr>
        <p:txBody>
          <a:bodyPr/>
          <a:lstStyle/>
          <a:p>
            <a:pPr>
              <a:defRPr/>
            </a:pPr>
            <a:r>
              <a:rPr kumimoji="0" lang="es-ES" sz="2800" b="1" i="0" u="none" strike="noStrike" kern="1200" cap="none" spc="0" normalizeH="0" baseline="0" noProof="0">
                <a:ln>
                  <a:noFill/>
                </a:ln>
                <a:solidFill>
                  <a:srgbClr val="EC0000"/>
                </a:solidFill>
                <a:effectLst/>
                <a:uLnTx/>
                <a:uFillTx/>
                <a:latin typeface="Santander Headline"/>
                <a:ea typeface="+mj-ea"/>
                <a:cs typeface="+mj-cs"/>
              </a:rPr>
              <a:t>DCB</a:t>
            </a:r>
            <a:r>
              <a:rPr lang="es-ES">
                <a:solidFill>
                  <a:srgbClr val="EC0000"/>
                </a:solidFill>
                <a:latin typeface="Santander Headline"/>
              </a:rPr>
              <a:t>.</a:t>
            </a:r>
            <a:r>
              <a:rPr kumimoji="0" lang="es-ES" sz="2800" b="1" i="0" u="none" strike="noStrike" kern="1200" cap="none" spc="0" normalizeH="0" baseline="0" noProof="0">
                <a:ln>
                  <a:noFill/>
                </a:ln>
                <a:solidFill>
                  <a:srgbClr val="EC0000"/>
                </a:solidFill>
                <a:effectLst/>
                <a:uLnTx/>
                <a:uFillTx/>
                <a:latin typeface="Santander Headline"/>
                <a:ea typeface="+mj-ea"/>
                <a:cs typeface="+mj-cs"/>
              </a:rPr>
              <a:t> </a:t>
            </a:r>
            <a:r>
              <a:rPr kumimoji="0" lang="en-AU" sz="2800" b="1" i="0" u="none" strike="noStrike" kern="1200" cap="none" spc="0" normalizeH="0" baseline="0" noProof="0">
                <a:ln>
                  <a:noFill/>
                </a:ln>
                <a:solidFill>
                  <a:srgbClr val="BFBFBF"/>
                </a:solidFill>
                <a:effectLst/>
                <a:uLnTx/>
                <a:uFillTx/>
                <a:latin typeface="Santander Headline"/>
                <a:ea typeface="+mj-ea"/>
                <a:cs typeface="+mj-cs"/>
              </a:rPr>
              <a:t>Digital Channels Individuals</a:t>
            </a:r>
            <a:endParaRPr lang="en-US">
              <a:solidFill>
                <a:schemeClr val="bg1">
                  <a:lumMod val="75000"/>
                </a:schemeClr>
              </a:solidFill>
            </a:endParaRPr>
          </a:p>
        </p:txBody>
      </p:sp>
      <p:sp>
        <p:nvSpPr>
          <p:cNvPr id="20" name="Rectángulo 14">
            <a:extLst>
              <a:ext uri="{FF2B5EF4-FFF2-40B4-BE49-F238E27FC236}">
                <a16:creationId xmlns:a16="http://schemas.microsoft.com/office/drawing/2014/main" id="{346024E8-F094-0F17-9303-C370CF0C8472}"/>
              </a:ext>
            </a:extLst>
          </p:cNvPr>
          <p:cNvSpPr/>
          <p:nvPr/>
        </p:nvSpPr>
        <p:spPr>
          <a:xfrm>
            <a:off x="711024" y="3873031"/>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AU" sz="1400" kern="0">
                <a:solidFill>
                  <a:srgbClr val="DEEDF1">
                    <a:lumMod val="25000"/>
                  </a:srgbClr>
                </a:solidFill>
                <a:latin typeface="Santander Text"/>
              </a:rPr>
              <a:t>Cards</a:t>
            </a:r>
            <a:endPar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endParaRPr>
          </a:p>
        </p:txBody>
      </p:sp>
      <p:cxnSp>
        <p:nvCxnSpPr>
          <p:cNvPr id="28" name="Conector recto 23">
            <a:extLst>
              <a:ext uri="{FF2B5EF4-FFF2-40B4-BE49-F238E27FC236}">
                <a16:creationId xmlns:a16="http://schemas.microsoft.com/office/drawing/2014/main" id="{5B951068-7941-A101-FE8B-1F1A261B559C}"/>
              </a:ext>
            </a:extLst>
          </p:cNvPr>
          <p:cNvCxnSpPr>
            <a:cxnSpLocks/>
          </p:cNvCxnSpPr>
          <p:nvPr/>
        </p:nvCxnSpPr>
        <p:spPr>
          <a:xfrm flipH="1" flipV="1">
            <a:off x="684799" y="3734854"/>
            <a:ext cx="5112000" cy="0"/>
          </a:xfrm>
          <a:prstGeom prst="line">
            <a:avLst/>
          </a:prstGeom>
          <a:noFill/>
          <a:ln w="12700" cap="flat" cmpd="sng" algn="ctr">
            <a:solidFill>
              <a:schemeClr val="bg1">
                <a:lumMod val="85000"/>
              </a:schemeClr>
            </a:solidFill>
            <a:prstDash val="solid"/>
            <a:miter lim="800000"/>
          </a:ln>
          <a:effectLst/>
        </p:spPr>
      </p:cxnSp>
      <p:sp>
        <p:nvSpPr>
          <p:cNvPr id="29" name="CuadroTexto 25">
            <a:extLst>
              <a:ext uri="{FF2B5EF4-FFF2-40B4-BE49-F238E27FC236}">
                <a16:creationId xmlns:a16="http://schemas.microsoft.com/office/drawing/2014/main" id="{D1032138-375F-D026-7318-179DCED1D33D}"/>
              </a:ext>
            </a:extLst>
          </p:cNvPr>
          <p:cNvSpPr txBox="1"/>
          <p:nvPr/>
        </p:nvSpPr>
        <p:spPr>
          <a:xfrm>
            <a:off x="2274044" y="3738532"/>
            <a:ext cx="3630260" cy="830997"/>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lang="en-US" sz="1200">
                <a:solidFill>
                  <a:prstClr val="black"/>
                </a:solidFill>
                <a:latin typeface="Santander Text" panose="020B0504020201020104" pitchFamily="34" charset="0"/>
              </a:rPr>
              <a:t>A bank card is typically a plastic card issued by a bank to its clients that performs one or more of a number of services that relate to giving the client access to a bank account</a:t>
            </a:r>
            <a:endPar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endParaRPr>
          </a:p>
        </p:txBody>
      </p:sp>
      <p:sp>
        <p:nvSpPr>
          <p:cNvPr id="30" name="Rectángulo 14">
            <a:extLst>
              <a:ext uri="{FF2B5EF4-FFF2-40B4-BE49-F238E27FC236}">
                <a16:creationId xmlns:a16="http://schemas.microsoft.com/office/drawing/2014/main" id="{2040EDE7-2266-1CF7-383D-DA8E465DA1D9}"/>
              </a:ext>
            </a:extLst>
          </p:cNvPr>
          <p:cNvSpPr/>
          <p:nvPr/>
        </p:nvSpPr>
        <p:spPr>
          <a:xfrm>
            <a:off x="711024" y="4711665"/>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AU" sz="1400" kern="0">
                <a:solidFill>
                  <a:srgbClr val="DEEDF1">
                    <a:lumMod val="25000"/>
                  </a:srgbClr>
                </a:solidFill>
                <a:latin typeface="Santander Text"/>
              </a:rPr>
              <a:t>Payments</a:t>
            </a:r>
            <a:endPar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endParaRPr>
          </a:p>
        </p:txBody>
      </p:sp>
      <p:cxnSp>
        <p:nvCxnSpPr>
          <p:cNvPr id="31" name="Conector recto 23">
            <a:extLst>
              <a:ext uri="{FF2B5EF4-FFF2-40B4-BE49-F238E27FC236}">
                <a16:creationId xmlns:a16="http://schemas.microsoft.com/office/drawing/2014/main" id="{16A478C6-F470-803F-ADA1-D8F77063A8CA}"/>
              </a:ext>
            </a:extLst>
          </p:cNvPr>
          <p:cNvCxnSpPr>
            <a:cxnSpLocks/>
          </p:cNvCxnSpPr>
          <p:nvPr/>
        </p:nvCxnSpPr>
        <p:spPr>
          <a:xfrm flipH="1" flipV="1">
            <a:off x="684799" y="4573488"/>
            <a:ext cx="5112000" cy="0"/>
          </a:xfrm>
          <a:prstGeom prst="line">
            <a:avLst/>
          </a:prstGeom>
          <a:noFill/>
          <a:ln w="12700" cap="flat" cmpd="sng" algn="ctr">
            <a:solidFill>
              <a:schemeClr val="bg1">
                <a:lumMod val="85000"/>
              </a:schemeClr>
            </a:solidFill>
            <a:prstDash val="solid"/>
            <a:miter lim="800000"/>
          </a:ln>
          <a:effectLst/>
        </p:spPr>
      </p:cxnSp>
      <p:sp>
        <p:nvSpPr>
          <p:cNvPr id="36" name="CuadroTexto 25">
            <a:extLst>
              <a:ext uri="{FF2B5EF4-FFF2-40B4-BE49-F238E27FC236}">
                <a16:creationId xmlns:a16="http://schemas.microsoft.com/office/drawing/2014/main" id="{71ED62F4-8F57-D5D9-D8AC-168B30EEBE82}"/>
              </a:ext>
            </a:extLst>
          </p:cNvPr>
          <p:cNvSpPr txBox="1"/>
          <p:nvPr/>
        </p:nvSpPr>
        <p:spPr>
          <a:xfrm>
            <a:off x="2274044" y="4635440"/>
            <a:ext cx="3630260" cy="830997"/>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rPr>
              <a:t>Allow customers to make online purchases directly from their bank accounts. It enables customers to use their online banking credentials to authorize a payment</a:t>
            </a:r>
          </a:p>
        </p:txBody>
      </p:sp>
      <p:sp>
        <p:nvSpPr>
          <p:cNvPr id="38" name="Rectángulo 14">
            <a:extLst>
              <a:ext uri="{FF2B5EF4-FFF2-40B4-BE49-F238E27FC236}">
                <a16:creationId xmlns:a16="http://schemas.microsoft.com/office/drawing/2014/main" id="{1C0E366F-91C8-910F-567A-8D56FD4B6748}"/>
              </a:ext>
            </a:extLst>
          </p:cNvPr>
          <p:cNvSpPr/>
          <p:nvPr/>
        </p:nvSpPr>
        <p:spPr>
          <a:xfrm>
            <a:off x="711024" y="5584798"/>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Loans</a:t>
            </a:r>
          </a:p>
        </p:txBody>
      </p:sp>
      <p:cxnSp>
        <p:nvCxnSpPr>
          <p:cNvPr id="39" name="Conector recto 23">
            <a:extLst>
              <a:ext uri="{FF2B5EF4-FFF2-40B4-BE49-F238E27FC236}">
                <a16:creationId xmlns:a16="http://schemas.microsoft.com/office/drawing/2014/main" id="{E719725A-9B6D-C3D2-3068-F592A5D5D6A3}"/>
              </a:ext>
            </a:extLst>
          </p:cNvPr>
          <p:cNvCxnSpPr>
            <a:cxnSpLocks/>
          </p:cNvCxnSpPr>
          <p:nvPr/>
        </p:nvCxnSpPr>
        <p:spPr>
          <a:xfrm flipH="1" flipV="1">
            <a:off x="684799" y="5446621"/>
            <a:ext cx="5112000" cy="0"/>
          </a:xfrm>
          <a:prstGeom prst="line">
            <a:avLst/>
          </a:prstGeom>
          <a:noFill/>
          <a:ln w="12700" cap="flat" cmpd="sng" algn="ctr">
            <a:solidFill>
              <a:schemeClr val="bg1">
                <a:lumMod val="85000"/>
              </a:schemeClr>
            </a:solidFill>
            <a:prstDash val="solid"/>
            <a:miter lim="800000"/>
          </a:ln>
          <a:effectLst/>
        </p:spPr>
      </p:cxnSp>
      <p:sp>
        <p:nvSpPr>
          <p:cNvPr id="40" name="CuadroTexto 25">
            <a:extLst>
              <a:ext uri="{FF2B5EF4-FFF2-40B4-BE49-F238E27FC236}">
                <a16:creationId xmlns:a16="http://schemas.microsoft.com/office/drawing/2014/main" id="{2B5F25B6-D38B-24F5-F19F-A2B79273F554}"/>
              </a:ext>
            </a:extLst>
          </p:cNvPr>
          <p:cNvSpPr txBox="1"/>
          <p:nvPr/>
        </p:nvSpPr>
        <p:spPr>
          <a:xfrm>
            <a:off x="2274044" y="5508573"/>
            <a:ext cx="3630260" cy="830997"/>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rPr>
              <a:t>Financial product that allows a user to access a fixed amount of money, with the condition that this amount, plus the agreed interest, be returned within a specified period</a:t>
            </a:r>
          </a:p>
        </p:txBody>
      </p:sp>
      <p:sp>
        <p:nvSpPr>
          <p:cNvPr id="41" name="Rectángulo 14">
            <a:extLst>
              <a:ext uri="{FF2B5EF4-FFF2-40B4-BE49-F238E27FC236}">
                <a16:creationId xmlns:a16="http://schemas.microsoft.com/office/drawing/2014/main" id="{E5E29234-DF51-8926-3605-816668990FF0}"/>
              </a:ext>
            </a:extLst>
          </p:cNvPr>
          <p:cNvSpPr/>
          <p:nvPr/>
        </p:nvSpPr>
        <p:spPr>
          <a:xfrm>
            <a:off x="6096000" y="3873031"/>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Local (Entity)</a:t>
            </a:r>
          </a:p>
        </p:txBody>
      </p:sp>
      <p:sp>
        <p:nvSpPr>
          <p:cNvPr id="42" name="CuadroTexto 25">
            <a:extLst>
              <a:ext uri="{FF2B5EF4-FFF2-40B4-BE49-F238E27FC236}">
                <a16:creationId xmlns:a16="http://schemas.microsoft.com/office/drawing/2014/main" id="{F6CB40DA-0F1B-EA49-AE70-056AFB66A0B3}"/>
              </a:ext>
            </a:extLst>
          </p:cNvPr>
          <p:cNvSpPr txBox="1"/>
          <p:nvPr/>
        </p:nvSpPr>
        <p:spPr>
          <a:xfrm>
            <a:off x="7659020" y="3796806"/>
            <a:ext cx="3630260" cy="830997"/>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lang="en-US" sz="1200">
                <a:solidFill>
                  <a:prstClr val="black"/>
                </a:solidFill>
                <a:latin typeface="Santander Text" panose="020B0504020201020104" pitchFamily="34" charset="0"/>
              </a:rPr>
              <a:t>Specific components develop by each entity with a local scope, due to regulatory requirements, local needs, local market trends, entity legacy systems, </a:t>
            </a:r>
            <a:r>
              <a:rPr lang="en-US" sz="1200" err="1">
                <a:solidFill>
                  <a:prstClr val="black"/>
                </a:solidFill>
                <a:latin typeface="Santander Text" panose="020B0504020201020104" pitchFamily="34" charset="0"/>
              </a:rPr>
              <a:t>etc</a:t>
            </a:r>
            <a:endPar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endParaRPr>
          </a:p>
        </p:txBody>
      </p:sp>
    </p:spTree>
    <p:extLst>
      <p:ext uri="{BB962C8B-B14F-4D97-AF65-F5344CB8AC3E}">
        <p14:creationId xmlns:p14="http://schemas.microsoft.com/office/powerpoint/2010/main" val="19185250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A4DA0-9AE6-1DCE-4B2B-EFDE6CA9F3DF}"/>
            </a:ext>
          </a:extLst>
        </p:cNvPr>
        <p:cNvGrpSpPr/>
        <p:nvPr/>
      </p:nvGrpSpPr>
      <p:grpSpPr>
        <a:xfrm>
          <a:off x="0" y="0"/>
          <a:ext cx="0" cy="0"/>
          <a:chOff x="0" y="0"/>
          <a:chExt cx="0" cy="0"/>
        </a:xfrm>
      </p:grpSpPr>
      <p:sp>
        <p:nvSpPr>
          <p:cNvPr id="17" name="Text Placeholder 2">
            <a:extLst>
              <a:ext uri="{FF2B5EF4-FFF2-40B4-BE49-F238E27FC236}">
                <a16:creationId xmlns:a16="http://schemas.microsoft.com/office/drawing/2014/main" id="{8657090B-3C9F-A20C-F38C-896B9AFE3A2B}"/>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15" name="Rectángulo 14">
            <a:extLst>
              <a:ext uri="{FF2B5EF4-FFF2-40B4-BE49-F238E27FC236}">
                <a16:creationId xmlns:a16="http://schemas.microsoft.com/office/drawing/2014/main" id="{F87081B8-C8BE-F3A2-67C1-2B35CE03F740}"/>
              </a:ext>
            </a:extLst>
          </p:cNvPr>
          <p:cNvSpPr/>
          <p:nvPr/>
        </p:nvSpPr>
        <p:spPr>
          <a:xfrm>
            <a:off x="711024" y="2976405"/>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200" b="0" i="0" u="none" strike="noStrike" kern="0" cap="none" spc="0" normalizeH="0" baseline="0" noProof="0">
                <a:ln>
                  <a:noFill/>
                </a:ln>
                <a:solidFill>
                  <a:srgbClr val="DEEDF1">
                    <a:lumMod val="25000"/>
                  </a:srgbClr>
                </a:solidFill>
                <a:effectLst/>
                <a:uLnTx/>
                <a:uFillTx/>
                <a:latin typeface="Santander Text"/>
                <a:ea typeface="+mn-ea"/>
                <a:cs typeface="+mn-cs"/>
              </a:rPr>
              <a:t>Case Management (claims &amp; complaints) </a:t>
            </a:r>
          </a:p>
        </p:txBody>
      </p:sp>
      <p:sp>
        <p:nvSpPr>
          <p:cNvPr id="19" name="Rectángulo 18">
            <a:extLst>
              <a:ext uri="{FF2B5EF4-FFF2-40B4-BE49-F238E27FC236}">
                <a16:creationId xmlns:a16="http://schemas.microsoft.com/office/drawing/2014/main" id="{0F3FBFAA-C811-85DD-1EAA-3D1CCDBF3158}"/>
              </a:ext>
            </a:extLst>
          </p:cNvPr>
          <p:cNvSpPr/>
          <p:nvPr/>
        </p:nvSpPr>
        <p:spPr>
          <a:xfrm>
            <a:off x="711024" y="2069931"/>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Customer Personal Data</a:t>
            </a:r>
          </a:p>
        </p:txBody>
      </p:sp>
      <p:sp>
        <p:nvSpPr>
          <p:cNvPr id="21" name="CuadroTexto 20">
            <a:extLst>
              <a:ext uri="{FF2B5EF4-FFF2-40B4-BE49-F238E27FC236}">
                <a16:creationId xmlns:a16="http://schemas.microsoft.com/office/drawing/2014/main" id="{3FE7D68B-C03E-F165-0A83-9DC1B232D02F}"/>
              </a:ext>
            </a:extLst>
          </p:cNvPr>
          <p:cNvSpPr txBox="1"/>
          <p:nvPr/>
        </p:nvSpPr>
        <p:spPr>
          <a:xfrm>
            <a:off x="684798" y="1128886"/>
            <a:ext cx="5111999" cy="807913"/>
          </a:xfrm>
          <a:prstGeom prst="rect">
            <a:avLst/>
          </a:prstGeom>
          <a:noFill/>
        </p:spPr>
        <p:txBody>
          <a:bodyPr wrap="square" rtlCol="0">
            <a:spAutoFit/>
          </a:bodyPr>
          <a:lstStyle/>
          <a:p>
            <a:pPr marL="355600" marR="0" lvl="0" indent="-355600" algn="l" defTabSz="914400" rtl="0" eaLnBrk="1" fontAlgn="auto" latinLnBrk="0" hangingPunct="1">
              <a:lnSpc>
                <a:spcPct val="100000"/>
              </a:lnSpc>
              <a:spcBef>
                <a:spcPts val="0"/>
              </a:spcBef>
              <a:spcAft>
                <a:spcPts val="300"/>
              </a:spcAft>
              <a:buClrTx/>
              <a:buSzTx/>
              <a:buFontTx/>
              <a:buNone/>
              <a:tabLst/>
              <a:defRPr/>
            </a:pPr>
            <a:r>
              <a:rPr kumimoji="0" lang="en-GB"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5 – Customer service</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GB" sz="1400" b="0" i="1"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Support to the registration and follow-up customer request, claims and complaints (aligned with Assisted Channels)</a:t>
            </a:r>
            <a:endParaRPr kumimoji="0" lang="en-GB" sz="1400" b="0" i="1" u="none" strike="sng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endParaRPr>
          </a:p>
        </p:txBody>
      </p:sp>
      <p:cxnSp>
        <p:nvCxnSpPr>
          <p:cNvPr id="22" name="Conector recto 21">
            <a:extLst>
              <a:ext uri="{FF2B5EF4-FFF2-40B4-BE49-F238E27FC236}">
                <a16:creationId xmlns:a16="http://schemas.microsoft.com/office/drawing/2014/main" id="{219B6A21-F517-370E-8AF2-165B2B3EBCEA}"/>
              </a:ext>
            </a:extLst>
          </p:cNvPr>
          <p:cNvCxnSpPr>
            <a:cxnSpLocks/>
          </p:cNvCxnSpPr>
          <p:nvPr/>
        </p:nvCxnSpPr>
        <p:spPr>
          <a:xfrm flipH="1" flipV="1">
            <a:off x="711024" y="1933750"/>
            <a:ext cx="5112000" cy="0"/>
          </a:xfrm>
          <a:prstGeom prst="line">
            <a:avLst/>
          </a:prstGeom>
          <a:solidFill>
            <a:schemeClr val="accent4">
              <a:lumMod val="40000"/>
              <a:lumOff val="60000"/>
            </a:schemeClr>
          </a:solidFill>
          <a:ln w="12700" cap="flat" cmpd="sng" algn="ctr">
            <a:solidFill>
              <a:schemeClr val="bg2">
                <a:lumMod val="50000"/>
              </a:schemeClr>
            </a:solidFill>
            <a:prstDash val="solid"/>
            <a:miter lim="800000"/>
          </a:ln>
          <a:effectLst/>
        </p:spPr>
      </p:cxnSp>
      <p:sp>
        <p:nvSpPr>
          <p:cNvPr id="23" name="CuadroTexto 22">
            <a:extLst>
              <a:ext uri="{FF2B5EF4-FFF2-40B4-BE49-F238E27FC236}">
                <a16:creationId xmlns:a16="http://schemas.microsoft.com/office/drawing/2014/main" id="{7F761905-F58A-584A-561B-D3BC24E8707F}"/>
              </a:ext>
            </a:extLst>
          </p:cNvPr>
          <p:cNvSpPr txBox="1"/>
          <p:nvPr/>
        </p:nvSpPr>
        <p:spPr>
          <a:xfrm>
            <a:off x="2192764" y="1965879"/>
            <a:ext cx="3658438" cy="909402"/>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180000" marR="0" lvl="0" indent="-180000" algn="l" defTabSz="914400" rtl="0" eaLnBrk="1" fontAlgn="auto" latinLnBrk="0" hangingPunct="1">
              <a:lnSpc>
                <a:spcPct val="100000"/>
              </a:lnSpc>
              <a:spcBef>
                <a:spcPts val="600"/>
              </a:spcBef>
              <a:spcAft>
                <a:spcPts val="0"/>
              </a:spcAft>
              <a:buClr>
                <a:srgbClr val="EC0000"/>
              </a:buClr>
              <a:buSzTx/>
              <a:buFont typeface="Arial" panose="020B0604020202020204" pitchFamily="34" charset="0"/>
              <a:buChar char="•"/>
              <a:tabLst/>
              <a:defRPr/>
            </a:pPr>
            <a:endParaRPr kumimoji="0" lang="en-GB" sz="1200" b="0" i="0" u="none" strike="noStrike" kern="1200" cap="none" spc="0" normalizeH="0" baseline="0" noProof="0">
              <a:ln>
                <a:noFill/>
              </a:ln>
              <a:solidFill>
                <a:srgbClr val="595959"/>
              </a:solidFill>
              <a:effectLst/>
              <a:uLnTx/>
              <a:uFillTx/>
              <a:latin typeface="Santander Text"/>
              <a:ea typeface="+mn-ea"/>
              <a:cs typeface="+mn-cs"/>
            </a:endParaRPr>
          </a:p>
        </p:txBody>
      </p:sp>
      <p:cxnSp>
        <p:nvCxnSpPr>
          <p:cNvPr id="24" name="Conector recto 23">
            <a:extLst>
              <a:ext uri="{FF2B5EF4-FFF2-40B4-BE49-F238E27FC236}">
                <a16:creationId xmlns:a16="http://schemas.microsoft.com/office/drawing/2014/main" id="{1C3F5655-12DA-46D2-44CF-54095B75B517}"/>
              </a:ext>
            </a:extLst>
          </p:cNvPr>
          <p:cNvCxnSpPr>
            <a:cxnSpLocks/>
          </p:cNvCxnSpPr>
          <p:nvPr/>
        </p:nvCxnSpPr>
        <p:spPr>
          <a:xfrm flipH="1" flipV="1">
            <a:off x="684799" y="2838228"/>
            <a:ext cx="5112000" cy="0"/>
          </a:xfrm>
          <a:prstGeom prst="line">
            <a:avLst/>
          </a:prstGeom>
          <a:noFill/>
          <a:ln w="12700" cap="flat" cmpd="sng" algn="ctr">
            <a:solidFill>
              <a:schemeClr val="bg1">
                <a:lumMod val="85000"/>
              </a:schemeClr>
            </a:solidFill>
            <a:prstDash val="solid"/>
            <a:miter lim="800000"/>
          </a:ln>
          <a:effectLst/>
        </p:spPr>
      </p:cxnSp>
      <p:sp>
        <p:nvSpPr>
          <p:cNvPr id="26" name="CuadroTexto 25">
            <a:extLst>
              <a:ext uri="{FF2B5EF4-FFF2-40B4-BE49-F238E27FC236}">
                <a16:creationId xmlns:a16="http://schemas.microsoft.com/office/drawing/2014/main" id="{F3F73978-7940-6420-6269-B4C5EE888C38}"/>
              </a:ext>
            </a:extLst>
          </p:cNvPr>
          <p:cNvSpPr txBox="1"/>
          <p:nvPr/>
        </p:nvSpPr>
        <p:spPr>
          <a:xfrm>
            <a:off x="2274044" y="2854382"/>
            <a:ext cx="3630260" cy="830997"/>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rPr>
              <a:t>Ability to collect customer and internal requests of different nature from any of available digital channels, categorize and prioritize them to determine its workflow life cycle</a:t>
            </a:r>
          </a:p>
        </p:txBody>
      </p:sp>
      <p:sp>
        <p:nvSpPr>
          <p:cNvPr id="32" name="CuadroTexto 31">
            <a:extLst>
              <a:ext uri="{FF2B5EF4-FFF2-40B4-BE49-F238E27FC236}">
                <a16:creationId xmlns:a16="http://schemas.microsoft.com/office/drawing/2014/main" id="{0BE84AB6-6A2E-BC99-765E-BCFBFFFB2335}"/>
              </a:ext>
            </a:extLst>
          </p:cNvPr>
          <p:cNvSpPr txBox="1"/>
          <p:nvPr/>
        </p:nvSpPr>
        <p:spPr>
          <a:xfrm>
            <a:off x="6141070" y="1128886"/>
            <a:ext cx="5111999" cy="592470"/>
          </a:xfrm>
          <a:prstGeom prst="rect">
            <a:avLst/>
          </a:prstGeom>
          <a:noFill/>
        </p:spPr>
        <p:txBody>
          <a:bodyPr wrap="square" rtlCol="0">
            <a:spAutoFit/>
          </a:bodyPr>
          <a:lstStyle/>
          <a:p>
            <a:pPr marL="355600" marR="0" lvl="0" indent="-355600" algn="l" defTabSz="914400" rtl="0" eaLnBrk="1" fontAlgn="auto" latinLnBrk="0" hangingPunct="1">
              <a:lnSpc>
                <a:spcPct val="100000"/>
              </a:lnSpc>
              <a:spcBef>
                <a:spcPts val="0"/>
              </a:spcBef>
              <a:spcAft>
                <a:spcPts val="300"/>
              </a:spcAft>
              <a:buClrTx/>
              <a:buSzTx/>
              <a:buFontTx/>
              <a:buNone/>
              <a:tabLst/>
              <a:defRPr/>
            </a:pPr>
            <a:r>
              <a:rPr kumimoji="0" lang="en-GB"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6 – Digital Interaction Services</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400" b="0" i="1"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Provides digital interaction capabilities &amp; tools to the customers </a:t>
            </a:r>
          </a:p>
        </p:txBody>
      </p:sp>
      <p:cxnSp>
        <p:nvCxnSpPr>
          <p:cNvPr id="33" name="Conector recto 32">
            <a:extLst>
              <a:ext uri="{FF2B5EF4-FFF2-40B4-BE49-F238E27FC236}">
                <a16:creationId xmlns:a16="http://schemas.microsoft.com/office/drawing/2014/main" id="{FD965576-E2B8-624F-8272-23BF6FEB9025}"/>
              </a:ext>
            </a:extLst>
          </p:cNvPr>
          <p:cNvCxnSpPr>
            <a:cxnSpLocks/>
          </p:cNvCxnSpPr>
          <p:nvPr/>
        </p:nvCxnSpPr>
        <p:spPr>
          <a:xfrm flipH="1" flipV="1">
            <a:off x="6167296" y="1933750"/>
            <a:ext cx="5112000" cy="0"/>
          </a:xfrm>
          <a:prstGeom prst="line">
            <a:avLst/>
          </a:prstGeom>
          <a:noFill/>
          <a:ln w="12700" cap="flat" cmpd="sng" algn="ctr">
            <a:solidFill>
              <a:srgbClr val="595959"/>
            </a:solidFill>
            <a:prstDash val="solid"/>
            <a:miter lim="800000"/>
          </a:ln>
          <a:effectLst/>
        </p:spPr>
      </p:cxnSp>
      <p:sp>
        <p:nvSpPr>
          <p:cNvPr id="34" name="CuadroTexto 33">
            <a:extLst>
              <a:ext uri="{FF2B5EF4-FFF2-40B4-BE49-F238E27FC236}">
                <a16:creationId xmlns:a16="http://schemas.microsoft.com/office/drawing/2014/main" id="{74FDCC23-EE9F-5E1A-C221-34C67DD70556}"/>
              </a:ext>
            </a:extLst>
          </p:cNvPr>
          <p:cNvSpPr txBox="1"/>
          <p:nvPr/>
        </p:nvSpPr>
        <p:spPr>
          <a:xfrm>
            <a:off x="7645203" y="1979444"/>
            <a:ext cx="3745858" cy="909402"/>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buClr>
                <a:srgbClr val="EC0000"/>
              </a:buClr>
              <a:buFont typeface="Wingdings" panose="05000000000000000000" pitchFamily="2" charset="2"/>
              <a:buChar char="§"/>
              <a:defRPr/>
            </a:pPr>
            <a:r>
              <a:rPr lang="en-US">
                <a:solidFill>
                  <a:schemeClr val="tx1"/>
                </a:solidFill>
                <a:latin typeface="Santander Text"/>
              </a:rPr>
              <a:t>Mathematical scheme for verifying the authenticity of customer identity, digital messages or documents. It is considered for customer high risk operations</a:t>
            </a:r>
            <a:endParaRPr kumimoji="0" lang="en-GB" sz="1200" b="0" i="0" u="none" strike="noStrike" kern="1200" cap="none" spc="0" normalizeH="0" baseline="0" noProof="0">
              <a:ln>
                <a:noFill/>
              </a:ln>
              <a:solidFill>
                <a:schemeClr val="tx1"/>
              </a:solidFill>
              <a:effectLst/>
              <a:uLnTx/>
              <a:uFillTx/>
              <a:latin typeface="Santander Text"/>
              <a:ea typeface="+mn-ea"/>
              <a:cs typeface="+mn-cs"/>
            </a:endParaRPr>
          </a:p>
        </p:txBody>
      </p:sp>
      <p:cxnSp>
        <p:nvCxnSpPr>
          <p:cNvPr id="35" name="Conector recto 34">
            <a:extLst>
              <a:ext uri="{FF2B5EF4-FFF2-40B4-BE49-F238E27FC236}">
                <a16:creationId xmlns:a16="http://schemas.microsoft.com/office/drawing/2014/main" id="{5C83372F-646A-9B0D-D0D9-86F1D8BA983C}"/>
              </a:ext>
            </a:extLst>
          </p:cNvPr>
          <p:cNvCxnSpPr>
            <a:cxnSpLocks/>
          </p:cNvCxnSpPr>
          <p:nvPr/>
        </p:nvCxnSpPr>
        <p:spPr>
          <a:xfrm flipH="1" flipV="1">
            <a:off x="6167296" y="2831213"/>
            <a:ext cx="5112000" cy="0"/>
          </a:xfrm>
          <a:prstGeom prst="line">
            <a:avLst/>
          </a:prstGeom>
          <a:noFill/>
          <a:ln w="12700" cap="flat" cmpd="sng" algn="ctr">
            <a:solidFill>
              <a:schemeClr val="bg1">
                <a:lumMod val="85000"/>
              </a:schemeClr>
            </a:solidFill>
            <a:prstDash val="solid"/>
            <a:miter lim="800000"/>
          </a:ln>
          <a:effectLst/>
        </p:spPr>
      </p:cxnSp>
      <p:cxnSp>
        <p:nvCxnSpPr>
          <p:cNvPr id="37" name="Conector recto 36">
            <a:extLst>
              <a:ext uri="{FF2B5EF4-FFF2-40B4-BE49-F238E27FC236}">
                <a16:creationId xmlns:a16="http://schemas.microsoft.com/office/drawing/2014/main" id="{878DE791-7D66-071E-71B6-5F39446B5D40}"/>
              </a:ext>
            </a:extLst>
          </p:cNvPr>
          <p:cNvCxnSpPr>
            <a:cxnSpLocks/>
          </p:cNvCxnSpPr>
          <p:nvPr/>
        </p:nvCxnSpPr>
        <p:spPr>
          <a:xfrm flipH="1" flipV="1">
            <a:off x="6160718" y="3731026"/>
            <a:ext cx="5112000" cy="0"/>
          </a:xfrm>
          <a:prstGeom prst="line">
            <a:avLst/>
          </a:prstGeom>
          <a:noFill/>
          <a:ln w="12700" cap="flat" cmpd="sng" algn="ctr">
            <a:solidFill>
              <a:schemeClr val="bg1">
                <a:lumMod val="85000"/>
              </a:schemeClr>
            </a:solidFill>
            <a:prstDash val="solid"/>
            <a:miter lim="800000"/>
          </a:ln>
          <a:effectLst/>
        </p:spPr>
      </p:cxnSp>
      <p:sp>
        <p:nvSpPr>
          <p:cNvPr id="50" name="CuadroTexto 49">
            <a:extLst>
              <a:ext uri="{FF2B5EF4-FFF2-40B4-BE49-F238E27FC236}">
                <a16:creationId xmlns:a16="http://schemas.microsoft.com/office/drawing/2014/main" id="{28779CBD-C505-DD25-A9F2-B62CC9287311}"/>
              </a:ext>
            </a:extLst>
          </p:cNvPr>
          <p:cNvSpPr txBox="1"/>
          <p:nvPr/>
        </p:nvSpPr>
        <p:spPr>
          <a:xfrm>
            <a:off x="7659020" y="2930765"/>
            <a:ext cx="3718224" cy="646331"/>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lang="en-US" sz="1200">
                <a:solidFill>
                  <a:prstClr val="black"/>
                </a:solidFill>
                <a:latin typeface="Santander Text" panose="020B0504020201020104" pitchFamily="34" charset="0"/>
              </a:rPr>
              <a:t>Set of tools (e.g.: messaging channels, call me back, click to call, etc.) that boost customer engagement and interaction</a:t>
            </a:r>
            <a:endPar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endParaRPr>
          </a:p>
        </p:txBody>
      </p:sp>
      <p:sp>
        <p:nvSpPr>
          <p:cNvPr id="4" name="Rectángulo 262">
            <a:extLst>
              <a:ext uri="{FF2B5EF4-FFF2-40B4-BE49-F238E27FC236}">
                <a16:creationId xmlns:a16="http://schemas.microsoft.com/office/drawing/2014/main" id="{79747B38-CF9A-5573-B543-CADC2E64C712}"/>
              </a:ext>
            </a:extLst>
          </p:cNvPr>
          <p:cNvSpPr/>
          <p:nvPr/>
        </p:nvSpPr>
        <p:spPr>
          <a:xfrm>
            <a:off x="6105200" y="2069931"/>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Digital Signatures</a:t>
            </a:r>
          </a:p>
        </p:txBody>
      </p:sp>
      <p:sp>
        <p:nvSpPr>
          <p:cNvPr id="13" name="Rectángulo 262">
            <a:extLst>
              <a:ext uri="{FF2B5EF4-FFF2-40B4-BE49-F238E27FC236}">
                <a16:creationId xmlns:a16="http://schemas.microsoft.com/office/drawing/2014/main" id="{79E11E61-23BA-D464-CCC5-9F73D9B6D110}"/>
              </a:ext>
            </a:extLst>
          </p:cNvPr>
          <p:cNvSpPr/>
          <p:nvPr/>
        </p:nvSpPr>
        <p:spPr>
          <a:xfrm>
            <a:off x="6105200" y="3019436"/>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Interaction Services </a:t>
            </a:r>
          </a:p>
        </p:txBody>
      </p:sp>
      <p:sp>
        <p:nvSpPr>
          <p:cNvPr id="25" name="CuadroTexto 24">
            <a:extLst>
              <a:ext uri="{FF2B5EF4-FFF2-40B4-BE49-F238E27FC236}">
                <a16:creationId xmlns:a16="http://schemas.microsoft.com/office/drawing/2014/main" id="{49A5B419-3BC5-3ECB-7B95-B21CA9690523}"/>
              </a:ext>
            </a:extLst>
          </p:cNvPr>
          <p:cNvSpPr txBox="1"/>
          <p:nvPr/>
        </p:nvSpPr>
        <p:spPr>
          <a:xfrm>
            <a:off x="2274044" y="2003182"/>
            <a:ext cx="3454489" cy="830997"/>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rPr>
              <a:t>Ability to address data privacy and data governance concerns. It must contain main customer profile attributes and opt-out options to stop all commercial communications</a:t>
            </a:r>
            <a:endParaRPr kumimoji="0" lang="en-GB"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endParaRPr>
          </a:p>
        </p:txBody>
      </p:sp>
      <p:sp>
        <p:nvSpPr>
          <p:cNvPr id="6" name="Título 1">
            <a:extLst>
              <a:ext uri="{FF2B5EF4-FFF2-40B4-BE49-F238E27FC236}">
                <a16:creationId xmlns:a16="http://schemas.microsoft.com/office/drawing/2014/main" id="{A3A25ECD-49BE-D8F0-484C-AB11393847D3}"/>
              </a:ext>
            </a:extLst>
          </p:cNvPr>
          <p:cNvSpPr>
            <a:spLocks noGrp="1"/>
          </p:cNvSpPr>
          <p:nvPr>
            <p:ph type="title"/>
          </p:nvPr>
        </p:nvSpPr>
        <p:spPr>
          <a:xfrm>
            <a:off x="711024" y="641900"/>
            <a:ext cx="10758733" cy="445400"/>
          </a:xfrm>
        </p:spPr>
        <p:txBody>
          <a:bodyPr/>
          <a:lstStyle/>
          <a:p>
            <a:pPr>
              <a:defRPr/>
            </a:pPr>
            <a:r>
              <a:rPr kumimoji="0" lang="es-ES" sz="2800" b="1" i="0" u="none" strike="noStrike" kern="1200" cap="none" spc="0" normalizeH="0" baseline="0" noProof="0">
                <a:ln>
                  <a:noFill/>
                </a:ln>
                <a:solidFill>
                  <a:srgbClr val="EC0000"/>
                </a:solidFill>
                <a:effectLst/>
                <a:uLnTx/>
                <a:uFillTx/>
                <a:latin typeface="Santander Headline"/>
                <a:ea typeface="+mj-ea"/>
                <a:cs typeface="+mj-cs"/>
              </a:rPr>
              <a:t>DCB</a:t>
            </a:r>
            <a:r>
              <a:rPr lang="es-ES">
                <a:solidFill>
                  <a:srgbClr val="EC0000"/>
                </a:solidFill>
                <a:latin typeface="Santander Headline"/>
              </a:rPr>
              <a:t>.</a:t>
            </a:r>
            <a:r>
              <a:rPr kumimoji="0" lang="es-ES" sz="2800" b="1" i="0" u="none" strike="noStrike" kern="1200" cap="none" spc="0" normalizeH="0" baseline="0" noProof="0">
                <a:ln>
                  <a:noFill/>
                </a:ln>
                <a:solidFill>
                  <a:srgbClr val="EC0000"/>
                </a:solidFill>
                <a:effectLst/>
                <a:uLnTx/>
                <a:uFillTx/>
                <a:latin typeface="Santander Headline"/>
                <a:ea typeface="+mj-ea"/>
                <a:cs typeface="+mj-cs"/>
              </a:rPr>
              <a:t> </a:t>
            </a:r>
            <a:r>
              <a:rPr kumimoji="0" lang="en-AU" sz="2800" b="1" i="0" u="none" strike="noStrike" kern="1200" cap="none" spc="0" normalizeH="0" baseline="0" noProof="0">
                <a:ln>
                  <a:noFill/>
                </a:ln>
                <a:solidFill>
                  <a:srgbClr val="BFBFBF"/>
                </a:solidFill>
                <a:effectLst/>
                <a:uLnTx/>
                <a:uFillTx/>
                <a:latin typeface="Santander Headline"/>
                <a:ea typeface="+mj-ea"/>
                <a:cs typeface="+mj-cs"/>
              </a:rPr>
              <a:t>Digital Channels Individuals</a:t>
            </a:r>
            <a:endParaRPr lang="en-US">
              <a:solidFill>
                <a:schemeClr val="bg1">
                  <a:lumMod val="75000"/>
                </a:schemeClr>
              </a:solidFill>
            </a:endParaRPr>
          </a:p>
        </p:txBody>
      </p:sp>
      <p:sp>
        <p:nvSpPr>
          <p:cNvPr id="20" name="Rectángulo 14">
            <a:extLst>
              <a:ext uri="{FF2B5EF4-FFF2-40B4-BE49-F238E27FC236}">
                <a16:creationId xmlns:a16="http://schemas.microsoft.com/office/drawing/2014/main" id="{D8C83435-6F26-AA44-8DF3-5A0C197E1D6F}"/>
              </a:ext>
            </a:extLst>
          </p:cNvPr>
          <p:cNvSpPr/>
          <p:nvPr/>
        </p:nvSpPr>
        <p:spPr>
          <a:xfrm>
            <a:off x="711024" y="3873031"/>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AU" sz="1400" kern="0">
                <a:solidFill>
                  <a:srgbClr val="DEEDF1">
                    <a:lumMod val="25000"/>
                  </a:srgbClr>
                </a:solidFill>
                <a:latin typeface="Santander Text"/>
              </a:rPr>
              <a:t>Supporting Tools</a:t>
            </a:r>
            <a:endPar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endParaRPr>
          </a:p>
        </p:txBody>
      </p:sp>
      <p:cxnSp>
        <p:nvCxnSpPr>
          <p:cNvPr id="28" name="Conector recto 23">
            <a:extLst>
              <a:ext uri="{FF2B5EF4-FFF2-40B4-BE49-F238E27FC236}">
                <a16:creationId xmlns:a16="http://schemas.microsoft.com/office/drawing/2014/main" id="{290EEAD0-42E7-FA03-4076-954AD2678E21}"/>
              </a:ext>
            </a:extLst>
          </p:cNvPr>
          <p:cNvCxnSpPr>
            <a:cxnSpLocks/>
          </p:cNvCxnSpPr>
          <p:nvPr/>
        </p:nvCxnSpPr>
        <p:spPr>
          <a:xfrm flipH="1" flipV="1">
            <a:off x="684799" y="3734854"/>
            <a:ext cx="5112000" cy="0"/>
          </a:xfrm>
          <a:prstGeom prst="line">
            <a:avLst/>
          </a:prstGeom>
          <a:noFill/>
          <a:ln w="12700" cap="flat" cmpd="sng" algn="ctr">
            <a:solidFill>
              <a:schemeClr val="bg1">
                <a:lumMod val="85000"/>
              </a:schemeClr>
            </a:solidFill>
            <a:prstDash val="solid"/>
            <a:miter lim="800000"/>
          </a:ln>
          <a:effectLst/>
        </p:spPr>
      </p:cxnSp>
      <p:sp>
        <p:nvSpPr>
          <p:cNvPr id="29" name="CuadroTexto 25">
            <a:extLst>
              <a:ext uri="{FF2B5EF4-FFF2-40B4-BE49-F238E27FC236}">
                <a16:creationId xmlns:a16="http://schemas.microsoft.com/office/drawing/2014/main" id="{9B09275C-C813-F6F0-0C42-1A7FD2147AB1}"/>
              </a:ext>
            </a:extLst>
          </p:cNvPr>
          <p:cNvSpPr txBox="1"/>
          <p:nvPr/>
        </p:nvSpPr>
        <p:spPr>
          <a:xfrm>
            <a:off x="2274044" y="3738532"/>
            <a:ext cx="3630260" cy="830997"/>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lang="en-US" sz="1200">
                <a:solidFill>
                  <a:prstClr val="black"/>
                </a:solidFill>
                <a:latin typeface="Santander Text" panose="020B0504020201020104" pitchFamily="34" charset="0"/>
              </a:rPr>
              <a:t>Set of tools available to help customers self-manage non-complex and non-technical/operative issues, providing helpful information and guidance when needed</a:t>
            </a:r>
            <a:endPar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endParaRPr>
          </a:p>
        </p:txBody>
      </p:sp>
      <p:sp>
        <p:nvSpPr>
          <p:cNvPr id="41" name="Rectángulo 14">
            <a:extLst>
              <a:ext uri="{FF2B5EF4-FFF2-40B4-BE49-F238E27FC236}">
                <a16:creationId xmlns:a16="http://schemas.microsoft.com/office/drawing/2014/main" id="{65509D43-29A3-B31E-B68C-2E0302679627}"/>
              </a:ext>
            </a:extLst>
          </p:cNvPr>
          <p:cNvSpPr/>
          <p:nvPr/>
        </p:nvSpPr>
        <p:spPr>
          <a:xfrm>
            <a:off x="6096000" y="3873031"/>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AI Interaction Services </a:t>
            </a:r>
          </a:p>
        </p:txBody>
      </p:sp>
      <p:sp>
        <p:nvSpPr>
          <p:cNvPr id="42" name="CuadroTexto 25">
            <a:extLst>
              <a:ext uri="{FF2B5EF4-FFF2-40B4-BE49-F238E27FC236}">
                <a16:creationId xmlns:a16="http://schemas.microsoft.com/office/drawing/2014/main" id="{EC1AF575-9C47-26D6-4392-D5FDF8364E11}"/>
              </a:ext>
            </a:extLst>
          </p:cNvPr>
          <p:cNvSpPr txBox="1"/>
          <p:nvPr/>
        </p:nvSpPr>
        <p:spPr>
          <a:xfrm>
            <a:off x="7659020" y="3796806"/>
            <a:ext cx="3630260" cy="830997"/>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lang="en-US" sz="1200">
                <a:solidFill>
                  <a:prstClr val="black"/>
                </a:solidFill>
                <a:latin typeface="Santander Text" panose="020B0504020201020104" pitchFamily="34" charset="0"/>
              </a:rPr>
              <a:t>Specific components develop by each entity with a local scope, due to regulatory requirements, local needs, local market trends, entity legacy systems, </a:t>
            </a:r>
            <a:r>
              <a:rPr lang="en-US" sz="1200" err="1">
                <a:solidFill>
                  <a:prstClr val="black"/>
                </a:solidFill>
                <a:latin typeface="Santander Text" panose="020B0504020201020104" pitchFamily="34" charset="0"/>
              </a:rPr>
              <a:t>etc</a:t>
            </a:r>
            <a:endPar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endParaRPr>
          </a:p>
        </p:txBody>
      </p:sp>
      <p:cxnSp>
        <p:nvCxnSpPr>
          <p:cNvPr id="3" name="Conector recto 36">
            <a:extLst>
              <a:ext uri="{FF2B5EF4-FFF2-40B4-BE49-F238E27FC236}">
                <a16:creationId xmlns:a16="http://schemas.microsoft.com/office/drawing/2014/main" id="{77F71038-D566-3A06-4B96-1BAAB0B1CEA5}"/>
              </a:ext>
            </a:extLst>
          </p:cNvPr>
          <p:cNvCxnSpPr>
            <a:cxnSpLocks/>
          </p:cNvCxnSpPr>
          <p:nvPr/>
        </p:nvCxnSpPr>
        <p:spPr>
          <a:xfrm flipH="1" flipV="1">
            <a:off x="6160718" y="4608866"/>
            <a:ext cx="5112000" cy="0"/>
          </a:xfrm>
          <a:prstGeom prst="line">
            <a:avLst/>
          </a:prstGeom>
          <a:noFill/>
          <a:ln w="12700" cap="flat" cmpd="sng" algn="ctr">
            <a:solidFill>
              <a:schemeClr val="bg1">
                <a:lumMod val="85000"/>
              </a:schemeClr>
            </a:solidFill>
            <a:prstDash val="solid"/>
            <a:miter lim="800000"/>
          </a:ln>
          <a:effectLst/>
        </p:spPr>
      </p:cxnSp>
      <p:sp>
        <p:nvSpPr>
          <p:cNvPr id="8" name="Rectángulo 14">
            <a:extLst>
              <a:ext uri="{FF2B5EF4-FFF2-40B4-BE49-F238E27FC236}">
                <a16:creationId xmlns:a16="http://schemas.microsoft.com/office/drawing/2014/main" id="{5A82F570-4465-D4D8-4469-6979E67E3604}"/>
              </a:ext>
            </a:extLst>
          </p:cNvPr>
          <p:cNvSpPr/>
          <p:nvPr/>
        </p:nvSpPr>
        <p:spPr>
          <a:xfrm>
            <a:off x="6096000" y="4750871"/>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Push Notifications </a:t>
            </a:r>
          </a:p>
        </p:txBody>
      </p:sp>
      <p:sp>
        <p:nvSpPr>
          <p:cNvPr id="9" name="CuadroTexto 25">
            <a:extLst>
              <a:ext uri="{FF2B5EF4-FFF2-40B4-BE49-F238E27FC236}">
                <a16:creationId xmlns:a16="http://schemas.microsoft.com/office/drawing/2014/main" id="{A13C3E73-5811-4EF2-C753-F7559C45042B}"/>
              </a:ext>
            </a:extLst>
          </p:cNvPr>
          <p:cNvSpPr txBox="1"/>
          <p:nvPr/>
        </p:nvSpPr>
        <p:spPr>
          <a:xfrm>
            <a:off x="7659020" y="4674646"/>
            <a:ext cx="3630260" cy="646331"/>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lang="en-US" sz="1200">
                <a:solidFill>
                  <a:prstClr val="black"/>
                </a:solidFill>
                <a:latin typeface="Santander Text" panose="020B0504020201020104" pitchFamily="34" charset="0"/>
              </a:rPr>
              <a:t>Inform the customer about relevant facts. They can be used for marketing, communications or security flows</a:t>
            </a:r>
            <a:endPar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endParaRPr>
          </a:p>
        </p:txBody>
      </p:sp>
      <p:cxnSp>
        <p:nvCxnSpPr>
          <p:cNvPr id="10" name="Conector recto 36">
            <a:extLst>
              <a:ext uri="{FF2B5EF4-FFF2-40B4-BE49-F238E27FC236}">
                <a16:creationId xmlns:a16="http://schemas.microsoft.com/office/drawing/2014/main" id="{C15057F5-8F9B-0F00-2417-8D744CB8BA2C}"/>
              </a:ext>
            </a:extLst>
          </p:cNvPr>
          <p:cNvCxnSpPr>
            <a:cxnSpLocks/>
          </p:cNvCxnSpPr>
          <p:nvPr/>
        </p:nvCxnSpPr>
        <p:spPr>
          <a:xfrm flipH="1" flipV="1">
            <a:off x="6160718" y="5496409"/>
            <a:ext cx="5112000" cy="0"/>
          </a:xfrm>
          <a:prstGeom prst="line">
            <a:avLst/>
          </a:prstGeom>
          <a:noFill/>
          <a:ln w="12700" cap="flat" cmpd="sng" algn="ctr">
            <a:solidFill>
              <a:schemeClr val="bg1">
                <a:lumMod val="85000"/>
              </a:schemeClr>
            </a:solidFill>
            <a:prstDash val="solid"/>
            <a:miter lim="800000"/>
          </a:ln>
          <a:effectLst/>
        </p:spPr>
      </p:cxnSp>
      <p:sp>
        <p:nvSpPr>
          <p:cNvPr id="14" name="Rectángulo 14">
            <a:extLst>
              <a:ext uri="{FF2B5EF4-FFF2-40B4-BE49-F238E27FC236}">
                <a16:creationId xmlns:a16="http://schemas.microsoft.com/office/drawing/2014/main" id="{F6C993AE-BBA9-02AB-54E1-527F19E708B4}"/>
              </a:ext>
            </a:extLst>
          </p:cNvPr>
          <p:cNvSpPr/>
          <p:nvPr/>
        </p:nvSpPr>
        <p:spPr>
          <a:xfrm>
            <a:off x="6096000" y="5638414"/>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Voice of the Customers</a:t>
            </a:r>
          </a:p>
        </p:txBody>
      </p:sp>
      <p:sp>
        <p:nvSpPr>
          <p:cNvPr id="16" name="CuadroTexto 25">
            <a:extLst>
              <a:ext uri="{FF2B5EF4-FFF2-40B4-BE49-F238E27FC236}">
                <a16:creationId xmlns:a16="http://schemas.microsoft.com/office/drawing/2014/main" id="{1D7DC97F-8AA9-34BA-71B5-D312C9F81561}"/>
              </a:ext>
            </a:extLst>
          </p:cNvPr>
          <p:cNvSpPr txBox="1"/>
          <p:nvPr/>
        </p:nvSpPr>
        <p:spPr>
          <a:xfrm>
            <a:off x="7659020" y="5562189"/>
            <a:ext cx="3630260" cy="646331"/>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lang="en-US" sz="1200">
                <a:solidFill>
                  <a:prstClr val="black"/>
                </a:solidFill>
                <a:latin typeface="Santander Text" panose="020B0504020201020104" pitchFamily="34" charset="0"/>
              </a:rPr>
              <a:t>Set of tools that boost feedback collection (direct / indirect / inferred), let feedback analysis to know the customer satisfaction and insights </a:t>
            </a:r>
            <a:endPar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endParaRPr>
          </a:p>
        </p:txBody>
      </p:sp>
    </p:spTree>
    <p:extLst>
      <p:ext uri="{BB962C8B-B14F-4D97-AF65-F5344CB8AC3E}">
        <p14:creationId xmlns:p14="http://schemas.microsoft.com/office/powerpoint/2010/main" val="1371905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D42D1-61D8-9FCC-C074-58E09B347FFD}"/>
            </a:ext>
          </a:extLst>
        </p:cNvPr>
        <p:cNvGrpSpPr/>
        <p:nvPr/>
      </p:nvGrpSpPr>
      <p:grpSpPr>
        <a:xfrm>
          <a:off x="0" y="0"/>
          <a:ext cx="0" cy="0"/>
          <a:chOff x="0" y="0"/>
          <a:chExt cx="0" cy="0"/>
        </a:xfrm>
      </p:grpSpPr>
      <p:sp>
        <p:nvSpPr>
          <p:cNvPr id="17" name="Text Placeholder 2">
            <a:extLst>
              <a:ext uri="{FF2B5EF4-FFF2-40B4-BE49-F238E27FC236}">
                <a16:creationId xmlns:a16="http://schemas.microsoft.com/office/drawing/2014/main" id="{CD9CF431-093F-8B3D-8145-B81950933ADC}"/>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15" name="Rectángulo 14">
            <a:extLst>
              <a:ext uri="{FF2B5EF4-FFF2-40B4-BE49-F238E27FC236}">
                <a16:creationId xmlns:a16="http://schemas.microsoft.com/office/drawing/2014/main" id="{855466A2-40DD-4484-F637-6BFEDE4A3077}"/>
              </a:ext>
            </a:extLst>
          </p:cNvPr>
          <p:cNvSpPr/>
          <p:nvPr/>
        </p:nvSpPr>
        <p:spPr>
          <a:xfrm>
            <a:off x="711024" y="2976405"/>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Internationalization &amp; Localization </a:t>
            </a:r>
          </a:p>
        </p:txBody>
      </p:sp>
      <p:sp>
        <p:nvSpPr>
          <p:cNvPr id="19" name="Rectángulo 18">
            <a:extLst>
              <a:ext uri="{FF2B5EF4-FFF2-40B4-BE49-F238E27FC236}">
                <a16:creationId xmlns:a16="http://schemas.microsoft.com/office/drawing/2014/main" id="{59AD6F86-2EA5-46BF-C87F-1908ED050912}"/>
              </a:ext>
            </a:extLst>
          </p:cNvPr>
          <p:cNvSpPr/>
          <p:nvPr/>
        </p:nvSpPr>
        <p:spPr>
          <a:xfrm>
            <a:off x="711024" y="2069931"/>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Accessibility</a:t>
            </a:r>
          </a:p>
        </p:txBody>
      </p:sp>
      <p:sp>
        <p:nvSpPr>
          <p:cNvPr id="21" name="CuadroTexto 20">
            <a:extLst>
              <a:ext uri="{FF2B5EF4-FFF2-40B4-BE49-F238E27FC236}">
                <a16:creationId xmlns:a16="http://schemas.microsoft.com/office/drawing/2014/main" id="{CAFA7A12-5AAF-990F-41DD-704528C56774}"/>
              </a:ext>
            </a:extLst>
          </p:cNvPr>
          <p:cNvSpPr txBox="1"/>
          <p:nvPr/>
        </p:nvSpPr>
        <p:spPr>
          <a:xfrm>
            <a:off x="684799" y="1128886"/>
            <a:ext cx="4391698" cy="807913"/>
          </a:xfrm>
          <a:prstGeom prst="rect">
            <a:avLst/>
          </a:prstGeom>
          <a:noFill/>
        </p:spPr>
        <p:txBody>
          <a:bodyPr wrap="square" rtlCol="0">
            <a:spAutoFit/>
          </a:bodyPr>
          <a:lstStyle/>
          <a:p>
            <a:pPr marL="355600" marR="0" lvl="0" indent="-355600" algn="l" defTabSz="914400" rtl="0" eaLnBrk="1" fontAlgn="auto" latinLnBrk="0" hangingPunct="1">
              <a:lnSpc>
                <a:spcPct val="100000"/>
              </a:lnSpc>
              <a:spcBef>
                <a:spcPts val="0"/>
              </a:spcBef>
              <a:spcAft>
                <a:spcPts val="300"/>
              </a:spcAft>
              <a:buClrTx/>
              <a:buSzTx/>
              <a:buFontTx/>
              <a:buNone/>
              <a:tabLst/>
              <a:defRPr/>
            </a:pPr>
            <a:r>
              <a:rPr kumimoji="0" lang="en-GB"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7 – UX Capabilities</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400" b="0" i="1"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Set of tools and libraries to customize UX and ensure a standard design of the Native and Web components </a:t>
            </a:r>
          </a:p>
        </p:txBody>
      </p:sp>
      <p:cxnSp>
        <p:nvCxnSpPr>
          <p:cNvPr id="22" name="Conector recto 21">
            <a:extLst>
              <a:ext uri="{FF2B5EF4-FFF2-40B4-BE49-F238E27FC236}">
                <a16:creationId xmlns:a16="http://schemas.microsoft.com/office/drawing/2014/main" id="{7C05B120-ADE7-A7B1-B754-3E7D23B66F46}"/>
              </a:ext>
            </a:extLst>
          </p:cNvPr>
          <p:cNvCxnSpPr>
            <a:cxnSpLocks/>
          </p:cNvCxnSpPr>
          <p:nvPr/>
        </p:nvCxnSpPr>
        <p:spPr>
          <a:xfrm flipH="1" flipV="1">
            <a:off x="711024" y="1933750"/>
            <a:ext cx="5112000" cy="0"/>
          </a:xfrm>
          <a:prstGeom prst="line">
            <a:avLst/>
          </a:prstGeom>
          <a:solidFill>
            <a:schemeClr val="accent4">
              <a:lumMod val="40000"/>
              <a:lumOff val="60000"/>
            </a:schemeClr>
          </a:solidFill>
          <a:ln w="12700" cap="flat" cmpd="sng" algn="ctr">
            <a:solidFill>
              <a:schemeClr val="bg2">
                <a:lumMod val="50000"/>
              </a:schemeClr>
            </a:solidFill>
            <a:prstDash val="solid"/>
            <a:miter lim="800000"/>
          </a:ln>
          <a:effectLst/>
        </p:spPr>
      </p:cxnSp>
      <p:sp>
        <p:nvSpPr>
          <p:cNvPr id="23" name="CuadroTexto 22">
            <a:extLst>
              <a:ext uri="{FF2B5EF4-FFF2-40B4-BE49-F238E27FC236}">
                <a16:creationId xmlns:a16="http://schemas.microsoft.com/office/drawing/2014/main" id="{7B4E5912-3DC5-7D47-90FD-D1F60A0DBAD5}"/>
              </a:ext>
            </a:extLst>
          </p:cNvPr>
          <p:cNvSpPr txBox="1"/>
          <p:nvPr/>
        </p:nvSpPr>
        <p:spPr>
          <a:xfrm>
            <a:off x="2192764" y="1965879"/>
            <a:ext cx="3658438" cy="909402"/>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180000" marR="0" lvl="0" indent="-180000" algn="l" defTabSz="914400" rtl="0" eaLnBrk="1" fontAlgn="auto" latinLnBrk="0" hangingPunct="1">
              <a:lnSpc>
                <a:spcPct val="100000"/>
              </a:lnSpc>
              <a:spcBef>
                <a:spcPts val="600"/>
              </a:spcBef>
              <a:spcAft>
                <a:spcPts val="0"/>
              </a:spcAft>
              <a:buClr>
                <a:srgbClr val="EC0000"/>
              </a:buClr>
              <a:buSzTx/>
              <a:buFont typeface="Arial" panose="020B0604020202020204" pitchFamily="34" charset="0"/>
              <a:buChar char="•"/>
              <a:tabLst/>
              <a:defRPr/>
            </a:pPr>
            <a:endParaRPr kumimoji="0" lang="en-GB" sz="1200" b="0" i="0" u="none" strike="noStrike" kern="1200" cap="none" spc="0" normalizeH="0" baseline="0" noProof="0">
              <a:ln>
                <a:noFill/>
              </a:ln>
              <a:solidFill>
                <a:srgbClr val="595959"/>
              </a:solidFill>
              <a:effectLst/>
              <a:uLnTx/>
              <a:uFillTx/>
              <a:latin typeface="Santander Text"/>
              <a:ea typeface="+mn-ea"/>
              <a:cs typeface="+mn-cs"/>
            </a:endParaRPr>
          </a:p>
        </p:txBody>
      </p:sp>
      <p:cxnSp>
        <p:nvCxnSpPr>
          <p:cNvPr id="24" name="Conector recto 23">
            <a:extLst>
              <a:ext uri="{FF2B5EF4-FFF2-40B4-BE49-F238E27FC236}">
                <a16:creationId xmlns:a16="http://schemas.microsoft.com/office/drawing/2014/main" id="{9CCA1CD8-0289-A054-D920-87B8F681C76C}"/>
              </a:ext>
            </a:extLst>
          </p:cNvPr>
          <p:cNvCxnSpPr>
            <a:cxnSpLocks/>
          </p:cNvCxnSpPr>
          <p:nvPr/>
        </p:nvCxnSpPr>
        <p:spPr>
          <a:xfrm flipH="1" flipV="1">
            <a:off x="684799" y="2838228"/>
            <a:ext cx="5112000" cy="0"/>
          </a:xfrm>
          <a:prstGeom prst="line">
            <a:avLst/>
          </a:prstGeom>
          <a:noFill/>
          <a:ln w="12700" cap="flat" cmpd="sng" algn="ctr">
            <a:solidFill>
              <a:schemeClr val="bg1">
                <a:lumMod val="85000"/>
              </a:schemeClr>
            </a:solidFill>
            <a:prstDash val="solid"/>
            <a:miter lim="800000"/>
          </a:ln>
          <a:effectLst/>
        </p:spPr>
      </p:cxnSp>
      <p:sp>
        <p:nvSpPr>
          <p:cNvPr id="26" name="CuadroTexto 25">
            <a:extLst>
              <a:ext uri="{FF2B5EF4-FFF2-40B4-BE49-F238E27FC236}">
                <a16:creationId xmlns:a16="http://schemas.microsoft.com/office/drawing/2014/main" id="{AC958DD3-DC69-4930-6FB6-5F46672E63CB}"/>
              </a:ext>
            </a:extLst>
          </p:cNvPr>
          <p:cNvSpPr txBox="1"/>
          <p:nvPr/>
        </p:nvSpPr>
        <p:spPr>
          <a:xfrm>
            <a:off x="2274044" y="2900180"/>
            <a:ext cx="3630260" cy="830997"/>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lang="en-US" sz="1200">
                <a:solidFill>
                  <a:prstClr val="black"/>
                </a:solidFill>
                <a:latin typeface="Santander Text" panose="020B0504020201020104" pitchFamily="34" charset="0"/>
              </a:rPr>
              <a:t>Provides the frameworks standards for apps to be prepared to use different languages. Translations needs to be managed externally and handled by to the application as one more resource</a:t>
            </a:r>
            <a:endPar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endParaRPr>
          </a:p>
        </p:txBody>
      </p:sp>
      <p:sp>
        <p:nvSpPr>
          <p:cNvPr id="32" name="CuadroTexto 31">
            <a:extLst>
              <a:ext uri="{FF2B5EF4-FFF2-40B4-BE49-F238E27FC236}">
                <a16:creationId xmlns:a16="http://schemas.microsoft.com/office/drawing/2014/main" id="{35E938E1-050A-AEF3-E005-FC1B07BCE2A1}"/>
              </a:ext>
            </a:extLst>
          </p:cNvPr>
          <p:cNvSpPr txBox="1"/>
          <p:nvPr/>
        </p:nvSpPr>
        <p:spPr>
          <a:xfrm>
            <a:off x="6141070" y="1128886"/>
            <a:ext cx="5111999" cy="592470"/>
          </a:xfrm>
          <a:prstGeom prst="rect">
            <a:avLst/>
          </a:prstGeom>
          <a:noFill/>
        </p:spPr>
        <p:txBody>
          <a:bodyPr wrap="square" rtlCol="0">
            <a:spAutoFit/>
          </a:bodyPr>
          <a:lstStyle/>
          <a:p>
            <a:pPr marL="355600" marR="0" lvl="0" indent="-355600" algn="l" defTabSz="914400" rtl="0" eaLnBrk="1" fontAlgn="auto" latinLnBrk="0" hangingPunct="1">
              <a:lnSpc>
                <a:spcPct val="100000"/>
              </a:lnSpc>
              <a:spcBef>
                <a:spcPts val="0"/>
              </a:spcBef>
              <a:spcAft>
                <a:spcPts val="300"/>
              </a:spcAft>
              <a:buClrTx/>
              <a:buSzTx/>
              <a:buFontTx/>
              <a:buNone/>
              <a:tabLst/>
              <a:defRPr/>
            </a:pPr>
            <a:r>
              <a:rPr kumimoji="0" lang="en-GB"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8 – Technical Services</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400" b="0" i="1"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Technical services to support servicing model</a:t>
            </a:r>
          </a:p>
        </p:txBody>
      </p:sp>
      <p:cxnSp>
        <p:nvCxnSpPr>
          <p:cNvPr id="33" name="Conector recto 32">
            <a:extLst>
              <a:ext uri="{FF2B5EF4-FFF2-40B4-BE49-F238E27FC236}">
                <a16:creationId xmlns:a16="http://schemas.microsoft.com/office/drawing/2014/main" id="{4ED3742A-CEAC-FD18-1E1D-A23CE8D4ED21}"/>
              </a:ext>
            </a:extLst>
          </p:cNvPr>
          <p:cNvCxnSpPr>
            <a:cxnSpLocks/>
          </p:cNvCxnSpPr>
          <p:nvPr/>
        </p:nvCxnSpPr>
        <p:spPr>
          <a:xfrm flipH="1" flipV="1">
            <a:off x="6167296" y="1933750"/>
            <a:ext cx="5112000" cy="0"/>
          </a:xfrm>
          <a:prstGeom prst="line">
            <a:avLst/>
          </a:prstGeom>
          <a:noFill/>
          <a:ln w="12700" cap="flat" cmpd="sng" algn="ctr">
            <a:solidFill>
              <a:srgbClr val="595959"/>
            </a:solidFill>
            <a:prstDash val="solid"/>
            <a:miter lim="800000"/>
          </a:ln>
          <a:effectLst/>
        </p:spPr>
      </p:cxnSp>
      <p:sp>
        <p:nvSpPr>
          <p:cNvPr id="34" name="CuadroTexto 33">
            <a:extLst>
              <a:ext uri="{FF2B5EF4-FFF2-40B4-BE49-F238E27FC236}">
                <a16:creationId xmlns:a16="http://schemas.microsoft.com/office/drawing/2014/main" id="{372E1EE6-961A-D89F-A1CF-A27434FC30BA}"/>
              </a:ext>
            </a:extLst>
          </p:cNvPr>
          <p:cNvSpPr txBox="1"/>
          <p:nvPr/>
        </p:nvSpPr>
        <p:spPr>
          <a:xfrm>
            <a:off x="7645203" y="1979444"/>
            <a:ext cx="3745858" cy="909402"/>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buClr>
                <a:srgbClr val="EC0000"/>
              </a:buClr>
              <a:buFont typeface="Wingdings" panose="05000000000000000000" pitchFamily="2" charset="2"/>
              <a:buChar char="§"/>
              <a:defRPr/>
            </a:pPr>
            <a:r>
              <a:rPr lang="en-US">
                <a:solidFill>
                  <a:schemeClr val="tx1"/>
                </a:solidFill>
                <a:latin typeface="Santander Text"/>
              </a:rPr>
              <a:t>I</a:t>
            </a:r>
            <a:r>
              <a:rPr kumimoji="0" lang="en-US" sz="1200" b="0" i="0" u="none" strike="noStrike" kern="1200" cap="none" spc="0" normalizeH="0" baseline="0" noProof="0" err="1">
                <a:ln>
                  <a:noFill/>
                </a:ln>
                <a:solidFill>
                  <a:schemeClr val="tx1"/>
                </a:solidFill>
                <a:effectLst/>
                <a:uLnTx/>
                <a:uFillTx/>
                <a:latin typeface="Santander Text"/>
                <a:ea typeface="+mn-ea"/>
                <a:cs typeface="+mn-cs"/>
              </a:rPr>
              <a:t>mproves</a:t>
            </a:r>
            <a:r>
              <a:rPr kumimoji="0" lang="en-US" sz="1200" b="0" i="0" u="none" strike="noStrike" kern="1200" cap="none" spc="0" normalizeH="0" baseline="0" noProof="0">
                <a:ln>
                  <a:noFill/>
                </a:ln>
                <a:solidFill>
                  <a:schemeClr val="tx1"/>
                </a:solidFill>
                <a:effectLst/>
                <a:uLnTx/>
                <a:uFillTx/>
                <a:latin typeface="Santander Text"/>
                <a:ea typeface="+mn-ea"/>
                <a:cs typeface="+mn-cs"/>
              </a:rPr>
              <a:t> control and accelerate time to market for new and existing features, increases customization options and ensures quality with testing capabilities </a:t>
            </a:r>
            <a:endParaRPr kumimoji="0" lang="en-GB" sz="1200" b="0" i="0" u="none" strike="noStrike" kern="1200" cap="none" spc="0" normalizeH="0" baseline="0" noProof="0">
              <a:ln>
                <a:noFill/>
              </a:ln>
              <a:solidFill>
                <a:schemeClr val="tx1"/>
              </a:solidFill>
              <a:effectLst/>
              <a:uLnTx/>
              <a:uFillTx/>
              <a:latin typeface="Santander Text"/>
              <a:ea typeface="+mn-ea"/>
              <a:cs typeface="+mn-cs"/>
            </a:endParaRPr>
          </a:p>
        </p:txBody>
      </p:sp>
      <p:cxnSp>
        <p:nvCxnSpPr>
          <p:cNvPr id="35" name="Conector recto 34">
            <a:extLst>
              <a:ext uri="{FF2B5EF4-FFF2-40B4-BE49-F238E27FC236}">
                <a16:creationId xmlns:a16="http://schemas.microsoft.com/office/drawing/2014/main" id="{046BD82A-4488-3CC1-07C0-A947F0A30670}"/>
              </a:ext>
            </a:extLst>
          </p:cNvPr>
          <p:cNvCxnSpPr>
            <a:cxnSpLocks/>
          </p:cNvCxnSpPr>
          <p:nvPr/>
        </p:nvCxnSpPr>
        <p:spPr>
          <a:xfrm flipH="1" flipV="1">
            <a:off x="6167296" y="2831213"/>
            <a:ext cx="5112000" cy="0"/>
          </a:xfrm>
          <a:prstGeom prst="line">
            <a:avLst/>
          </a:prstGeom>
          <a:noFill/>
          <a:ln w="12700" cap="flat" cmpd="sng" algn="ctr">
            <a:solidFill>
              <a:schemeClr val="bg1">
                <a:lumMod val="85000"/>
              </a:schemeClr>
            </a:solidFill>
            <a:prstDash val="solid"/>
            <a:miter lim="800000"/>
          </a:ln>
          <a:effectLst/>
        </p:spPr>
      </p:cxnSp>
      <p:cxnSp>
        <p:nvCxnSpPr>
          <p:cNvPr id="37" name="Conector recto 36">
            <a:extLst>
              <a:ext uri="{FF2B5EF4-FFF2-40B4-BE49-F238E27FC236}">
                <a16:creationId xmlns:a16="http://schemas.microsoft.com/office/drawing/2014/main" id="{8336D714-A2FB-1A83-E568-3829CC17BD87}"/>
              </a:ext>
            </a:extLst>
          </p:cNvPr>
          <p:cNvCxnSpPr>
            <a:cxnSpLocks/>
          </p:cNvCxnSpPr>
          <p:nvPr/>
        </p:nvCxnSpPr>
        <p:spPr>
          <a:xfrm flipH="1" flipV="1">
            <a:off x="6160718" y="3731026"/>
            <a:ext cx="5112000" cy="0"/>
          </a:xfrm>
          <a:prstGeom prst="line">
            <a:avLst/>
          </a:prstGeom>
          <a:noFill/>
          <a:ln w="12700" cap="flat" cmpd="sng" algn="ctr">
            <a:solidFill>
              <a:schemeClr val="bg1">
                <a:lumMod val="85000"/>
              </a:schemeClr>
            </a:solidFill>
            <a:prstDash val="solid"/>
            <a:miter lim="800000"/>
          </a:ln>
          <a:effectLst/>
        </p:spPr>
      </p:cxnSp>
      <p:sp>
        <p:nvSpPr>
          <p:cNvPr id="50" name="CuadroTexto 49">
            <a:extLst>
              <a:ext uri="{FF2B5EF4-FFF2-40B4-BE49-F238E27FC236}">
                <a16:creationId xmlns:a16="http://schemas.microsoft.com/office/drawing/2014/main" id="{ECA3357B-34F5-5AC2-8FF0-A04B8F6BF905}"/>
              </a:ext>
            </a:extLst>
          </p:cNvPr>
          <p:cNvSpPr txBox="1"/>
          <p:nvPr/>
        </p:nvSpPr>
        <p:spPr>
          <a:xfrm>
            <a:off x="7659020" y="2930765"/>
            <a:ext cx="3718224" cy="646331"/>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600"/>
              </a:spcBef>
              <a:spcAft>
                <a:spcPts val="0"/>
              </a:spcAft>
              <a:buClr>
                <a:srgbClr val="EC0000"/>
              </a:buClr>
              <a:buSzTx/>
              <a:buFont typeface="Wingdings" panose="05000000000000000000" pitchFamily="2" charset="2"/>
              <a:buChar char="§"/>
              <a:tabLst/>
              <a:defRPr/>
            </a:pPr>
            <a:r>
              <a:rPr lang="en-US" sz="1200">
                <a:latin typeface="Santander Text"/>
              </a:rPr>
              <a:t>Allows applications to work without an Internet connection, restoring data synchronization when the connection is reestablished</a:t>
            </a:r>
          </a:p>
        </p:txBody>
      </p:sp>
      <p:sp>
        <p:nvSpPr>
          <p:cNvPr id="4" name="Rectángulo 262">
            <a:extLst>
              <a:ext uri="{FF2B5EF4-FFF2-40B4-BE49-F238E27FC236}">
                <a16:creationId xmlns:a16="http://schemas.microsoft.com/office/drawing/2014/main" id="{022476F8-EF9D-638C-644A-DDE3D3C18436}"/>
              </a:ext>
            </a:extLst>
          </p:cNvPr>
          <p:cNvSpPr/>
          <p:nvPr/>
        </p:nvSpPr>
        <p:spPr>
          <a:xfrm>
            <a:off x="6105200" y="2069931"/>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Configuration</a:t>
            </a:r>
          </a:p>
        </p:txBody>
      </p:sp>
      <p:sp>
        <p:nvSpPr>
          <p:cNvPr id="13" name="Rectángulo 262">
            <a:extLst>
              <a:ext uri="{FF2B5EF4-FFF2-40B4-BE49-F238E27FC236}">
                <a16:creationId xmlns:a16="http://schemas.microsoft.com/office/drawing/2014/main" id="{B6EDCAB7-A7F4-5F3D-6318-419D1A25898F}"/>
              </a:ext>
            </a:extLst>
          </p:cNvPr>
          <p:cNvSpPr/>
          <p:nvPr/>
        </p:nvSpPr>
        <p:spPr>
          <a:xfrm>
            <a:off x="6105200" y="3019436"/>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Offline and data synchronisation </a:t>
            </a:r>
          </a:p>
        </p:txBody>
      </p:sp>
      <p:sp>
        <p:nvSpPr>
          <p:cNvPr id="25" name="CuadroTexto 24">
            <a:extLst>
              <a:ext uri="{FF2B5EF4-FFF2-40B4-BE49-F238E27FC236}">
                <a16:creationId xmlns:a16="http://schemas.microsoft.com/office/drawing/2014/main" id="{B54B8612-05B3-236E-D060-A9432F436CA0}"/>
              </a:ext>
            </a:extLst>
          </p:cNvPr>
          <p:cNvSpPr txBox="1"/>
          <p:nvPr/>
        </p:nvSpPr>
        <p:spPr>
          <a:xfrm>
            <a:off x="2274044" y="2003182"/>
            <a:ext cx="3454489" cy="646331"/>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lang="en-US" sz="1200">
                <a:solidFill>
                  <a:prstClr val="black"/>
                </a:solidFill>
                <a:latin typeface="Santander Text" panose="020B0504020201020104" pitchFamily="34" charset="0"/>
              </a:rPr>
              <a:t>Provide support and assistance towards particular groups, which commonly include the disadvantaged</a:t>
            </a:r>
            <a:endParaRPr kumimoji="0" lang="en-GB"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endParaRPr>
          </a:p>
        </p:txBody>
      </p:sp>
      <p:sp>
        <p:nvSpPr>
          <p:cNvPr id="6" name="Título 1">
            <a:extLst>
              <a:ext uri="{FF2B5EF4-FFF2-40B4-BE49-F238E27FC236}">
                <a16:creationId xmlns:a16="http://schemas.microsoft.com/office/drawing/2014/main" id="{DB0059B5-751C-3A44-CB55-999874FE9537}"/>
              </a:ext>
            </a:extLst>
          </p:cNvPr>
          <p:cNvSpPr>
            <a:spLocks noGrp="1"/>
          </p:cNvSpPr>
          <p:nvPr>
            <p:ph type="title"/>
          </p:nvPr>
        </p:nvSpPr>
        <p:spPr>
          <a:xfrm>
            <a:off x="711024" y="641900"/>
            <a:ext cx="10758733" cy="445400"/>
          </a:xfrm>
        </p:spPr>
        <p:txBody>
          <a:bodyPr/>
          <a:lstStyle/>
          <a:p>
            <a:pPr>
              <a:defRPr/>
            </a:pPr>
            <a:r>
              <a:rPr kumimoji="0" lang="es-ES" sz="2800" b="1" i="0" u="none" strike="noStrike" kern="1200" cap="none" spc="0" normalizeH="0" baseline="0" noProof="0">
                <a:ln>
                  <a:noFill/>
                </a:ln>
                <a:solidFill>
                  <a:srgbClr val="EC0000"/>
                </a:solidFill>
                <a:effectLst/>
                <a:uLnTx/>
                <a:uFillTx/>
                <a:latin typeface="Santander Headline"/>
                <a:ea typeface="+mj-ea"/>
                <a:cs typeface="+mj-cs"/>
              </a:rPr>
              <a:t>DCB</a:t>
            </a:r>
            <a:r>
              <a:rPr lang="es-ES">
                <a:solidFill>
                  <a:srgbClr val="EC0000"/>
                </a:solidFill>
                <a:latin typeface="Santander Headline"/>
              </a:rPr>
              <a:t>.</a:t>
            </a:r>
            <a:r>
              <a:rPr kumimoji="0" lang="es-ES" sz="2800" b="1" i="0" u="none" strike="noStrike" kern="1200" cap="none" spc="0" normalizeH="0" baseline="0" noProof="0">
                <a:ln>
                  <a:noFill/>
                </a:ln>
                <a:solidFill>
                  <a:srgbClr val="EC0000"/>
                </a:solidFill>
                <a:effectLst/>
                <a:uLnTx/>
                <a:uFillTx/>
                <a:latin typeface="Santander Headline"/>
                <a:ea typeface="+mj-ea"/>
                <a:cs typeface="+mj-cs"/>
              </a:rPr>
              <a:t> </a:t>
            </a:r>
            <a:r>
              <a:rPr kumimoji="0" lang="en-AU" sz="2800" b="1" i="0" u="none" strike="noStrike" kern="1200" cap="none" spc="0" normalizeH="0" baseline="0" noProof="0">
                <a:ln>
                  <a:noFill/>
                </a:ln>
                <a:solidFill>
                  <a:srgbClr val="BFBFBF"/>
                </a:solidFill>
                <a:effectLst/>
                <a:uLnTx/>
                <a:uFillTx/>
                <a:latin typeface="Santander Headline"/>
                <a:ea typeface="+mj-ea"/>
                <a:cs typeface="+mj-cs"/>
              </a:rPr>
              <a:t>Digital Channels Individuals</a:t>
            </a:r>
            <a:endParaRPr lang="en-US">
              <a:solidFill>
                <a:schemeClr val="bg1">
                  <a:lumMod val="75000"/>
                </a:schemeClr>
              </a:solidFill>
            </a:endParaRPr>
          </a:p>
        </p:txBody>
      </p:sp>
      <p:sp>
        <p:nvSpPr>
          <p:cNvPr id="20" name="Rectángulo 14">
            <a:extLst>
              <a:ext uri="{FF2B5EF4-FFF2-40B4-BE49-F238E27FC236}">
                <a16:creationId xmlns:a16="http://schemas.microsoft.com/office/drawing/2014/main" id="{FEBB9A5B-68CA-F9DB-C466-60E05EB96B29}"/>
              </a:ext>
            </a:extLst>
          </p:cNvPr>
          <p:cNvSpPr/>
          <p:nvPr/>
        </p:nvSpPr>
        <p:spPr>
          <a:xfrm>
            <a:off x="711024" y="3873031"/>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Channel Personalization </a:t>
            </a:r>
          </a:p>
        </p:txBody>
      </p:sp>
      <p:cxnSp>
        <p:nvCxnSpPr>
          <p:cNvPr id="28" name="Conector recto 23">
            <a:extLst>
              <a:ext uri="{FF2B5EF4-FFF2-40B4-BE49-F238E27FC236}">
                <a16:creationId xmlns:a16="http://schemas.microsoft.com/office/drawing/2014/main" id="{E945A63F-4547-2946-E594-A1A0C8409DF0}"/>
              </a:ext>
            </a:extLst>
          </p:cNvPr>
          <p:cNvCxnSpPr>
            <a:cxnSpLocks/>
          </p:cNvCxnSpPr>
          <p:nvPr/>
        </p:nvCxnSpPr>
        <p:spPr>
          <a:xfrm flipH="1" flipV="1">
            <a:off x="684799" y="3734854"/>
            <a:ext cx="5112000" cy="0"/>
          </a:xfrm>
          <a:prstGeom prst="line">
            <a:avLst/>
          </a:prstGeom>
          <a:noFill/>
          <a:ln w="12700" cap="flat" cmpd="sng" algn="ctr">
            <a:solidFill>
              <a:schemeClr val="bg1">
                <a:lumMod val="85000"/>
              </a:schemeClr>
            </a:solidFill>
            <a:prstDash val="solid"/>
            <a:miter lim="800000"/>
          </a:ln>
          <a:effectLst/>
        </p:spPr>
      </p:cxnSp>
      <p:sp>
        <p:nvSpPr>
          <p:cNvPr id="29" name="CuadroTexto 25">
            <a:extLst>
              <a:ext uri="{FF2B5EF4-FFF2-40B4-BE49-F238E27FC236}">
                <a16:creationId xmlns:a16="http://schemas.microsoft.com/office/drawing/2014/main" id="{8B05DED9-EF58-3213-EC0B-22E6A53B45CA}"/>
              </a:ext>
            </a:extLst>
          </p:cNvPr>
          <p:cNvSpPr txBox="1"/>
          <p:nvPr/>
        </p:nvSpPr>
        <p:spPr>
          <a:xfrm>
            <a:off x="2274044" y="3869353"/>
            <a:ext cx="3630260" cy="461665"/>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lang="en-US" sz="1200">
                <a:solidFill>
                  <a:prstClr val="black"/>
                </a:solidFill>
                <a:latin typeface="Santander Text" panose="020B0504020201020104" pitchFamily="34" charset="0"/>
              </a:rPr>
              <a:t>Gives customers the ability to configure the application to better suits their needs</a:t>
            </a:r>
            <a:endPar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endParaRPr>
          </a:p>
        </p:txBody>
      </p:sp>
      <p:sp>
        <p:nvSpPr>
          <p:cNvPr id="30" name="Rectángulo 14">
            <a:extLst>
              <a:ext uri="{FF2B5EF4-FFF2-40B4-BE49-F238E27FC236}">
                <a16:creationId xmlns:a16="http://schemas.microsoft.com/office/drawing/2014/main" id="{DD051A0E-58AA-D6AC-797A-E3C404B47039}"/>
              </a:ext>
            </a:extLst>
          </p:cNvPr>
          <p:cNvSpPr/>
          <p:nvPr/>
        </p:nvSpPr>
        <p:spPr>
          <a:xfrm>
            <a:off x="711024" y="4711665"/>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200" b="0" i="0" u="none" strike="noStrike" kern="0" cap="none" spc="0" normalizeH="0" baseline="0" noProof="0">
                <a:ln>
                  <a:noFill/>
                </a:ln>
                <a:solidFill>
                  <a:srgbClr val="DEEDF1">
                    <a:lumMod val="25000"/>
                  </a:srgbClr>
                </a:solidFill>
                <a:effectLst/>
                <a:uLnTx/>
                <a:uFillTx/>
                <a:latin typeface="Santander Text"/>
                <a:ea typeface="+mn-ea"/>
                <a:cs typeface="+mn-cs"/>
              </a:rPr>
              <a:t>Style / Component Framework </a:t>
            </a:r>
          </a:p>
        </p:txBody>
      </p:sp>
      <p:cxnSp>
        <p:nvCxnSpPr>
          <p:cNvPr id="31" name="Conector recto 23">
            <a:extLst>
              <a:ext uri="{FF2B5EF4-FFF2-40B4-BE49-F238E27FC236}">
                <a16:creationId xmlns:a16="http://schemas.microsoft.com/office/drawing/2014/main" id="{1FC006F1-809D-4CEC-8333-9403C8FF1726}"/>
              </a:ext>
            </a:extLst>
          </p:cNvPr>
          <p:cNvCxnSpPr>
            <a:cxnSpLocks/>
          </p:cNvCxnSpPr>
          <p:nvPr/>
        </p:nvCxnSpPr>
        <p:spPr>
          <a:xfrm flipH="1" flipV="1">
            <a:off x="684799" y="4573488"/>
            <a:ext cx="5112000" cy="0"/>
          </a:xfrm>
          <a:prstGeom prst="line">
            <a:avLst/>
          </a:prstGeom>
          <a:noFill/>
          <a:ln w="12700" cap="flat" cmpd="sng" algn="ctr">
            <a:solidFill>
              <a:schemeClr val="bg1">
                <a:lumMod val="85000"/>
              </a:schemeClr>
            </a:solidFill>
            <a:prstDash val="solid"/>
            <a:miter lim="800000"/>
          </a:ln>
          <a:effectLst/>
        </p:spPr>
      </p:cxnSp>
      <p:sp>
        <p:nvSpPr>
          <p:cNvPr id="36" name="CuadroTexto 25">
            <a:extLst>
              <a:ext uri="{FF2B5EF4-FFF2-40B4-BE49-F238E27FC236}">
                <a16:creationId xmlns:a16="http://schemas.microsoft.com/office/drawing/2014/main" id="{B401F416-A2C9-7D51-3729-CB1736E97B19}"/>
              </a:ext>
            </a:extLst>
          </p:cNvPr>
          <p:cNvSpPr txBox="1"/>
          <p:nvPr/>
        </p:nvSpPr>
        <p:spPr>
          <a:xfrm>
            <a:off x="2274044" y="4635440"/>
            <a:ext cx="3630260" cy="830997"/>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lang="en-US" sz="1200">
                <a:solidFill>
                  <a:prstClr val="black"/>
                </a:solidFill>
                <a:latin typeface="Santander Text" panose="020B0504020201020104" pitchFamily="34" charset="0"/>
              </a:rPr>
              <a:t>B</a:t>
            </a:r>
            <a:r>
              <a:rPr kumimoji="0" lang="en-US" sz="1200" b="0" i="0" u="none" strike="noStrike" kern="1200" cap="none" spc="0" normalizeH="0" baseline="0" noProof="0" err="1">
                <a:ln>
                  <a:noFill/>
                </a:ln>
                <a:solidFill>
                  <a:prstClr val="black"/>
                </a:solidFill>
                <a:effectLst/>
                <a:uLnTx/>
                <a:uFillTx/>
                <a:latin typeface="Santander Text" panose="020B0504020201020104" pitchFamily="34" charset="0"/>
                <a:ea typeface="+mn-ea"/>
                <a:cs typeface="+mn-cs"/>
              </a:rPr>
              <a:t>ased</a:t>
            </a:r>
            <a:r>
              <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rPr>
              <a:t> on Flame as the current Santander Design System; therefore, the UI Framework needs to be aligned with Flame. UI components will be built once and reuse across applications</a:t>
            </a:r>
          </a:p>
        </p:txBody>
      </p:sp>
      <p:sp>
        <p:nvSpPr>
          <p:cNvPr id="41" name="Rectángulo 14">
            <a:extLst>
              <a:ext uri="{FF2B5EF4-FFF2-40B4-BE49-F238E27FC236}">
                <a16:creationId xmlns:a16="http://schemas.microsoft.com/office/drawing/2014/main" id="{27787EE4-745E-7B46-8C17-1853CD357483}"/>
              </a:ext>
            </a:extLst>
          </p:cNvPr>
          <p:cNvSpPr/>
          <p:nvPr/>
        </p:nvSpPr>
        <p:spPr>
          <a:xfrm>
            <a:off x="6096000" y="3873031"/>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Analytics &amp; User Insights </a:t>
            </a:r>
          </a:p>
        </p:txBody>
      </p:sp>
      <p:sp>
        <p:nvSpPr>
          <p:cNvPr id="42" name="CuadroTexto 25">
            <a:extLst>
              <a:ext uri="{FF2B5EF4-FFF2-40B4-BE49-F238E27FC236}">
                <a16:creationId xmlns:a16="http://schemas.microsoft.com/office/drawing/2014/main" id="{5767F3D7-42DE-4635-B8B5-CAFBCDB09D5C}"/>
              </a:ext>
            </a:extLst>
          </p:cNvPr>
          <p:cNvSpPr txBox="1"/>
          <p:nvPr/>
        </p:nvSpPr>
        <p:spPr>
          <a:xfrm>
            <a:off x="7659020" y="3722585"/>
            <a:ext cx="3630260" cy="830997"/>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lang="en-US" sz="1200">
                <a:solidFill>
                  <a:prstClr val="black"/>
                </a:solidFill>
                <a:latin typeface="Santander Text" panose="020B0504020201020104" pitchFamily="34" charset="0"/>
              </a:rPr>
              <a:t>Several tools that allow the bank to better understand our customers by capturing their interactions and behaviors in the applications and analyzing a bunch of metrics</a:t>
            </a:r>
            <a:endPar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endParaRPr>
          </a:p>
        </p:txBody>
      </p:sp>
      <p:sp>
        <p:nvSpPr>
          <p:cNvPr id="43" name="Rectángulo 14">
            <a:extLst>
              <a:ext uri="{FF2B5EF4-FFF2-40B4-BE49-F238E27FC236}">
                <a16:creationId xmlns:a16="http://schemas.microsoft.com/office/drawing/2014/main" id="{14CDC97A-4E34-6AD7-100E-E3880CA4FB8D}"/>
              </a:ext>
            </a:extLst>
          </p:cNvPr>
          <p:cNvSpPr/>
          <p:nvPr/>
        </p:nvSpPr>
        <p:spPr>
          <a:xfrm>
            <a:off x="6096000" y="4711665"/>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200" b="0" i="0" u="none" strike="noStrike" kern="0" cap="none" spc="0" normalizeH="0" baseline="0" noProof="0">
                <a:ln>
                  <a:noFill/>
                </a:ln>
                <a:solidFill>
                  <a:srgbClr val="DEEDF1">
                    <a:lumMod val="25000"/>
                  </a:srgbClr>
                </a:solidFill>
                <a:effectLst/>
                <a:uLnTx/>
                <a:uFillTx/>
                <a:latin typeface="Santander Text"/>
                <a:ea typeface="+mn-ea"/>
                <a:cs typeface="+mn-cs"/>
              </a:rPr>
              <a:t>Customer Security Configuration </a:t>
            </a:r>
          </a:p>
        </p:txBody>
      </p:sp>
      <p:cxnSp>
        <p:nvCxnSpPr>
          <p:cNvPr id="44" name="Conector recto 23">
            <a:extLst>
              <a:ext uri="{FF2B5EF4-FFF2-40B4-BE49-F238E27FC236}">
                <a16:creationId xmlns:a16="http://schemas.microsoft.com/office/drawing/2014/main" id="{036A5C9E-838E-D57C-2040-A7C1E9591FE2}"/>
              </a:ext>
            </a:extLst>
          </p:cNvPr>
          <p:cNvCxnSpPr>
            <a:cxnSpLocks/>
          </p:cNvCxnSpPr>
          <p:nvPr/>
        </p:nvCxnSpPr>
        <p:spPr>
          <a:xfrm flipH="1" flipV="1">
            <a:off x="6069775" y="4573488"/>
            <a:ext cx="5112000" cy="0"/>
          </a:xfrm>
          <a:prstGeom prst="line">
            <a:avLst/>
          </a:prstGeom>
          <a:noFill/>
          <a:ln w="12700" cap="flat" cmpd="sng" algn="ctr">
            <a:solidFill>
              <a:schemeClr val="bg1">
                <a:lumMod val="85000"/>
              </a:schemeClr>
            </a:solidFill>
            <a:prstDash val="solid"/>
            <a:miter lim="800000"/>
          </a:ln>
          <a:effectLst/>
        </p:spPr>
      </p:cxnSp>
      <p:sp>
        <p:nvSpPr>
          <p:cNvPr id="45" name="CuadroTexto 25">
            <a:extLst>
              <a:ext uri="{FF2B5EF4-FFF2-40B4-BE49-F238E27FC236}">
                <a16:creationId xmlns:a16="http://schemas.microsoft.com/office/drawing/2014/main" id="{06AFCD15-75ED-3EBB-7EF8-8C9DAE276ADB}"/>
              </a:ext>
            </a:extLst>
          </p:cNvPr>
          <p:cNvSpPr txBox="1"/>
          <p:nvPr/>
        </p:nvSpPr>
        <p:spPr>
          <a:xfrm>
            <a:off x="7659020" y="4603454"/>
            <a:ext cx="3630260" cy="646331"/>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lang="en-US" sz="1200">
                <a:solidFill>
                  <a:prstClr val="black"/>
                </a:solidFill>
                <a:latin typeface="Santander Text" panose="020B0504020201020104" pitchFamily="34" charset="0"/>
              </a:rPr>
              <a:t>Is key to maximize customer trust, prevent customer private area breaches, detect and mitigate fraud, and protect customer data</a:t>
            </a:r>
            <a:endPar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endParaRPr>
          </a:p>
        </p:txBody>
      </p:sp>
      <p:sp>
        <p:nvSpPr>
          <p:cNvPr id="46" name="Rectángulo 14">
            <a:extLst>
              <a:ext uri="{FF2B5EF4-FFF2-40B4-BE49-F238E27FC236}">
                <a16:creationId xmlns:a16="http://schemas.microsoft.com/office/drawing/2014/main" id="{0D362FFC-8928-B729-B31D-E40F82C96526}"/>
              </a:ext>
            </a:extLst>
          </p:cNvPr>
          <p:cNvSpPr/>
          <p:nvPr/>
        </p:nvSpPr>
        <p:spPr>
          <a:xfrm>
            <a:off x="6096000" y="5584798"/>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Fraud detection &amp; KYC </a:t>
            </a:r>
          </a:p>
        </p:txBody>
      </p:sp>
      <p:cxnSp>
        <p:nvCxnSpPr>
          <p:cNvPr id="47" name="Conector recto 23">
            <a:extLst>
              <a:ext uri="{FF2B5EF4-FFF2-40B4-BE49-F238E27FC236}">
                <a16:creationId xmlns:a16="http://schemas.microsoft.com/office/drawing/2014/main" id="{AB4191EC-7F3D-9136-87DE-F8A342090C68}"/>
              </a:ext>
            </a:extLst>
          </p:cNvPr>
          <p:cNvCxnSpPr>
            <a:cxnSpLocks/>
          </p:cNvCxnSpPr>
          <p:nvPr/>
        </p:nvCxnSpPr>
        <p:spPr>
          <a:xfrm flipH="1" flipV="1">
            <a:off x="6069775" y="5446621"/>
            <a:ext cx="5112000" cy="0"/>
          </a:xfrm>
          <a:prstGeom prst="line">
            <a:avLst/>
          </a:prstGeom>
          <a:noFill/>
          <a:ln w="12700" cap="flat" cmpd="sng" algn="ctr">
            <a:solidFill>
              <a:schemeClr val="bg1">
                <a:lumMod val="85000"/>
              </a:schemeClr>
            </a:solidFill>
            <a:prstDash val="solid"/>
            <a:miter lim="800000"/>
          </a:ln>
          <a:effectLst/>
        </p:spPr>
      </p:cxnSp>
      <p:sp>
        <p:nvSpPr>
          <p:cNvPr id="48" name="CuadroTexto 25">
            <a:extLst>
              <a:ext uri="{FF2B5EF4-FFF2-40B4-BE49-F238E27FC236}">
                <a16:creationId xmlns:a16="http://schemas.microsoft.com/office/drawing/2014/main" id="{F88DAD0F-5B50-1591-C3EE-170E3AFECA5C}"/>
              </a:ext>
            </a:extLst>
          </p:cNvPr>
          <p:cNvSpPr txBox="1"/>
          <p:nvPr/>
        </p:nvSpPr>
        <p:spPr>
          <a:xfrm>
            <a:off x="7659020" y="5508573"/>
            <a:ext cx="3630260" cy="646331"/>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lang="en-US" sz="1200">
                <a:solidFill>
                  <a:prstClr val="black"/>
                </a:solidFill>
                <a:latin typeface="Santander Text" panose="020B0504020201020104" pitchFamily="34" charset="0"/>
              </a:rPr>
              <a:t>Apply risk ratings, anti-money laundering policies and blacklist checks to protect both customers and the bank</a:t>
            </a:r>
            <a:endPar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endParaRPr>
          </a:p>
        </p:txBody>
      </p:sp>
    </p:spTree>
    <p:extLst>
      <p:ext uri="{BB962C8B-B14F-4D97-AF65-F5344CB8AC3E}">
        <p14:creationId xmlns:p14="http://schemas.microsoft.com/office/powerpoint/2010/main" val="23794022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ángulo 14">
            <a:extLst>
              <a:ext uri="{FF2B5EF4-FFF2-40B4-BE49-F238E27FC236}">
                <a16:creationId xmlns:a16="http://schemas.microsoft.com/office/drawing/2014/main" id="{532E11D7-B060-9FE8-9DBC-290E6C96DE16}"/>
              </a:ext>
            </a:extLst>
          </p:cNvPr>
          <p:cNvSpPr/>
          <p:nvPr/>
        </p:nvSpPr>
        <p:spPr>
          <a:xfrm>
            <a:off x="6764382" y="2219531"/>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algn="ctr">
              <a:spcAft>
                <a:spcPts val="600"/>
              </a:spcAft>
            </a:pPr>
            <a:r>
              <a:rPr lang="es-ES" sz="1200" kern="0">
                <a:solidFill>
                  <a:srgbClr val="053840"/>
                </a:solidFill>
              </a:rPr>
              <a:t>Checkout Api Layer</a:t>
            </a:r>
            <a:endParaRPr lang="en-US" sz="1200"/>
          </a:p>
        </p:txBody>
      </p:sp>
      <p:sp>
        <p:nvSpPr>
          <p:cNvPr id="19" name="Rectángulo 18">
            <a:extLst>
              <a:ext uri="{FF2B5EF4-FFF2-40B4-BE49-F238E27FC236}">
                <a16:creationId xmlns:a16="http://schemas.microsoft.com/office/drawing/2014/main" id="{81107006-DEAA-61FE-5DFA-9A97FCDB224A}"/>
              </a:ext>
            </a:extLst>
          </p:cNvPr>
          <p:cNvSpPr/>
          <p:nvPr/>
        </p:nvSpPr>
        <p:spPr>
          <a:xfrm>
            <a:off x="711024" y="2216018"/>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200" b="0" i="0" u="none" strike="noStrike" kern="0" cap="none" spc="0" normalizeH="0" baseline="0" noProof="0">
                <a:ln>
                  <a:noFill/>
                </a:ln>
                <a:solidFill>
                  <a:srgbClr val="DEEDF1">
                    <a:lumMod val="25000"/>
                  </a:srgbClr>
                </a:solidFill>
                <a:effectLst/>
                <a:uLnTx/>
                <a:uFillTx/>
                <a:latin typeface="Santander Text"/>
                <a:ea typeface="+mn-ea"/>
                <a:cs typeface="+mn-cs"/>
              </a:rPr>
              <a:t>Merchant Plugins</a:t>
            </a:r>
          </a:p>
        </p:txBody>
      </p:sp>
      <p:sp>
        <p:nvSpPr>
          <p:cNvPr id="20" name="Rectángulo 19">
            <a:extLst>
              <a:ext uri="{FF2B5EF4-FFF2-40B4-BE49-F238E27FC236}">
                <a16:creationId xmlns:a16="http://schemas.microsoft.com/office/drawing/2014/main" id="{B58357C3-A59A-8528-2609-D98BFD8B6F5C}"/>
              </a:ext>
            </a:extLst>
          </p:cNvPr>
          <p:cNvSpPr/>
          <p:nvPr/>
        </p:nvSpPr>
        <p:spPr>
          <a:xfrm>
            <a:off x="711024" y="3460348"/>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algn="ctr"/>
            <a:r>
              <a:rPr lang="en-GB" sz="1200" kern="0">
                <a:solidFill>
                  <a:srgbClr val="DEEDF1">
                    <a:lumMod val="25000"/>
                  </a:srgbClr>
                </a:solidFill>
                <a:latin typeface="Santander Text"/>
              </a:rPr>
              <a:t>Risk &amp;  Fraud</a:t>
            </a:r>
          </a:p>
        </p:txBody>
      </p:sp>
      <p:sp>
        <p:nvSpPr>
          <p:cNvPr id="21" name="CuadroTexto 20">
            <a:extLst>
              <a:ext uri="{FF2B5EF4-FFF2-40B4-BE49-F238E27FC236}">
                <a16:creationId xmlns:a16="http://schemas.microsoft.com/office/drawing/2014/main" id="{521604CC-F7C4-A23D-26ED-6006C261FAEE}"/>
              </a:ext>
            </a:extLst>
          </p:cNvPr>
          <p:cNvSpPr txBox="1"/>
          <p:nvPr/>
        </p:nvSpPr>
        <p:spPr>
          <a:xfrm>
            <a:off x="684799" y="1128886"/>
            <a:ext cx="4391698" cy="592470"/>
          </a:xfrm>
          <a:prstGeom prst="rect">
            <a:avLst/>
          </a:prstGeom>
          <a:noFill/>
        </p:spPr>
        <p:txBody>
          <a:bodyPr wrap="square" rtlCol="0">
            <a:spAutoFit/>
          </a:bodyPr>
          <a:lstStyle/>
          <a:p>
            <a:pPr marL="355600" indent="-355600">
              <a:spcAft>
                <a:spcPts val="300"/>
              </a:spcAft>
              <a:defRPr/>
            </a:pPr>
            <a:r>
              <a:rPr kumimoji="0" lang="en-AU"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1 - </a:t>
            </a:r>
            <a:r>
              <a:rPr lang="en-GB" sz="1600" b="1" kern="0">
                <a:solidFill>
                  <a:srgbClr val="DEEDF1">
                    <a:lumMod val="25000"/>
                  </a:srgbClr>
                </a:solidFill>
                <a:ea typeface="+mn-lt"/>
                <a:cs typeface="+mn-lt"/>
              </a:rPr>
              <a:t>Checkout &amp; Acquisition: </a:t>
            </a:r>
            <a:r>
              <a:rPr kumimoji="0" lang="en-AU"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 </a:t>
            </a:r>
          </a:p>
          <a:p>
            <a:pPr>
              <a:spcAft>
                <a:spcPts val="300"/>
              </a:spcAft>
            </a:pPr>
            <a:r>
              <a:rPr lang="en-US" sz="1400" i="1">
                <a:solidFill>
                  <a:srgbClr val="DEEDF1">
                    <a:lumMod val="25000"/>
                  </a:srgbClr>
                </a:solidFill>
                <a:latin typeface="Santander Text"/>
              </a:rPr>
              <a:t>Relevant services for checkout / linkup processes</a:t>
            </a:r>
            <a:endParaRPr lang="en-GB" sz="1400" i="1">
              <a:solidFill>
                <a:srgbClr val="DEEDF1">
                  <a:lumMod val="25000"/>
                </a:srgbClr>
              </a:solidFill>
              <a:latin typeface="Santander Text"/>
            </a:endParaRPr>
          </a:p>
        </p:txBody>
      </p:sp>
      <p:cxnSp>
        <p:nvCxnSpPr>
          <p:cNvPr id="22" name="Conector recto 21">
            <a:extLst>
              <a:ext uri="{FF2B5EF4-FFF2-40B4-BE49-F238E27FC236}">
                <a16:creationId xmlns:a16="http://schemas.microsoft.com/office/drawing/2014/main" id="{95D3203A-A6F6-8622-675E-1B6CCD9AB872}"/>
              </a:ext>
            </a:extLst>
          </p:cNvPr>
          <p:cNvCxnSpPr>
            <a:cxnSpLocks/>
          </p:cNvCxnSpPr>
          <p:nvPr/>
        </p:nvCxnSpPr>
        <p:spPr>
          <a:xfrm flipH="1" flipV="1">
            <a:off x="711024" y="1933750"/>
            <a:ext cx="5112000" cy="0"/>
          </a:xfrm>
          <a:prstGeom prst="line">
            <a:avLst/>
          </a:prstGeom>
          <a:noFill/>
          <a:ln w="12700" cap="flat" cmpd="sng" algn="ctr">
            <a:solidFill>
              <a:srgbClr val="595959"/>
            </a:solidFill>
            <a:prstDash val="solid"/>
            <a:miter lim="800000"/>
          </a:ln>
          <a:effectLst/>
        </p:spPr>
      </p:cxnSp>
      <p:sp>
        <p:nvSpPr>
          <p:cNvPr id="23" name="CuadroTexto 22">
            <a:extLst>
              <a:ext uri="{FF2B5EF4-FFF2-40B4-BE49-F238E27FC236}">
                <a16:creationId xmlns:a16="http://schemas.microsoft.com/office/drawing/2014/main" id="{D0DF7234-D303-7B43-9FFE-366CABE65C67}"/>
              </a:ext>
            </a:extLst>
          </p:cNvPr>
          <p:cNvSpPr txBox="1"/>
          <p:nvPr/>
        </p:nvSpPr>
        <p:spPr>
          <a:xfrm>
            <a:off x="2192764" y="2206845"/>
            <a:ext cx="3658438" cy="909402"/>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0" cap="none" spc="0" normalizeH="0" baseline="0" noProof="0">
                <a:ln>
                  <a:noFill/>
                </a:ln>
                <a:solidFill>
                  <a:prstClr val="black"/>
                </a:solidFill>
                <a:effectLst/>
                <a:uLnTx/>
                <a:uFillTx/>
                <a:latin typeface="Santander Text"/>
                <a:ea typeface="+mn-ea"/>
                <a:cs typeface="+mn-cs"/>
              </a:rPr>
              <a:t>E-commerce plugins for flexible merchant integration such as Vodafone and Channel21. </a:t>
            </a:r>
          </a:p>
          <a:p>
            <a:pPr marL="0" marR="0" lvl="0" indent="0" algn="l" defTabSz="914400" rtl="0" eaLnBrk="1" fontAlgn="auto" latinLnBrk="0" hangingPunct="1">
              <a:lnSpc>
                <a:spcPct val="100000"/>
              </a:lnSpc>
              <a:spcBef>
                <a:spcPts val="0"/>
              </a:spcBef>
              <a:spcAft>
                <a:spcPts val="0"/>
              </a:spcAft>
              <a:buClr>
                <a:srgbClr val="FF0000"/>
              </a:buClr>
              <a:buSzTx/>
              <a:buNone/>
              <a:tabLst/>
              <a:defRPr/>
            </a:pPr>
            <a:endParaRPr kumimoji="0" lang="en-US" sz="1200" b="0" i="0" u="none" strike="noStrike" kern="0" cap="none" spc="0" normalizeH="0" baseline="0" noProof="0">
              <a:ln>
                <a:noFill/>
              </a:ln>
              <a:solidFill>
                <a:prstClr val="black"/>
              </a:solidFill>
              <a:effectLst/>
              <a:uLnTx/>
              <a:uFillTx/>
              <a:latin typeface="Santander Text"/>
              <a:ea typeface="+mn-ea"/>
              <a:cs typeface="+mn-cs"/>
            </a:endParaRPr>
          </a:p>
        </p:txBody>
      </p:sp>
      <p:cxnSp>
        <p:nvCxnSpPr>
          <p:cNvPr id="24" name="Conector recto 23">
            <a:extLst>
              <a:ext uri="{FF2B5EF4-FFF2-40B4-BE49-F238E27FC236}">
                <a16:creationId xmlns:a16="http://schemas.microsoft.com/office/drawing/2014/main" id="{8FB168E4-4482-3337-ECA4-1613C78248BE}"/>
              </a:ext>
            </a:extLst>
          </p:cNvPr>
          <p:cNvCxnSpPr>
            <a:cxnSpLocks/>
          </p:cNvCxnSpPr>
          <p:nvPr/>
        </p:nvCxnSpPr>
        <p:spPr>
          <a:xfrm flipH="1" flipV="1">
            <a:off x="684799" y="3060921"/>
            <a:ext cx="5112000" cy="0"/>
          </a:xfrm>
          <a:prstGeom prst="line">
            <a:avLst/>
          </a:prstGeom>
          <a:noFill/>
          <a:ln w="12700" cap="flat" cmpd="sng" algn="ctr">
            <a:solidFill>
              <a:schemeClr val="bg1">
                <a:lumMod val="85000"/>
              </a:schemeClr>
            </a:solidFill>
            <a:prstDash val="solid"/>
            <a:miter lim="800000"/>
          </a:ln>
          <a:effectLst/>
        </p:spPr>
      </p:cxnSp>
      <p:sp>
        <p:nvSpPr>
          <p:cNvPr id="26" name="CuadroTexto 25">
            <a:extLst>
              <a:ext uri="{FF2B5EF4-FFF2-40B4-BE49-F238E27FC236}">
                <a16:creationId xmlns:a16="http://schemas.microsoft.com/office/drawing/2014/main" id="{6D26BBC5-3876-5692-5E14-58110D472B80}"/>
              </a:ext>
            </a:extLst>
          </p:cNvPr>
          <p:cNvSpPr txBox="1"/>
          <p:nvPr/>
        </p:nvSpPr>
        <p:spPr>
          <a:xfrm>
            <a:off x="8246122" y="2197369"/>
            <a:ext cx="3630260" cy="461665"/>
          </a:xfrm>
          <a:prstGeom prst="rect">
            <a:avLst/>
          </a:prstGeom>
          <a:noFill/>
        </p:spPr>
        <p:txBody>
          <a:bodyPr wrap="square">
            <a:spAutoFit/>
          </a:bodyPr>
          <a:lstStyle/>
          <a:p>
            <a:pPr marL="180000" indent="-180000">
              <a:buClr>
                <a:srgbClr val="FF0000"/>
              </a:buClr>
              <a:buFont typeface="Wingdings" panose="05000000000000000000" pitchFamily="2" charset="2"/>
              <a:buChar char="§"/>
              <a:defRPr/>
            </a:pPr>
            <a:r>
              <a:rPr lang="en-US" sz="1200">
                <a:ea typeface="+mn-lt"/>
                <a:cs typeface="+mn-lt"/>
              </a:rPr>
              <a:t>API integration for major integrations such as Amazon and Apple.</a:t>
            </a:r>
          </a:p>
        </p:txBody>
      </p:sp>
      <p:cxnSp>
        <p:nvCxnSpPr>
          <p:cNvPr id="47" name="Conector recto 46">
            <a:extLst>
              <a:ext uri="{FF2B5EF4-FFF2-40B4-BE49-F238E27FC236}">
                <a16:creationId xmlns:a16="http://schemas.microsoft.com/office/drawing/2014/main" id="{3965777B-357D-B15D-3E24-8672DBA6E4A6}"/>
              </a:ext>
            </a:extLst>
          </p:cNvPr>
          <p:cNvCxnSpPr>
            <a:cxnSpLocks/>
          </p:cNvCxnSpPr>
          <p:nvPr/>
        </p:nvCxnSpPr>
        <p:spPr>
          <a:xfrm flipH="1" flipV="1">
            <a:off x="684799" y="4258328"/>
            <a:ext cx="5112000" cy="0"/>
          </a:xfrm>
          <a:prstGeom prst="line">
            <a:avLst/>
          </a:prstGeom>
          <a:noFill/>
          <a:ln w="12700" cap="flat" cmpd="sng" algn="ctr">
            <a:solidFill>
              <a:schemeClr val="bg1">
                <a:lumMod val="85000"/>
              </a:schemeClr>
            </a:solidFill>
            <a:prstDash val="solid"/>
            <a:miter lim="800000"/>
          </a:ln>
          <a:effectLst/>
        </p:spPr>
      </p:cxnSp>
      <p:sp>
        <p:nvSpPr>
          <p:cNvPr id="48" name="CuadroTexto 47">
            <a:extLst>
              <a:ext uri="{FF2B5EF4-FFF2-40B4-BE49-F238E27FC236}">
                <a16:creationId xmlns:a16="http://schemas.microsoft.com/office/drawing/2014/main" id="{BA55D2FF-7B26-8AF7-9EBC-41F0398B92B8}"/>
              </a:ext>
            </a:extLst>
          </p:cNvPr>
          <p:cNvSpPr txBox="1"/>
          <p:nvPr/>
        </p:nvSpPr>
        <p:spPr>
          <a:xfrm>
            <a:off x="2192764" y="3437934"/>
            <a:ext cx="3630260" cy="461665"/>
          </a:xfrm>
          <a:prstGeom prst="rect">
            <a:avLst/>
          </a:prstGeom>
          <a:noFill/>
        </p:spPr>
        <p:txBody>
          <a:bodyPr wrap="square">
            <a:spAutoFit/>
          </a:bodyPr>
          <a:lstStyle/>
          <a:p>
            <a:pPr marL="180000" indent="-180000">
              <a:buClr>
                <a:srgbClr val="FF0000"/>
              </a:buClr>
              <a:buFont typeface="Wingdings" panose="05000000000000000000" pitchFamily="2" charset="2"/>
              <a:buChar char="§"/>
              <a:defRPr/>
            </a:pPr>
            <a:r>
              <a:rPr lang="en-US" sz="1200">
                <a:ea typeface="+mn-lt"/>
                <a:cs typeface="+mn-lt"/>
              </a:rPr>
              <a:t>Inhouse risk and fraud scoring for real time decision</a:t>
            </a:r>
            <a:r>
              <a:rPr kumimoji="0" lang="en-US" sz="1200" b="0" i="0" u="none" strike="noStrike" kern="0" cap="none" spc="0" normalizeH="0" baseline="0" noProof="0">
                <a:ln>
                  <a:noFill/>
                </a:ln>
                <a:solidFill>
                  <a:prstClr val="black"/>
                </a:solidFill>
                <a:effectLst/>
                <a:uLnTx/>
                <a:uFillTx/>
                <a:latin typeface="Santander Text"/>
                <a:ea typeface="+mn-ea"/>
                <a:cs typeface="+mn-cs"/>
              </a:rPr>
              <a:t>. </a:t>
            </a:r>
          </a:p>
        </p:txBody>
      </p:sp>
      <p:sp>
        <p:nvSpPr>
          <p:cNvPr id="8" name="Título 1">
            <a:extLst>
              <a:ext uri="{FF2B5EF4-FFF2-40B4-BE49-F238E27FC236}">
                <a16:creationId xmlns:a16="http://schemas.microsoft.com/office/drawing/2014/main" id="{A7157809-BB3B-0356-A1A3-C53EEC811091}"/>
              </a:ext>
            </a:extLst>
          </p:cNvPr>
          <p:cNvSpPr txBox="1">
            <a:spLocks/>
          </p:cNvSpPr>
          <p:nvPr/>
        </p:nvSpPr>
        <p:spPr>
          <a:xfrm>
            <a:off x="711024" y="623339"/>
            <a:ext cx="10758733" cy="836992"/>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lang="en-US" sz="2800" b="1" kern="1200" dirty="0">
                <a:solidFill>
                  <a:schemeClr val="accent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s-ES" sz="2800" b="1" i="0" u="none" strike="noStrike" kern="1200" cap="none" spc="0" normalizeH="0" baseline="0" noProof="0">
                <a:ln>
                  <a:noFill/>
                </a:ln>
                <a:solidFill>
                  <a:srgbClr val="EC0000"/>
                </a:solidFill>
                <a:effectLst/>
                <a:uLnTx/>
                <a:uFillTx/>
                <a:latin typeface="Santander Headline"/>
                <a:ea typeface="+mj-ea"/>
                <a:cs typeface="+mj-cs"/>
              </a:rPr>
              <a:t>DCB</a:t>
            </a:r>
            <a:r>
              <a:rPr lang="es-ES">
                <a:solidFill>
                  <a:srgbClr val="EC0000"/>
                </a:solidFill>
                <a:latin typeface="Santander Headline"/>
              </a:rPr>
              <a:t>.</a:t>
            </a:r>
            <a:r>
              <a:rPr kumimoji="0" lang="es-ES" sz="2800" b="1" i="0" u="none" strike="noStrike" kern="1200" cap="none" spc="0" normalizeH="0" baseline="0" noProof="0">
                <a:ln>
                  <a:noFill/>
                </a:ln>
                <a:solidFill>
                  <a:srgbClr val="EC0000"/>
                </a:solidFill>
                <a:effectLst/>
                <a:uLnTx/>
                <a:uFillTx/>
                <a:latin typeface="Santander Headline"/>
                <a:ea typeface="+mj-ea"/>
                <a:cs typeface="+mj-cs"/>
              </a:rPr>
              <a:t> </a:t>
            </a:r>
            <a:r>
              <a:rPr kumimoji="0" lang="en-AU" sz="2800" b="1" i="0" u="none" strike="noStrike" kern="1200" cap="none" spc="0" normalizeH="0" baseline="0" noProof="0">
                <a:ln>
                  <a:noFill/>
                </a:ln>
                <a:solidFill>
                  <a:srgbClr val="BFBFBF"/>
                </a:solidFill>
                <a:effectLst/>
                <a:uLnTx/>
                <a:uFillTx/>
                <a:latin typeface="Santander Headline"/>
                <a:ea typeface="+mj-ea"/>
                <a:cs typeface="+mj-cs"/>
              </a:rPr>
              <a:t>Zinia</a:t>
            </a:r>
          </a:p>
        </p:txBody>
      </p:sp>
      <p:cxnSp>
        <p:nvCxnSpPr>
          <p:cNvPr id="2" name="Conector recto 1">
            <a:extLst>
              <a:ext uri="{FF2B5EF4-FFF2-40B4-BE49-F238E27FC236}">
                <a16:creationId xmlns:a16="http://schemas.microsoft.com/office/drawing/2014/main" id="{B994157C-A58C-01E5-B193-4276C778E45D}"/>
              </a:ext>
            </a:extLst>
          </p:cNvPr>
          <p:cNvCxnSpPr>
            <a:cxnSpLocks/>
          </p:cNvCxnSpPr>
          <p:nvPr/>
        </p:nvCxnSpPr>
        <p:spPr>
          <a:xfrm flipH="1" flipV="1">
            <a:off x="6525308" y="3060921"/>
            <a:ext cx="5112000" cy="0"/>
          </a:xfrm>
          <a:prstGeom prst="line">
            <a:avLst/>
          </a:prstGeom>
          <a:noFill/>
          <a:ln w="12700" cap="flat" cmpd="sng" algn="ctr">
            <a:solidFill>
              <a:schemeClr val="bg1">
                <a:lumMod val="85000"/>
              </a:schemeClr>
            </a:solidFill>
            <a:prstDash val="solid"/>
            <a:miter lim="800000"/>
          </a:ln>
          <a:effectLst/>
        </p:spPr>
      </p:cxnSp>
    </p:spTree>
    <p:extLst>
      <p:ext uri="{BB962C8B-B14F-4D97-AF65-F5344CB8AC3E}">
        <p14:creationId xmlns:p14="http://schemas.microsoft.com/office/powerpoint/2010/main" val="15861748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7D951-604E-4376-5B40-BB765BA9E74B}"/>
            </a:ext>
          </a:extLst>
        </p:cNvPr>
        <p:cNvGrpSpPr/>
        <p:nvPr/>
      </p:nvGrpSpPr>
      <p:grpSpPr>
        <a:xfrm>
          <a:off x="0" y="0"/>
          <a:ext cx="0" cy="0"/>
          <a:chOff x="0" y="0"/>
          <a:chExt cx="0" cy="0"/>
        </a:xfrm>
      </p:grpSpPr>
      <p:sp>
        <p:nvSpPr>
          <p:cNvPr id="15" name="Rectángulo 14">
            <a:extLst>
              <a:ext uri="{FF2B5EF4-FFF2-40B4-BE49-F238E27FC236}">
                <a16:creationId xmlns:a16="http://schemas.microsoft.com/office/drawing/2014/main" id="{A3E80F26-3CB5-AF5A-A385-60C8A5DB89F5}"/>
              </a:ext>
            </a:extLst>
          </p:cNvPr>
          <p:cNvSpPr/>
          <p:nvPr/>
        </p:nvSpPr>
        <p:spPr>
          <a:xfrm>
            <a:off x="711024" y="3510703"/>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algn="ctr"/>
            <a:r>
              <a:rPr lang="en-GB" sz="1200" kern="0">
                <a:solidFill>
                  <a:srgbClr val="DEEDF1">
                    <a:lumMod val="25000"/>
                  </a:srgbClr>
                </a:solidFill>
                <a:latin typeface="Santander Text"/>
              </a:rPr>
              <a:t>Cobranded Front</a:t>
            </a:r>
          </a:p>
        </p:txBody>
      </p:sp>
      <p:sp>
        <p:nvSpPr>
          <p:cNvPr id="18" name="Rectángulo 17">
            <a:extLst>
              <a:ext uri="{FF2B5EF4-FFF2-40B4-BE49-F238E27FC236}">
                <a16:creationId xmlns:a16="http://schemas.microsoft.com/office/drawing/2014/main" id="{12C9DEDA-F9F0-705F-3208-E9CF7A4829AC}"/>
              </a:ext>
            </a:extLst>
          </p:cNvPr>
          <p:cNvSpPr/>
          <p:nvPr/>
        </p:nvSpPr>
        <p:spPr>
          <a:xfrm>
            <a:off x="711024" y="4865908"/>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algn="ctr"/>
            <a:r>
              <a:rPr lang="en-GB" sz="1200" kern="0">
                <a:solidFill>
                  <a:srgbClr val="DEEDF1">
                    <a:lumMod val="25000"/>
                  </a:srgbClr>
                </a:solidFill>
                <a:latin typeface="Santander Text"/>
              </a:rPr>
              <a:t>Merchant /  </a:t>
            </a:r>
          </a:p>
          <a:p>
            <a:pPr algn="ctr"/>
            <a:r>
              <a:rPr lang="en-GB" sz="1200" kern="0">
                <a:solidFill>
                  <a:srgbClr val="DEEDF1">
                    <a:lumMod val="25000"/>
                  </a:srgbClr>
                </a:solidFill>
                <a:latin typeface="Santander Text"/>
              </a:rPr>
              <a:t>Ops Portal</a:t>
            </a:r>
          </a:p>
        </p:txBody>
      </p:sp>
      <p:sp>
        <p:nvSpPr>
          <p:cNvPr id="19" name="Rectángulo 18">
            <a:extLst>
              <a:ext uri="{FF2B5EF4-FFF2-40B4-BE49-F238E27FC236}">
                <a16:creationId xmlns:a16="http://schemas.microsoft.com/office/drawing/2014/main" id="{D0F0488A-C7A8-076A-27FD-CB45D362C86A}"/>
              </a:ext>
            </a:extLst>
          </p:cNvPr>
          <p:cNvSpPr/>
          <p:nvPr/>
        </p:nvSpPr>
        <p:spPr>
          <a:xfrm>
            <a:off x="711024" y="2216018"/>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algn="ctr"/>
            <a:r>
              <a:rPr lang="en-GB" sz="1200" kern="0">
                <a:solidFill>
                  <a:srgbClr val="DEEDF1">
                    <a:lumMod val="25000"/>
                  </a:srgbClr>
                </a:solidFill>
                <a:latin typeface="Santander Text"/>
              </a:rPr>
              <a:t>Customer Front</a:t>
            </a:r>
            <a:endParaRPr lang="en-GB" sz="1200" kern="0">
              <a:solidFill>
                <a:srgbClr val="DEEDF1">
                  <a:lumMod val="25000"/>
                </a:srgbClr>
              </a:solidFill>
              <a:latin typeface="Santander Text" panose="020B0504020201020104" pitchFamily="34" charset="0"/>
            </a:endParaRPr>
          </a:p>
        </p:txBody>
      </p:sp>
      <p:sp>
        <p:nvSpPr>
          <p:cNvPr id="20" name="Rectángulo 19">
            <a:extLst>
              <a:ext uri="{FF2B5EF4-FFF2-40B4-BE49-F238E27FC236}">
                <a16:creationId xmlns:a16="http://schemas.microsoft.com/office/drawing/2014/main" id="{92EFD9FB-4B8C-122B-47F6-A24E672C694A}"/>
              </a:ext>
            </a:extLst>
          </p:cNvPr>
          <p:cNvSpPr/>
          <p:nvPr/>
        </p:nvSpPr>
        <p:spPr>
          <a:xfrm>
            <a:off x="6177175" y="2152055"/>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algn="ctr"/>
            <a:r>
              <a:rPr lang="en-GB" sz="1200" kern="0">
                <a:solidFill>
                  <a:srgbClr val="DEEDF1">
                    <a:lumMod val="25000"/>
                  </a:srgbClr>
                </a:solidFill>
                <a:latin typeface="Santander Text"/>
              </a:rPr>
              <a:t>Assisted Channels</a:t>
            </a:r>
          </a:p>
        </p:txBody>
      </p:sp>
      <p:sp>
        <p:nvSpPr>
          <p:cNvPr id="21" name="CuadroTexto 20">
            <a:extLst>
              <a:ext uri="{FF2B5EF4-FFF2-40B4-BE49-F238E27FC236}">
                <a16:creationId xmlns:a16="http://schemas.microsoft.com/office/drawing/2014/main" id="{7ED70512-BA19-CFC7-7474-E59A9B6EE1A7}"/>
              </a:ext>
            </a:extLst>
          </p:cNvPr>
          <p:cNvSpPr txBox="1"/>
          <p:nvPr/>
        </p:nvSpPr>
        <p:spPr>
          <a:xfrm>
            <a:off x="684799" y="1128886"/>
            <a:ext cx="4391698" cy="592470"/>
          </a:xfrm>
          <a:prstGeom prst="rect">
            <a:avLst/>
          </a:prstGeom>
          <a:noFill/>
        </p:spPr>
        <p:txBody>
          <a:bodyPr wrap="square" rtlCol="0">
            <a:spAutoFit/>
          </a:bodyPr>
          <a:lstStyle/>
          <a:p>
            <a:pPr marL="355600" indent="-355600">
              <a:spcAft>
                <a:spcPts val="300"/>
              </a:spcAft>
              <a:defRPr/>
            </a:pPr>
            <a:r>
              <a:rPr lang="en-AU" sz="1600" b="1" kern="0">
                <a:solidFill>
                  <a:srgbClr val="DEEDF1">
                    <a:lumMod val="25000"/>
                  </a:srgbClr>
                </a:solidFill>
                <a:latin typeface="Santander Text" panose="020B0504020201020104" pitchFamily="34" charset="0"/>
              </a:rPr>
              <a:t>2</a:t>
            </a:r>
            <a:r>
              <a:rPr kumimoji="0" lang="en-AU"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 - </a:t>
            </a:r>
            <a:r>
              <a:rPr lang="en-GB" sz="1600" b="1">
                <a:solidFill>
                  <a:srgbClr val="DEEDF1">
                    <a:lumMod val="25000"/>
                  </a:srgbClr>
                </a:solidFill>
                <a:latin typeface="Santander Text"/>
              </a:rPr>
              <a:t>Zinia Front:</a:t>
            </a:r>
            <a:r>
              <a:rPr lang="en-GB" sz="1600" b="1" kern="0">
                <a:solidFill>
                  <a:srgbClr val="DEEDF1">
                    <a:lumMod val="25000"/>
                  </a:srgbClr>
                </a:solidFill>
                <a:ea typeface="+mn-lt"/>
                <a:cs typeface="+mn-lt"/>
              </a:rPr>
              <a:t> </a:t>
            </a:r>
            <a:r>
              <a:rPr kumimoji="0" lang="en-AU"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 </a:t>
            </a:r>
          </a:p>
          <a:p>
            <a:pPr>
              <a:spcAft>
                <a:spcPts val="300"/>
              </a:spcAft>
            </a:pPr>
            <a:r>
              <a:rPr lang="en-US" sz="1400" i="1">
                <a:solidFill>
                  <a:srgbClr val="DEEDF1">
                    <a:lumMod val="25000"/>
                  </a:srgbClr>
                </a:solidFill>
                <a:latin typeface="Santander Text"/>
              </a:rPr>
              <a:t>Digital Channels for customers and merchants</a:t>
            </a:r>
            <a:endParaRPr lang="en-GB" sz="1400" i="1">
              <a:solidFill>
                <a:srgbClr val="DEEDF1">
                  <a:lumMod val="25000"/>
                </a:srgbClr>
              </a:solidFill>
              <a:latin typeface="Santander Text"/>
            </a:endParaRPr>
          </a:p>
        </p:txBody>
      </p:sp>
      <p:cxnSp>
        <p:nvCxnSpPr>
          <p:cNvPr id="22" name="Conector recto 21">
            <a:extLst>
              <a:ext uri="{FF2B5EF4-FFF2-40B4-BE49-F238E27FC236}">
                <a16:creationId xmlns:a16="http://schemas.microsoft.com/office/drawing/2014/main" id="{A631B4D4-08A9-EFE3-7A76-CF59C9EC9F7E}"/>
              </a:ext>
            </a:extLst>
          </p:cNvPr>
          <p:cNvCxnSpPr>
            <a:cxnSpLocks/>
          </p:cNvCxnSpPr>
          <p:nvPr/>
        </p:nvCxnSpPr>
        <p:spPr>
          <a:xfrm flipH="1" flipV="1">
            <a:off x="711024" y="1933750"/>
            <a:ext cx="5112000" cy="0"/>
          </a:xfrm>
          <a:prstGeom prst="line">
            <a:avLst/>
          </a:prstGeom>
          <a:noFill/>
          <a:ln w="12700" cap="flat" cmpd="sng" algn="ctr">
            <a:solidFill>
              <a:srgbClr val="595959"/>
            </a:solidFill>
            <a:prstDash val="solid"/>
            <a:miter lim="800000"/>
          </a:ln>
          <a:effectLst/>
        </p:spPr>
      </p:cxnSp>
      <p:sp>
        <p:nvSpPr>
          <p:cNvPr id="23" name="CuadroTexto 22">
            <a:extLst>
              <a:ext uri="{FF2B5EF4-FFF2-40B4-BE49-F238E27FC236}">
                <a16:creationId xmlns:a16="http://schemas.microsoft.com/office/drawing/2014/main" id="{E07F9C3A-3EA3-78A2-2435-125CDC4B58CE}"/>
              </a:ext>
            </a:extLst>
          </p:cNvPr>
          <p:cNvSpPr txBox="1"/>
          <p:nvPr/>
        </p:nvSpPr>
        <p:spPr>
          <a:xfrm>
            <a:off x="2192764" y="2208145"/>
            <a:ext cx="3658438" cy="909402"/>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0" cap="none" spc="0" normalizeH="0" baseline="0" noProof="0">
                <a:ln>
                  <a:noFill/>
                </a:ln>
                <a:solidFill>
                  <a:prstClr val="black"/>
                </a:solidFill>
                <a:effectLst/>
                <a:uLnTx/>
                <a:uFillTx/>
                <a:latin typeface="Santander Text"/>
                <a:ea typeface="+mn-ea"/>
                <a:cs typeface="+mn-cs"/>
              </a:rPr>
              <a:t>Customer self-service web and mobile app for financing services.</a:t>
            </a:r>
          </a:p>
          <a:p>
            <a:pPr marL="0" marR="0" lvl="0" indent="0" algn="l" defTabSz="914400" rtl="0" eaLnBrk="1" fontAlgn="auto" latinLnBrk="0" hangingPunct="1">
              <a:lnSpc>
                <a:spcPct val="100000"/>
              </a:lnSpc>
              <a:spcBef>
                <a:spcPts val="0"/>
              </a:spcBef>
              <a:spcAft>
                <a:spcPts val="0"/>
              </a:spcAft>
              <a:buClr>
                <a:srgbClr val="FF0000"/>
              </a:buClr>
              <a:buSzTx/>
              <a:buNone/>
              <a:tabLst/>
              <a:defRPr/>
            </a:pPr>
            <a:endParaRPr kumimoji="0" lang="en-US" sz="1200" b="0" i="0" u="none" strike="noStrike" kern="0" cap="none" spc="0" normalizeH="0" baseline="0" noProof="0">
              <a:ln>
                <a:noFill/>
              </a:ln>
              <a:solidFill>
                <a:prstClr val="black"/>
              </a:solidFill>
              <a:effectLst/>
              <a:uLnTx/>
              <a:uFillTx/>
              <a:latin typeface="Santander Text"/>
              <a:ea typeface="+mn-ea"/>
              <a:cs typeface="+mn-cs"/>
            </a:endParaRPr>
          </a:p>
        </p:txBody>
      </p:sp>
      <p:cxnSp>
        <p:nvCxnSpPr>
          <p:cNvPr id="24" name="Conector recto 23">
            <a:extLst>
              <a:ext uri="{FF2B5EF4-FFF2-40B4-BE49-F238E27FC236}">
                <a16:creationId xmlns:a16="http://schemas.microsoft.com/office/drawing/2014/main" id="{E91DE25C-F939-D1CD-4248-AEBED9FB2899}"/>
              </a:ext>
            </a:extLst>
          </p:cNvPr>
          <p:cNvCxnSpPr>
            <a:cxnSpLocks/>
          </p:cNvCxnSpPr>
          <p:nvPr/>
        </p:nvCxnSpPr>
        <p:spPr>
          <a:xfrm flipH="1" flipV="1">
            <a:off x="684799" y="3060921"/>
            <a:ext cx="5112000" cy="0"/>
          </a:xfrm>
          <a:prstGeom prst="line">
            <a:avLst/>
          </a:prstGeom>
          <a:noFill/>
          <a:ln w="12700" cap="flat" cmpd="sng" algn="ctr">
            <a:solidFill>
              <a:schemeClr val="bg1">
                <a:lumMod val="85000"/>
              </a:schemeClr>
            </a:solidFill>
            <a:prstDash val="solid"/>
            <a:miter lim="800000"/>
          </a:ln>
          <a:effectLst/>
        </p:spPr>
      </p:cxnSp>
      <p:sp>
        <p:nvSpPr>
          <p:cNvPr id="26" name="CuadroTexto 25">
            <a:extLst>
              <a:ext uri="{FF2B5EF4-FFF2-40B4-BE49-F238E27FC236}">
                <a16:creationId xmlns:a16="http://schemas.microsoft.com/office/drawing/2014/main" id="{C3AA6209-1C51-BC98-BA1D-F12BBB0ADD84}"/>
              </a:ext>
            </a:extLst>
          </p:cNvPr>
          <p:cNvSpPr txBox="1"/>
          <p:nvPr/>
        </p:nvSpPr>
        <p:spPr>
          <a:xfrm>
            <a:off x="2192764" y="3488541"/>
            <a:ext cx="3630260" cy="646331"/>
          </a:xfrm>
          <a:prstGeom prst="rect">
            <a:avLst/>
          </a:prstGeom>
          <a:noFill/>
        </p:spPr>
        <p:txBody>
          <a:bodyPr wrap="square">
            <a:spAutoFit/>
          </a:bodyPr>
          <a:lstStyle/>
          <a:p>
            <a:pPr marL="180000" indent="-180000">
              <a:buClr>
                <a:srgbClr val="FF0000"/>
              </a:buClr>
              <a:buFont typeface="Wingdings" panose="05000000000000000000" pitchFamily="2" charset="2"/>
              <a:buChar char="§"/>
              <a:defRPr/>
            </a:pPr>
            <a:r>
              <a:rPr lang="en-US" sz="1200"/>
              <a:t>Cobranded self-service Web and mobile app with merchant look &amp; feel.</a:t>
            </a:r>
          </a:p>
          <a:p>
            <a:pPr>
              <a:buClr>
                <a:srgbClr val="FF0000"/>
              </a:buClr>
              <a:defRPr/>
            </a:pPr>
            <a:endParaRPr lang="en-US" sz="1200"/>
          </a:p>
        </p:txBody>
      </p:sp>
      <p:cxnSp>
        <p:nvCxnSpPr>
          <p:cNvPr id="27" name="Conector recto 26">
            <a:extLst>
              <a:ext uri="{FF2B5EF4-FFF2-40B4-BE49-F238E27FC236}">
                <a16:creationId xmlns:a16="http://schemas.microsoft.com/office/drawing/2014/main" id="{40E440E0-F035-60C6-8253-BB68EBF4A499}"/>
              </a:ext>
            </a:extLst>
          </p:cNvPr>
          <p:cNvCxnSpPr>
            <a:cxnSpLocks/>
          </p:cNvCxnSpPr>
          <p:nvPr/>
        </p:nvCxnSpPr>
        <p:spPr>
          <a:xfrm flipH="1" flipV="1">
            <a:off x="684799" y="4422385"/>
            <a:ext cx="5112000" cy="0"/>
          </a:xfrm>
          <a:prstGeom prst="line">
            <a:avLst/>
          </a:prstGeom>
          <a:noFill/>
          <a:ln w="12700" cap="flat" cmpd="sng" algn="ctr">
            <a:solidFill>
              <a:schemeClr val="bg1">
                <a:lumMod val="85000"/>
              </a:schemeClr>
            </a:solidFill>
            <a:prstDash val="solid"/>
            <a:miter lim="800000"/>
          </a:ln>
          <a:effectLst/>
        </p:spPr>
      </p:cxnSp>
      <p:sp>
        <p:nvSpPr>
          <p:cNvPr id="34" name="CuadroTexto 33">
            <a:extLst>
              <a:ext uri="{FF2B5EF4-FFF2-40B4-BE49-F238E27FC236}">
                <a16:creationId xmlns:a16="http://schemas.microsoft.com/office/drawing/2014/main" id="{02F3F494-EA47-5828-0E13-E117DF005169}"/>
              </a:ext>
            </a:extLst>
          </p:cNvPr>
          <p:cNvSpPr txBox="1"/>
          <p:nvPr/>
        </p:nvSpPr>
        <p:spPr>
          <a:xfrm>
            <a:off x="7723898" y="3353923"/>
            <a:ext cx="4004805" cy="909402"/>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rPr>
              <a:t>Public site with merchant and customer content. </a:t>
            </a:r>
          </a:p>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endParaRPr kumimoji="0" lang="en-US" sz="1200" b="0" i="0" u="none" strike="noStrike" kern="0" cap="none" spc="0" normalizeH="0" baseline="0" noProof="0">
              <a:ln>
                <a:noFill/>
              </a:ln>
              <a:solidFill>
                <a:prstClr val="black"/>
              </a:solidFill>
              <a:effectLst/>
              <a:uLnTx/>
              <a:uFillTx/>
              <a:latin typeface="Santander Text"/>
              <a:ea typeface="+mn-ea"/>
              <a:cs typeface="+mn-cs"/>
            </a:endParaRPr>
          </a:p>
        </p:txBody>
      </p:sp>
      <p:cxnSp>
        <p:nvCxnSpPr>
          <p:cNvPr id="35" name="Conector recto 34">
            <a:extLst>
              <a:ext uri="{FF2B5EF4-FFF2-40B4-BE49-F238E27FC236}">
                <a16:creationId xmlns:a16="http://schemas.microsoft.com/office/drawing/2014/main" id="{75481D7E-9A98-6068-D363-CB253EF206D4}"/>
              </a:ext>
            </a:extLst>
          </p:cNvPr>
          <p:cNvCxnSpPr>
            <a:cxnSpLocks/>
          </p:cNvCxnSpPr>
          <p:nvPr/>
        </p:nvCxnSpPr>
        <p:spPr>
          <a:xfrm flipH="1" flipV="1">
            <a:off x="6177175" y="4415531"/>
            <a:ext cx="5112000" cy="0"/>
          </a:xfrm>
          <a:prstGeom prst="line">
            <a:avLst/>
          </a:prstGeom>
          <a:noFill/>
          <a:ln w="12700" cap="flat" cmpd="sng" algn="ctr">
            <a:solidFill>
              <a:schemeClr val="bg1">
                <a:lumMod val="85000"/>
              </a:schemeClr>
            </a:solidFill>
            <a:prstDash val="solid"/>
            <a:miter lim="800000"/>
          </a:ln>
          <a:effectLst/>
        </p:spPr>
      </p:cxnSp>
      <p:cxnSp>
        <p:nvCxnSpPr>
          <p:cNvPr id="37" name="Conector recto 36">
            <a:extLst>
              <a:ext uri="{FF2B5EF4-FFF2-40B4-BE49-F238E27FC236}">
                <a16:creationId xmlns:a16="http://schemas.microsoft.com/office/drawing/2014/main" id="{F901D3E7-2B6A-0503-0368-BCFE28398F15}"/>
              </a:ext>
            </a:extLst>
          </p:cNvPr>
          <p:cNvCxnSpPr>
            <a:cxnSpLocks/>
          </p:cNvCxnSpPr>
          <p:nvPr/>
        </p:nvCxnSpPr>
        <p:spPr>
          <a:xfrm flipH="1" flipV="1">
            <a:off x="6177175" y="5646081"/>
            <a:ext cx="5112000" cy="0"/>
          </a:xfrm>
          <a:prstGeom prst="line">
            <a:avLst/>
          </a:prstGeom>
          <a:noFill/>
          <a:ln w="12700" cap="flat" cmpd="sng" algn="ctr">
            <a:solidFill>
              <a:schemeClr val="bg1">
                <a:lumMod val="85000"/>
              </a:schemeClr>
            </a:solidFill>
            <a:prstDash val="solid"/>
            <a:miter lim="800000"/>
          </a:ln>
          <a:effectLst/>
        </p:spPr>
      </p:cxnSp>
      <p:sp>
        <p:nvSpPr>
          <p:cNvPr id="38" name="Rectángulo 37">
            <a:extLst>
              <a:ext uri="{FF2B5EF4-FFF2-40B4-BE49-F238E27FC236}">
                <a16:creationId xmlns:a16="http://schemas.microsoft.com/office/drawing/2014/main" id="{B844567B-D43E-D531-08F7-314AF122F736}"/>
              </a:ext>
            </a:extLst>
          </p:cNvPr>
          <p:cNvSpPr/>
          <p:nvPr/>
        </p:nvSpPr>
        <p:spPr>
          <a:xfrm>
            <a:off x="6177175" y="3397735"/>
            <a:ext cx="1440000" cy="382138"/>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algn="ctr"/>
            <a:r>
              <a:rPr lang="en-GB" sz="1200" kern="0">
                <a:solidFill>
                  <a:srgbClr val="DEEDF1">
                    <a:lumMod val="25000"/>
                  </a:srgbClr>
                </a:solidFill>
                <a:latin typeface="Santander Text"/>
              </a:rPr>
              <a:t>Public Site</a:t>
            </a:r>
          </a:p>
        </p:txBody>
      </p:sp>
      <p:sp>
        <p:nvSpPr>
          <p:cNvPr id="39" name="Rectángulo 38">
            <a:extLst>
              <a:ext uri="{FF2B5EF4-FFF2-40B4-BE49-F238E27FC236}">
                <a16:creationId xmlns:a16="http://schemas.microsoft.com/office/drawing/2014/main" id="{157AEF8D-2F7C-7A43-D2A8-8865D75A8D27}"/>
              </a:ext>
            </a:extLst>
          </p:cNvPr>
          <p:cNvSpPr/>
          <p:nvPr/>
        </p:nvSpPr>
        <p:spPr>
          <a:xfrm>
            <a:off x="6177175" y="4867250"/>
            <a:ext cx="1440000" cy="387183"/>
          </a:xfrm>
          <a:prstGeom prst="rect">
            <a:avLst/>
          </a:prstGeom>
          <a:noFill/>
          <a:ln w="12700" cap="flat" cmpd="sng" algn="ctr">
            <a:solidFill>
              <a:schemeClr val="bg1">
                <a:lumMod val="50000"/>
              </a:schemeClr>
            </a:solidFill>
            <a:prstDash val="solid"/>
            <a:miter lim="800000"/>
          </a:ln>
          <a:effectLst/>
        </p:spPr>
        <p:txBody>
          <a:bodyPr lIns="72000" rIns="72000" rtlCol="0" anchor="ctr"/>
          <a:lstStyle/>
          <a:p>
            <a:pPr algn="ctr"/>
            <a:r>
              <a:rPr lang="en-GB" sz="1200" kern="0">
                <a:solidFill>
                  <a:srgbClr val="DEEDF1">
                    <a:lumMod val="25000"/>
                  </a:srgbClr>
                </a:solidFill>
                <a:latin typeface="Santander Text"/>
              </a:rPr>
              <a:t>Developer Portal</a:t>
            </a:r>
            <a:endParaRPr lang="en-US" sz="1200" kern="0">
              <a:solidFill>
                <a:srgbClr val="DEEDF1">
                  <a:lumMod val="25000"/>
                </a:srgbClr>
              </a:solidFill>
              <a:latin typeface="Santander Text"/>
            </a:endParaRPr>
          </a:p>
        </p:txBody>
      </p:sp>
      <p:sp>
        <p:nvSpPr>
          <p:cNvPr id="46" name="CuadroTexto 45">
            <a:extLst>
              <a:ext uri="{FF2B5EF4-FFF2-40B4-BE49-F238E27FC236}">
                <a16:creationId xmlns:a16="http://schemas.microsoft.com/office/drawing/2014/main" id="{BF4579B0-D446-2274-D815-D6A8D1091611}"/>
              </a:ext>
            </a:extLst>
          </p:cNvPr>
          <p:cNvSpPr txBox="1"/>
          <p:nvPr/>
        </p:nvSpPr>
        <p:spPr>
          <a:xfrm>
            <a:off x="2192764" y="4848500"/>
            <a:ext cx="3630260" cy="646331"/>
          </a:xfrm>
          <a:prstGeom prst="rect">
            <a:avLst/>
          </a:prstGeom>
          <a:noFill/>
        </p:spPr>
        <p:txBody>
          <a:bodyPr wrap="square">
            <a:spAutoFit/>
          </a:bodyPr>
          <a:lstStyle/>
          <a:p>
            <a:pPr marL="180000" indent="-180000">
              <a:buClr>
                <a:srgbClr val="FF0000"/>
              </a:buClr>
              <a:buFont typeface="Wingdings" panose="05000000000000000000" pitchFamily="2" charset="2"/>
              <a:buChar char="§"/>
              <a:defRPr/>
            </a:pPr>
            <a:r>
              <a:rPr lang="en-US" sz="1200"/>
              <a:t>Merchants and Zinia´s operations team management tool.</a:t>
            </a:r>
          </a:p>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endParaRPr kumimoji="0" lang="en-US" sz="1200" b="0" i="0" u="none" strike="noStrike" kern="0" cap="none" spc="0" normalizeH="0" baseline="0" noProof="0">
              <a:ln>
                <a:noFill/>
              </a:ln>
              <a:solidFill>
                <a:prstClr val="black"/>
              </a:solidFill>
              <a:effectLst/>
              <a:uLnTx/>
              <a:uFillTx/>
              <a:latin typeface="Santander Text"/>
              <a:ea typeface="+mn-ea"/>
              <a:cs typeface="+mn-cs"/>
            </a:endParaRPr>
          </a:p>
        </p:txBody>
      </p:sp>
      <p:cxnSp>
        <p:nvCxnSpPr>
          <p:cNvPr id="47" name="Conector recto 46">
            <a:extLst>
              <a:ext uri="{FF2B5EF4-FFF2-40B4-BE49-F238E27FC236}">
                <a16:creationId xmlns:a16="http://schemas.microsoft.com/office/drawing/2014/main" id="{8352BB3D-E8F4-5335-AE08-75D55A26D97C}"/>
              </a:ext>
            </a:extLst>
          </p:cNvPr>
          <p:cNvCxnSpPr>
            <a:cxnSpLocks/>
          </p:cNvCxnSpPr>
          <p:nvPr/>
        </p:nvCxnSpPr>
        <p:spPr>
          <a:xfrm flipH="1" flipV="1">
            <a:off x="684799" y="5650097"/>
            <a:ext cx="5112000" cy="0"/>
          </a:xfrm>
          <a:prstGeom prst="line">
            <a:avLst/>
          </a:prstGeom>
          <a:noFill/>
          <a:ln w="12700" cap="flat" cmpd="sng" algn="ctr">
            <a:solidFill>
              <a:schemeClr val="bg1">
                <a:lumMod val="85000"/>
              </a:schemeClr>
            </a:solidFill>
            <a:prstDash val="solid"/>
            <a:miter lim="800000"/>
          </a:ln>
          <a:effectLst/>
        </p:spPr>
      </p:cxnSp>
      <p:sp>
        <p:nvSpPr>
          <p:cNvPr id="48" name="CuadroTexto 47">
            <a:extLst>
              <a:ext uri="{FF2B5EF4-FFF2-40B4-BE49-F238E27FC236}">
                <a16:creationId xmlns:a16="http://schemas.microsoft.com/office/drawing/2014/main" id="{322AA4DC-7759-DF29-FDFF-04D93E7C4191}"/>
              </a:ext>
            </a:extLst>
          </p:cNvPr>
          <p:cNvSpPr txBox="1"/>
          <p:nvPr/>
        </p:nvSpPr>
        <p:spPr>
          <a:xfrm>
            <a:off x="7723898" y="2122481"/>
            <a:ext cx="3630260" cy="646331"/>
          </a:xfrm>
          <a:prstGeom prst="rect">
            <a:avLst/>
          </a:prstGeom>
          <a:noFill/>
        </p:spPr>
        <p:txBody>
          <a:bodyPr wrap="square">
            <a:spAutoFit/>
          </a:bodyPr>
          <a:lstStyle/>
          <a:p>
            <a:pPr marL="180000" indent="-180000">
              <a:buClr>
                <a:srgbClr val="FF0000"/>
              </a:buClr>
              <a:buFont typeface="Wingdings" panose="05000000000000000000" pitchFamily="2" charset="2"/>
              <a:buChar char="§"/>
              <a:defRPr/>
            </a:pPr>
            <a:r>
              <a:rPr lang="en-US" sz="1200"/>
              <a:t>Assisted channels support for merchant and customers via voice, chat, IVR, e-Mail.</a:t>
            </a:r>
          </a:p>
          <a:p>
            <a:pPr marL="180000" indent="-180000">
              <a:buClr>
                <a:srgbClr val="FF0000"/>
              </a:buClr>
              <a:buFont typeface="Wingdings" panose="05000000000000000000" pitchFamily="2" charset="2"/>
              <a:buChar char="§"/>
              <a:defRPr/>
            </a:pPr>
            <a:endParaRPr kumimoji="0" lang="en-US" sz="1200" b="0" i="0" u="none" strike="noStrike" kern="0" cap="none" spc="0" normalizeH="0" baseline="0" noProof="0">
              <a:ln>
                <a:noFill/>
              </a:ln>
              <a:solidFill>
                <a:prstClr val="black"/>
              </a:solidFill>
              <a:effectLst/>
              <a:uLnTx/>
              <a:uFillTx/>
              <a:latin typeface="Santander Text"/>
              <a:ea typeface="+mn-ea"/>
              <a:cs typeface="+mn-cs"/>
            </a:endParaRPr>
          </a:p>
        </p:txBody>
      </p:sp>
      <p:sp>
        <p:nvSpPr>
          <p:cNvPr id="50" name="CuadroTexto 49">
            <a:extLst>
              <a:ext uri="{FF2B5EF4-FFF2-40B4-BE49-F238E27FC236}">
                <a16:creationId xmlns:a16="http://schemas.microsoft.com/office/drawing/2014/main" id="{EA7048F2-82D4-8A88-A251-43F147A925B1}"/>
              </a:ext>
            </a:extLst>
          </p:cNvPr>
          <p:cNvSpPr txBox="1"/>
          <p:nvPr/>
        </p:nvSpPr>
        <p:spPr>
          <a:xfrm>
            <a:off x="7723898" y="4805419"/>
            <a:ext cx="4248645" cy="461665"/>
          </a:xfrm>
          <a:prstGeom prst="rect">
            <a:avLst/>
          </a:prstGeom>
          <a:noFill/>
        </p:spPr>
        <p:txBody>
          <a:bodyPr wrap="square">
            <a:spAutoFit/>
          </a:bodyPr>
          <a:lstStyle/>
          <a:p>
            <a:pPr marL="180000" marR="0" lvl="1"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rPr>
              <a:t>Merchant’s tech developers understand how ZINIA API’s works.</a:t>
            </a:r>
          </a:p>
        </p:txBody>
      </p:sp>
      <p:sp>
        <p:nvSpPr>
          <p:cNvPr id="8" name="Título 1">
            <a:extLst>
              <a:ext uri="{FF2B5EF4-FFF2-40B4-BE49-F238E27FC236}">
                <a16:creationId xmlns:a16="http://schemas.microsoft.com/office/drawing/2014/main" id="{15B141F2-0D3D-F258-2B9D-9E5C60EFD8FD}"/>
              </a:ext>
            </a:extLst>
          </p:cNvPr>
          <p:cNvSpPr txBox="1">
            <a:spLocks/>
          </p:cNvSpPr>
          <p:nvPr/>
        </p:nvSpPr>
        <p:spPr>
          <a:xfrm>
            <a:off x="711024" y="623339"/>
            <a:ext cx="10758733" cy="836992"/>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lang="en-US" sz="2800" b="1" kern="1200" dirty="0">
                <a:solidFill>
                  <a:schemeClr val="accent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s-ES" sz="2800" b="1" i="0" u="none" strike="noStrike" kern="1200" cap="none" spc="0" normalizeH="0" baseline="0" noProof="0">
                <a:ln>
                  <a:noFill/>
                </a:ln>
                <a:solidFill>
                  <a:srgbClr val="EC0000"/>
                </a:solidFill>
                <a:effectLst/>
                <a:uLnTx/>
                <a:uFillTx/>
                <a:latin typeface="Santander Headline"/>
                <a:ea typeface="+mj-ea"/>
                <a:cs typeface="+mj-cs"/>
              </a:rPr>
              <a:t>DCB</a:t>
            </a:r>
            <a:r>
              <a:rPr lang="es-ES">
                <a:solidFill>
                  <a:srgbClr val="EC0000"/>
                </a:solidFill>
                <a:latin typeface="Santander Headline"/>
              </a:rPr>
              <a:t>.</a:t>
            </a:r>
            <a:r>
              <a:rPr kumimoji="0" lang="es-ES" sz="2800" b="1" i="0" u="none" strike="noStrike" kern="1200" cap="none" spc="0" normalizeH="0" baseline="0" noProof="0">
                <a:ln>
                  <a:noFill/>
                </a:ln>
                <a:solidFill>
                  <a:srgbClr val="EC0000"/>
                </a:solidFill>
                <a:effectLst/>
                <a:uLnTx/>
                <a:uFillTx/>
                <a:latin typeface="Santander Headline"/>
                <a:ea typeface="+mj-ea"/>
                <a:cs typeface="+mj-cs"/>
              </a:rPr>
              <a:t> </a:t>
            </a:r>
            <a:r>
              <a:rPr kumimoji="0" lang="en-AU" sz="2800" b="1" i="0" u="none" strike="noStrike" kern="1200" cap="none" spc="0" normalizeH="0" baseline="0" noProof="0">
                <a:ln>
                  <a:noFill/>
                </a:ln>
                <a:solidFill>
                  <a:srgbClr val="BFBFBF"/>
                </a:solidFill>
                <a:effectLst/>
                <a:uLnTx/>
                <a:uFillTx/>
                <a:latin typeface="Santander Headline"/>
                <a:ea typeface="+mj-ea"/>
                <a:cs typeface="+mj-cs"/>
              </a:rPr>
              <a:t>Zinia</a:t>
            </a:r>
          </a:p>
        </p:txBody>
      </p:sp>
      <p:cxnSp>
        <p:nvCxnSpPr>
          <p:cNvPr id="30" name="Conector recto 29">
            <a:extLst>
              <a:ext uri="{FF2B5EF4-FFF2-40B4-BE49-F238E27FC236}">
                <a16:creationId xmlns:a16="http://schemas.microsoft.com/office/drawing/2014/main" id="{FE3698D8-20AE-6E39-90F0-42D7358628A1}"/>
              </a:ext>
            </a:extLst>
          </p:cNvPr>
          <p:cNvCxnSpPr>
            <a:cxnSpLocks/>
          </p:cNvCxnSpPr>
          <p:nvPr/>
        </p:nvCxnSpPr>
        <p:spPr>
          <a:xfrm flipH="1" flipV="1">
            <a:off x="6177175" y="3060921"/>
            <a:ext cx="5652000" cy="0"/>
          </a:xfrm>
          <a:prstGeom prst="line">
            <a:avLst/>
          </a:prstGeom>
          <a:noFill/>
          <a:ln w="12700" cap="flat" cmpd="sng" algn="ctr">
            <a:solidFill>
              <a:schemeClr val="bg1">
                <a:lumMod val="85000"/>
              </a:schemeClr>
            </a:solidFill>
            <a:prstDash val="solid"/>
            <a:miter lim="800000"/>
          </a:ln>
          <a:effectLst/>
        </p:spPr>
      </p:cxnSp>
    </p:spTree>
    <p:extLst>
      <p:ext uri="{BB962C8B-B14F-4D97-AF65-F5344CB8AC3E}">
        <p14:creationId xmlns:p14="http://schemas.microsoft.com/office/powerpoint/2010/main" val="13977098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41B57-211E-3CF0-7B57-2E16236C79FF}"/>
            </a:ext>
          </a:extLst>
        </p:cNvPr>
        <p:cNvGrpSpPr/>
        <p:nvPr/>
      </p:nvGrpSpPr>
      <p:grpSpPr>
        <a:xfrm>
          <a:off x="0" y="0"/>
          <a:ext cx="0" cy="0"/>
          <a:chOff x="0" y="0"/>
          <a:chExt cx="0" cy="0"/>
        </a:xfrm>
      </p:grpSpPr>
      <p:sp>
        <p:nvSpPr>
          <p:cNvPr id="15" name="Rectángulo 14">
            <a:extLst>
              <a:ext uri="{FF2B5EF4-FFF2-40B4-BE49-F238E27FC236}">
                <a16:creationId xmlns:a16="http://schemas.microsoft.com/office/drawing/2014/main" id="{62FEB4E0-39DC-F356-FE9E-6ABDC95AD7C1}"/>
              </a:ext>
            </a:extLst>
          </p:cNvPr>
          <p:cNvSpPr/>
          <p:nvPr/>
        </p:nvSpPr>
        <p:spPr>
          <a:xfrm>
            <a:off x="711024" y="3510703"/>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algn="ctr">
              <a:spcAft>
                <a:spcPts val="600"/>
              </a:spcAft>
            </a:pPr>
            <a:r>
              <a:rPr lang="en-US" sz="1200" kern="0">
                <a:solidFill>
                  <a:srgbClr val="224751"/>
                </a:solidFill>
                <a:ea typeface="+mn-lt"/>
                <a:cs typeface="+mn-lt"/>
              </a:rPr>
              <a:t>Loyalty Program Core </a:t>
            </a:r>
          </a:p>
        </p:txBody>
      </p:sp>
      <p:sp>
        <p:nvSpPr>
          <p:cNvPr id="18" name="Rectángulo 17">
            <a:extLst>
              <a:ext uri="{FF2B5EF4-FFF2-40B4-BE49-F238E27FC236}">
                <a16:creationId xmlns:a16="http://schemas.microsoft.com/office/drawing/2014/main" id="{47321D2E-5CB0-C4E5-C580-838FB56D5547}"/>
              </a:ext>
            </a:extLst>
          </p:cNvPr>
          <p:cNvSpPr/>
          <p:nvPr/>
        </p:nvSpPr>
        <p:spPr>
          <a:xfrm>
            <a:off x="711024" y="4865908"/>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algn="ctr">
              <a:spcAft>
                <a:spcPts val="600"/>
              </a:spcAft>
            </a:pPr>
            <a:r>
              <a:rPr lang="en-US" sz="1200" kern="0">
                <a:solidFill>
                  <a:srgbClr val="224751"/>
                </a:solidFill>
                <a:ea typeface="+mn-lt"/>
                <a:cs typeface="+mn-lt"/>
              </a:rPr>
              <a:t>Cobranded Card issuing</a:t>
            </a:r>
          </a:p>
        </p:txBody>
      </p:sp>
      <p:sp>
        <p:nvSpPr>
          <p:cNvPr id="19" name="Rectángulo 18">
            <a:extLst>
              <a:ext uri="{FF2B5EF4-FFF2-40B4-BE49-F238E27FC236}">
                <a16:creationId xmlns:a16="http://schemas.microsoft.com/office/drawing/2014/main" id="{133D5483-D830-E1CD-F14C-A67FBEAA0688}"/>
              </a:ext>
            </a:extLst>
          </p:cNvPr>
          <p:cNvSpPr/>
          <p:nvPr/>
        </p:nvSpPr>
        <p:spPr>
          <a:xfrm>
            <a:off x="711024" y="2216018"/>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algn="ctr">
              <a:spcAft>
                <a:spcPts val="600"/>
              </a:spcAft>
            </a:pPr>
            <a:r>
              <a:rPr lang="en-US" sz="1200" kern="0">
                <a:solidFill>
                  <a:srgbClr val="224751"/>
                </a:solidFill>
                <a:ea typeface="+mn-lt"/>
                <a:cs typeface="+mn-lt"/>
              </a:rPr>
              <a:t>Installment Core</a:t>
            </a:r>
          </a:p>
        </p:txBody>
      </p:sp>
      <p:sp>
        <p:nvSpPr>
          <p:cNvPr id="20" name="Rectángulo 19">
            <a:extLst>
              <a:ext uri="{FF2B5EF4-FFF2-40B4-BE49-F238E27FC236}">
                <a16:creationId xmlns:a16="http://schemas.microsoft.com/office/drawing/2014/main" id="{6E8E79E7-CA1B-1833-E255-202A728F399C}"/>
              </a:ext>
            </a:extLst>
          </p:cNvPr>
          <p:cNvSpPr/>
          <p:nvPr/>
        </p:nvSpPr>
        <p:spPr>
          <a:xfrm>
            <a:off x="6198045" y="2152055"/>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algn="ctr"/>
            <a:r>
              <a:rPr lang="en-US" sz="1200" kern="0">
                <a:solidFill>
                  <a:srgbClr val="224751"/>
                </a:solidFill>
                <a:ea typeface="+mn-lt"/>
                <a:cs typeface="+mn-lt"/>
              </a:rPr>
              <a:t>Settlement / Billing</a:t>
            </a:r>
          </a:p>
        </p:txBody>
      </p:sp>
      <p:sp>
        <p:nvSpPr>
          <p:cNvPr id="21" name="CuadroTexto 20">
            <a:extLst>
              <a:ext uri="{FF2B5EF4-FFF2-40B4-BE49-F238E27FC236}">
                <a16:creationId xmlns:a16="http://schemas.microsoft.com/office/drawing/2014/main" id="{C23589EB-1EBE-3D99-810C-115B6F94DD0C}"/>
              </a:ext>
            </a:extLst>
          </p:cNvPr>
          <p:cNvSpPr txBox="1"/>
          <p:nvPr/>
        </p:nvSpPr>
        <p:spPr>
          <a:xfrm>
            <a:off x="684799" y="1128886"/>
            <a:ext cx="4391698" cy="592470"/>
          </a:xfrm>
          <a:prstGeom prst="rect">
            <a:avLst/>
          </a:prstGeom>
          <a:noFill/>
        </p:spPr>
        <p:txBody>
          <a:bodyPr wrap="square" rtlCol="0">
            <a:spAutoFit/>
          </a:bodyPr>
          <a:lstStyle/>
          <a:p>
            <a:pPr marL="355600" indent="-355600">
              <a:spcAft>
                <a:spcPts val="300"/>
              </a:spcAft>
            </a:pPr>
            <a:r>
              <a:rPr lang="en-AU" sz="1600" b="1" kern="0">
                <a:solidFill>
                  <a:srgbClr val="DEEDF1">
                    <a:lumMod val="25000"/>
                  </a:srgbClr>
                </a:solidFill>
                <a:latin typeface="Santander Text" panose="020B0504020201020104" pitchFamily="34" charset="0"/>
              </a:rPr>
              <a:t>3</a:t>
            </a:r>
            <a:r>
              <a:rPr kumimoji="0" lang="en-AU"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 - </a:t>
            </a:r>
            <a:r>
              <a:rPr lang="en-GB" sz="1600" b="1">
                <a:solidFill>
                  <a:srgbClr val="DEEDF1">
                    <a:lumMod val="25000"/>
                  </a:srgbClr>
                </a:solidFill>
                <a:latin typeface="Santander Text"/>
              </a:rPr>
              <a:t>Core Processing:</a:t>
            </a:r>
            <a:endParaRPr lang="en-GB" sz="1600" b="1">
              <a:solidFill>
                <a:srgbClr val="DEEDF1">
                  <a:lumMod val="25000"/>
                </a:srgbClr>
              </a:solidFill>
              <a:latin typeface="Santander Text" panose="020B0504020201020104" pitchFamily="34" charset="0"/>
            </a:endParaRPr>
          </a:p>
          <a:p>
            <a:r>
              <a:rPr lang="en-GB" sz="1400" i="1">
                <a:solidFill>
                  <a:srgbClr val="DEEDF1">
                    <a:lumMod val="25000"/>
                  </a:srgbClr>
                </a:solidFill>
                <a:latin typeface="Santander Text"/>
              </a:rPr>
              <a:t>Order and Transaction manager</a:t>
            </a:r>
            <a:endParaRPr lang="en-GB" sz="1400">
              <a:solidFill>
                <a:srgbClr val="000000"/>
              </a:solidFill>
              <a:latin typeface="Santander Text" panose="020B0504020201020104" pitchFamily="34" charset="0"/>
            </a:endParaRPr>
          </a:p>
        </p:txBody>
      </p:sp>
      <p:cxnSp>
        <p:nvCxnSpPr>
          <p:cNvPr id="22" name="Conector recto 21">
            <a:extLst>
              <a:ext uri="{FF2B5EF4-FFF2-40B4-BE49-F238E27FC236}">
                <a16:creationId xmlns:a16="http://schemas.microsoft.com/office/drawing/2014/main" id="{9D89387A-7AD1-6E2D-3141-694A98DD441A}"/>
              </a:ext>
            </a:extLst>
          </p:cNvPr>
          <p:cNvCxnSpPr>
            <a:cxnSpLocks/>
          </p:cNvCxnSpPr>
          <p:nvPr/>
        </p:nvCxnSpPr>
        <p:spPr>
          <a:xfrm flipH="1" flipV="1">
            <a:off x="711024" y="1933750"/>
            <a:ext cx="5112000" cy="0"/>
          </a:xfrm>
          <a:prstGeom prst="line">
            <a:avLst/>
          </a:prstGeom>
          <a:noFill/>
          <a:ln w="12700" cap="flat" cmpd="sng" algn="ctr">
            <a:solidFill>
              <a:srgbClr val="595959"/>
            </a:solidFill>
            <a:prstDash val="solid"/>
            <a:miter lim="800000"/>
          </a:ln>
          <a:effectLst/>
        </p:spPr>
      </p:cxnSp>
      <p:sp>
        <p:nvSpPr>
          <p:cNvPr id="23" name="CuadroTexto 22">
            <a:extLst>
              <a:ext uri="{FF2B5EF4-FFF2-40B4-BE49-F238E27FC236}">
                <a16:creationId xmlns:a16="http://schemas.microsoft.com/office/drawing/2014/main" id="{F62B352A-9FCA-0334-02DA-FE2764E0ACC8}"/>
              </a:ext>
            </a:extLst>
          </p:cNvPr>
          <p:cNvSpPr txBox="1"/>
          <p:nvPr/>
        </p:nvSpPr>
        <p:spPr>
          <a:xfrm>
            <a:off x="2192764" y="2213567"/>
            <a:ext cx="3658438" cy="909402"/>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0" cap="none" spc="0" normalizeH="0" baseline="0" noProof="0">
                <a:ln>
                  <a:noFill/>
                </a:ln>
                <a:solidFill>
                  <a:prstClr val="black"/>
                </a:solidFill>
                <a:effectLst/>
                <a:uLnTx/>
                <a:uFillTx/>
                <a:latin typeface="Santander Text"/>
                <a:ea typeface="+mn-ea"/>
                <a:cs typeface="+mn-cs"/>
              </a:rPr>
              <a:t>Configurable Installments engine supporting short- and long-term installments loans.</a:t>
            </a:r>
          </a:p>
        </p:txBody>
      </p:sp>
      <p:cxnSp>
        <p:nvCxnSpPr>
          <p:cNvPr id="24" name="Conector recto 23">
            <a:extLst>
              <a:ext uri="{FF2B5EF4-FFF2-40B4-BE49-F238E27FC236}">
                <a16:creationId xmlns:a16="http://schemas.microsoft.com/office/drawing/2014/main" id="{7A127FCA-BD63-9A0F-CDF3-CEB2B7A2D637}"/>
              </a:ext>
            </a:extLst>
          </p:cNvPr>
          <p:cNvCxnSpPr>
            <a:cxnSpLocks/>
          </p:cNvCxnSpPr>
          <p:nvPr/>
        </p:nvCxnSpPr>
        <p:spPr>
          <a:xfrm flipH="1" flipV="1">
            <a:off x="684799" y="3060921"/>
            <a:ext cx="5112000" cy="0"/>
          </a:xfrm>
          <a:prstGeom prst="line">
            <a:avLst/>
          </a:prstGeom>
          <a:noFill/>
          <a:ln w="12700" cap="flat" cmpd="sng" algn="ctr">
            <a:solidFill>
              <a:schemeClr val="bg1">
                <a:lumMod val="85000"/>
              </a:schemeClr>
            </a:solidFill>
            <a:prstDash val="solid"/>
            <a:miter lim="800000"/>
          </a:ln>
          <a:effectLst/>
        </p:spPr>
      </p:cxnSp>
      <p:sp>
        <p:nvSpPr>
          <p:cNvPr id="26" name="CuadroTexto 25">
            <a:extLst>
              <a:ext uri="{FF2B5EF4-FFF2-40B4-BE49-F238E27FC236}">
                <a16:creationId xmlns:a16="http://schemas.microsoft.com/office/drawing/2014/main" id="{1D550F5C-38ED-5575-7508-0EE6C4B8B08C}"/>
              </a:ext>
            </a:extLst>
          </p:cNvPr>
          <p:cNvSpPr txBox="1"/>
          <p:nvPr/>
        </p:nvSpPr>
        <p:spPr>
          <a:xfrm>
            <a:off x="2192764" y="3515437"/>
            <a:ext cx="3630260" cy="461665"/>
          </a:xfrm>
          <a:prstGeom prst="rect">
            <a:avLst/>
          </a:prstGeom>
          <a:noFill/>
        </p:spPr>
        <p:txBody>
          <a:bodyPr wrap="square">
            <a:spAutoFit/>
          </a:bodyPr>
          <a:lstStyle/>
          <a:p>
            <a:pPr marL="180000" indent="-180000">
              <a:buClr>
                <a:srgbClr val="FF0000"/>
              </a:buClr>
              <a:buFont typeface="Wingdings" panose="05000000000000000000" pitchFamily="2" charset="2"/>
              <a:buChar char="§"/>
              <a:defRPr/>
            </a:pPr>
            <a:r>
              <a:rPr lang="en-US" sz="1200"/>
              <a:t>Loyalty program, supporting both awarding and redeeming points.</a:t>
            </a:r>
          </a:p>
        </p:txBody>
      </p:sp>
      <p:cxnSp>
        <p:nvCxnSpPr>
          <p:cNvPr id="27" name="Conector recto 26">
            <a:extLst>
              <a:ext uri="{FF2B5EF4-FFF2-40B4-BE49-F238E27FC236}">
                <a16:creationId xmlns:a16="http://schemas.microsoft.com/office/drawing/2014/main" id="{20DE4BC0-968E-2538-4B7F-82B1720AF298}"/>
              </a:ext>
            </a:extLst>
          </p:cNvPr>
          <p:cNvCxnSpPr>
            <a:cxnSpLocks/>
          </p:cNvCxnSpPr>
          <p:nvPr/>
        </p:nvCxnSpPr>
        <p:spPr>
          <a:xfrm flipH="1" flipV="1">
            <a:off x="684799" y="4671161"/>
            <a:ext cx="5112000" cy="0"/>
          </a:xfrm>
          <a:prstGeom prst="line">
            <a:avLst/>
          </a:prstGeom>
          <a:noFill/>
          <a:ln w="12700" cap="flat" cmpd="sng" algn="ctr">
            <a:solidFill>
              <a:schemeClr val="bg1">
                <a:lumMod val="85000"/>
              </a:schemeClr>
            </a:solidFill>
            <a:prstDash val="solid"/>
            <a:miter lim="800000"/>
          </a:ln>
          <a:effectLst/>
        </p:spPr>
      </p:cxnSp>
      <p:sp>
        <p:nvSpPr>
          <p:cNvPr id="34" name="CuadroTexto 33">
            <a:extLst>
              <a:ext uri="{FF2B5EF4-FFF2-40B4-BE49-F238E27FC236}">
                <a16:creationId xmlns:a16="http://schemas.microsoft.com/office/drawing/2014/main" id="{C03371D0-F093-363A-BC6D-0E78F8056F74}"/>
              </a:ext>
            </a:extLst>
          </p:cNvPr>
          <p:cNvSpPr txBox="1"/>
          <p:nvPr/>
        </p:nvSpPr>
        <p:spPr>
          <a:xfrm>
            <a:off x="7723898" y="3152208"/>
            <a:ext cx="4004805" cy="909402"/>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rPr>
              <a:t>Financing is providing an accounting feed to support proper accounting into </a:t>
            </a:r>
            <a:r>
              <a:rPr kumimoji="0" lang="en-US" sz="1200" b="0" i="0" u="none" strike="noStrike" kern="1200" cap="none" spc="0" normalizeH="0" baseline="0" noProof="0" err="1">
                <a:ln>
                  <a:noFill/>
                </a:ln>
                <a:solidFill>
                  <a:prstClr val="black"/>
                </a:solidFill>
                <a:effectLst/>
                <a:uLnTx/>
                <a:uFillTx/>
                <a:latin typeface="Santander Text" panose="020B0504020201020104" pitchFamily="34" charset="0"/>
                <a:ea typeface="+mn-ea"/>
                <a:cs typeface="+mn-cs"/>
              </a:rPr>
              <a:t>Openbank’s</a:t>
            </a:r>
            <a:r>
              <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rPr>
              <a:t> ledger. </a:t>
            </a:r>
          </a:p>
        </p:txBody>
      </p:sp>
      <p:cxnSp>
        <p:nvCxnSpPr>
          <p:cNvPr id="35" name="Conector recto 34">
            <a:extLst>
              <a:ext uri="{FF2B5EF4-FFF2-40B4-BE49-F238E27FC236}">
                <a16:creationId xmlns:a16="http://schemas.microsoft.com/office/drawing/2014/main" id="{326554CD-9798-77AA-B7EB-CB646AE731E0}"/>
              </a:ext>
            </a:extLst>
          </p:cNvPr>
          <p:cNvCxnSpPr>
            <a:cxnSpLocks/>
          </p:cNvCxnSpPr>
          <p:nvPr/>
        </p:nvCxnSpPr>
        <p:spPr>
          <a:xfrm flipH="1" flipV="1">
            <a:off x="6177175" y="3884368"/>
            <a:ext cx="5112000" cy="0"/>
          </a:xfrm>
          <a:prstGeom prst="line">
            <a:avLst/>
          </a:prstGeom>
          <a:noFill/>
          <a:ln w="12700" cap="flat" cmpd="sng" algn="ctr">
            <a:solidFill>
              <a:schemeClr val="bg1">
                <a:lumMod val="85000"/>
              </a:schemeClr>
            </a:solidFill>
            <a:prstDash val="solid"/>
            <a:miter lim="800000"/>
          </a:ln>
          <a:effectLst/>
        </p:spPr>
      </p:cxnSp>
      <p:cxnSp>
        <p:nvCxnSpPr>
          <p:cNvPr id="37" name="Conector recto 36">
            <a:extLst>
              <a:ext uri="{FF2B5EF4-FFF2-40B4-BE49-F238E27FC236}">
                <a16:creationId xmlns:a16="http://schemas.microsoft.com/office/drawing/2014/main" id="{2A91E1C0-BC2E-FF9D-96A9-C30DD2B7099E}"/>
              </a:ext>
            </a:extLst>
          </p:cNvPr>
          <p:cNvCxnSpPr>
            <a:cxnSpLocks/>
          </p:cNvCxnSpPr>
          <p:nvPr/>
        </p:nvCxnSpPr>
        <p:spPr>
          <a:xfrm flipH="1" flipV="1">
            <a:off x="6177175" y="4671161"/>
            <a:ext cx="5112000" cy="0"/>
          </a:xfrm>
          <a:prstGeom prst="line">
            <a:avLst/>
          </a:prstGeom>
          <a:noFill/>
          <a:ln w="12700" cap="flat" cmpd="sng" algn="ctr">
            <a:solidFill>
              <a:schemeClr val="bg1">
                <a:lumMod val="85000"/>
              </a:schemeClr>
            </a:solidFill>
            <a:prstDash val="solid"/>
            <a:miter lim="800000"/>
          </a:ln>
          <a:effectLst/>
        </p:spPr>
      </p:cxnSp>
      <p:sp>
        <p:nvSpPr>
          <p:cNvPr id="38" name="Rectángulo 37">
            <a:extLst>
              <a:ext uri="{FF2B5EF4-FFF2-40B4-BE49-F238E27FC236}">
                <a16:creationId xmlns:a16="http://schemas.microsoft.com/office/drawing/2014/main" id="{464CB674-327D-CE88-6BF4-3E13A9B4DD4D}"/>
              </a:ext>
            </a:extLst>
          </p:cNvPr>
          <p:cNvSpPr/>
          <p:nvPr/>
        </p:nvSpPr>
        <p:spPr>
          <a:xfrm>
            <a:off x="6198045" y="3243087"/>
            <a:ext cx="1440000" cy="462581"/>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algn="ctr"/>
            <a:r>
              <a:rPr lang="en-US" sz="1200" kern="0">
                <a:solidFill>
                  <a:srgbClr val="224751"/>
                </a:solidFill>
                <a:ea typeface="+mn-lt"/>
                <a:cs typeface="+mn-lt"/>
              </a:rPr>
              <a:t>Finance &amp; Accounting</a:t>
            </a:r>
          </a:p>
        </p:txBody>
      </p:sp>
      <p:sp>
        <p:nvSpPr>
          <p:cNvPr id="39" name="Rectángulo 38">
            <a:extLst>
              <a:ext uri="{FF2B5EF4-FFF2-40B4-BE49-F238E27FC236}">
                <a16:creationId xmlns:a16="http://schemas.microsoft.com/office/drawing/2014/main" id="{682317FF-3647-4673-045E-33350FE9B105}"/>
              </a:ext>
            </a:extLst>
          </p:cNvPr>
          <p:cNvSpPr/>
          <p:nvPr/>
        </p:nvSpPr>
        <p:spPr>
          <a:xfrm>
            <a:off x="6198045" y="4934466"/>
            <a:ext cx="1440000" cy="387183"/>
          </a:xfrm>
          <a:prstGeom prst="rect">
            <a:avLst/>
          </a:prstGeom>
          <a:noFill/>
          <a:ln w="12700" cap="flat" cmpd="sng" algn="ctr">
            <a:solidFill>
              <a:schemeClr val="bg1">
                <a:lumMod val="50000"/>
              </a:schemeClr>
            </a:solidFill>
            <a:prstDash val="solid"/>
            <a:miter lim="800000"/>
          </a:ln>
          <a:effectLst/>
        </p:spPr>
        <p:txBody>
          <a:bodyPr lIns="72000" rIns="72000" rtlCol="0" anchor="ctr"/>
          <a:lstStyle/>
          <a:p>
            <a:pPr algn="ctr"/>
            <a:r>
              <a:rPr lang="en-US" sz="1200" kern="0">
                <a:solidFill>
                  <a:srgbClr val="224751"/>
                </a:solidFill>
                <a:ea typeface="+mn-lt"/>
                <a:cs typeface="+mn-lt"/>
              </a:rPr>
              <a:t>Reporting</a:t>
            </a:r>
          </a:p>
        </p:txBody>
      </p:sp>
      <p:sp>
        <p:nvSpPr>
          <p:cNvPr id="42" name="Rectángulo 41">
            <a:extLst>
              <a:ext uri="{FF2B5EF4-FFF2-40B4-BE49-F238E27FC236}">
                <a16:creationId xmlns:a16="http://schemas.microsoft.com/office/drawing/2014/main" id="{EB255634-E430-C0ED-BB45-E7C87012789A}"/>
              </a:ext>
            </a:extLst>
          </p:cNvPr>
          <p:cNvSpPr/>
          <p:nvPr/>
        </p:nvSpPr>
        <p:spPr>
          <a:xfrm>
            <a:off x="6198045" y="4050703"/>
            <a:ext cx="1440000" cy="442909"/>
          </a:xfrm>
          <a:prstGeom prst="rect">
            <a:avLst/>
          </a:prstGeom>
          <a:noFill/>
          <a:ln w="12700" cap="flat" cmpd="sng" algn="ctr">
            <a:solidFill>
              <a:schemeClr val="bg1">
                <a:lumMod val="50000"/>
              </a:schemeClr>
            </a:solidFill>
            <a:prstDash val="solid"/>
            <a:miter lim="800000"/>
          </a:ln>
          <a:effectLst/>
        </p:spPr>
        <p:txBody>
          <a:bodyPr lIns="72000" rIns="72000" rtlCol="0" anchor="ctr"/>
          <a:lstStyle/>
          <a:p>
            <a:pPr algn="ctr"/>
            <a:r>
              <a:rPr lang="en-GB" sz="1200" kern="0">
                <a:solidFill>
                  <a:srgbClr val="224751"/>
                </a:solidFill>
                <a:ea typeface="+mn-lt"/>
                <a:cs typeface="+mn-lt"/>
              </a:rPr>
              <a:t>Collections</a:t>
            </a:r>
            <a:endParaRPr lang="en-US" sz="1200" kern="0">
              <a:solidFill>
                <a:srgbClr val="224751"/>
              </a:solidFill>
              <a:ea typeface="+mn-lt"/>
              <a:cs typeface="+mn-lt"/>
            </a:endParaRPr>
          </a:p>
        </p:txBody>
      </p:sp>
      <p:sp>
        <p:nvSpPr>
          <p:cNvPr id="46" name="CuadroTexto 45">
            <a:extLst>
              <a:ext uri="{FF2B5EF4-FFF2-40B4-BE49-F238E27FC236}">
                <a16:creationId xmlns:a16="http://schemas.microsoft.com/office/drawing/2014/main" id="{FAF5A275-58DB-5A2C-FE67-DAE0E15D0AE2}"/>
              </a:ext>
            </a:extLst>
          </p:cNvPr>
          <p:cNvSpPr txBox="1"/>
          <p:nvPr/>
        </p:nvSpPr>
        <p:spPr>
          <a:xfrm>
            <a:off x="2192764" y="4861727"/>
            <a:ext cx="3630260" cy="646331"/>
          </a:xfrm>
          <a:prstGeom prst="rect">
            <a:avLst/>
          </a:prstGeom>
          <a:noFill/>
        </p:spPr>
        <p:txBody>
          <a:bodyPr wrap="square">
            <a:spAutoFit/>
          </a:bodyPr>
          <a:lstStyle/>
          <a:p>
            <a:pPr marL="180000" indent="-180000">
              <a:buClr>
                <a:srgbClr val="FF0000"/>
              </a:buClr>
              <a:buFont typeface="Wingdings" panose="05000000000000000000" pitchFamily="2" charset="2"/>
              <a:buChar char="§"/>
              <a:defRPr/>
            </a:pPr>
            <a:r>
              <a:rPr lang="en-US" sz="1200"/>
              <a:t>Supports cobranded cards issuing capabilities and supporting the merchant-branded cards</a:t>
            </a:r>
          </a:p>
          <a:p>
            <a:pPr marR="0" lvl="0" algn="l" defTabSz="914400" rtl="0" eaLnBrk="1" fontAlgn="auto" latinLnBrk="0" hangingPunct="1">
              <a:lnSpc>
                <a:spcPct val="100000"/>
              </a:lnSpc>
              <a:spcBef>
                <a:spcPts val="0"/>
              </a:spcBef>
              <a:spcAft>
                <a:spcPts val="0"/>
              </a:spcAft>
              <a:buClr>
                <a:srgbClr val="FF0000"/>
              </a:buClr>
              <a:buSzTx/>
              <a:tabLst/>
              <a:defRPr/>
            </a:pPr>
            <a:endParaRPr kumimoji="0" lang="en-US" sz="1200" b="0" i="0" u="none" strike="noStrike" kern="0" cap="none" spc="0" normalizeH="0" baseline="0" noProof="0">
              <a:ln>
                <a:noFill/>
              </a:ln>
              <a:solidFill>
                <a:prstClr val="black"/>
              </a:solidFill>
              <a:effectLst/>
              <a:uLnTx/>
              <a:uFillTx/>
              <a:latin typeface="Santander Text"/>
              <a:ea typeface="+mn-ea"/>
              <a:cs typeface="+mn-cs"/>
            </a:endParaRPr>
          </a:p>
        </p:txBody>
      </p:sp>
      <p:cxnSp>
        <p:nvCxnSpPr>
          <p:cNvPr id="47" name="Conector recto 46">
            <a:extLst>
              <a:ext uri="{FF2B5EF4-FFF2-40B4-BE49-F238E27FC236}">
                <a16:creationId xmlns:a16="http://schemas.microsoft.com/office/drawing/2014/main" id="{7A961911-F3D5-9A89-70F0-3B24C8A3FF1E}"/>
              </a:ext>
            </a:extLst>
          </p:cNvPr>
          <p:cNvCxnSpPr>
            <a:cxnSpLocks/>
          </p:cNvCxnSpPr>
          <p:nvPr/>
        </p:nvCxnSpPr>
        <p:spPr>
          <a:xfrm flipH="1" flipV="1">
            <a:off x="684799" y="5650097"/>
            <a:ext cx="5112000" cy="0"/>
          </a:xfrm>
          <a:prstGeom prst="line">
            <a:avLst/>
          </a:prstGeom>
          <a:noFill/>
          <a:ln w="12700" cap="flat" cmpd="sng" algn="ctr">
            <a:solidFill>
              <a:schemeClr val="bg1">
                <a:lumMod val="85000"/>
              </a:schemeClr>
            </a:solidFill>
            <a:prstDash val="solid"/>
            <a:miter lim="800000"/>
          </a:ln>
          <a:effectLst/>
        </p:spPr>
      </p:cxnSp>
      <p:sp>
        <p:nvSpPr>
          <p:cNvPr id="48" name="CuadroTexto 47">
            <a:extLst>
              <a:ext uri="{FF2B5EF4-FFF2-40B4-BE49-F238E27FC236}">
                <a16:creationId xmlns:a16="http://schemas.microsoft.com/office/drawing/2014/main" id="{27CBB4FC-AFD5-961E-373B-982091018210}"/>
              </a:ext>
            </a:extLst>
          </p:cNvPr>
          <p:cNvSpPr txBox="1"/>
          <p:nvPr/>
        </p:nvSpPr>
        <p:spPr>
          <a:xfrm>
            <a:off x="7658915" y="2129641"/>
            <a:ext cx="3630260" cy="646331"/>
          </a:xfrm>
          <a:prstGeom prst="rect">
            <a:avLst/>
          </a:prstGeom>
          <a:noFill/>
        </p:spPr>
        <p:txBody>
          <a:bodyPr wrap="square">
            <a:spAutoFit/>
          </a:bodyPr>
          <a:lstStyle/>
          <a:p>
            <a:pPr marL="180000" indent="-180000">
              <a:buClr>
                <a:srgbClr val="FF0000"/>
              </a:buClr>
              <a:buFont typeface="Wingdings" panose="05000000000000000000" pitchFamily="2" charset="2"/>
              <a:buChar char="§"/>
              <a:defRPr/>
            </a:pPr>
            <a:r>
              <a:rPr lang="en-US" sz="1200"/>
              <a:t>Configurable settlement and billing calculation engine, supporting </a:t>
            </a:r>
            <a:r>
              <a:rPr lang="en-US" sz="1200" err="1"/>
              <a:t>brutto</a:t>
            </a:r>
            <a:r>
              <a:rPr lang="en-US" sz="1200"/>
              <a:t> and </a:t>
            </a:r>
            <a:r>
              <a:rPr lang="en-US" sz="1200" err="1"/>
              <a:t>netto</a:t>
            </a:r>
            <a:r>
              <a:rPr lang="en-US" sz="1200"/>
              <a:t> models.</a:t>
            </a:r>
          </a:p>
          <a:p>
            <a:pPr>
              <a:buClr>
                <a:srgbClr val="FF0000"/>
              </a:buClr>
              <a:defRPr/>
            </a:pPr>
            <a:endParaRPr kumimoji="0" lang="en-US" sz="1200" b="0" i="0" u="none" strike="noStrike" kern="0" cap="none" spc="0" normalizeH="0" baseline="0" noProof="0">
              <a:ln>
                <a:noFill/>
              </a:ln>
              <a:solidFill>
                <a:prstClr val="black"/>
              </a:solidFill>
              <a:effectLst/>
              <a:uLnTx/>
              <a:uFillTx/>
              <a:latin typeface="Santander Text"/>
              <a:ea typeface="+mn-ea"/>
              <a:cs typeface="+mn-cs"/>
            </a:endParaRPr>
          </a:p>
        </p:txBody>
      </p:sp>
      <p:sp>
        <p:nvSpPr>
          <p:cNvPr id="50" name="CuadroTexto 49">
            <a:extLst>
              <a:ext uri="{FF2B5EF4-FFF2-40B4-BE49-F238E27FC236}">
                <a16:creationId xmlns:a16="http://schemas.microsoft.com/office/drawing/2014/main" id="{1F4BDA98-EA71-CE65-B65B-18CF913CF0EB}"/>
              </a:ext>
            </a:extLst>
          </p:cNvPr>
          <p:cNvSpPr txBox="1"/>
          <p:nvPr/>
        </p:nvSpPr>
        <p:spPr>
          <a:xfrm>
            <a:off x="7723898" y="4872635"/>
            <a:ext cx="4248645" cy="461665"/>
          </a:xfrm>
          <a:prstGeom prst="rect">
            <a:avLst/>
          </a:prstGeom>
          <a:noFill/>
        </p:spPr>
        <p:txBody>
          <a:bodyPr wrap="square">
            <a:spAutoFit/>
          </a:bodyPr>
          <a:lstStyle/>
          <a:p>
            <a:pPr marL="180000" lvl="1" indent="-180000">
              <a:buClr>
                <a:srgbClr val="FF0000"/>
              </a:buClr>
              <a:buFont typeface="Wingdings" panose="05000000000000000000" pitchFamily="2" charset="2"/>
              <a:buChar char="§"/>
              <a:defRPr/>
            </a:pPr>
            <a:r>
              <a:rPr lang="en-US" sz="1200"/>
              <a:t>Providing dunning lifecycle support and integrating with local third-party agencies</a:t>
            </a:r>
            <a:r>
              <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rPr>
              <a:t>.</a:t>
            </a:r>
          </a:p>
        </p:txBody>
      </p:sp>
      <p:sp>
        <p:nvSpPr>
          <p:cNvPr id="55" name="CuadroTexto 54">
            <a:extLst>
              <a:ext uri="{FF2B5EF4-FFF2-40B4-BE49-F238E27FC236}">
                <a16:creationId xmlns:a16="http://schemas.microsoft.com/office/drawing/2014/main" id="{F69E5B4A-D968-D8C0-1B86-AC821DB66236}"/>
              </a:ext>
            </a:extLst>
          </p:cNvPr>
          <p:cNvSpPr txBox="1"/>
          <p:nvPr/>
        </p:nvSpPr>
        <p:spPr>
          <a:xfrm>
            <a:off x="7733441" y="4004265"/>
            <a:ext cx="4095734" cy="646331"/>
          </a:xfrm>
          <a:prstGeom prst="rect">
            <a:avLst/>
          </a:prstGeom>
          <a:noFill/>
        </p:spPr>
        <p:txBody>
          <a:bodyPr wrap="square">
            <a:spAutoFit/>
          </a:bodyPr>
          <a:lstStyle/>
          <a:p>
            <a:pPr marL="180000" lvl="1" indent="-180000">
              <a:buClr>
                <a:srgbClr val="FF0000"/>
              </a:buClr>
              <a:buFont typeface="Wingdings" panose="05000000000000000000" pitchFamily="2" charset="2"/>
              <a:buChar char="§"/>
              <a:defRPr/>
            </a:pPr>
            <a:r>
              <a:rPr lang="en-US" sz="1200"/>
              <a:t>Datalake reporting in batch/real time including accounting, risks, customer insights, etc.</a:t>
            </a:r>
          </a:p>
          <a:p>
            <a:pPr marL="0" marR="0" lvl="1" algn="l" defTabSz="914400" rtl="0" eaLnBrk="1" fontAlgn="auto" latinLnBrk="0" hangingPunct="1">
              <a:lnSpc>
                <a:spcPct val="100000"/>
              </a:lnSpc>
              <a:spcBef>
                <a:spcPts val="0"/>
              </a:spcBef>
              <a:spcAft>
                <a:spcPts val="0"/>
              </a:spcAft>
              <a:buClr>
                <a:srgbClr val="FF0000"/>
              </a:buClr>
              <a:buSzTx/>
              <a:tabLst/>
              <a:defRPr/>
            </a:pPr>
            <a:endPar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endParaRPr>
          </a:p>
        </p:txBody>
      </p:sp>
      <p:cxnSp>
        <p:nvCxnSpPr>
          <p:cNvPr id="59" name="Conector recto 58">
            <a:extLst>
              <a:ext uri="{FF2B5EF4-FFF2-40B4-BE49-F238E27FC236}">
                <a16:creationId xmlns:a16="http://schemas.microsoft.com/office/drawing/2014/main" id="{2F769160-02DE-9C82-E15F-C706F2589E56}"/>
              </a:ext>
            </a:extLst>
          </p:cNvPr>
          <p:cNvCxnSpPr>
            <a:cxnSpLocks/>
          </p:cNvCxnSpPr>
          <p:nvPr/>
        </p:nvCxnSpPr>
        <p:spPr>
          <a:xfrm flipH="1" flipV="1">
            <a:off x="6177175" y="5636648"/>
            <a:ext cx="5112000" cy="0"/>
          </a:xfrm>
          <a:prstGeom prst="line">
            <a:avLst/>
          </a:prstGeom>
          <a:noFill/>
          <a:ln w="12700" cap="flat" cmpd="sng" algn="ctr">
            <a:solidFill>
              <a:schemeClr val="bg1">
                <a:lumMod val="85000"/>
              </a:schemeClr>
            </a:solidFill>
            <a:prstDash val="solid"/>
            <a:miter lim="800000"/>
          </a:ln>
          <a:effectLst/>
        </p:spPr>
      </p:cxnSp>
      <p:sp>
        <p:nvSpPr>
          <p:cNvPr id="8" name="Título 1">
            <a:extLst>
              <a:ext uri="{FF2B5EF4-FFF2-40B4-BE49-F238E27FC236}">
                <a16:creationId xmlns:a16="http://schemas.microsoft.com/office/drawing/2014/main" id="{44120C1E-FFEE-66E0-5D5E-6BA36905BD7B}"/>
              </a:ext>
            </a:extLst>
          </p:cNvPr>
          <p:cNvSpPr txBox="1">
            <a:spLocks/>
          </p:cNvSpPr>
          <p:nvPr/>
        </p:nvSpPr>
        <p:spPr>
          <a:xfrm>
            <a:off x="711024" y="623339"/>
            <a:ext cx="10758733" cy="836992"/>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lang="en-US" sz="2800" b="1" kern="1200" dirty="0">
                <a:solidFill>
                  <a:schemeClr val="accent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s-ES" sz="2800" b="1" i="0" u="none" strike="noStrike" kern="1200" cap="none" spc="0" normalizeH="0" baseline="0" noProof="0">
                <a:ln>
                  <a:noFill/>
                </a:ln>
                <a:solidFill>
                  <a:srgbClr val="EC0000"/>
                </a:solidFill>
                <a:effectLst/>
                <a:uLnTx/>
                <a:uFillTx/>
                <a:latin typeface="Santander Headline"/>
                <a:ea typeface="+mj-ea"/>
                <a:cs typeface="+mj-cs"/>
              </a:rPr>
              <a:t>DCB</a:t>
            </a:r>
            <a:r>
              <a:rPr lang="es-ES">
                <a:solidFill>
                  <a:srgbClr val="EC0000"/>
                </a:solidFill>
                <a:latin typeface="Santander Headline"/>
              </a:rPr>
              <a:t>.</a:t>
            </a:r>
            <a:r>
              <a:rPr kumimoji="0" lang="es-ES" sz="2800" b="1" i="0" u="none" strike="noStrike" kern="1200" cap="none" spc="0" normalizeH="0" baseline="0" noProof="0">
                <a:ln>
                  <a:noFill/>
                </a:ln>
                <a:solidFill>
                  <a:srgbClr val="EC0000"/>
                </a:solidFill>
                <a:effectLst/>
                <a:uLnTx/>
                <a:uFillTx/>
                <a:latin typeface="Santander Headline"/>
                <a:ea typeface="+mj-ea"/>
                <a:cs typeface="+mj-cs"/>
              </a:rPr>
              <a:t> </a:t>
            </a:r>
            <a:r>
              <a:rPr kumimoji="0" lang="en-AU" sz="2800" b="1" i="0" u="none" strike="noStrike" kern="1200" cap="none" spc="0" normalizeH="0" baseline="0" noProof="0">
                <a:ln>
                  <a:noFill/>
                </a:ln>
                <a:solidFill>
                  <a:srgbClr val="BFBFBF"/>
                </a:solidFill>
                <a:effectLst/>
                <a:uLnTx/>
                <a:uFillTx/>
                <a:latin typeface="Santander Headline"/>
                <a:ea typeface="+mj-ea"/>
                <a:cs typeface="+mj-cs"/>
              </a:rPr>
              <a:t>Zinia</a:t>
            </a:r>
          </a:p>
        </p:txBody>
      </p:sp>
      <p:cxnSp>
        <p:nvCxnSpPr>
          <p:cNvPr id="30" name="Conector recto 29">
            <a:extLst>
              <a:ext uri="{FF2B5EF4-FFF2-40B4-BE49-F238E27FC236}">
                <a16:creationId xmlns:a16="http://schemas.microsoft.com/office/drawing/2014/main" id="{BA3209EA-F0C8-7650-6ABB-51A9DC307ADB}"/>
              </a:ext>
            </a:extLst>
          </p:cNvPr>
          <p:cNvCxnSpPr>
            <a:cxnSpLocks/>
          </p:cNvCxnSpPr>
          <p:nvPr/>
        </p:nvCxnSpPr>
        <p:spPr>
          <a:xfrm flipH="1" flipV="1">
            <a:off x="6177175" y="3060921"/>
            <a:ext cx="5652000" cy="0"/>
          </a:xfrm>
          <a:prstGeom prst="line">
            <a:avLst/>
          </a:prstGeom>
          <a:noFill/>
          <a:ln w="12700" cap="flat" cmpd="sng" algn="ctr">
            <a:solidFill>
              <a:schemeClr val="bg1">
                <a:lumMod val="85000"/>
              </a:schemeClr>
            </a:solidFill>
            <a:prstDash val="solid"/>
            <a:miter lim="800000"/>
          </a:ln>
          <a:effectLst/>
        </p:spPr>
      </p:cxnSp>
    </p:spTree>
    <p:extLst>
      <p:ext uri="{BB962C8B-B14F-4D97-AF65-F5344CB8AC3E}">
        <p14:creationId xmlns:p14="http://schemas.microsoft.com/office/powerpoint/2010/main" val="3885848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82ABB-EBC2-85E5-1A21-126451C950BA}"/>
            </a:ext>
          </a:extLst>
        </p:cNvPr>
        <p:cNvGrpSpPr/>
        <p:nvPr/>
      </p:nvGrpSpPr>
      <p:grpSpPr>
        <a:xfrm>
          <a:off x="0" y="0"/>
          <a:ext cx="0" cy="0"/>
          <a:chOff x="0" y="0"/>
          <a:chExt cx="0" cy="0"/>
        </a:xfrm>
      </p:grpSpPr>
      <p:sp>
        <p:nvSpPr>
          <p:cNvPr id="21" name="CuadroTexto 20">
            <a:extLst>
              <a:ext uri="{FF2B5EF4-FFF2-40B4-BE49-F238E27FC236}">
                <a16:creationId xmlns:a16="http://schemas.microsoft.com/office/drawing/2014/main" id="{740F06CB-C1C6-16BB-9649-937661DB5456}"/>
              </a:ext>
            </a:extLst>
          </p:cNvPr>
          <p:cNvSpPr txBox="1"/>
          <p:nvPr/>
        </p:nvSpPr>
        <p:spPr>
          <a:xfrm>
            <a:off x="684799" y="1128886"/>
            <a:ext cx="4391698" cy="592470"/>
          </a:xfrm>
          <a:prstGeom prst="rect">
            <a:avLst/>
          </a:prstGeom>
          <a:noFill/>
        </p:spPr>
        <p:txBody>
          <a:bodyPr wrap="square" rtlCol="0">
            <a:spAutoFit/>
          </a:bodyPr>
          <a:lstStyle/>
          <a:p>
            <a:pPr marL="355600" indent="-355600">
              <a:spcAft>
                <a:spcPts val="300"/>
              </a:spcAft>
            </a:pPr>
            <a:r>
              <a:rPr kumimoji="0" lang="en-AU"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4 - </a:t>
            </a:r>
            <a:r>
              <a:rPr lang="en-GB" sz="1600" b="1">
                <a:solidFill>
                  <a:srgbClr val="DEEDF1">
                    <a:lumMod val="25000"/>
                  </a:srgbClr>
                </a:solidFill>
                <a:latin typeface="Santander Text"/>
              </a:rPr>
              <a:t>Payment Gateways:</a:t>
            </a:r>
            <a:endParaRPr lang="en-GB" sz="1600" b="1">
              <a:solidFill>
                <a:srgbClr val="DEEDF1">
                  <a:lumMod val="25000"/>
                </a:srgbClr>
              </a:solidFill>
              <a:latin typeface="Santander Text" panose="020B0504020201020104" pitchFamily="34" charset="0"/>
            </a:endParaRPr>
          </a:p>
          <a:p>
            <a:r>
              <a:rPr lang="en-GB" sz="1400" i="1">
                <a:solidFill>
                  <a:srgbClr val="DEEDF1">
                    <a:lumMod val="25000"/>
                  </a:srgbClr>
                </a:solidFill>
                <a:latin typeface="Santander Text"/>
              </a:rPr>
              <a:t>Order and Transaction manager</a:t>
            </a:r>
            <a:endParaRPr lang="en-GB" sz="1400">
              <a:solidFill>
                <a:srgbClr val="000000"/>
              </a:solidFill>
              <a:latin typeface="Santander Text" panose="020B0504020201020104" pitchFamily="34" charset="0"/>
            </a:endParaRPr>
          </a:p>
        </p:txBody>
      </p:sp>
      <p:cxnSp>
        <p:nvCxnSpPr>
          <p:cNvPr id="22" name="Conector recto 21">
            <a:extLst>
              <a:ext uri="{FF2B5EF4-FFF2-40B4-BE49-F238E27FC236}">
                <a16:creationId xmlns:a16="http://schemas.microsoft.com/office/drawing/2014/main" id="{3A5C92CD-18B6-E020-FA0C-F56A784F3272}"/>
              </a:ext>
            </a:extLst>
          </p:cNvPr>
          <p:cNvCxnSpPr>
            <a:cxnSpLocks/>
          </p:cNvCxnSpPr>
          <p:nvPr/>
        </p:nvCxnSpPr>
        <p:spPr>
          <a:xfrm flipH="1" flipV="1">
            <a:off x="711024" y="1933750"/>
            <a:ext cx="5112000" cy="0"/>
          </a:xfrm>
          <a:prstGeom prst="line">
            <a:avLst/>
          </a:prstGeom>
          <a:noFill/>
          <a:ln w="12700" cap="flat" cmpd="sng" algn="ctr">
            <a:solidFill>
              <a:srgbClr val="595959"/>
            </a:solidFill>
            <a:prstDash val="solid"/>
            <a:miter lim="800000"/>
          </a:ln>
          <a:effectLst/>
        </p:spPr>
      </p:cxnSp>
      <p:sp>
        <p:nvSpPr>
          <p:cNvPr id="8" name="Título 1">
            <a:extLst>
              <a:ext uri="{FF2B5EF4-FFF2-40B4-BE49-F238E27FC236}">
                <a16:creationId xmlns:a16="http://schemas.microsoft.com/office/drawing/2014/main" id="{3F03FC91-DF38-97E0-189C-680F141C69B1}"/>
              </a:ext>
            </a:extLst>
          </p:cNvPr>
          <p:cNvSpPr txBox="1">
            <a:spLocks/>
          </p:cNvSpPr>
          <p:nvPr/>
        </p:nvSpPr>
        <p:spPr>
          <a:xfrm>
            <a:off x="711024" y="623339"/>
            <a:ext cx="10758733" cy="836992"/>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lang="en-US" sz="2800" b="1" kern="1200" dirty="0">
                <a:solidFill>
                  <a:schemeClr val="accent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s-ES" sz="2800" b="1" i="0" u="none" strike="noStrike" kern="1200" cap="none" spc="0" normalizeH="0" baseline="0" noProof="0">
                <a:ln>
                  <a:noFill/>
                </a:ln>
                <a:solidFill>
                  <a:srgbClr val="EC0000"/>
                </a:solidFill>
                <a:effectLst/>
                <a:uLnTx/>
                <a:uFillTx/>
                <a:latin typeface="Santander Headline"/>
                <a:ea typeface="+mj-ea"/>
                <a:cs typeface="+mj-cs"/>
              </a:rPr>
              <a:t>DCB</a:t>
            </a:r>
            <a:r>
              <a:rPr lang="es-ES">
                <a:solidFill>
                  <a:srgbClr val="EC0000"/>
                </a:solidFill>
                <a:latin typeface="Santander Headline"/>
              </a:rPr>
              <a:t>.</a:t>
            </a:r>
            <a:r>
              <a:rPr kumimoji="0" lang="es-ES" sz="2800" b="1" i="0" u="none" strike="noStrike" kern="1200" cap="none" spc="0" normalizeH="0" baseline="0" noProof="0">
                <a:ln>
                  <a:noFill/>
                </a:ln>
                <a:solidFill>
                  <a:srgbClr val="EC0000"/>
                </a:solidFill>
                <a:effectLst/>
                <a:uLnTx/>
                <a:uFillTx/>
                <a:latin typeface="Santander Headline"/>
                <a:ea typeface="+mj-ea"/>
                <a:cs typeface="+mj-cs"/>
              </a:rPr>
              <a:t> </a:t>
            </a:r>
            <a:r>
              <a:rPr kumimoji="0" lang="en-AU" sz="2800" b="1" i="0" u="none" strike="noStrike" kern="1200" cap="none" spc="0" normalizeH="0" baseline="0" noProof="0">
                <a:ln>
                  <a:noFill/>
                </a:ln>
                <a:solidFill>
                  <a:srgbClr val="BFBFBF"/>
                </a:solidFill>
                <a:effectLst/>
                <a:uLnTx/>
                <a:uFillTx/>
                <a:latin typeface="Santander Headline"/>
                <a:ea typeface="+mj-ea"/>
                <a:cs typeface="+mj-cs"/>
              </a:rPr>
              <a:t>Zinia</a:t>
            </a:r>
          </a:p>
        </p:txBody>
      </p:sp>
      <p:sp>
        <p:nvSpPr>
          <p:cNvPr id="9" name="TextBox 26">
            <a:extLst>
              <a:ext uri="{FF2B5EF4-FFF2-40B4-BE49-F238E27FC236}">
                <a16:creationId xmlns:a16="http://schemas.microsoft.com/office/drawing/2014/main" id="{CF3B4C2F-12FE-EF18-1070-8BAE8CAFF0CD}"/>
              </a:ext>
            </a:extLst>
          </p:cNvPr>
          <p:cNvSpPr txBox="1"/>
          <p:nvPr/>
        </p:nvSpPr>
        <p:spPr>
          <a:xfrm>
            <a:off x="8589216" y="8537418"/>
            <a:ext cx="3813408" cy="523220"/>
          </a:xfrm>
          <a:prstGeom prst="rect">
            <a:avLst/>
          </a:prstGeom>
          <a:solidFill>
            <a:srgbClr val="FFEEDD"/>
          </a:solidFill>
          <a:ln>
            <a:solidFill>
              <a:srgbClr val="053840"/>
            </a:solidFill>
          </a:ln>
        </p:spPr>
        <p:txBody>
          <a:bodyPr wrap="square" lIns="91440" tIns="45720" rIns="91440" bIns="45720" anchor="t">
            <a:spAutoFit/>
          </a:bodyPr>
          <a:lstStyle>
            <a:defPPr>
              <a:defRPr lang="es-ES"/>
            </a:defPPr>
            <a:lvl1pPr>
              <a:defRPr sz="1400">
                <a:ea typeface="+mn-lt"/>
                <a:cs typeface="+mn-lt"/>
              </a:defRPr>
            </a:lvl1pPr>
          </a:lstStyle>
          <a:p>
            <a:r>
              <a:rPr lang="en-US"/>
              <a:t>Customer payment processing managed by DD transfer using </a:t>
            </a:r>
            <a:r>
              <a:rPr lang="en-US" err="1"/>
              <a:t>Openbank</a:t>
            </a:r>
            <a:r>
              <a:rPr lang="en-US"/>
              <a:t> gateway.</a:t>
            </a:r>
          </a:p>
        </p:txBody>
      </p:sp>
      <p:sp>
        <p:nvSpPr>
          <p:cNvPr id="3" name="Rectángulo 2">
            <a:extLst>
              <a:ext uri="{FF2B5EF4-FFF2-40B4-BE49-F238E27FC236}">
                <a16:creationId xmlns:a16="http://schemas.microsoft.com/office/drawing/2014/main" id="{D3B9A3E2-9C9F-4A39-C23B-ECA76E698EF6}"/>
              </a:ext>
            </a:extLst>
          </p:cNvPr>
          <p:cNvSpPr/>
          <p:nvPr/>
        </p:nvSpPr>
        <p:spPr>
          <a:xfrm>
            <a:off x="711024" y="3510703"/>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algn="ctr"/>
            <a:r>
              <a:rPr lang="en-GB" sz="1200" kern="0">
                <a:solidFill>
                  <a:srgbClr val="224751"/>
                </a:solidFill>
                <a:ea typeface="+mn-lt"/>
                <a:cs typeface="+mn-lt"/>
              </a:rPr>
              <a:t>Pay Now</a:t>
            </a:r>
          </a:p>
        </p:txBody>
      </p:sp>
      <p:sp>
        <p:nvSpPr>
          <p:cNvPr id="4" name="Rectángulo 3">
            <a:extLst>
              <a:ext uri="{FF2B5EF4-FFF2-40B4-BE49-F238E27FC236}">
                <a16:creationId xmlns:a16="http://schemas.microsoft.com/office/drawing/2014/main" id="{C61997FD-A70F-816E-C1E4-5468D973D925}"/>
              </a:ext>
            </a:extLst>
          </p:cNvPr>
          <p:cNvSpPr/>
          <p:nvPr/>
        </p:nvSpPr>
        <p:spPr>
          <a:xfrm>
            <a:off x="711024" y="4865908"/>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algn="ctr"/>
            <a:r>
              <a:rPr lang="en-US" sz="1200" kern="0">
                <a:solidFill>
                  <a:srgbClr val="224751"/>
                </a:solidFill>
                <a:ea typeface="+mn-lt"/>
                <a:cs typeface="+mn-lt"/>
              </a:rPr>
              <a:t>PSD2 Payments</a:t>
            </a:r>
          </a:p>
        </p:txBody>
      </p:sp>
      <p:sp>
        <p:nvSpPr>
          <p:cNvPr id="5" name="Rectángulo 4">
            <a:extLst>
              <a:ext uri="{FF2B5EF4-FFF2-40B4-BE49-F238E27FC236}">
                <a16:creationId xmlns:a16="http://schemas.microsoft.com/office/drawing/2014/main" id="{1FE11148-5D8F-EF17-7E9B-1A3AD3829A67}"/>
              </a:ext>
            </a:extLst>
          </p:cNvPr>
          <p:cNvSpPr/>
          <p:nvPr/>
        </p:nvSpPr>
        <p:spPr>
          <a:xfrm>
            <a:off x="711024" y="2216018"/>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algn="ctr"/>
            <a:r>
              <a:rPr lang="en-GB" sz="1200" kern="0">
                <a:solidFill>
                  <a:srgbClr val="224751"/>
                </a:solidFill>
                <a:ea typeface="+mn-lt"/>
                <a:cs typeface="+mn-lt"/>
              </a:rPr>
              <a:t>Payment Processing Integration</a:t>
            </a:r>
          </a:p>
        </p:txBody>
      </p:sp>
      <p:sp>
        <p:nvSpPr>
          <p:cNvPr id="6" name="Rectángulo 5">
            <a:extLst>
              <a:ext uri="{FF2B5EF4-FFF2-40B4-BE49-F238E27FC236}">
                <a16:creationId xmlns:a16="http://schemas.microsoft.com/office/drawing/2014/main" id="{D1C5BD63-14CF-EB85-463E-E5915D481130}"/>
              </a:ext>
            </a:extLst>
          </p:cNvPr>
          <p:cNvSpPr/>
          <p:nvPr/>
        </p:nvSpPr>
        <p:spPr>
          <a:xfrm>
            <a:off x="6177175" y="2152055"/>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algn="ctr"/>
            <a:r>
              <a:rPr lang="en-US" sz="1200" kern="0">
                <a:solidFill>
                  <a:srgbClr val="224751"/>
                </a:solidFill>
                <a:ea typeface="+mn-lt"/>
                <a:cs typeface="+mn-lt"/>
              </a:rPr>
              <a:t>Card Payments</a:t>
            </a:r>
          </a:p>
        </p:txBody>
      </p:sp>
      <p:sp>
        <p:nvSpPr>
          <p:cNvPr id="7" name="CuadroTexto 6">
            <a:extLst>
              <a:ext uri="{FF2B5EF4-FFF2-40B4-BE49-F238E27FC236}">
                <a16:creationId xmlns:a16="http://schemas.microsoft.com/office/drawing/2014/main" id="{0178FC81-72C1-BD6F-DC41-2BC435F7021D}"/>
              </a:ext>
            </a:extLst>
          </p:cNvPr>
          <p:cNvSpPr txBox="1"/>
          <p:nvPr/>
        </p:nvSpPr>
        <p:spPr>
          <a:xfrm>
            <a:off x="2192764" y="2208145"/>
            <a:ext cx="3658438" cy="909402"/>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0" cap="none" spc="0" normalizeH="0" baseline="0" noProof="0">
                <a:ln>
                  <a:noFill/>
                </a:ln>
                <a:solidFill>
                  <a:prstClr val="black"/>
                </a:solidFill>
                <a:effectLst/>
                <a:uLnTx/>
                <a:uFillTx/>
                <a:latin typeface="Santander Text"/>
                <a:ea typeface="+mn-ea"/>
                <a:cs typeface="+mn-cs"/>
              </a:rPr>
              <a:t>Integrated with different payments rails to support different customers and merchant payment options.</a:t>
            </a:r>
          </a:p>
          <a:p>
            <a:pPr marL="0" marR="0" lvl="0" indent="0" algn="l" defTabSz="914400" rtl="0" eaLnBrk="1" fontAlgn="auto" latinLnBrk="0" hangingPunct="1">
              <a:lnSpc>
                <a:spcPct val="100000"/>
              </a:lnSpc>
              <a:spcBef>
                <a:spcPts val="0"/>
              </a:spcBef>
              <a:spcAft>
                <a:spcPts val="0"/>
              </a:spcAft>
              <a:buClr>
                <a:srgbClr val="FF0000"/>
              </a:buClr>
              <a:buSzTx/>
              <a:buNone/>
              <a:tabLst/>
              <a:defRPr/>
            </a:pPr>
            <a:endParaRPr kumimoji="0" lang="en-US" sz="1200" b="0" i="0" u="none" strike="noStrike" kern="0" cap="none" spc="0" normalizeH="0" baseline="0" noProof="0">
              <a:ln>
                <a:noFill/>
              </a:ln>
              <a:solidFill>
                <a:prstClr val="black"/>
              </a:solidFill>
              <a:effectLst/>
              <a:uLnTx/>
              <a:uFillTx/>
              <a:latin typeface="Santander Text"/>
              <a:ea typeface="+mn-ea"/>
              <a:cs typeface="+mn-cs"/>
            </a:endParaRPr>
          </a:p>
        </p:txBody>
      </p:sp>
      <p:cxnSp>
        <p:nvCxnSpPr>
          <p:cNvPr id="10" name="Conector recto 9">
            <a:extLst>
              <a:ext uri="{FF2B5EF4-FFF2-40B4-BE49-F238E27FC236}">
                <a16:creationId xmlns:a16="http://schemas.microsoft.com/office/drawing/2014/main" id="{FADD9E52-0C52-F9BC-A87B-EEAE0034631D}"/>
              </a:ext>
            </a:extLst>
          </p:cNvPr>
          <p:cNvCxnSpPr>
            <a:cxnSpLocks/>
          </p:cNvCxnSpPr>
          <p:nvPr/>
        </p:nvCxnSpPr>
        <p:spPr>
          <a:xfrm flipH="1" flipV="1">
            <a:off x="684799" y="3060921"/>
            <a:ext cx="5112000" cy="0"/>
          </a:xfrm>
          <a:prstGeom prst="line">
            <a:avLst/>
          </a:prstGeom>
          <a:noFill/>
          <a:ln w="12700" cap="flat" cmpd="sng" algn="ctr">
            <a:solidFill>
              <a:schemeClr val="bg1">
                <a:lumMod val="85000"/>
              </a:schemeClr>
            </a:solidFill>
            <a:prstDash val="solid"/>
            <a:miter lim="800000"/>
          </a:ln>
          <a:effectLst/>
        </p:spPr>
      </p:cxnSp>
      <p:sp>
        <p:nvSpPr>
          <p:cNvPr id="11" name="CuadroTexto 10">
            <a:extLst>
              <a:ext uri="{FF2B5EF4-FFF2-40B4-BE49-F238E27FC236}">
                <a16:creationId xmlns:a16="http://schemas.microsoft.com/office/drawing/2014/main" id="{2E50CE41-284E-6EA4-EABD-FD5CCEE69A9F}"/>
              </a:ext>
            </a:extLst>
          </p:cNvPr>
          <p:cNvSpPr txBox="1"/>
          <p:nvPr/>
        </p:nvSpPr>
        <p:spPr>
          <a:xfrm>
            <a:off x="2192764" y="3488541"/>
            <a:ext cx="3630260" cy="646331"/>
          </a:xfrm>
          <a:prstGeom prst="rect">
            <a:avLst/>
          </a:prstGeom>
          <a:noFill/>
        </p:spPr>
        <p:txBody>
          <a:bodyPr wrap="square">
            <a:spAutoFit/>
          </a:bodyPr>
          <a:lstStyle/>
          <a:p>
            <a:pPr marL="180000" indent="-180000">
              <a:buClr>
                <a:srgbClr val="FF0000"/>
              </a:buClr>
              <a:buFont typeface="Wingdings" panose="05000000000000000000" pitchFamily="2" charset="2"/>
              <a:buChar char="§"/>
              <a:defRPr/>
            </a:pPr>
            <a:r>
              <a:rPr lang="en-US" sz="1200"/>
              <a:t>Pay Now instant credit using cards supporting downpayment for a multi-basket functionality.</a:t>
            </a:r>
          </a:p>
          <a:p>
            <a:pPr>
              <a:buClr>
                <a:srgbClr val="FF0000"/>
              </a:buClr>
              <a:defRPr/>
            </a:pPr>
            <a:endParaRPr lang="en-US" sz="1200"/>
          </a:p>
        </p:txBody>
      </p:sp>
      <p:cxnSp>
        <p:nvCxnSpPr>
          <p:cNvPr id="12" name="Conector recto 11">
            <a:extLst>
              <a:ext uri="{FF2B5EF4-FFF2-40B4-BE49-F238E27FC236}">
                <a16:creationId xmlns:a16="http://schemas.microsoft.com/office/drawing/2014/main" id="{216554B8-65BA-9C40-CA40-95A23EB80772}"/>
              </a:ext>
            </a:extLst>
          </p:cNvPr>
          <p:cNvCxnSpPr>
            <a:cxnSpLocks/>
          </p:cNvCxnSpPr>
          <p:nvPr/>
        </p:nvCxnSpPr>
        <p:spPr>
          <a:xfrm flipH="1" flipV="1">
            <a:off x="684799" y="4422385"/>
            <a:ext cx="5112000" cy="0"/>
          </a:xfrm>
          <a:prstGeom prst="line">
            <a:avLst/>
          </a:prstGeom>
          <a:noFill/>
          <a:ln w="12700" cap="flat" cmpd="sng" algn="ctr">
            <a:solidFill>
              <a:schemeClr val="bg1">
                <a:lumMod val="85000"/>
              </a:schemeClr>
            </a:solidFill>
            <a:prstDash val="solid"/>
            <a:miter lim="800000"/>
          </a:ln>
          <a:effectLst/>
        </p:spPr>
      </p:cxnSp>
      <p:sp>
        <p:nvSpPr>
          <p:cNvPr id="13" name="CuadroTexto 12">
            <a:extLst>
              <a:ext uri="{FF2B5EF4-FFF2-40B4-BE49-F238E27FC236}">
                <a16:creationId xmlns:a16="http://schemas.microsoft.com/office/drawing/2014/main" id="{A9C1BB3D-F66A-BDEB-F42D-004153195063}"/>
              </a:ext>
            </a:extLst>
          </p:cNvPr>
          <p:cNvSpPr txBox="1"/>
          <p:nvPr/>
        </p:nvSpPr>
        <p:spPr>
          <a:xfrm>
            <a:off x="7723898" y="3353923"/>
            <a:ext cx="4004805" cy="909402"/>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rPr>
              <a:t>Customer payment processing managed by SEPA transfer using Openbank gateway. </a:t>
            </a:r>
          </a:p>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endParaRPr kumimoji="0" lang="en-US" sz="1200" b="0" i="0" u="none" strike="noStrike" kern="0" cap="none" spc="0" normalizeH="0" baseline="0" noProof="0">
              <a:ln>
                <a:noFill/>
              </a:ln>
              <a:solidFill>
                <a:prstClr val="black"/>
              </a:solidFill>
              <a:effectLst/>
              <a:uLnTx/>
              <a:uFillTx/>
              <a:latin typeface="Santander Text"/>
              <a:ea typeface="+mn-ea"/>
              <a:cs typeface="+mn-cs"/>
            </a:endParaRPr>
          </a:p>
        </p:txBody>
      </p:sp>
      <p:cxnSp>
        <p:nvCxnSpPr>
          <p:cNvPr id="14" name="Conector recto 13">
            <a:extLst>
              <a:ext uri="{FF2B5EF4-FFF2-40B4-BE49-F238E27FC236}">
                <a16:creationId xmlns:a16="http://schemas.microsoft.com/office/drawing/2014/main" id="{1EA1A76B-D691-1C3A-65FA-D9381F829663}"/>
              </a:ext>
            </a:extLst>
          </p:cNvPr>
          <p:cNvCxnSpPr>
            <a:cxnSpLocks/>
          </p:cNvCxnSpPr>
          <p:nvPr/>
        </p:nvCxnSpPr>
        <p:spPr>
          <a:xfrm flipH="1" flipV="1">
            <a:off x="6177175" y="4415531"/>
            <a:ext cx="5112000" cy="0"/>
          </a:xfrm>
          <a:prstGeom prst="line">
            <a:avLst/>
          </a:prstGeom>
          <a:noFill/>
          <a:ln w="12700" cap="flat" cmpd="sng" algn="ctr">
            <a:solidFill>
              <a:schemeClr val="bg1">
                <a:lumMod val="85000"/>
              </a:schemeClr>
            </a:solidFill>
            <a:prstDash val="solid"/>
            <a:miter lim="800000"/>
          </a:ln>
          <a:effectLst/>
        </p:spPr>
      </p:cxnSp>
      <p:cxnSp>
        <p:nvCxnSpPr>
          <p:cNvPr id="16" name="Conector recto 15">
            <a:extLst>
              <a:ext uri="{FF2B5EF4-FFF2-40B4-BE49-F238E27FC236}">
                <a16:creationId xmlns:a16="http://schemas.microsoft.com/office/drawing/2014/main" id="{08E492A7-1125-BCDF-F974-162269F99C49}"/>
              </a:ext>
            </a:extLst>
          </p:cNvPr>
          <p:cNvCxnSpPr>
            <a:cxnSpLocks/>
          </p:cNvCxnSpPr>
          <p:nvPr/>
        </p:nvCxnSpPr>
        <p:spPr>
          <a:xfrm flipH="1" flipV="1">
            <a:off x="6177175" y="5646081"/>
            <a:ext cx="5112000" cy="0"/>
          </a:xfrm>
          <a:prstGeom prst="line">
            <a:avLst/>
          </a:prstGeom>
          <a:noFill/>
          <a:ln w="12700" cap="flat" cmpd="sng" algn="ctr">
            <a:solidFill>
              <a:schemeClr val="bg1">
                <a:lumMod val="85000"/>
              </a:schemeClr>
            </a:solidFill>
            <a:prstDash val="solid"/>
            <a:miter lim="800000"/>
          </a:ln>
          <a:effectLst/>
        </p:spPr>
      </p:cxnSp>
      <p:sp>
        <p:nvSpPr>
          <p:cNvPr id="17" name="Rectángulo 16">
            <a:extLst>
              <a:ext uri="{FF2B5EF4-FFF2-40B4-BE49-F238E27FC236}">
                <a16:creationId xmlns:a16="http://schemas.microsoft.com/office/drawing/2014/main" id="{5D3C3EB5-C351-3041-DE5B-C678E1101871}"/>
              </a:ext>
            </a:extLst>
          </p:cNvPr>
          <p:cNvSpPr/>
          <p:nvPr/>
        </p:nvSpPr>
        <p:spPr>
          <a:xfrm>
            <a:off x="6177175" y="3397735"/>
            <a:ext cx="1440000" cy="382138"/>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algn="ctr"/>
            <a:r>
              <a:rPr lang="en-US" sz="1200" kern="0">
                <a:solidFill>
                  <a:srgbClr val="224751"/>
                </a:solidFill>
                <a:ea typeface="+mn-lt"/>
                <a:cs typeface="+mn-lt"/>
              </a:rPr>
              <a:t>Bank Transfer Payments</a:t>
            </a:r>
          </a:p>
        </p:txBody>
      </p:sp>
      <p:sp>
        <p:nvSpPr>
          <p:cNvPr id="25" name="Rectángulo 24">
            <a:extLst>
              <a:ext uri="{FF2B5EF4-FFF2-40B4-BE49-F238E27FC236}">
                <a16:creationId xmlns:a16="http://schemas.microsoft.com/office/drawing/2014/main" id="{F71FFC2A-DA71-392B-F1E7-94DD5C92B52F}"/>
              </a:ext>
            </a:extLst>
          </p:cNvPr>
          <p:cNvSpPr/>
          <p:nvPr/>
        </p:nvSpPr>
        <p:spPr>
          <a:xfrm>
            <a:off x="6177175" y="4867250"/>
            <a:ext cx="1440000" cy="387183"/>
          </a:xfrm>
          <a:prstGeom prst="rect">
            <a:avLst/>
          </a:prstGeom>
          <a:noFill/>
          <a:ln w="12700" cap="flat" cmpd="sng" algn="ctr">
            <a:solidFill>
              <a:schemeClr val="bg1">
                <a:lumMod val="50000"/>
              </a:schemeClr>
            </a:solidFill>
            <a:prstDash val="solid"/>
            <a:miter lim="800000"/>
          </a:ln>
          <a:effectLst/>
        </p:spPr>
        <p:txBody>
          <a:bodyPr lIns="72000" rIns="72000" rtlCol="0" anchor="ctr"/>
          <a:lstStyle/>
          <a:p>
            <a:pPr algn="ctr"/>
            <a:r>
              <a:rPr lang="en-US" sz="1200" kern="0">
                <a:solidFill>
                  <a:srgbClr val="224751"/>
                </a:solidFill>
                <a:ea typeface="+mn-lt"/>
                <a:cs typeface="+mn-lt"/>
              </a:rPr>
              <a:t>Direct Debit Payments</a:t>
            </a:r>
          </a:p>
        </p:txBody>
      </p:sp>
      <p:sp>
        <p:nvSpPr>
          <p:cNvPr id="28" name="CuadroTexto 27">
            <a:extLst>
              <a:ext uri="{FF2B5EF4-FFF2-40B4-BE49-F238E27FC236}">
                <a16:creationId xmlns:a16="http://schemas.microsoft.com/office/drawing/2014/main" id="{452F5032-EF0F-DDC7-0CAB-1D64B06BC1CB}"/>
              </a:ext>
            </a:extLst>
          </p:cNvPr>
          <p:cNvSpPr txBox="1"/>
          <p:nvPr/>
        </p:nvSpPr>
        <p:spPr>
          <a:xfrm>
            <a:off x="2192764" y="4909016"/>
            <a:ext cx="3630260" cy="461665"/>
          </a:xfrm>
          <a:prstGeom prst="rect">
            <a:avLst/>
          </a:prstGeom>
          <a:noFill/>
        </p:spPr>
        <p:txBody>
          <a:bodyPr wrap="square">
            <a:spAutoFit/>
          </a:bodyPr>
          <a:lstStyle/>
          <a:p>
            <a:pPr marL="180000" indent="-180000">
              <a:buClr>
                <a:srgbClr val="FF0000"/>
              </a:buClr>
              <a:buFont typeface="Wingdings" panose="05000000000000000000" pitchFamily="2" charset="2"/>
              <a:buChar char="§"/>
              <a:defRPr/>
            </a:pPr>
            <a:r>
              <a:rPr lang="en-US" sz="1200"/>
              <a:t>PDS2 payments integrated in the global platform.</a:t>
            </a:r>
          </a:p>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endParaRPr kumimoji="0" lang="en-US" sz="1200" b="0" i="0" u="none" strike="noStrike" kern="0" cap="none" spc="0" normalizeH="0" baseline="0" noProof="0">
              <a:ln>
                <a:noFill/>
              </a:ln>
              <a:solidFill>
                <a:prstClr val="black"/>
              </a:solidFill>
              <a:effectLst/>
              <a:uLnTx/>
              <a:uFillTx/>
              <a:latin typeface="Santander Text"/>
              <a:ea typeface="+mn-ea"/>
              <a:cs typeface="+mn-cs"/>
            </a:endParaRPr>
          </a:p>
        </p:txBody>
      </p:sp>
      <p:cxnSp>
        <p:nvCxnSpPr>
          <p:cNvPr id="29" name="Conector recto 28">
            <a:extLst>
              <a:ext uri="{FF2B5EF4-FFF2-40B4-BE49-F238E27FC236}">
                <a16:creationId xmlns:a16="http://schemas.microsoft.com/office/drawing/2014/main" id="{7E275EB5-18FA-A498-68EC-628696243177}"/>
              </a:ext>
            </a:extLst>
          </p:cNvPr>
          <p:cNvCxnSpPr>
            <a:cxnSpLocks/>
          </p:cNvCxnSpPr>
          <p:nvPr/>
        </p:nvCxnSpPr>
        <p:spPr>
          <a:xfrm flipH="1" flipV="1">
            <a:off x="684799" y="5650097"/>
            <a:ext cx="5112000" cy="0"/>
          </a:xfrm>
          <a:prstGeom prst="line">
            <a:avLst/>
          </a:prstGeom>
          <a:noFill/>
          <a:ln w="12700" cap="flat" cmpd="sng" algn="ctr">
            <a:solidFill>
              <a:schemeClr val="bg1">
                <a:lumMod val="85000"/>
              </a:schemeClr>
            </a:solidFill>
            <a:prstDash val="solid"/>
            <a:miter lim="800000"/>
          </a:ln>
          <a:effectLst/>
        </p:spPr>
      </p:cxnSp>
      <p:sp>
        <p:nvSpPr>
          <p:cNvPr id="31" name="CuadroTexto 30">
            <a:extLst>
              <a:ext uri="{FF2B5EF4-FFF2-40B4-BE49-F238E27FC236}">
                <a16:creationId xmlns:a16="http://schemas.microsoft.com/office/drawing/2014/main" id="{5BCFB594-EFB9-3F4D-B597-05CC3E34CD17}"/>
              </a:ext>
            </a:extLst>
          </p:cNvPr>
          <p:cNvSpPr txBox="1"/>
          <p:nvPr/>
        </p:nvSpPr>
        <p:spPr>
          <a:xfrm>
            <a:off x="7723898" y="2122481"/>
            <a:ext cx="3630260" cy="646331"/>
          </a:xfrm>
          <a:prstGeom prst="rect">
            <a:avLst/>
          </a:prstGeom>
          <a:noFill/>
        </p:spPr>
        <p:txBody>
          <a:bodyPr wrap="square">
            <a:spAutoFit/>
          </a:bodyPr>
          <a:lstStyle/>
          <a:p>
            <a:pPr marL="180000" indent="-180000">
              <a:buClr>
                <a:srgbClr val="FF0000"/>
              </a:buClr>
              <a:buFont typeface="Wingdings" panose="05000000000000000000" pitchFamily="2" charset="2"/>
              <a:buChar char="§"/>
              <a:defRPr/>
            </a:pPr>
            <a:r>
              <a:rPr lang="en-US" sz="1200"/>
              <a:t>Capability for instant payments using Debit or Credit Card.</a:t>
            </a:r>
          </a:p>
          <a:p>
            <a:pPr marL="180000" indent="-180000">
              <a:buClr>
                <a:srgbClr val="FF0000"/>
              </a:buClr>
              <a:buFont typeface="Wingdings" panose="05000000000000000000" pitchFamily="2" charset="2"/>
              <a:buChar char="§"/>
              <a:defRPr/>
            </a:pPr>
            <a:endParaRPr kumimoji="0" lang="en-US" sz="1200" b="0" i="0" u="none" strike="noStrike" kern="0" cap="none" spc="0" normalizeH="0" baseline="0" noProof="0">
              <a:ln>
                <a:noFill/>
              </a:ln>
              <a:solidFill>
                <a:prstClr val="black"/>
              </a:solidFill>
              <a:effectLst/>
              <a:uLnTx/>
              <a:uFillTx/>
              <a:latin typeface="Santander Text"/>
              <a:ea typeface="+mn-ea"/>
              <a:cs typeface="+mn-cs"/>
            </a:endParaRPr>
          </a:p>
        </p:txBody>
      </p:sp>
      <p:sp>
        <p:nvSpPr>
          <p:cNvPr id="32" name="CuadroTexto 31">
            <a:extLst>
              <a:ext uri="{FF2B5EF4-FFF2-40B4-BE49-F238E27FC236}">
                <a16:creationId xmlns:a16="http://schemas.microsoft.com/office/drawing/2014/main" id="{D685E6AA-2BDF-EE39-453E-BAD32806DA9E}"/>
              </a:ext>
            </a:extLst>
          </p:cNvPr>
          <p:cNvSpPr txBox="1"/>
          <p:nvPr/>
        </p:nvSpPr>
        <p:spPr>
          <a:xfrm>
            <a:off x="7723898" y="4805419"/>
            <a:ext cx="4248645" cy="461665"/>
          </a:xfrm>
          <a:prstGeom prst="rect">
            <a:avLst/>
          </a:prstGeom>
          <a:noFill/>
        </p:spPr>
        <p:txBody>
          <a:bodyPr wrap="square">
            <a:spAutoFit/>
          </a:bodyPr>
          <a:lstStyle/>
          <a:p>
            <a:pPr marL="180000" lvl="1" indent="-180000">
              <a:buClr>
                <a:srgbClr val="FF0000"/>
              </a:buClr>
              <a:buFont typeface="Wingdings" panose="05000000000000000000" pitchFamily="2" charset="2"/>
              <a:buChar char="§"/>
              <a:defRPr/>
            </a:pPr>
            <a:r>
              <a:rPr lang="en-US" sz="1200"/>
              <a:t>Customer payment processing managed by DD transfer using Openbank gateway</a:t>
            </a:r>
            <a:r>
              <a:rPr kumimoji="0" lang="en-US" sz="12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rPr>
              <a:t>.</a:t>
            </a:r>
          </a:p>
        </p:txBody>
      </p:sp>
      <p:cxnSp>
        <p:nvCxnSpPr>
          <p:cNvPr id="33" name="Conector recto 32">
            <a:extLst>
              <a:ext uri="{FF2B5EF4-FFF2-40B4-BE49-F238E27FC236}">
                <a16:creationId xmlns:a16="http://schemas.microsoft.com/office/drawing/2014/main" id="{241EDAC1-460A-4EE1-D5AB-0D89112C45F5}"/>
              </a:ext>
            </a:extLst>
          </p:cNvPr>
          <p:cNvCxnSpPr>
            <a:cxnSpLocks/>
          </p:cNvCxnSpPr>
          <p:nvPr/>
        </p:nvCxnSpPr>
        <p:spPr>
          <a:xfrm flipH="1" flipV="1">
            <a:off x="6177175" y="3060921"/>
            <a:ext cx="5652000" cy="0"/>
          </a:xfrm>
          <a:prstGeom prst="line">
            <a:avLst/>
          </a:prstGeom>
          <a:noFill/>
          <a:ln w="12700" cap="flat" cmpd="sng" algn="ctr">
            <a:solidFill>
              <a:schemeClr val="bg1">
                <a:lumMod val="85000"/>
              </a:schemeClr>
            </a:solidFill>
            <a:prstDash val="solid"/>
            <a:miter lim="800000"/>
          </a:ln>
          <a:effectLst/>
        </p:spPr>
      </p:cxnSp>
    </p:spTree>
    <p:extLst>
      <p:ext uri="{BB962C8B-B14F-4D97-AF65-F5344CB8AC3E}">
        <p14:creationId xmlns:p14="http://schemas.microsoft.com/office/powerpoint/2010/main" val="41987797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2">
            <a:extLst>
              <a:ext uri="{FF2B5EF4-FFF2-40B4-BE49-F238E27FC236}">
                <a16:creationId xmlns:a16="http://schemas.microsoft.com/office/drawing/2014/main" id="{C5F67029-F219-FC96-7D6C-5F6C446E76B2}"/>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15" name="Rectángulo 14">
            <a:extLst>
              <a:ext uri="{FF2B5EF4-FFF2-40B4-BE49-F238E27FC236}">
                <a16:creationId xmlns:a16="http://schemas.microsoft.com/office/drawing/2014/main" id="{532E11D7-B060-9FE8-9DBC-290E6C96DE16}"/>
              </a:ext>
            </a:extLst>
          </p:cNvPr>
          <p:cNvSpPr/>
          <p:nvPr/>
        </p:nvSpPr>
        <p:spPr>
          <a:xfrm>
            <a:off x="711024" y="3201415"/>
            <a:ext cx="1440000" cy="540000"/>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ea typeface="+mn-ea"/>
                <a:cs typeface="+mn-cs"/>
              </a:rPr>
              <a:t>Cards Management</a:t>
            </a:r>
          </a:p>
        </p:txBody>
      </p:sp>
      <p:sp>
        <p:nvSpPr>
          <p:cNvPr id="18" name="Rectángulo 17">
            <a:extLst>
              <a:ext uri="{FF2B5EF4-FFF2-40B4-BE49-F238E27FC236}">
                <a16:creationId xmlns:a16="http://schemas.microsoft.com/office/drawing/2014/main" id="{1BB5F719-890D-38E1-45DB-8EAA38B16BA1}"/>
              </a:ext>
            </a:extLst>
          </p:cNvPr>
          <p:cNvSpPr/>
          <p:nvPr/>
        </p:nvSpPr>
        <p:spPr>
          <a:xfrm>
            <a:off x="711024" y="4186812"/>
            <a:ext cx="1440000" cy="540000"/>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ea typeface="+mn-ea"/>
                <a:cs typeface="+mn-cs"/>
              </a:rPr>
              <a:t>3rd Parties Mg.</a:t>
            </a:r>
          </a:p>
        </p:txBody>
      </p:sp>
      <p:sp>
        <p:nvSpPr>
          <p:cNvPr id="19" name="Rectángulo 18">
            <a:extLst>
              <a:ext uri="{FF2B5EF4-FFF2-40B4-BE49-F238E27FC236}">
                <a16:creationId xmlns:a16="http://schemas.microsoft.com/office/drawing/2014/main" id="{81107006-DEAA-61FE-5DFA-9A97FCDB224A}"/>
              </a:ext>
            </a:extLst>
          </p:cNvPr>
          <p:cNvSpPr/>
          <p:nvPr/>
        </p:nvSpPr>
        <p:spPr>
          <a:xfrm>
            <a:off x="711024" y="2216018"/>
            <a:ext cx="1440000" cy="540000"/>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spcAft>
                <a:spcPts val="600"/>
              </a:spcAft>
            </a:pPr>
            <a:r>
              <a:rPr lang="en-AU" sz="1400" kern="0">
                <a:solidFill>
                  <a:srgbClr val="DEEDF1">
                    <a:lumMod val="25000"/>
                  </a:srgbClr>
                </a:solidFill>
              </a:rPr>
              <a:t>Cards Offering</a:t>
            </a:r>
          </a:p>
        </p:txBody>
      </p:sp>
      <p:sp>
        <p:nvSpPr>
          <p:cNvPr id="20" name="Rectángulo 19">
            <a:extLst>
              <a:ext uri="{FF2B5EF4-FFF2-40B4-BE49-F238E27FC236}">
                <a16:creationId xmlns:a16="http://schemas.microsoft.com/office/drawing/2014/main" id="{B58357C3-A59A-8528-2609-D98BFD8B6F5C}"/>
              </a:ext>
            </a:extLst>
          </p:cNvPr>
          <p:cNvSpPr/>
          <p:nvPr/>
        </p:nvSpPr>
        <p:spPr>
          <a:xfrm>
            <a:off x="711024" y="5253969"/>
            <a:ext cx="1440000" cy="540000"/>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ea typeface="+mn-ea"/>
                <a:cs typeface="+mn-cs"/>
              </a:rPr>
              <a:t>Cards Cash Mg.</a:t>
            </a:r>
          </a:p>
        </p:txBody>
      </p:sp>
      <p:sp>
        <p:nvSpPr>
          <p:cNvPr id="21" name="CuadroTexto 20">
            <a:extLst>
              <a:ext uri="{FF2B5EF4-FFF2-40B4-BE49-F238E27FC236}">
                <a16:creationId xmlns:a16="http://schemas.microsoft.com/office/drawing/2014/main" id="{521604CC-F7C4-A23D-26ED-6006C261FAEE}"/>
              </a:ext>
            </a:extLst>
          </p:cNvPr>
          <p:cNvSpPr txBox="1"/>
          <p:nvPr/>
        </p:nvSpPr>
        <p:spPr>
          <a:xfrm>
            <a:off x="684799" y="1128886"/>
            <a:ext cx="4391698" cy="807913"/>
          </a:xfrm>
          <a:prstGeom prst="rect">
            <a:avLst/>
          </a:prstGeom>
          <a:noFill/>
        </p:spPr>
        <p:txBody>
          <a:bodyPr wrap="square" rtlCol="0">
            <a:spAutoFit/>
          </a:bodyPr>
          <a:lstStyle/>
          <a:p>
            <a:pPr marL="355600" indent="-355600">
              <a:spcAft>
                <a:spcPts val="300"/>
              </a:spcAft>
              <a:defRPr/>
            </a:pPr>
            <a:r>
              <a:rPr kumimoji="0" lang="en-AU"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1 - Card Management </a:t>
            </a:r>
          </a:p>
          <a:p>
            <a:pPr marL="7938" indent="-7938">
              <a:spcAft>
                <a:spcPts val="300"/>
              </a:spcAft>
              <a:defRPr/>
            </a:pPr>
            <a:r>
              <a:rPr kumimoji="0" lang="en-US" sz="1400" b="0" i="1"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A set of capabilities to manage the card catalogue, the card life-cycle and the cards business management</a:t>
            </a:r>
            <a:endParaRPr kumimoji="0" lang="en-AU" sz="1400" b="0" i="1"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endParaRPr>
          </a:p>
        </p:txBody>
      </p:sp>
      <p:cxnSp>
        <p:nvCxnSpPr>
          <p:cNvPr id="22" name="Conector recto 21">
            <a:extLst>
              <a:ext uri="{FF2B5EF4-FFF2-40B4-BE49-F238E27FC236}">
                <a16:creationId xmlns:a16="http://schemas.microsoft.com/office/drawing/2014/main" id="{95D3203A-A6F6-8622-675E-1B6CCD9AB872}"/>
              </a:ext>
            </a:extLst>
          </p:cNvPr>
          <p:cNvCxnSpPr>
            <a:cxnSpLocks/>
          </p:cNvCxnSpPr>
          <p:nvPr/>
        </p:nvCxnSpPr>
        <p:spPr>
          <a:xfrm flipH="1" flipV="1">
            <a:off x="711024" y="1933750"/>
            <a:ext cx="5112000" cy="0"/>
          </a:xfrm>
          <a:prstGeom prst="line">
            <a:avLst/>
          </a:prstGeom>
          <a:noFill/>
          <a:ln w="12700" cap="flat" cmpd="sng" algn="ctr">
            <a:solidFill>
              <a:srgbClr val="595959"/>
            </a:solidFill>
            <a:prstDash val="solid"/>
            <a:miter lim="800000"/>
          </a:ln>
          <a:effectLst/>
        </p:spPr>
      </p:cxnSp>
      <p:sp>
        <p:nvSpPr>
          <p:cNvPr id="23" name="CuadroTexto 22">
            <a:extLst>
              <a:ext uri="{FF2B5EF4-FFF2-40B4-BE49-F238E27FC236}">
                <a16:creationId xmlns:a16="http://schemas.microsoft.com/office/drawing/2014/main" id="{D0DF7234-D303-7B43-9FFE-366CABE65C67}"/>
              </a:ext>
            </a:extLst>
          </p:cNvPr>
          <p:cNvSpPr txBox="1"/>
          <p:nvPr/>
        </p:nvSpPr>
        <p:spPr>
          <a:xfrm>
            <a:off x="2192764" y="2146145"/>
            <a:ext cx="3658438" cy="729136"/>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R="0" lvl="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i="0" u="none" strike="noStrike" kern="0" cap="none" spc="0" normalizeH="0" baseline="0" noProof="0">
                <a:ln>
                  <a:noFill/>
                </a:ln>
                <a:solidFill>
                  <a:prstClr val="black"/>
                </a:solidFill>
                <a:effectLst/>
                <a:uLnTx/>
                <a:uFillTx/>
                <a:latin typeface="Santander Text"/>
                <a:ea typeface="+mn-ea"/>
                <a:cs typeface="+mn-cs"/>
              </a:rPr>
              <a:t>Product management to provide campaigns and conditions to the customer and manage product catalogue offered to customer</a:t>
            </a:r>
            <a:endParaRPr lang="en-AU" kern="0">
              <a:solidFill>
                <a:srgbClr val="DEEDF1">
                  <a:lumMod val="25000"/>
                </a:srgbClr>
              </a:solidFill>
              <a:latin typeface="Santander Text" panose="020B0504020201020104" pitchFamily="34" charset="0"/>
            </a:endParaRPr>
          </a:p>
        </p:txBody>
      </p:sp>
      <p:cxnSp>
        <p:nvCxnSpPr>
          <p:cNvPr id="24" name="Conector recto 23">
            <a:extLst>
              <a:ext uri="{FF2B5EF4-FFF2-40B4-BE49-F238E27FC236}">
                <a16:creationId xmlns:a16="http://schemas.microsoft.com/office/drawing/2014/main" id="{8FB168E4-4482-3337-ECA4-1613C78248BE}"/>
              </a:ext>
            </a:extLst>
          </p:cNvPr>
          <p:cNvCxnSpPr>
            <a:cxnSpLocks/>
          </p:cNvCxnSpPr>
          <p:nvPr/>
        </p:nvCxnSpPr>
        <p:spPr>
          <a:xfrm flipH="1" flipV="1">
            <a:off x="684799" y="3060921"/>
            <a:ext cx="5112000" cy="0"/>
          </a:xfrm>
          <a:prstGeom prst="line">
            <a:avLst/>
          </a:prstGeom>
          <a:noFill/>
          <a:ln w="12700" cap="flat" cmpd="sng" algn="ctr">
            <a:solidFill>
              <a:schemeClr val="bg1">
                <a:lumMod val="85000"/>
              </a:schemeClr>
            </a:solidFill>
            <a:prstDash val="solid"/>
            <a:miter lim="800000"/>
          </a:ln>
          <a:effectLst/>
        </p:spPr>
      </p:cxnSp>
      <p:sp>
        <p:nvSpPr>
          <p:cNvPr id="26" name="CuadroTexto 25">
            <a:extLst>
              <a:ext uri="{FF2B5EF4-FFF2-40B4-BE49-F238E27FC236}">
                <a16:creationId xmlns:a16="http://schemas.microsoft.com/office/drawing/2014/main" id="{6D26BBC5-3876-5692-5E14-58110D472B80}"/>
              </a:ext>
            </a:extLst>
          </p:cNvPr>
          <p:cNvSpPr txBox="1"/>
          <p:nvPr/>
        </p:nvSpPr>
        <p:spPr>
          <a:xfrm>
            <a:off x="2192764" y="3152534"/>
            <a:ext cx="3630260" cy="646331"/>
          </a:xfrm>
          <a:prstGeom prst="rect">
            <a:avLst/>
          </a:prstGeom>
          <a:noFill/>
        </p:spPr>
        <p:txBody>
          <a:bodyPr wrap="square">
            <a:spAutoFit/>
          </a:bodyPr>
          <a:lstStyle/>
          <a:p>
            <a:pPr marL="180000" indent="-180000">
              <a:buClr>
                <a:srgbClr val="FF0000"/>
              </a:buClr>
              <a:buFont typeface="Wingdings" panose="05000000000000000000" pitchFamily="2" charset="2"/>
              <a:buChar char="§"/>
              <a:defRPr/>
            </a:pPr>
            <a:r>
              <a:rPr kumimoji="0" lang="en-US" sz="1200" i="0" u="none" strike="noStrike" kern="0" cap="none" spc="0" normalizeH="0" baseline="0" noProof="0">
                <a:ln>
                  <a:noFill/>
                </a:ln>
                <a:solidFill>
                  <a:prstClr val="black"/>
                </a:solidFill>
                <a:effectLst/>
                <a:uLnTx/>
                <a:uFillTx/>
                <a:latin typeface="Santander Text"/>
                <a:ea typeface="+mn-ea"/>
                <a:cs typeface="+mn-cs"/>
              </a:rPr>
              <a:t>Tracking and control of the card life-cycle, enabling business rules to automate and streamline card management processes</a:t>
            </a:r>
            <a:endParaRPr lang="es-ES" sz="1200" kern="0">
              <a:solidFill>
                <a:prstClr val="black"/>
              </a:solidFill>
              <a:latin typeface="Santander Text"/>
            </a:endParaRPr>
          </a:p>
        </p:txBody>
      </p:sp>
      <p:cxnSp>
        <p:nvCxnSpPr>
          <p:cNvPr id="27" name="Conector recto 26">
            <a:extLst>
              <a:ext uri="{FF2B5EF4-FFF2-40B4-BE49-F238E27FC236}">
                <a16:creationId xmlns:a16="http://schemas.microsoft.com/office/drawing/2014/main" id="{70843F3A-A2BD-26FA-4872-61326913BCF4}"/>
              </a:ext>
            </a:extLst>
          </p:cNvPr>
          <p:cNvCxnSpPr>
            <a:cxnSpLocks/>
          </p:cNvCxnSpPr>
          <p:nvPr/>
        </p:nvCxnSpPr>
        <p:spPr>
          <a:xfrm flipH="1" flipV="1">
            <a:off x="684799" y="3965161"/>
            <a:ext cx="5112000" cy="0"/>
          </a:xfrm>
          <a:prstGeom prst="line">
            <a:avLst/>
          </a:prstGeom>
          <a:noFill/>
          <a:ln w="12700" cap="flat" cmpd="sng" algn="ctr">
            <a:solidFill>
              <a:schemeClr val="bg1">
                <a:lumMod val="85000"/>
              </a:schemeClr>
            </a:solidFill>
            <a:prstDash val="solid"/>
            <a:miter lim="800000"/>
          </a:ln>
          <a:effectLst/>
        </p:spPr>
      </p:cxnSp>
      <p:sp>
        <p:nvSpPr>
          <p:cNvPr id="32" name="CuadroTexto 31">
            <a:extLst>
              <a:ext uri="{FF2B5EF4-FFF2-40B4-BE49-F238E27FC236}">
                <a16:creationId xmlns:a16="http://schemas.microsoft.com/office/drawing/2014/main" id="{8AB399CC-4E62-396B-4950-9F03F95F814C}"/>
              </a:ext>
            </a:extLst>
          </p:cNvPr>
          <p:cNvSpPr txBox="1"/>
          <p:nvPr/>
        </p:nvSpPr>
        <p:spPr>
          <a:xfrm>
            <a:off x="6141070" y="1128886"/>
            <a:ext cx="5111999" cy="807913"/>
          </a:xfrm>
          <a:prstGeom prst="rect">
            <a:avLst/>
          </a:prstGeom>
          <a:noFill/>
        </p:spPr>
        <p:txBody>
          <a:bodyPr wrap="square" rtlCol="0">
            <a:spAutoFit/>
          </a:bodyPr>
          <a:lstStyle/>
          <a:p>
            <a:pPr marL="355600" indent="-355600">
              <a:spcAft>
                <a:spcPts val="300"/>
              </a:spcAft>
              <a:defRPr/>
            </a:pPr>
            <a:r>
              <a:rPr lang="en-AU" sz="1600" b="1" kern="0">
                <a:solidFill>
                  <a:srgbClr val="DEEDF1">
                    <a:lumMod val="25000"/>
                  </a:srgbClr>
                </a:solidFill>
                <a:latin typeface="Santander Text" panose="020B0504020201020104" pitchFamily="34" charset="0"/>
              </a:rPr>
              <a:t>2 - </a:t>
            </a:r>
            <a:r>
              <a:rPr kumimoji="0" lang="en-AU" sz="1600" b="1" i="0" u="none" strike="noStrike" kern="0" cap="none" spc="0" normalizeH="0" baseline="0" noProof="0">
                <a:ln>
                  <a:noFill/>
                </a:ln>
                <a:solidFill>
                  <a:srgbClr val="DEEDF1">
                    <a:lumMod val="25000"/>
                  </a:srgbClr>
                </a:solidFill>
                <a:effectLst/>
                <a:uLnTx/>
                <a:uFillTx/>
                <a:ea typeface="+mn-ea"/>
                <a:cs typeface="+mn-cs"/>
              </a:rPr>
              <a:t>Card Authorization </a:t>
            </a:r>
            <a:endParaRPr lang="en-AU" sz="1600" b="1" kern="0">
              <a:solidFill>
                <a:srgbClr val="DEEDF1">
                  <a:lumMod val="25000"/>
                </a:srgbClr>
              </a:solidFill>
              <a:latin typeface="Santander Text" panose="020B0504020201020104" pitchFamily="34" charset="0"/>
            </a:endParaRPr>
          </a:p>
          <a:p>
            <a:pPr marL="7938" indent="-7938">
              <a:spcAft>
                <a:spcPts val="300"/>
              </a:spcAft>
              <a:defRPr/>
            </a:pPr>
            <a:r>
              <a:rPr kumimoji="0" lang="en-US" sz="1400" b="0" i="1"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A security process to prevent potential fraud, by checking if a cardholder has enough funds or credit to cover a transaction</a:t>
            </a:r>
            <a:endParaRPr kumimoji="0" lang="en-AU" sz="1400" b="0" i="1"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endParaRPr>
          </a:p>
        </p:txBody>
      </p:sp>
      <p:cxnSp>
        <p:nvCxnSpPr>
          <p:cNvPr id="33" name="Conector recto 32">
            <a:extLst>
              <a:ext uri="{FF2B5EF4-FFF2-40B4-BE49-F238E27FC236}">
                <a16:creationId xmlns:a16="http://schemas.microsoft.com/office/drawing/2014/main" id="{86F93A5B-47ED-0086-F0A8-1DFF037A0884}"/>
              </a:ext>
            </a:extLst>
          </p:cNvPr>
          <p:cNvCxnSpPr>
            <a:cxnSpLocks/>
          </p:cNvCxnSpPr>
          <p:nvPr/>
        </p:nvCxnSpPr>
        <p:spPr>
          <a:xfrm flipH="1" flipV="1">
            <a:off x="6167296" y="1933750"/>
            <a:ext cx="5112000" cy="0"/>
          </a:xfrm>
          <a:prstGeom prst="line">
            <a:avLst/>
          </a:prstGeom>
          <a:noFill/>
          <a:ln w="12700" cap="flat" cmpd="sng" algn="ctr">
            <a:solidFill>
              <a:srgbClr val="595959"/>
            </a:solidFill>
            <a:prstDash val="solid"/>
            <a:miter lim="800000"/>
          </a:ln>
          <a:effectLst/>
        </p:spPr>
      </p:cxnSp>
      <p:sp>
        <p:nvSpPr>
          <p:cNvPr id="34" name="CuadroTexto 33">
            <a:extLst>
              <a:ext uri="{FF2B5EF4-FFF2-40B4-BE49-F238E27FC236}">
                <a16:creationId xmlns:a16="http://schemas.microsoft.com/office/drawing/2014/main" id="{F2599503-9F52-81AF-B186-BA0272476971}"/>
              </a:ext>
            </a:extLst>
          </p:cNvPr>
          <p:cNvSpPr txBox="1"/>
          <p:nvPr/>
        </p:nvSpPr>
        <p:spPr>
          <a:xfrm>
            <a:off x="7724562" y="2005700"/>
            <a:ext cx="3628564" cy="726625"/>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R="0" lvl="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i="0" u="none" strike="noStrike" kern="0" cap="none" spc="0" normalizeH="0" baseline="0" noProof="0">
                <a:ln>
                  <a:noFill/>
                </a:ln>
                <a:solidFill>
                  <a:prstClr val="black"/>
                </a:solidFill>
                <a:effectLst/>
                <a:uLnTx/>
                <a:uFillTx/>
                <a:latin typeface="Santander Text"/>
                <a:ea typeface="+mn-ea"/>
                <a:cs typeface="+mn-cs"/>
              </a:rPr>
              <a:t>It controls every authorization aspect from schemes to issuer authorization system and is connected to fraud systems and disputes for clearing and settlement processes</a:t>
            </a:r>
            <a:endParaRPr lang="en-AU" kern="0">
              <a:solidFill>
                <a:srgbClr val="DEEDF1">
                  <a:lumMod val="25000"/>
                </a:srgbClr>
              </a:solidFill>
              <a:latin typeface="Santander Text" panose="020B0504020201020104" pitchFamily="34" charset="0"/>
            </a:endParaRPr>
          </a:p>
        </p:txBody>
      </p:sp>
      <p:sp>
        <p:nvSpPr>
          <p:cNvPr id="38" name="Rectángulo 37">
            <a:extLst>
              <a:ext uri="{FF2B5EF4-FFF2-40B4-BE49-F238E27FC236}">
                <a16:creationId xmlns:a16="http://schemas.microsoft.com/office/drawing/2014/main" id="{997B093E-02C2-D040-644C-66CEEEEDD09A}"/>
              </a:ext>
            </a:extLst>
          </p:cNvPr>
          <p:cNvSpPr/>
          <p:nvPr/>
        </p:nvSpPr>
        <p:spPr>
          <a:xfrm>
            <a:off x="6186095" y="2096580"/>
            <a:ext cx="1440000" cy="540000"/>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ea typeface="+mn-ea"/>
                <a:cs typeface="+mn-cs"/>
              </a:rPr>
              <a:t>Authorization (Stratos)</a:t>
            </a:r>
          </a:p>
        </p:txBody>
      </p:sp>
      <p:sp>
        <p:nvSpPr>
          <p:cNvPr id="46" name="CuadroTexto 45">
            <a:extLst>
              <a:ext uri="{FF2B5EF4-FFF2-40B4-BE49-F238E27FC236}">
                <a16:creationId xmlns:a16="http://schemas.microsoft.com/office/drawing/2014/main" id="{8758E097-F9AB-2AA3-8D87-80D5165DD659}"/>
              </a:ext>
            </a:extLst>
          </p:cNvPr>
          <p:cNvSpPr txBox="1"/>
          <p:nvPr/>
        </p:nvSpPr>
        <p:spPr>
          <a:xfrm>
            <a:off x="2192764" y="4149011"/>
            <a:ext cx="3630260" cy="646331"/>
          </a:xfrm>
          <a:prstGeom prst="rect">
            <a:avLst/>
          </a:prstGeom>
          <a:noFill/>
        </p:spPr>
        <p:txBody>
          <a:bodyPr wrap="square">
            <a:spAutoFit/>
          </a:bodyPr>
          <a:lstStyle/>
          <a:p>
            <a:pPr marL="180000" indent="-180000">
              <a:buClr>
                <a:srgbClr val="FF0000"/>
              </a:buClr>
              <a:buFont typeface="Wingdings" panose="05000000000000000000" pitchFamily="2" charset="2"/>
              <a:buChar char="§"/>
              <a:defRPr/>
            </a:pPr>
            <a:r>
              <a:rPr kumimoji="0" lang="en-US" sz="1200" i="0" u="none" strike="noStrike" kern="0" cap="none" spc="0" normalizeH="0" baseline="0" noProof="0">
                <a:ln>
                  <a:noFill/>
                </a:ln>
                <a:solidFill>
                  <a:prstClr val="black"/>
                </a:solidFill>
                <a:effectLst/>
                <a:uLnTx/>
                <a:uFillTx/>
                <a:latin typeface="Santander Text"/>
                <a:ea typeface="+mn-ea"/>
                <a:cs typeface="+mn-cs"/>
              </a:rPr>
              <a:t>Third parties' agreement with local banks management, to enable Company card business management</a:t>
            </a:r>
            <a:endParaRPr lang="es-ES" sz="1200" kern="0">
              <a:solidFill>
                <a:prstClr val="black"/>
              </a:solidFill>
              <a:latin typeface="Santander Text"/>
            </a:endParaRPr>
          </a:p>
        </p:txBody>
      </p:sp>
      <p:cxnSp>
        <p:nvCxnSpPr>
          <p:cNvPr id="47" name="Conector recto 46">
            <a:extLst>
              <a:ext uri="{FF2B5EF4-FFF2-40B4-BE49-F238E27FC236}">
                <a16:creationId xmlns:a16="http://schemas.microsoft.com/office/drawing/2014/main" id="{3965777B-357D-B15D-3E24-8672DBA6E4A6}"/>
              </a:ext>
            </a:extLst>
          </p:cNvPr>
          <p:cNvCxnSpPr>
            <a:cxnSpLocks/>
          </p:cNvCxnSpPr>
          <p:nvPr/>
        </p:nvCxnSpPr>
        <p:spPr>
          <a:xfrm flipH="1" flipV="1">
            <a:off x="684799" y="4971001"/>
            <a:ext cx="5112000" cy="0"/>
          </a:xfrm>
          <a:prstGeom prst="line">
            <a:avLst/>
          </a:prstGeom>
          <a:noFill/>
          <a:ln w="12700" cap="flat" cmpd="sng" algn="ctr">
            <a:solidFill>
              <a:schemeClr val="bg1">
                <a:lumMod val="85000"/>
              </a:schemeClr>
            </a:solidFill>
            <a:prstDash val="solid"/>
            <a:miter lim="800000"/>
          </a:ln>
          <a:effectLst/>
        </p:spPr>
      </p:cxnSp>
      <p:sp>
        <p:nvSpPr>
          <p:cNvPr id="48" name="CuadroTexto 47">
            <a:extLst>
              <a:ext uri="{FF2B5EF4-FFF2-40B4-BE49-F238E27FC236}">
                <a16:creationId xmlns:a16="http://schemas.microsoft.com/office/drawing/2014/main" id="{BA55D2FF-7B26-8AF7-9EBC-41F0398B92B8}"/>
              </a:ext>
            </a:extLst>
          </p:cNvPr>
          <p:cNvSpPr txBox="1"/>
          <p:nvPr/>
        </p:nvSpPr>
        <p:spPr>
          <a:xfrm>
            <a:off x="2192764" y="5215191"/>
            <a:ext cx="3630260" cy="646331"/>
          </a:xfrm>
          <a:prstGeom prst="rect">
            <a:avLst/>
          </a:prstGeom>
          <a:noFill/>
        </p:spPr>
        <p:txBody>
          <a:bodyPr wrap="square">
            <a:spAutoFit/>
          </a:bodyPr>
          <a:lstStyle/>
          <a:p>
            <a:pPr marL="180000" indent="-180000">
              <a:buClr>
                <a:srgbClr val="FF0000"/>
              </a:buClr>
              <a:buFont typeface="Wingdings" panose="05000000000000000000" pitchFamily="2" charset="2"/>
              <a:buChar char="§"/>
              <a:defRPr/>
            </a:pPr>
            <a:r>
              <a:rPr lang="en-AU" sz="1200" kern="0">
                <a:solidFill>
                  <a:prstClr val="black"/>
                </a:solidFill>
                <a:latin typeface="Santander Text"/>
              </a:rPr>
              <a:t>Supports the cash management consequence of the daily basis of the card processes (clearing, settlement, disputes, billing,…)</a:t>
            </a:r>
          </a:p>
        </p:txBody>
      </p:sp>
      <p:sp>
        <p:nvSpPr>
          <p:cNvPr id="6" name="Título 1">
            <a:extLst>
              <a:ext uri="{FF2B5EF4-FFF2-40B4-BE49-F238E27FC236}">
                <a16:creationId xmlns:a16="http://schemas.microsoft.com/office/drawing/2014/main" id="{6F170A20-0A55-47FB-93FE-A04A92B8C72F}"/>
              </a:ext>
            </a:extLst>
          </p:cNvPr>
          <p:cNvSpPr txBox="1">
            <a:spLocks/>
          </p:cNvSpPr>
          <p:nvPr/>
        </p:nvSpPr>
        <p:spPr>
          <a:xfrm>
            <a:off x="711024" y="641900"/>
            <a:ext cx="10758733" cy="550441"/>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lang="en-US" sz="2800" b="1" kern="1200" dirty="0">
                <a:solidFill>
                  <a:schemeClr val="accent1"/>
                </a:solidFill>
                <a:latin typeface="+mj-lt"/>
                <a:ea typeface="+mj-ea"/>
                <a:cs typeface="+mj-cs"/>
              </a:defRPr>
            </a:lvl1pPr>
          </a:lstStyle>
          <a:p>
            <a:pPr>
              <a:defRPr/>
            </a:pPr>
            <a:r>
              <a:rPr kumimoji="0" lang="es-ES" sz="2800" b="1" i="0" u="none" strike="noStrike" kern="1200" cap="none" spc="0" normalizeH="0" baseline="0" noProof="0">
                <a:ln>
                  <a:noFill/>
                </a:ln>
                <a:solidFill>
                  <a:srgbClr val="EB0000"/>
                </a:solidFill>
                <a:effectLst/>
                <a:uLnTx/>
                <a:uFillTx/>
                <a:latin typeface="Santander Headline" panose="020B0504020201020104" pitchFamily="34" charset="0"/>
                <a:ea typeface="+mj-ea"/>
                <a:cs typeface="+mj-cs"/>
              </a:rPr>
              <a:t> Global </a:t>
            </a:r>
            <a:r>
              <a:rPr kumimoji="0" lang="es-ES" sz="2800" b="1" i="0" u="none" strike="noStrike" kern="1200" cap="none" spc="0" normalizeH="0" baseline="0" noProof="0" err="1">
                <a:ln>
                  <a:noFill/>
                </a:ln>
                <a:solidFill>
                  <a:srgbClr val="EB0000"/>
                </a:solidFill>
                <a:effectLst/>
                <a:uLnTx/>
                <a:uFillTx/>
                <a:latin typeface="Santander Headline" panose="020B0504020201020104" pitchFamily="34" charset="0"/>
                <a:ea typeface="+mj-ea"/>
                <a:cs typeface="+mj-cs"/>
              </a:rPr>
              <a:t>Cards</a:t>
            </a:r>
            <a:r>
              <a:rPr kumimoji="0" lang="es-ES" sz="2800" b="1" i="0" u="none" strike="noStrike" kern="1200" cap="none" spc="0" normalizeH="0" baseline="0" noProof="0">
                <a:ln>
                  <a:noFill/>
                </a:ln>
                <a:solidFill>
                  <a:srgbClr val="EB0000"/>
                </a:solidFill>
                <a:effectLst/>
                <a:uLnTx/>
                <a:uFillTx/>
                <a:latin typeface="Santander Headline" panose="020B0504020201020104" pitchFamily="34" charset="0"/>
                <a:ea typeface="+mj-ea"/>
                <a:cs typeface="+mj-cs"/>
              </a:rPr>
              <a:t>. </a:t>
            </a:r>
            <a:r>
              <a:rPr lang="es-ES" err="1">
                <a:solidFill>
                  <a:schemeClr val="bg1">
                    <a:lumMod val="75000"/>
                  </a:schemeClr>
                </a:solidFill>
              </a:rPr>
              <a:t>Plard</a:t>
            </a:r>
            <a:endParaRPr lang="es-ES">
              <a:solidFill>
                <a:schemeClr val="bg1">
                  <a:lumMod val="75000"/>
                </a:schemeClr>
              </a:solidFill>
            </a:endParaRPr>
          </a:p>
        </p:txBody>
      </p:sp>
    </p:spTree>
    <p:extLst>
      <p:ext uri="{BB962C8B-B14F-4D97-AF65-F5344CB8AC3E}">
        <p14:creationId xmlns:p14="http://schemas.microsoft.com/office/powerpoint/2010/main" val="3292641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2">
            <a:extLst>
              <a:ext uri="{FF2B5EF4-FFF2-40B4-BE49-F238E27FC236}">
                <a16:creationId xmlns:a16="http://schemas.microsoft.com/office/drawing/2014/main" id="{C5F67029-F219-FC96-7D6C-5F6C446E76B2}"/>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19" name="Rectángulo 18">
            <a:extLst>
              <a:ext uri="{FF2B5EF4-FFF2-40B4-BE49-F238E27FC236}">
                <a16:creationId xmlns:a16="http://schemas.microsoft.com/office/drawing/2014/main" id="{81107006-DEAA-61FE-5DFA-9A97FCDB224A}"/>
              </a:ext>
            </a:extLst>
          </p:cNvPr>
          <p:cNvSpPr/>
          <p:nvPr/>
        </p:nvSpPr>
        <p:spPr>
          <a:xfrm>
            <a:off x="711024" y="2216018"/>
            <a:ext cx="1440000" cy="540000"/>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spcAft>
                <a:spcPts val="600"/>
              </a:spcAft>
            </a:pPr>
            <a:r>
              <a:rPr lang="en-AU" sz="1400" kern="0">
                <a:solidFill>
                  <a:srgbClr val="DEEDF1">
                    <a:lumMod val="25000"/>
                  </a:srgbClr>
                </a:solidFill>
              </a:rPr>
              <a:t>Global Disputes</a:t>
            </a:r>
          </a:p>
        </p:txBody>
      </p:sp>
      <p:sp>
        <p:nvSpPr>
          <p:cNvPr id="21" name="CuadroTexto 20">
            <a:extLst>
              <a:ext uri="{FF2B5EF4-FFF2-40B4-BE49-F238E27FC236}">
                <a16:creationId xmlns:a16="http://schemas.microsoft.com/office/drawing/2014/main" id="{521604CC-F7C4-A23D-26ED-6006C261FAEE}"/>
              </a:ext>
            </a:extLst>
          </p:cNvPr>
          <p:cNvSpPr txBox="1"/>
          <p:nvPr/>
        </p:nvSpPr>
        <p:spPr>
          <a:xfrm>
            <a:off x="684798" y="1128886"/>
            <a:ext cx="4882522" cy="807913"/>
          </a:xfrm>
          <a:prstGeom prst="rect">
            <a:avLst/>
          </a:prstGeom>
          <a:noFill/>
        </p:spPr>
        <p:txBody>
          <a:bodyPr wrap="square" rtlCol="0">
            <a:spAutoFit/>
          </a:bodyPr>
          <a:lstStyle/>
          <a:p>
            <a:pPr marL="355600" indent="-355600">
              <a:spcAft>
                <a:spcPts val="300"/>
              </a:spcAft>
              <a:defRPr/>
            </a:pPr>
            <a:r>
              <a:rPr kumimoji="0" lang="en-AU"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3 - Cards Disputes</a:t>
            </a:r>
          </a:p>
          <a:p>
            <a:pPr marL="7938" indent="-7938">
              <a:spcAft>
                <a:spcPts val="300"/>
              </a:spcAft>
              <a:defRPr/>
            </a:pPr>
            <a:r>
              <a:rPr kumimoji="0" lang="en-US" sz="1400" b="0" i="1"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The Disputes Platform handles customer's claims in transactions using Santander cards (retail or ATMs)</a:t>
            </a:r>
            <a:endParaRPr kumimoji="0" lang="en-AU" sz="1400" b="0" i="1"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endParaRPr>
          </a:p>
        </p:txBody>
      </p:sp>
      <p:cxnSp>
        <p:nvCxnSpPr>
          <p:cNvPr id="22" name="Conector recto 21">
            <a:extLst>
              <a:ext uri="{FF2B5EF4-FFF2-40B4-BE49-F238E27FC236}">
                <a16:creationId xmlns:a16="http://schemas.microsoft.com/office/drawing/2014/main" id="{95D3203A-A6F6-8622-675E-1B6CCD9AB872}"/>
              </a:ext>
            </a:extLst>
          </p:cNvPr>
          <p:cNvCxnSpPr>
            <a:cxnSpLocks/>
          </p:cNvCxnSpPr>
          <p:nvPr/>
        </p:nvCxnSpPr>
        <p:spPr>
          <a:xfrm flipH="1" flipV="1">
            <a:off x="711024" y="1933750"/>
            <a:ext cx="5112000" cy="0"/>
          </a:xfrm>
          <a:prstGeom prst="line">
            <a:avLst/>
          </a:prstGeom>
          <a:noFill/>
          <a:ln w="12700" cap="flat" cmpd="sng" algn="ctr">
            <a:solidFill>
              <a:srgbClr val="595959"/>
            </a:solidFill>
            <a:prstDash val="solid"/>
            <a:miter lim="800000"/>
          </a:ln>
          <a:effectLst/>
        </p:spPr>
      </p:cxnSp>
      <p:sp>
        <p:nvSpPr>
          <p:cNvPr id="23" name="CuadroTexto 22">
            <a:extLst>
              <a:ext uri="{FF2B5EF4-FFF2-40B4-BE49-F238E27FC236}">
                <a16:creationId xmlns:a16="http://schemas.microsoft.com/office/drawing/2014/main" id="{D0DF7234-D303-7B43-9FFE-366CABE65C67}"/>
              </a:ext>
            </a:extLst>
          </p:cNvPr>
          <p:cNvSpPr txBox="1"/>
          <p:nvPr/>
        </p:nvSpPr>
        <p:spPr>
          <a:xfrm>
            <a:off x="2192764" y="2147381"/>
            <a:ext cx="3630260" cy="1043739"/>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R="0" lvl="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i="0" u="none" strike="noStrike" kern="0" cap="none" spc="0" normalizeH="0" baseline="0" noProof="0">
                <a:ln>
                  <a:noFill/>
                </a:ln>
                <a:solidFill>
                  <a:prstClr val="black"/>
                </a:solidFill>
                <a:effectLst/>
                <a:uLnTx/>
                <a:uFillTx/>
                <a:latin typeface="Santander Text"/>
                <a:ea typeface="+mn-ea"/>
                <a:cs typeface="+mn-cs"/>
              </a:rPr>
              <a:t>It supports the processes to manage customer's claims in transactions using Santander cards, in coordination with international card networks and local processors, raising chargebacks of fraud and non-fraud disputes</a:t>
            </a:r>
            <a:endParaRPr lang="en-AU" kern="0">
              <a:solidFill>
                <a:srgbClr val="DEEDF1">
                  <a:lumMod val="25000"/>
                </a:srgbClr>
              </a:solidFill>
              <a:latin typeface="Santander Text" panose="020B0504020201020104" pitchFamily="34" charset="0"/>
            </a:endParaRPr>
          </a:p>
        </p:txBody>
      </p:sp>
      <p:sp>
        <p:nvSpPr>
          <p:cNvPr id="32" name="CuadroTexto 31">
            <a:extLst>
              <a:ext uri="{FF2B5EF4-FFF2-40B4-BE49-F238E27FC236}">
                <a16:creationId xmlns:a16="http://schemas.microsoft.com/office/drawing/2014/main" id="{8AB399CC-4E62-396B-4950-9F03F95F814C}"/>
              </a:ext>
            </a:extLst>
          </p:cNvPr>
          <p:cNvSpPr txBox="1"/>
          <p:nvPr/>
        </p:nvSpPr>
        <p:spPr>
          <a:xfrm>
            <a:off x="6141070" y="1128886"/>
            <a:ext cx="5111999" cy="807913"/>
          </a:xfrm>
          <a:prstGeom prst="rect">
            <a:avLst/>
          </a:prstGeom>
          <a:noFill/>
        </p:spPr>
        <p:txBody>
          <a:bodyPr wrap="square" rtlCol="0">
            <a:spAutoFit/>
          </a:bodyPr>
          <a:lstStyle/>
          <a:p>
            <a:pPr marL="355600" indent="-355600">
              <a:spcAft>
                <a:spcPts val="300"/>
              </a:spcAft>
              <a:defRPr/>
            </a:pPr>
            <a:r>
              <a:rPr lang="en-AU" sz="1600" b="1" kern="0">
                <a:solidFill>
                  <a:srgbClr val="DEEDF1">
                    <a:lumMod val="25000"/>
                  </a:srgbClr>
                </a:solidFill>
                <a:latin typeface="Santander Text" panose="020B0504020201020104" pitchFamily="34" charset="0"/>
              </a:rPr>
              <a:t>4 - </a:t>
            </a:r>
            <a:r>
              <a:rPr kumimoji="0" lang="en-AU" sz="1600" b="1" i="0" u="none" strike="noStrike" kern="0" cap="none" spc="0" normalizeH="0" baseline="0" noProof="0">
                <a:ln>
                  <a:noFill/>
                </a:ln>
                <a:solidFill>
                  <a:srgbClr val="DEEDF1">
                    <a:lumMod val="25000"/>
                  </a:srgbClr>
                </a:solidFill>
                <a:effectLst/>
                <a:uLnTx/>
                <a:uFillTx/>
                <a:ea typeface="+mn-ea"/>
                <a:cs typeface="+mn-cs"/>
              </a:rPr>
              <a:t>Card Added Value Services</a:t>
            </a:r>
            <a:endParaRPr lang="en-AU" sz="1600" b="1" kern="0">
              <a:solidFill>
                <a:srgbClr val="DEEDF1">
                  <a:lumMod val="25000"/>
                </a:srgbClr>
              </a:solidFill>
              <a:latin typeface="Santander Text" panose="020B0504020201020104" pitchFamily="34" charset="0"/>
            </a:endParaRPr>
          </a:p>
          <a:p>
            <a:pPr marL="7938" indent="-7938">
              <a:spcAft>
                <a:spcPts val="300"/>
              </a:spcAft>
              <a:defRPr/>
            </a:pPr>
            <a:r>
              <a:rPr kumimoji="0" lang="en-US" sz="1400" b="0" i="1"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Covers the card digitalization, provides the secure authentication layer and services for card services</a:t>
            </a:r>
            <a:endParaRPr kumimoji="0" lang="en-AU" sz="1400" b="0" i="1"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endParaRPr>
          </a:p>
        </p:txBody>
      </p:sp>
      <p:cxnSp>
        <p:nvCxnSpPr>
          <p:cNvPr id="33" name="Conector recto 32">
            <a:extLst>
              <a:ext uri="{FF2B5EF4-FFF2-40B4-BE49-F238E27FC236}">
                <a16:creationId xmlns:a16="http://schemas.microsoft.com/office/drawing/2014/main" id="{86F93A5B-47ED-0086-F0A8-1DFF037A0884}"/>
              </a:ext>
            </a:extLst>
          </p:cNvPr>
          <p:cNvCxnSpPr>
            <a:cxnSpLocks/>
          </p:cNvCxnSpPr>
          <p:nvPr/>
        </p:nvCxnSpPr>
        <p:spPr>
          <a:xfrm flipH="1" flipV="1">
            <a:off x="6167296" y="1933750"/>
            <a:ext cx="5112000" cy="0"/>
          </a:xfrm>
          <a:prstGeom prst="line">
            <a:avLst/>
          </a:prstGeom>
          <a:noFill/>
          <a:ln w="12700" cap="flat" cmpd="sng" algn="ctr">
            <a:solidFill>
              <a:srgbClr val="595959"/>
            </a:solidFill>
            <a:prstDash val="solid"/>
            <a:miter lim="800000"/>
          </a:ln>
          <a:effectLst/>
        </p:spPr>
      </p:cxnSp>
      <p:sp>
        <p:nvSpPr>
          <p:cNvPr id="34" name="CuadroTexto 33">
            <a:extLst>
              <a:ext uri="{FF2B5EF4-FFF2-40B4-BE49-F238E27FC236}">
                <a16:creationId xmlns:a16="http://schemas.microsoft.com/office/drawing/2014/main" id="{F2599503-9F52-81AF-B186-BA0272476971}"/>
              </a:ext>
            </a:extLst>
          </p:cNvPr>
          <p:cNvSpPr txBox="1"/>
          <p:nvPr/>
        </p:nvSpPr>
        <p:spPr>
          <a:xfrm>
            <a:off x="7724562" y="2005700"/>
            <a:ext cx="3745195" cy="726625"/>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R="0" lvl="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i="0" u="none" strike="noStrike" kern="0" cap="none" spc="0" normalizeH="0" baseline="0" noProof="0">
                <a:ln>
                  <a:noFill/>
                </a:ln>
                <a:solidFill>
                  <a:prstClr val="black"/>
                </a:solidFill>
                <a:effectLst/>
                <a:uLnTx/>
                <a:uFillTx/>
                <a:latin typeface="Santander Text"/>
                <a:ea typeface="+mn-ea"/>
                <a:cs typeface="+mn-cs"/>
              </a:rPr>
              <a:t>Enables card digitalization experience for the customers, by managing the eligibility and agreements with all the wallets and other card-based payment originators and authorizing and driving the enrollment flow</a:t>
            </a:r>
            <a:endParaRPr lang="en-AU" kern="0">
              <a:solidFill>
                <a:srgbClr val="DEEDF1">
                  <a:lumMod val="25000"/>
                </a:srgbClr>
              </a:solidFill>
              <a:latin typeface="Santander Text" panose="020B0504020201020104" pitchFamily="34" charset="0"/>
            </a:endParaRPr>
          </a:p>
        </p:txBody>
      </p:sp>
      <p:cxnSp>
        <p:nvCxnSpPr>
          <p:cNvPr id="35" name="Conector recto 34">
            <a:extLst>
              <a:ext uri="{FF2B5EF4-FFF2-40B4-BE49-F238E27FC236}">
                <a16:creationId xmlns:a16="http://schemas.microsoft.com/office/drawing/2014/main" id="{898D6A82-26BF-1216-98A7-D746061A9797}"/>
              </a:ext>
            </a:extLst>
          </p:cNvPr>
          <p:cNvCxnSpPr>
            <a:cxnSpLocks/>
          </p:cNvCxnSpPr>
          <p:nvPr/>
        </p:nvCxnSpPr>
        <p:spPr>
          <a:xfrm flipH="1" flipV="1">
            <a:off x="6177838" y="3043502"/>
            <a:ext cx="5112000" cy="0"/>
          </a:xfrm>
          <a:prstGeom prst="line">
            <a:avLst/>
          </a:prstGeom>
          <a:noFill/>
          <a:ln w="12700" cap="flat" cmpd="sng" algn="ctr">
            <a:solidFill>
              <a:schemeClr val="bg1">
                <a:lumMod val="85000"/>
              </a:schemeClr>
            </a:solidFill>
            <a:prstDash val="solid"/>
            <a:miter lim="800000"/>
          </a:ln>
          <a:effectLst/>
        </p:spPr>
      </p:cxnSp>
      <p:cxnSp>
        <p:nvCxnSpPr>
          <p:cNvPr id="37" name="Conector recto 36">
            <a:extLst>
              <a:ext uri="{FF2B5EF4-FFF2-40B4-BE49-F238E27FC236}">
                <a16:creationId xmlns:a16="http://schemas.microsoft.com/office/drawing/2014/main" id="{75EE2D35-D8CD-EDA1-C9D7-DFC8B538DC98}"/>
              </a:ext>
            </a:extLst>
          </p:cNvPr>
          <p:cNvCxnSpPr>
            <a:cxnSpLocks/>
          </p:cNvCxnSpPr>
          <p:nvPr/>
        </p:nvCxnSpPr>
        <p:spPr>
          <a:xfrm flipH="1" flipV="1">
            <a:off x="6177838" y="3922998"/>
            <a:ext cx="5112000" cy="0"/>
          </a:xfrm>
          <a:prstGeom prst="line">
            <a:avLst/>
          </a:prstGeom>
          <a:noFill/>
          <a:ln w="12700" cap="flat" cmpd="sng" algn="ctr">
            <a:solidFill>
              <a:schemeClr val="bg1">
                <a:lumMod val="85000"/>
              </a:schemeClr>
            </a:solidFill>
            <a:prstDash val="solid"/>
            <a:miter lim="800000"/>
          </a:ln>
          <a:effectLst/>
        </p:spPr>
      </p:cxnSp>
      <p:sp>
        <p:nvSpPr>
          <p:cNvPr id="38" name="Rectángulo 37">
            <a:extLst>
              <a:ext uri="{FF2B5EF4-FFF2-40B4-BE49-F238E27FC236}">
                <a16:creationId xmlns:a16="http://schemas.microsoft.com/office/drawing/2014/main" id="{997B093E-02C2-D040-644C-66CEEEEDD09A}"/>
              </a:ext>
            </a:extLst>
          </p:cNvPr>
          <p:cNvSpPr/>
          <p:nvPr/>
        </p:nvSpPr>
        <p:spPr>
          <a:xfrm>
            <a:off x="6186095" y="2096580"/>
            <a:ext cx="1440000" cy="540000"/>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ea typeface="+mn-ea"/>
                <a:cs typeface="+mn-cs"/>
              </a:rPr>
              <a:t>Token Manager</a:t>
            </a:r>
          </a:p>
        </p:txBody>
      </p:sp>
      <p:sp>
        <p:nvSpPr>
          <p:cNvPr id="39" name="Rectángulo 38">
            <a:extLst>
              <a:ext uri="{FF2B5EF4-FFF2-40B4-BE49-F238E27FC236}">
                <a16:creationId xmlns:a16="http://schemas.microsoft.com/office/drawing/2014/main" id="{766A0797-9B2C-B806-C250-4BE67C33781B}"/>
              </a:ext>
            </a:extLst>
          </p:cNvPr>
          <p:cNvSpPr/>
          <p:nvPr/>
        </p:nvSpPr>
        <p:spPr>
          <a:xfrm>
            <a:off x="6186095" y="3158925"/>
            <a:ext cx="1440000" cy="540000"/>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spcAft>
                <a:spcPts val="600"/>
              </a:spcAft>
            </a:pPr>
            <a:r>
              <a:rPr lang="en-AU" sz="1400" kern="0">
                <a:solidFill>
                  <a:srgbClr val="DEEDF1">
                    <a:lumMod val="25000"/>
                  </a:srgbClr>
                </a:solidFill>
              </a:rPr>
              <a:t>ACS</a:t>
            </a:r>
          </a:p>
        </p:txBody>
      </p:sp>
      <p:sp>
        <p:nvSpPr>
          <p:cNvPr id="7" name="CuadroTexto 6">
            <a:extLst>
              <a:ext uri="{FF2B5EF4-FFF2-40B4-BE49-F238E27FC236}">
                <a16:creationId xmlns:a16="http://schemas.microsoft.com/office/drawing/2014/main" id="{FBF08F85-B5ED-CB5C-0258-9220A68A032E}"/>
              </a:ext>
            </a:extLst>
          </p:cNvPr>
          <p:cNvSpPr txBox="1"/>
          <p:nvPr/>
        </p:nvSpPr>
        <p:spPr>
          <a:xfrm>
            <a:off x="7724562" y="3117219"/>
            <a:ext cx="3745858" cy="726625"/>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R="0" lvl="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i="0" u="none" strike="noStrike" kern="0" cap="none" spc="0" normalizeH="0" baseline="0" noProof="0">
                <a:ln>
                  <a:noFill/>
                </a:ln>
                <a:solidFill>
                  <a:prstClr val="black"/>
                </a:solidFill>
                <a:effectLst/>
                <a:uLnTx/>
                <a:uFillTx/>
                <a:latin typeface="Santander Text"/>
                <a:ea typeface="+mn-ea"/>
                <a:cs typeface="+mn-cs"/>
              </a:rPr>
              <a:t>Internal solution that meets the requirements for 3D Secure Authentication Protocol</a:t>
            </a:r>
            <a:endParaRPr lang="en-AU" kern="0">
              <a:solidFill>
                <a:srgbClr val="DEEDF1">
                  <a:lumMod val="25000"/>
                </a:srgbClr>
              </a:solidFill>
              <a:latin typeface="Santander Text" panose="020B0504020201020104" pitchFamily="34" charset="0"/>
            </a:endParaRPr>
          </a:p>
        </p:txBody>
      </p:sp>
      <p:sp>
        <p:nvSpPr>
          <p:cNvPr id="8" name="CuadroTexto 7">
            <a:extLst>
              <a:ext uri="{FF2B5EF4-FFF2-40B4-BE49-F238E27FC236}">
                <a16:creationId xmlns:a16="http://schemas.microsoft.com/office/drawing/2014/main" id="{03A21378-78A7-84C7-6E94-47CD8762BE8B}"/>
              </a:ext>
            </a:extLst>
          </p:cNvPr>
          <p:cNvSpPr txBox="1"/>
          <p:nvPr/>
        </p:nvSpPr>
        <p:spPr>
          <a:xfrm>
            <a:off x="7724562" y="3983067"/>
            <a:ext cx="3745858" cy="726625"/>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R="0" lvl="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i="0" u="none" strike="noStrike" kern="0" cap="none" spc="0" normalizeH="0" baseline="0" noProof="0">
                <a:ln>
                  <a:noFill/>
                </a:ln>
                <a:solidFill>
                  <a:prstClr val="black"/>
                </a:solidFill>
                <a:effectLst/>
                <a:uLnTx/>
                <a:uFillTx/>
                <a:latin typeface="Santander Text"/>
                <a:ea typeface="+mn-ea"/>
                <a:cs typeface="+mn-cs"/>
              </a:rPr>
              <a:t>Services for card business, such as token services, antifraud, domain structure, customer comms, enterprise management, SDK, information security and document digitalization</a:t>
            </a:r>
            <a:endParaRPr lang="en-AU" kern="0">
              <a:solidFill>
                <a:srgbClr val="DEEDF1">
                  <a:lumMod val="25000"/>
                </a:srgbClr>
              </a:solidFill>
              <a:latin typeface="Santander Text" panose="020B0504020201020104" pitchFamily="34" charset="0"/>
            </a:endParaRPr>
          </a:p>
        </p:txBody>
      </p:sp>
      <p:sp>
        <p:nvSpPr>
          <p:cNvPr id="5" name="Título 1">
            <a:extLst>
              <a:ext uri="{FF2B5EF4-FFF2-40B4-BE49-F238E27FC236}">
                <a16:creationId xmlns:a16="http://schemas.microsoft.com/office/drawing/2014/main" id="{3BEF3E71-BC3D-BD95-E964-C5D1B12509F8}"/>
              </a:ext>
            </a:extLst>
          </p:cNvPr>
          <p:cNvSpPr txBox="1">
            <a:spLocks/>
          </p:cNvSpPr>
          <p:nvPr/>
        </p:nvSpPr>
        <p:spPr>
          <a:xfrm>
            <a:off x="711024" y="641900"/>
            <a:ext cx="10758733" cy="836992"/>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lang="en-US" sz="2800" b="1" kern="1200" dirty="0">
                <a:solidFill>
                  <a:schemeClr val="accent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s-ES" sz="2800" b="1" i="0" u="none" strike="noStrike" kern="1200" cap="none" spc="0" normalizeH="0" baseline="0" noProof="0">
                <a:ln>
                  <a:noFill/>
                </a:ln>
                <a:solidFill>
                  <a:srgbClr val="EB0000"/>
                </a:solidFill>
                <a:effectLst/>
                <a:uLnTx/>
                <a:uFillTx/>
                <a:latin typeface="Santander Headline" panose="020B0504020201020104" pitchFamily="34" charset="0"/>
                <a:ea typeface="+mj-ea"/>
                <a:cs typeface="+mj-cs"/>
              </a:rPr>
              <a:t>Global </a:t>
            </a:r>
            <a:r>
              <a:rPr kumimoji="0" lang="es-ES" sz="2800" b="1" i="0" u="none" strike="noStrike" kern="1200" cap="none" spc="0" normalizeH="0" baseline="0" noProof="0" err="1">
                <a:ln>
                  <a:noFill/>
                </a:ln>
                <a:solidFill>
                  <a:srgbClr val="EB0000"/>
                </a:solidFill>
                <a:effectLst/>
                <a:uLnTx/>
                <a:uFillTx/>
                <a:latin typeface="Santander Headline" panose="020B0504020201020104" pitchFamily="34" charset="0"/>
                <a:ea typeface="+mj-ea"/>
                <a:cs typeface="+mj-cs"/>
              </a:rPr>
              <a:t>Cards</a:t>
            </a:r>
            <a:r>
              <a:rPr kumimoji="0" lang="es-ES" sz="2800" b="1" i="0" u="none" strike="noStrike" kern="1200" cap="none" spc="0" normalizeH="0" baseline="0" noProof="0">
                <a:ln>
                  <a:noFill/>
                </a:ln>
                <a:solidFill>
                  <a:srgbClr val="EB0000"/>
                </a:solidFill>
                <a:effectLst/>
                <a:uLnTx/>
                <a:uFillTx/>
                <a:latin typeface="Santander Headline" panose="020B0504020201020104" pitchFamily="34" charset="0"/>
                <a:ea typeface="+mj-ea"/>
                <a:cs typeface="+mj-cs"/>
              </a:rPr>
              <a:t>. </a:t>
            </a:r>
            <a:r>
              <a:rPr lang="es-ES" err="1">
                <a:solidFill>
                  <a:schemeClr val="bg1">
                    <a:lumMod val="75000"/>
                  </a:schemeClr>
                </a:solidFill>
              </a:rPr>
              <a:t>Plard</a:t>
            </a:r>
            <a:r>
              <a:rPr lang="es-ES">
                <a:solidFill>
                  <a:schemeClr val="bg1">
                    <a:lumMod val="75000"/>
                  </a:schemeClr>
                </a:solidFill>
              </a:rPr>
              <a:t>  </a:t>
            </a:r>
          </a:p>
        </p:txBody>
      </p:sp>
      <p:sp>
        <p:nvSpPr>
          <p:cNvPr id="16" name="Rectángulo 15">
            <a:extLst>
              <a:ext uri="{FF2B5EF4-FFF2-40B4-BE49-F238E27FC236}">
                <a16:creationId xmlns:a16="http://schemas.microsoft.com/office/drawing/2014/main" id="{3C502FE9-8078-9302-5C7B-DE6B2F4E9019}"/>
              </a:ext>
            </a:extLst>
          </p:cNvPr>
          <p:cNvSpPr/>
          <p:nvPr/>
        </p:nvSpPr>
        <p:spPr>
          <a:xfrm>
            <a:off x="118844" y="7773114"/>
            <a:ext cx="6843567" cy="622088"/>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ea typeface="+mn-ea"/>
                <a:cs typeface="+mn-cs"/>
              </a:rPr>
              <a:t>Corporate</a:t>
            </a:r>
          </a:p>
        </p:txBody>
      </p:sp>
      <p:sp>
        <p:nvSpPr>
          <p:cNvPr id="18" name="Rectángulo 17">
            <a:extLst>
              <a:ext uri="{FF2B5EF4-FFF2-40B4-BE49-F238E27FC236}">
                <a16:creationId xmlns:a16="http://schemas.microsoft.com/office/drawing/2014/main" id="{9D6DF6EC-F166-37DD-7A9F-0A417FEEF719}"/>
              </a:ext>
            </a:extLst>
          </p:cNvPr>
          <p:cNvSpPr/>
          <p:nvPr/>
        </p:nvSpPr>
        <p:spPr>
          <a:xfrm>
            <a:off x="752764" y="4672199"/>
            <a:ext cx="1440000" cy="540000"/>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spcAft>
                <a:spcPts val="600"/>
              </a:spcAft>
            </a:pPr>
            <a:r>
              <a:rPr lang="en-AU" sz="1400" kern="0">
                <a:solidFill>
                  <a:srgbClr val="DEEDF1">
                    <a:lumMod val="25000"/>
                  </a:srgbClr>
                </a:solidFill>
              </a:rPr>
              <a:t>Corporate</a:t>
            </a:r>
          </a:p>
        </p:txBody>
      </p:sp>
      <p:sp>
        <p:nvSpPr>
          <p:cNvPr id="20" name="CuadroTexto 19">
            <a:extLst>
              <a:ext uri="{FF2B5EF4-FFF2-40B4-BE49-F238E27FC236}">
                <a16:creationId xmlns:a16="http://schemas.microsoft.com/office/drawing/2014/main" id="{103C9553-4716-45EF-4144-9BB45C667DB5}"/>
              </a:ext>
            </a:extLst>
          </p:cNvPr>
          <p:cNvSpPr txBox="1"/>
          <p:nvPr/>
        </p:nvSpPr>
        <p:spPr>
          <a:xfrm>
            <a:off x="684798" y="3542501"/>
            <a:ext cx="4882522" cy="592470"/>
          </a:xfrm>
          <a:prstGeom prst="rect">
            <a:avLst/>
          </a:prstGeom>
          <a:noFill/>
        </p:spPr>
        <p:txBody>
          <a:bodyPr wrap="square" rtlCol="0">
            <a:spAutoFit/>
          </a:bodyPr>
          <a:lstStyle/>
          <a:p>
            <a:pPr marL="355600" indent="-355600">
              <a:spcAft>
                <a:spcPts val="300"/>
              </a:spcAft>
              <a:defRPr/>
            </a:pPr>
            <a:r>
              <a:rPr kumimoji="0" lang="en-AU"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5 - Cards Corporate Services</a:t>
            </a:r>
          </a:p>
          <a:p>
            <a:pPr marL="7938" indent="-7938">
              <a:spcAft>
                <a:spcPts val="300"/>
              </a:spcAft>
              <a:defRPr/>
            </a:pPr>
            <a:r>
              <a:rPr lang="en-AU" sz="1400" i="1" kern="0">
                <a:solidFill>
                  <a:srgbClr val="DEEDF1">
                    <a:lumMod val="25000"/>
                  </a:srgbClr>
                </a:solidFill>
                <a:latin typeface="Santander Text" panose="020B0504020201020104" pitchFamily="34" charset="0"/>
              </a:rPr>
              <a:t>Enables device management within an organization</a:t>
            </a:r>
          </a:p>
        </p:txBody>
      </p:sp>
      <p:cxnSp>
        <p:nvCxnSpPr>
          <p:cNvPr id="24" name="Conector recto 23">
            <a:extLst>
              <a:ext uri="{FF2B5EF4-FFF2-40B4-BE49-F238E27FC236}">
                <a16:creationId xmlns:a16="http://schemas.microsoft.com/office/drawing/2014/main" id="{E146E0FA-B040-0EB7-8D00-9DC7D0872DFC}"/>
              </a:ext>
            </a:extLst>
          </p:cNvPr>
          <p:cNvCxnSpPr>
            <a:cxnSpLocks/>
          </p:cNvCxnSpPr>
          <p:nvPr/>
        </p:nvCxnSpPr>
        <p:spPr>
          <a:xfrm flipH="1" flipV="1">
            <a:off x="711024" y="4347365"/>
            <a:ext cx="5112000" cy="0"/>
          </a:xfrm>
          <a:prstGeom prst="line">
            <a:avLst/>
          </a:prstGeom>
          <a:noFill/>
          <a:ln w="12700" cap="flat" cmpd="sng" algn="ctr">
            <a:solidFill>
              <a:srgbClr val="595959"/>
            </a:solidFill>
            <a:prstDash val="solid"/>
            <a:miter lim="800000"/>
          </a:ln>
          <a:effectLst/>
        </p:spPr>
      </p:cxnSp>
      <p:sp>
        <p:nvSpPr>
          <p:cNvPr id="25" name="CuadroTexto 24">
            <a:extLst>
              <a:ext uri="{FF2B5EF4-FFF2-40B4-BE49-F238E27FC236}">
                <a16:creationId xmlns:a16="http://schemas.microsoft.com/office/drawing/2014/main" id="{5CCB5028-B626-542E-C511-31C11148427E}"/>
              </a:ext>
            </a:extLst>
          </p:cNvPr>
          <p:cNvSpPr txBox="1"/>
          <p:nvPr/>
        </p:nvSpPr>
        <p:spPr>
          <a:xfrm>
            <a:off x="2192764" y="4438460"/>
            <a:ext cx="3630260" cy="1043739"/>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R="0" lvl="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i="0" u="none" strike="noStrike" kern="0" cap="none" spc="0" normalizeH="0" baseline="0" noProof="0">
                <a:ln>
                  <a:noFill/>
                </a:ln>
                <a:solidFill>
                  <a:prstClr val="black"/>
                </a:solidFill>
                <a:effectLst/>
                <a:uLnTx/>
                <a:uFillTx/>
                <a:latin typeface="Santander Text"/>
                <a:ea typeface="+mn-ea"/>
                <a:cs typeface="+mn-cs"/>
              </a:rPr>
              <a:t>The Corporate Domain aims to contemplate a business card processing platform with the main objective of facilitating the management and administration of devices  distributed by department and device holder within an organization or company</a:t>
            </a:r>
            <a:endParaRPr lang="en-AU" kern="0">
              <a:solidFill>
                <a:srgbClr val="DEEDF1">
                  <a:lumMod val="25000"/>
                </a:srgbClr>
              </a:solidFill>
              <a:latin typeface="Santander Text" panose="020B0504020201020104" pitchFamily="34" charset="0"/>
            </a:endParaRPr>
          </a:p>
        </p:txBody>
      </p:sp>
    </p:spTree>
    <p:extLst>
      <p:ext uri="{BB962C8B-B14F-4D97-AF65-F5344CB8AC3E}">
        <p14:creationId xmlns:p14="http://schemas.microsoft.com/office/powerpoint/2010/main" val="3136789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2">
            <a:extLst>
              <a:ext uri="{FF2B5EF4-FFF2-40B4-BE49-F238E27FC236}">
                <a16:creationId xmlns:a16="http://schemas.microsoft.com/office/drawing/2014/main" id="{C5F67029-F219-FC96-7D6C-5F6C446E76B2}"/>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15" name="Rectángulo 14">
            <a:extLst>
              <a:ext uri="{FF2B5EF4-FFF2-40B4-BE49-F238E27FC236}">
                <a16:creationId xmlns:a16="http://schemas.microsoft.com/office/drawing/2014/main" id="{532E11D7-B060-9FE8-9DBC-290E6C96DE16}"/>
              </a:ext>
            </a:extLst>
          </p:cNvPr>
          <p:cNvSpPr/>
          <p:nvPr/>
        </p:nvSpPr>
        <p:spPr>
          <a:xfrm>
            <a:off x="711024" y="5407453"/>
            <a:ext cx="1440000" cy="612000"/>
          </a:xfrm>
          <a:prstGeom prst="rect">
            <a:avLst/>
          </a:prstGeom>
          <a:solidFill>
            <a:schemeClr val="bg1"/>
          </a:solidFill>
          <a:ln w="12700" cap="flat" cmpd="sng" algn="ctr">
            <a:solidFill>
              <a:schemeClr val="bg2">
                <a:lumMod val="50000"/>
              </a:schemeClr>
            </a:solidFill>
            <a:prstDash val="solid"/>
            <a:miter lim="800000"/>
          </a:ln>
          <a:effectLst/>
        </p:spPr>
        <p:txBody>
          <a:bodyPr lIns="72000" tIns="45720" rIns="72000" bIns="45720" rtlCol="0" anchor="ctr"/>
          <a:lstStyle/>
          <a:p>
            <a:pPr algn="ctr">
              <a:spcAft>
                <a:spcPts val="600"/>
              </a:spcAft>
            </a:pPr>
            <a:r>
              <a:rPr lang="en-AU" sz="1400">
                <a:solidFill>
                  <a:srgbClr val="001B39"/>
                </a:solidFill>
                <a:latin typeface="Santander Text"/>
              </a:rPr>
              <a:t>Advanced Analytics &amp; AI Platform</a:t>
            </a:r>
          </a:p>
        </p:txBody>
      </p:sp>
      <p:sp>
        <p:nvSpPr>
          <p:cNvPr id="19" name="Rectángulo 18">
            <a:extLst>
              <a:ext uri="{FF2B5EF4-FFF2-40B4-BE49-F238E27FC236}">
                <a16:creationId xmlns:a16="http://schemas.microsoft.com/office/drawing/2014/main" id="{81107006-DEAA-61FE-5DFA-9A97FCDB224A}"/>
              </a:ext>
            </a:extLst>
          </p:cNvPr>
          <p:cNvSpPr/>
          <p:nvPr/>
        </p:nvSpPr>
        <p:spPr>
          <a:xfrm>
            <a:off x="711024" y="2145697"/>
            <a:ext cx="1440000" cy="612000"/>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defRPr/>
            </a:pPr>
            <a:r>
              <a:rPr lang="en-AU" sz="1400">
                <a:solidFill>
                  <a:srgbClr val="001B39"/>
                </a:solidFill>
                <a:latin typeface="Santander Text"/>
              </a:rPr>
              <a:t>Analytical  Data Platform (Azure, AWS)</a:t>
            </a:r>
          </a:p>
        </p:txBody>
      </p:sp>
      <p:sp>
        <p:nvSpPr>
          <p:cNvPr id="21" name="CuadroTexto 20">
            <a:extLst>
              <a:ext uri="{FF2B5EF4-FFF2-40B4-BE49-F238E27FC236}">
                <a16:creationId xmlns:a16="http://schemas.microsoft.com/office/drawing/2014/main" id="{521604CC-F7C4-A23D-26ED-6006C261FAEE}"/>
              </a:ext>
            </a:extLst>
          </p:cNvPr>
          <p:cNvSpPr txBox="1"/>
          <p:nvPr/>
        </p:nvSpPr>
        <p:spPr>
          <a:xfrm>
            <a:off x="684799" y="1128886"/>
            <a:ext cx="4811762" cy="807913"/>
          </a:xfrm>
          <a:prstGeom prst="rect">
            <a:avLst/>
          </a:prstGeom>
          <a:noFill/>
        </p:spPr>
        <p:txBody>
          <a:bodyPr wrap="square" rtlCol="0">
            <a:spAutoFit/>
          </a:bodyPr>
          <a:lstStyle/>
          <a:p>
            <a:pPr marL="355600" indent="-355600">
              <a:spcAft>
                <a:spcPts val="300"/>
              </a:spcAft>
              <a:defRPr/>
            </a:pPr>
            <a:r>
              <a:rPr lang="en-AU" sz="1600" b="1" kern="0">
                <a:solidFill>
                  <a:srgbClr val="DEEDF1">
                    <a:lumMod val="25000"/>
                  </a:srgbClr>
                </a:solidFill>
                <a:latin typeface="Santander Text" panose="020B0504020201020104" pitchFamily="34" charset="0"/>
              </a:rPr>
              <a:t>1 –  Core Data Analytic Platform</a:t>
            </a:r>
          </a:p>
          <a:p>
            <a:pPr>
              <a:spcAft>
                <a:spcPts val="300"/>
              </a:spcAft>
              <a:defRPr/>
            </a:pPr>
            <a:r>
              <a:rPr lang="en-US" sz="1400" i="1" kern="0">
                <a:solidFill>
                  <a:srgbClr val="DEEDF1">
                    <a:lumMod val="25000"/>
                  </a:srgbClr>
                </a:solidFill>
                <a:latin typeface="Santander Text" panose="020B0504020201020104" pitchFamily="34" charset="0"/>
              </a:rPr>
              <a:t>Technical capabilities that supports data analysis lifecycle with real time and  batch ingestion</a:t>
            </a:r>
          </a:p>
        </p:txBody>
      </p:sp>
      <p:cxnSp>
        <p:nvCxnSpPr>
          <p:cNvPr id="22" name="Conector recto 21">
            <a:extLst>
              <a:ext uri="{FF2B5EF4-FFF2-40B4-BE49-F238E27FC236}">
                <a16:creationId xmlns:a16="http://schemas.microsoft.com/office/drawing/2014/main" id="{95D3203A-A6F6-8622-675E-1B6CCD9AB872}"/>
              </a:ext>
            </a:extLst>
          </p:cNvPr>
          <p:cNvCxnSpPr>
            <a:cxnSpLocks/>
          </p:cNvCxnSpPr>
          <p:nvPr/>
        </p:nvCxnSpPr>
        <p:spPr>
          <a:xfrm flipH="1" flipV="1">
            <a:off x="684799" y="1933750"/>
            <a:ext cx="4788000" cy="0"/>
          </a:xfrm>
          <a:prstGeom prst="line">
            <a:avLst/>
          </a:prstGeom>
          <a:noFill/>
          <a:ln w="12700" cap="flat" cmpd="sng" algn="ctr">
            <a:solidFill>
              <a:srgbClr val="595959"/>
            </a:solidFill>
            <a:prstDash val="solid"/>
            <a:miter lim="800000"/>
          </a:ln>
          <a:effectLst/>
        </p:spPr>
      </p:cxnSp>
      <p:sp>
        <p:nvSpPr>
          <p:cNvPr id="23" name="CuadroTexto 22">
            <a:extLst>
              <a:ext uri="{FF2B5EF4-FFF2-40B4-BE49-F238E27FC236}">
                <a16:creationId xmlns:a16="http://schemas.microsoft.com/office/drawing/2014/main" id="{D0DF7234-D303-7B43-9FFE-366CABE65C67}"/>
              </a:ext>
            </a:extLst>
          </p:cNvPr>
          <p:cNvSpPr txBox="1"/>
          <p:nvPr/>
        </p:nvSpPr>
        <p:spPr>
          <a:xfrm>
            <a:off x="2192764" y="1965879"/>
            <a:ext cx="3658438" cy="909402"/>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180000" marR="0" lvl="0" indent="-180000" algn="l" defTabSz="914400" rtl="0" eaLnBrk="1" fontAlgn="auto" latinLnBrk="0" hangingPunct="1">
              <a:lnSpc>
                <a:spcPct val="100000"/>
              </a:lnSpc>
              <a:spcBef>
                <a:spcPts val="600"/>
              </a:spcBef>
              <a:spcAft>
                <a:spcPts val="0"/>
              </a:spcAft>
              <a:buClr>
                <a:srgbClr val="EC0000"/>
              </a:buClr>
              <a:buSzTx/>
              <a:buFont typeface="Arial" panose="020B0604020202020204" pitchFamily="34" charset="0"/>
              <a:buChar char="•"/>
              <a:tabLst/>
              <a:defRPr/>
            </a:pPr>
            <a:endParaRPr kumimoji="0" lang="en-GB" sz="1200" b="0" i="0" u="none" strike="noStrike" kern="1200" cap="none" spc="0" normalizeH="0" baseline="0" noProof="0">
              <a:ln>
                <a:noFill/>
              </a:ln>
              <a:solidFill>
                <a:srgbClr val="595959"/>
              </a:solidFill>
              <a:effectLst/>
              <a:uLnTx/>
              <a:uFillTx/>
              <a:latin typeface="Santander Text"/>
              <a:ea typeface="+mn-ea"/>
              <a:cs typeface="+mn-cs"/>
            </a:endParaRPr>
          </a:p>
        </p:txBody>
      </p:sp>
      <p:cxnSp>
        <p:nvCxnSpPr>
          <p:cNvPr id="24" name="Conector recto 23">
            <a:extLst>
              <a:ext uri="{FF2B5EF4-FFF2-40B4-BE49-F238E27FC236}">
                <a16:creationId xmlns:a16="http://schemas.microsoft.com/office/drawing/2014/main" id="{8FB168E4-4482-3337-ECA4-1613C78248BE}"/>
              </a:ext>
            </a:extLst>
          </p:cNvPr>
          <p:cNvCxnSpPr>
            <a:cxnSpLocks/>
          </p:cNvCxnSpPr>
          <p:nvPr/>
        </p:nvCxnSpPr>
        <p:spPr>
          <a:xfrm flipH="1" flipV="1">
            <a:off x="684799" y="5043027"/>
            <a:ext cx="5112000" cy="0"/>
          </a:xfrm>
          <a:prstGeom prst="line">
            <a:avLst/>
          </a:prstGeom>
          <a:noFill/>
          <a:ln w="12700" cap="flat" cmpd="sng" algn="ctr">
            <a:solidFill>
              <a:schemeClr val="bg1">
                <a:lumMod val="85000"/>
              </a:schemeClr>
            </a:solidFill>
            <a:prstDash val="solid"/>
            <a:miter lim="800000"/>
          </a:ln>
          <a:effectLst/>
        </p:spPr>
      </p:cxnSp>
      <p:sp>
        <p:nvSpPr>
          <p:cNvPr id="26" name="CuadroTexto 25">
            <a:extLst>
              <a:ext uri="{FF2B5EF4-FFF2-40B4-BE49-F238E27FC236}">
                <a16:creationId xmlns:a16="http://schemas.microsoft.com/office/drawing/2014/main" id="{6D26BBC5-3876-5692-5E14-58110D472B80}"/>
              </a:ext>
            </a:extLst>
          </p:cNvPr>
          <p:cNvSpPr txBox="1"/>
          <p:nvPr/>
        </p:nvSpPr>
        <p:spPr>
          <a:xfrm>
            <a:off x="2172445" y="5058396"/>
            <a:ext cx="3311803" cy="1831271"/>
          </a:xfrm>
          <a:prstGeom prst="rect">
            <a:avLst/>
          </a:prstGeom>
          <a:noFill/>
        </p:spPr>
        <p:txBody>
          <a:bodyPr wrap="square" lIns="91440" tIns="45720" rIns="91440" bIns="45720" anchor="t">
            <a:spAutoFit/>
          </a:bodyPr>
          <a:lstStyle/>
          <a:p>
            <a:pPr marL="179705" indent="-179705" fontAlgn="base">
              <a:spcBef>
                <a:spcPts val="600"/>
              </a:spcBef>
              <a:spcAft>
                <a:spcPct val="0"/>
              </a:spcAft>
              <a:buClr>
                <a:srgbClr val="EC0000"/>
              </a:buClr>
              <a:buFont typeface="Arial" panose="020B0604020202020204" pitchFamily="34" charset="0"/>
              <a:buChar char="•"/>
              <a:defRPr/>
            </a:pPr>
            <a:r>
              <a:rPr lang="en-US" altLang="es-ES" sz="1200">
                <a:solidFill>
                  <a:prstClr val="black"/>
                </a:solidFill>
                <a:latin typeface="Santander Text"/>
              </a:rPr>
              <a:t>Analytical capabilities focused on machine learning, predictive modeling, </a:t>
            </a:r>
            <a:r>
              <a:rPr lang="en-US" altLang="es-ES" sz="1200" err="1">
                <a:solidFill>
                  <a:prstClr val="black"/>
                </a:solidFill>
                <a:latin typeface="Santander Text"/>
              </a:rPr>
              <a:t>GenAI</a:t>
            </a:r>
            <a:r>
              <a:rPr lang="en-US" altLang="es-ES" sz="1200">
                <a:solidFill>
                  <a:prstClr val="black"/>
                </a:solidFill>
                <a:latin typeface="Santander Text"/>
              </a:rPr>
              <a:t> and other advanced analytics techniques to make informed business decisions including the governance model and technical and functional observability of the capabilities</a:t>
            </a:r>
            <a:endParaRPr lang="es-ES" altLang="es-ES" sz="1200">
              <a:solidFill>
                <a:prstClr val="black"/>
              </a:solidFill>
              <a:latin typeface="Santander Text"/>
            </a:endParaRPr>
          </a:p>
          <a:p>
            <a:pPr fontAlgn="base">
              <a:spcBef>
                <a:spcPts val="600"/>
              </a:spcBef>
              <a:spcAft>
                <a:spcPct val="0"/>
              </a:spcAft>
              <a:buClr>
                <a:srgbClr val="EC0000"/>
              </a:buClr>
              <a:defRPr/>
            </a:pPr>
            <a:endParaRPr lang="en-US" altLang="es-ES" sz="1200">
              <a:solidFill>
                <a:prstClr val="black"/>
              </a:solidFill>
              <a:latin typeface="Santander Text"/>
            </a:endParaRPr>
          </a:p>
          <a:p>
            <a:pPr marL="179705" marR="0" lvl="0" indent="-179705"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endParaRPr lang="en-US" sz="1200" b="0" i="0" u="none" strike="noStrike" kern="1200" cap="none" spc="0" normalizeH="0" baseline="0" noProof="0">
              <a:ln>
                <a:noFill/>
              </a:ln>
              <a:solidFill>
                <a:prstClr val="black"/>
              </a:solidFill>
              <a:effectLst/>
              <a:uLnTx/>
              <a:uFillTx/>
            </a:endParaRPr>
          </a:p>
          <a:p>
            <a:pPr marL="179705" marR="0" lvl="0" indent="-179705"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endParaRPr lang="en-GB" sz="1200" b="0" i="0" u="none" strike="noStrike" kern="1200" cap="none" spc="0" normalizeH="0" baseline="0" noProof="0">
              <a:ln>
                <a:noFill/>
              </a:ln>
              <a:solidFill>
                <a:prstClr val="black"/>
              </a:solidFill>
              <a:effectLst/>
              <a:uLnTx/>
              <a:uFillTx/>
            </a:endParaRPr>
          </a:p>
        </p:txBody>
      </p:sp>
      <p:sp>
        <p:nvSpPr>
          <p:cNvPr id="32" name="CuadroTexto 31">
            <a:extLst>
              <a:ext uri="{FF2B5EF4-FFF2-40B4-BE49-F238E27FC236}">
                <a16:creationId xmlns:a16="http://schemas.microsoft.com/office/drawing/2014/main" id="{8AB399CC-4E62-396B-4950-9F03F95F814C}"/>
              </a:ext>
            </a:extLst>
          </p:cNvPr>
          <p:cNvSpPr txBox="1"/>
          <p:nvPr/>
        </p:nvSpPr>
        <p:spPr>
          <a:xfrm>
            <a:off x="5744830" y="1128886"/>
            <a:ext cx="5111999" cy="592470"/>
          </a:xfrm>
          <a:prstGeom prst="rect">
            <a:avLst/>
          </a:prstGeom>
          <a:noFill/>
        </p:spPr>
        <p:txBody>
          <a:bodyPr wrap="square" rtlCol="0">
            <a:spAutoFit/>
          </a:bodyPr>
          <a:lstStyle/>
          <a:p>
            <a:pPr marL="355600" indent="-355600">
              <a:spcAft>
                <a:spcPts val="300"/>
              </a:spcAft>
              <a:defRPr/>
            </a:pPr>
            <a:r>
              <a:rPr lang="en-AU" sz="1600" b="1" kern="0">
                <a:solidFill>
                  <a:srgbClr val="DEEDF1">
                    <a:lumMod val="25000"/>
                  </a:srgbClr>
                </a:solidFill>
                <a:latin typeface="Santander Text" panose="020B0504020201020104" pitchFamily="34" charset="0"/>
              </a:rPr>
              <a:t>2 – Governance &amp; Data Modelling </a:t>
            </a:r>
          </a:p>
          <a:p>
            <a:pPr>
              <a:spcAft>
                <a:spcPts val="300"/>
              </a:spcAft>
              <a:defRPr/>
            </a:pPr>
            <a:r>
              <a:rPr lang="en-US" sz="1400" i="1" kern="0">
                <a:solidFill>
                  <a:srgbClr val="DEEDF1">
                    <a:lumMod val="25000"/>
                  </a:srgbClr>
                </a:solidFill>
                <a:latin typeface="Santander Text" panose="020B0504020201020104" pitchFamily="34" charset="0"/>
              </a:rPr>
              <a:t>Data governance and data modelling</a:t>
            </a:r>
            <a:endParaRPr lang="en-GB" sz="1400" i="1" kern="0">
              <a:solidFill>
                <a:srgbClr val="DEEDF1">
                  <a:lumMod val="25000"/>
                </a:srgbClr>
              </a:solidFill>
              <a:latin typeface="Santander Text" panose="020B0504020201020104" pitchFamily="34" charset="0"/>
            </a:endParaRPr>
          </a:p>
        </p:txBody>
      </p:sp>
      <p:cxnSp>
        <p:nvCxnSpPr>
          <p:cNvPr id="33" name="Conector recto 32">
            <a:extLst>
              <a:ext uri="{FF2B5EF4-FFF2-40B4-BE49-F238E27FC236}">
                <a16:creationId xmlns:a16="http://schemas.microsoft.com/office/drawing/2014/main" id="{86F93A5B-47ED-0086-F0A8-1DFF037A0884}"/>
              </a:ext>
            </a:extLst>
          </p:cNvPr>
          <p:cNvCxnSpPr>
            <a:cxnSpLocks/>
          </p:cNvCxnSpPr>
          <p:nvPr/>
        </p:nvCxnSpPr>
        <p:spPr>
          <a:xfrm flipH="1" flipV="1">
            <a:off x="5771056" y="1933750"/>
            <a:ext cx="5868000" cy="0"/>
          </a:xfrm>
          <a:prstGeom prst="line">
            <a:avLst/>
          </a:prstGeom>
          <a:noFill/>
          <a:ln w="12700" cap="flat" cmpd="sng" algn="ctr">
            <a:solidFill>
              <a:srgbClr val="595959"/>
            </a:solidFill>
            <a:prstDash val="solid"/>
            <a:miter lim="800000"/>
          </a:ln>
          <a:effectLst/>
        </p:spPr>
      </p:cxnSp>
      <p:cxnSp>
        <p:nvCxnSpPr>
          <p:cNvPr id="35" name="Conector recto 34">
            <a:extLst>
              <a:ext uri="{FF2B5EF4-FFF2-40B4-BE49-F238E27FC236}">
                <a16:creationId xmlns:a16="http://schemas.microsoft.com/office/drawing/2014/main" id="{898D6A82-26BF-1216-98A7-D746061A9797}"/>
              </a:ext>
            </a:extLst>
          </p:cNvPr>
          <p:cNvCxnSpPr>
            <a:cxnSpLocks/>
          </p:cNvCxnSpPr>
          <p:nvPr/>
        </p:nvCxnSpPr>
        <p:spPr>
          <a:xfrm flipH="1" flipV="1">
            <a:off x="5811696" y="3547782"/>
            <a:ext cx="5868000" cy="0"/>
          </a:xfrm>
          <a:prstGeom prst="line">
            <a:avLst/>
          </a:prstGeom>
          <a:noFill/>
          <a:ln w="12700" cap="flat" cmpd="sng" algn="ctr">
            <a:solidFill>
              <a:schemeClr val="bg1">
                <a:lumMod val="85000"/>
              </a:schemeClr>
            </a:solidFill>
            <a:prstDash val="solid"/>
            <a:miter lim="800000"/>
          </a:ln>
          <a:effectLst/>
        </p:spPr>
      </p:cxnSp>
      <p:cxnSp>
        <p:nvCxnSpPr>
          <p:cNvPr id="37" name="Conector recto 36">
            <a:extLst>
              <a:ext uri="{FF2B5EF4-FFF2-40B4-BE49-F238E27FC236}">
                <a16:creationId xmlns:a16="http://schemas.microsoft.com/office/drawing/2014/main" id="{75EE2D35-D8CD-EDA1-C9D7-DFC8B538DC98}"/>
              </a:ext>
            </a:extLst>
          </p:cNvPr>
          <p:cNvCxnSpPr>
            <a:cxnSpLocks/>
          </p:cNvCxnSpPr>
          <p:nvPr/>
        </p:nvCxnSpPr>
        <p:spPr>
          <a:xfrm flipH="1" flipV="1">
            <a:off x="5811696" y="5040357"/>
            <a:ext cx="5868000" cy="1"/>
          </a:xfrm>
          <a:prstGeom prst="line">
            <a:avLst/>
          </a:prstGeom>
          <a:noFill/>
          <a:ln w="12700" cap="flat" cmpd="sng" algn="ctr">
            <a:solidFill>
              <a:schemeClr val="bg1">
                <a:lumMod val="85000"/>
              </a:schemeClr>
            </a:solidFill>
            <a:prstDash val="solid"/>
            <a:miter lim="800000"/>
          </a:ln>
          <a:effectLst/>
        </p:spPr>
      </p:cxnSp>
      <p:sp>
        <p:nvSpPr>
          <p:cNvPr id="50" name="CuadroTexto 49">
            <a:extLst>
              <a:ext uri="{FF2B5EF4-FFF2-40B4-BE49-F238E27FC236}">
                <a16:creationId xmlns:a16="http://schemas.microsoft.com/office/drawing/2014/main" id="{34AFC41E-669F-C794-D008-452CF0555F1B}"/>
              </a:ext>
            </a:extLst>
          </p:cNvPr>
          <p:cNvSpPr txBox="1"/>
          <p:nvPr/>
        </p:nvSpPr>
        <p:spPr>
          <a:xfrm>
            <a:off x="7237614" y="3570081"/>
            <a:ext cx="4456080" cy="1461939"/>
          </a:xfrm>
          <a:prstGeom prst="rect">
            <a:avLst/>
          </a:prstGeom>
          <a:noFill/>
        </p:spPr>
        <p:txBody>
          <a:bodyPr wrap="square">
            <a:spAutoFit/>
          </a:bodyPr>
          <a:lstStyle/>
          <a:p>
            <a:pPr marL="180000" indent="-180000" fontAlgn="base">
              <a:spcBef>
                <a:spcPts val="600"/>
              </a:spcBef>
              <a:spcAft>
                <a:spcPct val="0"/>
              </a:spcAft>
              <a:buClr>
                <a:srgbClr val="EC0000"/>
              </a:buClr>
              <a:buFont typeface="Arial" panose="020B0604020202020204" pitchFamily="34" charset="0"/>
              <a:buChar char="•"/>
              <a:defRPr/>
            </a:pPr>
            <a:r>
              <a:rPr lang="en-US" altLang="es-ES" sz="1200">
                <a:solidFill>
                  <a:prstClr val="black"/>
                </a:solidFill>
                <a:latin typeface="Santander Text"/>
              </a:rPr>
              <a:t>Capabilities related with data modeling, which involves analyzing, defining, and representing data and the relationships between them</a:t>
            </a:r>
          </a:p>
          <a:p>
            <a:pPr marL="180000" indent="-180000" fontAlgn="base">
              <a:spcBef>
                <a:spcPts val="600"/>
              </a:spcBef>
              <a:spcAft>
                <a:spcPct val="0"/>
              </a:spcAft>
              <a:buClr>
                <a:srgbClr val="EC0000"/>
              </a:buClr>
              <a:buFont typeface="Arial" panose="020B0604020202020204" pitchFamily="34" charset="0"/>
              <a:buChar char="•"/>
              <a:defRPr/>
            </a:pPr>
            <a:r>
              <a:rPr lang="en-US" altLang="es-ES" sz="1200">
                <a:solidFill>
                  <a:prstClr val="black"/>
                </a:solidFill>
                <a:latin typeface="Santander Text"/>
              </a:rPr>
              <a:t>It also includes the Data Models Lifecycle, which covers all the actions that take place from the creation of the data model to its deployment in different environments and Terms Dictionary (Technical and Functional)</a:t>
            </a:r>
            <a:endParaRPr lang="es-ES" altLang="es-ES" sz="1200">
              <a:solidFill>
                <a:prstClr val="black"/>
              </a:solidFill>
              <a:latin typeface="Santander Text"/>
            </a:endParaRPr>
          </a:p>
        </p:txBody>
      </p:sp>
      <p:sp>
        <p:nvSpPr>
          <p:cNvPr id="4" name="Rectángulo 262">
            <a:extLst>
              <a:ext uri="{FF2B5EF4-FFF2-40B4-BE49-F238E27FC236}">
                <a16:creationId xmlns:a16="http://schemas.microsoft.com/office/drawing/2014/main" id="{EE08DB0D-4425-7AE3-A079-C68A695EE864}"/>
              </a:ext>
            </a:extLst>
          </p:cNvPr>
          <p:cNvSpPr/>
          <p:nvPr/>
        </p:nvSpPr>
        <p:spPr>
          <a:xfrm>
            <a:off x="5800400" y="2145697"/>
            <a:ext cx="1440000" cy="612000"/>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r>
              <a:rPr lang="en-AU" sz="1400">
                <a:solidFill>
                  <a:srgbClr val="001B39"/>
                </a:solidFill>
                <a:latin typeface="Santander Text"/>
              </a:rPr>
              <a:t>Data Governance </a:t>
            </a:r>
            <a:r>
              <a:rPr lang="es-ES" sz="1400">
                <a:solidFill>
                  <a:srgbClr val="001B39"/>
                </a:solidFill>
                <a:latin typeface="Santander Text"/>
              </a:rPr>
              <a:t>( Quality, Model,.),</a:t>
            </a:r>
            <a:endParaRPr lang="en-AU" sz="1400">
              <a:solidFill>
                <a:srgbClr val="001B39"/>
              </a:solidFill>
              <a:latin typeface="Santander Text"/>
            </a:endParaRPr>
          </a:p>
        </p:txBody>
      </p:sp>
      <p:sp>
        <p:nvSpPr>
          <p:cNvPr id="13" name="Rectángulo 262">
            <a:extLst>
              <a:ext uri="{FF2B5EF4-FFF2-40B4-BE49-F238E27FC236}">
                <a16:creationId xmlns:a16="http://schemas.microsoft.com/office/drawing/2014/main" id="{7216245B-56D8-F50F-52A5-FFA411E39952}"/>
              </a:ext>
            </a:extLst>
          </p:cNvPr>
          <p:cNvSpPr/>
          <p:nvPr/>
        </p:nvSpPr>
        <p:spPr>
          <a:xfrm>
            <a:off x="5800400" y="3805383"/>
            <a:ext cx="1440000" cy="612000"/>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r>
              <a:rPr lang="en-GB" sz="1400">
                <a:solidFill>
                  <a:srgbClr val="001B39"/>
                </a:solidFill>
                <a:latin typeface="Santander Text"/>
              </a:rPr>
              <a:t>Data </a:t>
            </a:r>
            <a:r>
              <a:rPr lang="en-GB" sz="1400" err="1">
                <a:solidFill>
                  <a:srgbClr val="001B39"/>
                </a:solidFill>
                <a:latin typeface="Santander Text"/>
              </a:rPr>
              <a:t>Modeling</a:t>
            </a:r>
            <a:endParaRPr lang="en-AU" sz="1400">
              <a:solidFill>
                <a:srgbClr val="001B39"/>
              </a:solidFill>
              <a:latin typeface="Santander Text"/>
            </a:endParaRPr>
          </a:p>
        </p:txBody>
      </p:sp>
      <p:sp>
        <p:nvSpPr>
          <p:cNvPr id="25" name="CuadroTexto 24">
            <a:extLst>
              <a:ext uri="{FF2B5EF4-FFF2-40B4-BE49-F238E27FC236}">
                <a16:creationId xmlns:a16="http://schemas.microsoft.com/office/drawing/2014/main" id="{5219F90F-ECBE-8AAA-73E3-91B8B384A808}"/>
              </a:ext>
            </a:extLst>
          </p:cNvPr>
          <p:cNvSpPr txBox="1"/>
          <p:nvPr/>
        </p:nvSpPr>
        <p:spPr>
          <a:xfrm>
            <a:off x="2172444" y="2013617"/>
            <a:ext cx="3324117" cy="1200329"/>
          </a:xfrm>
          <a:prstGeom prst="rect">
            <a:avLst/>
          </a:prstGeom>
          <a:noFill/>
        </p:spPr>
        <p:txBody>
          <a:bodyPr wrap="square" lIns="91440" tIns="45720" rIns="91440" bIns="45720" anchor="t">
            <a:spAutoFit/>
          </a:bodyPr>
          <a:lstStyle/>
          <a:p>
            <a:pPr marL="179705" indent="-179705">
              <a:spcBef>
                <a:spcPts val="600"/>
              </a:spcBef>
              <a:buClr>
                <a:srgbClr val="EC0000"/>
              </a:buClr>
              <a:buFont typeface="Arial" panose="020B0604020202020204" pitchFamily="34" charset="0"/>
              <a:buChar char="•"/>
              <a:defRPr/>
            </a:pPr>
            <a:r>
              <a:rPr lang="en-US" altLang="es-ES" sz="1200">
                <a:solidFill>
                  <a:prstClr val="black"/>
                </a:solidFill>
                <a:latin typeface="Santander Text"/>
              </a:rPr>
              <a:t>Analytical capabilities focused on AWS and Azure cloud providers to support the entire analytics lifecycle (ingest, processing, share) in batch and streaming including the governance model and technical and functional observability of the capabilities</a:t>
            </a:r>
            <a:endParaRPr lang="en-GB" sz="1200">
              <a:solidFill>
                <a:prstClr val="black"/>
              </a:solidFill>
              <a:latin typeface="Santander Text"/>
            </a:endParaRPr>
          </a:p>
        </p:txBody>
      </p:sp>
      <p:sp>
        <p:nvSpPr>
          <p:cNvPr id="20" name="Rectángulo 262">
            <a:extLst>
              <a:ext uri="{FF2B5EF4-FFF2-40B4-BE49-F238E27FC236}">
                <a16:creationId xmlns:a16="http://schemas.microsoft.com/office/drawing/2014/main" id="{A21EDBBE-8BA0-C2D6-45BA-6D241A9D58F7}"/>
              </a:ext>
            </a:extLst>
          </p:cNvPr>
          <p:cNvSpPr/>
          <p:nvPr/>
        </p:nvSpPr>
        <p:spPr>
          <a:xfrm>
            <a:off x="5800400" y="5311160"/>
            <a:ext cx="1440000" cy="612000"/>
          </a:xfrm>
          <a:prstGeom prst="rect">
            <a:avLst/>
          </a:prstGeom>
          <a:solidFill>
            <a:schemeClr val="bg1"/>
          </a:solidFill>
          <a:ln w="12700" cap="flat" cmpd="sng" algn="ctr">
            <a:solidFill>
              <a:schemeClr val="bg2">
                <a:lumMod val="75000"/>
              </a:schemeClr>
            </a:solidFill>
            <a:prstDash val="solid"/>
            <a:miter lim="800000"/>
          </a:ln>
          <a:effectLst/>
        </p:spPr>
        <p:txBody>
          <a:bodyPr lIns="0" rIns="0" rtlCol="0" anchor="ctr"/>
          <a:lstStyle/>
          <a:p>
            <a:pPr algn="ctr">
              <a:spcAft>
                <a:spcPts val="600"/>
              </a:spcAft>
              <a:defRPr/>
            </a:pPr>
            <a:r>
              <a:rPr lang="en-AU" sz="1400" kern="0">
                <a:solidFill>
                  <a:srgbClr val="DEEDF1">
                    <a:lumMod val="25000"/>
                  </a:srgbClr>
                </a:solidFill>
                <a:latin typeface="Santander Text"/>
              </a:rPr>
              <a:t>Privacy &amp;  Consent management</a:t>
            </a:r>
          </a:p>
        </p:txBody>
      </p:sp>
      <p:sp>
        <p:nvSpPr>
          <p:cNvPr id="10" name="CuadroTexto 9">
            <a:extLst>
              <a:ext uri="{FF2B5EF4-FFF2-40B4-BE49-F238E27FC236}">
                <a16:creationId xmlns:a16="http://schemas.microsoft.com/office/drawing/2014/main" id="{9DAC018B-AAF0-2FC6-DCB4-FB93BF97A6ED}"/>
              </a:ext>
            </a:extLst>
          </p:cNvPr>
          <p:cNvSpPr txBox="1"/>
          <p:nvPr/>
        </p:nvSpPr>
        <p:spPr>
          <a:xfrm>
            <a:off x="7237614" y="2012477"/>
            <a:ext cx="4401442" cy="1461939"/>
          </a:xfrm>
          <a:prstGeom prst="rect">
            <a:avLst/>
          </a:prstGeom>
          <a:noFill/>
        </p:spPr>
        <p:txBody>
          <a:bodyPr wrap="square">
            <a:spAutoFit/>
          </a:bodyPr>
          <a:lstStyle/>
          <a:p>
            <a:pPr marL="180000" marR="0" lvl="0" indent="-180000" fontAlgn="base">
              <a:lnSpc>
                <a:spcPct val="100000"/>
              </a:lnSpc>
              <a:spcBef>
                <a:spcPts val="600"/>
              </a:spcBef>
              <a:spcAft>
                <a:spcPct val="0"/>
              </a:spcAft>
              <a:buClr>
                <a:srgbClr val="EC0000"/>
              </a:buClr>
              <a:buSzTx/>
              <a:buFont typeface="Arial" panose="020B0604020202020204" pitchFamily="34" charset="0"/>
              <a:buChar char="•"/>
              <a:tabLst/>
              <a:defRPr/>
            </a:pPr>
            <a:r>
              <a:rPr lang="en-US" altLang="es-ES" sz="1200">
                <a:solidFill>
                  <a:prstClr val="black"/>
                </a:solidFill>
                <a:latin typeface="Santander Text"/>
              </a:rPr>
              <a:t>Governance capabilities to discover and ensure high data quality , capturing and controlling metadata, standardizing organizational data, and formalizing agreements between data producers and consumers</a:t>
            </a:r>
          </a:p>
          <a:p>
            <a:pPr marL="180000" marR="0" lvl="0" indent="-180000" fontAlgn="base">
              <a:lnSpc>
                <a:spcPct val="100000"/>
              </a:lnSpc>
              <a:spcBef>
                <a:spcPts val="600"/>
              </a:spcBef>
              <a:spcAft>
                <a:spcPct val="0"/>
              </a:spcAft>
              <a:buClr>
                <a:srgbClr val="EC0000"/>
              </a:buClr>
              <a:buSzTx/>
              <a:buFont typeface="Arial" panose="020B0604020202020204" pitchFamily="34" charset="0"/>
              <a:buChar char="•"/>
              <a:tabLst/>
              <a:defRPr/>
            </a:pPr>
            <a:r>
              <a:rPr lang="en-US" altLang="es-ES" sz="1200">
                <a:solidFill>
                  <a:prstClr val="black"/>
                </a:solidFill>
                <a:latin typeface="Santander Text"/>
              </a:rPr>
              <a:t>The goal of data governance is to assure trustworthy data throughout the entire data value chain and enable consistent and confident business decisions based on data assets</a:t>
            </a:r>
            <a:endParaRPr lang="es-ES" altLang="es-ES" sz="1200">
              <a:solidFill>
                <a:prstClr val="black"/>
              </a:solidFill>
              <a:latin typeface="Santander Text"/>
            </a:endParaRPr>
          </a:p>
        </p:txBody>
      </p:sp>
      <p:sp>
        <p:nvSpPr>
          <p:cNvPr id="12" name="Rectangle 7">
            <a:extLst>
              <a:ext uri="{FF2B5EF4-FFF2-40B4-BE49-F238E27FC236}">
                <a16:creationId xmlns:a16="http://schemas.microsoft.com/office/drawing/2014/main" id="{CC42A3F9-D50D-ACD8-E95F-8F3666328B85}"/>
              </a:ext>
            </a:extLst>
          </p:cNvPr>
          <p:cNvSpPr>
            <a:spLocks noChangeArrowheads="1"/>
          </p:cNvSpPr>
          <p:nvPr/>
        </p:nvSpPr>
        <p:spPr bwMode="auto">
          <a:xfrm>
            <a:off x="7237614" y="5034043"/>
            <a:ext cx="4401442" cy="1646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80000" marR="0" lvl="0" indent="-180000" fontAlgn="base">
              <a:lnSpc>
                <a:spcPct val="100000"/>
              </a:lnSpc>
              <a:spcBef>
                <a:spcPts val="600"/>
              </a:spcBef>
              <a:spcAft>
                <a:spcPct val="0"/>
              </a:spcAft>
              <a:buClr>
                <a:srgbClr val="EC0000"/>
              </a:buClr>
              <a:buSzTx/>
              <a:buFont typeface="Arial" panose="020B0604020202020204" pitchFamily="34" charset="0"/>
              <a:buChar char="•"/>
              <a:tabLst/>
              <a:defRPr/>
            </a:pPr>
            <a:r>
              <a:rPr lang="en-US" altLang="es-ES" sz="1200">
                <a:solidFill>
                  <a:prstClr val="black"/>
                </a:solidFill>
                <a:latin typeface="Santander Text"/>
              </a:rPr>
              <a:t>Privacy capabilities to handle of sensitive data including personal data and also other confidential data to meet regulatory requirements as well as protecting the confidentiality and immutability of the data</a:t>
            </a:r>
          </a:p>
          <a:p>
            <a:pPr marL="180000" marR="0" lvl="0" indent="-180000" fontAlgn="base">
              <a:lnSpc>
                <a:spcPct val="100000"/>
              </a:lnSpc>
              <a:spcBef>
                <a:spcPts val="600"/>
              </a:spcBef>
              <a:spcAft>
                <a:spcPct val="0"/>
              </a:spcAft>
              <a:buClr>
                <a:srgbClr val="EC0000"/>
              </a:buClr>
              <a:buSzTx/>
              <a:buFont typeface="Arial" panose="020B0604020202020204" pitchFamily="34" charset="0"/>
              <a:buChar char="•"/>
              <a:tabLst/>
              <a:defRPr/>
            </a:pPr>
            <a:r>
              <a:rPr lang="en-US" altLang="es-ES" sz="1200">
                <a:solidFill>
                  <a:prstClr val="black"/>
                </a:solidFill>
                <a:latin typeface="Santander Text"/>
              </a:rPr>
              <a:t>Consent Management capabilities to ensure that data shared by data subjects is only used for its intended purpose, always according to the consents given by them</a:t>
            </a:r>
            <a:endParaRPr lang="es-ES" altLang="es-ES" sz="1200">
              <a:solidFill>
                <a:prstClr val="black"/>
              </a:solidFill>
              <a:latin typeface="Santander Tex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200" b="0" i="0" u="none" strike="noStrike" cap="none" normalizeH="0" baseline="0">
              <a:ln>
                <a:noFill/>
              </a:ln>
              <a:solidFill>
                <a:schemeClr val="tx1"/>
              </a:solidFill>
              <a:effectLst/>
            </a:endParaRPr>
          </a:p>
        </p:txBody>
      </p:sp>
      <p:sp>
        <p:nvSpPr>
          <p:cNvPr id="5" name="Título 1">
            <a:extLst>
              <a:ext uri="{FF2B5EF4-FFF2-40B4-BE49-F238E27FC236}">
                <a16:creationId xmlns:a16="http://schemas.microsoft.com/office/drawing/2014/main" id="{29CEB651-A450-3DB2-589C-85531B2EB64D}"/>
              </a:ext>
            </a:extLst>
          </p:cNvPr>
          <p:cNvSpPr>
            <a:spLocks noGrp="1"/>
          </p:cNvSpPr>
          <p:nvPr>
            <p:ph type="title"/>
          </p:nvPr>
        </p:nvSpPr>
        <p:spPr>
          <a:xfrm>
            <a:off x="711024" y="641900"/>
            <a:ext cx="10758733" cy="592470"/>
          </a:xfrm>
        </p:spPr>
        <p:txBody>
          <a:bodyPr/>
          <a:lstStyle/>
          <a:p>
            <a:r>
              <a:rPr lang="es-ES"/>
              <a:t>Global </a:t>
            </a:r>
            <a:r>
              <a:rPr lang="es-ES" err="1"/>
              <a:t>Technology</a:t>
            </a:r>
            <a:r>
              <a:rPr lang="es-ES"/>
              <a:t>. </a:t>
            </a:r>
            <a:r>
              <a:rPr lang="en-US" sz="2400">
                <a:solidFill>
                  <a:schemeClr val="bg1">
                    <a:lumMod val="75000"/>
                  </a:schemeClr>
                </a:solidFill>
              </a:rPr>
              <a:t>Data</a:t>
            </a:r>
            <a:endParaRPr lang="en-US">
              <a:solidFill>
                <a:schemeClr val="bg1">
                  <a:lumMod val="75000"/>
                </a:schemeClr>
              </a:solidFill>
            </a:endParaRPr>
          </a:p>
        </p:txBody>
      </p:sp>
      <p:sp>
        <p:nvSpPr>
          <p:cNvPr id="9" name="Rectángulo 18">
            <a:extLst>
              <a:ext uri="{FF2B5EF4-FFF2-40B4-BE49-F238E27FC236}">
                <a16:creationId xmlns:a16="http://schemas.microsoft.com/office/drawing/2014/main" id="{D2C87026-DBA4-F84E-2357-BB7D82255AD1}"/>
              </a:ext>
            </a:extLst>
          </p:cNvPr>
          <p:cNvSpPr/>
          <p:nvPr/>
        </p:nvSpPr>
        <p:spPr>
          <a:xfrm>
            <a:off x="696646" y="3770338"/>
            <a:ext cx="1440000" cy="612000"/>
          </a:xfrm>
          <a:prstGeom prst="rect">
            <a:avLst/>
          </a:prstGeom>
          <a:solidFill>
            <a:schemeClr val="bg1"/>
          </a:solidFill>
          <a:ln w="12700" cap="flat" cmpd="sng" algn="ctr">
            <a:solidFill>
              <a:schemeClr val="bg2">
                <a:lumMod val="50000"/>
              </a:schemeClr>
            </a:solidFill>
            <a:prstDash val="solid"/>
            <a:miter lim="800000"/>
          </a:ln>
          <a:effectLst/>
        </p:spPr>
        <p:txBody>
          <a:bodyPr lIns="72000" tIns="45720" rIns="72000" bIns="45720" rtlCol="0" anchor="ctr"/>
          <a:lstStyle/>
          <a:p>
            <a:pPr algn="ctr">
              <a:defRPr/>
            </a:pPr>
            <a:r>
              <a:rPr lang="en-AU" sz="1400">
                <a:solidFill>
                  <a:srgbClr val="001B39"/>
                </a:solidFill>
                <a:latin typeface="Santander Text"/>
              </a:rPr>
              <a:t>Operational Data Platform</a:t>
            </a:r>
          </a:p>
        </p:txBody>
      </p:sp>
      <p:sp>
        <p:nvSpPr>
          <p:cNvPr id="11" name="CuadroTexto 24">
            <a:extLst>
              <a:ext uri="{FF2B5EF4-FFF2-40B4-BE49-F238E27FC236}">
                <a16:creationId xmlns:a16="http://schemas.microsoft.com/office/drawing/2014/main" id="{FC806DAD-55AC-2EC1-A724-52C314F7470B}"/>
              </a:ext>
            </a:extLst>
          </p:cNvPr>
          <p:cNvSpPr txBox="1"/>
          <p:nvPr/>
        </p:nvSpPr>
        <p:spPr>
          <a:xfrm>
            <a:off x="2172443" y="3638258"/>
            <a:ext cx="3324117" cy="1015663"/>
          </a:xfrm>
          <a:prstGeom prst="rect">
            <a:avLst/>
          </a:prstGeom>
          <a:noFill/>
        </p:spPr>
        <p:txBody>
          <a:bodyPr wrap="square" lIns="91440" tIns="45720" rIns="91440" bIns="45720" anchor="t">
            <a:spAutoFit/>
          </a:bodyPr>
          <a:lstStyle/>
          <a:p>
            <a:pPr marL="179705" indent="-179705">
              <a:spcBef>
                <a:spcPts val="600"/>
              </a:spcBef>
              <a:buClr>
                <a:srgbClr val="EC0000"/>
              </a:buClr>
              <a:buFont typeface="Arial" panose="020B0604020202020204" pitchFamily="34" charset="0"/>
              <a:buChar char="•"/>
              <a:defRPr/>
            </a:pPr>
            <a:r>
              <a:rPr lang="en-US" sz="1200">
                <a:solidFill>
                  <a:prstClr val="black"/>
                </a:solidFill>
                <a:ea typeface="+mn-lt"/>
                <a:cs typeface="+mn-lt"/>
              </a:rPr>
              <a:t>Operational capabilities focused on private and public cloud to support the operative of the bank including the governance model and technical and functional observability of the capabilities.</a:t>
            </a:r>
            <a:endParaRPr lang="en-GB" sz="1200">
              <a:solidFill>
                <a:prstClr val="black"/>
              </a:solidFill>
              <a:latin typeface="Santander Text"/>
            </a:endParaRPr>
          </a:p>
        </p:txBody>
      </p:sp>
      <p:cxnSp>
        <p:nvCxnSpPr>
          <p:cNvPr id="16" name="Conector recto 34">
            <a:extLst>
              <a:ext uri="{FF2B5EF4-FFF2-40B4-BE49-F238E27FC236}">
                <a16:creationId xmlns:a16="http://schemas.microsoft.com/office/drawing/2014/main" id="{ED3FA29A-685C-CCC9-BA2B-F1FE14ABEB2B}"/>
              </a:ext>
            </a:extLst>
          </p:cNvPr>
          <p:cNvCxnSpPr>
            <a:cxnSpLocks/>
          </p:cNvCxnSpPr>
          <p:nvPr/>
        </p:nvCxnSpPr>
        <p:spPr>
          <a:xfrm flipH="1" flipV="1">
            <a:off x="578337" y="3547782"/>
            <a:ext cx="5868000" cy="0"/>
          </a:xfrm>
          <a:prstGeom prst="line">
            <a:avLst/>
          </a:prstGeom>
          <a:noFill/>
          <a:ln w="12700" cap="flat" cmpd="sng" algn="ctr">
            <a:solidFill>
              <a:schemeClr val="bg1">
                <a:lumMod val="85000"/>
              </a:schemeClr>
            </a:solidFill>
            <a:prstDash val="solid"/>
            <a:miter lim="800000"/>
          </a:ln>
          <a:effectLst/>
        </p:spPr>
      </p:cxnSp>
    </p:spTree>
    <p:extLst>
      <p:ext uri="{BB962C8B-B14F-4D97-AF65-F5344CB8AC3E}">
        <p14:creationId xmlns:p14="http://schemas.microsoft.com/office/powerpoint/2010/main" val="9907102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2">
            <a:extLst>
              <a:ext uri="{FF2B5EF4-FFF2-40B4-BE49-F238E27FC236}">
                <a16:creationId xmlns:a16="http://schemas.microsoft.com/office/drawing/2014/main" id="{C5F67029-F219-FC96-7D6C-5F6C446E76B2}"/>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15" name="Rectángulo 14">
            <a:extLst>
              <a:ext uri="{FF2B5EF4-FFF2-40B4-BE49-F238E27FC236}">
                <a16:creationId xmlns:a16="http://schemas.microsoft.com/office/drawing/2014/main" id="{532E11D7-B060-9FE8-9DBC-290E6C96DE16}"/>
              </a:ext>
            </a:extLst>
          </p:cNvPr>
          <p:cNvSpPr/>
          <p:nvPr/>
        </p:nvSpPr>
        <p:spPr>
          <a:xfrm>
            <a:off x="704204" y="2906775"/>
            <a:ext cx="1440000" cy="612000"/>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r>
              <a:rPr lang="en-AU" sz="1400">
                <a:solidFill>
                  <a:srgbClr val="001B39"/>
                </a:solidFill>
                <a:latin typeface="Santander Text"/>
              </a:rPr>
              <a:t>Business Intelligence Analytic</a:t>
            </a:r>
          </a:p>
        </p:txBody>
      </p:sp>
      <p:sp>
        <p:nvSpPr>
          <p:cNvPr id="19" name="Rectángulo 18">
            <a:extLst>
              <a:ext uri="{FF2B5EF4-FFF2-40B4-BE49-F238E27FC236}">
                <a16:creationId xmlns:a16="http://schemas.microsoft.com/office/drawing/2014/main" id="{81107006-DEAA-61FE-5DFA-9A97FCDB224A}"/>
              </a:ext>
            </a:extLst>
          </p:cNvPr>
          <p:cNvSpPr/>
          <p:nvPr/>
        </p:nvSpPr>
        <p:spPr>
          <a:xfrm>
            <a:off x="704204" y="1982338"/>
            <a:ext cx="1440000" cy="612000"/>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defRPr/>
            </a:pPr>
            <a:r>
              <a:rPr lang="en-AU" sz="1400">
                <a:solidFill>
                  <a:srgbClr val="001B39"/>
                </a:solidFill>
                <a:latin typeface="Santander Text"/>
              </a:rPr>
              <a:t>Data As Product (Customer360,.)</a:t>
            </a:r>
          </a:p>
        </p:txBody>
      </p:sp>
      <p:sp>
        <p:nvSpPr>
          <p:cNvPr id="21" name="CuadroTexto 20">
            <a:extLst>
              <a:ext uri="{FF2B5EF4-FFF2-40B4-BE49-F238E27FC236}">
                <a16:creationId xmlns:a16="http://schemas.microsoft.com/office/drawing/2014/main" id="{521604CC-F7C4-A23D-26ED-6006C261FAEE}"/>
              </a:ext>
            </a:extLst>
          </p:cNvPr>
          <p:cNvSpPr txBox="1"/>
          <p:nvPr/>
        </p:nvSpPr>
        <p:spPr>
          <a:xfrm>
            <a:off x="684798" y="1128886"/>
            <a:ext cx="7260321" cy="592470"/>
          </a:xfrm>
          <a:prstGeom prst="rect">
            <a:avLst/>
          </a:prstGeom>
          <a:noFill/>
        </p:spPr>
        <p:txBody>
          <a:bodyPr wrap="square" rtlCol="0">
            <a:spAutoFit/>
          </a:bodyPr>
          <a:lstStyle/>
          <a:p>
            <a:pPr marL="355600" marR="0" lvl="0" indent="-355600" fontAlgn="auto">
              <a:lnSpc>
                <a:spcPct val="100000"/>
              </a:lnSpc>
              <a:spcBef>
                <a:spcPts val="0"/>
              </a:spcBef>
              <a:spcAft>
                <a:spcPts val="300"/>
              </a:spcAft>
              <a:buClrTx/>
              <a:buSzTx/>
              <a:buFontTx/>
              <a:buNone/>
              <a:tabLst/>
              <a:defRPr/>
            </a:pPr>
            <a:r>
              <a:rPr lang="en-AU" sz="1600" b="1" kern="0">
                <a:solidFill>
                  <a:srgbClr val="DEEDF1">
                    <a:lumMod val="25000"/>
                  </a:srgbClr>
                </a:solidFill>
                <a:latin typeface="Santander Text" panose="020B0504020201020104" pitchFamily="34" charset="0"/>
              </a:rPr>
              <a:t>3 – Data Consumption Management</a:t>
            </a:r>
          </a:p>
          <a:p>
            <a:pPr marR="0" lvl="0" indent="0" fontAlgn="auto">
              <a:lnSpc>
                <a:spcPct val="100000"/>
              </a:lnSpc>
              <a:spcBef>
                <a:spcPts val="0"/>
              </a:spcBef>
              <a:spcAft>
                <a:spcPts val="300"/>
              </a:spcAft>
              <a:buClrTx/>
              <a:buSzTx/>
              <a:buFontTx/>
              <a:buNone/>
              <a:tabLst/>
              <a:defRPr/>
            </a:pPr>
            <a:r>
              <a:rPr lang="en-US" sz="1400" i="1" kern="0">
                <a:solidFill>
                  <a:srgbClr val="DEEDF1">
                    <a:lumMod val="25000"/>
                  </a:srgbClr>
                </a:solidFill>
                <a:latin typeface="Santander Text" panose="020B0504020201020104" pitchFamily="34" charset="0"/>
              </a:rPr>
              <a:t>Make data available for consumption by systems and users</a:t>
            </a:r>
          </a:p>
        </p:txBody>
      </p:sp>
      <p:cxnSp>
        <p:nvCxnSpPr>
          <p:cNvPr id="22" name="Conector recto 21">
            <a:extLst>
              <a:ext uri="{FF2B5EF4-FFF2-40B4-BE49-F238E27FC236}">
                <a16:creationId xmlns:a16="http://schemas.microsoft.com/office/drawing/2014/main" id="{95D3203A-A6F6-8622-675E-1B6CCD9AB872}"/>
              </a:ext>
            </a:extLst>
          </p:cNvPr>
          <p:cNvCxnSpPr>
            <a:cxnSpLocks/>
          </p:cNvCxnSpPr>
          <p:nvPr/>
        </p:nvCxnSpPr>
        <p:spPr>
          <a:xfrm flipH="1">
            <a:off x="684799" y="1721356"/>
            <a:ext cx="7560000" cy="0"/>
          </a:xfrm>
          <a:prstGeom prst="line">
            <a:avLst/>
          </a:prstGeom>
          <a:noFill/>
          <a:ln w="12700" cap="flat" cmpd="sng" algn="ctr">
            <a:solidFill>
              <a:srgbClr val="595959"/>
            </a:solidFill>
            <a:prstDash val="solid"/>
            <a:miter lim="800000"/>
          </a:ln>
          <a:effectLst/>
        </p:spPr>
      </p:cxnSp>
      <p:cxnSp>
        <p:nvCxnSpPr>
          <p:cNvPr id="24" name="Conector recto 23">
            <a:extLst>
              <a:ext uri="{FF2B5EF4-FFF2-40B4-BE49-F238E27FC236}">
                <a16:creationId xmlns:a16="http://schemas.microsoft.com/office/drawing/2014/main" id="{8FB168E4-4482-3337-ECA4-1613C78248BE}"/>
              </a:ext>
            </a:extLst>
          </p:cNvPr>
          <p:cNvCxnSpPr>
            <a:cxnSpLocks/>
          </p:cNvCxnSpPr>
          <p:nvPr/>
        </p:nvCxnSpPr>
        <p:spPr>
          <a:xfrm flipH="1" flipV="1">
            <a:off x="684799" y="2745961"/>
            <a:ext cx="7560000" cy="0"/>
          </a:xfrm>
          <a:prstGeom prst="line">
            <a:avLst/>
          </a:prstGeom>
          <a:noFill/>
          <a:ln w="12700" cap="flat" cmpd="sng" algn="ctr">
            <a:solidFill>
              <a:schemeClr val="bg1">
                <a:lumMod val="85000"/>
              </a:schemeClr>
            </a:solidFill>
            <a:prstDash val="solid"/>
            <a:miter lim="800000"/>
          </a:ln>
          <a:effectLst/>
        </p:spPr>
      </p:cxnSp>
      <p:sp>
        <p:nvSpPr>
          <p:cNvPr id="26" name="CuadroTexto 25">
            <a:extLst>
              <a:ext uri="{FF2B5EF4-FFF2-40B4-BE49-F238E27FC236}">
                <a16:creationId xmlns:a16="http://schemas.microsoft.com/office/drawing/2014/main" id="{6D26BBC5-3876-5692-5E14-58110D472B80}"/>
              </a:ext>
            </a:extLst>
          </p:cNvPr>
          <p:cNvSpPr txBox="1"/>
          <p:nvPr/>
        </p:nvSpPr>
        <p:spPr>
          <a:xfrm>
            <a:off x="2192763" y="2827896"/>
            <a:ext cx="6052035" cy="461665"/>
          </a:xfrm>
          <a:prstGeom prst="rect">
            <a:avLst/>
          </a:prstGeom>
          <a:noFill/>
        </p:spPr>
        <p:txBody>
          <a:bodyPr wrap="square">
            <a:spAutoFit/>
          </a:bodyPr>
          <a:lstStyle/>
          <a:p>
            <a:pPr marL="180000" marR="0" lvl="0" indent="-180000" fontAlgn="base">
              <a:lnSpc>
                <a:spcPct val="100000"/>
              </a:lnSpc>
              <a:spcBef>
                <a:spcPct val="0"/>
              </a:spcBef>
              <a:spcAft>
                <a:spcPct val="0"/>
              </a:spcAft>
              <a:buClr>
                <a:srgbClr val="FF0000"/>
              </a:buClr>
              <a:buSzTx/>
              <a:buFont typeface="Wingdings" panose="05000000000000000000" pitchFamily="2" charset="2"/>
              <a:buChar char="§"/>
              <a:tabLst/>
              <a:defRPr/>
            </a:pPr>
            <a:r>
              <a:rPr lang="en-US" altLang="es-ES" sz="1200" kern="0">
                <a:latin typeface="Arial" panose="020B0604020202020204" pitchFamily="34" charset="0"/>
              </a:rPr>
              <a:t>C</a:t>
            </a:r>
            <a:r>
              <a:rPr lang="en-US" altLang="es-ES" sz="1200" kern="0">
                <a:solidFill>
                  <a:prstClr val="black"/>
                </a:solidFill>
                <a:latin typeface="Santander Text"/>
              </a:rPr>
              <a:t>apabilities used to analyze business data and provide insights that inform decision-making, including data visualization, reporting, and dashboards </a:t>
            </a:r>
          </a:p>
        </p:txBody>
      </p:sp>
      <p:sp>
        <p:nvSpPr>
          <p:cNvPr id="2" name="Rectangle 1">
            <a:extLst>
              <a:ext uri="{FF2B5EF4-FFF2-40B4-BE49-F238E27FC236}">
                <a16:creationId xmlns:a16="http://schemas.microsoft.com/office/drawing/2014/main" id="{54BA7E08-FFD1-9CE1-A832-6F7EA2F0C3F3}"/>
              </a:ext>
            </a:extLst>
          </p:cNvPr>
          <p:cNvSpPr>
            <a:spLocks noChangeArrowheads="1"/>
          </p:cNvSpPr>
          <p:nvPr/>
        </p:nvSpPr>
        <p:spPr bwMode="auto">
          <a:xfrm>
            <a:off x="2192763" y="1766508"/>
            <a:ext cx="605203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80000" indent="-180000">
              <a:buClr>
                <a:srgbClr val="FF0000"/>
              </a:buClr>
              <a:buFont typeface="Wingdings" panose="05000000000000000000" pitchFamily="2" charset="2"/>
              <a:buChar char="§"/>
              <a:defRPr/>
            </a:pPr>
            <a:r>
              <a:rPr lang="en-US" altLang="es-ES" sz="1200" kern="0">
                <a:solidFill>
                  <a:prstClr val="black"/>
                </a:solidFill>
                <a:latin typeface="Santander Text"/>
              </a:rPr>
              <a:t>Capabilities to serve data to consumers treating data as a product in a self-serve manner and managing all data product lifecycle, reducing the gap between consumers and data. Setting a priority on the Customer 360 Data Product</a:t>
            </a:r>
            <a:endParaRPr lang="es-ES" altLang="es-ES" sz="1200" kern="0">
              <a:solidFill>
                <a:prstClr val="black"/>
              </a:solidFill>
              <a:latin typeface="Santander Tex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a:ln>
                <a:noFill/>
              </a:ln>
              <a:solidFill>
                <a:schemeClr val="tx1"/>
              </a:solidFill>
              <a:effectLst/>
              <a:latin typeface="Arial" panose="020B0604020202020204" pitchFamily="34" charset="0"/>
            </a:endParaRPr>
          </a:p>
        </p:txBody>
      </p:sp>
      <p:sp>
        <p:nvSpPr>
          <p:cNvPr id="11" name="Título 1">
            <a:extLst>
              <a:ext uri="{FF2B5EF4-FFF2-40B4-BE49-F238E27FC236}">
                <a16:creationId xmlns:a16="http://schemas.microsoft.com/office/drawing/2014/main" id="{9969038D-BD0E-712C-1D11-89900351D257}"/>
              </a:ext>
            </a:extLst>
          </p:cNvPr>
          <p:cNvSpPr>
            <a:spLocks noGrp="1"/>
          </p:cNvSpPr>
          <p:nvPr>
            <p:ph type="title"/>
          </p:nvPr>
        </p:nvSpPr>
        <p:spPr>
          <a:xfrm>
            <a:off x="711024" y="641900"/>
            <a:ext cx="10758733" cy="836992"/>
          </a:xfrm>
        </p:spPr>
        <p:txBody>
          <a:bodyPr/>
          <a:lstStyle/>
          <a:p>
            <a:r>
              <a:rPr lang="es-ES"/>
              <a:t>Global </a:t>
            </a:r>
            <a:r>
              <a:rPr lang="es-ES" err="1"/>
              <a:t>Technology</a:t>
            </a:r>
            <a:r>
              <a:rPr lang="es-ES"/>
              <a:t>. </a:t>
            </a:r>
            <a:r>
              <a:rPr lang="en-US" sz="2400">
                <a:solidFill>
                  <a:schemeClr val="bg1">
                    <a:lumMod val="75000"/>
                  </a:schemeClr>
                </a:solidFill>
              </a:rPr>
              <a:t>Data</a:t>
            </a:r>
            <a:endParaRPr lang="en-US">
              <a:solidFill>
                <a:schemeClr val="bg1">
                  <a:lumMod val="75000"/>
                </a:schemeClr>
              </a:solidFill>
            </a:endParaRPr>
          </a:p>
        </p:txBody>
      </p:sp>
    </p:spTree>
    <p:extLst>
      <p:ext uri="{BB962C8B-B14F-4D97-AF65-F5344CB8AC3E}">
        <p14:creationId xmlns:p14="http://schemas.microsoft.com/office/powerpoint/2010/main" val="4115232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2">
            <a:extLst>
              <a:ext uri="{FF2B5EF4-FFF2-40B4-BE49-F238E27FC236}">
                <a16:creationId xmlns:a16="http://schemas.microsoft.com/office/drawing/2014/main" id="{C5F67029-F219-FC96-7D6C-5F6C446E76B2}"/>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21" name="CuadroTexto 20">
            <a:extLst>
              <a:ext uri="{FF2B5EF4-FFF2-40B4-BE49-F238E27FC236}">
                <a16:creationId xmlns:a16="http://schemas.microsoft.com/office/drawing/2014/main" id="{521604CC-F7C4-A23D-26ED-6006C261FAEE}"/>
              </a:ext>
            </a:extLst>
          </p:cNvPr>
          <p:cNvSpPr txBox="1"/>
          <p:nvPr/>
        </p:nvSpPr>
        <p:spPr>
          <a:xfrm>
            <a:off x="684798" y="1128886"/>
            <a:ext cx="5203713" cy="807913"/>
          </a:xfrm>
          <a:prstGeom prst="rect">
            <a:avLst/>
          </a:prstGeom>
          <a:noFill/>
        </p:spPr>
        <p:txBody>
          <a:bodyPr wrap="square" rtlCol="0">
            <a:spAutoFit/>
          </a:bodyPr>
          <a:lstStyle/>
          <a:p>
            <a:pPr marL="355600" marR="0" lvl="0" indent="-355600" fontAlgn="auto">
              <a:lnSpc>
                <a:spcPct val="100000"/>
              </a:lnSpc>
              <a:spcBef>
                <a:spcPts val="0"/>
              </a:spcBef>
              <a:spcAft>
                <a:spcPts val="300"/>
              </a:spcAft>
              <a:buClrTx/>
              <a:buSzTx/>
              <a:buFontTx/>
              <a:buNone/>
              <a:tabLst/>
              <a:defRPr/>
            </a:pPr>
            <a:r>
              <a:rPr lang="en-AU" sz="1600" b="1" kern="0">
                <a:solidFill>
                  <a:srgbClr val="DEEDF1">
                    <a:lumMod val="25000"/>
                  </a:srgbClr>
                </a:solidFill>
                <a:latin typeface="Santander Text" panose="020B0504020201020104" pitchFamily="34" charset="0"/>
              </a:rPr>
              <a:t>1 - Gluon IDP (internal development platform)</a:t>
            </a:r>
          </a:p>
          <a:p>
            <a:pPr marR="0" lvl="0" indent="-355600" fontAlgn="auto">
              <a:lnSpc>
                <a:spcPct val="100000"/>
              </a:lnSpc>
              <a:spcBef>
                <a:spcPts val="0"/>
              </a:spcBef>
              <a:spcAft>
                <a:spcPts val="300"/>
              </a:spcAft>
              <a:buClrTx/>
              <a:buSzTx/>
              <a:buFontTx/>
              <a:buNone/>
              <a:tabLst/>
              <a:defRPr/>
            </a:pPr>
            <a:r>
              <a:rPr lang="en-US" sz="1400" i="1" kern="0">
                <a:solidFill>
                  <a:srgbClr val="DEEDF1">
                    <a:lumMod val="25000"/>
                  </a:srgbClr>
                </a:solidFill>
                <a:latin typeface="Santander Text" panose="020B0504020201020104" pitchFamily="34" charset="0"/>
              </a:rPr>
              <a:t>Boost developers experience and productivity and enables code reusability across Group</a:t>
            </a:r>
            <a:endParaRPr lang="en-AU" sz="1400" i="1" kern="0">
              <a:solidFill>
                <a:srgbClr val="DEEDF1">
                  <a:lumMod val="25000"/>
                </a:srgbClr>
              </a:solidFill>
              <a:latin typeface="Santander Text" panose="020B0504020201020104" pitchFamily="34" charset="0"/>
            </a:endParaRPr>
          </a:p>
        </p:txBody>
      </p:sp>
      <p:sp>
        <p:nvSpPr>
          <p:cNvPr id="32" name="CuadroTexto 31">
            <a:extLst>
              <a:ext uri="{FF2B5EF4-FFF2-40B4-BE49-F238E27FC236}">
                <a16:creationId xmlns:a16="http://schemas.microsoft.com/office/drawing/2014/main" id="{8AB399CC-4E62-396B-4950-9F03F95F814C}"/>
              </a:ext>
            </a:extLst>
          </p:cNvPr>
          <p:cNvSpPr txBox="1"/>
          <p:nvPr/>
        </p:nvSpPr>
        <p:spPr>
          <a:xfrm>
            <a:off x="6141070" y="1128886"/>
            <a:ext cx="5111999" cy="1061829"/>
          </a:xfrm>
          <a:prstGeom prst="rect">
            <a:avLst/>
          </a:prstGeom>
          <a:noFill/>
        </p:spPr>
        <p:txBody>
          <a:bodyPr wrap="square" rtlCol="0">
            <a:spAutoFit/>
          </a:bodyPr>
          <a:lstStyle/>
          <a:p>
            <a:pPr marL="355600" indent="-355600">
              <a:spcAft>
                <a:spcPts val="300"/>
              </a:spcAft>
              <a:defRPr/>
            </a:pPr>
            <a:r>
              <a:rPr lang="en-AU" sz="1600" b="1" kern="0">
                <a:solidFill>
                  <a:srgbClr val="DEEDF1">
                    <a:lumMod val="25000"/>
                  </a:srgbClr>
                </a:solidFill>
                <a:latin typeface="Santander Text" panose="020B0504020201020104" pitchFamily="34" charset="0"/>
              </a:rPr>
              <a:t>2 - Operational PaaS</a:t>
            </a:r>
          </a:p>
          <a:p>
            <a:pPr indent="-355600">
              <a:spcAft>
                <a:spcPts val="300"/>
              </a:spcAft>
              <a:defRPr/>
            </a:pPr>
            <a:r>
              <a:rPr lang="en-US" sz="1400" i="1" kern="0">
                <a:solidFill>
                  <a:srgbClr val="DEEDF1">
                    <a:lumMod val="25000"/>
                  </a:srgbClr>
                </a:solidFill>
                <a:latin typeface="Santander Text" panose="020B0504020201020104" pitchFamily="34" charset="0"/>
              </a:rPr>
              <a:t>Technical services to use the common cloud infrastructure homogeneously across the group</a:t>
            </a:r>
            <a:endParaRPr lang="en-AU" sz="1400" i="1" kern="0">
              <a:solidFill>
                <a:srgbClr val="DEEDF1">
                  <a:lumMod val="25000"/>
                </a:srgbClr>
              </a:solidFill>
              <a:latin typeface="Santander Text" panose="020B0504020201020104" pitchFamily="34" charset="0"/>
            </a:endParaRPr>
          </a:p>
          <a:p>
            <a:pPr marL="0" marR="0" lvl="0" indent="0" algn="l" defTabSz="914400" rtl="0" eaLnBrk="1" fontAlgn="auto" latinLnBrk="0" hangingPunct="1">
              <a:lnSpc>
                <a:spcPct val="100000"/>
              </a:lnSpc>
              <a:spcBef>
                <a:spcPts val="0"/>
              </a:spcBef>
              <a:spcAft>
                <a:spcPts val="300"/>
              </a:spcAft>
              <a:buClrTx/>
              <a:buSzTx/>
              <a:buFontTx/>
              <a:buNone/>
              <a:tabLst/>
              <a:defRPr/>
            </a:pPr>
            <a:endParaRPr kumimoji="0" lang="en-GB" sz="1400" b="0" i="1"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endParaRPr>
          </a:p>
        </p:txBody>
      </p:sp>
      <p:cxnSp>
        <p:nvCxnSpPr>
          <p:cNvPr id="2" name="Conector recto 1">
            <a:extLst>
              <a:ext uri="{FF2B5EF4-FFF2-40B4-BE49-F238E27FC236}">
                <a16:creationId xmlns:a16="http://schemas.microsoft.com/office/drawing/2014/main" id="{5578732A-6352-55B3-C95B-3D99DD9626AF}"/>
              </a:ext>
            </a:extLst>
          </p:cNvPr>
          <p:cNvCxnSpPr>
            <a:cxnSpLocks/>
          </p:cNvCxnSpPr>
          <p:nvPr/>
        </p:nvCxnSpPr>
        <p:spPr>
          <a:xfrm flipH="1" flipV="1">
            <a:off x="741504" y="1933750"/>
            <a:ext cx="5112000" cy="0"/>
          </a:xfrm>
          <a:prstGeom prst="line">
            <a:avLst/>
          </a:prstGeom>
          <a:noFill/>
          <a:ln w="12700" cap="flat" cmpd="sng" algn="ctr">
            <a:solidFill>
              <a:srgbClr val="595959"/>
            </a:solidFill>
            <a:prstDash val="solid"/>
            <a:miter lim="800000"/>
          </a:ln>
          <a:effectLst/>
        </p:spPr>
      </p:cxnSp>
      <p:cxnSp>
        <p:nvCxnSpPr>
          <p:cNvPr id="3" name="Conector recto 2">
            <a:extLst>
              <a:ext uri="{FF2B5EF4-FFF2-40B4-BE49-F238E27FC236}">
                <a16:creationId xmlns:a16="http://schemas.microsoft.com/office/drawing/2014/main" id="{CC42587F-C57D-127B-5215-E2565164A0A3}"/>
              </a:ext>
            </a:extLst>
          </p:cNvPr>
          <p:cNvCxnSpPr>
            <a:cxnSpLocks/>
          </p:cNvCxnSpPr>
          <p:nvPr/>
        </p:nvCxnSpPr>
        <p:spPr>
          <a:xfrm flipH="1" flipV="1">
            <a:off x="6167296" y="1933750"/>
            <a:ext cx="5112000" cy="0"/>
          </a:xfrm>
          <a:prstGeom prst="line">
            <a:avLst/>
          </a:prstGeom>
          <a:noFill/>
          <a:ln w="12700" cap="flat" cmpd="sng" algn="ctr">
            <a:solidFill>
              <a:srgbClr val="595959"/>
            </a:solidFill>
            <a:prstDash val="solid"/>
            <a:miter lim="800000"/>
          </a:ln>
          <a:effectLst/>
        </p:spPr>
      </p:cxnSp>
      <p:cxnSp>
        <p:nvCxnSpPr>
          <p:cNvPr id="6" name="Conector recto 5">
            <a:extLst>
              <a:ext uri="{FF2B5EF4-FFF2-40B4-BE49-F238E27FC236}">
                <a16:creationId xmlns:a16="http://schemas.microsoft.com/office/drawing/2014/main" id="{C680E52B-62AF-5C27-986E-93F695C248D1}"/>
              </a:ext>
            </a:extLst>
          </p:cNvPr>
          <p:cNvCxnSpPr>
            <a:cxnSpLocks/>
          </p:cNvCxnSpPr>
          <p:nvPr/>
        </p:nvCxnSpPr>
        <p:spPr>
          <a:xfrm flipH="1" flipV="1">
            <a:off x="741504" y="1933750"/>
            <a:ext cx="5112000" cy="0"/>
          </a:xfrm>
          <a:prstGeom prst="line">
            <a:avLst/>
          </a:prstGeom>
          <a:noFill/>
          <a:ln w="12700" cap="flat" cmpd="sng" algn="ctr">
            <a:solidFill>
              <a:srgbClr val="595959"/>
            </a:solidFill>
            <a:prstDash val="solid"/>
            <a:miter lim="800000"/>
          </a:ln>
          <a:effectLst/>
        </p:spPr>
      </p:cxnSp>
      <p:sp>
        <p:nvSpPr>
          <p:cNvPr id="7" name="CuadroTexto 6">
            <a:extLst>
              <a:ext uri="{FF2B5EF4-FFF2-40B4-BE49-F238E27FC236}">
                <a16:creationId xmlns:a16="http://schemas.microsoft.com/office/drawing/2014/main" id="{965E51E4-CCF9-3468-BA25-2D07D6D4A8F2}"/>
              </a:ext>
            </a:extLst>
          </p:cNvPr>
          <p:cNvSpPr txBox="1"/>
          <p:nvPr/>
        </p:nvSpPr>
        <p:spPr>
          <a:xfrm>
            <a:off x="2335004" y="1965879"/>
            <a:ext cx="3518500" cy="909402"/>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R="0" lvl="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200" i="0" u="none" strike="noStrike" kern="0" cap="none" spc="0" normalizeH="0" baseline="0" noProof="0">
                <a:ln>
                  <a:noFill/>
                </a:ln>
                <a:solidFill>
                  <a:prstClr val="black"/>
                </a:solidFill>
                <a:effectLst/>
                <a:uLnTx/>
                <a:uFillTx/>
                <a:latin typeface="Santander Text"/>
                <a:ea typeface="+mn-ea"/>
                <a:cs typeface="+mn-cs"/>
              </a:rPr>
              <a:t>E2E APIS lifecycle process, including versioning, definition, publication in the catalog, deployment, and consumption. Includes a governance model for a single APIS catalog</a:t>
            </a:r>
            <a:endParaRPr lang="en-AU" kern="0">
              <a:solidFill>
                <a:srgbClr val="DEEDF1">
                  <a:lumMod val="25000"/>
                </a:srgbClr>
              </a:solidFill>
              <a:latin typeface="Santander Text" panose="020B0504020201020104" pitchFamily="34" charset="0"/>
            </a:endParaRPr>
          </a:p>
        </p:txBody>
      </p:sp>
      <p:cxnSp>
        <p:nvCxnSpPr>
          <p:cNvPr id="8" name="Conector recto 7">
            <a:extLst>
              <a:ext uri="{FF2B5EF4-FFF2-40B4-BE49-F238E27FC236}">
                <a16:creationId xmlns:a16="http://schemas.microsoft.com/office/drawing/2014/main" id="{EEB55A7E-58BC-8055-0BF6-75AB85E2795B}"/>
              </a:ext>
            </a:extLst>
          </p:cNvPr>
          <p:cNvCxnSpPr>
            <a:cxnSpLocks/>
          </p:cNvCxnSpPr>
          <p:nvPr/>
        </p:nvCxnSpPr>
        <p:spPr>
          <a:xfrm flipH="1" flipV="1">
            <a:off x="827039" y="2977031"/>
            <a:ext cx="5112000" cy="0"/>
          </a:xfrm>
          <a:prstGeom prst="line">
            <a:avLst/>
          </a:prstGeom>
          <a:noFill/>
          <a:ln w="12700" cap="flat" cmpd="sng" algn="ctr">
            <a:solidFill>
              <a:schemeClr val="bg1">
                <a:lumMod val="85000"/>
              </a:schemeClr>
            </a:solidFill>
            <a:prstDash val="solid"/>
            <a:miter lim="800000"/>
          </a:ln>
          <a:effectLst/>
        </p:spPr>
      </p:cxnSp>
      <p:sp>
        <p:nvSpPr>
          <p:cNvPr id="10" name="CuadroTexto 9">
            <a:extLst>
              <a:ext uri="{FF2B5EF4-FFF2-40B4-BE49-F238E27FC236}">
                <a16:creationId xmlns:a16="http://schemas.microsoft.com/office/drawing/2014/main" id="{00A3137D-B565-FA22-D202-4CA8A5C47903}"/>
              </a:ext>
            </a:extLst>
          </p:cNvPr>
          <p:cNvSpPr txBox="1"/>
          <p:nvPr/>
        </p:nvSpPr>
        <p:spPr>
          <a:xfrm>
            <a:off x="2335004" y="3068644"/>
            <a:ext cx="3630260" cy="276999"/>
          </a:xfrm>
          <a:prstGeom prst="rect">
            <a:avLst/>
          </a:prstGeom>
          <a:noFill/>
        </p:spPr>
        <p:txBody>
          <a:bodyPr wrap="square">
            <a:spAutoFit/>
          </a:bodyPr>
          <a:lstStyle/>
          <a:p>
            <a:pPr marL="180000" indent="-180000">
              <a:buClr>
                <a:srgbClr val="FF0000"/>
              </a:buClr>
              <a:buFont typeface="Wingdings" panose="05000000000000000000" pitchFamily="2" charset="2"/>
              <a:buChar char="§"/>
              <a:defRPr/>
            </a:pPr>
            <a:r>
              <a:rPr lang="en-US" sz="1200" kern="0">
                <a:solidFill>
                  <a:prstClr val="black"/>
                </a:solidFill>
                <a:latin typeface="Santander Text"/>
              </a:rPr>
              <a:t>Complete Events E2E Lifecycle process</a:t>
            </a:r>
            <a:endParaRPr lang="es-ES" sz="1200" kern="0">
              <a:solidFill>
                <a:prstClr val="black"/>
              </a:solidFill>
              <a:latin typeface="Santander Text"/>
            </a:endParaRPr>
          </a:p>
        </p:txBody>
      </p:sp>
      <p:sp>
        <p:nvSpPr>
          <p:cNvPr id="11" name="Rectángulo 10">
            <a:extLst>
              <a:ext uri="{FF2B5EF4-FFF2-40B4-BE49-F238E27FC236}">
                <a16:creationId xmlns:a16="http://schemas.microsoft.com/office/drawing/2014/main" id="{21774B94-B413-FCCD-6321-FFD7BF27436E}"/>
              </a:ext>
            </a:extLst>
          </p:cNvPr>
          <p:cNvSpPr/>
          <p:nvPr/>
        </p:nvSpPr>
        <p:spPr>
          <a:xfrm>
            <a:off x="857024" y="2042321"/>
            <a:ext cx="1440000" cy="540000"/>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t" anchorCtr="0"/>
          <a:lstStyle/>
          <a:p>
            <a:pPr algn="ctr">
              <a:spcAft>
                <a:spcPts val="600"/>
              </a:spcAft>
              <a:defRPr/>
            </a:pPr>
            <a:r>
              <a:rPr lang="en-AU" sz="1400" kern="0">
                <a:solidFill>
                  <a:srgbClr val="DEEDF1">
                    <a:lumMod val="25000"/>
                  </a:srgbClr>
                </a:solidFill>
              </a:rPr>
              <a:t>APIs E2E Lifecycle</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400" i="0" u="none" strike="noStrike" kern="0" cap="none" spc="0" normalizeH="0" baseline="0" noProof="0">
              <a:ln>
                <a:noFill/>
              </a:ln>
              <a:solidFill>
                <a:srgbClr val="DEEDF1">
                  <a:lumMod val="25000"/>
                </a:srgbClr>
              </a:solidFill>
              <a:effectLst/>
              <a:uLnTx/>
              <a:uFillTx/>
              <a:latin typeface="Santander Text"/>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400" i="0" u="none" strike="noStrike" kern="0" cap="none" spc="0" normalizeH="0" baseline="0" noProof="0">
              <a:ln>
                <a:noFill/>
              </a:ln>
              <a:solidFill>
                <a:srgbClr val="DEEDF1">
                  <a:lumMod val="25000"/>
                </a:srgbClr>
              </a:solidFill>
              <a:effectLst/>
              <a:uLnTx/>
              <a:uFillTx/>
              <a:latin typeface="Santander Text"/>
              <a:ea typeface="+mn-ea"/>
              <a:cs typeface="+mn-cs"/>
            </a:endParaRPr>
          </a:p>
        </p:txBody>
      </p:sp>
      <p:sp>
        <p:nvSpPr>
          <p:cNvPr id="12" name="Rectángulo 11">
            <a:extLst>
              <a:ext uri="{FF2B5EF4-FFF2-40B4-BE49-F238E27FC236}">
                <a16:creationId xmlns:a16="http://schemas.microsoft.com/office/drawing/2014/main" id="{6CF510E9-9638-0FF2-F16A-34BDF6F9F46F}"/>
              </a:ext>
            </a:extLst>
          </p:cNvPr>
          <p:cNvSpPr/>
          <p:nvPr/>
        </p:nvSpPr>
        <p:spPr>
          <a:xfrm>
            <a:off x="857024" y="3101007"/>
            <a:ext cx="1440000" cy="580175"/>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t" anchorCtr="0"/>
          <a:lstStyle/>
          <a:p>
            <a:pPr algn="ctr">
              <a:spcAft>
                <a:spcPts val="600"/>
              </a:spcAft>
            </a:pPr>
            <a:r>
              <a:rPr lang="en-AU" sz="1400" kern="0">
                <a:solidFill>
                  <a:srgbClr val="DEEDF1">
                    <a:lumMod val="25000"/>
                  </a:srgbClr>
                </a:solidFill>
              </a:rPr>
              <a:t>Events </a:t>
            </a:r>
          </a:p>
          <a:p>
            <a:pPr algn="ctr">
              <a:spcAft>
                <a:spcPts val="600"/>
              </a:spcAft>
            </a:pPr>
            <a:r>
              <a:rPr lang="en-AU" sz="1400" kern="0">
                <a:solidFill>
                  <a:srgbClr val="DEEDF1">
                    <a:lumMod val="25000"/>
                  </a:srgbClr>
                </a:solidFill>
              </a:rPr>
              <a:t>E2E Lifecycle</a:t>
            </a:r>
          </a:p>
          <a:p>
            <a:pPr algn="ctr">
              <a:spcAft>
                <a:spcPts val="600"/>
              </a:spcAft>
            </a:pPr>
            <a:endParaRPr lang="en-AU" sz="1400" kern="0">
              <a:solidFill>
                <a:srgbClr val="DEEDF1">
                  <a:lumMod val="25000"/>
                </a:srgbClr>
              </a:solidFill>
            </a:endParaRPr>
          </a:p>
          <a:p>
            <a:pPr algn="ctr">
              <a:spcAft>
                <a:spcPts val="600"/>
              </a:spcAft>
            </a:pPr>
            <a:endParaRPr lang="en-AU" sz="1400" kern="0">
              <a:solidFill>
                <a:srgbClr val="DEEDF1">
                  <a:lumMod val="25000"/>
                </a:srgbClr>
              </a:solidFill>
            </a:endParaRPr>
          </a:p>
        </p:txBody>
      </p:sp>
      <p:cxnSp>
        <p:nvCxnSpPr>
          <p:cNvPr id="14" name="Conector recto 13">
            <a:extLst>
              <a:ext uri="{FF2B5EF4-FFF2-40B4-BE49-F238E27FC236}">
                <a16:creationId xmlns:a16="http://schemas.microsoft.com/office/drawing/2014/main" id="{EF6C7351-6F73-9E03-F6D5-35951085E947}"/>
              </a:ext>
            </a:extLst>
          </p:cNvPr>
          <p:cNvCxnSpPr>
            <a:cxnSpLocks/>
          </p:cNvCxnSpPr>
          <p:nvPr/>
        </p:nvCxnSpPr>
        <p:spPr>
          <a:xfrm flipH="1" flipV="1">
            <a:off x="827039" y="4151972"/>
            <a:ext cx="5112000" cy="0"/>
          </a:xfrm>
          <a:prstGeom prst="line">
            <a:avLst/>
          </a:prstGeom>
          <a:noFill/>
          <a:ln w="12700" cap="flat" cmpd="sng" algn="ctr">
            <a:solidFill>
              <a:schemeClr val="bg1">
                <a:lumMod val="85000"/>
              </a:schemeClr>
            </a:solidFill>
            <a:prstDash val="solid"/>
            <a:miter lim="800000"/>
          </a:ln>
          <a:effectLst/>
        </p:spPr>
      </p:cxnSp>
      <p:sp>
        <p:nvSpPr>
          <p:cNvPr id="20" name="CuadroTexto 19">
            <a:extLst>
              <a:ext uri="{FF2B5EF4-FFF2-40B4-BE49-F238E27FC236}">
                <a16:creationId xmlns:a16="http://schemas.microsoft.com/office/drawing/2014/main" id="{9DADDC5D-8B46-4027-F046-42BB1D6F5CF3}"/>
              </a:ext>
            </a:extLst>
          </p:cNvPr>
          <p:cNvSpPr txBox="1"/>
          <p:nvPr/>
        </p:nvSpPr>
        <p:spPr>
          <a:xfrm>
            <a:off x="2335004" y="4243585"/>
            <a:ext cx="3518500" cy="830997"/>
          </a:xfrm>
          <a:prstGeom prst="rect">
            <a:avLst/>
          </a:prstGeom>
          <a:noFill/>
        </p:spPr>
        <p:txBody>
          <a:bodyPr wrap="square">
            <a:spAutoFit/>
          </a:bodyPr>
          <a:lstStyle/>
          <a:p>
            <a:pPr marL="180000" indent="-180000">
              <a:buClr>
                <a:srgbClr val="FF0000"/>
              </a:buClr>
              <a:buFont typeface="Wingdings" panose="05000000000000000000" pitchFamily="2" charset="2"/>
              <a:buChar char="§"/>
              <a:defRPr/>
            </a:pPr>
            <a:r>
              <a:rPr lang="en-US" sz="1200" b="0" i="0">
                <a:effectLst/>
              </a:rPr>
              <a:t>Microservices and serverless capabilities for building cloud native applications. Arsenal (from Brazil) and Darwin (from Spain) Java Frameworks are included</a:t>
            </a:r>
            <a:endParaRPr lang="es-ES" sz="1200" kern="0">
              <a:solidFill>
                <a:prstClr val="black"/>
              </a:solidFill>
            </a:endParaRPr>
          </a:p>
        </p:txBody>
      </p:sp>
      <p:sp>
        <p:nvSpPr>
          <p:cNvPr id="23" name="Rectángulo 22">
            <a:extLst>
              <a:ext uri="{FF2B5EF4-FFF2-40B4-BE49-F238E27FC236}">
                <a16:creationId xmlns:a16="http://schemas.microsoft.com/office/drawing/2014/main" id="{BB333EE6-5A20-12E8-22B1-0F8C78F44136}"/>
              </a:ext>
            </a:extLst>
          </p:cNvPr>
          <p:cNvSpPr/>
          <p:nvPr/>
        </p:nvSpPr>
        <p:spPr>
          <a:xfrm>
            <a:off x="857024" y="4326749"/>
            <a:ext cx="1440000" cy="540000"/>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t" anchorCtr="0"/>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i="0" u="none" strike="noStrike" kern="0" cap="none" spc="0" normalizeH="0" baseline="0" noProof="0">
                <a:ln>
                  <a:noFill/>
                </a:ln>
                <a:solidFill>
                  <a:srgbClr val="DEEDF1">
                    <a:lumMod val="25000"/>
                  </a:srgbClr>
                </a:solidFill>
                <a:effectLst/>
                <a:uLnTx/>
                <a:uFillTx/>
                <a:latin typeface="Santander Text"/>
                <a:ea typeface="+mn-ea"/>
                <a:cs typeface="+mn-cs"/>
              </a:rPr>
              <a:t>Back Frameworks</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400" i="0" u="none" strike="noStrike" kern="0" cap="none" spc="0" normalizeH="0" baseline="0" noProof="0">
              <a:ln>
                <a:noFill/>
              </a:ln>
              <a:solidFill>
                <a:srgbClr val="DEEDF1">
                  <a:lumMod val="25000"/>
                </a:srgbClr>
              </a:solidFill>
              <a:effectLst/>
              <a:uLnTx/>
              <a:uFillTx/>
              <a:latin typeface="Santander Text"/>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400" i="0" u="none" strike="noStrike" kern="0" cap="none" spc="0" normalizeH="0" baseline="0" noProof="0">
              <a:ln>
                <a:noFill/>
              </a:ln>
              <a:solidFill>
                <a:srgbClr val="DEEDF1">
                  <a:lumMod val="25000"/>
                </a:srgbClr>
              </a:solidFill>
              <a:effectLst/>
              <a:uLnTx/>
              <a:uFillTx/>
              <a:latin typeface="Santander Text"/>
              <a:ea typeface="+mn-ea"/>
              <a:cs typeface="+mn-cs"/>
            </a:endParaRPr>
          </a:p>
        </p:txBody>
      </p:sp>
      <p:cxnSp>
        <p:nvCxnSpPr>
          <p:cNvPr id="24" name="Conector recto 23">
            <a:extLst>
              <a:ext uri="{FF2B5EF4-FFF2-40B4-BE49-F238E27FC236}">
                <a16:creationId xmlns:a16="http://schemas.microsoft.com/office/drawing/2014/main" id="{13FDE201-3F9B-75DC-07C2-22B3A86C9D14}"/>
              </a:ext>
            </a:extLst>
          </p:cNvPr>
          <p:cNvCxnSpPr>
            <a:cxnSpLocks/>
          </p:cNvCxnSpPr>
          <p:nvPr/>
        </p:nvCxnSpPr>
        <p:spPr>
          <a:xfrm flipH="1" flipV="1">
            <a:off x="827039" y="5250839"/>
            <a:ext cx="5112000" cy="0"/>
          </a:xfrm>
          <a:prstGeom prst="line">
            <a:avLst/>
          </a:prstGeom>
          <a:noFill/>
          <a:ln w="12700" cap="flat" cmpd="sng" algn="ctr">
            <a:solidFill>
              <a:schemeClr val="bg1">
                <a:lumMod val="85000"/>
              </a:schemeClr>
            </a:solidFill>
            <a:prstDash val="solid"/>
            <a:miter lim="800000"/>
          </a:ln>
          <a:effectLst/>
        </p:spPr>
      </p:cxnSp>
      <p:sp>
        <p:nvSpPr>
          <p:cNvPr id="26" name="CuadroTexto 25">
            <a:extLst>
              <a:ext uri="{FF2B5EF4-FFF2-40B4-BE49-F238E27FC236}">
                <a16:creationId xmlns:a16="http://schemas.microsoft.com/office/drawing/2014/main" id="{C9EEB2D2-42C0-70E2-3CD3-66E54825EBEF}"/>
              </a:ext>
            </a:extLst>
          </p:cNvPr>
          <p:cNvSpPr txBox="1"/>
          <p:nvPr/>
        </p:nvSpPr>
        <p:spPr>
          <a:xfrm>
            <a:off x="2335004" y="5342452"/>
            <a:ext cx="3518500" cy="646331"/>
          </a:xfrm>
          <a:prstGeom prst="rect">
            <a:avLst/>
          </a:prstGeom>
          <a:noFill/>
        </p:spPr>
        <p:txBody>
          <a:bodyPr wrap="square">
            <a:spAutoFit/>
          </a:bodyPr>
          <a:lstStyle/>
          <a:p>
            <a:pPr marL="180000" indent="-180000">
              <a:buClr>
                <a:srgbClr val="FF0000"/>
              </a:buClr>
              <a:buFont typeface="Wingdings" panose="05000000000000000000" pitchFamily="2" charset="2"/>
              <a:buChar char="§"/>
              <a:defRPr/>
            </a:pPr>
            <a:r>
              <a:rPr lang="en-US" sz="1200" b="0" i="0">
                <a:effectLst/>
              </a:rPr>
              <a:t>Web (SPAs </a:t>
            </a:r>
            <a:r>
              <a:rPr lang="en-US" sz="1200"/>
              <a:t>and </a:t>
            </a:r>
            <a:r>
              <a:rPr lang="en-US" sz="1200" err="1"/>
              <a:t>microFronts</a:t>
            </a:r>
            <a:r>
              <a:rPr lang="en-US" sz="1200"/>
              <a:t>) </a:t>
            </a:r>
            <a:r>
              <a:rPr lang="en-US" sz="1200" b="0" i="0">
                <a:effectLst/>
              </a:rPr>
              <a:t>and mobile capabilities (both Android and IOs) to provide the best experience for our customers</a:t>
            </a:r>
            <a:endParaRPr lang="es-ES" sz="1200" kern="0">
              <a:solidFill>
                <a:prstClr val="black"/>
              </a:solidFill>
            </a:endParaRPr>
          </a:p>
        </p:txBody>
      </p:sp>
      <p:sp>
        <p:nvSpPr>
          <p:cNvPr id="33" name="Rectángulo 32">
            <a:extLst>
              <a:ext uri="{FF2B5EF4-FFF2-40B4-BE49-F238E27FC236}">
                <a16:creationId xmlns:a16="http://schemas.microsoft.com/office/drawing/2014/main" id="{0A96F000-80A1-B42A-B942-A8C64533F361}"/>
              </a:ext>
            </a:extLst>
          </p:cNvPr>
          <p:cNvSpPr/>
          <p:nvPr/>
        </p:nvSpPr>
        <p:spPr>
          <a:xfrm>
            <a:off x="857024" y="5374816"/>
            <a:ext cx="1440000" cy="540000"/>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t" anchorCtr="0"/>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i="0" u="none" strike="noStrike" kern="0" cap="none" spc="0" normalizeH="0" baseline="0" noProof="0">
                <a:ln>
                  <a:noFill/>
                </a:ln>
                <a:solidFill>
                  <a:srgbClr val="DEEDF1">
                    <a:lumMod val="25000"/>
                  </a:srgbClr>
                </a:solidFill>
                <a:effectLst/>
                <a:uLnTx/>
                <a:uFillTx/>
                <a:latin typeface="Santander Text"/>
                <a:ea typeface="+mn-ea"/>
                <a:cs typeface="+mn-cs"/>
              </a:rPr>
              <a:t>Front Frameworks</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400" i="0" u="none" strike="noStrike" kern="0" cap="none" spc="0" normalizeH="0" baseline="0" noProof="0">
              <a:ln>
                <a:noFill/>
              </a:ln>
              <a:solidFill>
                <a:srgbClr val="DEEDF1">
                  <a:lumMod val="25000"/>
                </a:srgbClr>
              </a:solidFill>
              <a:effectLst/>
              <a:uLnTx/>
              <a:uFillTx/>
              <a:latin typeface="Santander Text"/>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400" i="0" u="none" strike="noStrike" kern="0" cap="none" spc="0" normalizeH="0" baseline="0" noProof="0">
              <a:ln>
                <a:noFill/>
              </a:ln>
              <a:solidFill>
                <a:srgbClr val="DEEDF1">
                  <a:lumMod val="25000"/>
                </a:srgbClr>
              </a:solidFill>
              <a:effectLst/>
              <a:uLnTx/>
              <a:uFillTx/>
              <a:latin typeface="Santander Text"/>
              <a:ea typeface="+mn-ea"/>
              <a:cs typeface="+mn-cs"/>
            </a:endParaRPr>
          </a:p>
        </p:txBody>
      </p:sp>
      <p:sp>
        <p:nvSpPr>
          <p:cNvPr id="39" name="CuadroTexto 38">
            <a:extLst>
              <a:ext uri="{FF2B5EF4-FFF2-40B4-BE49-F238E27FC236}">
                <a16:creationId xmlns:a16="http://schemas.microsoft.com/office/drawing/2014/main" id="{F4EA95E5-2D64-A94D-8F16-DB29A4749DDB}"/>
              </a:ext>
            </a:extLst>
          </p:cNvPr>
          <p:cNvSpPr txBox="1"/>
          <p:nvPr/>
        </p:nvSpPr>
        <p:spPr>
          <a:xfrm>
            <a:off x="7732322" y="1965879"/>
            <a:ext cx="3658438" cy="909402"/>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spcBef>
                <a:spcPts val="0"/>
              </a:spcBef>
              <a:buClr>
                <a:srgbClr val="FF0000"/>
              </a:buClr>
              <a:buFont typeface="Wingdings" panose="05000000000000000000" pitchFamily="2" charset="2"/>
              <a:buChar char="§"/>
              <a:defRPr/>
            </a:pPr>
            <a:r>
              <a:rPr lang="en-US" kern="0">
                <a:solidFill>
                  <a:prstClr val="black"/>
                </a:solidFill>
                <a:latin typeface="Santander Text"/>
              </a:rPr>
              <a:t>New E2E technical architecture for the following topics:</a:t>
            </a:r>
          </a:p>
          <a:p>
            <a:pPr marL="539750" lvl="1" indent="-179388">
              <a:buClr>
                <a:srgbClr val="EC0000"/>
              </a:buClr>
              <a:buFont typeface="Arial" panose="020B0604020202020204" pitchFamily="34" charset="0"/>
              <a:buChar char="•"/>
              <a:defRPr/>
            </a:pPr>
            <a:r>
              <a:rPr lang="en-US" kern="0" err="1">
                <a:solidFill>
                  <a:prstClr val="black"/>
                </a:solidFill>
                <a:latin typeface="Santander Text"/>
              </a:rPr>
              <a:t>Microfronts</a:t>
            </a:r>
            <a:r>
              <a:rPr lang="en-US" kern="0">
                <a:solidFill>
                  <a:prstClr val="black"/>
                </a:solidFill>
                <a:latin typeface="Santander Text"/>
              </a:rPr>
              <a:t>: static content, Web and mobile</a:t>
            </a:r>
          </a:p>
          <a:p>
            <a:pPr marL="539750" lvl="1" indent="-179388">
              <a:buClr>
                <a:srgbClr val="EC0000"/>
              </a:buClr>
              <a:buFont typeface="Arial" panose="020B0604020202020204" pitchFamily="34" charset="0"/>
              <a:buChar char="•"/>
              <a:defRPr/>
            </a:pPr>
            <a:r>
              <a:rPr lang="en-US" kern="0">
                <a:solidFill>
                  <a:prstClr val="black"/>
                </a:solidFill>
                <a:latin typeface="Santander Text"/>
              </a:rPr>
              <a:t>Network: Public DNS, WAF, GTM, LTM and monitoring</a:t>
            </a:r>
          </a:p>
          <a:p>
            <a:pPr marL="539750" lvl="1" indent="-179388">
              <a:buClr>
                <a:srgbClr val="EC0000"/>
              </a:buClr>
              <a:buFont typeface="Arial" panose="020B0604020202020204" pitchFamily="34" charset="0"/>
              <a:buChar char="•"/>
              <a:defRPr/>
            </a:pPr>
            <a:r>
              <a:rPr lang="en-US" kern="0">
                <a:solidFill>
                  <a:prstClr val="black"/>
                </a:solidFill>
                <a:latin typeface="Santander Text"/>
              </a:rPr>
              <a:t>APIS: API Platform on-prem, public-cloud, catalog, virtualization &amp; testing</a:t>
            </a:r>
          </a:p>
          <a:p>
            <a:pPr marL="539750" lvl="1" indent="-179388">
              <a:buClr>
                <a:srgbClr val="EC0000"/>
              </a:buClr>
              <a:buFont typeface="Arial" panose="020B0604020202020204" pitchFamily="34" charset="0"/>
              <a:buChar char="•"/>
              <a:defRPr/>
            </a:pPr>
            <a:r>
              <a:rPr lang="en-US" kern="0">
                <a:solidFill>
                  <a:prstClr val="black"/>
                </a:solidFill>
                <a:latin typeface="Santander Text"/>
              </a:rPr>
              <a:t>Microservices</a:t>
            </a:r>
          </a:p>
          <a:p>
            <a:pPr marL="539750" lvl="1" indent="-179388">
              <a:buClr>
                <a:srgbClr val="EC0000"/>
              </a:buClr>
              <a:buFont typeface="Arial" panose="020B0604020202020204" pitchFamily="34" charset="0"/>
              <a:buChar char="•"/>
              <a:defRPr/>
            </a:pPr>
            <a:r>
              <a:rPr lang="en-US" kern="0">
                <a:solidFill>
                  <a:prstClr val="black"/>
                </a:solidFill>
                <a:latin typeface="Santander Text"/>
              </a:rPr>
              <a:t>Kubernetes</a:t>
            </a:r>
          </a:p>
          <a:p>
            <a:pPr>
              <a:spcBef>
                <a:spcPts val="0"/>
              </a:spcBef>
              <a:buClr>
                <a:srgbClr val="FF0000"/>
              </a:buClr>
              <a:buFont typeface="Wingdings" panose="05000000000000000000" pitchFamily="2" charset="2"/>
              <a:buChar char="§"/>
              <a:defRPr/>
            </a:pPr>
            <a:endParaRPr lang="en-US" sz="1200"/>
          </a:p>
        </p:txBody>
      </p:sp>
      <p:sp>
        <p:nvSpPr>
          <p:cNvPr id="45" name="Rectángulo 44">
            <a:extLst>
              <a:ext uri="{FF2B5EF4-FFF2-40B4-BE49-F238E27FC236}">
                <a16:creationId xmlns:a16="http://schemas.microsoft.com/office/drawing/2014/main" id="{14DB826D-A050-C10D-728B-12E594F3315D}"/>
              </a:ext>
            </a:extLst>
          </p:cNvPr>
          <p:cNvSpPr/>
          <p:nvPr/>
        </p:nvSpPr>
        <p:spPr>
          <a:xfrm>
            <a:off x="6142582" y="2042321"/>
            <a:ext cx="1440000" cy="1026324"/>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t" anchorCtr="0"/>
          <a:lstStyle/>
          <a:p>
            <a:pPr algn="ctr">
              <a:spcAft>
                <a:spcPts val="600"/>
              </a:spcAft>
            </a:pPr>
            <a:r>
              <a:rPr lang="en-US" sz="1200" kern="0">
                <a:solidFill>
                  <a:srgbClr val="DEEDF1">
                    <a:lumMod val="25000"/>
                  </a:srgbClr>
                </a:solidFill>
              </a:rPr>
              <a:t>Standard architecture patterns for cloud application (OHE, AWS)</a:t>
            </a:r>
            <a:endParaRPr lang="en-AU" sz="1200" kern="0">
              <a:solidFill>
                <a:srgbClr val="DEEDF1">
                  <a:lumMod val="25000"/>
                </a:srgbClr>
              </a:solidFill>
            </a:endParaRPr>
          </a:p>
        </p:txBody>
      </p:sp>
      <p:sp>
        <p:nvSpPr>
          <p:cNvPr id="13" name="Título 1">
            <a:extLst>
              <a:ext uri="{FF2B5EF4-FFF2-40B4-BE49-F238E27FC236}">
                <a16:creationId xmlns:a16="http://schemas.microsoft.com/office/drawing/2014/main" id="{977CFA6D-F7DB-01CD-7338-F5B52975E151}"/>
              </a:ext>
            </a:extLst>
          </p:cNvPr>
          <p:cNvSpPr txBox="1">
            <a:spLocks/>
          </p:cNvSpPr>
          <p:nvPr/>
        </p:nvSpPr>
        <p:spPr>
          <a:xfrm>
            <a:off x="640811" y="604206"/>
            <a:ext cx="10758734" cy="262807"/>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lang="en-US" sz="2800" b="1" kern="1200" dirty="0">
                <a:solidFill>
                  <a:schemeClr val="accent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2400" b="1" i="0" u="none" strike="noStrike" kern="1200" cap="none" spc="0" normalizeH="0" baseline="0" noProof="1">
                <a:ln>
                  <a:noFill/>
                </a:ln>
                <a:solidFill>
                  <a:srgbClr val="EB0000"/>
                </a:solidFill>
                <a:effectLst/>
                <a:uLnTx/>
                <a:uFillTx/>
                <a:latin typeface="Santander Headline" panose="020B0504020201020104" pitchFamily="34" charset="0"/>
                <a:ea typeface="+mj-ea"/>
                <a:cs typeface="+mj-cs"/>
              </a:rPr>
              <a:t>Global Technology.  </a:t>
            </a:r>
            <a:r>
              <a:rPr lang="en-GB" sz="2400" noProof="1">
                <a:solidFill>
                  <a:schemeClr val="bg1">
                    <a:lumMod val="75000"/>
                  </a:schemeClr>
                </a:solidFill>
              </a:rPr>
              <a:t>Gluon - Global Dev Hub</a:t>
            </a:r>
          </a:p>
        </p:txBody>
      </p:sp>
    </p:spTree>
    <p:extLst>
      <p:ext uri="{BB962C8B-B14F-4D97-AF65-F5344CB8AC3E}">
        <p14:creationId xmlns:p14="http://schemas.microsoft.com/office/powerpoint/2010/main" val="417497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2">
            <a:extLst>
              <a:ext uri="{FF2B5EF4-FFF2-40B4-BE49-F238E27FC236}">
                <a16:creationId xmlns:a16="http://schemas.microsoft.com/office/drawing/2014/main" id="{C5F67029-F219-FC96-7D6C-5F6C446E76B2}"/>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15" name="Rectángulo 14">
            <a:extLst>
              <a:ext uri="{FF2B5EF4-FFF2-40B4-BE49-F238E27FC236}">
                <a16:creationId xmlns:a16="http://schemas.microsoft.com/office/drawing/2014/main" id="{532E11D7-B060-9FE8-9DBC-290E6C96DE16}"/>
              </a:ext>
            </a:extLst>
          </p:cNvPr>
          <p:cNvSpPr/>
          <p:nvPr/>
        </p:nvSpPr>
        <p:spPr>
          <a:xfrm>
            <a:off x="711024" y="3313593"/>
            <a:ext cx="1440000" cy="730800"/>
          </a:xfrm>
          <a:prstGeom prst="rect">
            <a:avLst/>
          </a:prstGeom>
          <a:solidFill>
            <a:schemeClr val="bg1"/>
          </a:solidFill>
          <a:ln w="12700" cap="flat" cmpd="sng" algn="ctr">
            <a:solidFill>
              <a:schemeClr val="bg2">
                <a:lumMod val="75000"/>
              </a:schemeClr>
            </a:solidFill>
            <a:prstDash val="solid"/>
            <a:miter lim="800000"/>
          </a:ln>
          <a:effectLst/>
        </p:spPr>
        <p:txBody>
          <a:bodyPr lIns="72000" tIns="45720" rIns="72000" bIns="45720" rtlCol="0" anchor="ctr"/>
          <a:lstStyle/>
          <a:p>
            <a:pPr algn="ctr">
              <a:spcAft>
                <a:spcPts val="600"/>
              </a:spcAft>
            </a:pPr>
            <a:r>
              <a:rPr lang="en-US" sz="1400" kern="0">
                <a:solidFill>
                  <a:srgbClr val="3F3F3F"/>
                </a:solidFill>
                <a:latin typeface="Santander Text"/>
              </a:rPr>
              <a:t>Identity backend </a:t>
            </a:r>
            <a:endParaRPr lang="en-US">
              <a:solidFill>
                <a:srgbClr val="3F3F3F"/>
              </a:solidFill>
            </a:endParaRPr>
          </a:p>
        </p:txBody>
      </p:sp>
      <p:sp>
        <p:nvSpPr>
          <p:cNvPr id="19" name="Rectángulo 18">
            <a:extLst>
              <a:ext uri="{FF2B5EF4-FFF2-40B4-BE49-F238E27FC236}">
                <a16:creationId xmlns:a16="http://schemas.microsoft.com/office/drawing/2014/main" id="{81107006-DEAA-61FE-5DFA-9A97FCDB224A}"/>
              </a:ext>
            </a:extLst>
          </p:cNvPr>
          <p:cNvSpPr/>
          <p:nvPr/>
        </p:nvSpPr>
        <p:spPr>
          <a:xfrm>
            <a:off x="711024" y="2069931"/>
            <a:ext cx="1440000" cy="730800"/>
          </a:xfrm>
          <a:prstGeom prst="rect">
            <a:avLst/>
          </a:prstGeom>
          <a:solidFill>
            <a:schemeClr val="bg1"/>
          </a:solidFill>
          <a:ln w="12700" cap="flat" cmpd="sng" algn="ctr">
            <a:solidFill>
              <a:schemeClr val="bg2">
                <a:lumMod val="75000"/>
              </a:schemeClr>
            </a:solidFill>
            <a:prstDash val="solid"/>
            <a:miter lim="800000"/>
          </a:ln>
          <a:effectLst/>
        </p:spPr>
        <p:txBody>
          <a:bodyPr lIns="0" tIns="45720" rIns="0" bIns="45720" rtlCol="0" anchor="ctr"/>
          <a:lstStyle/>
          <a:p>
            <a:pPr algn="ctr">
              <a:spcAft>
                <a:spcPts val="600"/>
              </a:spcAft>
            </a:pPr>
            <a:r>
              <a:rPr lang="en-US" sz="1400" kern="0">
                <a:solidFill>
                  <a:srgbClr val="3F3F3F"/>
                </a:solidFill>
                <a:latin typeface="Santander Text"/>
              </a:rPr>
              <a:t>Authentication Server</a:t>
            </a:r>
            <a:endParaRPr lang="en-US" sz="1400" kern="0">
              <a:solidFill>
                <a:srgbClr val="3F3F3F"/>
              </a:solidFill>
            </a:endParaRPr>
          </a:p>
        </p:txBody>
      </p:sp>
      <p:sp>
        <p:nvSpPr>
          <p:cNvPr id="21" name="CuadroTexto 20">
            <a:extLst>
              <a:ext uri="{FF2B5EF4-FFF2-40B4-BE49-F238E27FC236}">
                <a16:creationId xmlns:a16="http://schemas.microsoft.com/office/drawing/2014/main" id="{521604CC-F7C4-A23D-26ED-6006C261FAEE}"/>
              </a:ext>
            </a:extLst>
          </p:cNvPr>
          <p:cNvSpPr txBox="1"/>
          <p:nvPr/>
        </p:nvSpPr>
        <p:spPr>
          <a:xfrm>
            <a:off x="684798" y="1128886"/>
            <a:ext cx="5203713" cy="807913"/>
          </a:xfrm>
          <a:prstGeom prst="rect">
            <a:avLst/>
          </a:prstGeom>
          <a:noFill/>
        </p:spPr>
        <p:txBody>
          <a:bodyPr wrap="square" rtlCol="0">
            <a:spAutoFit/>
          </a:bodyPr>
          <a:lstStyle/>
          <a:p>
            <a:pPr marL="355600" indent="-355600">
              <a:spcAft>
                <a:spcPts val="300"/>
              </a:spcAft>
              <a:defRPr/>
            </a:pPr>
            <a:r>
              <a:rPr lang="en-US" sz="1600" b="1" kern="0">
                <a:solidFill>
                  <a:srgbClr val="DEEDF1">
                    <a:lumMod val="25000"/>
                  </a:srgbClr>
                </a:solidFill>
                <a:latin typeface="Santander Text" panose="020B0504020201020104" pitchFamily="34" charset="0"/>
              </a:rPr>
              <a:t>1 - Authentication Services</a:t>
            </a:r>
          </a:p>
          <a:p>
            <a:pPr indent="-355600">
              <a:spcAft>
                <a:spcPts val="300"/>
              </a:spcAft>
              <a:defRPr/>
            </a:pPr>
            <a:r>
              <a:rPr lang="en-US" sz="1400" i="1" kern="0">
                <a:solidFill>
                  <a:srgbClr val="DEEDF1">
                    <a:lumMod val="25000"/>
                  </a:srgbClr>
                </a:solidFill>
                <a:latin typeface="Santander Text" panose="020B0504020201020104" pitchFamily="34" charset="0"/>
              </a:rPr>
              <a:t>Offers authentication services to the different channels. Answer the question .  WHO</a:t>
            </a:r>
          </a:p>
        </p:txBody>
      </p:sp>
      <p:cxnSp>
        <p:nvCxnSpPr>
          <p:cNvPr id="22" name="Conector recto 21">
            <a:extLst>
              <a:ext uri="{FF2B5EF4-FFF2-40B4-BE49-F238E27FC236}">
                <a16:creationId xmlns:a16="http://schemas.microsoft.com/office/drawing/2014/main" id="{95D3203A-A6F6-8622-675E-1B6CCD9AB872}"/>
              </a:ext>
            </a:extLst>
          </p:cNvPr>
          <p:cNvCxnSpPr>
            <a:cxnSpLocks/>
          </p:cNvCxnSpPr>
          <p:nvPr/>
        </p:nvCxnSpPr>
        <p:spPr>
          <a:xfrm flipH="1" flipV="1">
            <a:off x="711024" y="1933750"/>
            <a:ext cx="5112000" cy="0"/>
          </a:xfrm>
          <a:prstGeom prst="line">
            <a:avLst/>
          </a:prstGeom>
          <a:noFill/>
          <a:ln w="12700" cap="flat" cmpd="sng" algn="ctr">
            <a:solidFill>
              <a:srgbClr val="595959"/>
            </a:solidFill>
            <a:prstDash val="solid"/>
            <a:miter lim="800000"/>
          </a:ln>
          <a:effectLst/>
        </p:spPr>
      </p:cxnSp>
      <p:sp>
        <p:nvSpPr>
          <p:cNvPr id="23" name="CuadroTexto 22">
            <a:extLst>
              <a:ext uri="{FF2B5EF4-FFF2-40B4-BE49-F238E27FC236}">
                <a16:creationId xmlns:a16="http://schemas.microsoft.com/office/drawing/2014/main" id="{D0DF7234-D303-7B43-9FFE-366CABE65C67}"/>
              </a:ext>
            </a:extLst>
          </p:cNvPr>
          <p:cNvSpPr txBox="1"/>
          <p:nvPr/>
        </p:nvSpPr>
        <p:spPr>
          <a:xfrm>
            <a:off x="2192764" y="1965879"/>
            <a:ext cx="3658438" cy="909402"/>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180000" marR="0" lvl="0" indent="-180000" algn="l" defTabSz="914400" rtl="0" eaLnBrk="1" fontAlgn="auto" latinLnBrk="0" hangingPunct="1">
              <a:lnSpc>
                <a:spcPct val="100000"/>
              </a:lnSpc>
              <a:spcBef>
                <a:spcPts val="600"/>
              </a:spcBef>
              <a:spcAft>
                <a:spcPts val="0"/>
              </a:spcAft>
              <a:buClr>
                <a:srgbClr val="EC0000"/>
              </a:buClr>
              <a:buSzTx/>
              <a:buFont typeface="Arial" panose="020B0604020202020204" pitchFamily="34" charset="0"/>
              <a:buChar char="•"/>
              <a:tabLst/>
              <a:defRPr/>
            </a:pPr>
            <a:endParaRPr kumimoji="0" lang="en-GB" sz="1200" b="0" i="0" u="none" strike="noStrike" kern="1200" cap="none" spc="0" normalizeH="0" baseline="0" noProof="0">
              <a:ln>
                <a:noFill/>
              </a:ln>
              <a:solidFill>
                <a:srgbClr val="595959"/>
              </a:solidFill>
              <a:effectLst/>
              <a:uLnTx/>
              <a:uFillTx/>
              <a:latin typeface="Santander Text"/>
              <a:ea typeface="+mn-ea"/>
              <a:cs typeface="+mn-cs"/>
            </a:endParaRPr>
          </a:p>
        </p:txBody>
      </p:sp>
      <p:cxnSp>
        <p:nvCxnSpPr>
          <p:cNvPr id="24" name="Conector recto 23">
            <a:extLst>
              <a:ext uri="{FF2B5EF4-FFF2-40B4-BE49-F238E27FC236}">
                <a16:creationId xmlns:a16="http://schemas.microsoft.com/office/drawing/2014/main" id="{8FB168E4-4482-3337-ECA4-1613C78248BE}"/>
              </a:ext>
            </a:extLst>
          </p:cNvPr>
          <p:cNvCxnSpPr>
            <a:cxnSpLocks/>
          </p:cNvCxnSpPr>
          <p:nvPr/>
        </p:nvCxnSpPr>
        <p:spPr>
          <a:xfrm flipH="1" flipV="1">
            <a:off x="684799" y="3148317"/>
            <a:ext cx="5112000" cy="0"/>
          </a:xfrm>
          <a:prstGeom prst="line">
            <a:avLst/>
          </a:prstGeom>
          <a:noFill/>
          <a:ln w="12700" cap="flat" cmpd="sng" algn="ctr">
            <a:solidFill>
              <a:schemeClr val="bg1">
                <a:lumMod val="85000"/>
              </a:schemeClr>
            </a:solidFill>
            <a:prstDash val="solid"/>
            <a:miter lim="800000"/>
          </a:ln>
          <a:effectLst/>
        </p:spPr>
      </p:cxnSp>
      <p:sp>
        <p:nvSpPr>
          <p:cNvPr id="32" name="CuadroTexto 31">
            <a:extLst>
              <a:ext uri="{FF2B5EF4-FFF2-40B4-BE49-F238E27FC236}">
                <a16:creationId xmlns:a16="http://schemas.microsoft.com/office/drawing/2014/main" id="{8AB399CC-4E62-396B-4950-9F03F95F814C}"/>
              </a:ext>
            </a:extLst>
          </p:cNvPr>
          <p:cNvSpPr txBox="1"/>
          <p:nvPr/>
        </p:nvSpPr>
        <p:spPr>
          <a:xfrm>
            <a:off x="6141070" y="1128886"/>
            <a:ext cx="5878210" cy="1061829"/>
          </a:xfrm>
          <a:prstGeom prst="rect">
            <a:avLst/>
          </a:prstGeom>
          <a:noFill/>
        </p:spPr>
        <p:txBody>
          <a:bodyPr wrap="square" rtlCol="0">
            <a:spAutoFit/>
          </a:bodyPr>
          <a:lstStyle/>
          <a:p>
            <a:pPr marL="355600" marR="0" lvl="0" indent="-355600" fontAlgn="auto">
              <a:lnSpc>
                <a:spcPct val="100000"/>
              </a:lnSpc>
              <a:spcBef>
                <a:spcPts val="0"/>
              </a:spcBef>
              <a:spcAft>
                <a:spcPts val="300"/>
              </a:spcAft>
              <a:buClrTx/>
              <a:buSzTx/>
              <a:buFontTx/>
              <a:buNone/>
              <a:tabLst/>
              <a:defRPr/>
            </a:pPr>
            <a:r>
              <a:rPr lang="en-US" sz="1600" b="1" kern="0">
                <a:solidFill>
                  <a:srgbClr val="DEEDF1">
                    <a:lumMod val="25000"/>
                  </a:srgbClr>
                </a:solidFill>
                <a:latin typeface="Santander Text" panose="020B0504020201020104" pitchFamily="34" charset="0"/>
              </a:rPr>
              <a:t>2 - Authorization Services</a:t>
            </a:r>
          </a:p>
          <a:p>
            <a:pPr marR="0" lvl="0" indent="-355600" fontAlgn="auto">
              <a:lnSpc>
                <a:spcPct val="100000"/>
              </a:lnSpc>
              <a:spcBef>
                <a:spcPts val="0"/>
              </a:spcBef>
              <a:spcAft>
                <a:spcPts val="300"/>
              </a:spcAft>
              <a:buClrTx/>
              <a:buSzTx/>
              <a:buFontTx/>
              <a:buNone/>
              <a:tabLst/>
              <a:defRPr/>
            </a:pPr>
            <a:r>
              <a:rPr lang="en-US" sz="1400" i="1" kern="0">
                <a:solidFill>
                  <a:srgbClr val="DEEDF1">
                    <a:lumMod val="25000"/>
                  </a:srgbClr>
                </a:solidFill>
                <a:latin typeface="Santander Text" panose="020B0504020201020104" pitchFamily="34" charset="0"/>
              </a:rPr>
              <a:t>Orchestrates the systems (Fraud, Cyber, Operational, Functional grants, etc.) needed to grant authorization to the transactions. Answer the question IF</a:t>
            </a:r>
          </a:p>
          <a:p>
            <a:pPr marL="0" marR="0" lvl="0" indent="0" algn="l" defTabSz="914400" rtl="0" eaLnBrk="1" fontAlgn="auto" latinLnBrk="0" hangingPunct="1">
              <a:lnSpc>
                <a:spcPct val="100000"/>
              </a:lnSpc>
              <a:spcBef>
                <a:spcPts val="0"/>
              </a:spcBef>
              <a:spcAft>
                <a:spcPts val="300"/>
              </a:spcAft>
              <a:buClrTx/>
              <a:buSzTx/>
              <a:buFontTx/>
              <a:buNone/>
              <a:tabLst/>
              <a:defRPr/>
            </a:pPr>
            <a:endParaRPr kumimoji="0" lang="en-GB" sz="1400" b="0" i="1"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endParaRPr>
          </a:p>
        </p:txBody>
      </p:sp>
      <p:cxnSp>
        <p:nvCxnSpPr>
          <p:cNvPr id="33" name="Conector recto 32">
            <a:extLst>
              <a:ext uri="{FF2B5EF4-FFF2-40B4-BE49-F238E27FC236}">
                <a16:creationId xmlns:a16="http://schemas.microsoft.com/office/drawing/2014/main" id="{86F93A5B-47ED-0086-F0A8-1DFF037A0884}"/>
              </a:ext>
            </a:extLst>
          </p:cNvPr>
          <p:cNvCxnSpPr>
            <a:cxnSpLocks/>
          </p:cNvCxnSpPr>
          <p:nvPr/>
        </p:nvCxnSpPr>
        <p:spPr>
          <a:xfrm flipH="1" flipV="1">
            <a:off x="6167296" y="1933750"/>
            <a:ext cx="5760000" cy="0"/>
          </a:xfrm>
          <a:prstGeom prst="line">
            <a:avLst/>
          </a:prstGeom>
          <a:noFill/>
          <a:ln w="12700" cap="flat" cmpd="sng" algn="ctr">
            <a:solidFill>
              <a:srgbClr val="595959"/>
            </a:solidFill>
            <a:prstDash val="solid"/>
            <a:miter lim="800000"/>
          </a:ln>
          <a:effectLst/>
        </p:spPr>
      </p:cxnSp>
      <p:sp>
        <p:nvSpPr>
          <p:cNvPr id="34" name="CuadroTexto 33">
            <a:extLst>
              <a:ext uri="{FF2B5EF4-FFF2-40B4-BE49-F238E27FC236}">
                <a16:creationId xmlns:a16="http://schemas.microsoft.com/office/drawing/2014/main" id="{F2599503-9F52-81AF-B186-BA0272476971}"/>
              </a:ext>
            </a:extLst>
          </p:cNvPr>
          <p:cNvSpPr txBox="1"/>
          <p:nvPr/>
        </p:nvSpPr>
        <p:spPr>
          <a:xfrm>
            <a:off x="7592817" y="2005700"/>
            <a:ext cx="3745858" cy="909402"/>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buClr>
                <a:srgbClr val="EC0000"/>
              </a:buClr>
              <a:defRPr/>
            </a:pPr>
            <a:r>
              <a:rPr kumimoji="0" lang="en-US" sz="1200" b="0" i="0" u="none" strike="noStrike" kern="1200" cap="none" spc="0" normalizeH="0" baseline="0" noProof="0">
                <a:ln>
                  <a:noFill/>
                </a:ln>
                <a:solidFill>
                  <a:prstClr val="black"/>
                </a:solidFill>
                <a:effectLst/>
                <a:uLnTx/>
                <a:uFillTx/>
                <a:latin typeface="Santander Text"/>
                <a:ea typeface="+mn-ea"/>
                <a:cs typeface="+mn-cs"/>
              </a:rPr>
              <a:t>Single hub for deciding whether a transaction is authorized with the input parameters</a:t>
            </a:r>
          </a:p>
          <a:p>
            <a:pPr marL="180000" marR="0" lvl="0" indent="-180000" algn="l" defTabSz="914400" rtl="0" eaLnBrk="1" fontAlgn="auto" latinLnBrk="0" hangingPunct="1">
              <a:lnSpc>
                <a:spcPct val="100000"/>
              </a:lnSpc>
              <a:spcBef>
                <a:spcPts val="600"/>
              </a:spcBef>
              <a:spcAft>
                <a:spcPts val="0"/>
              </a:spcAft>
              <a:buClr>
                <a:srgbClr val="EC0000"/>
              </a:buClr>
              <a:buSzTx/>
              <a:buFont typeface="Arial" panose="020B0604020202020204" pitchFamily="34" charset="0"/>
              <a:buChar char="•"/>
              <a:tabLst/>
              <a:defRPr/>
            </a:pPr>
            <a:endParaRPr kumimoji="0" lang="en-US" sz="1200" b="0" i="0" u="none" strike="noStrike" kern="1200" cap="none" spc="0" normalizeH="0" baseline="0" noProof="0">
              <a:ln>
                <a:noFill/>
              </a:ln>
              <a:solidFill>
                <a:prstClr val="black"/>
              </a:solidFill>
              <a:effectLst/>
              <a:uLnTx/>
              <a:uFillTx/>
              <a:latin typeface="Santander Text"/>
              <a:ea typeface="+mn-ea"/>
              <a:cs typeface="+mn-cs"/>
            </a:endParaRPr>
          </a:p>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endParaRPr kumimoji="0" lang="en-GB" sz="1200" b="0" i="0" u="none" strike="noStrike" kern="1200" cap="none" spc="0" normalizeH="0" baseline="0" noProof="0">
              <a:ln>
                <a:noFill/>
              </a:ln>
              <a:solidFill>
                <a:prstClr val="black"/>
              </a:solidFill>
              <a:effectLst/>
              <a:uLnTx/>
              <a:uFillTx/>
              <a:latin typeface="Santander Text"/>
              <a:ea typeface="+mn-ea"/>
              <a:cs typeface="+mn-cs"/>
            </a:endParaRPr>
          </a:p>
        </p:txBody>
      </p:sp>
      <p:cxnSp>
        <p:nvCxnSpPr>
          <p:cNvPr id="35" name="Conector recto 34">
            <a:extLst>
              <a:ext uri="{FF2B5EF4-FFF2-40B4-BE49-F238E27FC236}">
                <a16:creationId xmlns:a16="http://schemas.microsoft.com/office/drawing/2014/main" id="{898D6A82-26BF-1216-98A7-D746061A9797}"/>
              </a:ext>
            </a:extLst>
          </p:cNvPr>
          <p:cNvCxnSpPr>
            <a:cxnSpLocks/>
          </p:cNvCxnSpPr>
          <p:nvPr/>
        </p:nvCxnSpPr>
        <p:spPr>
          <a:xfrm flipH="1" flipV="1">
            <a:off x="6105200" y="3014093"/>
            <a:ext cx="5112000" cy="0"/>
          </a:xfrm>
          <a:prstGeom prst="line">
            <a:avLst/>
          </a:prstGeom>
          <a:noFill/>
          <a:ln w="12700" cap="flat" cmpd="sng" algn="ctr">
            <a:solidFill>
              <a:schemeClr val="bg1">
                <a:lumMod val="85000"/>
              </a:schemeClr>
            </a:solidFill>
            <a:prstDash val="solid"/>
            <a:miter lim="800000"/>
          </a:ln>
          <a:effectLst/>
        </p:spPr>
      </p:cxnSp>
      <p:cxnSp>
        <p:nvCxnSpPr>
          <p:cNvPr id="37" name="Conector recto 36">
            <a:extLst>
              <a:ext uri="{FF2B5EF4-FFF2-40B4-BE49-F238E27FC236}">
                <a16:creationId xmlns:a16="http://schemas.microsoft.com/office/drawing/2014/main" id="{75EE2D35-D8CD-EDA1-C9D7-DFC8B538DC98}"/>
              </a:ext>
            </a:extLst>
          </p:cNvPr>
          <p:cNvCxnSpPr>
            <a:cxnSpLocks/>
          </p:cNvCxnSpPr>
          <p:nvPr/>
        </p:nvCxnSpPr>
        <p:spPr>
          <a:xfrm flipH="1" flipV="1">
            <a:off x="6105200" y="4080870"/>
            <a:ext cx="5112000" cy="0"/>
          </a:xfrm>
          <a:prstGeom prst="line">
            <a:avLst/>
          </a:prstGeom>
          <a:noFill/>
          <a:ln w="12700" cap="flat" cmpd="sng" algn="ctr">
            <a:solidFill>
              <a:schemeClr val="bg1">
                <a:lumMod val="85000"/>
              </a:schemeClr>
            </a:solidFill>
            <a:prstDash val="solid"/>
            <a:miter lim="800000"/>
          </a:ln>
          <a:effectLst/>
        </p:spPr>
      </p:cxnSp>
      <p:sp>
        <p:nvSpPr>
          <p:cNvPr id="50" name="CuadroTexto 49">
            <a:extLst>
              <a:ext uri="{FF2B5EF4-FFF2-40B4-BE49-F238E27FC236}">
                <a16:creationId xmlns:a16="http://schemas.microsoft.com/office/drawing/2014/main" id="{34AFC41E-669F-C794-D008-452CF0555F1B}"/>
              </a:ext>
            </a:extLst>
          </p:cNvPr>
          <p:cNvSpPr txBox="1"/>
          <p:nvPr/>
        </p:nvSpPr>
        <p:spPr>
          <a:xfrm>
            <a:off x="7592817" y="3293551"/>
            <a:ext cx="3718224" cy="723275"/>
          </a:xfrm>
          <a:prstGeom prst="rect">
            <a:avLst/>
          </a:prstGeom>
          <a:noFill/>
        </p:spPr>
        <p:txBody>
          <a:bodyPr wrap="square">
            <a:spAutoFit/>
          </a:bodyPr>
          <a:lstStyle/>
          <a:p>
            <a:pPr marL="180000" indent="-180000">
              <a:spcBef>
                <a:spcPts val="600"/>
              </a:spcBef>
              <a:buClr>
                <a:srgbClr val="EC0000"/>
              </a:buClr>
              <a:buFont typeface="Arial" panose="020B0604020202020204" pitchFamily="34" charset="0"/>
              <a:buChar char="•"/>
              <a:defRPr/>
            </a:pPr>
            <a:r>
              <a:rPr kumimoji="0" lang="en-US" sz="1200" b="0" i="0" u="none" strike="noStrike" kern="1200" cap="none" spc="0" normalizeH="0" baseline="0" noProof="0">
                <a:ln>
                  <a:noFill/>
                </a:ln>
                <a:solidFill>
                  <a:prstClr val="black"/>
                </a:solidFill>
                <a:effectLst/>
                <a:uLnTx/>
                <a:uFillTx/>
                <a:latin typeface="Santander Text"/>
                <a:ea typeface="+mn-ea"/>
                <a:cs typeface="+mn-cs"/>
              </a:rPr>
              <a:t>Module that enables rules administration used as the policies for the transaction authorization</a:t>
            </a:r>
          </a:p>
          <a:p>
            <a:pPr marL="180000" marR="0" lvl="0" indent="-180000" algn="l" defTabSz="914400" rtl="0" eaLnBrk="1" fontAlgn="auto" latinLnBrk="0" hangingPunct="1">
              <a:lnSpc>
                <a:spcPct val="100000"/>
              </a:lnSpc>
              <a:spcBef>
                <a:spcPts val="600"/>
              </a:spcBef>
              <a:spcAft>
                <a:spcPts val="0"/>
              </a:spcAft>
              <a:buClr>
                <a:srgbClr val="EC0000"/>
              </a:buClr>
              <a:buSzTx/>
              <a:buFont typeface="Arial" panose="020B0604020202020204" pitchFamily="34" charset="0"/>
              <a:buChar char="•"/>
              <a:tabLst/>
              <a:defRPr/>
            </a:pPr>
            <a:endParaRPr kumimoji="0" lang="en-US" sz="1200" b="0" i="0" u="none" strike="noStrike" kern="1200" cap="none" spc="0" normalizeH="0" baseline="0" noProof="0">
              <a:ln>
                <a:noFill/>
              </a:ln>
              <a:solidFill>
                <a:prstClr val="black"/>
              </a:solidFill>
              <a:effectLst/>
              <a:uLnTx/>
              <a:uFillTx/>
              <a:latin typeface="Santander Text"/>
              <a:ea typeface="+mn-ea"/>
              <a:cs typeface="+mn-cs"/>
            </a:endParaRPr>
          </a:p>
        </p:txBody>
      </p:sp>
      <p:sp>
        <p:nvSpPr>
          <p:cNvPr id="4" name="Rectángulo 262">
            <a:extLst>
              <a:ext uri="{FF2B5EF4-FFF2-40B4-BE49-F238E27FC236}">
                <a16:creationId xmlns:a16="http://schemas.microsoft.com/office/drawing/2014/main" id="{EE08DB0D-4425-7AE3-A079-C68A695EE864}"/>
              </a:ext>
            </a:extLst>
          </p:cNvPr>
          <p:cNvSpPr/>
          <p:nvPr/>
        </p:nvSpPr>
        <p:spPr>
          <a:xfrm>
            <a:off x="6105200" y="2069931"/>
            <a:ext cx="1440000" cy="730800"/>
          </a:xfrm>
          <a:prstGeom prst="rect">
            <a:avLst/>
          </a:prstGeom>
          <a:solidFill>
            <a:schemeClr val="bg1"/>
          </a:solidFill>
          <a:ln w="12700" cap="flat" cmpd="sng" algn="ctr">
            <a:solidFill>
              <a:schemeClr val="bg2">
                <a:lumMod val="75000"/>
              </a:schemeClr>
            </a:solidFill>
            <a:prstDash val="solid"/>
            <a:miter lim="800000"/>
          </a:ln>
          <a:effectLst/>
        </p:spPr>
        <p:txBody>
          <a:bodyPr lIns="0" tIns="45720" rIns="0" bIns="45720" rtlCol="0" anchor="ctr"/>
          <a:lstStyle/>
          <a:p>
            <a:pPr algn="ctr">
              <a:spcAft>
                <a:spcPts val="600"/>
              </a:spcAft>
            </a:pPr>
            <a:r>
              <a:rPr lang="en-US" sz="1400" kern="0">
                <a:solidFill>
                  <a:srgbClr val="DEEDF1">
                    <a:lumMod val="25000"/>
                  </a:srgbClr>
                </a:solidFill>
                <a:latin typeface="Santander Text"/>
              </a:rPr>
              <a:t>Transaction authorization</a:t>
            </a:r>
            <a:endParaRPr lang="en-GB" sz="1400" kern="0">
              <a:solidFill>
                <a:srgbClr val="DEEDF1">
                  <a:lumMod val="25000"/>
                </a:srgbClr>
              </a:solidFill>
              <a:latin typeface="Santander Text"/>
            </a:endParaRPr>
          </a:p>
        </p:txBody>
      </p:sp>
      <p:sp>
        <p:nvSpPr>
          <p:cNvPr id="13" name="Rectángulo 262">
            <a:extLst>
              <a:ext uri="{FF2B5EF4-FFF2-40B4-BE49-F238E27FC236}">
                <a16:creationId xmlns:a16="http://schemas.microsoft.com/office/drawing/2014/main" id="{7216245B-56D8-F50F-52A5-FFA411E39952}"/>
              </a:ext>
            </a:extLst>
          </p:cNvPr>
          <p:cNvSpPr/>
          <p:nvPr/>
        </p:nvSpPr>
        <p:spPr>
          <a:xfrm>
            <a:off x="6105200" y="3284122"/>
            <a:ext cx="1440000" cy="730800"/>
          </a:xfrm>
          <a:prstGeom prst="rect">
            <a:avLst/>
          </a:prstGeom>
          <a:solidFill>
            <a:schemeClr val="bg1"/>
          </a:solidFill>
          <a:ln w="12700" cap="flat" cmpd="sng" algn="ctr">
            <a:solidFill>
              <a:schemeClr val="bg2">
                <a:lumMod val="50000"/>
              </a:schemeClr>
            </a:solidFill>
            <a:prstDash val="solid"/>
            <a:miter lim="800000"/>
          </a:ln>
          <a:effectLst/>
        </p:spPr>
        <p:txBody>
          <a:bodyPr lIns="72000" tIns="45720" rIns="72000" bIns="4572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0" cap="none" spc="0" normalizeH="0" baseline="0" noProof="0">
                <a:ln>
                  <a:noFill/>
                </a:ln>
                <a:effectLst/>
                <a:uLnTx/>
                <a:uFillTx/>
                <a:ea typeface="+mn-ea"/>
                <a:cs typeface="+mn-cs"/>
              </a:rPr>
              <a:t>Policy admin</a:t>
            </a:r>
          </a:p>
        </p:txBody>
      </p:sp>
      <p:sp>
        <p:nvSpPr>
          <p:cNvPr id="25" name="CuadroTexto 24">
            <a:extLst>
              <a:ext uri="{FF2B5EF4-FFF2-40B4-BE49-F238E27FC236}">
                <a16:creationId xmlns:a16="http://schemas.microsoft.com/office/drawing/2014/main" id="{5219F90F-ECBE-8AAA-73E3-91B8B384A808}"/>
              </a:ext>
            </a:extLst>
          </p:cNvPr>
          <p:cNvSpPr txBox="1"/>
          <p:nvPr/>
        </p:nvSpPr>
        <p:spPr>
          <a:xfrm>
            <a:off x="2209199" y="2003182"/>
            <a:ext cx="3548980" cy="1092607"/>
          </a:xfrm>
          <a:prstGeom prst="rect">
            <a:avLst/>
          </a:prstGeom>
          <a:noFill/>
        </p:spPr>
        <p:txBody>
          <a:bodyPr wrap="square">
            <a:spAutoFit/>
          </a:bodyPr>
          <a:lstStyle/>
          <a:p>
            <a:pPr marL="180000" indent="-180000">
              <a:spcBef>
                <a:spcPts val="600"/>
              </a:spcBef>
              <a:buClr>
                <a:srgbClr val="EC0000"/>
              </a:buClr>
              <a:buFont typeface="Arial" panose="020B0604020202020204" pitchFamily="34" charset="0"/>
              <a:buChar char="•"/>
              <a:defRPr/>
            </a:pPr>
            <a:r>
              <a:rPr lang="en-US" sz="1200">
                <a:solidFill>
                  <a:prstClr val="black"/>
                </a:solidFill>
                <a:latin typeface="Santander Text"/>
              </a:rPr>
              <a:t>Service that provides capabilities for authentication processes. It interacts through APIs with the channels and act as an abstraction layers for identity backends</a:t>
            </a:r>
          </a:p>
          <a:p>
            <a:pPr>
              <a:spcBef>
                <a:spcPts val="600"/>
              </a:spcBef>
              <a:buClr>
                <a:srgbClr val="EC0000"/>
              </a:buClr>
              <a:defRPr/>
            </a:pPr>
            <a:endParaRPr lang="en-US" sz="1200">
              <a:solidFill>
                <a:prstClr val="black"/>
              </a:solidFill>
              <a:latin typeface="Santander Text"/>
            </a:endParaRPr>
          </a:p>
        </p:txBody>
      </p:sp>
      <p:sp>
        <p:nvSpPr>
          <p:cNvPr id="18" name="CuadroTexto 17">
            <a:extLst>
              <a:ext uri="{FF2B5EF4-FFF2-40B4-BE49-F238E27FC236}">
                <a16:creationId xmlns:a16="http://schemas.microsoft.com/office/drawing/2014/main" id="{8BF218BE-45F4-EFE4-A661-CA6EC33BE5BC}"/>
              </a:ext>
            </a:extLst>
          </p:cNvPr>
          <p:cNvSpPr txBox="1"/>
          <p:nvPr/>
        </p:nvSpPr>
        <p:spPr>
          <a:xfrm>
            <a:off x="7592817" y="4292353"/>
            <a:ext cx="3718224" cy="1092607"/>
          </a:xfrm>
          <a:prstGeom prst="rect">
            <a:avLst/>
          </a:prstGeom>
          <a:noFill/>
        </p:spPr>
        <p:txBody>
          <a:bodyPr wrap="square">
            <a:spAutoFit/>
          </a:bodyPr>
          <a:lstStyle/>
          <a:p>
            <a:pPr marL="180000" indent="-180000">
              <a:spcBef>
                <a:spcPts val="600"/>
              </a:spcBef>
              <a:buClr>
                <a:srgbClr val="EC0000"/>
              </a:buClr>
              <a:buFont typeface="Arial" panose="020B0604020202020204" pitchFamily="34" charset="0"/>
              <a:buChar char="•"/>
              <a:defRPr/>
            </a:pPr>
            <a:r>
              <a:rPr kumimoji="0" lang="en-US" sz="1200" b="0" i="0" u="none" strike="noStrike" kern="1200" cap="none" spc="0" normalizeH="0" baseline="0" noProof="0">
                <a:ln>
                  <a:noFill/>
                </a:ln>
                <a:solidFill>
                  <a:prstClr val="black"/>
                </a:solidFill>
                <a:effectLst/>
                <a:uLnTx/>
                <a:uFillTx/>
                <a:latin typeface="Santander Text"/>
                <a:ea typeface="+mn-ea"/>
                <a:cs typeface="+mn-cs"/>
              </a:rPr>
              <a:t>Capabilities that serve as an input for transaction authorization. This capabilities monitor behavior and context to make better cybersecurity / risk decisions</a:t>
            </a:r>
          </a:p>
          <a:p>
            <a:pPr marL="180000" marR="0" lvl="0" indent="-180000" algn="l" defTabSz="914400" rtl="0" eaLnBrk="1" fontAlgn="auto" latinLnBrk="0" hangingPunct="1">
              <a:lnSpc>
                <a:spcPct val="100000"/>
              </a:lnSpc>
              <a:spcBef>
                <a:spcPts val="600"/>
              </a:spcBef>
              <a:spcAft>
                <a:spcPts val="0"/>
              </a:spcAft>
              <a:buClr>
                <a:srgbClr val="EC0000"/>
              </a:buClr>
              <a:buSzTx/>
              <a:buFont typeface="Arial" panose="020B0604020202020204" pitchFamily="34" charset="0"/>
              <a:buChar char="•"/>
              <a:tabLst/>
              <a:defRPr/>
            </a:pPr>
            <a:endParaRPr kumimoji="0" lang="en-US" sz="1200" b="0" i="0" u="none" strike="noStrike" kern="1200" cap="none" spc="0" normalizeH="0" baseline="0" noProof="0">
              <a:ln>
                <a:noFill/>
              </a:ln>
              <a:solidFill>
                <a:prstClr val="black"/>
              </a:solidFill>
              <a:effectLst/>
              <a:uLnTx/>
              <a:uFillTx/>
              <a:latin typeface="Santander Text"/>
              <a:ea typeface="+mn-ea"/>
              <a:cs typeface="+mn-cs"/>
            </a:endParaRPr>
          </a:p>
        </p:txBody>
      </p:sp>
      <p:sp>
        <p:nvSpPr>
          <p:cNvPr id="20" name="Rectángulo 262">
            <a:extLst>
              <a:ext uri="{FF2B5EF4-FFF2-40B4-BE49-F238E27FC236}">
                <a16:creationId xmlns:a16="http://schemas.microsoft.com/office/drawing/2014/main" id="{A21EDBBE-8BA0-C2D6-45BA-6D241A9D58F7}"/>
              </a:ext>
            </a:extLst>
          </p:cNvPr>
          <p:cNvSpPr/>
          <p:nvPr/>
        </p:nvSpPr>
        <p:spPr>
          <a:xfrm>
            <a:off x="6105200" y="4311520"/>
            <a:ext cx="1440000" cy="730800"/>
          </a:xfrm>
          <a:prstGeom prst="rect">
            <a:avLst/>
          </a:prstGeom>
          <a:solidFill>
            <a:schemeClr val="bg1"/>
          </a:solidFill>
          <a:ln w="12700" cap="flat" cmpd="sng" algn="ctr">
            <a:solidFill>
              <a:schemeClr val="bg2">
                <a:lumMod val="50000"/>
              </a:schemeClr>
            </a:solidFill>
            <a:prstDash val="solid"/>
            <a:miter lim="800000"/>
          </a:ln>
          <a:effectLst/>
        </p:spPr>
        <p:txBody>
          <a:bodyPr lIns="72000" tIns="45720" rIns="72000" bIns="45720" rtlCol="0" anchor="t" anchorCtr="0"/>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i="0" u="none" strike="noStrike" kern="0" cap="none" spc="0" normalizeH="0" baseline="0" noProof="0" err="1">
                <a:ln>
                  <a:noFill/>
                </a:ln>
                <a:solidFill>
                  <a:srgbClr val="3F3F3F"/>
                </a:solidFill>
                <a:effectLst/>
                <a:uLnTx/>
                <a:uFillTx/>
                <a:latin typeface="Santander Text"/>
                <a:ea typeface="+mn-ea"/>
                <a:cs typeface="+mn-cs"/>
              </a:rPr>
              <a:t>Behavioural</a:t>
            </a:r>
            <a:r>
              <a:rPr kumimoji="0" lang="en-US" sz="1400" i="0" u="none" strike="noStrike" kern="0" cap="none" spc="0" normalizeH="0" baseline="0" noProof="0">
                <a:ln>
                  <a:noFill/>
                </a:ln>
                <a:solidFill>
                  <a:srgbClr val="3F3F3F"/>
                </a:solidFill>
                <a:effectLst/>
                <a:uLnTx/>
                <a:uFillTx/>
                <a:latin typeface="Santander Text"/>
                <a:ea typeface="+mn-ea"/>
                <a:cs typeface="+mn-cs"/>
              </a:rPr>
              <a:t> technologies for anti fraud</a:t>
            </a:r>
            <a:endParaRPr kumimoji="0" lang="en-GB" sz="1100" i="0" u="none" strike="noStrike" kern="0" cap="none" spc="0" normalizeH="0" baseline="0" noProof="0">
              <a:ln>
                <a:noFill/>
              </a:ln>
              <a:solidFill>
                <a:srgbClr val="3F3F3F"/>
              </a:solidFill>
              <a:effectLst/>
              <a:uLnTx/>
              <a:uFillTx/>
              <a:latin typeface="Santander Text"/>
              <a:ea typeface="+mn-ea"/>
              <a:cs typeface="+mn-cs"/>
            </a:endParaRPr>
          </a:p>
        </p:txBody>
      </p:sp>
      <p:sp>
        <p:nvSpPr>
          <p:cNvPr id="27" name="CuadroTexto 26">
            <a:extLst>
              <a:ext uri="{FF2B5EF4-FFF2-40B4-BE49-F238E27FC236}">
                <a16:creationId xmlns:a16="http://schemas.microsoft.com/office/drawing/2014/main" id="{F04041C2-FBAC-4577-AF46-C0344973C078}"/>
              </a:ext>
            </a:extLst>
          </p:cNvPr>
          <p:cNvSpPr txBox="1"/>
          <p:nvPr/>
        </p:nvSpPr>
        <p:spPr>
          <a:xfrm>
            <a:off x="7592817" y="5487431"/>
            <a:ext cx="3718224" cy="907941"/>
          </a:xfrm>
          <a:prstGeom prst="rect">
            <a:avLst/>
          </a:prstGeom>
          <a:noFill/>
        </p:spPr>
        <p:txBody>
          <a:bodyPr wrap="square">
            <a:spAutoFit/>
          </a:bodyPr>
          <a:lstStyle/>
          <a:p>
            <a:pPr marL="180000" indent="-180000">
              <a:spcBef>
                <a:spcPts val="600"/>
              </a:spcBef>
              <a:buClr>
                <a:srgbClr val="EC0000"/>
              </a:buClr>
              <a:buFont typeface="Arial" panose="020B0604020202020204" pitchFamily="34" charset="0"/>
              <a:buChar char="•"/>
              <a:defRPr/>
            </a:pPr>
            <a:r>
              <a:rPr kumimoji="0" lang="en-US" sz="1200" b="0" i="0" u="none" strike="noStrike" kern="1200" cap="none" spc="0" normalizeH="0" baseline="0" noProof="0">
                <a:ln>
                  <a:noFill/>
                </a:ln>
                <a:solidFill>
                  <a:prstClr val="black"/>
                </a:solidFill>
                <a:effectLst/>
                <a:uLnTx/>
                <a:uFillTx/>
                <a:latin typeface="Santander Text"/>
                <a:ea typeface="+mn-ea"/>
                <a:cs typeface="+mn-cs"/>
              </a:rPr>
              <a:t>Technical module thar serves as enforcer of the decision taken by the Policy Decision Point (allow / deny). </a:t>
            </a:r>
            <a:r>
              <a:rPr kumimoji="0" lang="en-US" sz="1200" b="0" i="0" u="none" strike="noStrike" kern="1200" cap="none" spc="0" normalizeH="0" baseline="0" noProof="0" err="1">
                <a:ln>
                  <a:noFill/>
                </a:ln>
                <a:solidFill>
                  <a:prstClr val="black"/>
                </a:solidFill>
                <a:effectLst/>
                <a:uLnTx/>
                <a:uFillTx/>
                <a:latin typeface="Santander Text"/>
                <a:ea typeface="+mn-ea"/>
                <a:cs typeface="+mn-cs"/>
              </a:rPr>
              <a:t>I.e</a:t>
            </a:r>
            <a:r>
              <a:rPr kumimoji="0" lang="en-US" sz="1200" b="0" i="0" u="none" strike="noStrike" kern="1200" cap="none" spc="0" normalizeH="0" baseline="0" noProof="0">
                <a:ln>
                  <a:noFill/>
                </a:ln>
                <a:solidFill>
                  <a:prstClr val="black"/>
                </a:solidFill>
                <a:effectLst/>
                <a:uLnTx/>
                <a:uFillTx/>
                <a:latin typeface="Santander Text"/>
                <a:ea typeface="+mn-ea"/>
                <a:cs typeface="+mn-cs"/>
              </a:rPr>
              <a:t> API Gateway</a:t>
            </a:r>
          </a:p>
          <a:p>
            <a:pPr marL="180000" marR="0" lvl="0" indent="-180000" algn="l" defTabSz="914400" rtl="0" eaLnBrk="1" fontAlgn="auto" latinLnBrk="0" hangingPunct="1">
              <a:lnSpc>
                <a:spcPct val="100000"/>
              </a:lnSpc>
              <a:spcBef>
                <a:spcPts val="600"/>
              </a:spcBef>
              <a:spcAft>
                <a:spcPts val="0"/>
              </a:spcAft>
              <a:buClr>
                <a:srgbClr val="EC0000"/>
              </a:buClr>
              <a:buSzTx/>
              <a:buFont typeface="Arial" panose="020B0604020202020204" pitchFamily="34" charset="0"/>
              <a:buChar char="•"/>
              <a:tabLst/>
              <a:defRPr/>
            </a:pPr>
            <a:endParaRPr kumimoji="0" lang="en-US" sz="1200" b="0" i="0" u="none" strike="noStrike" kern="1200" cap="none" spc="0" normalizeH="0" baseline="0" noProof="0">
              <a:ln>
                <a:noFill/>
              </a:ln>
              <a:solidFill>
                <a:prstClr val="black"/>
              </a:solidFill>
              <a:effectLst/>
              <a:uLnTx/>
              <a:uFillTx/>
              <a:latin typeface="Santander Text"/>
              <a:ea typeface="+mn-ea"/>
              <a:cs typeface="+mn-cs"/>
            </a:endParaRPr>
          </a:p>
        </p:txBody>
      </p:sp>
      <p:sp>
        <p:nvSpPr>
          <p:cNvPr id="28" name="Rectángulo 262">
            <a:extLst>
              <a:ext uri="{FF2B5EF4-FFF2-40B4-BE49-F238E27FC236}">
                <a16:creationId xmlns:a16="http://schemas.microsoft.com/office/drawing/2014/main" id="{520A7B6C-A32C-30A6-FBE2-CB291013BDBC}"/>
              </a:ext>
            </a:extLst>
          </p:cNvPr>
          <p:cNvSpPr/>
          <p:nvPr/>
        </p:nvSpPr>
        <p:spPr>
          <a:xfrm>
            <a:off x="6105200" y="5501154"/>
            <a:ext cx="1440000" cy="730800"/>
          </a:xfrm>
          <a:prstGeom prst="rect">
            <a:avLst/>
          </a:prstGeom>
          <a:solidFill>
            <a:schemeClr val="bg1"/>
          </a:solidFill>
          <a:ln w="12700" cap="flat" cmpd="sng" algn="ctr">
            <a:solidFill>
              <a:schemeClr val="bg2">
                <a:lumMod val="75000"/>
              </a:schemeClr>
            </a:solidFill>
            <a:prstDash val="solid"/>
            <a:miter lim="800000"/>
          </a:ln>
          <a:effectLst/>
        </p:spPr>
        <p:txBody>
          <a:bodyPr lIns="0" tIns="45720" rIns="0" bIns="45720" rtlCol="0" anchor="ctr"/>
          <a:lstStyle/>
          <a:p>
            <a:pPr algn="ctr">
              <a:spcAft>
                <a:spcPts val="600"/>
              </a:spcAft>
            </a:pPr>
            <a:r>
              <a:rPr lang="en-US" sz="1400" kern="0">
                <a:solidFill>
                  <a:srgbClr val="3F3F3F"/>
                </a:solidFill>
                <a:latin typeface="Santander Text"/>
              </a:rPr>
              <a:t>Policy Enforcement point </a:t>
            </a:r>
          </a:p>
        </p:txBody>
      </p:sp>
      <p:cxnSp>
        <p:nvCxnSpPr>
          <p:cNvPr id="40" name="Conector recto 39">
            <a:extLst>
              <a:ext uri="{FF2B5EF4-FFF2-40B4-BE49-F238E27FC236}">
                <a16:creationId xmlns:a16="http://schemas.microsoft.com/office/drawing/2014/main" id="{12AC794C-57CD-F475-9840-033F1D4FBAAD}"/>
              </a:ext>
            </a:extLst>
          </p:cNvPr>
          <p:cNvCxnSpPr>
            <a:cxnSpLocks/>
          </p:cNvCxnSpPr>
          <p:nvPr/>
        </p:nvCxnSpPr>
        <p:spPr>
          <a:xfrm flipH="1" flipV="1">
            <a:off x="6105200" y="5198872"/>
            <a:ext cx="5112000" cy="0"/>
          </a:xfrm>
          <a:prstGeom prst="line">
            <a:avLst/>
          </a:prstGeom>
          <a:noFill/>
          <a:ln w="12700" cap="flat" cmpd="sng" algn="ctr">
            <a:solidFill>
              <a:schemeClr val="bg1">
                <a:lumMod val="85000"/>
              </a:schemeClr>
            </a:solidFill>
            <a:prstDash val="solid"/>
            <a:miter lim="800000"/>
          </a:ln>
          <a:effectLst/>
        </p:spPr>
      </p:cxnSp>
      <p:sp>
        <p:nvSpPr>
          <p:cNvPr id="3" name="Rectángulo 2">
            <a:extLst>
              <a:ext uri="{FF2B5EF4-FFF2-40B4-BE49-F238E27FC236}">
                <a16:creationId xmlns:a16="http://schemas.microsoft.com/office/drawing/2014/main" id="{CE1774B6-DD27-C9DA-BFF3-7FEEA2BC6380}"/>
              </a:ext>
            </a:extLst>
          </p:cNvPr>
          <p:cNvSpPr/>
          <p:nvPr/>
        </p:nvSpPr>
        <p:spPr>
          <a:xfrm>
            <a:off x="711024" y="4490230"/>
            <a:ext cx="1440000" cy="729331"/>
          </a:xfrm>
          <a:prstGeom prst="rect">
            <a:avLst/>
          </a:prstGeom>
          <a:solidFill>
            <a:schemeClr val="bg1"/>
          </a:solidFill>
          <a:ln w="12700" cap="flat" cmpd="sng" algn="ctr">
            <a:solidFill>
              <a:schemeClr val="bg2">
                <a:lumMod val="75000"/>
              </a:schemeClr>
            </a:solidFill>
            <a:prstDash val="solid"/>
            <a:miter lim="800000"/>
          </a:ln>
          <a:effectLst/>
        </p:spPr>
        <p:txBody>
          <a:bodyPr lIns="0" rIns="0" rtlCol="0" anchor="t" anchorCtr="0"/>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i="0" u="none" strike="noStrike" kern="0" cap="none" spc="0" normalizeH="0" baseline="0" noProof="0">
                <a:ln>
                  <a:noFill/>
                </a:ln>
                <a:solidFill>
                  <a:srgbClr val="3F3F3F"/>
                </a:solidFill>
                <a:effectLst/>
                <a:uLnTx/>
                <a:uFillTx/>
                <a:latin typeface="Santander Text"/>
                <a:ea typeface="+mn-ea"/>
                <a:cs typeface="+mn-cs"/>
              </a:rPr>
              <a:t>Authentication mechanisms &amp; standards</a:t>
            </a:r>
          </a:p>
        </p:txBody>
      </p:sp>
      <p:cxnSp>
        <p:nvCxnSpPr>
          <p:cNvPr id="29" name="Conector recto 28">
            <a:extLst>
              <a:ext uri="{FF2B5EF4-FFF2-40B4-BE49-F238E27FC236}">
                <a16:creationId xmlns:a16="http://schemas.microsoft.com/office/drawing/2014/main" id="{D53D5AE6-60CE-E7A7-5214-84F9A1A9E049}"/>
              </a:ext>
            </a:extLst>
          </p:cNvPr>
          <p:cNvCxnSpPr>
            <a:cxnSpLocks/>
          </p:cNvCxnSpPr>
          <p:nvPr/>
        </p:nvCxnSpPr>
        <p:spPr>
          <a:xfrm flipH="1" flipV="1">
            <a:off x="684799" y="4215094"/>
            <a:ext cx="5112000" cy="0"/>
          </a:xfrm>
          <a:prstGeom prst="line">
            <a:avLst/>
          </a:prstGeom>
          <a:noFill/>
          <a:ln w="12700" cap="flat" cmpd="sng" algn="ctr">
            <a:solidFill>
              <a:schemeClr val="bg1">
                <a:lumMod val="85000"/>
              </a:schemeClr>
            </a:solidFill>
            <a:prstDash val="solid"/>
            <a:miter lim="800000"/>
          </a:ln>
          <a:effectLst/>
        </p:spPr>
      </p:cxnSp>
      <p:sp>
        <p:nvSpPr>
          <p:cNvPr id="38" name="CuadroTexto 37">
            <a:extLst>
              <a:ext uri="{FF2B5EF4-FFF2-40B4-BE49-F238E27FC236}">
                <a16:creationId xmlns:a16="http://schemas.microsoft.com/office/drawing/2014/main" id="{6D94C752-B854-183B-7F4A-C9240B324CAF}"/>
              </a:ext>
            </a:extLst>
          </p:cNvPr>
          <p:cNvSpPr txBox="1"/>
          <p:nvPr/>
        </p:nvSpPr>
        <p:spPr>
          <a:xfrm>
            <a:off x="2209199" y="4388569"/>
            <a:ext cx="3522755" cy="646331"/>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600"/>
              </a:spcBef>
              <a:spcAft>
                <a:spcPts val="0"/>
              </a:spcAft>
              <a:buClr>
                <a:srgbClr val="EC0000"/>
              </a:buClr>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Santander Text"/>
                <a:ea typeface="+mn-ea"/>
                <a:cs typeface="+mn-cs"/>
              </a:rPr>
              <a:t>User experience that are the way customers interact with the different channels in identity journeys</a:t>
            </a:r>
          </a:p>
        </p:txBody>
      </p:sp>
      <p:sp>
        <p:nvSpPr>
          <p:cNvPr id="7" name="CuadroTexto 6">
            <a:extLst>
              <a:ext uri="{FF2B5EF4-FFF2-40B4-BE49-F238E27FC236}">
                <a16:creationId xmlns:a16="http://schemas.microsoft.com/office/drawing/2014/main" id="{A2F495A1-E868-90E0-7027-69713F7F32BA}"/>
              </a:ext>
            </a:extLst>
          </p:cNvPr>
          <p:cNvSpPr txBox="1"/>
          <p:nvPr/>
        </p:nvSpPr>
        <p:spPr>
          <a:xfrm>
            <a:off x="2209199" y="3211001"/>
            <a:ext cx="3658438" cy="461665"/>
          </a:xfrm>
          <a:prstGeom prst="rect">
            <a:avLst/>
          </a:prstGeom>
          <a:solidFill>
            <a:schemeClr val="bg1"/>
          </a:solidFill>
        </p:spPr>
        <p:txBody>
          <a:bodyPr wrap="square">
            <a:spAutoFit/>
          </a:bodyPr>
          <a:lstStyle>
            <a:defPPr>
              <a:defRPr lang="es-ES"/>
            </a:defPPr>
            <a:lvl1pPr marL="180000" indent="-180000">
              <a:spcBef>
                <a:spcPts val="600"/>
              </a:spcBef>
              <a:buClr>
                <a:schemeClr val="accent1"/>
              </a:buClr>
              <a:buFont typeface="Arial" panose="020B0604020202020204" pitchFamily="34" charset="0"/>
              <a:buChar char="•"/>
              <a:defRPr sz="1200">
                <a:solidFill>
                  <a:schemeClr val="dk1"/>
                </a:solidFill>
              </a:defRPr>
            </a:lvl1pPr>
          </a:lstStyle>
          <a:p>
            <a:pPr marL="180000" marR="0" lvl="0" indent="-180000" algn="l" defTabSz="914400" rtl="0" eaLnBrk="1" fontAlgn="auto" latinLnBrk="0" hangingPunct="1">
              <a:lnSpc>
                <a:spcPct val="100000"/>
              </a:lnSpc>
              <a:spcBef>
                <a:spcPts val="600"/>
              </a:spcBef>
              <a:spcAft>
                <a:spcPts val="0"/>
              </a:spcAft>
              <a:buClr>
                <a:srgbClr val="EC0000"/>
              </a:buClr>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Santander Text"/>
                <a:ea typeface="+mn-ea"/>
                <a:cs typeface="+mn-cs"/>
              </a:rPr>
              <a:t>Credential repositories used by the authentication server to complete authentication process</a:t>
            </a:r>
          </a:p>
        </p:txBody>
      </p:sp>
      <p:sp>
        <p:nvSpPr>
          <p:cNvPr id="14" name="Título 1">
            <a:extLst>
              <a:ext uri="{FF2B5EF4-FFF2-40B4-BE49-F238E27FC236}">
                <a16:creationId xmlns:a16="http://schemas.microsoft.com/office/drawing/2014/main" id="{7E4E481A-249E-F545-4C37-090D0A17F9F1}"/>
              </a:ext>
            </a:extLst>
          </p:cNvPr>
          <p:cNvSpPr>
            <a:spLocks noGrp="1"/>
          </p:cNvSpPr>
          <p:nvPr>
            <p:ph type="title"/>
          </p:nvPr>
        </p:nvSpPr>
        <p:spPr>
          <a:xfrm>
            <a:off x="711024" y="641900"/>
            <a:ext cx="10758733" cy="567463"/>
          </a:xfrm>
        </p:spPr>
        <p:txBody>
          <a:bodyPr/>
          <a:lstStyle/>
          <a:p>
            <a:r>
              <a:rPr lang="en-US"/>
              <a:t>Global Technology. </a:t>
            </a:r>
            <a:r>
              <a:rPr lang="en-US">
                <a:solidFill>
                  <a:schemeClr val="bg1">
                    <a:lumMod val="75000"/>
                  </a:schemeClr>
                </a:solidFill>
              </a:rPr>
              <a:t>Customer </a:t>
            </a:r>
            <a:r>
              <a:rPr lang="en-US">
                <a:solidFill>
                  <a:srgbClr val="BFBFBF"/>
                </a:solidFill>
              </a:rPr>
              <a:t>identity</a:t>
            </a:r>
            <a:r>
              <a:rPr lang="en-US">
                <a:solidFill>
                  <a:schemeClr val="bg1">
                    <a:lumMod val="75000"/>
                  </a:schemeClr>
                </a:solidFill>
              </a:rPr>
              <a:t>. </a:t>
            </a:r>
            <a:endParaRPr lang="en-US"/>
          </a:p>
        </p:txBody>
      </p:sp>
    </p:spTree>
    <p:extLst>
      <p:ext uri="{BB962C8B-B14F-4D97-AF65-F5344CB8AC3E}">
        <p14:creationId xmlns:p14="http://schemas.microsoft.com/office/powerpoint/2010/main" val="2672234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2">
            <a:extLst>
              <a:ext uri="{FF2B5EF4-FFF2-40B4-BE49-F238E27FC236}">
                <a16:creationId xmlns:a16="http://schemas.microsoft.com/office/drawing/2014/main" id="{C5F67029-F219-FC96-7D6C-5F6C446E76B2}"/>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19" name="Rectángulo 18">
            <a:extLst>
              <a:ext uri="{FF2B5EF4-FFF2-40B4-BE49-F238E27FC236}">
                <a16:creationId xmlns:a16="http://schemas.microsoft.com/office/drawing/2014/main" id="{81107006-DEAA-61FE-5DFA-9A97FCDB224A}"/>
              </a:ext>
            </a:extLst>
          </p:cNvPr>
          <p:cNvSpPr/>
          <p:nvPr/>
        </p:nvSpPr>
        <p:spPr>
          <a:xfrm>
            <a:off x="711024" y="2069931"/>
            <a:ext cx="1440000" cy="730800"/>
          </a:xfrm>
          <a:prstGeom prst="rect">
            <a:avLst/>
          </a:prstGeom>
          <a:solidFill>
            <a:schemeClr val="bg1"/>
          </a:solidFill>
          <a:ln w="12700" cap="flat" cmpd="sng" algn="ctr">
            <a:solidFill>
              <a:schemeClr val="bg2">
                <a:lumMod val="75000"/>
              </a:schemeClr>
            </a:solidFill>
            <a:prstDash val="solid"/>
            <a:miter lim="800000"/>
          </a:ln>
          <a:effectLst/>
        </p:spPr>
        <p:txBody>
          <a:bodyPr lIns="0" rIns="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0" cap="none" spc="0" normalizeH="0" baseline="0" noProof="0">
                <a:ln>
                  <a:noFill/>
                </a:ln>
                <a:solidFill>
                  <a:srgbClr val="DEEDF1">
                    <a:lumMod val="25000"/>
                  </a:srgbClr>
                </a:solidFill>
                <a:effectLst/>
                <a:uLnTx/>
                <a:uFillTx/>
                <a:latin typeface="Santander Text"/>
                <a:ea typeface="+mn-ea"/>
                <a:cs typeface="+mn-cs"/>
              </a:rPr>
              <a:t>Identity Journeys flows (workflows)</a:t>
            </a:r>
          </a:p>
        </p:txBody>
      </p:sp>
      <p:sp>
        <p:nvSpPr>
          <p:cNvPr id="21" name="CuadroTexto 20">
            <a:extLst>
              <a:ext uri="{FF2B5EF4-FFF2-40B4-BE49-F238E27FC236}">
                <a16:creationId xmlns:a16="http://schemas.microsoft.com/office/drawing/2014/main" id="{521604CC-F7C4-A23D-26ED-6006C261FAEE}"/>
              </a:ext>
            </a:extLst>
          </p:cNvPr>
          <p:cNvSpPr txBox="1"/>
          <p:nvPr/>
        </p:nvSpPr>
        <p:spPr>
          <a:xfrm>
            <a:off x="665167" y="1151610"/>
            <a:ext cx="5203713" cy="807913"/>
          </a:xfrm>
          <a:prstGeom prst="rect">
            <a:avLst/>
          </a:prstGeom>
          <a:noFill/>
        </p:spPr>
        <p:txBody>
          <a:bodyPr wrap="square" rtlCol="0">
            <a:spAutoFit/>
          </a:bodyPr>
          <a:lstStyle/>
          <a:p>
            <a:pPr marL="355600" marR="0" lvl="0" indent="-355600" fontAlgn="auto">
              <a:lnSpc>
                <a:spcPct val="100000"/>
              </a:lnSpc>
              <a:spcBef>
                <a:spcPts val="0"/>
              </a:spcBef>
              <a:spcAft>
                <a:spcPts val="300"/>
              </a:spcAft>
              <a:buClrTx/>
              <a:buSzTx/>
              <a:buFontTx/>
              <a:buNone/>
              <a:tabLst/>
              <a:defRPr/>
            </a:pPr>
            <a:r>
              <a:rPr lang="en-US" sz="1600" b="1" kern="0">
                <a:solidFill>
                  <a:srgbClr val="DEEDF1">
                    <a:lumMod val="25000"/>
                  </a:srgbClr>
                </a:solidFill>
                <a:latin typeface="Santander Text" panose="020B0504020201020104" pitchFamily="34" charset="0"/>
              </a:rPr>
              <a:t>3 - Identity workflows</a:t>
            </a:r>
          </a:p>
          <a:p>
            <a:pPr marR="0" lvl="0" indent="-355600" fontAlgn="auto">
              <a:lnSpc>
                <a:spcPct val="100000"/>
              </a:lnSpc>
              <a:spcBef>
                <a:spcPts val="0"/>
              </a:spcBef>
              <a:spcAft>
                <a:spcPts val="300"/>
              </a:spcAft>
              <a:buClrTx/>
              <a:buSzTx/>
              <a:buFontTx/>
              <a:buNone/>
              <a:tabLst/>
              <a:defRPr/>
            </a:pPr>
            <a:r>
              <a:rPr lang="en-US" sz="1400" i="1" kern="0">
                <a:solidFill>
                  <a:srgbClr val="DEEDF1">
                    <a:lumMod val="25000"/>
                  </a:srgbClr>
                </a:solidFill>
                <a:latin typeface="Santander Text" panose="020B0504020201020104" pitchFamily="34" charset="0"/>
              </a:rPr>
              <a:t>Implements the E2E security journey between the channel and the user</a:t>
            </a:r>
          </a:p>
        </p:txBody>
      </p:sp>
      <p:cxnSp>
        <p:nvCxnSpPr>
          <p:cNvPr id="22" name="Conector recto 21">
            <a:extLst>
              <a:ext uri="{FF2B5EF4-FFF2-40B4-BE49-F238E27FC236}">
                <a16:creationId xmlns:a16="http://schemas.microsoft.com/office/drawing/2014/main" id="{95D3203A-A6F6-8622-675E-1B6CCD9AB872}"/>
              </a:ext>
            </a:extLst>
          </p:cNvPr>
          <p:cNvCxnSpPr>
            <a:cxnSpLocks/>
          </p:cNvCxnSpPr>
          <p:nvPr/>
        </p:nvCxnSpPr>
        <p:spPr>
          <a:xfrm flipH="1" flipV="1">
            <a:off x="665167" y="1933750"/>
            <a:ext cx="5112000" cy="0"/>
          </a:xfrm>
          <a:prstGeom prst="line">
            <a:avLst/>
          </a:prstGeom>
          <a:noFill/>
          <a:ln w="12700" cap="flat" cmpd="sng" algn="ctr">
            <a:solidFill>
              <a:srgbClr val="595959"/>
            </a:solidFill>
            <a:prstDash val="solid"/>
            <a:miter lim="800000"/>
          </a:ln>
          <a:effectLst/>
        </p:spPr>
      </p:cxnSp>
      <p:sp>
        <p:nvSpPr>
          <p:cNvPr id="23" name="CuadroTexto 22">
            <a:extLst>
              <a:ext uri="{FF2B5EF4-FFF2-40B4-BE49-F238E27FC236}">
                <a16:creationId xmlns:a16="http://schemas.microsoft.com/office/drawing/2014/main" id="{D0DF7234-D303-7B43-9FFE-366CABE65C67}"/>
              </a:ext>
            </a:extLst>
          </p:cNvPr>
          <p:cNvSpPr txBox="1"/>
          <p:nvPr/>
        </p:nvSpPr>
        <p:spPr>
          <a:xfrm>
            <a:off x="2192764" y="1965879"/>
            <a:ext cx="3658438" cy="909402"/>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180000" marR="0" lvl="0" indent="-180000" algn="l" defTabSz="914400" rtl="0" eaLnBrk="1" fontAlgn="auto" latinLnBrk="0" hangingPunct="1">
              <a:lnSpc>
                <a:spcPct val="100000"/>
              </a:lnSpc>
              <a:spcBef>
                <a:spcPts val="600"/>
              </a:spcBef>
              <a:spcAft>
                <a:spcPts val="0"/>
              </a:spcAft>
              <a:buClr>
                <a:srgbClr val="EC0000"/>
              </a:buClr>
              <a:buSzTx/>
              <a:buFont typeface="Arial" panose="020B0604020202020204" pitchFamily="34" charset="0"/>
              <a:buChar char="•"/>
              <a:tabLst/>
              <a:defRPr/>
            </a:pPr>
            <a:endParaRPr kumimoji="0" lang="en-GB" sz="1200" b="0" i="0" u="none" strike="noStrike" kern="1200" cap="none" spc="0" normalizeH="0" baseline="0" noProof="0">
              <a:ln>
                <a:noFill/>
              </a:ln>
              <a:solidFill>
                <a:srgbClr val="595959"/>
              </a:solidFill>
              <a:effectLst/>
              <a:uLnTx/>
              <a:uFillTx/>
              <a:latin typeface="Santander Text"/>
              <a:ea typeface="+mn-ea"/>
              <a:cs typeface="+mn-cs"/>
            </a:endParaRPr>
          </a:p>
        </p:txBody>
      </p:sp>
      <p:sp>
        <p:nvSpPr>
          <p:cNvPr id="32" name="CuadroTexto 31">
            <a:extLst>
              <a:ext uri="{FF2B5EF4-FFF2-40B4-BE49-F238E27FC236}">
                <a16:creationId xmlns:a16="http://schemas.microsoft.com/office/drawing/2014/main" id="{8AB399CC-4E62-396B-4950-9F03F95F814C}"/>
              </a:ext>
            </a:extLst>
          </p:cNvPr>
          <p:cNvSpPr txBox="1"/>
          <p:nvPr/>
        </p:nvSpPr>
        <p:spPr>
          <a:xfrm>
            <a:off x="6229392" y="1401105"/>
            <a:ext cx="5816114" cy="592470"/>
          </a:xfrm>
          <a:prstGeom prst="rect">
            <a:avLst/>
          </a:prstGeom>
          <a:noFill/>
        </p:spPr>
        <p:txBody>
          <a:bodyPr wrap="square" rtlCol="0">
            <a:spAutoFit/>
          </a:bodyPr>
          <a:lstStyle/>
          <a:p>
            <a:pPr marL="355600" marR="0" lvl="0" indent="-355600" fontAlgn="auto">
              <a:lnSpc>
                <a:spcPct val="100000"/>
              </a:lnSpc>
              <a:spcBef>
                <a:spcPts val="0"/>
              </a:spcBef>
              <a:spcAft>
                <a:spcPts val="300"/>
              </a:spcAft>
              <a:buClrTx/>
              <a:buSzTx/>
              <a:buFontTx/>
              <a:buNone/>
              <a:tabLst/>
              <a:defRPr/>
            </a:pPr>
            <a:r>
              <a:rPr lang="en-US" sz="1600" b="1" kern="0">
                <a:solidFill>
                  <a:srgbClr val="DEEDF1">
                    <a:lumMod val="25000"/>
                  </a:srgbClr>
                </a:solidFill>
                <a:latin typeface="Santander Text" panose="020B0504020201020104" pitchFamily="34" charset="0"/>
              </a:rPr>
              <a:t>General</a:t>
            </a:r>
          </a:p>
          <a:p>
            <a:pPr marL="0" marR="0" lvl="0" indent="0" algn="l" defTabSz="914400" rtl="0" eaLnBrk="1" fontAlgn="auto" latinLnBrk="0" hangingPunct="1">
              <a:lnSpc>
                <a:spcPct val="100000"/>
              </a:lnSpc>
              <a:spcBef>
                <a:spcPts val="0"/>
              </a:spcBef>
              <a:spcAft>
                <a:spcPts val="300"/>
              </a:spcAft>
              <a:buClrTx/>
              <a:buSzTx/>
              <a:buFontTx/>
              <a:buNone/>
              <a:tabLst/>
              <a:defRPr/>
            </a:pPr>
            <a:endParaRPr kumimoji="0" lang="en-GB" sz="1400" b="0" i="1"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endParaRPr>
          </a:p>
        </p:txBody>
      </p:sp>
      <p:cxnSp>
        <p:nvCxnSpPr>
          <p:cNvPr id="33" name="Conector recto 32">
            <a:extLst>
              <a:ext uri="{FF2B5EF4-FFF2-40B4-BE49-F238E27FC236}">
                <a16:creationId xmlns:a16="http://schemas.microsoft.com/office/drawing/2014/main" id="{86F93A5B-47ED-0086-F0A8-1DFF037A0884}"/>
              </a:ext>
            </a:extLst>
          </p:cNvPr>
          <p:cNvCxnSpPr>
            <a:cxnSpLocks/>
          </p:cNvCxnSpPr>
          <p:nvPr/>
        </p:nvCxnSpPr>
        <p:spPr>
          <a:xfrm flipH="1" flipV="1">
            <a:off x="6229392" y="1933750"/>
            <a:ext cx="5760000" cy="0"/>
          </a:xfrm>
          <a:prstGeom prst="line">
            <a:avLst/>
          </a:prstGeom>
          <a:noFill/>
          <a:ln w="12700" cap="flat" cmpd="sng" algn="ctr">
            <a:solidFill>
              <a:srgbClr val="595959"/>
            </a:solidFill>
            <a:prstDash val="solid"/>
            <a:miter lim="800000"/>
          </a:ln>
          <a:effectLst/>
        </p:spPr>
      </p:cxnSp>
      <p:sp>
        <p:nvSpPr>
          <p:cNvPr id="34" name="CuadroTexto 33">
            <a:extLst>
              <a:ext uri="{FF2B5EF4-FFF2-40B4-BE49-F238E27FC236}">
                <a16:creationId xmlns:a16="http://schemas.microsoft.com/office/drawing/2014/main" id="{F2599503-9F52-81AF-B186-BA0272476971}"/>
              </a:ext>
            </a:extLst>
          </p:cNvPr>
          <p:cNvSpPr txBox="1"/>
          <p:nvPr/>
        </p:nvSpPr>
        <p:spPr>
          <a:xfrm>
            <a:off x="7654913" y="2005700"/>
            <a:ext cx="3745858" cy="909402"/>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buClr>
                <a:srgbClr val="EC0000"/>
              </a:buClr>
              <a:defRPr/>
            </a:pPr>
            <a:r>
              <a:rPr kumimoji="0" lang="en-US" sz="1200" b="0" i="0" u="none" strike="noStrike" kern="1200" cap="none" spc="0" normalizeH="0" baseline="0" noProof="0">
                <a:ln>
                  <a:noFill/>
                </a:ln>
                <a:solidFill>
                  <a:prstClr val="black"/>
                </a:solidFill>
                <a:effectLst/>
                <a:uLnTx/>
                <a:uFillTx/>
                <a:latin typeface="Santander Text"/>
                <a:ea typeface="+mn-ea"/>
                <a:cs typeface="+mn-cs"/>
              </a:rPr>
              <a:t>Capabilities around being able to change the cybersecurity posture in real time</a:t>
            </a:r>
          </a:p>
          <a:p>
            <a:pPr marL="180000" marR="0" lvl="0" indent="-180000" algn="l" defTabSz="914400" rtl="0" eaLnBrk="1" fontAlgn="auto" latinLnBrk="0" hangingPunct="1">
              <a:lnSpc>
                <a:spcPct val="100000"/>
              </a:lnSpc>
              <a:spcBef>
                <a:spcPts val="600"/>
              </a:spcBef>
              <a:spcAft>
                <a:spcPts val="0"/>
              </a:spcAft>
              <a:buClr>
                <a:srgbClr val="EC0000"/>
              </a:buClr>
              <a:buSzTx/>
              <a:buFont typeface="Arial" panose="020B0604020202020204" pitchFamily="34" charset="0"/>
              <a:buChar char="•"/>
              <a:tabLst/>
              <a:defRPr/>
            </a:pPr>
            <a:endParaRPr kumimoji="0" lang="en-US" sz="1200" b="0" i="0" u="none" strike="noStrike" kern="1200" cap="none" spc="0" normalizeH="0" baseline="0" noProof="0">
              <a:ln>
                <a:noFill/>
              </a:ln>
              <a:solidFill>
                <a:prstClr val="black"/>
              </a:solidFill>
              <a:effectLst/>
              <a:uLnTx/>
              <a:uFillTx/>
              <a:latin typeface="Santander Text"/>
              <a:ea typeface="+mn-ea"/>
              <a:cs typeface="+mn-cs"/>
            </a:endParaRPr>
          </a:p>
          <a:p>
            <a:pPr marL="180000" marR="0" lvl="0" indent="-18000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endParaRPr kumimoji="0" lang="en-GB" sz="1200" b="0" i="0" u="none" strike="noStrike" kern="1200" cap="none" spc="0" normalizeH="0" baseline="0" noProof="0">
              <a:ln>
                <a:noFill/>
              </a:ln>
              <a:solidFill>
                <a:prstClr val="black"/>
              </a:solidFill>
              <a:effectLst/>
              <a:uLnTx/>
              <a:uFillTx/>
              <a:latin typeface="Santander Text"/>
              <a:ea typeface="+mn-ea"/>
              <a:cs typeface="+mn-cs"/>
            </a:endParaRPr>
          </a:p>
        </p:txBody>
      </p:sp>
      <p:cxnSp>
        <p:nvCxnSpPr>
          <p:cNvPr id="35" name="Conector recto 34">
            <a:extLst>
              <a:ext uri="{FF2B5EF4-FFF2-40B4-BE49-F238E27FC236}">
                <a16:creationId xmlns:a16="http://schemas.microsoft.com/office/drawing/2014/main" id="{898D6A82-26BF-1216-98A7-D746061A9797}"/>
              </a:ext>
            </a:extLst>
          </p:cNvPr>
          <p:cNvCxnSpPr>
            <a:cxnSpLocks/>
          </p:cNvCxnSpPr>
          <p:nvPr/>
        </p:nvCxnSpPr>
        <p:spPr>
          <a:xfrm flipH="1" flipV="1">
            <a:off x="6167296" y="3014093"/>
            <a:ext cx="5112000" cy="0"/>
          </a:xfrm>
          <a:prstGeom prst="line">
            <a:avLst/>
          </a:prstGeom>
          <a:noFill/>
          <a:ln w="12700" cap="flat" cmpd="sng" algn="ctr">
            <a:solidFill>
              <a:schemeClr val="bg1">
                <a:lumMod val="85000"/>
              </a:schemeClr>
            </a:solidFill>
            <a:prstDash val="solid"/>
            <a:miter lim="800000"/>
          </a:ln>
          <a:effectLst/>
        </p:spPr>
      </p:cxnSp>
      <p:sp>
        <p:nvSpPr>
          <p:cNvPr id="50" name="CuadroTexto 49">
            <a:extLst>
              <a:ext uri="{FF2B5EF4-FFF2-40B4-BE49-F238E27FC236}">
                <a16:creationId xmlns:a16="http://schemas.microsoft.com/office/drawing/2014/main" id="{34AFC41E-669F-C794-D008-452CF0555F1B}"/>
              </a:ext>
            </a:extLst>
          </p:cNvPr>
          <p:cNvSpPr txBox="1"/>
          <p:nvPr/>
        </p:nvSpPr>
        <p:spPr>
          <a:xfrm>
            <a:off x="7654913" y="3293551"/>
            <a:ext cx="3718224" cy="907941"/>
          </a:xfrm>
          <a:prstGeom prst="rect">
            <a:avLst/>
          </a:prstGeom>
          <a:noFill/>
        </p:spPr>
        <p:txBody>
          <a:bodyPr wrap="square">
            <a:spAutoFit/>
          </a:bodyPr>
          <a:lstStyle/>
          <a:p>
            <a:pPr marL="180000" indent="-180000">
              <a:spcBef>
                <a:spcPts val="600"/>
              </a:spcBef>
              <a:buClr>
                <a:srgbClr val="EC0000"/>
              </a:buClr>
              <a:buFont typeface="Arial" panose="020B0604020202020204" pitchFamily="34" charset="0"/>
              <a:buChar char="•"/>
              <a:defRPr/>
            </a:pPr>
            <a:r>
              <a:rPr lang="es-ES" sz="1200" err="1">
                <a:solidFill>
                  <a:prstClr val="black"/>
                </a:solidFill>
                <a:latin typeface="Santander Text"/>
              </a:rPr>
              <a:t>This</a:t>
            </a:r>
            <a:r>
              <a:rPr lang="es-ES" sz="1200">
                <a:solidFill>
                  <a:prstClr val="black"/>
                </a:solidFill>
                <a:latin typeface="Santander Text"/>
              </a:rPr>
              <a:t> module o</a:t>
            </a:r>
            <a:r>
              <a:rPr lang="en-US" sz="1200" err="1">
                <a:solidFill>
                  <a:prstClr val="black"/>
                </a:solidFill>
                <a:latin typeface="Santander Text"/>
              </a:rPr>
              <a:t>ffers</a:t>
            </a:r>
            <a:r>
              <a:rPr lang="en-US" sz="1200">
                <a:solidFill>
                  <a:prstClr val="black"/>
                </a:solidFill>
                <a:latin typeface="Santander Text"/>
              </a:rPr>
              <a:t> capabilities so customers can personalize they preferred identity journeys experience (I. </a:t>
            </a:r>
            <a:r>
              <a:rPr lang="en-US" sz="1200" err="1">
                <a:solidFill>
                  <a:prstClr val="black"/>
                </a:solidFill>
                <a:latin typeface="Santander Text"/>
              </a:rPr>
              <a:t>Ej</a:t>
            </a:r>
            <a:r>
              <a:rPr lang="en-US" sz="1200">
                <a:solidFill>
                  <a:prstClr val="black"/>
                </a:solidFill>
                <a:latin typeface="Santander Text"/>
              </a:rPr>
              <a:t> </a:t>
            </a:r>
            <a:r>
              <a:rPr lang="en-US" sz="1200" err="1">
                <a:solidFill>
                  <a:prstClr val="black"/>
                </a:solidFill>
                <a:latin typeface="Santander Text"/>
              </a:rPr>
              <a:t>passwordless</a:t>
            </a:r>
            <a:r>
              <a:rPr lang="en-US" sz="1200">
                <a:solidFill>
                  <a:prstClr val="black"/>
                </a:solidFill>
                <a:latin typeface="Santander Text"/>
              </a:rPr>
              <a:t> vs username + </a:t>
            </a:r>
            <a:r>
              <a:rPr lang="en-US" sz="1200" err="1">
                <a:solidFill>
                  <a:prstClr val="black"/>
                </a:solidFill>
                <a:latin typeface="Santander Text"/>
              </a:rPr>
              <a:t>pwd</a:t>
            </a:r>
            <a:r>
              <a:rPr lang="en-US" sz="1200">
                <a:solidFill>
                  <a:prstClr val="black"/>
                </a:solidFill>
                <a:latin typeface="Santander Text"/>
              </a:rPr>
              <a:t>)</a:t>
            </a:r>
            <a:endParaRPr kumimoji="0" lang="en-US" sz="1200" b="0" i="0" u="none" strike="noStrike" kern="1200" cap="none" spc="0" normalizeH="0" baseline="0" noProof="0">
              <a:ln>
                <a:noFill/>
              </a:ln>
              <a:solidFill>
                <a:prstClr val="black"/>
              </a:solidFill>
              <a:effectLst/>
              <a:uLnTx/>
              <a:uFillTx/>
              <a:latin typeface="Santander Text"/>
              <a:ea typeface="+mn-ea"/>
              <a:cs typeface="+mn-cs"/>
            </a:endParaRPr>
          </a:p>
          <a:p>
            <a:pPr marL="180000" marR="0" lvl="0" indent="-180000" algn="l" defTabSz="914400" rtl="0" eaLnBrk="1" fontAlgn="auto" latinLnBrk="0" hangingPunct="1">
              <a:lnSpc>
                <a:spcPct val="100000"/>
              </a:lnSpc>
              <a:spcBef>
                <a:spcPts val="600"/>
              </a:spcBef>
              <a:spcAft>
                <a:spcPts val="0"/>
              </a:spcAft>
              <a:buClr>
                <a:srgbClr val="EC0000"/>
              </a:buClr>
              <a:buSzTx/>
              <a:buFont typeface="Arial" panose="020B0604020202020204" pitchFamily="34" charset="0"/>
              <a:buChar char="•"/>
              <a:tabLst/>
              <a:defRPr/>
            </a:pPr>
            <a:endParaRPr kumimoji="0" lang="en-US" sz="1200" b="0" i="0" u="none" strike="noStrike" kern="1200" cap="none" spc="0" normalizeH="0" baseline="0" noProof="0">
              <a:ln>
                <a:noFill/>
              </a:ln>
              <a:solidFill>
                <a:prstClr val="black"/>
              </a:solidFill>
              <a:effectLst/>
              <a:uLnTx/>
              <a:uFillTx/>
              <a:latin typeface="Santander Text"/>
              <a:ea typeface="+mn-ea"/>
              <a:cs typeface="+mn-cs"/>
            </a:endParaRPr>
          </a:p>
        </p:txBody>
      </p:sp>
      <p:sp>
        <p:nvSpPr>
          <p:cNvPr id="4" name="Rectángulo 262">
            <a:extLst>
              <a:ext uri="{FF2B5EF4-FFF2-40B4-BE49-F238E27FC236}">
                <a16:creationId xmlns:a16="http://schemas.microsoft.com/office/drawing/2014/main" id="{EE08DB0D-4425-7AE3-A079-C68A695EE864}"/>
              </a:ext>
            </a:extLst>
          </p:cNvPr>
          <p:cNvSpPr/>
          <p:nvPr/>
        </p:nvSpPr>
        <p:spPr>
          <a:xfrm>
            <a:off x="6167296" y="2069931"/>
            <a:ext cx="1440000" cy="730800"/>
          </a:xfrm>
          <a:prstGeom prst="rect">
            <a:avLst/>
          </a:prstGeom>
          <a:solidFill>
            <a:schemeClr val="bg1"/>
          </a:solidFill>
          <a:ln w="12700" cap="flat" cmpd="sng" algn="ctr">
            <a:solidFill>
              <a:schemeClr val="bg2">
                <a:lumMod val="75000"/>
              </a:schemeClr>
            </a:solidFill>
            <a:prstDash val="solid"/>
            <a:miter lim="800000"/>
          </a:ln>
          <a:effectLst/>
        </p:spPr>
        <p:txBody>
          <a:bodyPr lIns="0" rIns="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0" cap="none" spc="0" normalizeH="0" baseline="0" noProof="0">
                <a:ln>
                  <a:noFill/>
                </a:ln>
                <a:solidFill>
                  <a:srgbClr val="DEEDF1">
                    <a:lumMod val="25000"/>
                  </a:srgbClr>
                </a:solidFill>
                <a:effectLst/>
                <a:uLnTx/>
                <a:uFillTx/>
                <a:latin typeface="Santander Text"/>
                <a:ea typeface="+mn-ea"/>
                <a:cs typeface="+mn-cs"/>
              </a:rPr>
              <a:t>Adaptive Security</a:t>
            </a:r>
          </a:p>
        </p:txBody>
      </p:sp>
      <p:sp>
        <p:nvSpPr>
          <p:cNvPr id="13" name="Rectángulo 262">
            <a:extLst>
              <a:ext uri="{FF2B5EF4-FFF2-40B4-BE49-F238E27FC236}">
                <a16:creationId xmlns:a16="http://schemas.microsoft.com/office/drawing/2014/main" id="{7216245B-56D8-F50F-52A5-FFA411E39952}"/>
              </a:ext>
            </a:extLst>
          </p:cNvPr>
          <p:cNvSpPr/>
          <p:nvPr/>
        </p:nvSpPr>
        <p:spPr>
          <a:xfrm>
            <a:off x="6167296" y="3284122"/>
            <a:ext cx="1440000" cy="730800"/>
          </a:xfrm>
          <a:prstGeom prst="rect">
            <a:avLst/>
          </a:prstGeom>
          <a:solidFill>
            <a:schemeClr val="bg1"/>
          </a:solidFill>
          <a:ln w="12700" cap="flat" cmpd="sng" algn="ctr">
            <a:solidFill>
              <a:schemeClr val="bg2">
                <a:lumMod val="50000"/>
              </a:schemeClr>
            </a:solidFill>
            <a:prstDash val="solid"/>
            <a:miter lim="800000"/>
          </a:ln>
          <a:effectLst/>
        </p:spPr>
        <p:txBody>
          <a:bodyPr lIns="72000" tIns="45720" rIns="72000" bIns="45720" rtlCol="0" anchor="ctr"/>
          <a:lstStyle/>
          <a:p>
            <a:pPr algn="ctr">
              <a:spcAft>
                <a:spcPts val="600"/>
              </a:spcAft>
              <a:defRPr/>
            </a:pPr>
            <a:r>
              <a:rPr kumimoji="0" lang="en-US" sz="1400" b="0" i="0" u="none" strike="noStrike" kern="0" cap="none" spc="0" normalizeH="0" baseline="0" noProof="0">
                <a:ln>
                  <a:noFill/>
                </a:ln>
                <a:solidFill>
                  <a:schemeClr val="tx1">
                    <a:lumMod val="75000"/>
                    <a:lumOff val="25000"/>
                  </a:schemeClr>
                </a:solidFill>
                <a:effectLst/>
                <a:uLnTx/>
                <a:uFillTx/>
                <a:ea typeface="+mn-ea"/>
                <a:cs typeface="+mn-cs"/>
              </a:rPr>
              <a:t>Security personalization</a:t>
            </a:r>
            <a:r>
              <a:rPr lang="en-US" sz="1400" kern="0">
                <a:solidFill>
                  <a:schemeClr val="tx1">
                    <a:lumMod val="75000"/>
                    <a:lumOff val="25000"/>
                  </a:schemeClr>
                </a:solidFill>
              </a:rPr>
              <a:t> </a:t>
            </a:r>
            <a:endParaRPr lang="en-US" sz="1400" b="0" i="0" u="none" strike="noStrike" kern="0" cap="none" spc="0" normalizeH="0" baseline="0" noProof="0">
              <a:ln>
                <a:noFill/>
              </a:ln>
              <a:solidFill>
                <a:srgbClr val="DEEDF1"/>
              </a:solidFill>
              <a:effectLst/>
              <a:uLnTx/>
              <a:uFillTx/>
            </a:endParaRPr>
          </a:p>
        </p:txBody>
      </p:sp>
      <p:sp>
        <p:nvSpPr>
          <p:cNvPr id="25" name="CuadroTexto 24">
            <a:extLst>
              <a:ext uri="{FF2B5EF4-FFF2-40B4-BE49-F238E27FC236}">
                <a16:creationId xmlns:a16="http://schemas.microsoft.com/office/drawing/2014/main" id="{5219F90F-ECBE-8AAA-73E3-91B8B384A808}"/>
              </a:ext>
            </a:extLst>
          </p:cNvPr>
          <p:cNvSpPr txBox="1"/>
          <p:nvPr/>
        </p:nvSpPr>
        <p:spPr>
          <a:xfrm>
            <a:off x="2209199" y="2003182"/>
            <a:ext cx="3548980" cy="723275"/>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600"/>
              </a:spcBef>
              <a:spcAft>
                <a:spcPts val="0"/>
              </a:spcAft>
              <a:buClr>
                <a:srgbClr val="EC0000"/>
              </a:buClr>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Santander Text"/>
                <a:ea typeface="+mn-ea"/>
                <a:cs typeface="+mn-cs"/>
              </a:rPr>
              <a:t>E2E Process definition and workflow for every identity journeys</a:t>
            </a:r>
          </a:p>
          <a:p>
            <a:pPr marL="180000" marR="0" lvl="0" indent="-180000" algn="l" defTabSz="914400" rtl="0" eaLnBrk="1" fontAlgn="auto" latinLnBrk="0" hangingPunct="1">
              <a:lnSpc>
                <a:spcPct val="100000"/>
              </a:lnSpc>
              <a:spcBef>
                <a:spcPts val="600"/>
              </a:spcBef>
              <a:spcAft>
                <a:spcPts val="0"/>
              </a:spcAft>
              <a:buClr>
                <a:srgbClr val="EC0000"/>
              </a:buClr>
              <a:buSzTx/>
              <a:buFont typeface="Arial" panose="020B0604020202020204" pitchFamily="34" charset="0"/>
              <a:buChar char="•"/>
              <a:tabLst/>
              <a:defRPr/>
            </a:pPr>
            <a:endParaRPr kumimoji="0" lang="en-US" sz="1200" b="0" i="0" u="none" strike="noStrike" kern="1200" cap="none" spc="0" normalizeH="0" baseline="0" noProof="0">
              <a:ln>
                <a:noFill/>
              </a:ln>
              <a:solidFill>
                <a:prstClr val="black"/>
              </a:solidFill>
              <a:effectLst/>
              <a:uLnTx/>
              <a:uFillTx/>
              <a:latin typeface="Santander Text"/>
              <a:ea typeface="+mn-ea"/>
              <a:cs typeface="+mn-cs"/>
            </a:endParaRPr>
          </a:p>
        </p:txBody>
      </p:sp>
      <p:sp>
        <p:nvSpPr>
          <p:cNvPr id="10" name="Título 1">
            <a:extLst>
              <a:ext uri="{FF2B5EF4-FFF2-40B4-BE49-F238E27FC236}">
                <a16:creationId xmlns:a16="http://schemas.microsoft.com/office/drawing/2014/main" id="{51C5B834-3584-1D3B-F6F9-92323666FC68}"/>
              </a:ext>
            </a:extLst>
          </p:cNvPr>
          <p:cNvSpPr>
            <a:spLocks noGrp="1"/>
          </p:cNvSpPr>
          <p:nvPr>
            <p:ph type="title"/>
          </p:nvPr>
        </p:nvSpPr>
        <p:spPr>
          <a:xfrm>
            <a:off x="711024" y="604395"/>
            <a:ext cx="10758733" cy="277187"/>
          </a:xfrm>
        </p:spPr>
        <p:txBody>
          <a:bodyPr/>
          <a:lstStyle/>
          <a:p>
            <a:r>
              <a:rPr lang="en-US"/>
              <a:t>Global Technology. </a:t>
            </a:r>
            <a:r>
              <a:rPr lang="en-US">
                <a:solidFill>
                  <a:schemeClr val="bg1">
                    <a:lumMod val="75000"/>
                  </a:schemeClr>
                </a:solidFill>
              </a:rPr>
              <a:t>Customer </a:t>
            </a:r>
            <a:r>
              <a:rPr lang="en-US">
                <a:solidFill>
                  <a:srgbClr val="BFBFBF"/>
                </a:solidFill>
              </a:rPr>
              <a:t>identity</a:t>
            </a:r>
            <a:br>
              <a:rPr kumimoji="0" lang="en-US" sz="2800" b="0" i="0" u="none" strike="noStrike" kern="0" cap="none" spc="0" normalizeH="0" baseline="0" noProof="1">
                <a:ln>
                  <a:noFill/>
                </a:ln>
                <a:solidFill>
                  <a:prstClr val="black"/>
                </a:solidFill>
                <a:effectLst/>
                <a:uLnTx/>
                <a:uFillTx/>
                <a:ea typeface="+mn-ea"/>
                <a:cs typeface="+mn-cs"/>
              </a:rPr>
            </a:br>
            <a:endParaRPr lang="en-US"/>
          </a:p>
        </p:txBody>
      </p:sp>
    </p:spTree>
    <p:extLst>
      <p:ext uri="{BB962C8B-B14F-4D97-AF65-F5344CB8AC3E}">
        <p14:creationId xmlns:p14="http://schemas.microsoft.com/office/powerpoint/2010/main" val="2219827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67DE1-A217-F116-ED5F-F29153747B4B}"/>
            </a:ext>
          </a:extLst>
        </p:cNvPr>
        <p:cNvGrpSpPr/>
        <p:nvPr/>
      </p:nvGrpSpPr>
      <p:grpSpPr>
        <a:xfrm>
          <a:off x="0" y="0"/>
          <a:ext cx="0" cy="0"/>
          <a:chOff x="0" y="0"/>
          <a:chExt cx="0" cy="0"/>
        </a:xfrm>
      </p:grpSpPr>
      <p:sp>
        <p:nvSpPr>
          <p:cNvPr id="17" name="Text Placeholder 2">
            <a:extLst>
              <a:ext uri="{FF2B5EF4-FFF2-40B4-BE49-F238E27FC236}">
                <a16:creationId xmlns:a16="http://schemas.microsoft.com/office/drawing/2014/main" id="{527C5CF6-E9DE-3F74-18D3-46D950B3BA72}"/>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19" name="Rectángulo 18">
            <a:extLst>
              <a:ext uri="{FF2B5EF4-FFF2-40B4-BE49-F238E27FC236}">
                <a16:creationId xmlns:a16="http://schemas.microsoft.com/office/drawing/2014/main" id="{326346EE-AE54-14F6-2A9B-2BFF2ACECC0D}"/>
              </a:ext>
            </a:extLst>
          </p:cNvPr>
          <p:cNvSpPr/>
          <p:nvPr/>
        </p:nvSpPr>
        <p:spPr>
          <a:xfrm>
            <a:off x="709861" y="2402595"/>
            <a:ext cx="1440000" cy="399018"/>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spcAft>
                <a:spcPts val="600"/>
              </a:spcAft>
            </a:pPr>
            <a:r>
              <a:rPr lang="en-AU" sz="1400" kern="0">
                <a:solidFill>
                  <a:srgbClr val="DEEDF1">
                    <a:lumMod val="25000"/>
                  </a:srgbClr>
                </a:solidFill>
              </a:rPr>
              <a:t>Process Modeler</a:t>
            </a:r>
          </a:p>
        </p:txBody>
      </p:sp>
      <p:sp>
        <p:nvSpPr>
          <p:cNvPr id="21" name="CuadroTexto 20">
            <a:extLst>
              <a:ext uri="{FF2B5EF4-FFF2-40B4-BE49-F238E27FC236}">
                <a16:creationId xmlns:a16="http://schemas.microsoft.com/office/drawing/2014/main" id="{40ACC39D-B17E-58B7-7251-1AC1F6E56E74}"/>
              </a:ext>
            </a:extLst>
          </p:cNvPr>
          <p:cNvSpPr txBox="1"/>
          <p:nvPr/>
        </p:nvSpPr>
        <p:spPr>
          <a:xfrm>
            <a:off x="684798" y="1004811"/>
            <a:ext cx="11507202" cy="1492716"/>
          </a:xfrm>
          <a:prstGeom prst="rect">
            <a:avLst/>
          </a:prstGeom>
          <a:noFill/>
        </p:spPr>
        <p:txBody>
          <a:bodyPr wrap="square" rtlCol="0">
            <a:spAutoFit/>
          </a:bodyPr>
          <a:lstStyle/>
          <a:p>
            <a:pPr marL="355600" indent="-355600">
              <a:spcAft>
                <a:spcPts val="300"/>
              </a:spcAft>
              <a:defRPr/>
            </a:pPr>
            <a:r>
              <a:rPr lang="en-AU" sz="1600" b="1" kern="0">
                <a:solidFill>
                  <a:srgbClr val="DEEDF1">
                    <a:lumMod val="25000"/>
                  </a:srgbClr>
                </a:solidFill>
                <a:latin typeface="Santander Text" panose="020B0504020201020104" pitchFamily="34" charset="0"/>
              </a:rPr>
              <a:t>1</a:t>
            </a:r>
            <a:r>
              <a:rPr kumimoji="0" lang="en-AU"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 – </a:t>
            </a:r>
            <a:r>
              <a:rPr lang="en-AU" sz="1600" b="1" kern="0">
                <a:solidFill>
                  <a:srgbClr val="DEEDF1">
                    <a:lumMod val="25000"/>
                  </a:srgbClr>
                </a:solidFill>
                <a:latin typeface="Santander Text" panose="020B0504020201020104" pitchFamily="34" charset="0"/>
              </a:rPr>
              <a:t>Process </a:t>
            </a:r>
            <a:r>
              <a:rPr lang="en-AU" sz="1600" b="1" kern="0" err="1">
                <a:solidFill>
                  <a:srgbClr val="DEEDF1">
                    <a:lumMod val="25000"/>
                  </a:srgbClr>
                </a:solidFill>
                <a:latin typeface="Santander Text" panose="020B0504020201020104" pitchFamily="34" charset="0"/>
              </a:rPr>
              <a:t>Orchestation</a:t>
            </a:r>
            <a:endParaRPr kumimoji="0" lang="en-AU"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endParaRPr>
          </a:p>
          <a:p>
            <a:pPr marL="7938" indent="-7938">
              <a:spcAft>
                <a:spcPts val="300"/>
              </a:spcAft>
              <a:defRPr/>
            </a:pPr>
            <a:r>
              <a:rPr kumimoji="0" lang="en-US" sz="1400" b="0" i="1"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Responsible to hold and drive the execution of the processes e2e based on a common data layer: Maintains and manages the  Banks’ processes  metamodel and processes’ catalogue, designs and documentation. Integrates with Front End Platform through a single Orchestration API. Orchestrates the business logic to access the different back-end Platforms and feeds the Knowledge and Life cycle support with the as-is processes inventory and traceability of changes in the processes design. </a:t>
            </a:r>
          </a:p>
          <a:p>
            <a:pPr marL="7938" indent="-7938">
              <a:spcAft>
                <a:spcPts val="300"/>
              </a:spcAft>
              <a:defRPr/>
            </a:pPr>
            <a:endParaRPr kumimoji="0" lang="en-US" sz="1400" b="0" i="1"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endParaRPr>
          </a:p>
        </p:txBody>
      </p:sp>
      <p:cxnSp>
        <p:nvCxnSpPr>
          <p:cNvPr id="22" name="Conector recto 21">
            <a:extLst>
              <a:ext uri="{FF2B5EF4-FFF2-40B4-BE49-F238E27FC236}">
                <a16:creationId xmlns:a16="http://schemas.microsoft.com/office/drawing/2014/main" id="{0984901B-3172-15B3-C4E6-0A6BF4414C7F}"/>
              </a:ext>
            </a:extLst>
          </p:cNvPr>
          <p:cNvCxnSpPr>
            <a:cxnSpLocks/>
          </p:cNvCxnSpPr>
          <p:nvPr/>
        </p:nvCxnSpPr>
        <p:spPr>
          <a:xfrm flipH="1" flipV="1">
            <a:off x="644527" y="2313440"/>
            <a:ext cx="5112000" cy="0"/>
          </a:xfrm>
          <a:prstGeom prst="line">
            <a:avLst/>
          </a:prstGeom>
          <a:noFill/>
          <a:ln w="12700" cap="flat" cmpd="sng" algn="ctr">
            <a:solidFill>
              <a:srgbClr val="595959"/>
            </a:solidFill>
            <a:prstDash val="solid"/>
            <a:miter lim="800000"/>
          </a:ln>
          <a:effectLst/>
        </p:spPr>
      </p:cxnSp>
      <p:sp>
        <p:nvSpPr>
          <p:cNvPr id="23" name="CuadroTexto 22">
            <a:extLst>
              <a:ext uri="{FF2B5EF4-FFF2-40B4-BE49-F238E27FC236}">
                <a16:creationId xmlns:a16="http://schemas.microsoft.com/office/drawing/2014/main" id="{3665BD18-B755-59EC-2E21-2A74444AF91B}"/>
              </a:ext>
            </a:extLst>
          </p:cNvPr>
          <p:cNvSpPr txBox="1"/>
          <p:nvPr/>
        </p:nvSpPr>
        <p:spPr>
          <a:xfrm>
            <a:off x="2292308" y="2397531"/>
            <a:ext cx="3658438" cy="261616"/>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spcBef>
                <a:spcPts val="0"/>
              </a:spcBef>
              <a:buClr>
                <a:srgbClr val="FF0000"/>
              </a:buClr>
              <a:buFont typeface="Wingdings" panose="05000000000000000000" pitchFamily="2" charset="2"/>
              <a:buChar char="§"/>
              <a:defRPr/>
            </a:pPr>
            <a:r>
              <a:rPr lang="en-US" sz="1200" i="1">
                <a:solidFill>
                  <a:srgbClr val="DEEDF1">
                    <a:lumMod val="25000"/>
                  </a:srgbClr>
                </a:solidFill>
                <a:latin typeface="Santander Text" panose="020B0504020201020104" pitchFamily="34" charset="0"/>
              </a:rPr>
              <a:t>Design the different models that can be used on the platform. </a:t>
            </a:r>
            <a:endParaRPr lang="en-GB" sz="1100" i="1">
              <a:solidFill>
                <a:srgbClr val="DEEDF1">
                  <a:lumMod val="25000"/>
                </a:srgbClr>
              </a:solidFill>
              <a:latin typeface="Santander Text" panose="020B0504020201020104" pitchFamily="34" charset="0"/>
            </a:endParaRPr>
          </a:p>
          <a:p>
            <a:pPr marR="0" lvl="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endParaRPr lang="en-US" kern="0">
              <a:solidFill>
                <a:prstClr val="black"/>
              </a:solidFill>
              <a:latin typeface="Santander Text"/>
            </a:endParaRPr>
          </a:p>
        </p:txBody>
      </p:sp>
      <p:sp>
        <p:nvSpPr>
          <p:cNvPr id="13" name="Título 1">
            <a:extLst>
              <a:ext uri="{FF2B5EF4-FFF2-40B4-BE49-F238E27FC236}">
                <a16:creationId xmlns:a16="http://schemas.microsoft.com/office/drawing/2014/main" id="{2CAB1FA0-8389-5E10-18A0-FC7A7B21115D}"/>
              </a:ext>
            </a:extLst>
          </p:cNvPr>
          <p:cNvSpPr txBox="1">
            <a:spLocks/>
          </p:cNvSpPr>
          <p:nvPr/>
        </p:nvSpPr>
        <p:spPr>
          <a:xfrm>
            <a:off x="607951" y="642144"/>
            <a:ext cx="10758733" cy="836992"/>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lang="en-US" sz="2800" b="1" kern="1200" dirty="0">
                <a:solidFill>
                  <a:schemeClr val="accent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s-ES" sz="2800" b="1" i="0" u="none" strike="noStrike" kern="1200" cap="none" spc="0" normalizeH="0" baseline="0" noProof="0">
                <a:ln>
                  <a:noFill/>
                </a:ln>
                <a:solidFill>
                  <a:srgbClr val="EB0000"/>
                </a:solidFill>
                <a:effectLst/>
                <a:uLnTx/>
                <a:uFillTx/>
                <a:ea typeface="+mj-ea"/>
                <a:cs typeface="+mj-cs"/>
              </a:rPr>
              <a:t>Global </a:t>
            </a:r>
            <a:r>
              <a:rPr kumimoji="0" lang="es-ES" sz="2800" b="1" i="0" u="none" strike="noStrike" kern="1200" cap="none" spc="0" normalizeH="0" baseline="0" noProof="0" err="1">
                <a:ln>
                  <a:noFill/>
                </a:ln>
                <a:solidFill>
                  <a:srgbClr val="EB0000"/>
                </a:solidFill>
                <a:effectLst/>
                <a:uLnTx/>
                <a:uFillTx/>
                <a:ea typeface="+mj-ea"/>
                <a:cs typeface="+mj-cs"/>
              </a:rPr>
              <a:t>Technology</a:t>
            </a:r>
            <a:r>
              <a:rPr kumimoji="0" lang="es-ES" sz="2800" b="1" i="0" u="none" strike="noStrike" kern="1200" cap="none" spc="0" normalizeH="0" baseline="0" noProof="0">
                <a:ln>
                  <a:noFill/>
                </a:ln>
                <a:solidFill>
                  <a:srgbClr val="EB0000"/>
                </a:solidFill>
                <a:effectLst/>
                <a:uLnTx/>
                <a:uFillTx/>
                <a:ea typeface="+mj-ea"/>
                <a:cs typeface="+mj-cs"/>
              </a:rPr>
              <a:t>. </a:t>
            </a:r>
            <a:r>
              <a:rPr lang="es-ES" err="1">
                <a:solidFill>
                  <a:schemeClr val="bg1">
                    <a:lumMod val="75000"/>
                  </a:schemeClr>
                </a:solidFill>
              </a:rPr>
              <a:t>Processes</a:t>
            </a:r>
            <a:r>
              <a:rPr lang="es-ES">
                <a:solidFill>
                  <a:schemeClr val="bg1">
                    <a:lumMod val="75000"/>
                  </a:schemeClr>
                </a:solidFill>
              </a:rPr>
              <a:t>. </a:t>
            </a:r>
          </a:p>
        </p:txBody>
      </p:sp>
      <p:sp>
        <p:nvSpPr>
          <p:cNvPr id="3" name="Rectángulo 2">
            <a:extLst>
              <a:ext uri="{FF2B5EF4-FFF2-40B4-BE49-F238E27FC236}">
                <a16:creationId xmlns:a16="http://schemas.microsoft.com/office/drawing/2014/main" id="{FB324107-5F20-A15B-B926-3FEEDFE91599}"/>
              </a:ext>
            </a:extLst>
          </p:cNvPr>
          <p:cNvSpPr/>
          <p:nvPr/>
        </p:nvSpPr>
        <p:spPr>
          <a:xfrm>
            <a:off x="709861" y="2975929"/>
            <a:ext cx="1440000" cy="376004"/>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spcAft>
                <a:spcPts val="600"/>
              </a:spcAft>
            </a:pPr>
            <a:r>
              <a:rPr lang="en-AU" sz="1400" kern="0">
                <a:solidFill>
                  <a:srgbClr val="DEEDF1">
                    <a:lumMod val="25000"/>
                  </a:srgbClr>
                </a:solidFill>
              </a:rPr>
              <a:t>Process </a:t>
            </a:r>
            <a:r>
              <a:rPr lang="en-AU" sz="1400" kern="0" err="1">
                <a:solidFill>
                  <a:srgbClr val="DEEDF1">
                    <a:lumMod val="25000"/>
                  </a:srgbClr>
                </a:solidFill>
              </a:rPr>
              <a:t>Catalog</a:t>
            </a:r>
            <a:endParaRPr lang="en-AU" sz="1400" kern="0">
              <a:solidFill>
                <a:srgbClr val="DEEDF1">
                  <a:lumMod val="25000"/>
                </a:srgbClr>
              </a:solidFill>
            </a:endParaRPr>
          </a:p>
        </p:txBody>
      </p:sp>
      <p:cxnSp>
        <p:nvCxnSpPr>
          <p:cNvPr id="4" name="Conector recto 3">
            <a:extLst>
              <a:ext uri="{FF2B5EF4-FFF2-40B4-BE49-F238E27FC236}">
                <a16:creationId xmlns:a16="http://schemas.microsoft.com/office/drawing/2014/main" id="{53722F1B-74C7-421F-75E1-D351F977A190}"/>
              </a:ext>
            </a:extLst>
          </p:cNvPr>
          <p:cNvCxnSpPr>
            <a:cxnSpLocks/>
          </p:cNvCxnSpPr>
          <p:nvPr/>
        </p:nvCxnSpPr>
        <p:spPr>
          <a:xfrm flipH="1" flipV="1">
            <a:off x="644527" y="2903747"/>
            <a:ext cx="5112000" cy="0"/>
          </a:xfrm>
          <a:prstGeom prst="line">
            <a:avLst/>
          </a:prstGeom>
          <a:noFill/>
          <a:ln w="12700" cap="flat" cmpd="sng" algn="ctr">
            <a:solidFill>
              <a:srgbClr val="595959"/>
            </a:solidFill>
            <a:prstDash val="solid"/>
            <a:miter lim="800000"/>
          </a:ln>
          <a:effectLst/>
        </p:spPr>
      </p:cxnSp>
      <p:sp>
        <p:nvSpPr>
          <p:cNvPr id="5" name="CuadroTexto 4">
            <a:extLst>
              <a:ext uri="{FF2B5EF4-FFF2-40B4-BE49-F238E27FC236}">
                <a16:creationId xmlns:a16="http://schemas.microsoft.com/office/drawing/2014/main" id="{DC8034ED-20F6-D950-4160-9023C343B0B7}"/>
              </a:ext>
            </a:extLst>
          </p:cNvPr>
          <p:cNvSpPr txBox="1"/>
          <p:nvPr/>
        </p:nvSpPr>
        <p:spPr>
          <a:xfrm>
            <a:off x="2292308" y="2994790"/>
            <a:ext cx="3658438" cy="261616"/>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spcAft>
                <a:spcPts val="300"/>
              </a:spcAft>
            </a:pPr>
            <a:r>
              <a:rPr lang="en-US" sz="1200" i="1">
                <a:solidFill>
                  <a:srgbClr val="DEEDF1">
                    <a:lumMod val="25000"/>
                  </a:srgbClr>
                </a:solidFill>
                <a:latin typeface="Santander Text" panose="020B0504020201020104" pitchFamily="34" charset="0"/>
              </a:rPr>
              <a:t>List that includes critical characteristics of a process (high-level diagram, RACI matrix, owner, etc.).</a:t>
            </a:r>
            <a:endParaRPr lang="en-GB" sz="1100" i="1">
              <a:solidFill>
                <a:srgbClr val="DEEDF1">
                  <a:lumMod val="25000"/>
                </a:srgbClr>
              </a:solidFill>
              <a:latin typeface="Santander Text" panose="020B0504020201020104" pitchFamily="34" charset="0"/>
            </a:endParaRPr>
          </a:p>
        </p:txBody>
      </p:sp>
      <p:sp>
        <p:nvSpPr>
          <p:cNvPr id="47" name="Rectángulo 46">
            <a:extLst>
              <a:ext uri="{FF2B5EF4-FFF2-40B4-BE49-F238E27FC236}">
                <a16:creationId xmlns:a16="http://schemas.microsoft.com/office/drawing/2014/main" id="{31B8764D-0C3B-C142-4C98-56BF5C33DE22}"/>
              </a:ext>
            </a:extLst>
          </p:cNvPr>
          <p:cNvSpPr/>
          <p:nvPr/>
        </p:nvSpPr>
        <p:spPr>
          <a:xfrm>
            <a:off x="709861" y="3526249"/>
            <a:ext cx="1440000" cy="376004"/>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spcAft>
                <a:spcPts val="600"/>
              </a:spcAft>
            </a:pPr>
            <a:r>
              <a:rPr lang="en-AU" sz="1400" kern="0">
                <a:solidFill>
                  <a:srgbClr val="DEEDF1">
                    <a:lumMod val="25000"/>
                  </a:srgbClr>
                </a:solidFill>
              </a:rPr>
              <a:t>Process Shared Assets</a:t>
            </a:r>
          </a:p>
        </p:txBody>
      </p:sp>
      <p:sp>
        <p:nvSpPr>
          <p:cNvPr id="48" name="CuadroTexto 47">
            <a:extLst>
              <a:ext uri="{FF2B5EF4-FFF2-40B4-BE49-F238E27FC236}">
                <a16:creationId xmlns:a16="http://schemas.microsoft.com/office/drawing/2014/main" id="{8730D35E-121B-F900-AFEF-11DEFC625D17}"/>
              </a:ext>
            </a:extLst>
          </p:cNvPr>
          <p:cNvSpPr txBox="1"/>
          <p:nvPr/>
        </p:nvSpPr>
        <p:spPr>
          <a:xfrm>
            <a:off x="2292308" y="3535629"/>
            <a:ext cx="3658438" cy="261616"/>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spcBef>
                <a:spcPts val="0"/>
              </a:spcBef>
              <a:buClr>
                <a:srgbClr val="FF0000"/>
              </a:buClr>
              <a:buFont typeface="Wingdings" panose="05000000000000000000" pitchFamily="2" charset="2"/>
              <a:buChar char="§"/>
              <a:defRPr/>
            </a:pPr>
            <a:r>
              <a:rPr lang="en-US" sz="1200" i="1">
                <a:solidFill>
                  <a:srgbClr val="DEEDF1">
                    <a:lumMod val="25000"/>
                  </a:srgbClr>
                </a:solidFill>
                <a:latin typeface="Santander Text" panose="020B0504020201020104" pitchFamily="34" charset="0"/>
              </a:rPr>
              <a:t>Includes technical components, process archetypes, etc. that can be reused in the processes.</a:t>
            </a:r>
            <a:endParaRPr lang="en-GB" sz="1200" i="1">
              <a:solidFill>
                <a:srgbClr val="DEEDF1">
                  <a:lumMod val="25000"/>
                </a:srgbClr>
              </a:solidFill>
              <a:latin typeface="Santander Text" panose="020B0504020201020104" pitchFamily="34" charset="0"/>
            </a:endParaRPr>
          </a:p>
          <a:p>
            <a:pPr marR="0" lvl="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endParaRPr lang="en-US" kern="0">
              <a:solidFill>
                <a:prstClr val="black"/>
              </a:solidFill>
              <a:latin typeface="Santander Text"/>
            </a:endParaRPr>
          </a:p>
        </p:txBody>
      </p:sp>
      <p:sp>
        <p:nvSpPr>
          <p:cNvPr id="49" name="Rectángulo 48">
            <a:extLst>
              <a:ext uri="{FF2B5EF4-FFF2-40B4-BE49-F238E27FC236}">
                <a16:creationId xmlns:a16="http://schemas.microsoft.com/office/drawing/2014/main" id="{DE171CD4-AAEF-334B-6C3B-B114CB777EFC}"/>
              </a:ext>
            </a:extLst>
          </p:cNvPr>
          <p:cNvSpPr/>
          <p:nvPr/>
        </p:nvSpPr>
        <p:spPr>
          <a:xfrm>
            <a:off x="709861" y="4076569"/>
            <a:ext cx="1440000" cy="376004"/>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spcAft>
                <a:spcPts val="600"/>
              </a:spcAft>
            </a:pPr>
            <a:r>
              <a:rPr lang="en-AU" sz="1050" kern="0">
                <a:solidFill>
                  <a:srgbClr val="DEEDF1">
                    <a:lumMod val="25000"/>
                  </a:srgbClr>
                </a:solidFill>
              </a:rPr>
              <a:t>Full Case Mngmt Framework</a:t>
            </a:r>
          </a:p>
        </p:txBody>
      </p:sp>
      <p:sp>
        <p:nvSpPr>
          <p:cNvPr id="50" name="CuadroTexto 49">
            <a:extLst>
              <a:ext uri="{FF2B5EF4-FFF2-40B4-BE49-F238E27FC236}">
                <a16:creationId xmlns:a16="http://schemas.microsoft.com/office/drawing/2014/main" id="{D14D99BA-D5B9-5370-CF00-9C16136C7F53}"/>
              </a:ext>
            </a:extLst>
          </p:cNvPr>
          <p:cNvSpPr txBox="1"/>
          <p:nvPr/>
        </p:nvSpPr>
        <p:spPr>
          <a:xfrm>
            <a:off x="2292308" y="4128846"/>
            <a:ext cx="3658438" cy="261616"/>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R="0" lvl="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lang="en-US" sz="1200" i="1">
                <a:solidFill>
                  <a:srgbClr val="DEEDF1">
                    <a:lumMod val="25000"/>
                  </a:srgbClr>
                </a:solidFill>
                <a:latin typeface="Santander Text" panose="020B0504020201020104" pitchFamily="34" charset="0"/>
              </a:rPr>
              <a:t>Event driven; case driven accelerator</a:t>
            </a:r>
            <a:endParaRPr lang="en-US" kern="0">
              <a:solidFill>
                <a:prstClr val="black"/>
              </a:solidFill>
              <a:latin typeface="Santander Text"/>
            </a:endParaRPr>
          </a:p>
        </p:txBody>
      </p:sp>
      <p:sp>
        <p:nvSpPr>
          <p:cNvPr id="53" name="Rectángulo 52">
            <a:extLst>
              <a:ext uri="{FF2B5EF4-FFF2-40B4-BE49-F238E27FC236}">
                <a16:creationId xmlns:a16="http://schemas.microsoft.com/office/drawing/2014/main" id="{78ACED4C-2077-14DF-465E-A2B1BED3F5E9}"/>
              </a:ext>
            </a:extLst>
          </p:cNvPr>
          <p:cNvSpPr/>
          <p:nvPr/>
        </p:nvSpPr>
        <p:spPr>
          <a:xfrm>
            <a:off x="709861" y="5177209"/>
            <a:ext cx="1440000" cy="376004"/>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spcAft>
                <a:spcPts val="600"/>
              </a:spcAft>
            </a:pPr>
            <a:r>
              <a:rPr lang="en-AU" sz="1400" kern="0">
                <a:solidFill>
                  <a:srgbClr val="DEEDF1">
                    <a:lumMod val="25000"/>
                  </a:srgbClr>
                </a:solidFill>
              </a:rPr>
              <a:t>To-do List</a:t>
            </a:r>
          </a:p>
        </p:txBody>
      </p:sp>
      <p:sp>
        <p:nvSpPr>
          <p:cNvPr id="54" name="CuadroTexto 53">
            <a:extLst>
              <a:ext uri="{FF2B5EF4-FFF2-40B4-BE49-F238E27FC236}">
                <a16:creationId xmlns:a16="http://schemas.microsoft.com/office/drawing/2014/main" id="{92DD3D1B-BD87-E825-D44C-0F40E7094859}"/>
              </a:ext>
            </a:extLst>
          </p:cNvPr>
          <p:cNvSpPr txBox="1"/>
          <p:nvPr/>
        </p:nvSpPr>
        <p:spPr>
          <a:xfrm>
            <a:off x="2292308" y="5215988"/>
            <a:ext cx="3658438" cy="261616"/>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R="0" lvl="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lang="en-US" kern="0">
                <a:solidFill>
                  <a:prstClr val="black"/>
                </a:solidFill>
                <a:latin typeface="Santander Text"/>
              </a:rPr>
              <a:t>Component to present the tasks to the users.</a:t>
            </a:r>
          </a:p>
          <a:p>
            <a:pPr marR="0" lvl="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endParaRPr lang="en-US" kern="0">
              <a:solidFill>
                <a:prstClr val="black"/>
              </a:solidFill>
              <a:latin typeface="Santander Text"/>
            </a:endParaRPr>
          </a:p>
        </p:txBody>
      </p:sp>
      <p:sp>
        <p:nvSpPr>
          <p:cNvPr id="55" name="Rectángulo 54">
            <a:extLst>
              <a:ext uri="{FF2B5EF4-FFF2-40B4-BE49-F238E27FC236}">
                <a16:creationId xmlns:a16="http://schemas.microsoft.com/office/drawing/2014/main" id="{92045C21-D830-81CC-038B-CD5C3992282C}"/>
              </a:ext>
            </a:extLst>
          </p:cNvPr>
          <p:cNvSpPr/>
          <p:nvPr/>
        </p:nvSpPr>
        <p:spPr>
          <a:xfrm>
            <a:off x="709861" y="5727528"/>
            <a:ext cx="1440000" cy="376004"/>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spcAft>
                <a:spcPts val="600"/>
              </a:spcAft>
            </a:pPr>
            <a:r>
              <a:rPr lang="en-AU" sz="1400" kern="0">
                <a:solidFill>
                  <a:srgbClr val="DEEDF1">
                    <a:lumMod val="25000"/>
                  </a:srgbClr>
                </a:solidFill>
              </a:rPr>
              <a:t>Workforce Management</a:t>
            </a:r>
          </a:p>
        </p:txBody>
      </p:sp>
      <p:sp>
        <p:nvSpPr>
          <p:cNvPr id="56" name="CuadroTexto 55">
            <a:extLst>
              <a:ext uri="{FF2B5EF4-FFF2-40B4-BE49-F238E27FC236}">
                <a16:creationId xmlns:a16="http://schemas.microsoft.com/office/drawing/2014/main" id="{A0C236F3-D07A-8BC3-42CA-77222A5842AA}"/>
              </a:ext>
            </a:extLst>
          </p:cNvPr>
          <p:cNvSpPr txBox="1"/>
          <p:nvPr/>
        </p:nvSpPr>
        <p:spPr>
          <a:xfrm>
            <a:off x="2292308" y="5725088"/>
            <a:ext cx="3658438" cy="261616"/>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R="0" lvl="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lang="en-US" sz="1200" i="1">
                <a:solidFill>
                  <a:srgbClr val="DEEDF1">
                    <a:lumMod val="25000"/>
                  </a:srgbClr>
                </a:solidFill>
                <a:latin typeface="Santander Text" panose="020B0504020201020104" pitchFamily="34" charset="0"/>
              </a:rPr>
              <a:t>Organize the tasks efficiently, enabling employee self-service and manager assignment</a:t>
            </a:r>
            <a:endParaRPr lang="en-US" kern="0">
              <a:solidFill>
                <a:prstClr val="black"/>
              </a:solidFill>
              <a:latin typeface="Santander Text"/>
            </a:endParaRPr>
          </a:p>
        </p:txBody>
      </p:sp>
      <p:cxnSp>
        <p:nvCxnSpPr>
          <p:cNvPr id="59" name="Conector recto 58">
            <a:extLst>
              <a:ext uri="{FF2B5EF4-FFF2-40B4-BE49-F238E27FC236}">
                <a16:creationId xmlns:a16="http://schemas.microsoft.com/office/drawing/2014/main" id="{8D0E6D07-2E09-7C69-9315-05B08168C143}"/>
              </a:ext>
            </a:extLst>
          </p:cNvPr>
          <p:cNvCxnSpPr>
            <a:cxnSpLocks/>
          </p:cNvCxnSpPr>
          <p:nvPr/>
        </p:nvCxnSpPr>
        <p:spPr>
          <a:xfrm flipH="1" flipV="1">
            <a:off x="644527" y="3451577"/>
            <a:ext cx="5112000" cy="0"/>
          </a:xfrm>
          <a:prstGeom prst="line">
            <a:avLst/>
          </a:prstGeom>
          <a:noFill/>
          <a:ln w="12700" cap="flat" cmpd="sng" algn="ctr">
            <a:solidFill>
              <a:srgbClr val="595959"/>
            </a:solidFill>
            <a:prstDash val="solid"/>
            <a:miter lim="800000"/>
          </a:ln>
          <a:effectLst/>
        </p:spPr>
      </p:cxnSp>
      <p:cxnSp>
        <p:nvCxnSpPr>
          <p:cNvPr id="60" name="Conector recto 59">
            <a:extLst>
              <a:ext uri="{FF2B5EF4-FFF2-40B4-BE49-F238E27FC236}">
                <a16:creationId xmlns:a16="http://schemas.microsoft.com/office/drawing/2014/main" id="{62D78673-4820-D1A5-643E-8C51B199B7F6}"/>
              </a:ext>
            </a:extLst>
          </p:cNvPr>
          <p:cNvCxnSpPr>
            <a:cxnSpLocks/>
          </p:cNvCxnSpPr>
          <p:nvPr/>
        </p:nvCxnSpPr>
        <p:spPr>
          <a:xfrm flipH="1" flipV="1">
            <a:off x="644527" y="4041330"/>
            <a:ext cx="5112000" cy="0"/>
          </a:xfrm>
          <a:prstGeom prst="line">
            <a:avLst/>
          </a:prstGeom>
          <a:noFill/>
          <a:ln w="12700" cap="flat" cmpd="sng" algn="ctr">
            <a:solidFill>
              <a:srgbClr val="595959"/>
            </a:solidFill>
            <a:prstDash val="solid"/>
            <a:miter lim="800000"/>
          </a:ln>
          <a:effectLst/>
        </p:spPr>
      </p:cxnSp>
      <p:cxnSp>
        <p:nvCxnSpPr>
          <p:cNvPr id="61" name="Conector recto 60">
            <a:extLst>
              <a:ext uri="{FF2B5EF4-FFF2-40B4-BE49-F238E27FC236}">
                <a16:creationId xmlns:a16="http://schemas.microsoft.com/office/drawing/2014/main" id="{DF7A81BE-88C2-D1EC-4173-8E674C91AAB9}"/>
              </a:ext>
            </a:extLst>
          </p:cNvPr>
          <p:cNvCxnSpPr>
            <a:cxnSpLocks/>
          </p:cNvCxnSpPr>
          <p:nvPr/>
        </p:nvCxnSpPr>
        <p:spPr>
          <a:xfrm flipH="1" flipV="1">
            <a:off x="644527" y="4556058"/>
            <a:ext cx="5112000" cy="0"/>
          </a:xfrm>
          <a:prstGeom prst="line">
            <a:avLst/>
          </a:prstGeom>
          <a:noFill/>
          <a:ln w="12700" cap="flat" cmpd="sng" algn="ctr">
            <a:solidFill>
              <a:srgbClr val="595959"/>
            </a:solidFill>
            <a:prstDash val="solid"/>
            <a:miter lim="800000"/>
          </a:ln>
          <a:effectLst/>
        </p:spPr>
      </p:cxnSp>
      <p:cxnSp>
        <p:nvCxnSpPr>
          <p:cNvPr id="62" name="Conector recto 61">
            <a:extLst>
              <a:ext uri="{FF2B5EF4-FFF2-40B4-BE49-F238E27FC236}">
                <a16:creationId xmlns:a16="http://schemas.microsoft.com/office/drawing/2014/main" id="{E128B232-D4A0-D88A-0F49-6604EF3F1BC7}"/>
              </a:ext>
            </a:extLst>
          </p:cNvPr>
          <p:cNvCxnSpPr>
            <a:cxnSpLocks/>
          </p:cNvCxnSpPr>
          <p:nvPr/>
        </p:nvCxnSpPr>
        <p:spPr>
          <a:xfrm flipH="1" flipV="1">
            <a:off x="644527" y="5142836"/>
            <a:ext cx="5112000" cy="0"/>
          </a:xfrm>
          <a:prstGeom prst="line">
            <a:avLst/>
          </a:prstGeom>
          <a:noFill/>
          <a:ln w="12700" cap="flat" cmpd="sng" algn="ctr">
            <a:solidFill>
              <a:srgbClr val="595959"/>
            </a:solidFill>
            <a:prstDash val="solid"/>
            <a:miter lim="800000"/>
          </a:ln>
          <a:effectLst/>
        </p:spPr>
      </p:cxnSp>
      <p:cxnSp>
        <p:nvCxnSpPr>
          <p:cNvPr id="63" name="Conector recto 62">
            <a:extLst>
              <a:ext uri="{FF2B5EF4-FFF2-40B4-BE49-F238E27FC236}">
                <a16:creationId xmlns:a16="http://schemas.microsoft.com/office/drawing/2014/main" id="{7116A350-90AA-BEEC-9BDE-1E9EAB98DC3B}"/>
              </a:ext>
            </a:extLst>
          </p:cNvPr>
          <p:cNvCxnSpPr>
            <a:cxnSpLocks/>
          </p:cNvCxnSpPr>
          <p:nvPr/>
        </p:nvCxnSpPr>
        <p:spPr>
          <a:xfrm flipH="1" flipV="1">
            <a:off x="644527" y="5664128"/>
            <a:ext cx="5112000" cy="0"/>
          </a:xfrm>
          <a:prstGeom prst="line">
            <a:avLst/>
          </a:prstGeom>
          <a:noFill/>
          <a:ln w="12700" cap="flat" cmpd="sng" algn="ctr">
            <a:solidFill>
              <a:srgbClr val="595959"/>
            </a:solidFill>
            <a:prstDash val="solid"/>
            <a:miter lim="800000"/>
          </a:ln>
          <a:effectLst/>
        </p:spPr>
      </p:cxnSp>
      <p:cxnSp>
        <p:nvCxnSpPr>
          <p:cNvPr id="64" name="Conector recto 63">
            <a:extLst>
              <a:ext uri="{FF2B5EF4-FFF2-40B4-BE49-F238E27FC236}">
                <a16:creationId xmlns:a16="http://schemas.microsoft.com/office/drawing/2014/main" id="{4A2077B1-B872-FFD0-AD6D-6CE191C55E15}"/>
              </a:ext>
            </a:extLst>
          </p:cNvPr>
          <p:cNvCxnSpPr>
            <a:cxnSpLocks/>
          </p:cNvCxnSpPr>
          <p:nvPr/>
        </p:nvCxnSpPr>
        <p:spPr>
          <a:xfrm flipH="1" flipV="1">
            <a:off x="644527" y="6152300"/>
            <a:ext cx="5112000" cy="0"/>
          </a:xfrm>
          <a:prstGeom prst="line">
            <a:avLst/>
          </a:prstGeom>
          <a:noFill/>
          <a:ln w="12700" cap="flat" cmpd="sng" algn="ctr">
            <a:solidFill>
              <a:srgbClr val="595959"/>
            </a:solidFill>
            <a:prstDash val="solid"/>
            <a:miter lim="800000"/>
          </a:ln>
          <a:effectLst/>
        </p:spPr>
      </p:cxnSp>
      <p:sp>
        <p:nvSpPr>
          <p:cNvPr id="65" name="Rectángulo 64">
            <a:extLst>
              <a:ext uri="{FF2B5EF4-FFF2-40B4-BE49-F238E27FC236}">
                <a16:creationId xmlns:a16="http://schemas.microsoft.com/office/drawing/2014/main" id="{6766ECBE-ABC3-286B-2702-AD204BAA6D34}"/>
              </a:ext>
            </a:extLst>
          </p:cNvPr>
          <p:cNvSpPr/>
          <p:nvPr/>
        </p:nvSpPr>
        <p:spPr>
          <a:xfrm>
            <a:off x="709861" y="4626889"/>
            <a:ext cx="1440000" cy="376004"/>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spcAft>
                <a:spcPts val="600"/>
              </a:spcAft>
            </a:pPr>
            <a:r>
              <a:rPr lang="en-AU" sz="1050" kern="0">
                <a:solidFill>
                  <a:srgbClr val="DEEDF1">
                    <a:lumMod val="25000"/>
                  </a:srgbClr>
                </a:solidFill>
              </a:rPr>
              <a:t>Little  Case </a:t>
            </a:r>
            <a:r>
              <a:rPr lang="en-AU" sz="1050" kern="0" err="1">
                <a:solidFill>
                  <a:srgbClr val="DEEDF1">
                    <a:lumMod val="25000"/>
                  </a:srgbClr>
                </a:solidFill>
              </a:rPr>
              <a:t>Mgmt</a:t>
            </a:r>
            <a:r>
              <a:rPr lang="en-AU" sz="1050" kern="0">
                <a:solidFill>
                  <a:srgbClr val="DEEDF1">
                    <a:lumMod val="25000"/>
                  </a:srgbClr>
                </a:solidFill>
              </a:rPr>
              <a:t> Framework</a:t>
            </a:r>
          </a:p>
        </p:txBody>
      </p:sp>
      <p:sp>
        <p:nvSpPr>
          <p:cNvPr id="66" name="Rectángulo 65">
            <a:extLst>
              <a:ext uri="{FF2B5EF4-FFF2-40B4-BE49-F238E27FC236}">
                <a16:creationId xmlns:a16="http://schemas.microsoft.com/office/drawing/2014/main" id="{7650522B-EECD-BF03-0F61-C3E5BB1B739F}"/>
              </a:ext>
            </a:extLst>
          </p:cNvPr>
          <p:cNvSpPr/>
          <p:nvPr/>
        </p:nvSpPr>
        <p:spPr>
          <a:xfrm>
            <a:off x="6175374" y="3021918"/>
            <a:ext cx="1440000" cy="399018"/>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spcAft>
                <a:spcPts val="600"/>
              </a:spcAft>
            </a:pPr>
            <a:r>
              <a:rPr lang="en-AU" sz="1400" kern="0">
                <a:solidFill>
                  <a:srgbClr val="DEEDF1">
                    <a:lumMod val="25000"/>
                  </a:srgbClr>
                </a:solidFill>
              </a:rPr>
              <a:t>Process Front Generators</a:t>
            </a:r>
          </a:p>
        </p:txBody>
      </p:sp>
      <p:cxnSp>
        <p:nvCxnSpPr>
          <p:cNvPr id="67" name="Conector recto 66">
            <a:extLst>
              <a:ext uri="{FF2B5EF4-FFF2-40B4-BE49-F238E27FC236}">
                <a16:creationId xmlns:a16="http://schemas.microsoft.com/office/drawing/2014/main" id="{67210E8C-78B6-8C62-7EFE-BED3D6A4AB1E}"/>
              </a:ext>
            </a:extLst>
          </p:cNvPr>
          <p:cNvCxnSpPr>
            <a:cxnSpLocks/>
          </p:cNvCxnSpPr>
          <p:nvPr/>
        </p:nvCxnSpPr>
        <p:spPr>
          <a:xfrm flipH="1" flipV="1">
            <a:off x="6144774" y="2934150"/>
            <a:ext cx="5112000" cy="0"/>
          </a:xfrm>
          <a:prstGeom prst="line">
            <a:avLst/>
          </a:prstGeom>
          <a:noFill/>
          <a:ln w="12700" cap="flat" cmpd="sng" algn="ctr">
            <a:solidFill>
              <a:srgbClr val="595959"/>
            </a:solidFill>
            <a:prstDash val="solid"/>
            <a:miter lim="800000"/>
          </a:ln>
          <a:effectLst/>
        </p:spPr>
      </p:cxnSp>
      <p:sp>
        <p:nvSpPr>
          <p:cNvPr id="68" name="CuadroTexto 67">
            <a:extLst>
              <a:ext uri="{FF2B5EF4-FFF2-40B4-BE49-F238E27FC236}">
                <a16:creationId xmlns:a16="http://schemas.microsoft.com/office/drawing/2014/main" id="{2919C4D9-B671-7AA4-0EA1-021A0BB5B5C5}"/>
              </a:ext>
            </a:extLst>
          </p:cNvPr>
          <p:cNvSpPr txBox="1"/>
          <p:nvPr/>
        </p:nvSpPr>
        <p:spPr>
          <a:xfrm>
            <a:off x="7749020" y="3041391"/>
            <a:ext cx="3658438" cy="261616"/>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spcBef>
                <a:spcPts val="0"/>
              </a:spcBef>
              <a:buClr>
                <a:srgbClr val="FF0000"/>
              </a:buClr>
              <a:buFont typeface="Wingdings" panose="05000000000000000000" pitchFamily="2" charset="2"/>
              <a:buChar char="§"/>
              <a:defRPr/>
            </a:pPr>
            <a:r>
              <a:rPr lang="en-GB" sz="1200" i="1">
                <a:solidFill>
                  <a:srgbClr val="DEEDF1">
                    <a:lumMod val="25000"/>
                  </a:srgbClr>
                </a:solidFill>
                <a:latin typeface="Santander Text" panose="020B0504020201020104" pitchFamily="34" charset="0"/>
              </a:rPr>
              <a:t>Tool that uses AI technology to generate code for the front end of the processes.</a:t>
            </a:r>
          </a:p>
          <a:p>
            <a:pPr marR="0" lvl="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endParaRPr lang="en-US" kern="0">
              <a:solidFill>
                <a:prstClr val="black"/>
              </a:solidFill>
              <a:latin typeface="Santander Text"/>
            </a:endParaRPr>
          </a:p>
        </p:txBody>
      </p:sp>
      <p:sp>
        <p:nvSpPr>
          <p:cNvPr id="69" name="Rectángulo 68">
            <a:extLst>
              <a:ext uri="{FF2B5EF4-FFF2-40B4-BE49-F238E27FC236}">
                <a16:creationId xmlns:a16="http://schemas.microsoft.com/office/drawing/2014/main" id="{76FDED19-B591-57B6-6486-B1448C70022D}"/>
              </a:ext>
            </a:extLst>
          </p:cNvPr>
          <p:cNvSpPr/>
          <p:nvPr/>
        </p:nvSpPr>
        <p:spPr>
          <a:xfrm>
            <a:off x="6175374" y="3595252"/>
            <a:ext cx="1440000" cy="376004"/>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spcAft>
                <a:spcPts val="600"/>
              </a:spcAft>
            </a:pPr>
            <a:r>
              <a:rPr lang="en-AU" sz="1400" kern="0">
                <a:solidFill>
                  <a:srgbClr val="DEEDF1">
                    <a:lumMod val="25000"/>
                  </a:srgbClr>
                </a:solidFill>
              </a:rPr>
              <a:t>BPM Engines</a:t>
            </a:r>
          </a:p>
        </p:txBody>
      </p:sp>
      <p:cxnSp>
        <p:nvCxnSpPr>
          <p:cNvPr id="70" name="Conector recto 69">
            <a:extLst>
              <a:ext uri="{FF2B5EF4-FFF2-40B4-BE49-F238E27FC236}">
                <a16:creationId xmlns:a16="http://schemas.microsoft.com/office/drawing/2014/main" id="{C2F3A518-3B68-915A-E276-D1CC3694C643}"/>
              </a:ext>
            </a:extLst>
          </p:cNvPr>
          <p:cNvCxnSpPr>
            <a:cxnSpLocks/>
          </p:cNvCxnSpPr>
          <p:nvPr/>
        </p:nvCxnSpPr>
        <p:spPr>
          <a:xfrm flipH="1" flipV="1">
            <a:off x="6110040" y="3523070"/>
            <a:ext cx="5112000" cy="0"/>
          </a:xfrm>
          <a:prstGeom prst="line">
            <a:avLst/>
          </a:prstGeom>
          <a:noFill/>
          <a:ln w="12700" cap="flat" cmpd="sng" algn="ctr">
            <a:solidFill>
              <a:srgbClr val="595959"/>
            </a:solidFill>
            <a:prstDash val="solid"/>
            <a:miter lim="800000"/>
          </a:ln>
          <a:effectLst/>
        </p:spPr>
      </p:cxnSp>
      <p:sp>
        <p:nvSpPr>
          <p:cNvPr id="71" name="CuadroTexto 70">
            <a:extLst>
              <a:ext uri="{FF2B5EF4-FFF2-40B4-BE49-F238E27FC236}">
                <a16:creationId xmlns:a16="http://schemas.microsoft.com/office/drawing/2014/main" id="{6CD33308-D3CB-AF8B-FD1C-C8CB96FCF596}"/>
              </a:ext>
            </a:extLst>
          </p:cNvPr>
          <p:cNvSpPr txBox="1"/>
          <p:nvPr/>
        </p:nvSpPr>
        <p:spPr>
          <a:xfrm>
            <a:off x="7749020" y="3573697"/>
            <a:ext cx="3658438" cy="261616"/>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spcBef>
                <a:spcPts val="0"/>
              </a:spcBef>
              <a:buClr>
                <a:srgbClr val="FF0000"/>
              </a:buClr>
              <a:buFont typeface="Wingdings" panose="05000000000000000000" pitchFamily="2" charset="2"/>
              <a:buChar char="§"/>
              <a:defRPr/>
            </a:pPr>
            <a:r>
              <a:rPr lang="en-US" sz="1400" i="1">
                <a:solidFill>
                  <a:srgbClr val="DEEDF1">
                    <a:lumMod val="25000"/>
                  </a:srgbClr>
                </a:solidFill>
                <a:latin typeface="Santander Text" panose="020B0504020201020104" pitchFamily="34" charset="0"/>
              </a:rPr>
              <a:t>Deploy</a:t>
            </a:r>
            <a:r>
              <a:rPr lang="en-US" sz="1200" i="1">
                <a:solidFill>
                  <a:srgbClr val="DEEDF1">
                    <a:lumMod val="25000"/>
                  </a:srgbClr>
                </a:solidFill>
                <a:latin typeface="Santander Text" panose="020B0504020201020104" pitchFamily="34" charset="0"/>
              </a:rPr>
              <a:t>, execute, measure, modify and observe processes.</a:t>
            </a:r>
            <a:endParaRPr lang="en-GB" sz="1200" i="1">
              <a:solidFill>
                <a:srgbClr val="DEEDF1">
                  <a:lumMod val="25000"/>
                </a:srgbClr>
              </a:solidFill>
              <a:latin typeface="Santander Text" panose="020B0504020201020104" pitchFamily="34" charset="0"/>
            </a:endParaRPr>
          </a:p>
          <a:p>
            <a:pPr marR="0" lvl="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endParaRPr lang="en-US" kern="0">
              <a:solidFill>
                <a:prstClr val="black"/>
              </a:solidFill>
              <a:latin typeface="Santander Text"/>
            </a:endParaRPr>
          </a:p>
        </p:txBody>
      </p:sp>
      <p:sp>
        <p:nvSpPr>
          <p:cNvPr id="72" name="Rectángulo 71">
            <a:extLst>
              <a:ext uri="{FF2B5EF4-FFF2-40B4-BE49-F238E27FC236}">
                <a16:creationId xmlns:a16="http://schemas.microsoft.com/office/drawing/2014/main" id="{FBC2390E-6051-34F1-CD9F-4CDB405C5506}"/>
              </a:ext>
            </a:extLst>
          </p:cNvPr>
          <p:cNvSpPr/>
          <p:nvPr/>
        </p:nvSpPr>
        <p:spPr>
          <a:xfrm>
            <a:off x="6175374" y="4145572"/>
            <a:ext cx="1440000" cy="376004"/>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spcAft>
                <a:spcPts val="600"/>
              </a:spcAft>
            </a:pPr>
            <a:r>
              <a:rPr lang="en-AU" sz="1400" kern="0">
                <a:solidFill>
                  <a:srgbClr val="DEEDF1">
                    <a:lumMod val="25000"/>
                  </a:srgbClr>
                </a:solidFill>
              </a:rPr>
              <a:t>BRMS Engines</a:t>
            </a:r>
          </a:p>
        </p:txBody>
      </p:sp>
      <p:sp>
        <p:nvSpPr>
          <p:cNvPr id="73" name="CuadroTexto 72">
            <a:extLst>
              <a:ext uri="{FF2B5EF4-FFF2-40B4-BE49-F238E27FC236}">
                <a16:creationId xmlns:a16="http://schemas.microsoft.com/office/drawing/2014/main" id="{457EF884-450E-D361-2C65-AC1B0E53043C}"/>
              </a:ext>
            </a:extLst>
          </p:cNvPr>
          <p:cNvSpPr txBox="1"/>
          <p:nvPr/>
        </p:nvSpPr>
        <p:spPr>
          <a:xfrm>
            <a:off x="7749020" y="4155002"/>
            <a:ext cx="3658438" cy="261616"/>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spcAft>
                <a:spcPts val="300"/>
              </a:spcAft>
            </a:pPr>
            <a:r>
              <a:rPr lang="en-US" sz="1400" i="1">
                <a:solidFill>
                  <a:srgbClr val="DEEDF1">
                    <a:lumMod val="25000"/>
                  </a:srgbClr>
                </a:solidFill>
                <a:latin typeface="Santander Text" panose="020B0504020201020104" pitchFamily="34" charset="0"/>
              </a:rPr>
              <a:t>Deploy</a:t>
            </a:r>
            <a:r>
              <a:rPr lang="en-US" sz="1200" i="1">
                <a:solidFill>
                  <a:srgbClr val="DEEDF1">
                    <a:lumMod val="25000"/>
                  </a:srgbClr>
                </a:solidFill>
                <a:latin typeface="Santander Text" panose="020B0504020201020104" pitchFamily="34" charset="0"/>
              </a:rPr>
              <a:t>, execute, measure, modify and observe business rules.</a:t>
            </a:r>
            <a:endParaRPr lang="en-GB" sz="1200" i="1">
              <a:solidFill>
                <a:srgbClr val="DEEDF1">
                  <a:lumMod val="25000"/>
                </a:srgbClr>
              </a:solidFill>
              <a:latin typeface="Santander Text" panose="020B0504020201020104" pitchFamily="34" charset="0"/>
            </a:endParaRPr>
          </a:p>
        </p:txBody>
      </p:sp>
      <p:sp>
        <p:nvSpPr>
          <p:cNvPr id="74" name="Rectángulo 73">
            <a:extLst>
              <a:ext uri="{FF2B5EF4-FFF2-40B4-BE49-F238E27FC236}">
                <a16:creationId xmlns:a16="http://schemas.microsoft.com/office/drawing/2014/main" id="{146C1430-E52A-F79A-6CF3-3E02D14AF1D7}"/>
              </a:ext>
            </a:extLst>
          </p:cNvPr>
          <p:cNvSpPr/>
          <p:nvPr/>
        </p:nvSpPr>
        <p:spPr>
          <a:xfrm>
            <a:off x="6175374" y="4695892"/>
            <a:ext cx="1440000" cy="376004"/>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spcAft>
                <a:spcPts val="600"/>
              </a:spcAft>
            </a:pPr>
            <a:r>
              <a:rPr lang="en-AU" sz="1050" kern="0">
                <a:solidFill>
                  <a:srgbClr val="DEEDF1">
                    <a:lumMod val="25000"/>
                  </a:srgbClr>
                </a:solidFill>
              </a:rPr>
              <a:t>Assemble Process Management</a:t>
            </a:r>
          </a:p>
        </p:txBody>
      </p:sp>
      <p:sp>
        <p:nvSpPr>
          <p:cNvPr id="75" name="CuadroTexto 74">
            <a:extLst>
              <a:ext uri="{FF2B5EF4-FFF2-40B4-BE49-F238E27FC236}">
                <a16:creationId xmlns:a16="http://schemas.microsoft.com/office/drawing/2014/main" id="{E876ACE1-BE06-5E35-6EA1-D01055046B7B}"/>
              </a:ext>
            </a:extLst>
          </p:cNvPr>
          <p:cNvSpPr txBox="1"/>
          <p:nvPr/>
        </p:nvSpPr>
        <p:spPr>
          <a:xfrm>
            <a:off x="7749020" y="4643665"/>
            <a:ext cx="4317959" cy="152334"/>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R="0" lvl="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lang="en-US" kern="0">
                <a:solidFill>
                  <a:prstClr val="black"/>
                </a:solidFill>
                <a:latin typeface="Santander Text"/>
              </a:rPr>
              <a:t>Layer of abstraction and assembly that allows to abstract from the commercial tools on which the processes relies to offer its capabilities</a:t>
            </a:r>
          </a:p>
        </p:txBody>
      </p:sp>
      <p:sp>
        <p:nvSpPr>
          <p:cNvPr id="77" name="Rectángulo 76">
            <a:extLst>
              <a:ext uri="{FF2B5EF4-FFF2-40B4-BE49-F238E27FC236}">
                <a16:creationId xmlns:a16="http://schemas.microsoft.com/office/drawing/2014/main" id="{678EE4BF-E030-C5D9-7E1E-60C74E5B0362}"/>
              </a:ext>
            </a:extLst>
          </p:cNvPr>
          <p:cNvSpPr/>
          <p:nvPr/>
        </p:nvSpPr>
        <p:spPr>
          <a:xfrm>
            <a:off x="6155458" y="5335770"/>
            <a:ext cx="1440000" cy="376004"/>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spcAft>
                <a:spcPts val="600"/>
              </a:spcAft>
            </a:pPr>
            <a:r>
              <a:rPr lang="en-AU" sz="1400" kern="0">
                <a:solidFill>
                  <a:srgbClr val="DEEDF1">
                    <a:lumMod val="25000"/>
                  </a:srgbClr>
                </a:solidFill>
              </a:rPr>
              <a:t>Process Mining</a:t>
            </a:r>
          </a:p>
        </p:txBody>
      </p:sp>
      <p:sp>
        <p:nvSpPr>
          <p:cNvPr id="78" name="CuadroTexto 77">
            <a:extLst>
              <a:ext uri="{FF2B5EF4-FFF2-40B4-BE49-F238E27FC236}">
                <a16:creationId xmlns:a16="http://schemas.microsoft.com/office/drawing/2014/main" id="{5144A5A6-123E-3F69-2785-6CCC27D9B4B9}"/>
              </a:ext>
            </a:extLst>
          </p:cNvPr>
          <p:cNvSpPr txBox="1"/>
          <p:nvPr/>
        </p:nvSpPr>
        <p:spPr>
          <a:xfrm>
            <a:off x="7749020" y="5374549"/>
            <a:ext cx="3658438" cy="261616"/>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spcBef>
                <a:spcPts val="0"/>
              </a:spcBef>
              <a:buClr>
                <a:srgbClr val="FF0000"/>
              </a:buClr>
              <a:buFont typeface="Wingdings" panose="05000000000000000000" pitchFamily="2" charset="2"/>
              <a:buChar char="§"/>
              <a:defRPr/>
            </a:pPr>
            <a:r>
              <a:rPr lang="en-US" sz="1200" i="1">
                <a:solidFill>
                  <a:srgbClr val="DEEDF1">
                    <a:lumMod val="25000"/>
                  </a:srgbClr>
                </a:solidFill>
                <a:latin typeface="Santander Text" panose="020B0504020201020104" pitchFamily="34" charset="0"/>
              </a:rPr>
              <a:t>Discover, monitor and improve processes</a:t>
            </a:r>
            <a:endParaRPr lang="en-GB" sz="1100" i="1">
              <a:solidFill>
                <a:srgbClr val="DEEDF1">
                  <a:lumMod val="25000"/>
                </a:srgbClr>
              </a:solidFill>
              <a:latin typeface="Santander Text" panose="020B0504020201020104" pitchFamily="34" charset="0"/>
            </a:endParaRPr>
          </a:p>
          <a:p>
            <a:pPr marR="0" lvl="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endParaRPr lang="en-US" kern="0">
              <a:solidFill>
                <a:prstClr val="black"/>
              </a:solidFill>
              <a:latin typeface="Santander Text"/>
            </a:endParaRPr>
          </a:p>
        </p:txBody>
      </p:sp>
      <p:sp>
        <p:nvSpPr>
          <p:cNvPr id="79" name="Rectángulo 78">
            <a:extLst>
              <a:ext uri="{FF2B5EF4-FFF2-40B4-BE49-F238E27FC236}">
                <a16:creationId xmlns:a16="http://schemas.microsoft.com/office/drawing/2014/main" id="{3C284567-F696-2F1D-A0B5-08147F88CE56}"/>
              </a:ext>
            </a:extLst>
          </p:cNvPr>
          <p:cNvSpPr/>
          <p:nvPr/>
        </p:nvSpPr>
        <p:spPr>
          <a:xfrm>
            <a:off x="6155458" y="5886089"/>
            <a:ext cx="1440000" cy="376004"/>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spcAft>
                <a:spcPts val="600"/>
              </a:spcAft>
            </a:pPr>
            <a:r>
              <a:rPr lang="en-AU" sz="1100" kern="0">
                <a:solidFill>
                  <a:srgbClr val="DEEDF1">
                    <a:lumMod val="25000"/>
                  </a:srgbClr>
                </a:solidFill>
              </a:rPr>
              <a:t>Process Performance Monitoring</a:t>
            </a:r>
          </a:p>
        </p:txBody>
      </p:sp>
      <p:sp>
        <p:nvSpPr>
          <p:cNvPr id="80" name="CuadroTexto 79">
            <a:extLst>
              <a:ext uri="{FF2B5EF4-FFF2-40B4-BE49-F238E27FC236}">
                <a16:creationId xmlns:a16="http://schemas.microsoft.com/office/drawing/2014/main" id="{59D6F8C4-D66D-929D-6528-DC435E47448F}"/>
              </a:ext>
            </a:extLst>
          </p:cNvPr>
          <p:cNvSpPr txBox="1"/>
          <p:nvPr/>
        </p:nvSpPr>
        <p:spPr>
          <a:xfrm>
            <a:off x="7749020" y="5854773"/>
            <a:ext cx="4317958" cy="376003"/>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spcBef>
                <a:spcPts val="0"/>
              </a:spcBef>
              <a:buClr>
                <a:srgbClr val="FF0000"/>
              </a:buClr>
              <a:buFont typeface="Wingdings" panose="05000000000000000000" pitchFamily="2" charset="2"/>
              <a:buChar char="§"/>
              <a:defRPr/>
            </a:pPr>
            <a:r>
              <a:rPr lang="en-US" sz="1200" i="1">
                <a:solidFill>
                  <a:srgbClr val="DEEDF1">
                    <a:lumMod val="25000"/>
                  </a:srgbClr>
                </a:solidFill>
                <a:latin typeface="Santander Text" panose="020B0504020201020104" pitchFamily="34" charset="0"/>
              </a:rPr>
              <a:t>T</a:t>
            </a:r>
            <a:r>
              <a:rPr kumimoji="0" lang="en-US" sz="1200" b="0" i="1" u="none" strike="noStrike" kern="1200" cap="none" spc="0" normalizeH="0" baseline="0" noProof="0">
                <a:ln>
                  <a:noFill/>
                </a:ln>
                <a:solidFill>
                  <a:srgbClr val="DEEDF1">
                    <a:lumMod val="25000"/>
                  </a:srgbClr>
                </a:solidFill>
                <a:effectLst/>
                <a:uLnTx/>
                <a:uFillTx/>
                <a:latin typeface="Santander Text" panose="020B0504020201020104" pitchFamily="34" charset="0"/>
                <a:ea typeface="+mn-ea"/>
                <a:cs typeface="+mn-cs"/>
              </a:rPr>
              <a:t>rack the processes running and identify time intensive and dead processes that could affect the server's performance</a:t>
            </a:r>
            <a:endParaRPr kumimoji="0" lang="en-GB" sz="1100" b="0" i="1" u="none" strike="noStrike" kern="1200" cap="none" spc="0" normalizeH="0" baseline="0" noProof="0">
              <a:ln>
                <a:noFill/>
              </a:ln>
              <a:solidFill>
                <a:srgbClr val="DEEDF1">
                  <a:lumMod val="25000"/>
                </a:srgbClr>
              </a:solidFill>
              <a:effectLst/>
              <a:uLnTx/>
              <a:uFillTx/>
              <a:latin typeface="Santander Text" panose="020B0504020201020104" pitchFamily="34" charset="0"/>
              <a:ea typeface="+mn-ea"/>
              <a:cs typeface="+mn-cs"/>
            </a:endParaRPr>
          </a:p>
          <a:p>
            <a:pPr marR="0" lvl="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endParaRPr lang="en-US" kern="0">
              <a:solidFill>
                <a:prstClr val="black"/>
              </a:solidFill>
              <a:latin typeface="Santander Text"/>
            </a:endParaRPr>
          </a:p>
        </p:txBody>
      </p:sp>
      <p:cxnSp>
        <p:nvCxnSpPr>
          <p:cNvPr id="81" name="Conector recto 80">
            <a:extLst>
              <a:ext uri="{FF2B5EF4-FFF2-40B4-BE49-F238E27FC236}">
                <a16:creationId xmlns:a16="http://schemas.microsoft.com/office/drawing/2014/main" id="{F59FB8A9-920B-FCCA-2E07-18697DF08B55}"/>
              </a:ext>
            </a:extLst>
          </p:cNvPr>
          <p:cNvCxnSpPr>
            <a:cxnSpLocks/>
          </p:cNvCxnSpPr>
          <p:nvPr/>
        </p:nvCxnSpPr>
        <p:spPr>
          <a:xfrm flipH="1" flipV="1">
            <a:off x="6110040" y="4070900"/>
            <a:ext cx="5112000" cy="0"/>
          </a:xfrm>
          <a:prstGeom prst="line">
            <a:avLst/>
          </a:prstGeom>
          <a:noFill/>
          <a:ln w="12700" cap="flat" cmpd="sng" algn="ctr">
            <a:solidFill>
              <a:srgbClr val="595959"/>
            </a:solidFill>
            <a:prstDash val="solid"/>
            <a:miter lim="800000"/>
          </a:ln>
          <a:effectLst/>
        </p:spPr>
      </p:cxnSp>
      <p:cxnSp>
        <p:nvCxnSpPr>
          <p:cNvPr id="82" name="Conector recto 81">
            <a:extLst>
              <a:ext uri="{FF2B5EF4-FFF2-40B4-BE49-F238E27FC236}">
                <a16:creationId xmlns:a16="http://schemas.microsoft.com/office/drawing/2014/main" id="{DABE4919-921A-5735-EA9B-22E644955FB2}"/>
              </a:ext>
            </a:extLst>
          </p:cNvPr>
          <p:cNvCxnSpPr>
            <a:cxnSpLocks/>
          </p:cNvCxnSpPr>
          <p:nvPr/>
        </p:nvCxnSpPr>
        <p:spPr>
          <a:xfrm flipH="1" flipV="1">
            <a:off x="6110040" y="4660653"/>
            <a:ext cx="5112000" cy="0"/>
          </a:xfrm>
          <a:prstGeom prst="line">
            <a:avLst/>
          </a:prstGeom>
          <a:noFill/>
          <a:ln w="12700" cap="flat" cmpd="sng" algn="ctr">
            <a:solidFill>
              <a:srgbClr val="595959"/>
            </a:solidFill>
            <a:prstDash val="solid"/>
            <a:miter lim="800000"/>
          </a:ln>
          <a:effectLst/>
        </p:spPr>
      </p:cxnSp>
      <p:cxnSp>
        <p:nvCxnSpPr>
          <p:cNvPr id="84" name="Conector recto 83">
            <a:extLst>
              <a:ext uri="{FF2B5EF4-FFF2-40B4-BE49-F238E27FC236}">
                <a16:creationId xmlns:a16="http://schemas.microsoft.com/office/drawing/2014/main" id="{9EA1FDC4-A148-336A-8884-97C098F79D0C}"/>
              </a:ext>
            </a:extLst>
          </p:cNvPr>
          <p:cNvCxnSpPr>
            <a:cxnSpLocks/>
          </p:cNvCxnSpPr>
          <p:nvPr/>
        </p:nvCxnSpPr>
        <p:spPr>
          <a:xfrm flipH="1" flipV="1">
            <a:off x="6090124" y="5301397"/>
            <a:ext cx="5112000" cy="0"/>
          </a:xfrm>
          <a:prstGeom prst="line">
            <a:avLst/>
          </a:prstGeom>
          <a:noFill/>
          <a:ln w="12700" cap="flat" cmpd="sng" algn="ctr">
            <a:solidFill>
              <a:srgbClr val="595959"/>
            </a:solidFill>
            <a:prstDash val="solid"/>
            <a:miter lim="800000"/>
          </a:ln>
          <a:effectLst/>
        </p:spPr>
      </p:cxnSp>
      <p:cxnSp>
        <p:nvCxnSpPr>
          <p:cNvPr id="85" name="Conector recto 84">
            <a:extLst>
              <a:ext uri="{FF2B5EF4-FFF2-40B4-BE49-F238E27FC236}">
                <a16:creationId xmlns:a16="http://schemas.microsoft.com/office/drawing/2014/main" id="{7B28394F-D770-BD56-7A16-F51B80D97A1D}"/>
              </a:ext>
            </a:extLst>
          </p:cNvPr>
          <p:cNvCxnSpPr>
            <a:cxnSpLocks/>
          </p:cNvCxnSpPr>
          <p:nvPr/>
        </p:nvCxnSpPr>
        <p:spPr>
          <a:xfrm flipH="1" flipV="1">
            <a:off x="6090124" y="5822689"/>
            <a:ext cx="5112000" cy="0"/>
          </a:xfrm>
          <a:prstGeom prst="line">
            <a:avLst/>
          </a:prstGeom>
          <a:noFill/>
          <a:ln w="12700" cap="flat" cmpd="sng" algn="ctr">
            <a:solidFill>
              <a:srgbClr val="595959"/>
            </a:solidFill>
            <a:prstDash val="solid"/>
            <a:miter lim="800000"/>
          </a:ln>
          <a:effectLst/>
        </p:spPr>
      </p:cxnSp>
      <p:cxnSp>
        <p:nvCxnSpPr>
          <p:cNvPr id="86" name="Conector recto 85">
            <a:extLst>
              <a:ext uri="{FF2B5EF4-FFF2-40B4-BE49-F238E27FC236}">
                <a16:creationId xmlns:a16="http://schemas.microsoft.com/office/drawing/2014/main" id="{8B60E6A4-A24B-973B-E743-0C552E19384B}"/>
              </a:ext>
            </a:extLst>
          </p:cNvPr>
          <p:cNvCxnSpPr>
            <a:cxnSpLocks/>
          </p:cNvCxnSpPr>
          <p:nvPr/>
        </p:nvCxnSpPr>
        <p:spPr>
          <a:xfrm flipH="1" flipV="1">
            <a:off x="6090124" y="6310861"/>
            <a:ext cx="5112000" cy="0"/>
          </a:xfrm>
          <a:prstGeom prst="line">
            <a:avLst/>
          </a:prstGeom>
          <a:noFill/>
          <a:ln w="12700" cap="flat" cmpd="sng" algn="ctr">
            <a:solidFill>
              <a:srgbClr val="595959"/>
            </a:solidFill>
            <a:prstDash val="solid"/>
            <a:miter lim="800000"/>
          </a:ln>
          <a:effectLst/>
        </p:spPr>
      </p:cxnSp>
      <p:sp>
        <p:nvSpPr>
          <p:cNvPr id="89" name="CuadroTexto 88">
            <a:extLst>
              <a:ext uri="{FF2B5EF4-FFF2-40B4-BE49-F238E27FC236}">
                <a16:creationId xmlns:a16="http://schemas.microsoft.com/office/drawing/2014/main" id="{9AD3F9F8-1F81-B256-D3AF-B1ADB0416C0E}"/>
              </a:ext>
            </a:extLst>
          </p:cNvPr>
          <p:cNvSpPr txBox="1"/>
          <p:nvPr/>
        </p:nvSpPr>
        <p:spPr>
          <a:xfrm>
            <a:off x="2292308" y="4667614"/>
            <a:ext cx="3658438" cy="261616"/>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R="0" lvl="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lang="en-US" sz="1200" i="1">
                <a:solidFill>
                  <a:srgbClr val="DEEDF1">
                    <a:lumMod val="25000"/>
                  </a:srgbClr>
                </a:solidFill>
                <a:latin typeface="Santander Text" panose="020B0504020201020104" pitchFamily="34" charset="0"/>
              </a:rPr>
              <a:t>State engine framework for lite workflows.</a:t>
            </a:r>
          </a:p>
        </p:txBody>
      </p:sp>
      <p:sp>
        <p:nvSpPr>
          <p:cNvPr id="90" name="Rectángulo 89">
            <a:extLst>
              <a:ext uri="{FF2B5EF4-FFF2-40B4-BE49-F238E27FC236}">
                <a16:creationId xmlns:a16="http://schemas.microsoft.com/office/drawing/2014/main" id="{0C032B3A-6CEC-874A-14DA-EAEF229E14E1}"/>
              </a:ext>
            </a:extLst>
          </p:cNvPr>
          <p:cNvSpPr/>
          <p:nvPr/>
        </p:nvSpPr>
        <p:spPr>
          <a:xfrm>
            <a:off x="6155458" y="2414368"/>
            <a:ext cx="1440000" cy="399018"/>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spcAft>
                <a:spcPts val="600"/>
              </a:spcAft>
            </a:pPr>
            <a:r>
              <a:rPr lang="en-AU" sz="1400" kern="0">
                <a:solidFill>
                  <a:srgbClr val="DEEDF1">
                    <a:lumMod val="25000"/>
                  </a:srgbClr>
                </a:solidFill>
              </a:rPr>
              <a:t>Connectors</a:t>
            </a:r>
          </a:p>
        </p:txBody>
      </p:sp>
      <p:cxnSp>
        <p:nvCxnSpPr>
          <p:cNvPr id="91" name="Conector recto 90">
            <a:extLst>
              <a:ext uri="{FF2B5EF4-FFF2-40B4-BE49-F238E27FC236}">
                <a16:creationId xmlns:a16="http://schemas.microsoft.com/office/drawing/2014/main" id="{6B28F8C1-47F3-0FEB-8752-52313FFF1361}"/>
              </a:ext>
            </a:extLst>
          </p:cNvPr>
          <p:cNvCxnSpPr>
            <a:cxnSpLocks/>
          </p:cNvCxnSpPr>
          <p:nvPr/>
        </p:nvCxnSpPr>
        <p:spPr>
          <a:xfrm flipH="1" flipV="1">
            <a:off x="6090124" y="2325213"/>
            <a:ext cx="5112000" cy="0"/>
          </a:xfrm>
          <a:prstGeom prst="line">
            <a:avLst/>
          </a:prstGeom>
          <a:noFill/>
          <a:ln w="12700" cap="flat" cmpd="sng" algn="ctr">
            <a:solidFill>
              <a:srgbClr val="595959"/>
            </a:solidFill>
            <a:prstDash val="solid"/>
            <a:miter lim="800000"/>
          </a:ln>
          <a:effectLst/>
        </p:spPr>
      </p:cxnSp>
      <p:sp>
        <p:nvSpPr>
          <p:cNvPr id="92" name="CuadroTexto 91">
            <a:extLst>
              <a:ext uri="{FF2B5EF4-FFF2-40B4-BE49-F238E27FC236}">
                <a16:creationId xmlns:a16="http://schemas.microsoft.com/office/drawing/2014/main" id="{65703B1F-AABF-FA2C-A1ED-34411436CDD2}"/>
              </a:ext>
            </a:extLst>
          </p:cNvPr>
          <p:cNvSpPr txBox="1"/>
          <p:nvPr/>
        </p:nvSpPr>
        <p:spPr>
          <a:xfrm>
            <a:off x="7749020" y="2433841"/>
            <a:ext cx="4306845" cy="268290"/>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spcBef>
                <a:spcPts val="0"/>
              </a:spcBef>
              <a:buClr>
                <a:srgbClr val="FF0000"/>
              </a:buClr>
              <a:buFont typeface="Wingdings" panose="05000000000000000000" pitchFamily="2" charset="2"/>
              <a:buChar char="§"/>
              <a:defRPr/>
            </a:pPr>
            <a:r>
              <a:rPr lang="en-GB" sz="1200" i="1">
                <a:solidFill>
                  <a:srgbClr val="DEEDF1">
                    <a:lumMod val="25000"/>
                  </a:srgbClr>
                </a:solidFill>
                <a:latin typeface="Santander Text" panose="020B0504020201020104" pitchFamily="34" charset="0"/>
              </a:rPr>
              <a:t>Facilitates the integration and communication between systems.</a:t>
            </a:r>
          </a:p>
          <a:p>
            <a:pPr marR="0" lvl="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endParaRPr lang="en-US" kern="0">
              <a:solidFill>
                <a:prstClr val="black"/>
              </a:solidFill>
              <a:latin typeface="Santander Text"/>
            </a:endParaRPr>
          </a:p>
        </p:txBody>
      </p:sp>
    </p:spTree>
    <p:extLst>
      <p:ext uri="{BB962C8B-B14F-4D97-AF65-F5344CB8AC3E}">
        <p14:creationId xmlns:p14="http://schemas.microsoft.com/office/powerpoint/2010/main" val="1465873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0674B-7AE3-C162-F4C4-4F31B0065EA4}"/>
            </a:ext>
          </a:extLst>
        </p:cNvPr>
        <p:cNvGrpSpPr/>
        <p:nvPr/>
      </p:nvGrpSpPr>
      <p:grpSpPr>
        <a:xfrm>
          <a:off x="0" y="0"/>
          <a:ext cx="0" cy="0"/>
          <a:chOff x="0" y="0"/>
          <a:chExt cx="0" cy="0"/>
        </a:xfrm>
      </p:grpSpPr>
      <p:sp>
        <p:nvSpPr>
          <p:cNvPr id="17" name="Text Placeholder 2">
            <a:extLst>
              <a:ext uri="{FF2B5EF4-FFF2-40B4-BE49-F238E27FC236}">
                <a16:creationId xmlns:a16="http://schemas.microsoft.com/office/drawing/2014/main" id="{8AEF3DCE-39D6-1934-21C8-7157988F36B7}"/>
              </a:ext>
            </a:extLst>
          </p:cNvPr>
          <p:cNvSpPr>
            <a:spLocks noGrp="1"/>
          </p:cNvSpPr>
          <p:nvPr>
            <p:ph type="body" sz="quarter" idx="14"/>
          </p:nvPr>
        </p:nvSpPr>
        <p:spPr>
          <a:xfrm>
            <a:off x="711024" y="337100"/>
            <a:ext cx="10758734" cy="304800"/>
          </a:xfrm>
        </p:spPr>
        <p:txBody>
          <a:bodyPr/>
          <a:lstStyle/>
          <a:p>
            <a:r>
              <a:rPr lang="en-GB" b="0" dirty="0">
                <a:solidFill>
                  <a:schemeClr val="bg1">
                    <a:lumMod val="75000"/>
                  </a:schemeClr>
                </a:solidFill>
                <a:latin typeface="Santander Text" panose="020B0504020201020104" pitchFamily="34" charset="0"/>
              </a:rPr>
              <a:t>Platform Governance &amp; SD</a:t>
            </a:r>
          </a:p>
        </p:txBody>
      </p:sp>
      <p:sp>
        <p:nvSpPr>
          <p:cNvPr id="19" name="Rectángulo 18">
            <a:extLst>
              <a:ext uri="{FF2B5EF4-FFF2-40B4-BE49-F238E27FC236}">
                <a16:creationId xmlns:a16="http://schemas.microsoft.com/office/drawing/2014/main" id="{49A9B732-E71C-D42F-ABB0-262D7E8C87DB}"/>
              </a:ext>
            </a:extLst>
          </p:cNvPr>
          <p:cNvSpPr/>
          <p:nvPr/>
        </p:nvSpPr>
        <p:spPr>
          <a:xfrm>
            <a:off x="820752" y="2221084"/>
            <a:ext cx="1440000" cy="540000"/>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spcAft>
                <a:spcPts val="600"/>
              </a:spcAft>
            </a:pPr>
            <a:r>
              <a:rPr lang="en-AU" sz="1400" kern="0">
                <a:solidFill>
                  <a:srgbClr val="DEEDF1">
                    <a:lumMod val="25000"/>
                  </a:srgbClr>
                </a:solidFill>
              </a:rPr>
              <a:t>Automation</a:t>
            </a:r>
          </a:p>
        </p:txBody>
      </p:sp>
      <p:sp>
        <p:nvSpPr>
          <p:cNvPr id="21" name="CuadroTexto 20">
            <a:extLst>
              <a:ext uri="{FF2B5EF4-FFF2-40B4-BE49-F238E27FC236}">
                <a16:creationId xmlns:a16="http://schemas.microsoft.com/office/drawing/2014/main" id="{08D0FE85-B7CD-2692-EAB9-4B40F64F4D28}"/>
              </a:ext>
            </a:extLst>
          </p:cNvPr>
          <p:cNvSpPr txBox="1"/>
          <p:nvPr/>
        </p:nvSpPr>
        <p:spPr>
          <a:xfrm>
            <a:off x="684798" y="1128886"/>
            <a:ext cx="11117058" cy="807913"/>
          </a:xfrm>
          <a:prstGeom prst="rect">
            <a:avLst/>
          </a:prstGeom>
          <a:noFill/>
        </p:spPr>
        <p:txBody>
          <a:bodyPr wrap="square" rtlCol="0">
            <a:spAutoFit/>
          </a:bodyPr>
          <a:lstStyle/>
          <a:p>
            <a:pPr marL="355600" indent="-355600">
              <a:spcAft>
                <a:spcPts val="300"/>
              </a:spcAft>
              <a:defRPr/>
            </a:pPr>
            <a:r>
              <a:rPr kumimoji="0" lang="en-AU" sz="1600" b="1" i="0" u="none" strike="noStrike" kern="0" cap="none" spc="0" normalizeH="0" baseline="0" noProof="0" dirty="0">
                <a:ln>
                  <a:noFill/>
                </a:ln>
                <a:solidFill>
                  <a:srgbClr val="DEEDF1">
                    <a:lumMod val="25000"/>
                  </a:srgbClr>
                </a:solidFill>
                <a:effectLst/>
                <a:uLnTx/>
                <a:uFillTx/>
                <a:latin typeface="Santander Text" panose="020B0504020201020104" pitchFamily="34" charset="0"/>
                <a:ea typeface="+mn-ea"/>
                <a:cs typeface="+mn-cs"/>
              </a:rPr>
              <a:t>2 – </a:t>
            </a:r>
            <a:r>
              <a:rPr lang="en-AU" sz="1600" b="1" kern="0" dirty="0">
                <a:solidFill>
                  <a:srgbClr val="DEEDF1">
                    <a:lumMod val="25000"/>
                  </a:srgbClr>
                </a:solidFill>
                <a:latin typeface="Santander Text" panose="020B0504020201020104" pitchFamily="34" charset="0"/>
              </a:rPr>
              <a:t>Process Automation</a:t>
            </a:r>
            <a:endParaRPr kumimoji="0" lang="en-AU" sz="1600" b="1" i="0" u="none" strike="noStrike" kern="0" cap="none" spc="0" normalizeH="0" baseline="0" noProof="0" dirty="0">
              <a:ln>
                <a:noFill/>
              </a:ln>
              <a:solidFill>
                <a:srgbClr val="DEEDF1">
                  <a:lumMod val="25000"/>
                </a:srgbClr>
              </a:solidFill>
              <a:effectLst/>
              <a:uLnTx/>
              <a:uFillTx/>
              <a:latin typeface="Santander Text" panose="020B0504020201020104" pitchFamily="34" charset="0"/>
              <a:ea typeface="+mn-ea"/>
              <a:cs typeface="+mn-cs"/>
            </a:endParaRPr>
          </a:p>
          <a:p>
            <a:pPr marL="7938" indent="-7938">
              <a:spcAft>
                <a:spcPts val="300"/>
              </a:spcAft>
              <a:defRPr/>
            </a:pPr>
            <a:r>
              <a:rPr kumimoji="0" lang="en-US" sz="1400" b="0" i="1" u="none" strike="noStrike" kern="0" cap="none" spc="0" normalizeH="0" baseline="0" noProof="0" dirty="0">
                <a:ln>
                  <a:noFill/>
                </a:ln>
                <a:solidFill>
                  <a:srgbClr val="DEEDF1">
                    <a:lumMod val="25000"/>
                  </a:srgbClr>
                </a:solidFill>
                <a:effectLst/>
                <a:uLnTx/>
                <a:uFillTx/>
                <a:latin typeface="Santander Text" panose="020B0504020201020104" pitchFamily="34" charset="0"/>
                <a:ea typeface="+mn-ea"/>
                <a:cs typeface="+mn-cs"/>
              </a:rPr>
              <a:t>Responsible to normalize provide access and the automation capabilities for all processes. Integrates with Data Platform to expose AI models to processes </a:t>
            </a:r>
          </a:p>
        </p:txBody>
      </p:sp>
      <p:cxnSp>
        <p:nvCxnSpPr>
          <p:cNvPr id="22" name="Conector recto 21">
            <a:extLst>
              <a:ext uri="{FF2B5EF4-FFF2-40B4-BE49-F238E27FC236}">
                <a16:creationId xmlns:a16="http://schemas.microsoft.com/office/drawing/2014/main" id="{54200664-99DE-AECA-98C8-E38E96F420CE}"/>
              </a:ext>
            </a:extLst>
          </p:cNvPr>
          <p:cNvCxnSpPr>
            <a:cxnSpLocks/>
          </p:cNvCxnSpPr>
          <p:nvPr/>
        </p:nvCxnSpPr>
        <p:spPr>
          <a:xfrm flipH="1" flipV="1">
            <a:off x="820752" y="2070941"/>
            <a:ext cx="5112000" cy="0"/>
          </a:xfrm>
          <a:prstGeom prst="line">
            <a:avLst/>
          </a:prstGeom>
          <a:noFill/>
          <a:ln w="12700" cap="flat" cmpd="sng" algn="ctr">
            <a:solidFill>
              <a:srgbClr val="595959"/>
            </a:solidFill>
            <a:prstDash val="solid"/>
            <a:miter lim="800000"/>
          </a:ln>
          <a:effectLst/>
        </p:spPr>
      </p:cxnSp>
      <p:sp>
        <p:nvSpPr>
          <p:cNvPr id="23" name="CuadroTexto 22">
            <a:extLst>
              <a:ext uri="{FF2B5EF4-FFF2-40B4-BE49-F238E27FC236}">
                <a16:creationId xmlns:a16="http://schemas.microsoft.com/office/drawing/2014/main" id="{24572210-BFE6-BB60-E935-AA05297C2775}"/>
              </a:ext>
            </a:extLst>
          </p:cNvPr>
          <p:cNvSpPr txBox="1"/>
          <p:nvPr/>
        </p:nvSpPr>
        <p:spPr>
          <a:xfrm>
            <a:off x="2386998" y="2306383"/>
            <a:ext cx="3658438" cy="909402"/>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spcBef>
                <a:spcPts val="0"/>
              </a:spcBef>
              <a:buClr>
                <a:srgbClr val="FF0000"/>
              </a:buClr>
              <a:buFont typeface="Wingdings" panose="05000000000000000000" pitchFamily="2" charset="2"/>
              <a:buChar char="§"/>
              <a:defRPr/>
            </a:pPr>
            <a:r>
              <a:rPr lang="en-GB" sz="1200" i="1" kern="0">
                <a:solidFill>
                  <a:srgbClr val="DEEDF1">
                    <a:lumMod val="25000"/>
                  </a:srgbClr>
                </a:solidFill>
                <a:latin typeface="Santander Text" panose="020B0504020201020104" pitchFamily="34" charset="0"/>
              </a:rPr>
              <a:t>Design the automation that is going to be executed</a:t>
            </a:r>
          </a:p>
          <a:p>
            <a:pPr marR="0" lvl="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endParaRPr lang="en-US" kern="0">
              <a:solidFill>
                <a:prstClr val="black"/>
              </a:solidFill>
              <a:latin typeface="Santander Text"/>
            </a:endParaRPr>
          </a:p>
        </p:txBody>
      </p:sp>
      <p:sp>
        <p:nvSpPr>
          <p:cNvPr id="13" name="Título 1">
            <a:extLst>
              <a:ext uri="{FF2B5EF4-FFF2-40B4-BE49-F238E27FC236}">
                <a16:creationId xmlns:a16="http://schemas.microsoft.com/office/drawing/2014/main" id="{68B8657F-6B77-F460-8278-EDB35CDAA8F6}"/>
              </a:ext>
            </a:extLst>
          </p:cNvPr>
          <p:cNvSpPr txBox="1">
            <a:spLocks/>
          </p:cNvSpPr>
          <p:nvPr/>
        </p:nvSpPr>
        <p:spPr>
          <a:xfrm>
            <a:off x="607951" y="642144"/>
            <a:ext cx="10758733" cy="836992"/>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lang="en-US" sz="2800" b="1" kern="1200" dirty="0">
                <a:solidFill>
                  <a:schemeClr val="accent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s-ES" sz="2800" b="1" i="0" u="none" strike="noStrike" kern="1200" cap="none" spc="0" normalizeH="0" baseline="0" noProof="0">
                <a:ln>
                  <a:noFill/>
                </a:ln>
                <a:solidFill>
                  <a:srgbClr val="EB0000"/>
                </a:solidFill>
                <a:effectLst/>
                <a:uLnTx/>
                <a:uFillTx/>
                <a:ea typeface="+mj-ea"/>
                <a:cs typeface="+mj-cs"/>
              </a:rPr>
              <a:t>Global </a:t>
            </a:r>
            <a:r>
              <a:rPr kumimoji="0" lang="es-ES" sz="2800" b="1" i="0" u="none" strike="noStrike" kern="1200" cap="none" spc="0" normalizeH="0" baseline="0" noProof="0" err="1">
                <a:ln>
                  <a:noFill/>
                </a:ln>
                <a:solidFill>
                  <a:srgbClr val="EB0000"/>
                </a:solidFill>
                <a:effectLst/>
                <a:uLnTx/>
                <a:uFillTx/>
                <a:ea typeface="+mj-ea"/>
                <a:cs typeface="+mj-cs"/>
              </a:rPr>
              <a:t>Technology</a:t>
            </a:r>
            <a:r>
              <a:rPr kumimoji="0" lang="es-ES" sz="2800" b="1" i="0" u="none" strike="noStrike" kern="1200" cap="none" spc="0" normalizeH="0" baseline="0" noProof="0">
                <a:ln>
                  <a:noFill/>
                </a:ln>
                <a:solidFill>
                  <a:srgbClr val="EB0000"/>
                </a:solidFill>
                <a:effectLst/>
                <a:uLnTx/>
                <a:uFillTx/>
                <a:ea typeface="+mj-ea"/>
                <a:cs typeface="+mj-cs"/>
              </a:rPr>
              <a:t>. </a:t>
            </a:r>
            <a:r>
              <a:rPr lang="es-ES" err="1">
                <a:solidFill>
                  <a:schemeClr val="bg1">
                    <a:lumMod val="75000"/>
                  </a:schemeClr>
                </a:solidFill>
              </a:rPr>
              <a:t>Processes</a:t>
            </a:r>
            <a:r>
              <a:rPr lang="es-ES">
                <a:solidFill>
                  <a:schemeClr val="bg1">
                    <a:lumMod val="75000"/>
                  </a:schemeClr>
                </a:solidFill>
              </a:rPr>
              <a:t>. </a:t>
            </a:r>
          </a:p>
        </p:txBody>
      </p:sp>
    </p:spTree>
    <p:extLst>
      <p:ext uri="{BB962C8B-B14F-4D97-AF65-F5344CB8AC3E}">
        <p14:creationId xmlns:p14="http://schemas.microsoft.com/office/powerpoint/2010/main" val="4189862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2">
            <a:extLst>
              <a:ext uri="{FF2B5EF4-FFF2-40B4-BE49-F238E27FC236}">
                <a16:creationId xmlns:a16="http://schemas.microsoft.com/office/drawing/2014/main" id="{C5F67029-F219-FC96-7D6C-5F6C446E76B2}"/>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15" name="Rectángulo 14">
            <a:extLst>
              <a:ext uri="{FF2B5EF4-FFF2-40B4-BE49-F238E27FC236}">
                <a16:creationId xmlns:a16="http://schemas.microsoft.com/office/drawing/2014/main" id="{532E11D7-B060-9FE8-9DBC-290E6C96DE16}"/>
              </a:ext>
            </a:extLst>
          </p:cNvPr>
          <p:cNvSpPr/>
          <p:nvPr/>
        </p:nvSpPr>
        <p:spPr>
          <a:xfrm>
            <a:off x="711024" y="3201415"/>
            <a:ext cx="1440000" cy="540000"/>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AU" sz="1400" kern="0">
                <a:solidFill>
                  <a:srgbClr val="DEEDF1">
                    <a:lumMod val="25000"/>
                  </a:srgbClr>
                </a:solidFill>
              </a:rPr>
              <a:t>Manual Validation</a:t>
            </a:r>
            <a:endParaRPr kumimoji="0" lang="en-AU" sz="1400" b="0" i="0" u="none" strike="noStrike" kern="0" cap="none" spc="0" normalizeH="0" baseline="0" noProof="0">
              <a:ln>
                <a:noFill/>
              </a:ln>
              <a:solidFill>
                <a:srgbClr val="DEEDF1">
                  <a:lumMod val="25000"/>
                </a:srgbClr>
              </a:solidFill>
              <a:effectLst/>
              <a:uLnTx/>
              <a:uFillTx/>
              <a:ea typeface="+mn-ea"/>
              <a:cs typeface="+mn-cs"/>
            </a:endParaRPr>
          </a:p>
        </p:txBody>
      </p:sp>
      <p:sp>
        <p:nvSpPr>
          <p:cNvPr id="18" name="Rectángulo 17">
            <a:extLst>
              <a:ext uri="{FF2B5EF4-FFF2-40B4-BE49-F238E27FC236}">
                <a16:creationId xmlns:a16="http://schemas.microsoft.com/office/drawing/2014/main" id="{1BB5F719-890D-38E1-45DB-8EAA38B16BA1}"/>
              </a:ext>
            </a:extLst>
          </p:cNvPr>
          <p:cNvSpPr/>
          <p:nvPr/>
        </p:nvSpPr>
        <p:spPr>
          <a:xfrm>
            <a:off x="711024" y="4011152"/>
            <a:ext cx="1440000" cy="891320"/>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ea typeface="+mn-ea"/>
                <a:cs typeface="+mn-cs"/>
              </a:rPr>
              <a:t>Mobile Scan</a:t>
            </a:r>
          </a:p>
        </p:txBody>
      </p:sp>
      <p:sp>
        <p:nvSpPr>
          <p:cNvPr id="19" name="Rectángulo 18">
            <a:extLst>
              <a:ext uri="{FF2B5EF4-FFF2-40B4-BE49-F238E27FC236}">
                <a16:creationId xmlns:a16="http://schemas.microsoft.com/office/drawing/2014/main" id="{81107006-DEAA-61FE-5DFA-9A97FCDB224A}"/>
              </a:ext>
            </a:extLst>
          </p:cNvPr>
          <p:cNvSpPr/>
          <p:nvPr/>
        </p:nvSpPr>
        <p:spPr>
          <a:xfrm>
            <a:off x="711024" y="2216018"/>
            <a:ext cx="1440000" cy="540000"/>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spcAft>
                <a:spcPts val="600"/>
              </a:spcAft>
            </a:pPr>
            <a:r>
              <a:rPr lang="en-AU" sz="1400" kern="0">
                <a:solidFill>
                  <a:srgbClr val="DEEDF1">
                    <a:lumMod val="25000"/>
                  </a:srgbClr>
                </a:solidFill>
              </a:rPr>
              <a:t>IDP Broker</a:t>
            </a:r>
          </a:p>
        </p:txBody>
      </p:sp>
      <p:sp>
        <p:nvSpPr>
          <p:cNvPr id="21" name="CuadroTexto 20">
            <a:extLst>
              <a:ext uri="{FF2B5EF4-FFF2-40B4-BE49-F238E27FC236}">
                <a16:creationId xmlns:a16="http://schemas.microsoft.com/office/drawing/2014/main" id="{521604CC-F7C4-A23D-26ED-6006C261FAEE}"/>
              </a:ext>
            </a:extLst>
          </p:cNvPr>
          <p:cNvSpPr txBox="1"/>
          <p:nvPr/>
        </p:nvSpPr>
        <p:spPr>
          <a:xfrm>
            <a:off x="684798" y="1128886"/>
            <a:ext cx="10605040" cy="807913"/>
          </a:xfrm>
          <a:prstGeom prst="rect">
            <a:avLst/>
          </a:prstGeom>
          <a:noFill/>
        </p:spPr>
        <p:txBody>
          <a:bodyPr wrap="square" rtlCol="0">
            <a:spAutoFit/>
          </a:bodyPr>
          <a:lstStyle/>
          <a:p>
            <a:pPr marL="355600" indent="-355600">
              <a:spcAft>
                <a:spcPts val="300"/>
              </a:spcAft>
              <a:defRPr/>
            </a:pPr>
            <a:r>
              <a:rPr lang="en-AU" sz="1600" b="1" kern="0">
                <a:solidFill>
                  <a:srgbClr val="DEEDF1">
                    <a:lumMod val="25000"/>
                  </a:srgbClr>
                </a:solidFill>
                <a:latin typeface="Santander Text" panose="020B0504020201020104" pitchFamily="34" charset="0"/>
              </a:rPr>
              <a:t>3</a:t>
            </a:r>
            <a:r>
              <a:rPr kumimoji="0" lang="en-AU"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 – </a:t>
            </a:r>
            <a:r>
              <a:rPr lang="en-AU" sz="1600" b="1" kern="0">
                <a:solidFill>
                  <a:srgbClr val="DEEDF1">
                    <a:lumMod val="25000"/>
                  </a:srgbClr>
                </a:solidFill>
                <a:latin typeface="Santander Text" panose="020B0504020201020104" pitchFamily="34" charset="0"/>
              </a:rPr>
              <a:t>Intelligent Document Processing (IDP)</a:t>
            </a:r>
            <a:endParaRPr kumimoji="0" lang="en-AU"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endParaRPr>
          </a:p>
          <a:p>
            <a:pPr marL="7938" indent="-7938">
              <a:spcAft>
                <a:spcPts val="300"/>
              </a:spcAft>
              <a:defRPr/>
            </a:pPr>
            <a:r>
              <a:rPr kumimoji="0" lang="en-US" sz="1400" b="0" i="1"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Document Digitalization Systems in charge of receive and scan business and customer documents in order to store them into repositories and, at the same time extract data and use it to classify those documents</a:t>
            </a:r>
          </a:p>
        </p:txBody>
      </p:sp>
      <p:cxnSp>
        <p:nvCxnSpPr>
          <p:cNvPr id="22" name="Conector recto 21">
            <a:extLst>
              <a:ext uri="{FF2B5EF4-FFF2-40B4-BE49-F238E27FC236}">
                <a16:creationId xmlns:a16="http://schemas.microsoft.com/office/drawing/2014/main" id="{95D3203A-A6F6-8622-675E-1B6CCD9AB872}"/>
              </a:ext>
            </a:extLst>
          </p:cNvPr>
          <p:cNvCxnSpPr>
            <a:cxnSpLocks/>
          </p:cNvCxnSpPr>
          <p:nvPr/>
        </p:nvCxnSpPr>
        <p:spPr>
          <a:xfrm flipH="1" flipV="1">
            <a:off x="711024" y="1933750"/>
            <a:ext cx="5112000" cy="0"/>
          </a:xfrm>
          <a:prstGeom prst="line">
            <a:avLst/>
          </a:prstGeom>
          <a:noFill/>
          <a:ln w="12700" cap="flat" cmpd="sng" algn="ctr">
            <a:solidFill>
              <a:srgbClr val="595959"/>
            </a:solidFill>
            <a:prstDash val="solid"/>
            <a:miter lim="800000"/>
          </a:ln>
          <a:effectLst/>
        </p:spPr>
      </p:cxnSp>
      <p:sp>
        <p:nvSpPr>
          <p:cNvPr id="23" name="CuadroTexto 22">
            <a:extLst>
              <a:ext uri="{FF2B5EF4-FFF2-40B4-BE49-F238E27FC236}">
                <a16:creationId xmlns:a16="http://schemas.microsoft.com/office/drawing/2014/main" id="{D0DF7234-D303-7B43-9FFE-366CABE65C67}"/>
              </a:ext>
            </a:extLst>
          </p:cNvPr>
          <p:cNvSpPr txBox="1"/>
          <p:nvPr/>
        </p:nvSpPr>
        <p:spPr>
          <a:xfrm>
            <a:off x="2192764" y="2079282"/>
            <a:ext cx="3658438" cy="909402"/>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R="0" lvl="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lang="en-US" kern="0">
                <a:solidFill>
                  <a:prstClr val="black"/>
                </a:solidFill>
                <a:latin typeface="Santander Text"/>
              </a:rPr>
              <a:t>Centralizes access to </a:t>
            </a:r>
            <a:r>
              <a:rPr lang="en-US" kern="0" err="1">
                <a:solidFill>
                  <a:prstClr val="black"/>
                </a:solidFill>
                <a:latin typeface="Santander Text"/>
              </a:rPr>
              <a:t>idp</a:t>
            </a:r>
            <a:r>
              <a:rPr lang="en-US" kern="0">
                <a:solidFill>
                  <a:prstClr val="black"/>
                </a:solidFill>
                <a:latin typeface="Santander Text"/>
              </a:rPr>
              <a:t> models or solutions, directing the task to the indicated provider according to the document's taxonomy</a:t>
            </a:r>
          </a:p>
        </p:txBody>
      </p:sp>
      <p:cxnSp>
        <p:nvCxnSpPr>
          <p:cNvPr id="24" name="Conector recto 23">
            <a:extLst>
              <a:ext uri="{FF2B5EF4-FFF2-40B4-BE49-F238E27FC236}">
                <a16:creationId xmlns:a16="http://schemas.microsoft.com/office/drawing/2014/main" id="{8FB168E4-4482-3337-ECA4-1613C78248BE}"/>
              </a:ext>
            </a:extLst>
          </p:cNvPr>
          <p:cNvCxnSpPr>
            <a:cxnSpLocks/>
          </p:cNvCxnSpPr>
          <p:nvPr/>
        </p:nvCxnSpPr>
        <p:spPr>
          <a:xfrm flipH="1" flipV="1">
            <a:off x="684799" y="3060921"/>
            <a:ext cx="5112000" cy="0"/>
          </a:xfrm>
          <a:prstGeom prst="line">
            <a:avLst/>
          </a:prstGeom>
          <a:noFill/>
          <a:ln w="12700" cap="flat" cmpd="sng" algn="ctr">
            <a:solidFill>
              <a:schemeClr val="bg1">
                <a:lumMod val="85000"/>
              </a:schemeClr>
            </a:solidFill>
            <a:prstDash val="solid"/>
            <a:miter lim="800000"/>
          </a:ln>
          <a:effectLst/>
        </p:spPr>
      </p:cxnSp>
      <p:sp>
        <p:nvSpPr>
          <p:cNvPr id="26" name="CuadroTexto 25">
            <a:extLst>
              <a:ext uri="{FF2B5EF4-FFF2-40B4-BE49-F238E27FC236}">
                <a16:creationId xmlns:a16="http://schemas.microsoft.com/office/drawing/2014/main" id="{6D26BBC5-3876-5692-5E14-58110D472B80}"/>
              </a:ext>
            </a:extLst>
          </p:cNvPr>
          <p:cNvSpPr txBox="1"/>
          <p:nvPr/>
        </p:nvSpPr>
        <p:spPr>
          <a:xfrm>
            <a:off x="2192764" y="3105231"/>
            <a:ext cx="3630260" cy="646331"/>
          </a:xfrm>
          <a:prstGeom prst="rect">
            <a:avLst/>
          </a:prstGeom>
          <a:noFill/>
        </p:spPr>
        <p:txBody>
          <a:bodyPr wrap="square">
            <a:spAutoFit/>
          </a:bodyPr>
          <a:lstStyle/>
          <a:p>
            <a:pPr marL="180000" indent="-180000">
              <a:buClr>
                <a:srgbClr val="FF0000"/>
              </a:buClr>
              <a:buFont typeface="Wingdings" panose="05000000000000000000" pitchFamily="2" charset="2"/>
              <a:buChar char="§"/>
              <a:defRPr/>
            </a:pPr>
            <a:r>
              <a:rPr kumimoji="0" lang="en-US" sz="1200" i="0" u="none" strike="noStrike" kern="0" cap="none" spc="0" normalizeH="0" baseline="0" noProof="0">
                <a:ln>
                  <a:noFill/>
                </a:ln>
                <a:solidFill>
                  <a:prstClr val="black"/>
                </a:solidFill>
                <a:effectLst/>
                <a:uLnTx/>
                <a:uFillTx/>
                <a:latin typeface="Santander Text"/>
                <a:ea typeface="+mn-ea"/>
                <a:cs typeface="+mn-cs"/>
              </a:rPr>
              <a:t>Allows a user to validate or correct the extracted data, modifying its value in the corresponding fields</a:t>
            </a:r>
          </a:p>
        </p:txBody>
      </p:sp>
      <p:cxnSp>
        <p:nvCxnSpPr>
          <p:cNvPr id="27" name="Conector recto 26">
            <a:extLst>
              <a:ext uri="{FF2B5EF4-FFF2-40B4-BE49-F238E27FC236}">
                <a16:creationId xmlns:a16="http://schemas.microsoft.com/office/drawing/2014/main" id="{70843F3A-A2BD-26FA-4872-61326913BCF4}"/>
              </a:ext>
            </a:extLst>
          </p:cNvPr>
          <p:cNvCxnSpPr>
            <a:cxnSpLocks/>
          </p:cNvCxnSpPr>
          <p:nvPr/>
        </p:nvCxnSpPr>
        <p:spPr>
          <a:xfrm flipH="1" flipV="1">
            <a:off x="684799" y="3965161"/>
            <a:ext cx="5112000" cy="0"/>
          </a:xfrm>
          <a:prstGeom prst="line">
            <a:avLst/>
          </a:prstGeom>
          <a:noFill/>
          <a:ln w="12700" cap="flat" cmpd="sng" algn="ctr">
            <a:solidFill>
              <a:schemeClr val="bg1">
                <a:lumMod val="85000"/>
              </a:schemeClr>
            </a:solidFill>
            <a:prstDash val="solid"/>
            <a:miter lim="800000"/>
          </a:ln>
          <a:effectLst/>
        </p:spPr>
      </p:cxnSp>
      <p:sp>
        <p:nvSpPr>
          <p:cNvPr id="34" name="CuadroTexto 33">
            <a:extLst>
              <a:ext uri="{FF2B5EF4-FFF2-40B4-BE49-F238E27FC236}">
                <a16:creationId xmlns:a16="http://schemas.microsoft.com/office/drawing/2014/main" id="{F2599503-9F52-81AF-B186-BA0272476971}"/>
              </a:ext>
            </a:extLst>
          </p:cNvPr>
          <p:cNvSpPr txBox="1"/>
          <p:nvPr/>
        </p:nvSpPr>
        <p:spPr>
          <a:xfrm>
            <a:off x="7724562" y="2127252"/>
            <a:ext cx="3745858" cy="726625"/>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spcBef>
                <a:spcPts val="0"/>
              </a:spcBef>
              <a:buClr>
                <a:srgbClr val="FF0000"/>
              </a:buClr>
              <a:buFont typeface="Wingdings" panose="05000000000000000000" pitchFamily="2" charset="2"/>
              <a:buChar char="§"/>
              <a:defRPr/>
            </a:pPr>
            <a:r>
              <a:rPr kumimoji="0" lang="en-US" sz="1200" i="0" u="none" strike="noStrike" kern="0" cap="none" spc="0" normalizeH="0" baseline="0" noProof="0">
                <a:ln>
                  <a:noFill/>
                </a:ln>
                <a:solidFill>
                  <a:prstClr val="black"/>
                </a:solidFill>
                <a:effectLst/>
                <a:uLnTx/>
                <a:uFillTx/>
                <a:latin typeface="Santander Text"/>
                <a:ea typeface="+mn-ea"/>
                <a:cs typeface="+mn-cs"/>
              </a:rPr>
              <a:t>Analyzes and detects viruses in a file and isolates it in special storage if it is positive</a:t>
            </a:r>
          </a:p>
        </p:txBody>
      </p:sp>
      <p:cxnSp>
        <p:nvCxnSpPr>
          <p:cNvPr id="35" name="Conector recto 34">
            <a:extLst>
              <a:ext uri="{FF2B5EF4-FFF2-40B4-BE49-F238E27FC236}">
                <a16:creationId xmlns:a16="http://schemas.microsoft.com/office/drawing/2014/main" id="{898D6A82-26BF-1216-98A7-D746061A9797}"/>
              </a:ext>
            </a:extLst>
          </p:cNvPr>
          <p:cNvCxnSpPr>
            <a:cxnSpLocks/>
          </p:cNvCxnSpPr>
          <p:nvPr/>
        </p:nvCxnSpPr>
        <p:spPr>
          <a:xfrm flipH="1" flipV="1">
            <a:off x="6177838" y="3066999"/>
            <a:ext cx="5112000" cy="0"/>
          </a:xfrm>
          <a:prstGeom prst="line">
            <a:avLst/>
          </a:prstGeom>
          <a:noFill/>
          <a:ln w="12700" cap="flat" cmpd="sng" algn="ctr">
            <a:solidFill>
              <a:schemeClr val="bg1">
                <a:lumMod val="85000"/>
              </a:schemeClr>
            </a:solidFill>
            <a:prstDash val="solid"/>
            <a:miter lim="800000"/>
          </a:ln>
          <a:effectLst/>
        </p:spPr>
      </p:cxnSp>
      <p:cxnSp>
        <p:nvCxnSpPr>
          <p:cNvPr id="37" name="Conector recto 36">
            <a:extLst>
              <a:ext uri="{FF2B5EF4-FFF2-40B4-BE49-F238E27FC236}">
                <a16:creationId xmlns:a16="http://schemas.microsoft.com/office/drawing/2014/main" id="{75EE2D35-D8CD-EDA1-C9D7-DFC8B538DC98}"/>
              </a:ext>
            </a:extLst>
          </p:cNvPr>
          <p:cNvCxnSpPr>
            <a:cxnSpLocks/>
          </p:cNvCxnSpPr>
          <p:nvPr/>
        </p:nvCxnSpPr>
        <p:spPr>
          <a:xfrm flipH="1" flipV="1">
            <a:off x="6177838" y="3965161"/>
            <a:ext cx="5112000" cy="0"/>
          </a:xfrm>
          <a:prstGeom prst="line">
            <a:avLst/>
          </a:prstGeom>
          <a:noFill/>
          <a:ln w="12700" cap="flat" cmpd="sng" algn="ctr">
            <a:solidFill>
              <a:schemeClr val="bg1">
                <a:lumMod val="85000"/>
              </a:schemeClr>
            </a:solidFill>
            <a:prstDash val="solid"/>
            <a:miter lim="800000"/>
          </a:ln>
          <a:effectLst/>
        </p:spPr>
      </p:cxnSp>
      <p:sp>
        <p:nvSpPr>
          <p:cNvPr id="38" name="Rectángulo 37">
            <a:extLst>
              <a:ext uri="{FF2B5EF4-FFF2-40B4-BE49-F238E27FC236}">
                <a16:creationId xmlns:a16="http://schemas.microsoft.com/office/drawing/2014/main" id="{997B093E-02C2-D040-644C-66CEEEEDD09A}"/>
              </a:ext>
            </a:extLst>
          </p:cNvPr>
          <p:cNvSpPr/>
          <p:nvPr/>
        </p:nvSpPr>
        <p:spPr>
          <a:xfrm>
            <a:off x="6186095" y="2218132"/>
            <a:ext cx="1440000" cy="540000"/>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spcAft>
                <a:spcPts val="600"/>
              </a:spcAft>
            </a:pPr>
            <a:r>
              <a:rPr lang="en-AU" sz="1400" kern="0">
                <a:solidFill>
                  <a:srgbClr val="DEEDF1">
                    <a:lumMod val="25000"/>
                  </a:srgbClr>
                </a:solidFill>
              </a:rPr>
              <a:t>Object Checker</a:t>
            </a:r>
          </a:p>
        </p:txBody>
      </p:sp>
      <p:sp>
        <p:nvSpPr>
          <p:cNvPr id="39" name="Rectángulo 38">
            <a:extLst>
              <a:ext uri="{FF2B5EF4-FFF2-40B4-BE49-F238E27FC236}">
                <a16:creationId xmlns:a16="http://schemas.microsoft.com/office/drawing/2014/main" id="{766A0797-9B2C-B806-C250-4BE67C33781B}"/>
              </a:ext>
            </a:extLst>
          </p:cNvPr>
          <p:cNvSpPr/>
          <p:nvPr/>
        </p:nvSpPr>
        <p:spPr>
          <a:xfrm>
            <a:off x="6186095" y="3195659"/>
            <a:ext cx="1440000" cy="540000"/>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r>
              <a:rPr lang="en-AU" sz="1400" kern="0">
                <a:solidFill>
                  <a:srgbClr val="001B39"/>
                </a:solidFill>
                <a:latin typeface="Santander Text"/>
              </a:rPr>
              <a:t>AI Engines</a:t>
            </a:r>
          </a:p>
        </p:txBody>
      </p:sp>
      <p:sp>
        <p:nvSpPr>
          <p:cNvPr id="41" name="Rectángulo 40">
            <a:extLst>
              <a:ext uri="{FF2B5EF4-FFF2-40B4-BE49-F238E27FC236}">
                <a16:creationId xmlns:a16="http://schemas.microsoft.com/office/drawing/2014/main" id="{DB61560B-FBBA-0FD6-F576-7F34B3F1DAD3}"/>
              </a:ext>
            </a:extLst>
          </p:cNvPr>
          <p:cNvSpPr/>
          <p:nvPr/>
        </p:nvSpPr>
        <p:spPr>
          <a:xfrm>
            <a:off x="6186095" y="4184979"/>
            <a:ext cx="1440000" cy="540000"/>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spcAft>
                <a:spcPts val="600"/>
              </a:spcAft>
            </a:pPr>
            <a:r>
              <a:rPr lang="en-AU" sz="1400" kern="0">
                <a:solidFill>
                  <a:srgbClr val="DEEDF1">
                    <a:lumMod val="25000"/>
                  </a:srgbClr>
                </a:solidFill>
              </a:rPr>
              <a:t>MFD Configuration</a:t>
            </a:r>
          </a:p>
        </p:txBody>
      </p:sp>
      <p:sp>
        <p:nvSpPr>
          <p:cNvPr id="46" name="CuadroTexto 45">
            <a:extLst>
              <a:ext uri="{FF2B5EF4-FFF2-40B4-BE49-F238E27FC236}">
                <a16:creationId xmlns:a16="http://schemas.microsoft.com/office/drawing/2014/main" id="{8758E097-F9AB-2AA3-8D87-80D5165DD659}"/>
              </a:ext>
            </a:extLst>
          </p:cNvPr>
          <p:cNvSpPr txBox="1"/>
          <p:nvPr/>
        </p:nvSpPr>
        <p:spPr>
          <a:xfrm>
            <a:off x="2192764" y="4149011"/>
            <a:ext cx="3630260" cy="461665"/>
          </a:xfrm>
          <a:prstGeom prst="rect">
            <a:avLst/>
          </a:prstGeom>
          <a:noFill/>
        </p:spPr>
        <p:txBody>
          <a:bodyPr wrap="square">
            <a:spAutoFit/>
          </a:bodyPr>
          <a:lstStyle/>
          <a:p>
            <a:pPr marL="180000" indent="-180000">
              <a:buClr>
                <a:srgbClr val="FF0000"/>
              </a:buClr>
              <a:buFont typeface="Wingdings" panose="05000000000000000000" pitchFamily="2" charset="2"/>
              <a:buChar char="§"/>
              <a:defRPr/>
            </a:pPr>
            <a:r>
              <a:rPr lang="en-US" sz="1200"/>
              <a:t>Software component for digitalization on mobile devices (iOS and Android)</a:t>
            </a:r>
            <a:endParaRPr lang="es-ES" sz="1200" kern="0">
              <a:solidFill>
                <a:prstClr val="black"/>
              </a:solidFill>
              <a:latin typeface="Santander Text"/>
            </a:endParaRPr>
          </a:p>
        </p:txBody>
      </p:sp>
      <p:sp>
        <p:nvSpPr>
          <p:cNvPr id="7" name="CuadroTexto 6">
            <a:extLst>
              <a:ext uri="{FF2B5EF4-FFF2-40B4-BE49-F238E27FC236}">
                <a16:creationId xmlns:a16="http://schemas.microsoft.com/office/drawing/2014/main" id="{FBF08F85-B5ED-CB5C-0258-9220A68A032E}"/>
              </a:ext>
            </a:extLst>
          </p:cNvPr>
          <p:cNvSpPr txBox="1"/>
          <p:nvPr/>
        </p:nvSpPr>
        <p:spPr>
          <a:xfrm>
            <a:off x="7724562" y="3153953"/>
            <a:ext cx="3745858" cy="726625"/>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spcBef>
                <a:spcPts val="0"/>
              </a:spcBef>
              <a:buClr>
                <a:srgbClr val="FF0000"/>
              </a:buClr>
              <a:buFont typeface="Wingdings" panose="05000000000000000000" pitchFamily="2" charset="2"/>
              <a:buChar char="§"/>
              <a:defRPr/>
            </a:pPr>
            <a:r>
              <a:rPr kumimoji="0" lang="en-US" sz="1200" i="0" u="none" strike="noStrike" kern="0" cap="none" spc="0" normalizeH="0" baseline="0" noProof="0">
                <a:ln>
                  <a:noFill/>
                </a:ln>
                <a:solidFill>
                  <a:prstClr val="black"/>
                </a:solidFill>
                <a:effectLst/>
                <a:uLnTx/>
                <a:uFillTx/>
                <a:latin typeface="Santander Text"/>
                <a:ea typeface="+mn-ea"/>
                <a:cs typeface="+mn-cs"/>
              </a:rPr>
              <a:t>Models and tools specialized in interpreting and extracting data from documents</a:t>
            </a:r>
          </a:p>
          <a:p>
            <a:pPr marL="0" indent="0">
              <a:spcBef>
                <a:spcPts val="0"/>
              </a:spcBef>
              <a:buClr>
                <a:srgbClr val="FF0000"/>
              </a:buClr>
              <a:buNone/>
              <a:defRPr/>
            </a:pPr>
            <a:endParaRPr kumimoji="0" lang="en-US" sz="1200" i="0" u="none" strike="noStrike" kern="0" cap="none" spc="0" normalizeH="0" baseline="0" noProof="0">
              <a:ln>
                <a:noFill/>
              </a:ln>
              <a:solidFill>
                <a:prstClr val="black"/>
              </a:solidFill>
              <a:effectLst/>
              <a:uLnTx/>
              <a:uFillTx/>
              <a:latin typeface="Santander Text"/>
              <a:ea typeface="+mn-ea"/>
              <a:cs typeface="+mn-cs"/>
            </a:endParaRPr>
          </a:p>
        </p:txBody>
      </p:sp>
      <p:sp>
        <p:nvSpPr>
          <p:cNvPr id="8" name="CuadroTexto 7">
            <a:extLst>
              <a:ext uri="{FF2B5EF4-FFF2-40B4-BE49-F238E27FC236}">
                <a16:creationId xmlns:a16="http://schemas.microsoft.com/office/drawing/2014/main" id="{03A21378-78A7-84C7-6E94-47CD8762BE8B}"/>
              </a:ext>
            </a:extLst>
          </p:cNvPr>
          <p:cNvSpPr txBox="1"/>
          <p:nvPr/>
        </p:nvSpPr>
        <p:spPr>
          <a:xfrm>
            <a:off x="7724562" y="4109378"/>
            <a:ext cx="3745858" cy="726625"/>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spcBef>
                <a:spcPts val="0"/>
              </a:spcBef>
              <a:buClr>
                <a:srgbClr val="FF0000"/>
              </a:buClr>
              <a:buFont typeface="Wingdings" panose="05000000000000000000" pitchFamily="2" charset="2"/>
              <a:buChar char="§"/>
              <a:defRPr/>
            </a:pPr>
            <a:r>
              <a:rPr kumimoji="0" lang="en-US" sz="1200" i="0" u="none" strike="noStrike" kern="0" cap="none" spc="0" normalizeH="0" baseline="0" noProof="0">
                <a:ln>
                  <a:noFill/>
                </a:ln>
                <a:solidFill>
                  <a:prstClr val="black"/>
                </a:solidFill>
                <a:effectLst/>
                <a:uLnTx/>
                <a:uFillTx/>
                <a:latin typeface="Santander Text"/>
                <a:ea typeface="+mn-ea"/>
                <a:cs typeface="+mn-cs"/>
              </a:rPr>
              <a:t>Multi Functional Device digitalization software component to be used in branches &amp; BackOffice</a:t>
            </a:r>
          </a:p>
        </p:txBody>
      </p:sp>
      <p:sp>
        <p:nvSpPr>
          <p:cNvPr id="13" name="Título 1">
            <a:extLst>
              <a:ext uri="{FF2B5EF4-FFF2-40B4-BE49-F238E27FC236}">
                <a16:creationId xmlns:a16="http://schemas.microsoft.com/office/drawing/2014/main" id="{EE8B9690-D0BC-6474-4A10-83D3CC376CB2}"/>
              </a:ext>
            </a:extLst>
          </p:cNvPr>
          <p:cNvSpPr txBox="1">
            <a:spLocks/>
          </p:cNvSpPr>
          <p:nvPr/>
        </p:nvSpPr>
        <p:spPr>
          <a:xfrm>
            <a:off x="607951" y="642144"/>
            <a:ext cx="10758733" cy="836992"/>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lang="en-US" sz="2800" b="1" kern="1200" dirty="0">
                <a:solidFill>
                  <a:schemeClr val="accent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s-ES" sz="2800" b="1" i="0" u="none" strike="noStrike" kern="1200" cap="none" spc="0" normalizeH="0" baseline="0" noProof="0">
                <a:ln>
                  <a:noFill/>
                </a:ln>
                <a:solidFill>
                  <a:srgbClr val="EB0000"/>
                </a:solidFill>
                <a:effectLst/>
                <a:uLnTx/>
                <a:uFillTx/>
                <a:ea typeface="+mj-ea"/>
                <a:cs typeface="+mj-cs"/>
              </a:rPr>
              <a:t>Global Technology. </a:t>
            </a:r>
            <a:r>
              <a:rPr lang="es-ES">
                <a:solidFill>
                  <a:schemeClr val="bg1">
                    <a:lumMod val="75000"/>
                  </a:schemeClr>
                </a:solidFill>
              </a:rPr>
              <a:t>Processes </a:t>
            </a:r>
          </a:p>
        </p:txBody>
      </p:sp>
    </p:spTree>
    <p:extLst>
      <p:ext uri="{BB962C8B-B14F-4D97-AF65-F5344CB8AC3E}">
        <p14:creationId xmlns:p14="http://schemas.microsoft.com/office/powerpoint/2010/main" val="2202358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2">
            <a:extLst>
              <a:ext uri="{FF2B5EF4-FFF2-40B4-BE49-F238E27FC236}">
                <a16:creationId xmlns:a16="http://schemas.microsoft.com/office/drawing/2014/main" id="{C5F67029-F219-FC96-7D6C-5F6C446E76B2}"/>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15" name="Rectángulo 14">
            <a:extLst>
              <a:ext uri="{FF2B5EF4-FFF2-40B4-BE49-F238E27FC236}">
                <a16:creationId xmlns:a16="http://schemas.microsoft.com/office/drawing/2014/main" id="{532E11D7-B060-9FE8-9DBC-290E6C96DE16}"/>
              </a:ext>
            </a:extLst>
          </p:cNvPr>
          <p:cNvSpPr/>
          <p:nvPr/>
        </p:nvSpPr>
        <p:spPr>
          <a:xfrm>
            <a:off x="711024" y="3201415"/>
            <a:ext cx="1440000" cy="540000"/>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AU" sz="1400" kern="0">
                <a:solidFill>
                  <a:srgbClr val="DEEDF1">
                    <a:lumMod val="25000"/>
                  </a:srgbClr>
                </a:solidFill>
              </a:rPr>
              <a:t>Digital Signature File</a:t>
            </a:r>
            <a:endParaRPr kumimoji="0" lang="en-AU" sz="1400" b="0" i="0" u="none" strike="noStrike" kern="0" cap="none" spc="0" normalizeH="0" baseline="0" noProof="0">
              <a:ln>
                <a:noFill/>
              </a:ln>
              <a:solidFill>
                <a:srgbClr val="DEEDF1">
                  <a:lumMod val="25000"/>
                </a:srgbClr>
              </a:solidFill>
              <a:effectLst/>
              <a:uLnTx/>
              <a:uFillTx/>
              <a:ea typeface="+mn-ea"/>
              <a:cs typeface="+mn-cs"/>
            </a:endParaRPr>
          </a:p>
        </p:txBody>
      </p:sp>
      <p:sp>
        <p:nvSpPr>
          <p:cNvPr id="18" name="Rectángulo 17">
            <a:extLst>
              <a:ext uri="{FF2B5EF4-FFF2-40B4-BE49-F238E27FC236}">
                <a16:creationId xmlns:a16="http://schemas.microsoft.com/office/drawing/2014/main" id="{1BB5F719-890D-38E1-45DB-8EAA38B16BA1}"/>
              </a:ext>
            </a:extLst>
          </p:cNvPr>
          <p:cNvSpPr/>
          <p:nvPr/>
        </p:nvSpPr>
        <p:spPr>
          <a:xfrm>
            <a:off x="711024" y="4011152"/>
            <a:ext cx="1440000" cy="891320"/>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ea typeface="+mn-ea"/>
                <a:cs typeface="+mn-cs"/>
              </a:rPr>
              <a:t>Document Exchange</a:t>
            </a:r>
          </a:p>
        </p:txBody>
      </p:sp>
      <p:sp>
        <p:nvSpPr>
          <p:cNvPr id="19" name="Rectángulo 18">
            <a:extLst>
              <a:ext uri="{FF2B5EF4-FFF2-40B4-BE49-F238E27FC236}">
                <a16:creationId xmlns:a16="http://schemas.microsoft.com/office/drawing/2014/main" id="{81107006-DEAA-61FE-5DFA-9A97FCDB224A}"/>
              </a:ext>
            </a:extLst>
          </p:cNvPr>
          <p:cNvSpPr/>
          <p:nvPr/>
        </p:nvSpPr>
        <p:spPr>
          <a:xfrm>
            <a:off x="711024" y="2216018"/>
            <a:ext cx="1440000" cy="540000"/>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spcAft>
                <a:spcPts val="600"/>
              </a:spcAft>
            </a:pPr>
            <a:r>
              <a:rPr lang="en-AU" sz="1400" kern="0">
                <a:solidFill>
                  <a:srgbClr val="DEEDF1">
                    <a:lumMod val="25000"/>
                  </a:srgbClr>
                </a:solidFill>
              </a:rPr>
              <a:t>Documentary File</a:t>
            </a:r>
          </a:p>
        </p:txBody>
      </p:sp>
      <p:sp>
        <p:nvSpPr>
          <p:cNvPr id="21" name="CuadroTexto 20">
            <a:extLst>
              <a:ext uri="{FF2B5EF4-FFF2-40B4-BE49-F238E27FC236}">
                <a16:creationId xmlns:a16="http://schemas.microsoft.com/office/drawing/2014/main" id="{521604CC-F7C4-A23D-26ED-6006C261FAEE}"/>
              </a:ext>
            </a:extLst>
          </p:cNvPr>
          <p:cNvSpPr txBox="1"/>
          <p:nvPr/>
        </p:nvSpPr>
        <p:spPr>
          <a:xfrm>
            <a:off x="684798" y="1128886"/>
            <a:ext cx="10605040" cy="807913"/>
          </a:xfrm>
          <a:prstGeom prst="rect">
            <a:avLst/>
          </a:prstGeom>
          <a:noFill/>
        </p:spPr>
        <p:txBody>
          <a:bodyPr wrap="square" rtlCol="0">
            <a:spAutoFit/>
          </a:bodyPr>
          <a:lstStyle/>
          <a:p>
            <a:pPr marL="355600" indent="-355600">
              <a:spcAft>
                <a:spcPts val="300"/>
              </a:spcAft>
              <a:defRPr/>
            </a:pPr>
            <a:r>
              <a:rPr lang="en-AU" sz="1600" b="1" kern="0">
                <a:solidFill>
                  <a:srgbClr val="DEEDF1">
                    <a:lumMod val="25000"/>
                  </a:srgbClr>
                </a:solidFill>
                <a:latin typeface="Santander Text" panose="020B0504020201020104" pitchFamily="34" charset="0"/>
              </a:rPr>
              <a:t>4</a:t>
            </a:r>
            <a:r>
              <a:rPr kumimoji="0" lang="en-AU"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 – </a:t>
            </a:r>
            <a:r>
              <a:rPr lang="en-AU" sz="1600" b="1" kern="0">
                <a:solidFill>
                  <a:srgbClr val="DEEDF1">
                    <a:lumMod val="25000"/>
                  </a:srgbClr>
                </a:solidFill>
                <a:latin typeface="Santander Text" panose="020B0504020201020104" pitchFamily="34" charset="0"/>
              </a:rPr>
              <a:t>Document Management Systems (DMS)</a:t>
            </a:r>
            <a:endParaRPr kumimoji="0" lang="en-AU"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endParaRPr>
          </a:p>
          <a:p>
            <a:pPr marL="7938" indent="-7938">
              <a:spcAft>
                <a:spcPts val="300"/>
              </a:spcAft>
              <a:defRPr/>
            </a:pPr>
            <a:r>
              <a:rPr kumimoji="0" lang="en-US" sz="1400" b="0" i="1"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Document repositories in charge of storing and preserving classified documents as well as providing services and interfaces to allow users and applications to access and retrieve those documents</a:t>
            </a:r>
          </a:p>
        </p:txBody>
      </p:sp>
      <p:cxnSp>
        <p:nvCxnSpPr>
          <p:cNvPr id="22" name="Conector recto 21">
            <a:extLst>
              <a:ext uri="{FF2B5EF4-FFF2-40B4-BE49-F238E27FC236}">
                <a16:creationId xmlns:a16="http://schemas.microsoft.com/office/drawing/2014/main" id="{95D3203A-A6F6-8622-675E-1B6CCD9AB872}"/>
              </a:ext>
            </a:extLst>
          </p:cNvPr>
          <p:cNvCxnSpPr>
            <a:cxnSpLocks/>
          </p:cNvCxnSpPr>
          <p:nvPr/>
        </p:nvCxnSpPr>
        <p:spPr>
          <a:xfrm flipH="1" flipV="1">
            <a:off x="711024" y="1933750"/>
            <a:ext cx="5112000" cy="0"/>
          </a:xfrm>
          <a:prstGeom prst="line">
            <a:avLst/>
          </a:prstGeom>
          <a:noFill/>
          <a:ln w="12700" cap="flat" cmpd="sng" algn="ctr">
            <a:solidFill>
              <a:srgbClr val="595959"/>
            </a:solidFill>
            <a:prstDash val="solid"/>
            <a:miter lim="800000"/>
          </a:ln>
          <a:effectLst/>
        </p:spPr>
      </p:cxnSp>
      <p:sp>
        <p:nvSpPr>
          <p:cNvPr id="23" name="CuadroTexto 22">
            <a:extLst>
              <a:ext uri="{FF2B5EF4-FFF2-40B4-BE49-F238E27FC236}">
                <a16:creationId xmlns:a16="http://schemas.microsoft.com/office/drawing/2014/main" id="{D0DF7234-D303-7B43-9FFE-366CABE65C67}"/>
              </a:ext>
            </a:extLst>
          </p:cNvPr>
          <p:cNvSpPr txBox="1"/>
          <p:nvPr/>
        </p:nvSpPr>
        <p:spPr>
          <a:xfrm>
            <a:off x="2192764" y="2079282"/>
            <a:ext cx="3658438" cy="909402"/>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R="0" lvl="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lang="en-US" kern="0">
                <a:solidFill>
                  <a:prstClr val="black"/>
                </a:solidFill>
                <a:latin typeface="Santander Text"/>
              </a:rPr>
              <a:t>Manages documents requested to Customer according to Business Process definition (includes request &amp; processing)</a:t>
            </a:r>
          </a:p>
        </p:txBody>
      </p:sp>
      <p:cxnSp>
        <p:nvCxnSpPr>
          <p:cNvPr id="24" name="Conector recto 23">
            <a:extLst>
              <a:ext uri="{FF2B5EF4-FFF2-40B4-BE49-F238E27FC236}">
                <a16:creationId xmlns:a16="http://schemas.microsoft.com/office/drawing/2014/main" id="{8FB168E4-4482-3337-ECA4-1613C78248BE}"/>
              </a:ext>
            </a:extLst>
          </p:cNvPr>
          <p:cNvCxnSpPr>
            <a:cxnSpLocks/>
          </p:cNvCxnSpPr>
          <p:nvPr/>
        </p:nvCxnSpPr>
        <p:spPr>
          <a:xfrm flipH="1" flipV="1">
            <a:off x="684799" y="3060921"/>
            <a:ext cx="5112000" cy="0"/>
          </a:xfrm>
          <a:prstGeom prst="line">
            <a:avLst/>
          </a:prstGeom>
          <a:noFill/>
          <a:ln w="12700" cap="flat" cmpd="sng" algn="ctr">
            <a:solidFill>
              <a:schemeClr val="bg1">
                <a:lumMod val="85000"/>
              </a:schemeClr>
            </a:solidFill>
            <a:prstDash val="solid"/>
            <a:miter lim="800000"/>
          </a:ln>
          <a:effectLst/>
        </p:spPr>
      </p:cxnSp>
      <p:sp>
        <p:nvSpPr>
          <p:cNvPr id="26" name="CuadroTexto 25">
            <a:extLst>
              <a:ext uri="{FF2B5EF4-FFF2-40B4-BE49-F238E27FC236}">
                <a16:creationId xmlns:a16="http://schemas.microsoft.com/office/drawing/2014/main" id="{6D26BBC5-3876-5692-5E14-58110D472B80}"/>
              </a:ext>
            </a:extLst>
          </p:cNvPr>
          <p:cNvSpPr txBox="1"/>
          <p:nvPr/>
        </p:nvSpPr>
        <p:spPr>
          <a:xfrm>
            <a:off x="2192764" y="3105231"/>
            <a:ext cx="3630260" cy="646331"/>
          </a:xfrm>
          <a:prstGeom prst="rect">
            <a:avLst/>
          </a:prstGeom>
          <a:noFill/>
        </p:spPr>
        <p:txBody>
          <a:bodyPr wrap="square">
            <a:spAutoFit/>
          </a:bodyPr>
          <a:lstStyle/>
          <a:p>
            <a:pPr marL="180000" indent="-180000">
              <a:buClr>
                <a:srgbClr val="FF0000"/>
              </a:buClr>
              <a:buFont typeface="Wingdings" panose="05000000000000000000" pitchFamily="2" charset="2"/>
              <a:buChar char="§"/>
              <a:defRPr/>
            </a:pPr>
            <a:r>
              <a:rPr kumimoji="0" lang="en-US" sz="1200" i="0" u="none" strike="noStrike" kern="0" cap="none" spc="0" normalizeH="0" baseline="0" noProof="0">
                <a:ln>
                  <a:noFill/>
                </a:ln>
                <a:solidFill>
                  <a:prstClr val="black"/>
                </a:solidFill>
                <a:effectLst/>
                <a:uLnTx/>
                <a:uFillTx/>
                <a:latin typeface="Santander Text"/>
                <a:ea typeface="+mn-ea"/>
                <a:cs typeface="+mn-cs"/>
              </a:rPr>
              <a:t>Generates Bank documents and manages Customer signatures for these documents according to Business Process definition</a:t>
            </a:r>
          </a:p>
        </p:txBody>
      </p:sp>
      <p:cxnSp>
        <p:nvCxnSpPr>
          <p:cNvPr id="27" name="Conector recto 26">
            <a:extLst>
              <a:ext uri="{FF2B5EF4-FFF2-40B4-BE49-F238E27FC236}">
                <a16:creationId xmlns:a16="http://schemas.microsoft.com/office/drawing/2014/main" id="{70843F3A-A2BD-26FA-4872-61326913BCF4}"/>
              </a:ext>
            </a:extLst>
          </p:cNvPr>
          <p:cNvCxnSpPr>
            <a:cxnSpLocks/>
          </p:cNvCxnSpPr>
          <p:nvPr/>
        </p:nvCxnSpPr>
        <p:spPr>
          <a:xfrm flipH="1" flipV="1">
            <a:off x="684799" y="3965161"/>
            <a:ext cx="5112000" cy="0"/>
          </a:xfrm>
          <a:prstGeom prst="line">
            <a:avLst/>
          </a:prstGeom>
          <a:noFill/>
          <a:ln w="12700" cap="flat" cmpd="sng" algn="ctr">
            <a:solidFill>
              <a:schemeClr val="bg1">
                <a:lumMod val="85000"/>
              </a:schemeClr>
            </a:solidFill>
            <a:prstDash val="solid"/>
            <a:miter lim="800000"/>
          </a:ln>
          <a:effectLst/>
        </p:spPr>
      </p:cxnSp>
      <p:sp>
        <p:nvSpPr>
          <p:cNvPr id="34" name="CuadroTexto 33">
            <a:extLst>
              <a:ext uri="{FF2B5EF4-FFF2-40B4-BE49-F238E27FC236}">
                <a16:creationId xmlns:a16="http://schemas.microsoft.com/office/drawing/2014/main" id="{F2599503-9F52-81AF-B186-BA0272476971}"/>
              </a:ext>
            </a:extLst>
          </p:cNvPr>
          <p:cNvSpPr txBox="1"/>
          <p:nvPr/>
        </p:nvSpPr>
        <p:spPr>
          <a:xfrm>
            <a:off x="7724562" y="2127252"/>
            <a:ext cx="3745858" cy="726625"/>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spcBef>
                <a:spcPts val="0"/>
              </a:spcBef>
              <a:buClr>
                <a:srgbClr val="FF0000"/>
              </a:buClr>
              <a:buFont typeface="Wingdings" panose="05000000000000000000" pitchFamily="2" charset="2"/>
              <a:buChar char="§"/>
              <a:defRPr/>
            </a:pPr>
            <a:r>
              <a:rPr kumimoji="0" lang="en-US" sz="1200" i="0" u="none" strike="noStrike" kern="0" cap="none" spc="0" normalizeH="0" baseline="0" noProof="0">
                <a:ln>
                  <a:noFill/>
                </a:ln>
                <a:solidFill>
                  <a:prstClr val="black"/>
                </a:solidFill>
                <a:effectLst/>
                <a:uLnTx/>
                <a:uFillTx/>
                <a:latin typeface="Santander Text"/>
                <a:ea typeface="+mn-ea"/>
                <a:cs typeface="+mn-cs"/>
              </a:rPr>
              <a:t>Searches and visualizes any document stored in Document Repository for Agents and Backoffice teams</a:t>
            </a:r>
          </a:p>
        </p:txBody>
      </p:sp>
      <p:cxnSp>
        <p:nvCxnSpPr>
          <p:cNvPr id="35" name="Conector recto 34">
            <a:extLst>
              <a:ext uri="{FF2B5EF4-FFF2-40B4-BE49-F238E27FC236}">
                <a16:creationId xmlns:a16="http://schemas.microsoft.com/office/drawing/2014/main" id="{898D6A82-26BF-1216-98A7-D746061A9797}"/>
              </a:ext>
            </a:extLst>
          </p:cNvPr>
          <p:cNvCxnSpPr>
            <a:cxnSpLocks/>
          </p:cNvCxnSpPr>
          <p:nvPr/>
        </p:nvCxnSpPr>
        <p:spPr>
          <a:xfrm flipH="1" flipV="1">
            <a:off x="6177838" y="3066999"/>
            <a:ext cx="5112000" cy="0"/>
          </a:xfrm>
          <a:prstGeom prst="line">
            <a:avLst/>
          </a:prstGeom>
          <a:noFill/>
          <a:ln w="12700" cap="flat" cmpd="sng" algn="ctr">
            <a:solidFill>
              <a:schemeClr val="bg1">
                <a:lumMod val="85000"/>
              </a:schemeClr>
            </a:solidFill>
            <a:prstDash val="solid"/>
            <a:miter lim="800000"/>
          </a:ln>
          <a:effectLst/>
        </p:spPr>
      </p:cxnSp>
      <p:cxnSp>
        <p:nvCxnSpPr>
          <p:cNvPr id="37" name="Conector recto 36">
            <a:extLst>
              <a:ext uri="{FF2B5EF4-FFF2-40B4-BE49-F238E27FC236}">
                <a16:creationId xmlns:a16="http://schemas.microsoft.com/office/drawing/2014/main" id="{75EE2D35-D8CD-EDA1-C9D7-DFC8B538DC98}"/>
              </a:ext>
            </a:extLst>
          </p:cNvPr>
          <p:cNvCxnSpPr>
            <a:cxnSpLocks/>
          </p:cNvCxnSpPr>
          <p:nvPr/>
        </p:nvCxnSpPr>
        <p:spPr>
          <a:xfrm flipH="1" flipV="1">
            <a:off x="6177838" y="3965161"/>
            <a:ext cx="5112000" cy="0"/>
          </a:xfrm>
          <a:prstGeom prst="line">
            <a:avLst/>
          </a:prstGeom>
          <a:noFill/>
          <a:ln w="12700" cap="flat" cmpd="sng" algn="ctr">
            <a:solidFill>
              <a:schemeClr val="bg1">
                <a:lumMod val="85000"/>
              </a:schemeClr>
            </a:solidFill>
            <a:prstDash val="solid"/>
            <a:miter lim="800000"/>
          </a:ln>
          <a:effectLst/>
        </p:spPr>
      </p:cxnSp>
      <p:sp>
        <p:nvSpPr>
          <p:cNvPr id="38" name="Rectángulo 37">
            <a:extLst>
              <a:ext uri="{FF2B5EF4-FFF2-40B4-BE49-F238E27FC236}">
                <a16:creationId xmlns:a16="http://schemas.microsoft.com/office/drawing/2014/main" id="{997B093E-02C2-D040-644C-66CEEEEDD09A}"/>
              </a:ext>
            </a:extLst>
          </p:cNvPr>
          <p:cNvSpPr/>
          <p:nvPr/>
        </p:nvSpPr>
        <p:spPr>
          <a:xfrm>
            <a:off x="6186095" y="2218132"/>
            <a:ext cx="1440000" cy="540000"/>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spcAft>
                <a:spcPts val="600"/>
              </a:spcAft>
            </a:pPr>
            <a:r>
              <a:rPr lang="en-AU" sz="1400" kern="0">
                <a:solidFill>
                  <a:srgbClr val="DEEDF1">
                    <a:lumMod val="25000"/>
                  </a:srgbClr>
                </a:solidFill>
              </a:rPr>
              <a:t>Document Viewer</a:t>
            </a:r>
          </a:p>
        </p:txBody>
      </p:sp>
      <p:sp>
        <p:nvSpPr>
          <p:cNvPr id="39" name="Rectángulo 38">
            <a:extLst>
              <a:ext uri="{FF2B5EF4-FFF2-40B4-BE49-F238E27FC236}">
                <a16:creationId xmlns:a16="http://schemas.microsoft.com/office/drawing/2014/main" id="{766A0797-9B2C-B806-C250-4BE67C33781B}"/>
              </a:ext>
            </a:extLst>
          </p:cNvPr>
          <p:cNvSpPr/>
          <p:nvPr/>
        </p:nvSpPr>
        <p:spPr>
          <a:xfrm>
            <a:off x="6186095" y="3195659"/>
            <a:ext cx="1440000" cy="540000"/>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spcAft>
                <a:spcPts val="600"/>
              </a:spcAft>
            </a:pPr>
            <a:r>
              <a:rPr lang="en-AU" sz="1400" kern="0">
                <a:solidFill>
                  <a:srgbClr val="DEEDF1">
                    <a:lumMod val="25000"/>
                  </a:srgbClr>
                </a:solidFill>
              </a:rPr>
              <a:t>Online Request</a:t>
            </a:r>
          </a:p>
        </p:txBody>
      </p:sp>
      <p:sp>
        <p:nvSpPr>
          <p:cNvPr id="41" name="Rectángulo 40">
            <a:extLst>
              <a:ext uri="{FF2B5EF4-FFF2-40B4-BE49-F238E27FC236}">
                <a16:creationId xmlns:a16="http://schemas.microsoft.com/office/drawing/2014/main" id="{DB61560B-FBBA-0FD6-F576-7F34B3F1DAD3}"/>
              </a:ext>
            </a:extLst>
          </p:cNvPr>
          <p:cNvSpPr/>
          <p:nvPr/>
        </p:nvSpPr>
        <p:spPr>
          <a:xfrm>
            <a:off x="6186095" y="4184979"/>
            <a:ext cx="1440000" cy="540000"/>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spcAft>
                <a:spcPts val="600"/>
              </a:spcAft>
            </a:pPr>
            <a:r>
              <a:rPr lang="en-AU" sz="1400" kern="0">
                <a:solidFill>
                  <a:srgbClr val="DEEDF1">
                    <a:lumMod val="25000"/>
                  </a:srgbClr>
                </a:solidFill>
              </a:rPr>
              <a:t>Massive Processing</a:t>
            </a:r>
          </a:p>
        </p:txBody>
      </p:sp>
      <p:sp>
        <p:nvSpPr>
          <p:cNvPr id="46" name="CuadroTexto 45">
            <a:extLst>
              <a:ext uri="{FF2B5EF4-FFF2-40B4-BE49-F238E27FC236}">
                <a16:creationId xmlns:a16="http://schemas.microsoft.com/office/drawing/2014/main" id="{8758E097-F9AB-2AA3-8D87-80D5165DD659}"/>
              </a:ext>
            </a:extLst>
          </p:cNvPr>
          <p:cNvSpPr txBox="1"/>
          <p:nvPr/>
        </p:nvSpPr>
        <p:spPr>
          <a:xfrm>
            <a:off x="2192764" y="4149011"/>
            <a:ext cx="3630260" cy="646331"/>
          </a:xfrm>
          <a:prstGeom prst="rect">
            <a:avLst/>
          </a:prstGeom>
          <a:noFill/>
        </p:spPr>
        <p:txBody>
          <a:bodyPr wrap="square">
            <a:spAutoFit/>
          </a:bodyPr>
          <a:lstStyle/>
          <a:p>
            <a:pPr marL="180000" indent="-180000">
              <a:buClr>
                <a:srgbClr val="FF0000"/>
              </a:buClr>
              <a:buFont typeface="Wingdings" panose="05000000000000000000" pitchFamily="2" charset="2"/>
              <a:buChar char="§"/>
              <a:defRPr/>
            </a:pPr>
            <a:r>
              <a:rPr lang="en-US" sz="1200"/>
              <a:t>Space through digital touchpoints where Customer can upload and exchange documents with the Bank</a:t>
            </a:r>
          </a:p>
        </p:txBody>
      </p:sp>
      <p:sp>
        <p:nvSpPr>
          <p:cNvPr id="7" name="CuadroTexto 6">
            <a:extLst>
              <a:ext uri="{FF2B5EF4-FFF2-40B4-BE49-F238E27FC236}">
                <a16:creationId xmlns:a16="http://schemas.microsoft.com/office/drawing/2014/main" id="{FBF08F85-B5ED-CB5C-0258-9220A68A032E}"/>
              </a:ext>
            </a:extLst>
          </p:cNvPr>
          <p:cNvSpPr txBox="1"/>
          <p:nvPr/>
        </p:nvSpPr>
        <p:spPr>
          <a:xfrm>
            <a:off x="7724562" y="3153953"/>
            <a:ext cx="3745858" cy="726625"/>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spcBef>
                <a:spcPts val="0"/>
              </a:spcBef>
              <a:buClr>
                <a:srgbClr val="FF0000"/>
              </a:buClr>
              <a:buFont typeface="Wingdings" panose="05000000000000000000" pitchFamily="2" charset="2"/>
              <a:buChar char="§"/>
              <a:defRPr/>
            </a:pPr>
            <a:r>
              <a:rPr kumimoji="0" lang="en-US" sz="1200" i="0" u="none" strike="noStrike" kern="0" cap="none" spc="0" normalizeH="0" baseline="0" noProof="0">
                <a:ln>
                  <a:noFill/>
                </a:ln>
                <a:solidFill>
                  <a:prstClr val="black"/>
                </a:solidFill>
                <a:effectLst/>
                <a:uLnTx/>
                <a:uFillTx/>
                <a:latin typeface="Santander Text"/>
                <a:ea typeface="+mn-ea"/>
                <a:cs typeface="+mn-cs"/>
              </a:rPr>
              <a:t>API to provide synchronous online individual CRUD (Create/Read/Update/Delete) operations over documents in the repository</a:t>
            </a:r>
          </a:p>
          <a:p>
            <a:pPr marL="0" indent="0">
              <a:spcBef>
                <a:spcPts val="0"/>
              </a:spcBef>
              <a:buClr>
                <a:srgbClr val="FF0000"/>
              </a:buClr>
              <a:buNone/>
              <a:defRPr/>
            </a:pPr>
            <a:endParaRPr kumimoji="0" lang="en-US" sz="1200" i="0" u="none" strike="noStrike" kern="0" cap="none" spc="0" normalizeH="0" baseline="0" noProof="0">
              <a:ln>
                <a:noFill/>
              </a:ln>
              <a:solidFill>
                <a:prstClr val="black"/>
              </a:solidFill>
              <a:effectLst/>
              <a:uLnTx/>
              <a:uFillTx/>
              <a:latin typeface="Santander Text"/>
              <a:ea typeface="+mn-ea"/>
              <a:cs typeface="+mn-cs"/>
            </a:endParaRPr>
          </a:p>
        </p:txBody>
      </p:sp>
      <p:sp>
        <p:nvSpPr>
          <p:cNvPr id="8" name="CuadroTexto 7">
            <a:extLst>
              <a:ext uri="{FF2B5EF4-FFF2-40B4-BE49-F238E27FC236}">
                <a16:creationId xmlns:a16="http://schemas.microsoft.com/office/drawing/2014/main" id="{03A21378-78A7-84C7-6E94-47CD8762BE8B}"/>
              </a:ext>
            </a:extLst>
          </p:cNvPr>
          <p:cNvSpPr txBox="1"/>
          <p:nvPr/>
        </p:nvSpPr>
        <p:spPr>
          <a:xfrm>
            <a:off x="7724562" y="4109378"/>
            <a:ext cx="3745858" cy="726625"/>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spcBef>
                <a:spcPts val="0"/>
              </a:spcBef>
              <a:buClr>
                <a:srgbClr val="FF0000"/>
              </a:buClr>
              <a:buFont typeface="Wingdings" panose="05000000000000000000" pitchFamily="2" charset="2"/>
              <a:buChar char="§"/>
              <a:defRPr/>
            </a:pPr>
            <a:r>
              <a:rPr kumimoji="0" lang="en-US" sz="1200" i="0" u="none" strike="noStrike" kern="0" cap="none" spc="0" normalizeH="0" baseline="0" noProof="0">
                <a:ln>
                  <a:noFill/>
                </a:ln>
                <a:solidFill>
                  <a:prstClr val="black"/>
                </a:solidFill>
                <a:effectLst/>
                <a:uLnTx/>
                <a:uFillTx/>
                <a:latin typeface="Santander Text"/>
                <a:ea typeface="+mn-ea"/>
                <a:cs typeface="+mn-cs"/>
              </a:rPr>
              <a:t>Software component to process massive batch asynchronous CRUD (Create/Read/Update/Delete) operations over documents in the repository</a:t>
            </a:r>
          </a:p>
          <a:p>
            <a:pPr marL="0" indent="0">
              <a:spcBef>
                <a:spcPts val="0"/>
              </a:spcBef>
              <a:buClr>
                <a:srgbClr val="FF0000"/>
              </a:buClr>
              <a:buNone/>
              <a:defRPr/>
            </a:pPr>
            <a:r>
              <a:rPr kumimoji="0" lang="en-US" sz="1200" i="0" u="none" strike="noStrike" kern="0" cap="none" spc="0" normalizeH="0" baseline="0" noProof="0">
                <a:ln>
                  <a:noFill/>
                </a:ln>
                <a:solidFill>
                  <a:prstClr val="black"/>
                </a:solidFill>
                <a:effectLst/>
                <a:uLnTx/>
                <a:uFillTx/>
                <a:latin typeface="Santander Text"/>
                <a:ea typeface="+mn-ea"/>
                <a:cs typeface="+mn-cs"/>
              </a:rPr>
              <a:t>.</a:t>
            </a:r>
          </a:p>
        </p:txBody>
      </p:sp>
      <p:sp>
        <p:nvSpPr>
          <p:cNvPr id="5" name="Rectángulo 4">
            <a:extLst>
              <a:ext uri="{FF2B5EF4-FFF2-40B4-BE49-F238E27FC236}">
                <a16:creationId xmlns:a16="http://schemas.microsoft.com/office/drawing/2014/main" id="{53CD7928-73D0-F258-69B1-EF31F4873374}"/>
              </a:ext>
            </a:extLst>
          </p:cNvPr>
          <p:cNvSpPr/>
          <p:nvPr/>
        </p:nvSpPr>
        <p:spPr>
          <a:xfrm>
            <a:off x="711023" y="5128752"/>
            <a:ext cx="1440000" cy="891320"/>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ea typeface="+mn-ea"/>
                <a:cs typeface="+mn-cs"/>
              </a:rPr>
              <a:t>Customer Mailbox</a:t>
            </a:r>
          </a:p>
        </p:txBody>
      </p:sp>
      <p:cxnSp>
        <p:nvCxnSpPr>
          <p:cNvPr id="6" name="Conector recto 5">
            <a:extLst>
              <a:ext uri="{FF2B5EF4-FFF2-40B4-BE49-F238E27FC236}">
                <a16:creationId xmlns:a16="http://schemas.microsoft.com/office/drawing/2014/main" id="{A460E7C0-0364-793B-3337-D9EC5B84F143}"/>
              </a:ext>
            </a:extLst>
          </p:cNvPr>
          <p:cNvCxnSpPr>
            <a:cxnSpLocks/>
          </p:cNvCxnSpPr>
          <p:nvPr/>
        </p:nvCxnSpPr>
        <p:spPr>
          <a:xfrm flipH="1" flipV="1">
            <a:off x="684798" y="5082761"/>
            <a:ext cx="5112000" cy="0"/>
          </a:xfrm>
          <a:prstGeom prst="line">
            <a:avLst/>
          </a:prstGeom>
          <a:noFill/>
          <a:ln w="12700" cap="flat" cmpd="sng" algn="ctr">
            <a:solidFill>
              <a:schemeClr val="bg1">
                <a:lumMod val="85000"/>
              </a:schemeClr>
            </a:solidFill>
            <a:prstDash val="solid"/>
            <a:miter lim="800000"/>
          </a:ln>
          <a:effectLst/>
        </p:spPr>
      </p:cxnSp>
      <p:sp>
        <p:nvSpPr>
          <p:cNvPr id="9" name="CuadroTexto 8">
            <a:extLst>
              <a:ext uri="{FF2B5EF4-FFF2-40B4-BE49-F238E27FC236}">
                <a16:creationId xmlns:a16="http://schemas.microsoft.com/office/drawing/2014/main" id="{8D9D434E-379B-691E-6166-A1BCCB73D49A}"/>
              </a:ext>
            </a:extLst>
          </p:cNvPr>
          <p:cNvSpPr txBox="1"/>
          <p:nvPr/>
        </p:nvSpPr>
        <p:spPr>
          <a:xfrm>
            <a:off x="2192763" y="5266611"/>
            <a:ext cx="3630260" cy="461665"/>
          </a:xfrm>
          <a:prstGeom prst="rect">
            <a:avLst/>
          </a:prstGeom>
          <a:noFill/>
        </p:spPr>
        <p:txBody>
          <a:bodyPr wrap="square">
            <a:spAutoFit/>
          </a:bodyPr>
          <a:lstStyle/>
          <a:p>
            <a:pPr marL="180000" indent="-180000">
              <a:buClr>
                <a:srgbClr val="FF0000"/>
              </a:buClr>
              <a:buFont typeface="Wingdings" panose="05000000000000000000" pitchFamily="2" charset="2"/>
              <a:buChar char="§"/>
              <a:defRPr/>
            </a:pPr>
            <a:r>
              <a:rPr lang="en-US" sz="1200"/>
              <a:t>Customer personal Mailbox for communications sent by Bank available on digital channels</a:t>
            </a:r>
          </a:p>
        </p:txBody>
      </p:sp>
      <p:cxnSp>
        <p:nvCxnSpPr>
          <p:cNvPr id="11" name="Conector recto 10">
            <a:extLst>
              <a:ext uri="{FF2B5EF4-FFF2-40B4-BE49-F238E27FC236}">
                <a16:creationId xmlns:a16="http://schemas.microsoft.com/office/drawing/2014/main" id="{FE608D3E-75E6-10A6-A8A2-318FECA3E631}"/>
              </a:ext>
            </a:extLst>
          </p:cNvPr>
          <p:cNvCxnSpPr>
            <a:cxnSpLocks/>
          </p:cNvCxnSpPr>
          <p:nvPr/>
        </p:nvCxnSpPr>
        <p:spPr>
          <a:xfrm flipH="1" flipV="1">
            <a:off x="6177836" y="5082761"/>
            <a:ext cx="5112000" cy="0"/>
          </a:xfrm>
          <a:prstGeom prst="line">
            <a:avLst/>
          </a:prstGeom>
          <a:noFill/>
          <a:ln w="12700" cap="flat" cmpd="sng" algn="ctr">
            <a:solidFill>
              <a:schemeClr val="bg1">
                <a:lumMod val="85000"/>
              </a:schemeClr>
            </a:solidFill>
            <a:prstDash val="solid"/>
            <a:miter lim="800000"/>
          </a:ln>
          <a:effectLst/>
        </p:spPr>
      </p:cxnSp>
      <p:sp>
        <p:nvSpPr>
          <p:cNvPr id="12" name="Rectángulo 11">
            <a:extLst>
              <a:ext uri="{FF2B5EF4-FFF2-40B4-BE49-F238E27FC236}">
                <a16:creationId xmlns:a16="http://schemas.microsoft.com/office/drawing/2014/main" id="{BEC36F96-C5E6-602E-F6C8-AAD3A16625F5}"/>
              </a:ext>
            </a:extLst>
          </p:cNvPr>
          <p:cNvSpPr/>
          <p:nvPr/>
        </p:nvSpPr>
        <p:spPr>
          <a:xfrm>
            <a:off x="6186093" y="5219193"/>
            <a:ext cx="1440000" cy="540000"/>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r>
              <a:rPr lang="en-AU" sz="1400" kern="0">
                <a:solidFill>
                  <a:srgbClr val="001B39"/>
                </a:solidFill>
                <a:latin typeface="Santander Text"/>
              </a:rPr>
              <a:t>Document Repository</a:t>
            </a:r>
          </a:p>
        </p:txBody>
      </p:sp>
      <p:sp>
        <p:nvSpPr>
          <p:cNvPr id="16" name="CuadroTexto 15">
            <a:extLst>
              <a:ext uri="{FF2B5EF4-FFF2-40B4-BE49-F238E27FC236}">
                <a16:creationId xmlns:a16="http://schemas.microsoft.com/office/drawing/2014/main" id="{A75CF22D-1AFF-7B4A-CF96-3701A582A3A7}"/>
              </a:ext>
            </a:extLst>
          </p:cNvPr>
          <p:cNvSpPr txBox="1"/>
          <p:nvPr/>
        </p:nvSpPr>
        <p:spPr>
          <a:xfrm>
            <a:off x="7724560" y="5177487"/>
            <a:ext cx="3745858" cy="726625"/>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spcBef>
                <a:spcPts val="0"/>
              </a:spcBef>
              <a:buClr>
                <a:srgbClr val="FF0000"/>
              </a:buClr>
              <a:buFont typeface="Wingdings" panose="05000000000000000000" pitchFamily="2" charset="2"/>
              <a:buChar char="§"/>
              <a:defRPr/>
            </a:pPr>
            <a:r>
              <a:rPr kumimoji="0" lang="en-US" sz="1200" i="0" u="none" strike="noStrike" kern="0" cap="none" spc="0" normalizeH="0" baseline="0" noProof="0">
                <a:ln>
                  <a:noFill/>
                </a:ln>
                <a:solidFill>
                  <a:prstClr val="black"/>
                </a:solidFill>
                <a:effectLst/>
                <a:uLnTx/>
                <a:uFillTx/>
                <a:latin typeface="Santander Text"/>
                <a:ea typeface="+mn-ea"/>
                <a:cs typeface="+mn-cs"/>
              </a:rPr>
              <a:t>Manages and stores documents and metadata with advanced security and ensuring regulatory compliance</a:t>
            </a:r>
          </a:p>
          <a:p>
            <a:pPr marL="0" indent="0">
              <a:spcBef>
                <a:spcPts val="0"/>
              </a:spcBef>
              <a:buClr>
                <a:srgbClr val="FF0000"/>
              </a:buClr>
              <a:buNone/>
              <a:defRPr/>
            </a:pPr>
            <a:endParaRPr kumimoji="0" lang="en-US" sz="1200" i="0" u="none" strike="noStrike" kern="0" cap="none" spc="0" normalizeH="0" baseline="0" noProof="0">
              <a:ln>
                <a:noFill/>
              </a:ln>
              <a:solidFill>
                <a:prstClr val="black"/>
              </a:solidFill>
              <a:effectLst/>
              <a:uLnTx/>
              <a:uFillTx/>
              <a:latin typeface="Santander Text"/>
              <a:ea typeface="+mn-ea"/>
              <a:cs typeface="+mn-cs"/>
            </a:endParaRPr>
          </a:p>
        </p:txBody>
      </p:sp>
      <p:sp>
        <p:nvSpPr>
          <p:cNvPr id="20" name="Título 1">
            <a:extLst>
              <a:ext uri="{FF2B5EF4-FFF2-40B4-BE49-F238E27FC236}">
                <a16:creationId xmlns:a16="http://schemas.microsoft.com/office/drawing/2014/main" id="{94511C87-7AB0-46EA-D3E0-B1E4D3F8A1C1}"/>
              </a:ext>
            </a:extLst>
          </p:cNvPr>
          <p:cNvSpPr txBox="1">
            <a:spLocks/>
          </p:cNvSpPr>
          <p:nvPr/>
        </p:nvSpPr>
        <p:spPr>
          <a:xfrm>
            <a:off x="607951" y="679787"/>
            <a:ext cx="10758733" cy="359562"/>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lang="en-US" sz="2800" b="1" kern="1200" dirty="0">
                <a:solidFill>
                  <a:schemeClr val="accent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s-ES" sz="2800" b="1" i="0" u="none" strike="noStrike" kern="1200" cap="none" spc="0" normalizeH="0" baseline="0" noProof="0">
                <a:ln>
                  <a:noFill/>
                </a:ln>
                <a:solidFill>
                  <a:srgbClr val="EB0000"/>
                </a:solidFill>
                <a:effectLst/>
                <a:uLnTx/>
                <a:uFillTx/>
                <a:ea typeface="+mj-ea"/>
                <a:cs typeface="+mj-cs"/>
              </a:rPr>
              <a:t>Global </a:t>
            </a:r>
            <a:r>
              <a:rPr kumimoji="0" lang="es-ES" sz="2800" b="1" i="0" u="none" strike="noStrike" kern="1200" cap="none" spc="0" normalizeH="0" baseline="0" noProof="0" err="1">
                <a:ln>
                  <a:noFill/>
                </a:ln>
                <a:solidFill>
                  <a:srgbClr val="EB0000"/>
                </a:solidFill>
                <a:effectLst/>
                <a:uLnTx/>
                <a:uFillTx/>
                <a:ea typeface="+mj-ea"/>
                <a:cs typeface="+mj-cs"/>
              </a:rPr>
              <a:t>Technology</a:t>
            </a:r>
            <a:r>
              <a:rPr kumimoji="0" lang="es-ES" sz="2800" b="1" i="0" u="none" strike="noStrike" kern="1200" cap="none" spc="0" normalizeH="0" baseline="0" noProof="0">
                <a:ln>
                  <a:noFill/>
                </a:ln>
                <a:solidFill>
                  <a:srgbClr val="EB0000"/>
                </a:solidFill>
                <a:effectLst/>
                <a:uLnTx/>
                <a:uFillTx/>
                <a:ea typeface="+mj-ea"/>
                <a:cs typeface="+mj-cs"/>
              </a:rPr>
              <a:t>. </a:t>
            </a:r>
            <a:r>
              <a:rPr lang="es-ES" err="1">
                <a:solidFill>
                  <a:schemeClr val="bg1">
                    <a:lumMod val="75000"/>
                  </a:schemeClr>
                </a:solidFill>
              </a:rPr>
              <a:t>Processes</a:t>
            </a:r>
            <a:endParaRPr lang="es-ES">
              <a:solidFill>
                <a:schemeClr val="bg1">
                  <a:lumMod val="75000"/>
                </a:schemeClr>
              </a:solidFill>
            </a:endParaRPr>
          </a:p>
        </p:txBody>
      </p:sp>
    </p:spTree>
    <p:extLst>
      <p:ext uri="{BB962C8B-B14F-4D97-AF65-F5344CB8AC3E}">
        <p14:creationId xmlns:p14="http://schemas.microsoft.com/office/powerpoint/2010/main" val="33029548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2">
            <a:extLst>
              <a:ext uri="{FF2B5EF4-FFF2-40B4-BE49-F238E27FC236}">
                <a16:creationId xmlns:a16="http://schemas.microsoft.com/office/drawing/2014/main" id="{C5F67029-F219-FC96-7D6C-5F6C446E76B2}"/>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15" name="Rectángulo 14">
            <a:extLst>
              <a:ext uri="{FF2B5EF4-FFF2-40B4-BE49-F238E27FC236}">
                <a16:creationId xmlns:a16="http://schemas.microsoft.com/office/drawing/2014/main" id="{532E11D7-B060-9FE8-9DBC-290E6C96DE16}"/>
              </a:ext>
            </a:extLst>
          </p:cNvPr>
          <p:cNvSpPr/>
          <p:nvPr/>
        </p:nvSpPr>
        <p:spPr>
          <a:xfrm>
            <a:off x="711024" y="3201415"/>
            <a:ext cx="1440000" cy="540000"/>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AU" sz="1400" kern="0">
                <a:solidFill>
                  <a:srgbClr val="DEEDF1">
                    <a:lumMod val="25000"/>
                  </a:srgbClr>
                </a:solidFill>
              </a:rPr>
              <a:t>Online Generation</a:t>
            </a:r>
            <a:endParaRPr kumimoji="0" lang="en-AU" sz="1400" b="0" i="0" u="none" strike="noStrike" kern="0" cap="none" spc="0" normalizeH="0" baseline="0" noProof="0">
              <a:ln>
                <a:noFill/>
              </a:ln>
              <a:solidFill>
                <a:srgbClr val="DEEDF1">
                  <a:lumMod val="25000"/>
                </a:srgbClr>
              </a:solidFill>
              <a:effectLst/>
              <a:uLnTx/>
              <a:uFillTx/>
              <a:ea typeface="+mn-ea"/>
              <a:cs typeface="+mn-cs"/>
            </a:endParaRPr>
          </a:p>
        </p:txBody>
      </p:sp>
      <p:sp>
        <p:nvSpPr>
          <p:cNvPr id="18" name="Rectángulo 17">
            <a:extLst>
              <a:ext uri="{FF2B5EF4-FFF2-40B4-BE49-F238E27FC236}">
                <a16:creationId xmlns:a16="http://schemas.microsoft.com/office/drawing/2014/main" id="{1BB5F719-890D-38E1-45DB-8EAA38B16BA1}"/>
              </a:ext>
            </a:extLst>
          </p:cNvPr>
          <p:cNvSpPr/>
          <p:nvPr/>
        </p:nvSpPr>
        <p:spPr>
          <a:xfrm>
            <a:off x="711024" y="4011152"/>
            <a:ext cx="1440000" cy="891320"/>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ea typeface="+mn-ea"/>
                <a:cs typeface="+mn-cs"/>
              </a:rPr>
              <a:t>Bulk Generation</a:t>
            </a:r>
          </a:p>
        </p:txBody>
      </p:sp>
      <p:sp>
        <p:nvSpPr>
          <p:cNvPr id="19" name="Rectángulo 18">
            <a:extLst>
              <a:ext uri="{FF2B5EF4-FFF2-40B4-BE49-F238E27FC236}">
                <a16:creationId xmlns:a16="http://schemas.microsoft.com/office/drawing/2014/main" id="{81107006-DEAA-61FE-5DFA-9A97FCDB224A}"/>
              </a:ext>
            </a:extLst>
          </p:cNvPr>
          <p:cNvSpPr/>
          <p:nvPr/>
        </p:nvSpPr>
        <p:spPr>
          <a:xfrm>
            <a:off x="711024" y="2216018"/>
            <a:ext cx="1440000" cy="540000"/>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algn="ctr"/>
            <a:r>
              <a:rPr lang="en-AU" sz="1400" kern="0">
                <a:solidFill>
                  <a:srgbClr val="001B39"/>
                </a:solidFill>
                <a:latin typeface="Santander Text"/>
              </a:rPr>
              <a:t>Template</a:t>
            </a:r>
          </a:p>
          <a:p>
            <a:pPr algn="ctr"/>
            <a:r>
              <a:rPr lang="en-AU" sz="1400" kern="0">
                <a:solidFill>
                  <a:srgbClr val="001B39"/>
                </a:solidFill>
                <a:latin typeface="Santander Text"/>
              </a:rPr>
              <a:t>Management</a:t>
            </a:r>
          </a:p>
        </p:txBody>
      </p:sp>
      <p:sp>
        <p:nvSpPr>
          <p:cNvPr id="21" name="CuadroTexto 20">
            <a:extLst>
              <a:ext uri="{FF2B5EF4-FFF2-40B4-BE49-F238E27FC236}">
                <a16:creationId xmlns:a16="http://schemas.microsoft.com/office/drawing/2014/main" id="{521604CC-F7C4-A23D-26ED-6006C261FAEE}"/>
              </a:ext>
            </a:extLst>
          </p:cNvPr>
          <p:cNvSpPr txBox="1"/>
          <p:nvPr/>
        </p:nvSpPr>
        <p:spPr>
          <a:xfrm>
            <a:off x="684798" y="1128886"/>
            <a:ext cx="10605040" cy="807913"/>
          </a:xfrm>
          <a:prstGeom prst="rect">
            <a:avLst/>
          </a:prstGeom>
          <a:noFill/>
        </p:spPr>
        <p:txBody>
          <a:bodyPr wrap="square" rtlCol="0">
            <a:spAutoFit/>
          </a:bodyPr>
          <a:lstStyle/>
          <a:p>
            <a:pPr marL="355600" indent="-355600">
              <a:spcAft>
                <a:spcPts val="300"/>
              </a:spcAft>
              <a:defRPr/>
            </a:pPr>
            <a:r>
              <a:rPr lang="en-AU" sz="1600" b="1" kern="0">
                <a:solidFill>
                  <a:srgbClr val="DEEDF1">
                    <a:lumMod val="25000"/>
                  </a:srgbClr>
                </a:solidFill>
                <a:latin typeface="Santander Text" panose="020B0504020201020104" pitchFamily="34" charset="0"/>
              </a:rPr>
              <a:t>5</a:t>
            </a:r>
            <a:r>
              <a:rPr kumimoji="0" lang="en-AU"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 – </a:t>
            </a:r>
            <a:r>
              <a:rPr lang="en-AU" sz="1600" b="1" kern="0">
                <a:solidFill>
                  <a:srgbClr val="DEEDF1">
                    <a:lumMod val="25000"/>
                  </a:srgbClr>
                </a:solidFill>
                <a:latin typeface="Santander Text" panose="020B0504020201020104" pitchFamily="34" charset="0"/>
              </a:rPr>
              <a:t>Customer Communications Management (CCM)</a:t>
            </a:r>
            <a:endParaRPr kumimoji="0" lang="en-AU"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endParaRPr>
          </a:p>
          <a:p>
            <a:pPr marL="7938" indent="-7938">
              <a:spcAft>
                <a:spcPts val="300"/>
              </a:spcAft>
              <a:defRPr/>
            </a:pPr>
            <a:r>
              <a:rPr kumimoji="0" lang="en-US" sz="1400" b="0" i="1"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Systems responsible of creating and distributing business documents to customers. Document composition is primarily used by organizations to communicate with their customers, and plays a vital role in customer relationship management</a:t>
            </a:r>
          </a:p>
        </p:txBody>
      </p:sp>
      <p:cxnSp>
        <p:nvCxnSpPr>
          <p:cNvPr id="22" name="Conector recto 21">
            <a:extLst>
              <a:ext uri="{FF2B5EF4-FFF2-40B4-BE49-F238E27FC236}">
                <a16:creationId xmlns:a16="http://schemas.microsoft.com/office/drawing/2014/main" id="{95D3203A-A6F6-8622-675E-1B6CCD9AB872}"/>
              </a:ext>
            </a:extLst>
          </p:cNvPr>
          <p:cNvCxnSpPr>
            <a:cxnSpLocks/>
          </p:cNvCxnSpPr>
          <p:nvPr/>
        </p:nvCxnSpPr>
        <p:spPr>
          <a:xfrm flipH="1" flipV="1">
            <a:off x="711024" y="1933750"/>
            <a:ext cx="5112000" cy="0"/>
          </a:xfrm>
          <a:prstGeom prst="line">
            <a:avLst/>
          </a:prstGeom>
          <a:noFill/>
          <a:ln w="12700" cap="flat" cmpd="sng" algn="ctr">
            <a:solidFill>
              <a:srgbClr val="595959"/>
            </a:solidFill>
            <a:prstDash val="solid"/>
            <a:miter lim="800000"/>
          </a:ln>
          <a:effectLst/>
        </p:spPr>
      </p:cxnSp>
      <p:sp>
        <p:nvSpPr>
          <p:cNvPr id="23" name="CuadroTexto 22">
            <a:extLst>
              <a:ext uri="{FF2B5EF4-FFF2-40B4-BE49-F238E27FC236}">
                <a16:creationId xmlns:a16="http://schemas.microsoft.com/office/drawing/2014/main" id="{D0DF7234-D303-7B43-9FFE-366CABE65C67}"/>
              </a:ext>
            </a:extLst>
          </p:cNvPr>
          <p:cNvSpPr txBox="1"/>
          <p:nvPr/>
        </p:nvSpPr>
        <p:spPr>
          <a:xfrm>
            <a:off x="2192764" y="2079282"/>
            <a:ext cx="3658438" cy="909402"/>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R="0" lvl="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lang="en-US" kern="0">
                <a:solidFill>
                  <a:prstClr val="black"/>
                </a:solidFill>
                <a:latin typeface="Santander Text"/>
              </a:rPr>
              <a:t>WYSIWYG Integrated Development Environment that allow to defined template layout, contents, rules and configurations</a:t>
            </a:r>
          </a:p>
        </p:txBody>
      </p:sp>
      <p:cxnSp>
        <p:nvCxnSpPr>
          <p:cNvPr id="24" name="Conector recto 23">
            <a:extLst>
              <a:ext uri="{FF2B5EF4-FFF2-40B4-BE49-F238E27FC236}">
                <a16:creationId xmlns:a16="http://schemas.microsoft.com/office/drawing/2014/main" id="{8FB168E4-4482-3337-ECA4-1613C78248BE}"/>
              </a:ext>
            </a:extLst>
          </p:cNvPr>
          <p:cNvCxnSpPr>
            <a:cxnSpLocks/>
          </p:cNvCxnSpPr>
          <p:nvPr/>
        </p:nvCxnSpPr>
        <p:spPr>
          <a:xfrm flipH="1" flipV="1">
            <a:off x="684799" y="3060921"/>
            <a:ext cx="5112000" cy="0"/>
          </a:xfrm>
          <a:prstGeom prst="line">
            <a:avLst/>
          </a:prstGeom>
          <a:noFill/>
          <a:ln w="12700" cap="flat" cmpd="sng" algn="ctr">
            <a:solidFill>
              <a:schemeClr val="bg1">
                <a:lumMod val="85000"/>
              </a:schemeClr>
            </a:solidFill>
            <a:prstDash val="solid"/>
            <a:miter lim="800000"/>
          </a:ln>
          <a:effectLst/>
        </p:spPr>
      </p:cxnSp>
      <p:sp>
        <p:nvSpPr>
          <p:cNvPr id="26" name="CuadroTexto 25">
            <a:extLst>
              <a:ext uri="{FF2B5EF4-FFF2-40B4-BE49-F238E27FC236}">
                <a16:creationId xmlns:a16="http://schemas.microsoft.com/office/drawing/2014/main" id="{6D26BBC5-3876-5692-5E14-58110D472B80}"/>
              </a:ext>
            </a:extLst>
          </p:cNvPr>
          <p:cNvSpPr txBox="1"/>
          <p:nvPr/>
        </p:nvSpPr>
        <p:spPr>
          <a:xfrm>
            <a:off x="2192764" y="3105231"/>
            <a:ext cx="3630260" cy="276999"/>
          </a:xfrm>
          <a:prstGeom prst="rect">
            <a:avLst/>
          </a:prstGeom>
          <a:noFill/>
        </p:spPr>
        <p:txBody>
          <a:bodyPr wrap="square">
            <a:spAutoFit/>
          </a:bodyPr>
          <a:lstStyle/>
          <a:p>
            <a:pPr marL="180000" indent="-180000">
              <a:buClr>
                <a:srgbClr val="FF0000"/>
              </a:buClr>
              <a:buFont typeface="Wingdings" panose="05000000000000000000" pitchFamily="2" charset="2"/>
              <a:buChar char="§"/>
              <a:defRPr/>
            </a:pPr>
            <a:r>
              <a:rPr kumimoji="0" lang="en-US" sz="1200" i="0" u="none" strike="noStrike" kern="0" cap="none" spc="0" normalizeH="0" baseline="0" noProof="0">
                <a:ln>
                  <a:noFill/>
                </a:ln>
                <a:solidFill>
                  <a:prstClr val="black"/>
                </a:solidFill>
                <a:effectLst/>
                <a:uLnTx/>
                <a:uFillTx/>
                <a:latin typeface="Santander Text"/>
                <a:ea typeface="+mn-ea"/>
                <a:cs typeface="+mn-cs"/>
              </a:rPr>
              <a:t>Composes the document on demand</a:t>
            </a:r>
          </a:p>
        </p:txBody>
      </p:sp>
      <p:cxnSp>
        <p:nvCxnSpPr>
          <p:cNvPr id="27" name="Conector recto 26">
            <a:extLst>
              <a:ext uri="{FF2B5EF4-FFF2-40B4-BE49-F238E27FC236}">
                <a16:creationId xmlns:a16="http://schemas.microsoft.com/office/drawing/2014/main" id="{70843F3A-A2BD-26FA-4872-61326913BCF4}"/>
              </a:ext>
            </a:extLst>
          </p:cNvPr>
          <p:cNvCxnSpPr>
            <a:cxnSpLocks/>
          </p:cNvCxnSpPr>
          <p:nvPr/>
        </p:nvCxnSpPr>
        <p:spPr>
          <a:xfrm flipH="1" flipV="1">
            <a:off x="684799" y="3965161"/>
            <a:ext cx="5112000" cy="0"/>
          </a:xfrm>
          <a:prstGeom prst="line">
            <a:avLst/>
          </a:prstGeom>
          <a:noFill/>
          <a:ln w="12700" cap="flat" cmpd="sng" algn="ctr">
            <a:solidFill>
              <a:schemeClr val="bg1">
                <a:lumMod val="85000"/>
              </a:schemeClr>
            </a:solidFill>
            <a:prstDash val="solid"/>
            <a:miter lim="800000"/>
          </a:ln>
          <a:effectLst/>
        </p:spPr>
      </p:cxnSp>
      <p:sp>
        <p:nvSpPr>
          <p:cNvPr id="46" name="CuadroTexto 45">
            <a:extLst>
              <a:ext uri="{FF2B5EF4-FFF2-40B4-BE49-F238E27FC236}">
                <a16:creationId xmlns:a16="http://schemas.microsoft.com/office/drawing/2014/main" id="{8758E097-F9AB-2AA3-8D87-80D5165DD659}"/>
              </a:ext>
            </a:extLst>
          </p:cNvPr>
          <p:cNvSpPr txBox="1"/>
          <p:nvPr/>
        </p:nvSpPr>
        <p:spPr>
          <a:xfrm>
            <a:off x="2192763" y="4149011"/>
            <a:ext cx="4978503" cy="276999"/>
          </a:xfrm>
          <a:prstGeom prst="rect">
            <a:avLst/>
          </a:prstGeom>
          <a:noFill/>
        </p:spPr>
        <p:txBody>
          <a:bodyPr wrap="square">
            <a:spAutoFit/>
          </a:bodyPr>
          <a:lstStyle/>
          <a:p>
            <a:pPr marL="180000" indent="-180000">
              <a:buClr>
                <a:srgbClr val="FF0000"/>
              </a:buClr>
              <a:buFont typeface="Wingdings" panose="05000000000000000000" pitchFamily="2" charset="2"/>
              <a:buChar char="§"/>
              <a:defRPr/>
            </a:pPr>
            <a:r>
              <a:rPr lang="en-US" sz="1200" dirty="0"/>
              <a:t>Compose batches of documents on a scheduled calendar</a:t>
            </a:r>
          </a:p>
        </p:txBody>
      </p:sp>
      <p:sp>
        <p:nvSpPr>
          <p:cNvPr id="5" name="Rectángulo 4">
            <a:extLst>
              <a:ext uri="{FF2B5EF4-FFF2-40B4-BE49-F238E27FC236}">
                <a16:creationId xmlns:a16="http://schemas.microsoft.com/office/drawing/2014/main" id="{61EC498B-93FA-AF56-3738-62C3096526FB}"/>
              </a:ext>
            </a:extLst>
          </p:cNvPr>
          <p:cNvSpPr/>
          <p:nvPr/>
        </p:nvSpPr>
        <p:spPr>
          <a:xfrm>
            <a:off x="694088" y="5069487"/>
            <a:ext cx="1440000" cy="891320"/>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ea typeface="+mn-ea"/>
                <a:cs typeface="+mn-cs"/>
              </a:rPr>
              <a:t>Delivery Broker</a:t>
            </a:r>
          </a:p>
        </p:txBody>
      </p:sp>
      <p:cxnSp>
        <p:nvCxnSpPr>
          <p:cNvPr id="6" name="Conector recto 5">
            <a:extLst>
              <a:ext uri="{FF2B5EF4-FFF2-40B4-BE49-F238E27FC236}">
                <a16:creationId xmlns:a16="http://schemas.microsoft.com/office/drawing/2014/main" id="{0C526D96-6C46-70A6-EAFE-B9E54B38F8DD}"/>
              </a:ext>
            </a:extLst>
          </p:cNvPr>
          <p:cNvCxnSpPr>
            <a:cxnSpLocks/>
          </p:cNvCxnSpPr>
          <p:nvPr/>
        </p:nvCxnSpPr>
        <p:spPr>
          <a:xfrm flipH="1" flipV="1">
            <a:off x="667863" y="5023496"/>
            <a:ext cx="5112000" cy="0"/>
          </a:xfrm>
          <a:prstGeom prst="line">
            <a:avLst/>
          </a:prstGeom>
          <a:noFill/>
          <a:ln w="12700" cap="flat" cmpd="sng" algn="ctr">
            <a:solidFill>
              <a:schemeClr val="bg1">
                <a:lumMod val="85000"/>
              </a:schemeClr>
            </a:solidFill>
            <a:prstDash val="solid"/>
            <a:miter lim="800000"/>
          </a:ln>
          <a:effectLst/>
        </p:spPr>
      </p:cxnSp>
      <p:sp>
        <p:nvSpPr>
          <p:cNvPr id="9" name="CuadroTexto 8">
            <a:extLst>
              <a:ext uri="{FF2B5EF4-FFF2-40B4-BE49-F238E27FC236}">
                <a16:creationId xmlns:a16="http://schemas.microsoft.com/office/drawing/2014/main" id="{AA8BE1B7-E183-1EC4-890C-EB750D4DB730}"/>
              </a:ext>
            </a:extLst>
          </p:cNvPr>
          <p:cNvSpPr txBox="1"/>
          <p:nvPr/>
        </p:nvSpPr>
        <p:spPr>
          <a:xfrm>
            <a:off x="2175828" y="5207346"/>
            <a:ext cx="3630260" cy="646331"/>
          </a:xfrm>
          <a:prstGeom prst="rect">
            <a:avLst/>
          </a:prstGeom>
          <a:noFill/>
        </p:spPr>
        <p:txBody>
          <a:bodyPr wrap="square">
            <a:spAutoFit/>
          </a:bodyPr>
          <a:lstStyle/>
          <a:p>
            <a:pPr marL="180000" indent="-180000">
              <a:buClr>
                <a:srgbClr val="FF0000"/>
              </a:buClr>
              <a:buFont typeface="Wingdings" panose="05000000000000000000" pitchFamily="2" charset="2"/>
              <a:buChar char="§"/>
              <a:defRPr/>
            </a:pPr>
            <a:r>
              <a:rPr lang="en-US" sz="1200"/>
              <a:t>Centralizes sending of the communication, directing the task to the provider indicated by channel</a:t>
            </a:r>
          </a:p>
        </p:txBody>
      </p:sp>
      <p:sp>
        <p:nvSpPr>
          <p:cNvPr id="10" name="Título 1">
            <a:extLst>
              <a:ext uri="{FF2B5EF4-FFF2-40B4-BE49-F238E27FC236}">
                <a16:creationId xmlns:a16="http://schemas.microsoft.com/office/drawing/2014/main" id="{F9F4F070-22DE-F0BD-5FD4-15CE825268FB}"/>
              </a:ext>
            </a:extLst>
          </p:cNvPr>
          <p:cNvSpPr txBox="1">
            <a:spLocks/>
          </p:cNvSpPr>
          <p:nvPr/>
        </p:nvSpPr>
        <p:spPr>
          <a:xfrm>
            <a:off x="607951" y="665772"/>
            <a:ext cx="10758733" cy="836992"/>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lang="en-US" sz="2800" b="1" kern="1200" dirty="0">
                <a:solidFill>
                  <a:schemeClr val="accent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s-ES" sz="2800" b="1" i="0" u="none" strike="noStrike" kern="1200" cap="none" spc="0" normalizeH="0" baseline="0" noProof="0">
                <a:ln>
                  <a:noFill/>
                </a:ln>
                <a:solidFill>
                  <a:srgbClr val="EB0000"/>
                </a:solidFill>
                <a:effectLst/>
                <a:uLnTx/>
                <a:uFillTx/>
                <a:ea typeface="+mj-ea"/>
                <a:cs typeface="+mj-cs"/>
              </a:rPr>
              <a:t>Global </a:t>
            </a:r>
            <a:r>
              <a:rPr kumimoji="0" lang="es-ES" sz="2800" b="1" i="0" u="none" strike="noStrike" kern="1200" cap="none" spc="0" normalizeH="0" baseline="0" noProof="0" err="1">
                <a:ln>
                  <a:noFill/>
                </a:ln>
                <a:solidFill>
                  <a:srgbClr val="EB0000"/>
                </a:solidFill>
                <a:effectLst/>
                <a:uLnTx/>
                <a:uFillTx/>
                <a:ea typeface="+mj-ea"/>
                <a:cs typeface="+mj-cs"/>
              </a:rPr>
              <a:t>Technology</a:t>
            </a:r>
            <a:r>
              <a:rPr kumimoji="0" lang="es-ES" sz="2800" b="1" i="0" u="none" strike="noStrike" kern="1200" cap="none" spc="0" normalizeH="0" baseline="0" noProof="0">
                <a:ln>
                  <a:noFill/>
                </a:ln>
                <a:solidFill>
                  <a:srgbClr val="EB0000"/>
                </a:solidFill>
                <a:effectLst/>
                <a:uLnTx/>
                <a:uFillTx/>
                <a:ea typeface="+mj-ea"/>
                <a:cs typeface="+mj-cs"/>
              </a:rPr>
              <a:t>. </a:t>
            </a:r>
            <a:r>
              <a:rPr lang="es-ES" err="1">
                <a:solidFill>
                  <a:schemeClr val="bg1">
                    <a:lumMod val="75000"/>
                  </a:schemeClr>
                </a:solidFill>
              </a:rPr>
              <a:t>Processes</a:t>
            </a:r>
            <a:endParaRPr lang="es-ES">
              <a:solidFill>
                <a:schemeClr val="bg1">
                  <a:lumMod val="75000"/>
                </a:schemeClr>
              </a:solidFill>
            </a:endParaRPr>
          </a:p>
        </p:txBody>
      </p:sp>
    </p:spTree>
    <p:extLst>
      <p:ext uri="{BB962C8B-B14F-4D97-AF65-F5344CB8AC3E}">
        <p14:creationId xmlns:p14="http://schemas.microsoft.com/office/powerpoint/2010/main" val="1434350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2">
            <a:extLst>
              <a:ext uri="{FF2B5EF4-FFF2-40B4-BE49-F238E27FC236}">
                <a16:creationId xmlns:a16="http://schemas.microsoft.com/office/drawing/2014/main" id="{C5F67029-F219-FC96-7D6C-5F6C446E76B2}"/>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21" name="CuadroTexto 20">
            <a:extLst>
              <a:ext uri="{FF2B5EF4-FFF2-40B4-BE49-F238E27FC236}">
                <a16:creationId xmlns:a16="http://schemas.microsoft.com/office/drawing/2014/main" id="{521604CC-F7C4-A23D-26ED-6006C261FAEE}"/>
              </a:ext>
            </a:extLst>
          </p:cNvPr>
          <p:cNvSpPr txBox="1"/>
          <p:nvPr/>
        </p:nvSpPr>
        <p:spPr>
          <a:xfrm>
            <a:off x="722243" y="1128886"/>
            <a:ext cx="10982077" cy="592470"/>
          </a:xfrm>
          <a:prstGeom prst="rect">
            <a:avLst/>
          </a:prstGeom>
          <a:noFill/>
        </p:spPr>
        <p:txBody>
          <a:bodyPr wrap="square" rtlCol="0">
            <a:spAutoFit/>
          </a:bodyPr>
          <a:lstStyle/>
          <a:p>
            <a:pPr marL="355600" marR="0" lvl="0" indent="-355600" fontAlgn="auto">
              <a:lnSpc>
                <a:spcPct val="100000"/>
              </a:lnSpc>
              <a:spcBef>
                <a:spcPts val="0"/>
              </a:spcBef>
              <a:spcAft>
                <a:spcPts val="300"/>
              </a:spcAft>
              <a:buClrTx/>
              <a:buSzTx/>
              <a:buFontTx/>
              <a:buNone/>
              <a:tabLst/>
              <a:defRPr/>
            </a:pPr>
            <a:r>
              <a:rPr lang="en-AU" sz="1600" b="1" kern="0">
                <a:solidFill>
                  <a:srgbClr val="DEEDF1">
                    <a:lumMod val="25000"/>
                  </a:srgbClr>
                </a:solidFill>
                <a:latin typeface="Santander Text" panose="020B0504020201020104" pitchFamily="34" charset="0"/>
              </a:rPr>
              <a:t>1 – Cloud Infrastructure</a:t>
            </a:r>
          </a:p>
          <a:p>
            <a:pPr marR="0" lvl="0" indent="-355600" fontAlgn="auto">
              <a:lnSpc>
                <a:spcPct val="100000"/>
              </a:lnSpc>
              <a:spcBef>
                <a:spcPts val="0"/>
              </a:spcBef>
              <a:spcAft>
                <a:spcPts val="300"/>
              </a:spcAft>
              <a:buClrTx/>
              <a:buSzTx/>
              <a:buFontTx/>
              <a:buNone/>
              <a:tabLst/>
              <a:defRPr/>
            </a:pPr>
            <a:r>
              <a:rPr lang="en-US" sz="1400" i="1" kern="0">
                <a:solidFill>
                  <a:srgbClr val="DEEDF1">
                    <a:lumMod val="25000"/>
                  </a:srgbClr>
                </a:solidFill>
                <a:latin typeface="Santander Text" panose="020B0504020201020104" pitchFamily="34" charset="0"/>
              </a:rPr>
              <a:t>Standardization of the landing zone for public and private cloud applications deployment</a:t>
            </a:r>
            <a:endParaRPr lang="en-AU" sz="1400" i="1" kern="0">
              <a:solidFill>
                <a:srgbClr val="DEEDF1">
                  <a:lumMod val="25000"/>
                </a:srgbClr>
              </a:solidFill>
              <a:latin typeface="Santander Text" panose="020B0504020201020104" pitchFamily="34" charset="0"/>
            </a:endParaRPr>
          </a:p>
        </p:txBody>
      </p:sp>
      <p:cxnSp>
        <p:nvCxnSpPr>
          <p:cNvPr id="22" name="Conector recto 21">
            <a:extLst>
              <a:ext uri="{FF2B5EF4-FFF2-40B4-BE49-F238E27FC236}">
                <a16:creationId xmlns:a16="http://schemas.microsoft.com/office/drawing/2014/main" id="{95D3203A-A6F6-8622-675E-1B6CCD9AB872}"/>
              </a:ext>
            </a:extLst>
          </p:cNvPr>
          <p:cNvCxnSpPr>
            <a:cxnSpLocks/>
          </p:cNvCxnSpPr>
          <p:nvPr/>
        </p:nvCxnSpPr>
        <p:spPr>
          <a:xfrm flipH="1" flipV="1">
            <a:off x="792304" y="1801670"/>
            <a:ext cx="10332000" cy="0"/>
          </a:xfrm>
          <a:prstGeom prst="line">
            <a:avLst/>
          </a:prstGeom>
          <a:noFill/>
          <a:ln w="12700" cap="flat" cmpd="sng" algn="ctr">
            <a:solidFill>
              <a:srgbClr val="595959"/>
            </a:solidFill>
            <a:prstDash val="solid"/>
            <a:miter lim="800000"/>
          </a:ln>
          <a:effectLst/>
        </p:spPr>
      </p:cxnSp>
      <p:sp>
        <p:nvSpPr>
          <p:cNvPr id="23" name="CuadroTexto 22">
            <a:extLst>
              <a:ext uri="{FF2B5EF4-FFF2-40B4-BE49-F238E27FC236}">
                <a16:creationId xmlns:a16="http://schemas.microsoft.com/office/drawing/2014/main" id="{D0DF7234-D303-7B43-9FFE-366CABE65C67}"/>
              </a:ext>
            </a:extLst>
          </p:cNvPr>
          <p:cNvSpPr txBox="1"/>
          <p:nvPr/>
        </p:nvSpPr>
        <p:spPr>
          <a:xfrm>
            <a:off x="2436604" y="1904919"/>
            <a:ext cx="3658438" cy="909402"/>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spcBef>
                <a:spcPts val="0"/>
              </a:spcBef>
              <a:buClr>
                <a:srgbClr val="FF0000"/>
              </a:buClr>
              <a:buFont typeface="Wingdings" panose="05000000000000000000" pitchFamily="2" charset="2"/>
              <a:buChar char="§"/>
              <a:defRPr/>
            </a:pPr>
            <a:r>
              <a:rPr lang="en-US" kern="0">
                <a:solidFill>
                  <a:prstClr val="black"/>
                </a:solidFill>
                <a:latin typeface="Santander Text"/>
              </a:rPr>
              <a:t>Set of different core modules, to be evolved centrally by the Group, that enforce the application of the different policies and architectural decisions for AWS Technologies:</a:t>
            </a:r>
          </a:p>
          <a:p>
            <a:pPr marL="539750" lvl="1" indent="-179388">
              <a:buClr>
                <a:srgbClr val="EC0000"/>
              </a:buClr>
              <a:buFont typeface="Arial" panose="020B0604020202020204" pitchFamily="34" charset="0"/>
              <a:buChar char="•"/>
              <a:defRPr/>
            </a:pPr>
            <a:r>
              <a:rPr lang="en-AU" kern="0">
                <a:solidFill>
                  <a:prstClr val="black"/>
                </a:solidFill>
                <a:latin typeface="Santander Text"/>
              </a:rPr>
              <a:t>Perimeters (firewalls).</a:t>
            </a:r>
          </a:p>
          <a:p>
            <a:pPr marL="539750" lvl="1" indent="-179388">
              <a:buClr>
                <a:srgbClr val="EC0000"/>
              </a:buClr>
              <a:buFont typeface="Arial" panose="020B0604020202020204" pitchFamily="34" charset="0"/>
              <a:buChar char="•"/>
              <a:defRPr/>
            </a:pPr>
            <a:r>
              <a:rPr lang="en-AU" kern="0">
                <a:solidFill>
                  <a:prstClr val="black"/>
                </a:solidFill>
                <a:latin typeface="Santander Text"/>
              </a:rPr>
              <a:t>IAM.</a:t>
            </a:r>
          </a:p>
          <a:p>
            <a:pPr marL="539750" lvl="1" indent="-179388">
              <a:buClr>
                <a:srgbClr val="EC0000"/>
              </a:buClr>
              <a:buFont typeface="Arial" panose="020B0604020202020204" pitchFamily="34" charset="0"/>
              <a:buChar char="•"/>
              <a:defRPr/>
            </a:pPr>
            <a:r>
              <a:rPr lang="en-AU" kern="0">
                <a:solidFill>
                  <a:prstClr val="black"/>
                </a:solidFill>
                <a:latin typeface="Santander Text"/>
              </a:rPr>
              <a:t>Preventive (guardrails/policies) and detective (CSPM) controls.</a:t>
            </a:r>
          </a:p>
          <a:p>
            <a:pPr marL="539750" lvl="1" indent="-179388">
              <a:buClr>
                <a:srgbClr val="EC0000"/>
              </a:buClr>
              <a:buFont typeface="Arial" panose="020B0604020202020204" pitchFamily="34" charset="0"/>
              <a:buChar char="•"/>
              <a:defRPr/>
            </a:pPr>
            <a:r>
              <a:rPr lang="en-AU" kern="0">
                <a:solidFill>
                  <a:prstClr val="black"/>
                </a:solidFill>
                <a:latin typeface="Santander Text"/>
              </a:rPr>
              <a:t>RBAC for segregation of duties.</a:t>
            </a:r>
          </a:p>
          <a:p>
            <a:pPr marL="539750" lvl="1" indent="-179388">
              <a:buClr>
                <a:srgbClr val="EC0000"/>
              </a:buClr>
              <a:buFont typeface="Arial" panose="020B0604020202020204" pitchFamily="34" charset="0"/>
              <a:buChar char="•"/>
              <a:defRPr/>
            </a:pPr>
            <a:r>
              <a:rPr lang="en-AU" kern="0">
                <a:solidFill>
                  <a:prstClr val="black"/>
                </a:solidFill>
                <a:latin typeface="Santander Text"/>
              </a:rPr>
              <a:t>Networking (connectivity to DC and internal networking | Zero-trust segmentation).</a:t>
            </a:r>
          </a:p>
          <a:p>
            <a:pPr marL="539750" lvl="1" indent="-179388">
              <a:buClr>
                <a:srgbClr val="EC0000"/>
              </a:buClr>
              <a:buFont typeface="Arial" panose="020B0604020202020204" pitchFamily="34" charset="0"/>
              <a:buChar char="•"/>
              <a:defRPr/>
            </a:pPr>
            <a:r>
              <a:rPr lang="en-AU" kern="0">
                <a:solidFill>
                  <a:prstClr val="black"/>
                </a:solidFill>
                <a:latin typeface="Santander Text"/>
              </a:rPr>
              <a:t>Log account and compliance monitor.</a:t>
            </a:r>
          </a:p>
          <a:p>
            <a:pPr marL="539750" lvl="1" indent="-179388">
              <a:buClr>
                <a:srgbClr val="EC0000"/>
              </a:buClr>
              <a:buFont typeface="Arial" panose="020B0604020202020204" pitchFamily="34" charset="0"/>
              <a:buChar char="•"/>
              <a:defRPr/>
            </a:pPr>
            <a:r>
              <a:rPr lang="en-AU" kern="0">
                <a:solidFill>
                  <a:prstClr val="black"/>
                </a:solidFill>
                <a:latin typeface="Santander Text"/>
              </a:rPr>
              <a:t>Centralized GitHub repository for all entities (Terraform enterprise).</a:t>
            </a:r>
          </a:p>
          <a:p>
            <a:pPr marL="539750" lvl="1" indent="-179388">
              <a:buClr>
                <a:srgbClr val="EC0000"/>
              </a:buClr>
              <a:buFont typeface="Arial" panose="020B0604020202020204" pitchFamily="34" charset="0"/>
              <a:buChar char="•"/>
              <a:defRPr/>
            </a:pPr>
            <a:r>
              <a:rPr lang="en-AU" kern="0">
                <a:solidFill>
                  <a:prstClr val="black"/>
                </a:solidFill>
                <a:latin typeface="Santander Text"/>
              </a:rPr>
              <a:t>ServiceNow integration (assets inventory).</a:t>
            </a:r>
          </a:p>
          <a:p>
            <a:pPr marR="0" lvl="0" algn="l"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endParaRPr lang="en-AU" kern="0">
              <a:solidFill>
                <a:srgbClr val="DEEDF1">
                  <a:lumMod val="25000"/>
                </a:srgbClr>
              </a:solidFill>
              <a:latin typeface="Santander Text" panose="020B0504020201020104" pitchFamily="34" charset="0"/>
            </a:endParaRPr>
          </a:p>
        </p:txBody>
      </p:sp>
      <p:sp>
        <p:nvSpPr>
          <p:cNvPr id="2" name="Rectángulo 1">
            <a:extLst>
              <a:ext uri="{FF2B5EF4-FFF2-40B4-BE49-F238E27FC236}">
                <a16:creationId xmlns:a16="http://schemas.microsoft.com/office/drawing/2014/main" id="{7742F556-EB11-59DA-2D7D-16B761DD93FD}"/>
              </a:ext>
            </a:extLst>
          </p:cNvPr>
          <p:cNvSpPr/>
          <p:nvPr/>
        </p:nvSpPr>
        <p:spPr>
          <a:xfrm>
            <a:off x="846864" y="1937283"/>
            <a:ext cx="1440000" cy="540000"/>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t" anchorCtr="0"/>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AWS landing zone v4</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endParaRPr>
          </a:p>
        </p:txBody>
      </p:sp>
      <p:cxnSp>
        <p:nvCxnSpPr>
          <p:cNvPr id="68" name="Conector recto 67">
            <a:extLst>
              <a:ext uri="{FF2B5EF4-FFF2-40B4-BE49-F238E27FC236}">
                <a16:creationId xmlns:a16="http://schemas.microsoft.com/office/drawing/2014/main" id="{1C2EBC18-F43D-5065-B5E6-9694A1F0E736}"/>
              </a:ext>
            </a:extLst>
          </p:cNvPr>
          <p:cNvCxnSpPr>
            <a:cxnSpLocks/>
          </p:cNvCxnSpPr>
          <p:nvPr/>
        </p:nvCxnSpPr>
        <p:spPr>
          <a:xfrm flipH="1" flipV="1">
            <a:off x="846864" y="5386268"/>
            <a:ext cx="5112000" cy="0"/>
          </a:xfrm>
          <a:prstGeom prst="line">
            <a:avLst/>
          </a:prstGeom>
          <a:noFill/>
          <a:ln w="12700" cap="flat" cmpd="sng" algn="ctr">
            <a:solidFill>
              <a:schemeClr val="bg1">
                <a:lumMod val="85000"/>
              </a:schemeClr>
            </a:solidFill>
            <a:prstDash val="solid"/>
            <a:miter lim="800000"/>
          </a:ln>
          <a:effectLst/>
        </p:spPr>
      </p:cxnSp>
      <p:sp>
        <p:nvSpPr>
          <p:cNvPr id="69" name="CuadroTexto 68">
            <a:extLst>
              <a:ext uri="{FF2B5EF4-FFF2-40B4-BE49-F238E27FC236}">
                <a16:creationId xmlns:a16="http://schemas.microsoft.com/office/drawing/2014/main" id="{AA290637-386E-F61D-C964-190C45A65A86}"/>
              </a:ext>
            </a:extLst>
          </p:cNvPr>
          <p:cNvSpPr txBox="1"/>
          <p:nvPr/>
        </p:nvSpPr>
        <p:spPr>
          <a:xfrm>
            <a:off x="2434281" y="5552304"/>
            <a:ext cx="3630260" cy="276999"/>
          </a:xfrm>
          <a:prstGeom prst="rect">
            <a:avLst/>
          </a:prstGeom>
          <a:noFill/>
        </p:spPr>
        <p:txBody>
          <a:bodyPr wrap="square">
            <a:spAutoFit/>
          </a:bodyPr>
          <a:lstStyle/>
          <a:p>
            <a:pPr marL="180000" indent="-180000">
              <a:buClr>
                <a:srgbClr val="FF0000"/>
              </a:buClr>
              <a:buFont typeface="Wingdings" panose="05000000000000000000" pitchFamily="2" charset="2"/>
              <a:buChar char="§"/>
              <a:defRPr/>
            </a:pPr>
            <a:r>
              <a:rPr lang="en-US" sz="1200" kern="0">
                <a:solidFill>
                  <a:prstClr val="black"/>
                </a:solidFill>
                <a:latin typeface="Santander Text"/>
              </a:rPr>
              <a:t>Same for MS Azure Technologies</a:t>
            </a:r>
            <a:endParaRPr lang="es-ES" sz="1200" kern="0">
              <a:solidFill>
                <a:prstClr val="black"/>
              </a:solidFill>
              <a:latin typeface="Santander Text"/>
            </a:endParaRPr>
          </a:p>
        </p:txBody>
      </p:sp>
      <p:sp>
        <p:nvSpPr>
          <p:cNvPr id="70" name="Rectángulo 69">
            <a:extLst>
              <a:ext uri="{FF2B5EF4-FFF2-40B4-BE49-F238E27FC236}">
                <a16:creationId xmlns:a16="http://schemas.microsoft.com/office/drawing/2014/main" id="{F1DA59C7-17B1-7D43-1B8A-D61269B82C7C}"/>
              </a:ext>
            </a:extLst>
          </p:cNvPr>
          <p:cNvSpPr/>
          <p:nvPr/>
        </p:nvSpPr>
        <p:spPr>
          <a:xfrm>
            <a:off x="994281" y="5552304"/>
            <a:ext cx="1440000" cy="540000"/>
          </a:xfrm>
          <a:prstGeom prst="rect">
            <a:avLst/>
          </a:prstGeom>
          <a:solidFill>
            <a:schemeClr val="bg1"/>
          </a:solidFill>
          <a:ln w="12700" cap="flat" cmpd="sng" algn="ctr">
            <a:solidFill>
              <a:schemeClr val="bg2">
                <a:lumMod val="50000"/>
              </a:schemeClr>
            </a:solidFill>
            <a:prstDash val="solid"/>
            <a:miter lim="800000"/>
          </a:ln>
          <a:effectLst/>
        </p:spPr>
        <p:txBody>
          <a:bodyPr lIns="72000" rIns="72000" rtlCol="0" anchor="t"/>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Azure Landing zone v4</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endParaRPr>
          </a:p>
        </p:txBody>
      </p:sp>
      <p:sp>
        <p:nvSpPr>
          <p:cNvPr id="5" name="CuadroTexto 4">
            <a:extLst>
              <a:ext uri="{FF2B5EF4-FFF2-40B4-BE49-F238E27FC236}">
                <a16:creationId xmlns:a16="http://schemas.microsoft.com/office/drawing/2014/main" id="{300A4DEE-C9B1-87D4-5469-55CF6983C3A8}"/>
              </a:ext>
            </a:extLst>
          </p:cNvPr>
          <p:cNvSpPr txBox="1"/>
          <p:nvPr/>
        </p:nvSpPr>
        <p:spPr>
          <a:xfrm>
            <a:off x="8057683" y="1937158"/>
            <a:ext cx="3630260" cy="1384995"/>
          </a:xfrm>
          <a:prstGeom prst="rect">
            <a:avLst/>
          </a:prstGeom>
          <a:noFill/>
        </p:spPr>
        <p:txBody>
          <a:bodyPr wrap="square">
            <a:spAutoFit/>
          </a:bodyPr>
          <a:lstStyle/>
          <a:p>
            <a:pPr marL="180000" indent="-180000">
              <a:buClr>
                <a:srgbClr val="FF0000"/>
              </a:buClr>
              <a:buFont typeface="Wingdings" panose="05000000000000000000" pitchFamily="2" charset="2"/>
              <a:buChar char="§"/>
              <a:defRPr/>
            </a:pPr>
            <a:r>
              <a:rPr lang="en-US" sz="1200" kern="0">
                <a:solidFill>
                  <a:prstClr val="black"/>
                </a:solidFill>
                <a:latin typeface="Santander Text"/>
              </a:rPr>
              <a:t>Set of different core modules related to the infrastructure layer deployed in our datacenters encompassed within OHE and associated services, which will allow a better manage lifecycle (obsolescence), reduce operational and cybersecurity risks and will be more cost-effective through simplification and standardization</a:t>
            </a:r>
            <a:endParaRPr lang="es-ES" sz="1200" kern="0">
              <a:solidFill>
                <a:prstClr val="black"/>
              </a:solidFill>
              <a:latin typeface="Santander Text"/>
            </a:endParaRPr>
          </a:p>
        </p:txBody>
      </p:sp>
      <p:sp>
        <p:nvSpPr>
          <p:cNvPr id="12" name="Rectángulo 11">
            <a:extLst>
              <a:ext uri="{FF2B5EF4-FFF2-40B4-BE49-F238E27FC236}">
                <a16:creationId xmlns:a16="http://schemas.microsoft.com/office/drawing/2014/main" id="{E48579C1-32FE-D5B3-392E-95885BDC3909}"/>
              </a:ext>
            </a:extLst>
          </p:cNvPr>
          <p:cNvSpPr/>
          <p:nvPr/>
        </p:nvSpPr>
        <p:spPr>
          <a:xfrm>
            <a:off x="6467943" y="1969522"/>
            <a:ext cx="1440000" cy="540000"/>
          </a:xfrm>
          <a:prstGeom prst="rect">
            <a:avLst/>
          </a:prstGeom>
          <a:solidFill>
            <a:schemeClr val="bg1"/>
          </a:solidFill>
          <a:ln w="12700" cap="flat" cmpd="sng" algn="ctr">
            <a:solidFill>
              <a:schemeClr val="bg2">
                <a:lumMod val="75000"/>
              </a:schemeClr>
            </a:solidFill>
            <a:prstDash val="solid"/>
            <a:miter lim="800000"/>
          </a:ln>
          <a:effectLst/>
        </p:spPr>
        <p:txBody>
          <a:bodyPr lIns="0" rIns="0" rtlCol="0" anchor="ctr"/>
          <a:lstStyle/>
          <a:p>
            <a:pPr algn="ctr">
              <a:spcAft>
                <a:spcPts val="600"/>
              </a:spcAft>
            </a:pPr>
            <a:r>
              <a:rPr lang="en-AU" sz="1400" kern="0">
                <a:solidFill>
                  <a:srgbClr val="DEEDF1">
                    <a:lumMod val="25000"/>
                  </a:srgbClr>
                </a:solidFill>
                <a:latin typeface="Santander Text"/>
              </a:rPr>
              <a:t>Private Cloud</a:t>
            </a:r>
          </a:p>
        </p:txBody>
      </p:sp>
      <p:cxnSp>
        <p:nvCxnSpPr>
          <p:cNvPr id="13" name="Conector recto 12">
            <a:extLst>
              <a:ext uri="{FF2B5EF4-FFF2-40B4-BE49-F238E27FC236}">
                <a16:creationId xmlns:a16="http://schemas.microsoft.com/office/drawing/2014/main" id="{B555DEAA-D3FB-43A3-ABA8-B176495D29F5}"/>
              </a:ext>
            </a:extLst>
          </p:cNvPr>
          <p:cNvCxnSpPr>
            <a:cxnSpLocks/>
          </p:cNvCxnSpPr>
          <p:nvPr/>
        </p:nvCxnSpPr>
        <p:spPr>
          <a:xfrm flipH="1" flipV="1">
            <a:off x="6447447" y="3553543"/>
            <a:ext cx="5112000" cy="0"/>
          </a:xfrm>
          <a:prstGeom prst="line">
            <a:avLst/>
          </a:prstGeom>
          <a:noFill/>
          <a:ln w="12700" cap="flat" cmpd="sng" algn="ctr">
            <a:solidFill>
              <a:schemeClr val="bg1">
                <a:lumMod val="85000"/>
              </a:schemeClr>
            </a:solidFill>
            <a:prstDash val="solid"/>
            <a:miter lim="800000"/>
          </a:ln>
          <a:effectLst/>
        </p:spPr>
      </p:cxnSp>
      <p:sp>
        <p:nvSpPr>
          <p:cNvPr id="14" name="CuadroTexto 13">
            <a:extLst>
              <a:ext uri="{FF2B5EF4-FFF2-40B4-BE49-F238E27FC236}">
                <a16:creationId xmlns:a16="http://schemas.microsoft.com/office/drawing/2014/main" id="{C762C647-E90B-FA42-A19C-52C8DBE656EF}"/>
              </a:ext>
            </a:extLst>
          </p:cNvPr>
          <p:cNvSpPr txBox="1"/>
          <p:nvPr/>
        </p:nvSpPr>
        <p:spPr>
          <a:xfrm>
            <a:off x="8074060" y="3598678"/>
            <a:ext cx="3630260" cy="1015663"/>
          </a:xfrm>
          <a:prstGeom prst="rect">
            <a:avLst/>
          </a:prstGeom>
          <a:noFill/>
        </p:spPr>
        <p:txBody>
          <a:bodyPr wrap="square">
            <a:spAutoFit/>
          </a:bodyPr>
          <a:lstStyle/>
          <a:p>
            <a:pPr marL="180000" indent="-180000">
              <a:buClr>
                <a:srgbClr val="FF0000"/>
              </a:buClr>
              <a:buFont typeface="Wingdings" panose="05000000000000000000" pitchFamily="2" charset="2"/>
              <a:buChar char="§"/>
              <a:defRPr/>
            </a:pPr>
            <a:r>
              <a:rPr lang="en-US" sz="1200" kern="0">
                <a:solidFill>
                  <a:prstClr val="black"/>
                </a:solidFill>
                <a:latin typeface="Santander Text"/>
              </a:rPr>
              <a:t>Provides reliable, E2E observable, secured and efficient networking capabilities to enable our global workforce and Santander customers to access globally distributed platforms.</a:t>
            </a:r>
          </a:p>
          <a:p>
            <a:pPr marL="180000" indent="-180000">
              <a:buClr>
                <a:srgbClr val="FF0000"/>
              </a:buClr>
              <a:buFont typeface="Wingdings" panose="05000000000000000000" pitchFamily="2" charset="2"/>
              <a:buChar char="§"/>
              <a:defRPr/>
            </a:pPr>
            <a:endParaRPr lang="es-ES" sz="1200" kern="0">
              <a:solidFill>
                <a:prstClr val="black"/>
              </a:solidFill>
              <a:latin typeface="Santander Text"/>
            </a:endParaRPr>
          </a:p>
        </p:txBody>
      </p:sp>
      <p:sp>
        <p:nvSpPr>
          <p:cNvPr id="15" name="Rectángulo 14">
            <a:extLst>
              <a:ext uri="{FF2B5EF4-FFF2-40B4-BE49-F238E27FC236}">
                <a16:creationId xmlns:a16="http://schemas.microsoft.com/office/drawing/2014/main" id="{A189B962-71EA-8D22-E8B3-5C8989B45489}"/>
              </a:ext>
            </a:extLst>
          </p:cNvPr>
          <p:cNvSpPr/>
          <p:nvPr/>
        </p:nvSpPr>
        <p:spPr>
          <a:xfrm>
            <a:off x="6463824" y="3709460"/>
            <a:ext cx="1440000" cy="540000"/>
          </a:xfrm>
          <a:prstGeom prst="rect">
            <a:avLst/>
          </a:prstGeom>
          <a:solidFill>
            <a:schemeClr val="bg1"/>
          </a:solidFill>
          <a:ln w="12700" cap="flat" cmpd="sng" algn="ctr">
            <a:solidFill>
              <a:schemeClr val="bg2">
                <a:lumMod val="75000"/>
              </a:schemeClr>
            </a:solidFill>
            <a:prstDash val="solid"/>
            <a:miter lim="800000"/>
          </a:ln>
          <a:effectLst/>
        </p:spPr>
        <p:txBody>
          <a:bodyPr lIns="0" rIns="0" rtlCol="0" anchor="ctr"/>
          <a:lstStyle/>
          <a:p>
            <a:pPr algn="ctr">
              <a:spcAft>
                <a:spcPts val="600"/>
              </a:spcAft>
            </a:pPr>
            <a:r>
              <a:rPr lang="en-AU" sz="1400" kern="0">
                <a:solidFill>
                  <a:srgbClr val="DEEDF1">
                    <a:lumMod val="25000"/>
                  </a:srgbClr>
                </a:solidFill>
                <a:latin typeface="Santander Text"/>
              </a:rPr>
              <a:t>Network</a:t>
            </a:r>
          </a:p>
        </p:txBody>
      </p:sp>
      <p:cxnSp>
        <p:nvCxnSpPr>
          <p:cNvPr id="16" name="Conector recto 15">
            <a:extLst>
              <a:ext uri="{FF2B5EF4-FFF2-40B4-BE49-F238E27FC236}">
                <a16:creationId xmlns:a16="http://schemas.microsoft.com/office/drawing/2014/main" id="{91D79062-43CA-7278-AE74-057EECCD112A}"/>
              </a:ext>
            </a:extLst>
          </p:cNvPr>
          <p:cNvCxnSpPr>
            <a:cxnSpLocks/>
          </p:cNvCxnSpPr>
          <p:nvPr/>
        </p:nvCxnSpPr>
        <p:spPr>
          <a:xfrm flipH="1" flipV="1">
            <a:off x="6443328" y="4514353"/>
            <a:ext cx="5112000" cy="0"/>
          </a:xfrm>
          <a:prstGeom prst="line">
            <a:avLst/>
          </a:prstGeom>
          <a:noFill/>
          <a:ln w="12700" cap="flat" cmpd="sng" algn="ctr">
            <a:solidFill>
              <a:schemeClr val="bg1">
                <a:lumMod val="85000"/>
              </a:schemeClr>
            </a:solidFill>
            <a:prstDash val="solid"/>
            <a:miter lim="800000"/>
          </a:ln>
          <a:effectLst/>
        </p:spPr>
      </p:cxnSp>
      <p:sp>
        <p:nvSpPr>
          <p:cNvPr id="18" name="CuadroTexto 17">
            <a:extLst>
              <a:ext uri="{FF2B5EF4-FFF2-40B4-BE49-F238E27FC236}">
                <a16:creationId xmlns:a16="http://schemas.microsoft.com/office/drawing/2014/main" id="{20EF0FF5-ACD1-E561-0659-ADDC89249A3B}"/>
              </a:ext>
            </a:extLst>
          </p:cNvPr>
          <p:cNvSpPr txBox="1"/>
          <p:nvPr/>
        </p:nvSpPr>
        <p:spPr>
          <a:xfrm>
            <a:off x="8053564" y="4807601"/>
            <a:ext cx="3630260" cy="1384995"/>
          </a:xfrm>
          <a:prstGeom prst="rect">
            <a:avLst/>
          </a:prstGeom>
          <a:noFill/>
        </p:spPr>
        <p:txBody>
          <a:bodyPr wrap="square">
            <a:spAutoFit/>
          </a:bodyPr>
          <a:lstStyle/>
          <a:p>
            <a:pPr marL="180000" indent="-180000">
              <a:buClr>
                <a:srgbClr val="FF0000"/>
              </a:buClr>
              <a:buFont typeface="Wingdings" panose="05000000000000000000" pitchFamily="2" charset="2"/>
              <a:buChar char="§"/>
              <a:defRPr/>
            </a:pPr>
            <a:r>
              <a:rPr lang="en-US" sz="1200" kern="0">
                <a:solidFill>
                  <a:prstClr val="black"/>
                </a:solidFill>
                <a:latin typeface="Santander Text"/>
              </a:rPr>
              <a:t>Set of capabilities, standards and tools to build the Observability platform to get a holistic view of the state of the whole system, which allows making data-driven decisions and enables the execution of immediate actions, achieving significant financial gain.</a:t>
            </a:r>
          </a:p>
          <a:p>
            <a:pPr marL="180000" indent="-180000">
              <a:buClr>
                <a:srgbClr val="FF0000"/>
              </a:buClr>
              <a:buFont typeface="Wingdings" panose="05000000000000000000" pitchFamily="2" charset="2"/>
              <a:buChar char="§"/>
              <a:defRPr/>
            </a:pPr>
            <a:endParaRPr lang="es-ES" sz="1200" kern="0">
              <a:solidFill>
                <a:prstClr val="black"/>
              </a:solidFill>
              <a:latin typeface="Santander Text"/>
            </a:endParaRPr>
          </a:p>
        </p:txBody>
      </p:sp>
      <p:sp>
        <p:nvSpPr>
          <p:cNvPr id="19" name="Rectángulo 18">
            <a:extLst>
              <a:ext uri="{FF2B5EF4-FFF2-40B4-BE49-F238E27FC236}">
                <a16:creationId xmlns:a16="http://schemas.microsoft.com/office/drawing/2014/main" id="{43138909-FE40-A459-7C6E-E1D649FB5147}"/>
              </a:ext>
            </a:extLst>
          </p:cNvPr>
          <p:cNvSpPr/>
          <p:nvPr/>
        </p:nvSpPr>
        <p:spPr>
          <a:xfrm>
            <a:off x="6463824" y="4839965"/>
            <a:ext cx="1440000" cy="540000"/>
          </a:xfrm>
          <a:prstGeom prst="rect">
            <a:avLst/>
          </a:prstGeom>
          <a:solidFill>
            <a:schemeClr val="bg1"/>
          </a:solidFill>
          <a:ln w="12700" cap="flat" cmpd="sng" algn="ctr">
            <a:solidFill>
              <a:schemeClr val="bg2">
                <a:lumMod val="75000"/>
              </a:schemeClr>
            </a:solidFill>
            <a:prstDash val="solid"/>
            <a:miter lim="800000"/>
          </a:ln>
          <a:effectLst/>
        </p:spPr>
        <p:txBody>
          <a:bodyPr lIns="0" rIns="0" rtlCol="0" anchor="ctr"/>
          <a:lstStyle/>
          <a:p>
            <a:pPr algn="ctr">
              <a:spcAft>
                <a:spcPts val="600"/>
              </a:spcAft>
            </a:pPr>
            <a:r>
              <a:rPr lang="en-AU" sz="1400" kern="0">
                <a:solidFill>
                  <a:srgbClr val="DEEDF1">
                    <a:lumMod val="25000"/>
                  </a:srgbClr>
                </a:solidFill>
                <a:latin typeface="Santander Text"/>
              </a:rPr>
              <a:t>Observability</a:t>
            </a:r>
          </a:p>
        </p:txBody>
      </p:sp>
      <p:cxnSp>
        <p:nvCxnSpPr>
          <p:cNvPr id="20" name="Conector recto 19">
            <a:extLst>
              <a:ext uri="{FF2B5EF4-FFF2-40B4-BE49-F238E27FC236}">
                <a16:creationId xmlns:a16="http://schemas.microsoft.com/office/drawing/2014/main" id="{E9D16E26-F605-98EA-2CFE-C2A968A783D6}"/>
              </a:ext>
            </a:extLst>
          </p:cNvPr>
          <p:cNvCxnSpPr>
            <a:cxnSpLocks/>
          </p:cNvCxnSpPr>
          <p:nvPr/>
        </p:nvCxnSpPr>
        <p:spPr>
          <a:xfrm flipH="1" flipV="1">
            <a:off x="6463824" y="6030312"/>
            <a:ext cx="5112000" cy="0"/>
          </a:xfrm>
          <a:prstGeom prst="line">
            <a:avLst/>
          </a:prstGeom>
          <a:noFill/>
          <a:ln w="12700" cap="flat" cmpd="sng" algn="ctr">
            <a:solidFill>
              <a:schemeClr val="bg1">
                <a:lumMod val="85000"/>
              </a:schemeClr>
            </a:solidFill>
            <a:prstDash val="solid"/>
            <a:miter lim="800000"/>
          </a:ln>
          <a:effectLst/>
        </p:spPr>
      </p:cxnSp>
      <p:sp>
        <p:nvSpPr>
          <p:cNvPr id="4" name="Título 1">
            <a:extLst>
              <a:ext uri="{FF2B5EF4-FFF2-40B4-BE49-F238E27FC236}">
                <a16:creationId xmlns:a16="http://schemas.microsoft.com/office/drawing/2014/main" id="{F13C819F-C9B2-DD33-5C05-628859555CCD}"/>
              </a:ext>
            </a:extLst>
          </p:cNvPr>
          <p:cNvSpPr txBox="1">
            <a:spLocks/>
          </p:cNvSpPr>
          <p:nvPr/>
        </p:nvSpPr>
        <p:spPr>
          <a:xfrm>
            <a:off x="685174" y="733632"/>
            <a:ext cx="10758734" cy="262807"/>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lang="en-US" sz="2800" b="1" kern="1200" dirty="0">
                <a:solidFill>
                  <a:schemeClr val="accent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2400" b="1" i="0" u="none" strike="noStrike" kern="1200" cap="none" spc="0" normalizeH="0" baseline="0" noProof="1">
                <a:ln>
                  <a:noFill/>
                </a:ln>
                <a:solidFill>
                  <a:srgbClr val="EB0000"/>
                </a:solidFill>
                <a:effectLst/>
                <a:uLnTx/>
                <a:uFillTx/>
                <a:latin typeface="Santander Headline" panose="020B0504020201020104" pitchFamily="34" charset="0"/>
                <a:ea typeface="+mj-ea"/>
                <a:cs typeface="+mj-cs"/>
              </a:rPr>
              <a:t>Global Technology.  </a:t>
            </a:r>
            <a:r>
              <a:rPr lang="en-GB" sz="2400" noProof="1">
                <a:solidFill>
                  <a:schemeClr val="bg1">
                    <a:lumMod val="75000"/>
                  </a:schemeClr>
                </a:solidFill>
              </a:rPr>
              <a:t>Global Tech Hub &amp; Infra Hub</a:t>
            </a:r>
          </a:p>
        </p:txBody>
      </p:sp>
    </p:spTree>
    <p:extLst>
      <p:ext uri="{BB962C8B-B14F-4D97-AF65-F5344CB8AC3E}">
        <p14:creationId xmlns:p14="http://schemas.microsoft.com/office/powerpoint/2010/main" val="3447967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D7383-0922-3A59-6BBC-CC45C3A87053}"/>
            </a:ext>
          </a:extLst>
        </p:cNvPr>
        <p:cNvGrpSpPr/>
        <p:nvPr/>
      </p:nvGrpSpPr>
      <p:grpSpPr>
        <a:xfrm>
          <a:off x="0" y="0"/>
          <a:ext cx="0" cy="0"/>
          <a:chOff x="0" y="0"/>
          <a:chExt cx="0" cy="0"/>
        </a:xfrm>
      </p:grpSpPr>
      <p:sp>
        <p:nvSpPr>
          <p:cNvPr id="17" name="Text Placeholder 2">
            <a:extLst>
              <a:ext uri="{FF2B5EF4-FFF2-40B4-BE49-F238E27FC236}">
                <a16:creationId xmlns:a16="http://schemas.microsoft.com/office/drawing/2014/main" id="{EBAF43FB-4812-A7BE-E4AE-E61E29ABB1D3}"/>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21" name="CuadroTexto 20">
            <a:extLst>
              <a:ext uri="{FF2B5EF4-FFF2-40B4-BE49-F238E27FC236}">
                <a16:creationId xmlns:a16="http://schemas.microsoft.com/office/drawing/2014/main" id="{292605E0-2B19-EA65-1A04-8BA000EF4586}"/>
              </a:ext>
            </a:extLst>
          </p:cNvPr>
          <p:cNvSpPr txBox="1"/>
          <p:nvPr/>
        </p:nvSpPr>
        <p:spPr>
          <a:xfrm>
            <a:off x="684804" y="1272724"/>
            <a:ext cx="5111998" cy="338554"/>
          </a:xfrm>
          <a:prstGeom prst="rect">
            <a:avLst/>
          </a:prstGeom>
          <a:noFill/>
        </p:spPr>
        <p:txBody>
          <a:bodyPr wrap="square" rtlCol="0">
            <a:spAutoFit/>
          </a:bodyPr>
          <a:lstStyle/>
          <a:p>
            <a:pPr marL="355600" marR="0" lvl="0" indent="-355600" algn="l" defTabSz="914400" rtl="0" eaLnBrk="1" fontAlgn="auto" latinLnBrk="0" hangingPunct="1">
              <a:lnSpc>
                <a:spcPct val="100000"/>
              </a:lnSpc>
              <a:spcBef>
                <a:spcPts val="0"/>
              </a:spcBef>
              <a:spcAft>
                <a:spcPts val="300"/>
              </a:spcAft>
              <a:buClrTx/>
              <a:buSzTx/>
              <a:buFontTx/>
              <a:buNone/>
              <a:tabLst/>
              <a:defRPr/>
            </a:pPr>
            <a:r>
              <a:rPr kumimoji="0" lang="en-AU"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1</a:t>
            </a:r>
            <a:r>
              <a:rPr lang="en-AU" sz="1600" b="1" kern="0">
                <a:solidFill>
                  <a:srgbClr val="DEEDF1">
                    <a:lumMod val="25000"/>
                  </a:srgbClr>
                </a:solidFill>
                <a:latin typeface="Santander Text" panose="020B0504020201020104" pitchFamily="34" charset="0"/>
              </a:rPr>
              <a:t>-</a:t>
            </a:r>
            <a:r>
              <a:rPr kumimoji="0" lang="en-AU"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 </a:t>
            </a:r>
            <a:r>
              <a:rPr lang="en-GB" sz="1600" b="1" kern="0">
                <a:solidFill>
                  <a:srgbClr val="DEEDF1">
                    <a:lumMod val="25000"/>
                  </a:srgbClr>
                </a:solidFill>
                <a:latin typeface="Santander Text" panose="020B0504020201020104" pitchFamily="34" charset="0"/>
              </a:rPr>
              <a:t>Client Sales Services</a:t>
            </a:r>
          </a:p>
        </p:txBody>
      </p:sp>
      <p:cxnSp>
        <p:nvCxnSpPr>
          <p:cNvPr id="22" name="Conector recto 21">
            <a:extLst>
              <a:ext uri="{FF2B5EF4-FFF2-40B4-BE49-F238E27FC236}">
                <a16:creationId xmlns:a16="http://schemas.microsoft.com/office/drawing/2014/main" id="{C04B4E21-5C23-B06D-8C9B-42A1A8645D36}"/>
              </a:ext>
            </a:extLst>
          </p:cNvPr>
          <p:cNvCxnSpPr>
            <a:cxnSpLocks/>
          </p:cNvCxnSpPr>
          <p:nvPr/>
        </p:nvCxnSpPr>
        <p:spPr>
          <a:xfrm flipH="1" flipV="1">
            <a:off x="711024" y="1678564"/>
            <a:ext cx="5112000" cy="0"/>
          </a:xfrm>
          <a:prstGeom prst="line">
            <a:avLst/>
          </a:prstGeom>
          <a:noFill/>
          <a:ln w="12700" cap="flat" cmpd="sng" algn="ctr">
            <a:solidFill>
              <a:srgbClr val="595959"/>
            </a:solidFill>
            <a:prstDash val="solid"/>
            <a:miter lim="800000"/>
          </a:ln>
          <a:effectLst/>
        </p:spPr>
      </p:cxnSp>
      <p:sp>
        <p:nvSpPr>
          <p:cNvPr id="32" name="CuadroTexto 31">
            <a:extLst>
              <a:ext uri="{FF2B5EF4-FFF2-40B4-BE49-F238E27FC236}">
                <a16:creationId xmlns:a16="http://schemas.microsoft.com/office/drawing/2014/main" id="{1DF6607A-42BC-2F37-C6A9-07E31D9A1E2D}"/>
              </a:ext>
            </a:extLst>
          </p:cNvPr>
          <p:cNvSpPr txBox="1"/>
          <p:nvPr/>
        </p:nvSpPr>
        <p:spPr>
          <a:xfrm>
            <a:off x="6157574" y="1278505"/>
            <a:ext cx="5832136" cy="338554"/>
          </a:xfrm>
          <a:prstGeom prst="rect">
            <a:avLst/>
          </a:prstGeom>
          <a:noFill/>
        </p:spPr>
        <p:txBody>
          <a:bodyPr wrap="square" rtlCol="0">
            <a:spAutoFit/>
          </a:bodyPr>
          <a:lstStyle/>
          <a:p>
            <a:pPr marL="355600" marR="0" lvl="0" indent="-355600" algn="l" defTabSz="914400" rtl="0" eaLnBrk="1" fontAlgn="auto" latinLnBrk="0" hangingPunct="1">
              <a:lnSpc>
                <a:spcPct val="100000"/>
              </a:lnSpc>
              <a:spcBef>
                <a:spcPts val="0"/>
              </a:spcBef>
              <a:spcAft>
                <a:spcPts val="300"/>
              </a:spcAft>
              <a:buClrTx/>
              <a:buSzTx/>
              <a:buFontTx/>
              <a:buNone/>
              <a:tabLst/>
              <a:defRPr/>
            </a:pPr>
            <a:r>
              <a:rPr kumimoji="0" lang="en-AU"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2</a:t>
            </a:r>
            <a:r>
              <a:rPr lang="en-AU" sz="1600" b="1" kern="0">
                <a:solidFill>
                  <a:srgbClr val="DEEDF1">
                    <a:lumMod val="25000"/>
                  </a:srgbClr>
                </a:solidFill>
                <a:latin typeface="Santander Text" panose="020B0504020201020104" pitchFamily="34" charset="0"/>
              </a:rPr>
              <a:t>-</a:t>
            </a:r>
            <a:r>
              <a:rPr kumimoji="0" lang="en-AU"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 </a:t>
            </a:r>
            <a:r>
              <a:rPr lang="en-GB" sz="1600" b="1">
                <a:solidFill>
                  <a:srgbClr val="DEEDF1">
                    <a:lumMod val="25000"/>
                  </a:srgbClr>
                </a:solidFill>
                <a:latin typeface="Santander Text" panose="020B0504020201020104" pitchFamily="34" charset="0"/>
              </a:rPr>
              <a:t>Client Banking Services</a:t>
            </a:r>
            <a:endParaRPr lang="en-GB" sz="800" i="1">
              <a:solidFill>
                <a:srgbClr val="DEEDF1">
                  <a:lumMod val="25000"/>
                </a:srgbClr>
              </a:solidFill>
              <a:latin typeface="Santander Text" panose="020B0504020201020104" pitchFamily="34" charset="0"/>
            </a:endParaRPr>
          </a:p>
        </p:txBody>
      </p:sp>
      <p:cxnSp>
        <p:nvCxnSpPr>
          <p:cNvPr id="33" name="Conector recto 32">
            <a:extLst>
              <a:ext uri="{FF2B5EF4-FFF2-40B4-BE49-F238E27FC236}">
                <a16:creationId xmlns:a16="http://schemas.microsoft.com/office/drawing/2014/main" id="{CD804BB2-94C3-D8E9-0781-87C3FF95650F}"/>
              </a:ext>
            </a:extLst>
          </p:cNvPr>
          <p:cNvCxnSpPr>
            <a:cxnSpLocks/>
          </p:cNvCxnSpPr>
          <p:nvPr/>
        </p:nvCxnSpPr>
        <p:spPr>
          <a:xfrm flipH="1">
            <a:off x="6122226" y="1678564"/>
            <a:ext cx="5536374" cy="0"/>
          </a:xfrm>
          <a:prstGeom prst="line">
            <a:avLst/>
          </a:prstGeom>
          <a:noFill/>
          <a:ln w="12700" cap="flat" cmpd="sng" algn="ctr">
            <a:solidFill>
              <a:srgbClr val="595959"/>
            </a:solidFill>
            <a:prstDash val="solid"/>
            <a:miter lim="800000"/>
          </a:ln>
          <a:effectLst/>
        </p:spPr>
      </p:cxnSp>
      <p:sp>
        <p:nvSpPr>
          <p:cNvPr id="34" name="CuadroTexto 33">
            <a:extLst>
              <a:ext uri="{FF2B5EF4-FFF2-40B4-BE49-F238E27FC236}">
                <a16:creationId xmlns:a16="http://schemas.microsoft.com/office/drawing/2014/main" id="{F2327842-AB55-522F-3705-7A061C7A3172}"/>
              </a:ext>
            </a:extLst>
          </p:cNvPr>
          <p:cNvSpPr txBox="1"/>
          <p:nvPr/>
        </p:nvSpPr>
        <p:spPr>
          <a:xfrm>
            <a:off x="7735879" y="2090478"/>
            <a:ext cx="4004805" cy="909402"/>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just">
              <a:spcBef>
                <a:spcPts val="0"/>
              </a:spcBef>
              <a:buClr>
                <a:srgbClr val="FF0000"/>
              </a:buClr>
              <a:buFont typeface="Wingdings" panose="05000000000000000000" pitchFamily="2" charset="2"/>
              <a:buChar char="§"/>
              <a:defRPr/>
            </a:pPr>
            <a:r>
              <a:rPr lang="en-US" sz="1000" b="0" i="0" u="none" strike="noStrike">
                <a:solidFill>
                  <a:srgbClr val="000000"/>
                </a:solidFill>
                <a:effectLst/>
                <a:latin typeface="Aptos Narrow" panose="020B0004020202020204" pitchFamily="34" charset="0"/>
              </a:rPr>
              <a:t>Part of the NEXUS Suite, Nexus Portal is the primary Internet Banking portal for Corporate clients in SCIB and top end Commercial clients.</a:t>
            </a:r>
            <a:br>
              <a:rPr lang="en-US" sz="1000" b="0" i="0" u="none" strike="noStrike">
                <a:solidFill>
                  <a:srgbClr val="000000"/>
                </a:solidFill>
                <a:effectLst/>
                <a:latin typeface="Aptos Narrow" panose="020B0004020202020204" pitchFamily="34" charset="0"/>
              </a:rPr>
            </a:br>
            <a:r>
              <a:rPr lang="en-US" sz="1000" b="0" i="0" u="none" strike="noStrike">
                <a:solidFill>
                  <a:srgbClr val="000000"/>
                </a:solidFill>
                <a:effectLst/>
                <a:latin typeface="Aptos Narrow" panose="020B0004020202020204" pitchFamily="34" charset="0"/>
              </a:rPr>
              <a:t>Nexus Portal allows our clients to have a single view of their cash management positions across their accounts in branches, bank subsidiaries and from other partner banks.</a:t>
            </a:r>
            <a:br>
              <a:rPr lang="en-US" sz="1000" b="0" i="0" u="none" strike="noStrike">
                <a:solidFill>
                  <a:srgbClr val="000000"/>
                </a:solidFill>
                <a:effectLst/>
                <a:latin typeface="Aptos Narrow" panose="020B0004020202020204" pitchFamily="34" charset="0"/>
              </a:rPr>
            </a:br>
            <a:endParaRPr lang="es-ES" sz="1000">
              <a:solidFill>
                <a:prstClr val="black"/>
              </a:solidFill>
              <a:latin typeface="Santander Text" panose="020B0504020201020104" pitchFamily="34" charset="0"/>
            </a:endParaRPr>
          </a:p>
          <a:p>
            <a:pPr marL="180000" marR="0" lvl="0" indent="-180000" algn="just"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endParaRPr kumimoji="0" lang="en-US" sz="1200" b="0" i="0" u="none" strike="noStrike" kern="0" cap="none" spc="0" normalizeH="0" baseline="0" noProof="0">
              <a:ln>
                <a:noFill/>
              </a:ln>
              <a:solidFill>
                <a:prstClr val="black"/>
              </a:solidFill>
              <a:effectLst/>
              <a:uLnTx/>
              <a:uFillTx/>
              <a:latin typeface="Santander Text"/>
              <a:ea typeface="+mn-ea"/>
              <a:cs typeface="+mn-cs"/>
            </a:endParaRPr>
          </a:p>
        </p:txBody>
      </p:sp>
      <p:sp>
        <p:nvSpPr>
          <p:cNvPr id="8" name="Título 1">
            <a:extLst>
              <a:ext uri="{FF2B5EF4-FFF2-40B4-BE49-F238E27FC236}">
                <a16:creationId xmlns:a16="http://schemas.microsoft.com/office/drawing/2014/main" id="{CA995FE7-A200-6C09-0203-983D022A101E}"/>
              </a:ext>
            </a:extLst>
          </p:cNvPr>
          <p:cNvSpPr txBox="1">
            <a:spLocks/>
          </p:cNvSpPr>
          <p:nvPr/>
        </p:nvSpPr>
        <p:spPr>
          <a:xfrm>
            <a:off x="711024" y="623339"/>
            <a:ext cx="10758733" cy="836992"/>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lang="en-US" sz="2800" b="1" kern="1200" dirty="0">
                <a:solidFill>
                  <a:schemeClr val="accent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s-ES" sz="2800" b="1" i="0" u="none" strike="noStrike" kern="1200" cap="none" spc="0" normalizeH="0" baseline="0" noProof="0">
                <a:ln>
                  <a:noFill/>
                </a:ln>
                <a:solidFill>
                  <a:srgbClr val="EC0000"/>
                </a:solidFill>
                <a:effectLst/>
                <a:uLnTx/>
                <a:uFillTx/>
                <a:latin typeface="Santander Headline"/>
                <a:ea typeface="+mj-ea"/>
                <a:cs typeface="+mj-cs"/>
              </a:rPr>
              <a:t>SCIB. </a:t>
            </a:r>
            <a:r>
              <a:rPr lang="es-ES">
                <a:solidFill>
                  <a:srgbClr val="BFBFBF"/>
                </a:solidFill>
                <a:latin typeface="Santander Headline"/>
              </a:rPr>
              <a:t>CIB </a:t>
            </a:r>
            <a:r>
              <a:rPr lang="es-ES" err="1">
                <a:solidFill>
                  <a:srgbClr val="BFBFBF"/>
                </a:solidFill>
                <a:latin typeface="Santander Headline"/>
              </a:rPr>
              <a:t>Specialized</a:t>
            </a:r>
            <a:r>
              <a:rPr lang="es-ES">
                <a:solidFill>
                  <a:srgbClr val="BFBFBF"/>
                </a:solidFill>
                <a:latin typeface="Santander Headline"/>
              </a:rPr>
              <a:t> </a:t>
            </a:r>
            <a:r>
              <a:rPr lang="es-ES" err="1">
                <a:solidFill>
                  <a:srgbClr val="BFBFBF"/>
                </a:solidFill>
                <a:latin typeface="Santander Headline"/>
              </a:rPr>
              <a:t>Channels</a:t>
            </a:r>
            <a:r>
              <a:rPr lang="es-ES">
                <a:solidFill>
                  <a:srgbClr val="BFBFBF"/>
                </a:solidFill>
                <a:latin typeface="Santander Headline"/>
              </a:rPr>
              <a:t> </a:t>
            </a:r>
            <a:endParaRPr lang="en-AU">
              <a:solidFill>
                <a:srgbClr val="BFBFBF"/>
              </a:solidFill>
              <a:latin typeface="Santander Headline"/>
            </a:endParaRPr>
          </a:p>
        </p:txBody>
      </p:sp>
      <p:sp>
        <p:nvSpPr>
          <p:cNvPr id="6" name="Rectángulo 14">
            <a:extLst>
              <a:ext uri="{FF2B5EF4-FFF2-40B4-BE49-F238E27FC236}">
                <a16:creationId xmlns:a16="http://schemas.microsoft.com/office/drawing/2014/main" id="{B8DCB2EC-808D-6AC2-FDFB-6057185CCF06}"/>
              </a:ext>
            </a:extLst>
          </p:cNvPr>
          <p:cNvSpPr/>
          <p:nvPr/>
        </p:nvSpPr>
        <p:spPr>
          <a:xfrm>
            <a:off x="806719" y="2107975"/>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algn="ctr">
              <a:spcAft>
                <a:spcPts val="600"/>
              </a:spcAft>
              <a:defRPr/>
            </a:pPr>
            <a:r>
              <a:rPr lang="en-US" sz="1200" kern="0">
                <a:solidFill>
                  <a:srgbClr val="DEEDF1">
                    <a:lumMod val="25000"/>
                  </a:srgbClr>
                </a:solidFill>
                <a:latin typeface="Santander Text"/>
              </a:rPr>
              <a:t>Alexandria</a:t>
            </a:r>
          </a:p>
        </p:txBody>
      </p:sp>
      <p:sp>
        <p:nvSpPr>
          <p:cNvPr id="14" name="CuadroTexto 5">
            <a:extLst>
              <a:ext uri="{FF2B5EF4-FFF2-40B4-BE49-F238E27FC236}">
                <a16:creationId xmlns:a16="http://schemas.microsoft.com/office/drawing/2014/main" id="{1EBF58A3-0C4D-85EC-488B-D694FCB37A8B}"/>
              </a:ext>
            </a:extLst>
          </p:cNvPr>
          <p:cNvSpPr txBox="1"/>
          <p:nvPr/>
        </p:nvSpPr>
        <p:spPr>
          <a:xfrm>
            <a:off x="2222494" y="2091155"/>
            <a:ext cx="3628708" cy="553998"/>
          </a:xfrm>
          <a:prstGeom prst="rect">
            <a:avLst/>
          </a:prstGeom>
          <a:noFill/>
        </p:spPr>
        <p:txBody>
          <a:bodyPr wrap="square">
            <a:spAutoFit/>
          </a:bodyPr>
          <a:lstStyle/>
          <a:p>
            <a:pPr marL="180000" indent="-180000" algn="just">
              <a:buClr>
                <a:srgbClr val="FF0000"/>
              </a:buClr>
              <a:buFont typeface="Wingdings" panose="05000000000000000000" pitchFamily="2" charset="2"/>
              <a:buChar char="§"/>
              <a:defRPr/>
            </a:pPr>
            <a:r>
              <a:rPr lang="en-US" sz="1000">
                <a:solidFill>
                  <a:srgbClr val="000000"/>
                </a:solidFill>
                <a:latin typeface="Aptos Narrow" panose="020B0004020202020204" pitchFamily="34" charset="0"/>
              </a:rPr>
              <a:t>Tool (SAAS) for managing pre-sales, sales and customer proposals. Records all commercial activity. Contains a Customer Database and a Commercial Products Database .</a:t>
            </a:r>
            <a:endParaRPr lang="es-ES" sz="1000">
              <a:solidFill>
                <a:srgbClr val="000000"/>
              </a:solidFill>
              <a:latin typeface="Aptos Narrow" panose="020B0004020202020204" pitchFamily="34" charset="0"/>
            </a:endParaRPr>
          </a:p>
        </p:txBody>
      </p:sp>
      <p:sp>
        <p:nvSpPr>
          <p:cNvPr id="20" name="Rectángulo 17">
            <a:extLst>
              <a:ext uri="{FF2B5EF4-FFF2-40B4-BE49-F238E27FC236}">
                <a16:creationId xmlns:a16="http://schemas.microsoft.com/office/drawing/2014/main" id="{1886FC7C-FC85-660A-738F-17253F431939}"/>
              </a:ext>
            </a:extLst>
          </p:cNvPr>
          <p:cNvSpPr/>
          <p:nvPr/>
        </p:nvSpPr>
        <p:spPr>
          <a:xfrm>
            <a:off x="6200106" y="2107975"/>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algn="ctr"/>
            <a:r>
              <a:rPr lang="en-GB" sz="1400" kern="0">
                <a:solidFill>
                  <a:srgbClr val="DEEDF1">
                    <a:lumMod val="25000"/>
                  </a:srgbClr>
                </a:solidFill>
                <a:latin typeface="Santander Text" panose="020B0504020201020104" pitchFamily="34" charset="0"/>
              </a:rPr>
              <a:t>Cash Nexus Portal</a:t>
            </a:r>
          </a:p>
        </p:txBody>
      </p:sp>
    </p:spTree>
    <p:extLst>
      <p:ext uri="{BB962C8B-B14F-4D97-AF65-F5344CB8AC3E}">
        <p14:creationId xmlns:p14="http://schemas.microsoft.com/office/powerpoint/2010/main" val="16759237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45D24-341D-11DD-DAE5-A2B10FDFBE15}"/>
            </a:ext>
          </a:extLst>
        </p:cNvPr>
        <p:cNvGrpSpPr/>
        <p:nvPr/>
      </p:nvGrpSpPr>
      <p:grpSpPr>
        <a:xfrm>
          <a:off x="0" y="0"/>
          <a:ext cx="0" cy="0"/>
          <a:chOff x="0" y="0"/>
          <a:chExt cx="0" cy="0"/>
        </a:xfrm>
      </p:grpSpPr>
      <p:sp>
        <p:nvSpPr>
          <p:cNvPr id="17" name="Text Placeholder 2">
            <a:extLst>
              <a:ext uri="{FF2B5EF4-FFF2-40B4-BE49-F238E27FC236}">
                <a16:creationId xmlns:a16="http://schemas.microsoft.com/office/drawing/2014/main" id="{D58CB72F-4827-8130-BE0E-DD273B1A25DB}"/>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19" name="Rectángulo 18">
            <a:extLst>
              <a:ext uri="{FF2B5EF4-FFF2-40B4-BE49-F238E27FC236}">
                <a16:creationId xmlns:a16="http://schemas.microsoft.com/office/drawing/2014/main" id="{4C7317B0-CBB4-8B9A-E4DB-A3F3BC426FEA}"/>
              </a:ext>
            </a:extLst>
          </p:cNvPr>
          <p:cNvSpPr/>
          <p:nvPr/>
        </p:nvSpPr>
        <p:spPr>
          <a:xfrm>
            <a:off x="849249" y="1907667"/>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AU" sz="1400" kern="0" err="1">
                <a:solidFill>
                  <a:srgbClr val="DEEDF1">
                    <a:lumMod val="25000"/>
                  </a:srgbClr>
                </a:solidFill>
                <a:latin typeface="Santander Text"/>
              </a:rPr>
              <a:t>Acelera</a:t>
            </a:r>
            <a:endPar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endParaRPr>
          </a:p>
        </p:txBody>
      </p:sp>
      <p:sp>
        <p:nvSpPr>
          <p:cNvPr id="21" name="CuadroTexto 20">
            <a:extLst>
              <a:ext uri="{FF2B5EF4-FFF2-40B4-BE49-F238E27FC236}">
                <a16:creationId xmlns:a16="http://schemas.microsoft.com/office/drawing/2014/main" id="{05030E8A-A81F-2BBC-8FB0-AC9A5B63DD5D}"/>
              </a:ext>
            </a:extLst>
          </p:cNvPr>
          <p:cNvSpPr txBox="1"/>
          <p:nvPr/>
        </p:nvSpPr>
        <p:spPr>
          <a:xfrm>
            <a:off x="727331" y="1266787"/>
            <a:ext cx="5111998" cy="338554"/>
          </a:xfrm>
          <a:prstGeom prst="rect">
            <a:avLst/>
          </a:prstGeom>
          <a:noFill/>
        </p:spPr>
        <p:txBody>
          <a:bodyPr wrap="square" rtlCol="0">
            <a:spAutoFit/>
          </a:bodyPr>
          <a:lstStyle/>
          <a:p>
            <a:pPr marL="355600" marR="0" lvl="0" indent="-355600" algn="l" defTabSz="914400" rtl="0" eaLnBrk="1" fontAlgn="auto" latinLnBrk="0" hangingPunct="1">
              <a:lnSpc>
                <a:spcPct val="100000"/>
              </a:lnSpc>
              <a:spcBef>
                <a:spcPts val="0"/>
              </a:spcBef>
              <a:spcAft>
                <a:spcPts val="300"/>
              </a:spcAft>
              <a:buClrTx/>
              <a:buSzTx/>
              <a:buFontTx/>
              <a:buNone/>
              <a:tabLst/>
              <a:defRPr/>
            </a:pPr>
            <a:r>
              <a:rPr kumimoji="0" lang="en-AU"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1 – Business Distribution </a:t>
            </a:r>
            <a:r>
              <a:rPr lang="en-GB" sz="1600" b="1" kern="0">
                <a:solidFill>
                  <a:srgbClr val="DEEDF1">
                    <a:lumMod val="25000"/>
                  </a:srgbClr>
                </a:solidFill>
                <a:latin typeface="Santander Text" panose="020B0504020201020104" pitchFamily="34" charset="0"/>
              </a:rPr>
              <a:t>Services </a:t>
            </a:r>
          </a:p>
        </p:txBody>
      </p:sp>
      <p:cxnSp>
        <p:nvCxnSpPr>
          <p:cNvPr id="22" name="Conector recto 21">
            <a:extLst>
              <a:ext uri="{FF2B5EF4-FFF2-40B4-BE49-F238E27FC236}">
                <a16:creationId xmlns:a16="http://schemas.microsoft.com/office/drawing/2014/main" id="{69DB747D-7A92-8F41-CA79-43390C2A5C2E}"/>
              </a:ext>
            </a:extLst>
          </p:cNvPr>
          <p:cNvCxnSpPr>
            <a:cxnSpLocks/>
          </p:cNvCxnSpPr>
          <p:nvPr/>
        </p:nvCxnSpPr>
        <p:spPr>
          <a:xfrm flipH="1" flipV="1">
            <a:off x="849249" y="1625399"/>
            <a:ext cx="5112000" cy="0"/>
          </a:xfrm>
          <a:prstGeom prst="line">
            <a:avLst/>
          </a:prstGeom>
          <a:noFill/>
          <a:ln w="12700" cap="flat" cmpd="sng" algn="ctr">
            <a:solidFill>
              <a:srgbClr val="595959"/>
            </a:solidFill>
            <a:prstDash val="solid"/>
            <a:miter lim="800000"/>
          </a:ln>
          <a:effectLst/>
        </p:spPr>
      </p:cxnSp>
      <p:sp>
        <p:nvSpPr>
          <p:cNvPr id="23" name="CuadroTexto 22">
            <a:extLst>
              <a:ext uri="{FF2B5EF4-FFF2-40B4-BE49-F238E27FC236}">
                <a16:creationId xmlns:a16="http://schemas.microsoft.com/office/drawing/2014/main" id="{919112F0-FB25-C5D0-31B8-7A137627A3F6}"/>
              </a:ext>
            </a:extLst>
          </p:cNvPr>
          <p:cNvSpPr txBox="1"/>
          <p:nvPr/>
        </p:nvSpPr>
        <p:spPr>
          <a:xfrm>
            <a:off x="2330989" y="1907667"/>
            <a:ext cx="3630260" cy="909402"/>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just">
              <a:spcBef>
                <a:spcPts val="0"/>
              </a:spcBef>
              <a:buClr>
                <a:srgbClr val="FF0000"/>
              </a:buClr>
              <a:buFont typeface="Wingdings" panose="05000000000000000000" pitchFamily="2" charset="2"/>
              <a:buChar char="§"/>
              <a:defRPr/>
            </a:pPr>
            <a:r>
              <a:rPr lang="en-US" sz="1000">
                <a:solidFill>
                  <a:prstClr val="black"/>
                </a:solidFill>
                <a:latin typeface="Santander Text" panose="020B0504020201020104" pitchFamily="34" charset="0"/>
              </a:rPr>
              <a:t>Ecosystem that offers distribution services based on PaaS infrastructure. It's a tool for requesting, validating, contracting, and registering treasury operations in Santander GCB Spain. </a:t>
            </a:r>
          </a:p>
          <a:p>
            <a:pPr marL="0" marR="0" lvl="0" indent="0" algn="just" defTabSz="914400" rtl="0" eaLnBrk="1" fontAlgn="auto" latinLnBrk="0" hangingPunct="1">
              <a:lnSpc>
                <a:spcPct val="100000"/>
              </a:lnSpc>
              <a:spcBef>
                <a:spcPts val="0"/>
              </a:spcBef>
              <a:spcAft>
                <a:spcPts val="0"/>
              </a:spcAft>
              <a:buClr>
                <a:srgbClr val="FF0000"/>
              </a:buClr>
              <a:buSzTx/>
              <a:buNone/>
              <a:tabLst/>
              <a:defRPr/>
            </a:pPr>
            <a:endParaRPr kumimoji="0" lang="en-US" sz="1200" b="0" i="0" u="none" strike="noStrike" kern="0" cap="none" spc="0" normalizeH="0" baseline="0" noProof="0">
              <a:ln>
                <a:noFill/>
              </a:ln>
              <a:solidFill>
                <a:prstClr val="black"/>
              </a:solidFill>
              <a:effectLst/>
              <a:uLnTx/>
              <a:uFillTx/>
              <a:latin typeface="Santander Text"/>
              <a:ea typeface="+mn-ea"/>
              <a:cs typeface="+mn-cs"/>
            </a:endParaRPr>
          </a:p>
        </p:txBody>
      </p:sp>
      <p:sp>
        <p:nvSpPr>
          <p:cNvPr id="8" name="Título 1">
            <a:extLst>
              <a:ext uri="{FF2B5EF4-FFF2-40B4-BE49-F238E27FC236}">
                <a16:creationId xmlns:a16="http://schemas.microsoft.com/office/drawing/2014/main" id="{6A617EBB-9158-F528-C2F8-236465CC0895}"/>
              </a:ext>
            </a:extLst>
          </p:cNvPr>
          <p:cNvSpPr txBox="1">
            <a:spLocks/>
          </p:cNvSpPr>
          <p:nvPr/>
        </p:nvSpPr>
        <p:spPr>
          <a:xfrm>
            <a:off x="711024" y="623339"/>
            <a:ext cx="10758733" cy="836992"/>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lang="en-US" sz="2800" b="1" kern="1200" dirty="0">
                <a:solidFill>
                  <a:schemeClr val="accent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s-ES" sz="2800" b="1" i="0" u="none" strike="noStrike" kern="1200" cap="none" spc="0" normalizeH="0" baseline="0" noProof="0">
                <a:ln>
                  <a:noFill/>
                </a:ln>
                <a:solidFill>
                  <a:srgbClr val="EC0000"/>
                </a:solidFill>
                <a:effectLst/>
                <a:uLnTx/>
                <a:uFillTx/>
                <a:latin typeface="Santander Headline"/>
                <a:ea typeface="+mj-ea"/>
                <a:cs typeface="+mj-cs"/>
              </a:rPr>
              <a:t>SCIB. </a:t>
            </a:r>
            <a:r>
              <a:rPr lang="es-ES" err="1">
                <a:solidFill>
                  <a:srgbClr val="BFBFBF"/>
                </a:solidFill>
                <a:latin typeface="Santander Headline"/>
              </a:rPr>
              <a:t>Markets</a:t>
            </a:r>
            <a:r>
              <a:rPr lang="es-ES">
                <a:solidFill>
                  <a:srgbClr val="BFBFBF"/>
                </a:solidFill>
                <a:latin typeface="Santander Headline"/>
              </a:rPr>
              <a:t> </a:t>
            </a:r>
            <a:r>
              <a:rPr lang="en-AU">
                <a:solidFill>
                  <a:srgbClr val="BFBFBF"/>
                </a:solidFill>
                <a:latin typeface="Santander Headline"/>
              </a:rPr>
              <a:t>E-Trading</a:t>
            </a:r>
            <a:endParaRPr kumimoji="0" lang="en-AU" sz="2800" b="1" i="0" u="none" strike="noStrike" kern="1200" cap="none" spc="0" normalizeH="0" baseline="0" noProof="0">
              <a:ln>
                <a:noFill/>
              </a:ln>
              <a:solidFill>
                <a:srgbClr val="BFBFBF"/>
              </a:solidFill>
              <a:effectLst/>
              <a:uLnTx/>
              <a:uFillTx/>
              <a:latin typeface="Santander Headline"/>
              <a:ea typeface="+mj-ea"/>
              <a:cs typeface="+mj-cs"/>
            </a:endParaRPr>
          </a:p>
        </p:txBody>
      </p:sp>
      <p:sp>
        <p:nvSpPr>
          <p:cNvPr id="20" name="Rectángulo 18">
            <a:extLst>
              <a:ext uri="{FF2B5EF4-FFF2-40B4-BE49-F238E27FC236}">
                <a16:creationId xmlns:a16="http://schemas.microsoft.com/office/drawing/2014/main" id="{5D7103E1-C88F-11A0-BFDA-1C526E2A7AFB}"/>
              </a:ext>
            </a:extLst>
          </p:cNvPr>
          <p:cNvSpPr/>
          <p:nvPr/>
        </p:nvSpPr>
        <p:spPr>
          <a:xfrm>
            <a:off x="827573" y="3809171"/>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AU" sz="1400" kern="0">
                <a:solidFill>
                  <a:srgbClr val="DEEDF1">
                    <a:lumMod val="25000"/>
                  </a:srgbClr>
                </a:solidFill>
                <a:latin typeface="Santander Text"/>
              </a:rPr>
              <a:t>Murex</a:t>
            </a:r>
            <a:endPar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endParaRPr>
          </a:p>
        </p:txBody>
      </p:sp>
      <p:sp>
        <p:nvSpPr>
          <p:cNvPr id="28" name="CuadroTexto 20">
            <a:extLst>
              <a:ext uri="{FF2B5EF4-FFF2-40B4-BE49-F238E27FC236}">
                <a16:creationId xmlns:a16="http://schemas.microsoft.com/office/drawing/2014/main" id="{16C44653-6675-A45E-9517-096ED10BB359}"/>
              </a:ext>
            </a:extLst>
          </p:cNvPr>
          <p:cNvSpPr txBox="1"/>
          <p:nvPr/>
        </p:nvSpPr>
        <p:spPr>
          <a:xfrm>
            <a:off x="776018" y="3220478"/>
            <a:ext cx="5111998" cy="338554"/>
          </a:xfrm>
          <a:prstGeom prst="rect">
            <a:avLst/>
          </a:prstGeom>
          <a:noFill/>
        </p:spPr>
        <p:txBody>
          <a:bodyPr wrap="square" rtlCol="0">
            <a:spAutoFit/>
          </a:bodyPr>
          <a:lstStyle/>
          <a:p>
            <a:pPr marL="355600" marR="0" lvl="0" indent="-355600" algn="l" defTabSz="914400" rtl="0" eaLnBrk="1" fontAlgn="auto" latinLnBrk="0" hangingPunct="1">
              <a:lnSpc>
                <a:spcPct val="100000"/>
              </a:lnSpc>
              <a:spcBef>
                <a:spcPts val="0"/>
              </a:spcBef>
              <a:spcAft>
                <a:spcPts val="300"/>
              </a:spcAft>
              <a:buClrTx/>
              <a:buSzTx/>
              <a:buFontTx/>
              <a:buNone/>
              <a:tabLst/>
              <a:defRPr/>
            </a:pPr>
            <a:r>
              <a:rPr lang="en-AU" sz="1600" b="1" kern="0">
                <a:solidFill>
                  <a:srgbClr val="DEEDF1">
                    <a:lumMod val="25000"/>
                  </a:srgbClr>
                </a:solidFill>
                <a:latin typeface="Santander Text" panose="020B0504020201020104" pitchFamily="34" charset="0"/>
              </a:rPr>
              <a:t>2</a:t>
            </a:r>
            <a:r>
              <a:rPr kumimoji="0" lang="en-AU"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 – Front Office Business </a:t>
            </a:r>
            <a:r>
              <a:rPr lang="en-GB" sz="1600" b="1">
                <a:solidFill>
                  <a:srgbClr val="DEEDF1">
                    <a:lumMod val="25000"/>
                  </a:srgbClr>
                </a:solidFill>
                <a:latin typeface="Santander Text" panose="020B0504020201020104" pitchFamily="34" charset="0"/>
              </a:rPr>
              <a:t>Services</a:t>
            </a:r>
            <a:endParaRPr lang="en-GB" sz="1600" b="1" kern="0">
              <a:solidFill>
                <a:srgbClr val="DEEDF1">
                  <a:lumMod val="25000"/>
                </a:srgbClr>
              </a:solidFill>
              <a:latin typeface="Santander Text" panose="020B0504020201020104" pitchFamily="34" charset="0"/>
            </a:endParaRPr>
          </a:p>
        </p:txBody>
      </p:sp>
      <p:cxnSp>
        <p:nvCxnSpPr>
          <p:cNvPr id="29" name="Conector recto 21">
            <a:extLst>
              <a:ext uri="{FF2B5EF4-FFF2-40B4-BE49-F238E27FC236}">
                <a16:creationId xmlns:a16="http://schemas.microsoft.com/office/drawing/2014/main" id="{9B2A13DA-CB60-8248-BA41-5A324D661323}"/>
              </a:ext>
            </a:extLst>
          </p:cNvPr>
          <p:cNvCxnSpPr>
            <a:cxnSpLocks/>
          </p:cNvCxnSpPr>
          <p:nvPr/>
        </p:nvCxnSpPr>
        <p:spPr>
          <a:xfrm flipH="1" flipV="1">
            <a:off x="827573" y="3526903"/>
            <a:ext cx="5112000" cy="0"/>
          </a:xfrm>
          <a:prstGeom prst="line">
            <a:avLst/>
          </a:prstGeom>
          <a:noFill/>
          <a:ln w="12700" cap="flat" cmpd="sng" algn="ctr">
            <a:solidFill>
              <a:srgbClr val="595959"/>
            </a:solidFill>
            <a:prstDash val="solid"/>
            <a:miter lim="800000"/>
          </a:ln>
          <a:effectLst/>
        </p:spPr>
      </p:cxnSp>
      <p:sp>
        <p:nvSpPr>
          <p:cNvPr id="30" name="CuadroTexto 22">
            <a:extLst>
              <a:ext uri="{FF2B5EF4-FFF2-40B4-BE49-F238E27FC236}">
                <a16:creationId xmlns:a16="http://schemas.microsoft.com/office/drawing/2014/main" id="{1DAD0522-BE2D-38B3-CAC7-18E823B2A486}"/>
              </a:ext>
            </a:extLst>
          </p:cNvPr>
          <p:cNvSpPr txBox="1"/>
          <p:nvPr/>
        </p:nvSpPr>
        <p:spPr>
          <a:xfrm>
            <a:off x="2435491" y="3809171"/>
            <a:ext cx="3658438" cy="909402"/>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just">
              <a:spcBef>
                <a:spcPts val="0"/>
              </a:spcBef>
              <a:buClr>
                <a:srgbClr val="FF0000"/>
              </a:buClr>
              <a:buFont typeface="Wingdings" panose="05000000000000000000" pitchFamily="2" charset="2"/>
              <a:buChar char="§"/>
              <a:defRPr/>
            </a:pPr>
            <a:r>
              <a:rPr lang="en-US" sz="1000">
                <a:solidFill>
                  <a:prstClr val="black"/>
                </a:solidFill>
                <a:latin typeface="Santander Text" panose="020B0504020201020104" pitchFamily="34" charset="0"/>
              </a:rPr>
              <a:t>External platform for contracting and risk management and P&amp;L, both for traders and market risk, implemented in the Santander Group globally as a corporate tool</a:t>
            </a:r>
          </a:p>
          <a:p>
            <a:pPr marL="180000" marR="0" lvl="0" indent="-180000" algn="just"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endParaRPr kumimoji="0" lang="en-US" sz="1200" b="0" i="0" u="none" strike="noStrike" kern="0" cap="none" spc="0" normalizeH="0" baseline="0" noProof="0">
              <a:ln>
                <a:noFill/>
              </a:ln>
              <a:solidFill>
                <a:prstClr val="black"/>
              </a:solidFill>
              <a:effectLst/>
              <a:uLnTx/>
              <a:uFillTx/>
              <a:latin typeface="Santander Text"/>
              <a:ea typeface="+mn-ea"/>
              <a:cs typeface="+mn-cs"/>
            </a:endParaRPr>
          </a:p>
        </p:txBody>
      </p:sp>
      <p:cxnSp>
        <p:nvCxnSpPr>
          <p:cNvPr id="11" name="Conector recto 46">
            <a:extLst>
              <a:ext uri="{FF2B5EF4-FFF2-40B4-BE49-F238E27FC236}">
                <a16:creationId xmlns:a16="http://schemas.microsoft.com/office/drawing/2014/main" id="{205D350E-9807-5B62-1435-3DA7E9440D1F}"/>
              </a:ext>
            </a:extLst>
          </p:cNvPr>
          <p:cNvCxnSpPr>
            <a:cxnSpLocks/>
          </p:cNvCxnSpPr>
          <p:nvPr/>
        </p:nvCxnSpPr>
        <p:spPr>
          <a:xfrm flipH="1" flipV="1">
            <a:off x="849249" y="2817069"/>
            <a:ext cx="5112000" cy="0"/>
          </a:xfrm>
          <a:prstGeom prst="line">
            <a:avLst/>
          </a:prstGeom>
          <a:noFill/>
          <a:ln w="12700" cap="flat" cmpd="sng" algn="ctr">
            <a:solidFill>
              <a:schemeClr val="bg1">
                <a:lumMod val="85000"/>
              </a:schemeClr>
            </a:solidFill>
            <a:prstDash val="solid"/>
            <a:miter lim="800000"/>
          </a:ln>
          <a:effectLst/>
        </p:spPr>
      </p:cxnSp>
      <p:cxnSp>
        <p:nvCxnSpPr>
          <p:cNvPr id="12" name="Conector recto 9">
            <a:extLst>
              <a:ext uri="{FF2B5EF4-FFF2-40B4-BE49-F238E27FC236}">
                <a16:creationId xmlns:a16="http://schemas.microsoft.com/office/drawing/2014/main" id="{D5D6794C-66B5-13B5-2F4A-E9CA70D24C91}"/>
              </a:ext>
            </a:extLst>
          </p:cNvPr>
          <p:cNvCxnSpPr>
            <a:cxnSpLocks/>
          </p:cNvCxnSpPr>
          <p:nvPr/>
        </p:nvCxnSpPr>
        <p:spPr>
          <a:xfrm flipH="1">
            <a:off x="827573" y="4577896"/>
            <a:ext cx="5232434" cy="0"/>
          </a:xfrm>
          <a:prstGeom prst="line">
            <a:avLst/>
          </a:prstGeom>
          <a:noFill/>
          <a:ln w="12700" cap="flat" cmpd="sng" algn="ctr">
            <a:solidFill>
              <a:schemeClr val="bg1">
                <a:lumMod val="85000"/>
              </a:schemeClr>
            </a:solidFill>
            <a:prstDash val="solid"/>
            <a:miter lim="800000"/>
          </a:ln>
          <a:effectLst/>
        </p:spPr>
      </p:cxnSp>
      <p:sp>
        <p:nvSpPr>
          <p:cNvPr id="2" name="CuadroTexto 1">
            <a:extLst>
              <a:ext uri="{FF2B5EF4-FFF2-40B4-BE49-F238E27FC236}">
                <a16:creationId xmlns:a16="http://schemas.microsoft.com/office/drawing/2014/main" id="{BA9CB6B6-5AC3-59CB-EB1F-F9EA4AC479FC}"/>
              </a:ext>
            </a:extLst>
          </p:cNvPr>
          <p:cNvSpPr txBox="1"/>
          <p:nvPr/>
        </p:nvSpPr>
        <p:spPr>
          <a:xfrm>
            <a:off x="6352671" y="1195587"/>
            <a:ext cx="5111998" cy="338554"/>
          </a:xfrm>
          <a:prstGeom prst="rect">
            <a:avLst/>
          </a:prstGeom>
          <a:noFill/>
        </p:spPr>
        <p:txBody>
          <a:bodyPr wrap="square" rtlCol="0">
            <a:spAutoFit/>
          </a:bodyPr>
          <a:lstStyle/>
          <a:p>
            <a:pPr marL="355600" marR="0" lvl="0" indent="-355600" algn="l" defTabSz="914400" rtl="0" eaLnBrk="1" fontAlgn="auto" latinLnBrk="0" hangingPunct="1">
              <a:lnSpc>
                <a:spcPct val="100000"/>
              </a:lnSpc>
              <a:spcBef>
                <a:spcPts val="0"/>
              </a:spcBef>
              <a:spcAft>
                <a:spcPts val="300"/>
              </a:spcAft>
              <a:buClrTx/>
              <a:buSzTx/>
              <a:buFontTx/>
              <a:buNone/>
              <a:tabLst/>
              <a:defRPr/>
            </a:pPr>
            <a:r>
              <a:rPr lang="en-AU" sz="1600" b="1" kern="0">
                <a:solidFill>
                  <a:srgbClr val="DEEDF1">
                    <a:lumMod val="25000"/>
                  </a:srgbClr>
                </a:solidFill>
                <a:latin typeface="Santander Text" panose="020B0504020201020104" pitchFamily="34" charset="0"/>
              </a:rPr>
              <a:t>3</a:t>
            </a:r>
            <a:r>
              <a:rPr kumimoji="0" lang="en-AU"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 – </a:t>
            </a:r>
            <a:r>
              <a:rPr lang="en-GB" sz="1600" b="1" kern="0">
                <a:solidFill>
                  <a:srgbClr val="DEEDF1">
                    <a:lumMod val="25000"/>
                  </a:srgbClr>
                </a:solidFill>
                <a:latin typeface="Santander Text" panose="020B0504020201020104" pitchFamily="34" charset="0"/>
              </a:rPr>
              <a:t>Trading Sales Services</a:t>
            </a:r>
          </a:p>
        </p:txBody>
      </p:sp>
      <p:cxnSp>
        <p:nvCxnSpPr>
          <p:cNvPr id="3" name="Conector recto 2">
            <a:extLst>
              <a:ext uri="{FF2B5EF4-FFF2-40B4-BE49-F238E27FC236}">
                <a16:creationId xmlns:a16="http://schemas.microsoft.com/office/drawing/2014/main" id="{0FB1B6E8-4BFC-0FEB-4039-1AA13B46594C}"/>
              </a:ext>
            </a:extLst>
          </p:cNvPr>
          <p:cNvCxnSpPr>
            <a:cxnSpLocks/>
          </p:cNvCxnSpPr>
          <p:nvPr/>
        </p:nvCxnSpPr>
        <p:spPr>
          <a:xfrm flipH="1" flipV="1">
            <a:off x="6352669" y="1543398"/>
            <a:ext cx="5112000" cy="0"/>
          </a:xfrm>
          <a:prstGeom prst="line">
            <a:avLst/>
          </a:prstGeom>
          <a:noFill/>
          <a:ln w="12700" cap="flat" cmpd="sng" algn="ctr">
            <a:solidFill>
              <a:srgbClr val="595959"/>
            </a:solidFill>
            <a:prstDash val="solid"/>
            <a:miter lim="800000"/>
          </a:ln>
          <a:effectLst/>
        </p:spPr>
      </p:cxnSp>
      <p:sp>
        <p:nvSpPr>
          <p:cNvPr id="4" name="Rectángulo 41" descr="li">
            <a:extLst>
              <a:ext uri="{FF2B5EF4-FFF2-40B4-BE49-F238E27FC236}">
                <a16:creationId xmlns:a16="http://schemas.microsoft.com/office/drawing/2014/main" id="{A029CD06-44D0-7D2F-1CE0-82031D689969}"/>
              </a:ext>
            </a:extLst>
          </p:cNvPr>
          <p:cNvSpPr/>
          <p:nvPr/>
        </p:nvSpPr>
        <p:spPr>
          <a:xfrm>
            <a:off x="6947925" y="7858422"/>
            <a:ext cx="1440000" cy="540000"/>
          </a:xfrm>
          <a:prstGeom prst="rect">
            <a:avLst/>
          </a:prstGeom>
          <a:noFill/>
          <a:ln w="12700" cap="flat" cmpd="sng" algn="ctr">
            <a:solidFill>
              <a:schemeClr val="bg1">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Neutrino</a:t>
            </a:r>
          </a:p>
        </p:txBody>
      </p:sp>
      <p:sp>
        <p:nvSpPr>
          <p:cNvPr id="13" name="CuadroTexto 54">
            <a:extLst>
              <a:ext uri="{FF2B5EF4-FFF2-40B4-BE49-F238E27FC236}">
                <a16:creationId xmlns:a16="http://schemas.microsoft.com/office/drawing/2014/main" id="{2317F4E7-0D82-47A3-9974-6362C273F55E}"/>
              </a:ext>
            </a:extLst>
          </p:cNvPr>
          <p:cNvSpPr txBox="1"/>
          <p:nvPr/>
        </p:nvSpPr>
        <p:spPr>
          <a:xfrm>
            <a:off x="8534062" y="7851423"/>
            <a:ext cx="3584726" cy="553998"/>
          </a:xfrm>
          <a:prstGeom prst="rect">
            <a:avLst/>
          </a:prstGeom>
          <a:noFill/>
        </p:spPr>
        <p:txBody>
          <a:bodyPr wrap="square">
            <a:spAutoFit/>
          </a:bodyPr>
          <a:lstStyle/>
          <a:p>
            <a:pPr marL="180000" marR="0" lvl="1" indent="-180000" algn="just"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lang="en-US" sz="1000">
                <a:solidFill>
                  <a:prstClr val="black"/>
                </a:solidFill>
                <a:latin typeface="Santander Text" panose="020B0504020201020104" pitchFamily="34" charset="0"/>
              </a:rPr>
              <a:t>Pricing &amp; Execution System Forex connected directly to clients via API who will be consuming currency prices and executing currencies and sending execution reports.</a:t>
            </a:r>
          </a:p>
        </p:txBody>
      </p:sp>
      <p:cxnSp>
        <p:nvCxnSpPr>
          <p:cNvPr id="9" name="Conector recto 8">
            <a:extLst>
              <a:ext uri="{FF2B5EF4-FFF2-40B4-BE49-F238E27FC236}">
                <a16:creationId xmlns:a16="http://schemas.microsoft.com/office/drawing/2014/main" id="{63CCEAA9-F64D-A19F-54E9-9F4D8C95AADC}"/>
              </a:ext>
            </a:extLst>
          </p:cNvPr>
          <p:cNvCxnSpPr>
            <a:cxnSpLocks/>
          </p:cNvCxnSpPr>
          <p:nvPr/>
        </p:nvCxnSpPr>
        <p:spPr>
          <a:xfrm flipH="1">
            <a:off x="6352669" y="2626436"/>
            <a:ext cx="5288128" cy="0"/>
          </a:xfrm>
          <a:prstGeom prst="line">
            <a:avLst/>
          </a:prstGeom>
          <a:noFill/>
          <a:ln w="12700" cap="flat" cmpd="sng" algn="ctr">
            <a:solidFill>
              <a:schemeClr val="bg1">
                <a:lumMod val="85000"/>
              </a:schemeClr>
            </a:solidFill>
            <a:prstDash val="solid"/>
            <a:miter lim="800000"/>
          </a:ln>
          <a:effectLst/>
        </p:spPr>
      </p:cxnSp>
      <p:sp>
        <p:nvSpPr>
          <p:cNvPr id="16" name="Rectángulo 14">
            <a:extLst>
              <a:ext uri="{FF2B5EF4-FFF2-40B4-BE49-F238E27FC236}">
                <a16:creationId xmlns:a16="http://schemas.microsoft.com/office/drawing/2014/main" id="{6EEB76B8-220F-28CD-D984-8FA25B4AA55E}"/>
              </a:ext>
            </a:extLst>
          </p:cNvPr>
          <p:cNvSpPr/>
          <p:nvPr/>
        </p:nvSpPr>
        <p:spPr>
          <a:xfrm>
            <a:off x="6396074" y="1671548"/>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algn="ctr">
              <a:spcAft>
                <a:spcPts val="600"/>
              </a:spcAft>
            </a:pPr>
            <a:r>
              <a:rPr lang="en-US" sz="1200" kern="0">
                <a:solidFill>
                  <a:srgbClr val="DEEDF1">
                    <a:lumMod val="25000"/>
                  </a:srgbClr>
                </a:solidFill>
                <a:latin typeface="Santander Text"/>
              </a:rPr>
              <a:t>Windfall FX</a:t>
            </a:r>
          </a:p>
        </p:txBody>
      </p:sp>
      <p:sp>
        <p:nvSpPr>
          <p:cNvPr id="18" name="CuadroTexto 17">
            <a:extLst>
              <a:ext uri="{FF2B5EF4-FFF2-40B4-BE49-F238E27FC236}">
                <a16:creationId xmlns:a16="http://schemas.microsoft.com/office/drawing/2014/main" id="{872025A7-A435-A4EB-2DB1-A9EBCE2C6166}"/>
              </a:ext>
            </a:extLst>
          </p:cNvPr>
          <p:cNvSpPr txBox="1"/>
          <p:nvPr/>
        </p:nvSpPr>
        <p:spPr>
          <a:xfrm>
            <a:off x="7945077" y="1568063"/>
            <a:ext cx="3628708" cy="1015663"/>
          </a:xfrm>
          <a:prstGeom prst="rect">
            <a:avLst/>
          </a:prstGeom>
          <a:noFill/>
        </p:spPr>
        <p:txBody>
          <a:bodyPr wrap="square">
            <a:spAutoFit/>
          </a:bodyPr>
          <a:lstStyle/>
          <a:p>
            <a:pPr marL="180000" indent="-180000" algn="just">
              <a:buClr>
                <a:srgbClr val="FF0000"/>
              </a:buClr>
              <a:buFont typeface="Wingdings" panose="05000000000000000000" pitchFamily="2" charset="2"/>
              <a:buChar char="§"/>
              <a:defRPr/>
            </a:pPr>
            <a:r>
              <a:rPr lang="en-US" sz="1000">
                <a:solidFill>
                  <a:prstClr val="black"/>
                </a:solidFill>
                <a:latin typeface="Santander Text" panose="020B0504020201020104" pitchFamily="34" charset="0"/>
              </a:rPr>
              <a:t>An FX Options and Rates pricing tool, in-house created, mainly focused on pricing FX Options, FX Forwards and Rates products (Swaps, Caps, Floors, FRA's, etc.). Specifically, FX Options, Windfall FX has included a Quants FX library valuation method to quote products and has a compliance coverage with Sentinel.</a:t>
            </a:r>
            <a:endParaRPr lang="es-ES" sz="1000">
              <a:solidFill>
                <a:prstClr val="black"/>
              </a:solidFill>
              <a:latin typeface="Santander Text" panose="020B0504020201020104" pitchFamily="34" charset="0"/>
            </a:endParaRPr>
          </a:p>
        </p:txBody>
      </p:sp>
      <p:sp>
        <p:nvSpPr>
          <p:cNvPr id="36" name="Rectángulo 35">
            <a:extLst>
              <a:ext uri="{FF2B5EF4-FFF2-40B4-BE49-F238E27FC236}">
                <a16:creationId xmlns:a16="http://schemas.microsoft.com/office/drawing/2014/main" id="{95EAAA63-BF84-F2EE-9F7B-0D1FC3A33A1C}"/>
              </a:ext>
            </a:extLst>
          </p:cNvPr>
          <p:cNvSpPr/>
          <p:nvPr/>
        </p:nvSpPr>
        <p:spPr>
          <a:xfrm>
            <a:off x="6401358" y="2776054"/>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Bloomberg / TOM</a:t>
            </a:r>
          </a:p>
        </p:txBody>
      </p:sp>
      <p:sp>
        <p:nvSpPr>
          <p:cNvPr id="37" name="CuadroTexto 36">
            <a:extLst>
              <a:ext uri="{FF2B5EF4-FFF2-40B4-BE49-F238E27FC236}">
                <a16:creationId xmlns:a16="http://schemas.microsoft.com/office/drawing/2014/main" id="{9979C2BB-AAC6-9D55-1E4C-5DCEA1ED752D}"/>
              </a:ext>
            </a:extLst>
          </p:cNvPr>
          <p:cNvSpPr txBox="1"/>
          <p:nvPr/>
        </p:nvSpPr>
        <p:spPr>
          <a:xfrm>
            <a:off x="7902477" y="2626436"/>
            <a:ext cx="3570381" cy="1015663"/>
          </a:xfrm>
          <a:prstGeom prst="rect">
            <a:avLst/>
          </a:prstGeom>
          <a:noFill/>
        </p:spPr>
        <p:txBody>
          <a:bodyPr wrap="square">
            <a:spAutoFit/>
          </a:bodyPr>
          <a:lstStyle/>
          <a:p>
            <a:pPr marL="180000" indent="-180000" algn="just">
              <a:buClr>
                <a:srgbClr val="FF0000"/>
              </a:buClr>
              <a:buFont typeface="Wingdings" panose="05000000000000000000" pitchFamily="2" charset="2"/>
              <a:buChar char="§"/>
              <a:defRPr/>
            </a:pPr>
            <a:r>
              <a:rPr lang="en-US" sz="1000">
                <a:solidFill>
                  <a:prstClr val="black"/>
                </a:solidFill>
                <a:latin typeface="Santander Text" panose="020B0504020201020104" pitchFamily="34" charset="0"/>
              </a:rPr>
              <a:t>A Front Office System  for the Treasury Markets where traders book their activity, maintain positions, get research and evaluations. It streamlines front-end inventory management, trading, and middle and back-office operations, offering a unified solution for efficient trade lifecycle management.</a:t>
            </a:r>
            <a:endParaRPr lang="es-ES" sz="1000">
              <a:solidFill>
                <a:prstClr val="black"/>
              </a:solidFill>
              <a:latin typeface="Santander Text" panose="020B0504020201020104" pitchFamily="34" charset="0"/>
            </a:endParaRPr>
          </a:p>
        </p:txBody>
      </p:sp>
      <p:sp>
        <p:nvSpPr>
          <p:cNvPr id="40" name="Rectángulo 39">
            <a:extLst>
              <a:ext uri="{FF2B5EF4-FFF2-40B4-BE49-F238E27FC236}">
                <a16:creationId xmlns:a16="http://schemas.microsoft.com/office/drawing/2014/main" id="{E7141FEA-DA86-A7CB-D706-BD75F1C031AE}"/>
              </a:ext>
            </a:extLst>
          </p:cNvPr>
          <p:cNvSpPr/>
          <p:nvPr/>
        </p:nvSpPr>
        <p:spPr>
          <a:xfrm>
            <a:off x="6396074" y="3695033"/>
            <a:ext cx="1440000" cy="540000"/>
          </a:xfrm>
          <a:prstGeom prst="rect">
            <a:avLst/>
          </a:prstGeom>
          <a:noFill/>
          <a:ln w="12700" cap="flat" cmpd="sng" algn="ctr">
            <a:solidFill>
              <a:schemeClr val="bg1">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Windfall Rates</a:t>
            </a:r>
          </a:p>
        </p:txBody>
      </p:sp>
      <p:sp>
        <p:nvSpPr>
          <p:cNvPr id="41" name="CuadroTexto 40">
            <a:extLst>
              <a:ext uri="{FF2B5EF4-FFF2-40B4-BE49-F238E27FC236}">
                <a16:creationId xmlns:a16="http://schemas.microsoft.com/office/drawing/2014/main" id="{4F26D6A1-4DB8-0FB0-35DE-B9B88612E00D}"/>
              </a:ext>
            </a:extLst>
          </p:cNvPr>
          <p:cNvSpPr txBox="1"/>
          <p:nvPr/>
        </p:nvSpPr>
        <p:spPr>
          <a:xfrm>
            <a:off x="7897193" y="3783123"/>
            <a:ext cx="3464565" cy="400110"/>
          </a:xfrm>
          <a:prstGeom prst="rect">
            <a:avLst/>
          </a:prstGeom>
          <a:noFill/>
        </p:spPr>
        <p:txBody>
          <a:bodyPr wrap="square">
            <a:spAutoFit/>
          </a:bodyPr>
          <a:lstStyle/>
          <a:p>
            <a:pPr marL="180000" marR="0" lvl="1" indent="-180000" algn="just"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lang="en-US" sz="1000">
                <a:solidFill>
                  <a:prstClr val="black"/>
                </a:solidFill>
                <a:latin typeface="Santander Text" panose="020B0504020201020104" pitchFamily="34" charset="0"/>
              </a:rPr>
              <a:t>Integration layer to bank services such as LPA, Murex, Sentinel for other bank applications (</a:t>
            </a:r>
            <a:r>
              <a:rPr lang="en-US" sz="1000" err="1">
                <a:solidFill>
                  <a:prstClr val="black"/>
                </a:solidFill>
                <a:latin typeface="Santander Text" panose="020B0504020201020104" pitchFamily="34" charset="0"/>
              </a:rPr>
              <a:t>WindFall</a:t>
            </a:r>
            <a:r>
              <a:rPr lang="en-US" sz="1000">
                <a:solidFill>
                  <a:prstClr val="black"/>
                </a:solidFill>
                <a:latin typeface="Santander Text" panose="020B0504020201020104" pitchFamily="34" charset="0"/>
              </a:rPr>
              <a:t>).</a:t>
            </a:r>
          </a:p>
        </p:txBody>
      </p:sp>
      <p:cxnSp>
        <p:nvCxnSpPr>
          <p:cNvPr id="42" name="Conector recto 41">
            <a:extLst>
              <a:ext uri="{FF2B5EF4-FFF2-40B4-BE49-F238E27FC236}">
                <a16:creationId xmlns:a16="http://schemas.microsoft.com/office/drawing/2014/main" id="{9FB885E4-6D6A-7D17-B610-67D29756801D}"/>
              </a:ext>
            </a:extLst>
          </p:cNvPr>
          <p:cNvCxnSpPr>
            <a:cxnSpLocks/>
          </p:cNvCxnSpPr>
          <p:nvPr/>
        </p:nvCxnSpPr>
        <p:spPr>
          <a:xfrm flipH="1" flipV="1">
            <a:off x="6325582" y="3642099"/>
            <a:ext cx="5112000" cy="0"/>
          </a:xfrm>
          <a:prstGeom prst="line">
            <a:avLst/>
          </a:prstGeom>
          <a:noFill/>
          <a:ln w="12700" cap="flat" cmpd="sng" algn="ctr">
            <a:solidFill>
              <a:schemeClr val="bg1">
                <a:lumMod val="85000"/>
              </a:schemeClr>
            </a:solidFill>
            <a:prstDash val="solid"/>
            <a:miter lim="800000"/>
          </a:ln>
          <a:effectLst/>
        </p:spPr>
      </p:cxnSp>
      <p:cxnSp>
        <p:nvCxnSpPr>
          <p:cNvPr id="43" name="Conector recto 42">
            <a:extLst>
              <a:ext uri="{FF2B5EF4-FFF2-40B4-BE49-F238E27FC236}">
                <a16:creationId xmlns:a16="http://schemas.microsoft.com/office/drawing/2014/main" id="{CC5C34BB-F3CB-5429-450E-CEC8203E58F6}"/>
              </a:ext>
            </a:extLst>
          </p:cNvPr>
          <p:cNvCxnSpPr>
            <a:cxnSpLocks/>
          </p:cNvCxnSpPr>
          <p:nvPr/>
        </p:nvCxnSpPr>
        <p:spPr>
          <a:xfrm flipH="1" flipV="1">
            <a:off x="6249758" y="4328329"/>
            <a:ext cx="5112000" cy="0"/>
          </a:xfrm>
          <a:prstGeom prst="line">
            <a:avLst/>
          </a:prstGeom>
          <a:noFill/>
          <a:ln w="12700" cap="flat" cmpd="sng" algn="ctr">
            <a:solidFill>
              <a:schemeClr val="bg1">
                <a:lumMod val="85000"/>
              </a:schemeClr>
            </a:solidFill>
            <a:prstDash val="solid"/>
            <a:miter lim="800000"/>
          </a:ln>
          <a:effectLst/>
        </p:spPr>
      </p:cxnSp>
      <p:cxnSp>
        <p:nvCxnSpPr>
          <p:cNvPr id="46" name="Conector recto 45">
            <a:extLst>
              <a:ext uri="{FF2B5EF4-FFF2-40B4-BE49-F238E27FC236}">
                <a16:creationId xmlns:a16="http://schemas.microsoft.com/office/drawing/2014/main" id="{76688D50-608F-AF82-B328-1FE8CB807840}"/>
              </a:ext>
            </a:extLst>
          </p:cNvPr>
          <p:cNvCxnSpPr>
            <a:cxnSpLocks/>
          </p:cNvCxnSpPr>
          <p:nvPr/>
        </p:nvCxnSpPr>
        <p:spPr>
          <a:xfrm flipH="1">
            <a:off x="6325582" y="6899210"/>
            <a:ext cx="5288128" cy="0"/>
          </a:xfrm>
          <a:prstGeom prst="line">
            <a:avLst/>
          </a:prstGeom>
          <a:noFill/>
          <a:ln w="12700" cap="flat" cmpd="sng" algn="ctr">
            <a:solidFill>
              <a:schemeClr val="bg1">
                <a:lumMod val="85000"/>
              </a:schemeClr>
            </a:solidFill>
            <a:prstDash val="solid"/>
            <a:miter lim="800000"/>
          </a:ln>
          <a:effectLst/>
        </p:spPr>
      </p:cxnSp>
    </p:spTree>
    <p:extLst>
      <p:ext uri="{BB962C8B-B14F-4D97-AF65-F5344CB8AC3E}">
        <p14:creationId xmlns:p14="http://schemas.microsoft.com/office/powerpoint/2010/main" val="661419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450F6-F576-C790-E7F2-F84A9B504634}"/>
            </a:ext>
          </a:extLst>
        </p:cNvPr>
        <p:cNvGrpSpPr/>
        <p:nvPr/>
      </p:nvGrpSpPr>
      <p:grpSpPr>
        <a:xfrm>
          <a:off x="0" y="0"/>
          <a:ext cx="0" cy="0"/>
          <a:chOff x="0" y="0"/>
          <a:chExt cx="0" cy="0"/>
        </a:xfrm>
      </p:grpSpPr>
      <p:sp>
        <p:nvSpPr>
          <p:cNvPr id="17" name="Text Placeholder 2">
            <a:extLst>
              <a:ext uri="{FF2B5EF4-FFF2-40B4-BE49-F238E27FC236}">
                <a16:creationId xmlns:a16="http://schemas.microsoft.com/office/drawing/2014/main" id="{70748F91-A13C-9069-C383-5626CEA0F899}"/>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8" name="Título 1">
            <a:extLst>
              <a:ext uri="{FF2B5EF4-FFF2-40B4-BE49-F238E27FC236}">
                <a16:creationId xmlns:a16="http://schemas.microsoft.com/office/drawing/2014/main" id="{9E565FD7-690B-3432-5D9D-64FE565ABFED}"/>
              </a:ext>
            </a:extLst>
          </p:cNvPr>
          <p:cNvSpPr txBox="1">
            <a:spLocks/>
          </p:cNvSpPr>
          <p:nvPr/>
        </p:nvSpPr>
        <p:spPr>
          <a:xfrm>
            <a:off x="711024" y="623339"/>
            <a:ext cx="10758733" cy="836992"/>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lang="en-US" sz="2800" b="1" kern="1200" dirty="0">
                <a:solidFill>
                  <a:schemeClr val="accent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s-ES" sz="2800" b="1" i="0" u="none" strike="noStrike" kern="1200" cap="none" spc="0" normalizeH="0" baseline="0" noProof="0">
                <a:ln>
                  <a:noFill/>
                </a:ln>
                <a:solidFill>
                  <a:srgbClr val="EC0000"/>
                </a:solidFill>
                <a:effectLst/>
                <a:uLnTx/>
                <a:uFillTx/>
                <a:latin typeface="Santander Headline"/>
                <a:ea typeface="+mj-ea"/>
                <a:cs typeface="+mj-cs"/>
              </a:rPr>
              <a:t>SCIB. </a:t>
            </a:r>
            <a:r>
              <a:rPr lang="es-ES" err="1">
                <a:solidFill>
                  <a:srgbClr val="BFBFBF"/>
                </a:solidFill>
                <a:latin typeface="Santander Headline"/>
              </a:rPr>
              <a:t>Markets</a:t>
            </a:r>
            <a:r>
              <a:rPr lang="es-ES">
                <a:solidFill>
                  <a:srgbClr val="BFBFBF"/>
                </a:solidFill>
                <a:latin typeface="Santander Headline"/>
              </a:rPr>
              <a:t> </a:t>
            </a:r>
            <a:r>
              <a:rPr lang="en-AU">
                <a:solidFill>
                  <a:srgbClr val="BFBFBF"/>
                </a:solidFill>
                <a:latin typeface="Santander Headline"/>
              </a:rPr>
              <a:t>E-Trading</a:t>
            </a:r>
            <a:endParaRPr kumimoji="0" lang="en-AU" sz="2800" b="1" i="0" u="none" strike="noStrike" kern="1200" cap="none" spc="0" normalizeH="0" baseline="0" noProof="0">
              <a:ln>
                <a:noFill/>
              </a:ln>
              <a:solidFill>
                <a:srgbClr val="BFBFBF"/>
              </a:solidFill>
              <a:effectLst/>
              <a:uLnTx/>
              <a:uFillTx/>
              <a:latin typeface="Santander Headline"/>
              <a:ea typeface="+mj-ea"/>
              <a:cs typeface="+mj-cs"/>
            </a:endParaRPr>
          </a:p>
        </p:txBody>
      </p:sp>
      <p:sp>
        <p:nvSpPr>
          <p:cNvPr id="32" name="CuadroTexto 31">
            <a:extLst>
              <a:ext uri="{FF2B5EF4-FFF2-40B4-BE49-F238E27FC236}">
                <a16:creationId xmlns:a16="http://schemas.microsoft.com/office/drawing/2014/main" id="{469ED4C9-29E8-F8CA-FD02-A0ED4C984B05}"/>
              </a:ext>
            </a:extLst>
          </p:cNvPr>
          <p:cNvSpPr txBox="1"/>
          <p:nvPr/>
        </p:nvSpPr>
        <p:spPr>
          <a:xfrm>
            <a:off x="568034" y="1244496"/>
            <a:ext cx="5832136" cy="500137"/>
          </a:xfrm>
          <a:prstGeom prst="rect">
            <a:avLst/>
          </a:prstGeom>
          <a:noFill/>
        </p:spPr>
        <p:txBody>
          <a:bodyPr wrap="square" rtlCol="0">
            <a:spAutoFit/>
          </a:bodyPr>
          <a:lstStyle/>
          <a:p>
            <a:pPr marL="355600" marR="0" lvl="0" indent="-355600" algn="l" defTabSz="914400" rtl="0" eaLnBrk="1" fontAlgn="auto" latinLnBrk="0" hangingPunct="1">
              <a:lnSpc>
                <a:spcPct val="100000"/>
              </a:lnSpc>
              <a:spcBef>
                <a:spcPts val="0"/>
              </a:spcBef>
              <a:spcAft>
                <a:spcPts val="300"/>
              </a:spcAft>
              <a:buClrTx/>
              <a:buSzTx/>
              <a:buFontTx/>
              <a:buNone/>
              <a:tabLst/>
              <a:defRPr/>
            </a:pPr>
            <a:r>
              <a:rPr lang="en-AU" sz="1600" b="1" kern="0">
                <a:solidFill>
                  <a:srgbClr val="DEEDF1">
                    <a:lumMod val="25000"/>
                  </a:srgbClr>
                </a:solidFill>
                <a:latin typeface="Santander Text" panose="020B0504020201020104" pitchFamily="34" charset="0"/>
              </a:rPr>
              <a:t>4</a:t>
            </a:r>
            <a:r>
              <a:rPr kumimoji="0" lang="en-AU"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 - </a:t>
            </a:r>
            <a:r>
              <a:rPr lang="en-GB" sz="1600" b="1">
                <a:solidFill>
                  <a:srgbClr val="DEEDF1">
                    <a:lumMod val="25000"/>
                  </a:srgbClr>
                </a:solidFill>
                <a:latin typeface="Santander Text" panose="020B0504020201020104" pitchFamily="34" charset="0"/>
              </a:rPr>
              <a:t>Business Execution Services </a:t>
            </a:r>
            <a:endParaRPr kumimoji="0" lang="en-AU"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endParaRPr>
          </a:p>
          <a:p>
            <a:pPr>
              <a:spcAft>
                <a:spcPts val="300"/>
              </a:spcAft>
            </a:pPr>
            <a:endParaRPr lang="en-GB" sz="800" i="1">
              <a:solidFill>
                <a:srgbClr val="DEEDF1">
                  <a:lumMod val="25000"/>
                </a:srgbClr>
              </a:solidFill>
              <a:latin typeface="Santander Text" panose="020B0504020201020104" pitchFamily="34" charset="0"/>
            </a:endParaRPr>
          </a:p>
        </p:txBody>
      </p:sp>
      <p:cxnSp>
        <p:nvCxnSpPr>
          <p:cNvPr id="9" name="Conector recto 8">
            <a:extLst>
              <a:ext uri="{FF2B5EF4-FFF2-40B4-BE49-F238E27FC236}">
                <a16:creationId xmlns:a16="http://schemas.microsoft.com/office/drawing/2014/main" id="{C1D867B6-08EE-A1FF-715E-06F68D38DD2B}"/>
              </a:ext>
            </a:extLst>
          </p:cNvPr>
          <p:cNvCxnSpPr>
            <a:cxnSpLocks/>
          </p:cNvCxnSpPr>
          <p:nvPr/>
        </p:nvCxnSpPr>
        <p:spPr>
          <a:xfrm flipH="1">
            <a:off x="622614" y="3633691"/>
            <a:ext cx="5288128" cy="0"/>
          </a:xfrm>
          <a:prstGeom prst="line">
            <a:avLst/>
          </a:prstGeom>
          <a:noFill/>
          <a:ln w="12700" cap="flat" cmpd="sng" algn="ctr">
            <a:solidFill>
              <a:schemeClr val="bg1">
                <a:lumMod val="85000"/>
              </a:schemeClr>
            </a:solidFill>
            <a:prstDash val="solid"/>
            <a:miter lim="800000"/>
          </a:ln>
          <a:effectLst/>
        </p:spPr>
      </p:cxnSp>
      <p:sp>
        <p:nvSpPr>
          <p:cNvPr id="6" name="Rectángulo 14" descr="li">
            <a:extLst>
              <a:ext uri="{FF2B5EF4-FFF2-40B4-BE49-F238E27FC236}">
                <a16:creationId xmlns:a16="http://schemas.microsoft.com/office/drawing/2014/main" id="{F2F3252E-BBBD-8A6B-98D7-88C88E6910FE}"/>
              </a:ext>
            </a:extLst>
          </p:cNvPr>
          <p:cNvSpPr/>
          <p:nvPr/>
        </p:nvSpPr>
        <p:spPr>
          <a:xfrm>
            <a:off x="677396" y="3759475"/>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200" b="0" i="0" u="none" strike="noStrike" kern="0" cap="none" spc="0" normalizeH="0" baseline="0" noProof="0">
                <a:ln>
                  <a:noFill/>
                </a:ln>
                <a:solidFill>
                  <a:srgbClr val="DEEDF1">
                    <a:lumMod val="25000"/>
                  </a:srgbClr>
                </a:solidFill>
                <a:effectLst/>
                <a:uLnTx/>
                <a:uFillTx/>
                <a:latin typeface="Santander Text"/>
                <a:ea typeface="+mn-ea"/>
                <a:cs typeface="+mn-cs"/>
              </a:rPr>
              <a:t>FX Aggregator</a:t>
            </a:r>
          </a:p>
        </p:txBody>
      </p:sp>
      <p:sp>
        <p:nvSpPr>
          <p:cNvPr id="14" name="CuadroTexto 5">
            <a:extLst>
              <a:ext uri="{FF2B5EF4-FFF2-40B4-BE49-F238E27FC236}">
                <a16:creationId xmlns:a16="http://schemas.microsoft.com/office/drawing/2014/main" id="{81BAD3CA-DA7B-8DA5-7279-29D3DE865AD7}"/>
              </a:ext>
            </a:extLst>
          </p:cNvPr>
          <p:cNvSpPr txBox="1"/>
          <p:nvPr/>
        </p:nvSpPr>
        <p:spPr>
          <a:xfrm>
            <a:off x="2341436" y="3632835"/>
            <a:ext cx="3709755" cy="1015663"/>
          </a:xfrm>
          <a:prstGeom prst="rect">
            <a:avLst/>
          </a:prstGeom>
          <a:noFill/>
        </p:spPr>
        <p:txBody>
          <a:bodyPr wrap="square">
            <a:spAutoFit/>
          </a:bodyPr>
          <a:lstStyle/>
          <a:p>
            <a:pPr marL="180000" marR="0" lvl="0" indent="-180000" algn="just"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lang="en-US" sz="1000">
                <a:solidFill>
                  <a:prstClr val="black"/>
                </a:solidFill>
                <a:latin typeface="Santander Text" panose="020B0504020201020104" pitchFamily="34" charset="0"/>
              </a:rPr>
              <a:t>Application in charge of the aggregation of individual FX Spot tickets to reduce their volume. For this purpose, it receives the message of individual ballots, groups them according to common attributes and generates aggregated ballets, when certain configurable conditions are met, sending the aggregated ballets to the target application</a:t>
            </a:r>
          </a:p>
        </p:txBody>
      </p:sp>
      <p:sp>
        <p:nvSpPr>
          <p:cNvPr id="7" name="Rectángulo 17" descr="li">
            <a:extLst>
              <a:ext uri="{FF2B5EF4-FFF2-40B4-BE49-F238E27FC236}">
                <a16:creationId xmlns:a16="http://schemas.microsoft.com/office/drawing/2014/main" id="{7CB1CE99-167E-BF94-831A-950A4E154F9A}"/>
              </a:ext>
            </a:extLst>
          </p:cNvPr>
          <p:cNvSpPr/>
          <p:nvPr/>
        </p:nvSpPr>
        <p:spPr>
          <a:xfrm>
            <a:off x="650347" y="2791654"/>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Fluent FX</a:t>
            </a:r>
          </a:p>
        </p:txBody>
      </p:sp>
      <p:sp>
        <p:nvSpPr>
          <p:cNvPr id="10" name="CuadroTexto 45">
            <a:extLst>
              <a:ext uri="{FF2B5EF4-FFF2-40B4-BE49-F238E27FC236}">
                <a16:creationId xmlns:a16="http://schemas.microsoft.com/office/drawing/2014/main" id="{7A0CB0F3-994E-E7F7-DD7E-7BC061E30199}"/>
              </a:ext>
            </a:extLst>
          </p:cNvPr>
          <p:cNvSpPr txBox="1"/>
          <p:nvPr/>
        </p:nvSpPr>
        <p:spPr>
          <a:xfrm>
            <a:off x="2267720" y="2699989"/>
            <a:ext cx="3844374" cy="861774"/>
          </a:xfrm>
          <a:prstGeom prst="rect">
            <a:avLst/>
          </a:prstGeom>
          <a:noFill/>
        </p:spPr>
        <p:txBody>
          <a:bodyPr wrap="square">
            <a:spAutoFit/>
          </a:bodyPr>
          <a:lstStyle/>
          <a:p>
            <a:pPr marL="180000" indent="-180000" algn="just">
              <a:buClr>
                <a:srgbClr val="FF0000"/>
              </a:buClr>
              <a:buFont typeface="Wingdings" panose="05000000000000000000" pitchFamily="2" charset="2"/>
              <a:buChar char="§"/>
              <a:defRPr/>
            </a:pPr>
            <a:r>
              <a:rPr lang="en-US" sz="1000">
                <a:solidFill>
                  <a:prstClr val="black"/>
                </a:solidFill>
                <a:latin typeface="Santander Text" panose="020B0504020201020104" pitchFamily="34" charset="0"/>
              </a:rPr>
              <a:t>Platform to offer an end-to-end, ultra-</a:t>
            </a:r>
            <a:r>
              <a:rPr lang="en-US" sz="1000" err="1">
                <a:solidFill>
                  <a:prstClr val="black"/>
                </a:solidFill>
                <a:latin typeface="Santander Text" panose="020B0504020201020104" pitchFamily="34" charset="0"/>
              </a:rPr>
              <a:t>lowlatency</a:t>
            </a:r>
            <a:r>
              <a:rPr lang="en-US" sz="1000">
                <a:solidFill>
                  <a:prstClr val="black"/>
                </a:solidFill>
                <a:latin typeface="Santander Text" panose="020B0504020201020104" pitchFamily="34" charset="0"/>
              </a:rPr>
              <a:t>, turnkey solution for automated trading systems and brokers, leveraging the company’s expertise in data processing, trading, large database warehousing, data distribution, monitoring and risk management. </a:t>
            </a:r>
          </a:p>
        </p:txBody>
      </p:sp>
      <p:cxnSp>
        <p:nvCxnSpPr>
          <p:cNvPr id="25" name="Conector recto 24">
            <a:extLst>
              <a:ext uri="{FF2B5EF4-FFF2-40B4-BE49-F238E27FC236}">
                <a16:creationId xmlns:a16="http://schemas.microsoft.com/office/drawing/2014/main" id="{3D78CB81-5098-2CA6-7E9E-D1FEF2AF5C13}"/>
              </a:ext>
            </a:extLst>
          </p:cNvPr>
          <p:cNvCxnSpPr>
            <a:cxnSpLocks/>
          </p:cNvCxnSpPr>
          <p:nvPr/>
        </p:nvCxnSpPr>
        <p:spPr>
          <a:xfrm flipH="1">
            <a:off x="6251922" y="1607251"/>
            <a:ext cx="5306477" cy="0"/>
          </a:xfrm>
          <a:prstGeom prst="line">
            <a:avLst/>
          </a:prstGeom>
          <a:noFill/>
          <a:ln w="12700" cap="flat" cmpd="sng" algn="ctr">
            <a:solidFill>
              <a:srgbClr val="595959"/>
            </a:solidFill>
            <a:prstDash val="solid"/>
            <a:miter lim="800000"/>
          </a:ln>
          <a:effectLst/>
        </p:spPr>
      </p:cxnSp>
      <p:cxnSp>
        <p:nvCxnSpPr>
          <p:cNvPr id="39" name="Conector recto 38">
            <a:extLst>
              <a:ext uri="{FF2B5EF4-FFF2-40B4-BE49-F238E27FC236}">
                <a16:creationId xmlns:a16="http://schemas.microsoft.com/office/drawing/2014/main" id="{240D23B3-4E37-ECA8-55C4-893C5C38886F}"/>
              </a:ext>
            </a:extLst>
          </p:cNvPr>
          <p:cNvCxnSpPr>
            <a:cxnSpLocks/>
          </p:cNvCxnSpPr>
          <p:nvPr/>
        </p:nvCxnSpPr>
        <p:spPr>
          <a:xfrm flipH="1">
            <a:off x="622614" y="2637943"/>
            <a:ext cx="5347531" cy="0"/>
          </a:xfrm>
          <a:prstGeom prst="line">
            <a:avLst/>
          </a:prstGeom>
          <a:noFill/>
          <a:ln w="12700" cap="flat" cmpd="sng" algn="ctr">
            <a:solidFill>
              <a:schemeClr val="bg1">
                <a:lumMod val="85000"/>
              </a:schemeClr>
            </a:solidFill>
            <a:prstDash val="solid"/>
            <a:miter lim="800000"/>
          </a:ln>
          <a:effectLst/>
        </p:spPr>
      </p:cxnSp>
      <p:sp>
        <p:nvSpPr>
          <p:cNvPr id="44" name="Rectángulo 41" descr="li">
            <a:extLst>
              <a:ext uri="{FF2B5EF4-FFF2-40B4-BE49-F238E27FC236}">
                <a16:creationId xmlns:a16="http://schemas.microsoft.com/office/drawing/2014/main" id="{EB545CCC-5D97-5502-0A0D-D7BF0AD46042}"/>
              </a:ext>
            </a:extLst>
          </p:cNvPr>
          <p:cNvSpPr/>
          <p:nvPr/>
        </p:nvSpPr>
        <p:spPr>
          <a:xfrm>
            <a:off x="650347" y="4953536"/>
            <a:ext cx="1485174" cy="540000"/>
          </a:xfrm>
          <a:prstGeom prst="rect">
            <a:avLst/>
          </a:prstGeom>
          <a:noFill/>
          <a:ln w="12700" cap="flat" cmpd="sng" algn="ctr">
            <a:solidFill>
              <a:schemeClr val="bg1">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Neutrino</a:t>
            </a:r>
          </a:p>
        </p:txBody>
      </p:sp>
      <p:sp>
        <p:nvSpPr>
          <p:cNvPr id="45" name="CuadroTexto 54">
            <a:extLst>
              <a:ext uri="{FF2B5EF4-FFF2-40B4-BE49-F238E27FC236}">
                <a16:creationId xmlns:a16="http://schemas.microsoft.com/office/drawing/2014/main" id="{2880E943-CCA8-A28A-0B5D-1DD5AE1155F2}"/>
              </a:ext>
            </a:extLst>
          </p:cNvPr>
          <p:cNvSpPr txBox="1"/>
          <p:nvPr/>
        </p:nvSpPr>
        <p:spPr>
          <a:xfrm>
            <a:off x="2355460" y="4904219"/>
            <a:ext cx="3695731" cy="553998"/>
          </a:xfrm>
          <a:prstGeom prst="rect">
            <a:avLst/>
          </a:prstGeom>
          <a:noFill/>
        </p:spPr>
        <p:txBody>
          <a:bodyPr wrap="square">
            <a:spAutoFit/>
          </a:bodyPr>
          <a:lstStyle/>
          <a:p>
            <a:pPr marL="180000" marR="0" lvl="1" indent="-180000" algn="just"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lang="en-US" sz="1000">
                <a:solidFill>
                  <a:prstClr val="black"/>
                </a:solidFill>
                <a:latin typeface="Santander Text" panose="020B0504020201020104" pitchFamily="34" charset="0"/>
              </a:rPr>
              <a:t>Pricing &amp; Execution System Forex connected directly to clients via API who will be consuming currency prices and executing currencies and sending execution reports.</a:t>
            </a:r>
          </a:p>
        </p:txBody>
      </p:sp>
      <p:cxnSp>
        <p:nvCxnSpPr>
          <p:cNvPr id="46" name="Conector recto 45">
            <a:extLst>
              <a:ext uri="{FF2B5EF4-FFF2-40B4-BE49-F238E27FC236}">
                <a16:creationId xmlns:a16="http://schemas.microsoft.com/office/drawing/2014/main" id="{D070F072-EC63-9CD8-FCAE-EE5C53C05103}"/>
              </a:ext>
            </a:extLst>
          </p:cNvPr>
          <p:cNvCxnSpPr>
            <a:cxnSpLocks/>
          </p:cNvCxnSpPr>
          <p:nvPr/>
        </p:nvCxnSpPr>
        <p:spPr>
          <a:xfrm flipH="1">
            <a:off x="6093210" y="2517183"/>
            <a:ext cx="5728401" cy="0"/>
          </a:xfrm>
          <a:prstGeom prst="line">
            <a:avLst/>
          </a:prstGeom>
          <a:noFill/>
          <a:ln w="12700" cap="flat" cmpd="sng" algn="ctr">
            <a:solidFill>
              <a:schemeClr val="bg1">
                <a:lumMod val="85000"/>
              </a:schemeClr>
            </a:solidFill>
            <a:prstDash val="solid"/>
            <a:miter lim="800000"/>
          </a:ln>
          <a:effectLst/>
        </p:spPr>
      </p:cxnSp>
      <p:cxnSp>
        <p:nvCxnSpPr>
          <p:cNvPr id="47" name="Conector recto 46">
            <a:extLst>
              <a:ext uri="{FF2B5EF4-FFF2-40B4-BE49-F238E27FC236}">
                <a16:creationId xmlns:a16="http://schemas.microsoft.com/office/drawing/2014/main" id="{48803480-2F11-5EE5-C2F4-23639E3FF69A}"/>
              </a:ext>
            </a:extLst>
          </p:cNvPr>
          <p:cNvCxnSpPr>
            <a:cxnSpLocks/>
          </p:cNvCxnSpPr>
          <p:nvPr/>
        </p:nvCxnSpPr>
        <p:spPr>
          <a:xfrm flipH="1">
            <a:off x="741949" y="4748228"/>
            <a:ext cx="5347531" cy="0"/>
          </a:xfrm>
          <a:prstGeom prst="line">
            <a:avLst/>
          </a:prstGeom>
          <a:noFill/>
          <a:ln w="12700" cap="flat" cmpd="sng" algn="ctr">
            <a:solidFill>
              <a:schemeClr val="bg1">
                <a:lumMod val="85000"/>
              </a:schemeClr>
            </a:solidFill>
            <a:prstDash val="solid"/>
            <a:miter lim="800000"/>
          </a:ln>
          <a:effectLst/>
        </p:spPr>
      </p:cxnSp>
      <p:cxnSp>
        <p:nvCxnSpPr>
          <p:cNvPr id="49" name="Conector recto 48">
            <a:extLst>
              <a:ext uri="{FF2B5EF4-FFF2-40B4-BE49-F238E27FC236}">
                <a16:creationId xmlns:a16="http://schemas.microsoft.com/office/drawing/2014/main" id="{75C4DEB9-A327-827B-F053-A7A13C21C6F2}"/>
              </a:ext>
            </a:extLst>
          </p:cNvPr>
          <p:cNvCxnSpPr>
            <a:cxnSpLocks/>
          </p:cNvCxnSpPr>
          <p:nvPr/>
        </p:nvCxnSpPr>
        <p:spPr>
          <a:xfrm flipH="1" flipV="1">
            <a:off x="6213407" y="3625667"/>
            <a:ext cx="5688643" cy="11864"/>
          </a:xfrm>
          <a:prstGeom prst="line">
            <a:avLst/>
          </a:prstGeom>
          <a:noFill/>
          <a:ln w="12700" cap="flat" cmpd="sng" algn="ctr">
            <a:solidFill>
              <a:schemeClr val="bg1">
                <a:lumMod val="85000"/>
              </a:schemeClr>
            </a:solidFill>
            <a:prstDash val="solid"/>
            <a:miter lim="800000"/>
          </a:ln>
          <a:effectLst/>
        </p:spPr>
      </p:cxnSp>
      <p:sp>
        <p:nvSpPr>
          <p:cNvPr id="50" name="Rectángulo 49">
            <a:extLst>
              <a:ext uri="{FF2B5EF4-FFF2-40B4-BE49-F238E27FC236}">
                <a16:creationId xmlns:a16="http://schemas.microsoft.com/office/drawing/2014/main" id="{AEA1E120-B8E1-630B-42FC-91A8316B7A68}"/>
              </a:ext>
            </a:extLst>
          </p:cNvPr>
          <p:cNvSpPr/>
          <p:nvPr/>
        </p:nvSpPr>
        <p:spPr>
          <a:xfrm>
            <a:off x="6289467" y="2677110"/>
            <a:ext cx="1438010" cy="540000"/>
          </a:xfrm>
          <a:prstGeom prst="rect">
            <a:avLst/>
          </a:prstGeom>
          <a:noFill/>
          <a:ln w="12700" cap="flat" cmpd="sng" algn="ctr">
            <a:solidFill>
              <a:schemeClr val="bg1">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Darwin</a:t>
            </a:r>
          </a:p>
        </p:txBody>
      </p:sp>
      <p:sp>
        <p:nvSpPr>
          <p:cNvPr id="51" name="CuadroTexto 50">
            <a:extLst>
              <a:ext uri="{FF2B5EF4-FFF2-40B4-BE49-F238E27FC236}">
                <a16:creationId xmlns:a16="http://schemas.microsoft.com/office/drawing/2014/main" id="{5F5D0404-B641-7024-D083-4AA7A274B34A}"/>
              </a:ext>
            </a:extLst>
          </p:cNvPr>
          <p:cNvSpPr txBox="1"/>
          <p:nvPr/>
        </p:nvSpPr>
        <p:spPr>
          <a:xfrm>
            <a:off x="7855094" y="2601750"/>
            <a:ext cx="4046956" cy="1015663"/>
          </a:xfrm>
          <a:prstGeom prst="rect">
            <a:avLst/>
          </a:prstGeom>
          <a:noFill/>
        </p:spPr>
        <p:txBody>
          <a:bodyPr wrap="square">
            <a:spAutoFit/>
          </a:bodyPr>
          <a:lstStyle/>
          <a:p>
            <a:pPr marL="180000" marR="0" lvl="1" indent="-180000" algn="just"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lang="en-US" sz="1000">
                <a:solidFill>
                  <a:prstClr val="black"/>
                </a:solidFill>
                <a:latin typeface="Santander Text" panose="020B0504020201020104" pitchFamily="34" charset="0"/>
              </a:rPr>
              <a:t>Electronic Pricing and Negotiation system for USD Swaps. Calculates USD Swap Curves real-time based on the inbound market data, Derives standard USD Swap instrument bid/offer prices based on client tiers, and streams them to the D2C markets for clients to see Clients initiate RFQ and RFS for their chosen USD Swap instrument on those D2C markets.</a:t>
            </a:r>
          </a:p>
        </p:txBody>
      </p:sp>
      <p:sp>
        <p:nvSpPr>
          <p:cNvPr id="52" name="Rectángulo 41">
            <a:extLst>
              <a:ext uri="{FF2B5EF4-FFF2-40B4-BE49-F238E27FC236}">
                <a16:creationId xmlns:a16="http://schemas.microsoft.com/office/drawing/2014/main" id="{A147BF43-D57F-EA09-4B1B-22592798955E}"/>
              </a:ext>
            </a:extLst>
          </p:cNvPr>
          <p:cNvSpPr/>
          <p:nvPr/>
        </p:nvSpPr>
        <p:spPr>
          <a:xfrm>
            <a:off x="6279655" y="4623662"/>
            <a:ext cx="1440000" cy="540000"/>
          </a:xfrm>
          <a:prstGeom prst="rect">
            <a:avLst/>
          </a:prstGeom>
          <a:noFill/>
          <a:ln w="12700" cap="flat" cmpd="sng" algn="ctr">
            <a:solidFill>
              <a:schemeClr val="bg1">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OMS </a:t>
            </a:r>
            <a:r>
              <a:rPr kumimoji="0" lang="en-AU" sz="1400" b="0" i="0" u="none" strike="noStrike" kern="0" cap="none" spc="0" normalizeH="0" baseline="0" noProof="0" err="1">
                <a:ln>
                  <a:noFill/>
                </a:ln>
                <a:solidFill>
                  <a:srgbClr val="DEEDF1">
                    <a:lumMod val="25000"/>
                  </a:srgbClr>
                </a:solidFill>
                <a:effectLst/>
                <a:uLnTx/>
                <a:uFillTx/>
                <a:latin typeface="Santander Text" panose="020B0504020201020104" pitchFamily="34" charset="0"/>
                <a:ea typeface="+mn-ea"/>
                <a:cs typeface="+mn-cs"/>
              </a:rPr>
              <a:t>Itiviti</a:t>
            </a:r>
            <a:endParaRPr kumimoji="0" lang="en-AU" sz="1400" b="0"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endParaRPr>
          </a:p>
        </p:txBody>
      </p:sp>
      <p:sp>
        <p:nvSpPr>
          <p:cNvPr id="53" name="CuadroTexto 54">
            <a:extLst>
              <a:ext uri="{FF2B5EF4-FFF2-40B4-BE49-F238E27FC236}">
                <a16:creationId xmlns:a16="http://schemas.microsoft.com/office/drawing/2014/main" id="{DE9CDA7D-E7FF-E498-ECDE-5E4559747A91}"/>
              </a:ext>
            </a:extLst>
          </p:cNvPr>
          <p:cNvSpPr txBox="1"/>
          <p:nvPr/>
        </p:nvSpPr>
        <p:spPr>
          <a:xfrm>
            <a:off x="7855094" y="4569772"/>
            <a:ext cx="4113206" cy="553998"/>
          </a:xfrm>
          <a:prstGeom prst="rect">
            <a:avLst/>
          </a:prstGeom>
          <a:noFill/>
        </p:spPr>
        <p:txBody>
          <a:bodyPr wrap="square">
            <a:spAutoFit/>
          </a:bodyPr>
          <a:lstStyle/>
          <a:p>
            <a:pPr marL="180000" marR="0" lvl="1" indent="-180000" algn="just"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kumimoji="0" lang="en-US" sz="10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rPr>
              <a:t>Multi-asset platform designed to streamline trading operations for financial institutions. It supports equities, listed derivatives, and fixed income instruments, providing connectivity to trading venues. </a:t>
            </a:r>
          </a:p>
        </p:txBody>
      </p:sp>
      <p:sp>
        <p:nvSpPr>
          <p:cNvPr id="54" name="Rectángulo 53">
            <a:extLst>
              <a:ext uri="{FF2B5EF4-FFF2-40B4-BE49-F238E27FC236}">
                <a16:creationId xmlns:a16="http://schemas.microsoft.com/office/drawing/2014/main" id="{9B0A7B3F-F535-2699-6B93-2414635CA5CE}"/>
              </a:ext>
            </a:extLst>
          </p:cNvPr>
          <p:cNvSpPr/>
          <p:nvPr/>
        </p:nvSpPr>
        <p:spPr>
          <a:xfrm>
            <a:off x="6279655" y="3793334"/>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Fidessa SWAP</a:t>
            </a:r>
          </a:p>
        </p:txBody>
      </p:sp>
      <p:sp>
        <p:nvSpPr>
          <p:cNvPr id="55" name="CuadroTexto 54">
            <a:extLst>
              <a:ext uri="{FF2B5EF4-FFF2-40B4-BE49-F238E27FC236}">
                <a16:creationId xmlns:a16="http://schemas.microsoft.com/office/drawing/2014/main" id="{FE8AD451-4F29-26E8-1CBF-20FDE6AD867A}"/>
              </a:ext>
            </a:extLst>
          </p:cNvPr>
          <p:cNvSpPr txBox="1"/>
          <p:nvPr/>
        </p:nvSpPr>
        <p:spPr>
          <a:xfrm>
            <a:off x="7855094" y="3748841"/>
            <a:ext cx="4071415" cy="616162"/>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just">
              <a:lnSpc>
                <a:spcPct val="107000"/>
              </a:lnSpc>
              <a:spcAft>
                <a:spcPts val="800"/>
              </a:spcAft>
            </a:pPr>
            <a:r>
              <a:rPr lang="en-US" sz="1000">
                <a:solidFill>
                  <a:prstClr val="black"/>
                </a:solidFill>
                <a:latin typeface="Santander Text" panose="020B0504020201020104" pitchFamily="34" charset="0"/>
              </a:rPr>
              <a:t>Comprehensive solution for equity swaps trading. This platform automates and simplifies workflows related to swaps, providing connectivity to global equity markets. </a:t>
            </a:r>
            <a:endParaRPr lang="es-ES" sz="1000">
              <a:solidFill>
                <a:prstClr val="black"/>
              </a:solidFill>
              <a:latin typeface="Santander Text" panose="020B0504020201020104" pitchFamily="34" charset="0"/>
            </a:endParaRPr>
          </a:p>
        </p:txBody>
      </p:sp>
      <p:cxnSp>
        <p:nvCxnSpPr>
          <p:cNvPr id="56" name="Conector recto 55">
            <a:extLst>
              <a:ext uri="{FF2B5EF4-FFF2-40B4-BE49-F238E27FC236}">
                <a16:creationId xmlns:a16="http://schemas.microsoft.com/office/drawing/2014/main" id="{EEE2315E-B5BB-8BB0-26C9-55CE9E3E573E}"/>
              </a:ext>
            </a:extLst>
          </p:cNvPr>
          <p:cNvCxnSpPr>
            <a:cxnSpLocks/>
          </p:cNvCxnSpPr>
          <p:nvPr/>
        </p:nvCxnSpPr>
        <p:spPr>
          <a:xfrm flipH="1">
            <a:off x="6279655" y="4470418"/>
            <a:ext cx="5688643" cy="0"/>
          </a:xfrm>
          <a:prstGeom prst="line">
            <a:avLst/>
          </a:prstGeom>
          <a:noFill/>
          <a:ln w="12700" cap="flat" cmpd="sng" algn="ctr">
            <a:solidFill>
              <a:schemeClr val="bg1">
                <a:lumMod val="85000"/>
              </a:schemeClr>
            </a:solidFill>
            <a:prstDash val="solid"/>
            <a:miter lim="800000"/>
          </a:ln>
          <a:effectLst/>
        </p:spPr>
      </p:cxnSp>
      <p:cxnSp>
        <p:nvCxnSpPr>
          <p:cNvPr id="57" name="Conector recto 56">
            <a:extLst>
              <a:ext uri="{FF2B5EF4-FFF2-40B4-BE49-F238E27FC236}">
                <a16:creationId xmlns:a16="http://schemas.microsoft.com/office/drawing/2014/main" id="{BE050358-E10E-A497-B252-597C37CAD693}"/>
              </a:ext>
            </a:extLst>
          </p:cNvPr>
          <p:cNvCxnSpPr>
            <a:cxnSpLocks/>
          </p:cNvCxnSpPr>
          <p:nvPr/>
        </p:nvCxnSpPr>
        <p:spPr>
          <a:xfrm flipH="1">
            <a:off x="6279655" y="5283696"/>
            <a:ext cx="5688643" cy="0"/>
          </a:xfrm>
          <a:prstGeom prst="line">
            <a:avLst/>
          </a:prstGeom>
          <a:noFill/>
          <a:ln w="12700" cap="flat" cmpd="sng" algn="ctr">
            <a:solidFill>
              <a:schemeClr val="bg1">
                <a:lumMod val="85000"/>
              </a:schemeClr>
            </a:solidFill>
            <a:prstDash val="solid"/>
            <a:miter lim="800000"/>
          </a:ln>
          <a:effectLst/>
        </p:spPr>
      </p:cxnSp>
      <p:sp>
        <p:nvSpPr>
          <p:cNvPr id="59" name="Rectángulo 41">
            <a:extLst>
              <a:ext uri="{FF2B5EF4-FFF2-40B4-BE49-F238E27FC236}">
                <a16:creationId xmlns:a16="http://schemas.microsoft.com/office/drawing/2014/main" id="{0178E990-86EC-8127-E9F4-C19C15D7355F}"/>
              </a:ext>
            </a:extLst>
          </p:cNvPr>
          <p:cNvSpPr/>
          <p:nvPr/>
        </p:nvSpPr>
        <p:spPr>
          <a:xfrm>
            <a:off x="6279655" y="5458217"/>
            <a:ext cx="1440000" cy="540000"/>
          </a:xfrm>
          <a:prstGeom prst="rect">
            <a:avLst/>
          </a:prstGeom>
          <a:noFill/>
          <a:ln w="12700" cap="flat" cmpd="sng" algn="ctr">
            <a:solidFill>
              <a:schemeClr val="bg1">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err="1">
                <a:ln>
                  <a:noFill/>
                </a:ln>
                <a:solidFill>
                  <a:srgbClr val="DEEDF1">
                    <a:lumMod val="25000"/>
                  </a:srgbClr>
                </a:solidFill>
                <a:effectLst/>
                <a:uLnTx/>
                <a:uFillTx/>
                <a:latin typeface="Santander Text" panose="020B0504020201020104" pitchFamily="34" charset="0"/>
                <a:ea typeface="+mn-ea"/>
                <a:cs typeface="+mn-cs"/>
              </a:rPr>
              <a:t>SwapOne</a:t>
            </a:r>
            <a:endParaRPr kumimoji="0" lang="en-AU" sz="1400" b="0"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endParaRPr>
          </a:p>
        </p:txBody>
      </p:sp>
      <p:sp>
        <p:nvSpPr>
          <p:cNvPr id="60" name="CuadroTexto 59">
            <a:extLst>
              <a:ext uri="{FF2B5EF4-FFF2-40B4-BE49-F238E27FC236}">
                <a16:creationId xmlns:a16="http://schemas.microsoft.com/office/drawing/2014/main" id="{7FCE3812-F55E-F61C-692B-544B34C83519}"/>
              </a:ext>
            </a:extLst>
          </p:cNvPr>
          <p:cNvSpPr txBox="1"/>
          <p:nvPr/>
        </p:nvSpPr>
        <p:spPr>
          <a:xfrm>
            <a:off x="7855094" y="5394382"/>
            <a:ext cx="4050420" cy="861774"/>
          </a:xfrm>
          <a:prstGeom prst="rect">
            <a:avLst/>
          </a:prstGeom>
          <a:noFill/>
        </p:spPr>
        <p:txBody>
          <a:bodyPr wrap="square">
            <a:spAutoFit/>
          </a:bodyPr>
          <a:lstStyle/>
          <a:p>
            <a:pPr marL="171450" indent="-171450" algn="just">
              <a:buClr>
                <a:srgbClr val="FF0000"/>
              </a:buClr>
              <a:buFont typeface="Wingdings" panose="05000000000000000000" pitchFamily="2" charset="2"/>
              <a:buChar char="§"/>
            </a:pPr>
            <a:r>
              <a:rPr lang="en-US" sz="1000">
                <a:solidFill>
                  <a:prstClr val="black"/>
                </a:solidFill>
                <a:latin typeface="Santander Text" panose="020B0504020201020104" pitchFamily="34" charset="0"/>
              </a:rPr>
              <a:t>Comprehensive platform developed by S&amp;P Global (formerly IHS Markit) that manages the entire lifecycle of synthetic swaps. It caters to both new market entrants and established prime brokers, offering support for various swap types, including total return swaps (TRS), contracts for difference (CFD), pay-to-hold, and portfolio swaps. </a:t>
            </a:r>
            <a:endParaRPr lang="es-ES" sz="1000">
              <a:solidFill>
                <a:prstClr val="black"/>
              </a:solidFill>
              <a:latin typeface="Santander Text" panose="020B0504020201020104" pitchFamily="34" charset="0"/>
            </a:endParaRPr>
          </a:p>
        </p:txBody>
      </p:sp>
      <p:sp>
        <p:nvSpPr>
          <p:cNvPr id="42" name="CuadroTexto 41">
            <a:extLst>
              <a:ext uri="{FF2B5EF4-FFF2-40B4-BE49-F238E27FC236}">
                <a16:creationId xmlns:a16="http://schemas.microsoft.com/office/drawing/2014/main" id="{C299C6C3-859B-FBBB-DC6C-A7F48C117A1E}"/>
              </a:ext>
            </a:extLst>
          </p:cNvPr>
          <p:cNvSpPr txBox="1"/>
          <p:nvPr/>
        </p:nvSpPr>
        <p:spPr>
          <a:xfrm>
            <a:off x="6094373" y="1267644"/>
            <a:ext cx="5832136" cy="500137"/>
          </a:xfrm>
          <a:prstGeom prst="rect">
            <a:avLst/>
          </a:prstGeom>
          <a:noFill/>
        </p:spPr>
        <p:txBody>
          <a:bodyPr wrap="square" rtlCol="0">
            <a:spAutoFit/>
          </a:bodyPr>
          <a:lstStyle/>
          <a:p>
            <a:pPr marL="355600" marR="0" lvl="0" indent="-355600" algn="l" defTabSz="914400" rtl="0" eaLnBrk="1" fontAlgn="auto" latinLnBrk="0" hangingPunct="1">
              <a:lnSpc>
                <a:spcPct val="100000"/>
              </a:lnSpc>
              <a:spcBef>
                <a:spcPts val="0"/>
              </a:spcBef>
              <a:spcAft>
                <a:spcPts val="300"/>
              </a:spcAft>
              <a:buClrTx/>
              <a:buSzTx/>
              <a:buFontTx/>
              <a:buNone/>
              <a:tabLst/>
              <a:defRPr/>
            </a:pPr>
            <a:r>
              <a:rPr kumimoji="0" lang="en-AU"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5 – Sales and </a:t>
            </a:r>
            <a:r>
              <a:rPr lang="en-GB" sz="1600" b="1">
                <a:solidFill>
                  <a:srgbClr val="DEEDF1">
                    <a:lumMod val="25000"/>
                  </a:srgbClr>
                </a:solidFill>
                <a:latin typeface="Santander Text" panose="020B0504020201020104" pitchFamily="34" charset="0"/>
              </a:rPr>
              <a:t>Business Execution Services </a:t>
            </a:r>
            <a:endParaRPr kumimoji="0" lang="en-AU"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endParaRPr>
          </a:p>
          <a:p>
            <a:pPr>
              <a:spcAft>
                <a:spcPts val="300"/>
              </a:spcAft>
            </a:pPr>
            <a:endParaRPr lang="en-GB" sz="800" i="1">
              <a:solidFill>
                <a:srgbClr val="DEEDF1">
                  <a:lumMod val="25000"/>
                </a:srgbClr>
              </a:solidFill>
              <a:latin typeface="Santander Text" panose="020B0504020201020104" pitchFamily="34" charset="0"/>
            </a:endParaRPr>
          </a:p>
        </p:txBody>
      </p:sp>
      <p:sp>
        <p:nvSpPr>
          <p:cNvPr id="43" name="Rectángulo 42">
            <a:extLst>
              <a:ext uri="{FF2B5EF4-FFF2-40B4-BE49-F238E27FC236}">
                <a16:creationId xmlns:a16="http://schemas.microsoft.com/office/drawing/2014/main" id="{7C3112B9-D5B2-5F65-7958-794794605E09}"/>
              </a:ext>
            </a:extLst>
          </p:cNvPr>
          <p:cNvSpPr/>
          <p:nvPr/>
        </p:nvSpPr>
        <p:spPr>
          <a:xfrm>
            <a:off x="6279655" y="1855847"/>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200" b="0" i="0" u="none" strike="noStrike" kern="0" cap="none" spc="0" normalizeH="0" baseline="0" noProof="0">
                <a:ln>
                  <a:noFill/>
                </a:ln>
                <a:solidFill>
                  <a:srgbClr val="DEEDF1">
                    <a:lumMod val="25000"/>
                  </a:srgbClr>
                </a:solidFill>
                <a:effectLst/>
                <a:uLnTx/>
                <a:uFillTx/>
                <a:latin typeface="Santander Text"/>
                <a:ea typeface="+mn-ea"/>
                <a:cs typeface="+mn-cs"/>
              </a:rPr>
              <a:t>Atom FX</a:t>
            </a:r>
          </a:p>
        </p:txBody>
      </p:sp>
      <p:sp>
        <p:nvSpPr>
          <p:cNvPr id="61" name="CuadroTexto 60">
            <a:extLst>
              <a:ext uri="{FF2B5EF4-FFF2-40B4-BE49-F238E27FC236}">
                <a16:creationId xmlns:a16="http://schemas.microsoft.com/office/drawing/2014/main" id="{7E3A0A67-ABA8-421B-7DB0-D75AECF5B8AF}"/>
              </a:ext>
            </a:extLst>
          </p:cNvPr>
          <p:cNvSpPr txBox="1"/>
          <p:nvPr/>
        </p:nvSpPr>
        <p:spPr>
          <a:xfrm>
            <a:off x="7984768" y="1743870"/>
            <a:ext cx="3714695" cy="707886"/>
          </a:xfrm>
          <a:prstGeom prst="rect">
            <a:avLst/>
          </a:prstGeom>
          <a:noFill/>
        </p:spPr>
        <p:txBody>
          <a:bodyPr wrap="square">
            <a:spAutoFit/>
          </a:bodyPr>
          <a:lstStyle/>
          <a:p>
            <a:pPr marL="180000" marR="0" lvl="0" indent="-180000" algn="just"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lang="en-US" sz="1000">
                <a:solidFill>
                  <a:prstClr val="black"/>
                </a:solidFill>
                <a:latin typeface="Santander Text" panose="020B0504020201020104" pitchFamily="34" charset="0"/>
              </a:rPr>
              <a:t>Sales and Trading UI for FX cash and distribution by electronic channels. Main functionalities include  RFS SPOT/FWD/SWAP, streaming tiles (ESP), Trade Blotters, Time Options &amp; Blocks, Cover/Pending Trade Executions and Pair Forwards.</a:t>
            </a:r>
          </a:p>
        </p:txBody>
      </p:sp>
      <p:cxnSp>
        <p:nvCxnSpPr>
          <p:cNvPr id="63" name="Conector recto 62">
            <a:extLst>
              <a:ext uri="{FF2B5EF4-FFF2-40B4-BE49-F238E27FC236}">
                <a16:creationId xmlns:a16="http://schemas.microsoft.com/office/drawing/2014/main" id="{8E8EF5D6-320D-D729-A623-79662DA5D716}"/>
              </a:ext>
            </a:extLst>
          </p:cNvPr>
          <p:cNvCxnSpPr>
            <a:cxnSpLocks/>
          </p:cNvCxnSpPr>
          <p:nvPr/>
        </p:nvCxnSpPr>
        <p:spPr>
          <a:xfrm flipH="1">
            <a:off x="501162" y="1607251"/>
            <a:ext cx="5594838" cy="0"/>
          </a:xfrm>
          <a:prstGeom prst="line">
            <a:avLst/>
          </a:prstGeom>
          <a:noFill/>
          <a:ln w="12700" cap="flat" cmpd="sng" algn="ctr">
            <a:solidFill>
              <a:srgbClr val="595959"/>
            </a:solidFill>
            <a:prstDash val="solid"/>
            <a:miter lim="800000"/>
          </a:ln>
          <a:effectLst/>
        </p:spPr>
      </p:cxnSp>
      <p:sp>
        <p:nvSpPr>
          <p:cNvPr id="90" name="CuadroTexto 89">
            <a:extLst>
              <a:ext uri="{FF2B5EF4-FFF2-40B4-BE49-F238E27FC236}">
                <a16:creationId xmlns:a16="http://schemas.microsoft.com/office/drawing/2014/main" id="{9FE55156-3484-2630-5694-93808F536421}"/>
              </a:ext>
            </a:extLst>
          </p:cNvPr>
          <p:cNvSpPr txBox="1"/>
          <p:nvPr/>
        </p:nvSpPr>
        <p:spPr>
          <a:xfrm>
            <a:off x="2187629" y="1824819"/>
            <a:ext cx="3975730" cy="909402"/>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just">
              <a:spcBef>
                <a:spcPts val="0"/>
              </a:spcBef>
              <a:buClr>
                <a:srgbClr val="FF0000"/>
              </a:buClr>
              <a:buFont typeface="Wingdings" panose="05000000000000000000" pitchFamily="2" charset="2"/>
              <a:buChar char="§"/>
              <a:defRPr/>
            </a:pPr>
            <a:r>
              <a:rPr lang="en-US" sz="1000">
                <a:solidFill>
                  <a:prstClr val="black"/>
                </a:solidFill>
                <a:latin typeface="Santander Text" panose="020B0504020201020104" pitchFamily="34" charset="0"/>
              </a:rPr>
              <a:t>Global platform for the management of clients trading parameters, trading permissions and price/markup configuration.</a:t>
            </a:r>
            <a:endParaRPr lang="es-ES" sz="1000">
              <a:solidFill>
                <a:prstClr val="black"/>
              </a:solidFill>
              <a:latin typeface="Santander Text" panose="020B0504020201020104" pitchFamily="34" charset="0"/>
            </a:endParaRPr>
          </a:p>
          <a:p>
            <a:pPr marL="180000" marR="0" lvl="0" indent="-180000" algn="just"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endParaRPr kumimoji="0" lang="en-US" sz="1200" b="0" i="0" u="none" strike="noStrike" kern="0" cap="none" spc="0" normalizeH="0" baseline="0" noProof="0">
              <a:ln>
                <a:noFill/>
              </a:ln>
              <a:solidFill>
                <a:prstClr val="black"/>
              </a:solidFill>
              <a:effectLst/>
              <a:uLnTx/>
              <a:uFillTx/>
              <a:latin typeface="Santander Text"/>
              <a:ea typeface="+mn-ea"/>
              <a:cs typeface="+mn-cs"/>
            </a:endParaRPr>
          </a:p>
        </p:txBody>
      </p:sp>
      <p:sp>
        <p:nvSpPr>
          <p:cNvPr id="91" name="Rectángulo 90" descr="li">
            <a:extLst>
              <a:ext uri="{FF2B5EF4-FFF2-40B4-BE49-F238E27FC236}">
                <a16:creationId xmlns:a16="http://schemas.microsoft.com/office/drawing/2014/main" id="{DA62CE55-A777-2DFC-465C-A2EC9342B17E}"/>
              </a:ext>
            </a:extLst>
          </p:cNvPr>
          <p:cNvSpPr/>
          <p:nvPr/>
        </p:nvSpPr>
        <p:spPr>
          <a:xfrm>
            <a:off x="650347" y="1850962"/>
            <a:ext cx="1445193" cy="619556"/>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rPr>
              <a:t>Athena</a:t>
            </a:r>
          </a:p>
        </p:txBody>
      </p:sp>
    </p:spTree>
    <p:extLst>
      <p:ext uri="{BB962C8B-B14F-4D97-AF65-F5344CB8AC3E}">
        <p14:creationId xmlns:p14="http://schemas.microsoft.com/office/powerpoint/2010/main" val="749789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9EB4E-E7CF-DB8B-E261-078BAD7E70D0}"/>
            </a:ext>
          </a:extLst>
        </p:cNvPr>
        <p:cNvGrpSpPr/>
        <p:nvPr/>
      </p:nvGrpSpPr>
      <p:grpSpPr>
        <a:xfrm>
          <a:off x="0" y="0"/>
          <a:ext cx="0" cy="0"/>
          <a:chOff x="0" y="0"/>
          <a:chExt cx="0" cy="0"/>
        </a:xfrm>
      </p:grpSpPr>
      <p:sp>
        <p:nvSpPr>
          <p:cNvPr id="17" name="Text Placeholder 2">
            <a:extLst>
              <a:ext uri="{FF2B5EF4-FFF2-40B4-BE49-F238E27FC236}">
                <a16:creationId xmlns:a16="http://schemas.microsoft.com/office/drawing/2014/main" id="{D363548B-7A98-CD31-D034-0E465D8AE22A}"/>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8" name="Título 1">
            <a:extLst>
              <a:ext uri="{FF2B5EF4-FFF2-40B4-BE49-F238E27FC236}">
                <a16:creationId xmlns:a16="http://schemas.microsoft.com/office/drawing/2014/main" id="{CEBD99E5-0A60-69EC-1D4B-8F5A36DA7E73}"/>
              </a:ext>
            </a:extLst>
          </p:cNvPr>
          <p:cNvSpPr txBox="1">
            <a:spLocks/>
          </p:cNvSpPr>
          <p:nvPr/>
        </p:nvSpPr>
        <p:spPr>
          <a:xfrm>
            <a:off x="711024" y="623339"/>
            <a:ext cx="10758733" cy="836992"/>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lang="en-US" sz="2800" b="1" kern="1200" dirty="0">
                <a:solidFill>
                  <a:schemeClr val="accent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s-ES" sz="2800" b="1" i="0" u="none" strike="noStrike" kern="1200" cap="none" spc="0" normalizeH="0" baseline="0" noProof="0">
                <a:ln>
                  <a:noFill/>
                </a:ln>
                <a:solidFill>
                  <a:srgbClr val="EC0000"/>
                </a:solidFill>
                <a:effectLst/>
                <a:uLnTx/>
                <a:uFillTx/>
                <a:latin typeface="Santander Headline"/>
                <a:ea typeface="+mj-ea"/>
                <a:cs typeface="+mj-cs"/>
              </a:rPr>
              <a:t>SCIB. </a:t>
            </a:r>
            <a:r>
              <a:rPr lang="es-ES" err="1">
                <a:solidFill>
                  <a:srgbClr val="BFBFBF"/>
                </a:solidFill>
                <a:latin typeface="Santander Headline"/>
              </a:rPr>
              <a:t>Markets</a:t>
            </a:r>
            <a:r>
              <a:rPr lang="es-ES">
                <a:solidFill>
                  <a:srgbClr val="BFBFBF"/>
                </a:solidFill>
                <a:latin typeface="Santander Headline"/>
              </a:rPr>
              <a:t> </a:t>
            </a:r>
            <a:r>
              <a:rPr lang="en-AU">
                <a:solidFill>
                  <a:srgbClr val="BFBFBF"/>
                </a:solidFill>
                <a:latin typeface="Santander Headline"/>
              </a:rPr>
              <a:t>Back</a:t>
            </a:r>
            <a:endParaRPr kumimoji="0" lang="en-AU" sz="2800" b="1" i="0" u="none" strike="noStrike" kern="1200" cap="none" spc="0" normalizeH="0" baseline="0" noProof="0">
              <a:ln>
                <a:noFill/>
              </a:ln>
              <a:solidFill>
                <a:srgbClr val="BFBFBF"/>
              </a:solidFill>
              <a:effectLst/>
              <a:uLnTx/>
              <a:uFillTx/>
              <a:latin typeface="Santander Headline"/>
              <a:ea typeface="+mj-ea"/>
              <a:cs typeface="+mj-cs"/>
            </a:endParaRPr>
          </a:p>
        </p:txBody>
      </p:sp>
      <p:sp>
        <p:nvSpPr>
          <p:cNvPr id="32" name="CuadroTexto 31">
            <a:extLst>
              <a:ext uri="{FF2B5EF4-FFF2-40B4-BE49-F238E27FC236}">
                <a16:creationId xmlns:a16="http://schemas.microsoft.com/office/drawing/2014/main" id="{17607019-1326-C162-6923-273EA0E1DF87}"/>
              </a:ext>
            </a:extLst>
          </p:cNvPr>
          <p:cNvSpPr txBox="1"/>
          <p:nvPr/>
        </p:nvSpPr>
        <p:spPr>
          <a:xfrm>
            <a:off x="669843" y="1049052"/>
            <a:ext cx="5138225" cy="338554"/>
          </a:xfrm>
          <a:prstGeom prst="rect">
            <a:avLst/>
          </a:prstGeom>
          <a:noFill/>
        </p:spPr>
        <p:txBody>
          <a:bodyPr wrap="square" rtlCol="0">
            <a:spAutoFit/>
          </a:bodyPr>
          <a:lstStyle/>
          <a:p>
            <a:pPr marL="355600" marR="0" lvl="0" indent="-355600" algn="l" defTabSz="914400" rtl="0" eaLnBrk="1" fontAlgn="auto" latinLnBrk="0" hangingPunct="1">
              <a:lnSpc>
                <a:spcPct val="100000"/>
              </a:lnSpc>
              <a:spcBef>
                <a:spcPts val="0"/>
              </a:spcBef>
              <a:spcAft>
                <a:spcPts val="300"/>
              </a:spcAft>
              <a:buClrTx/>
              <a:buSzTx/>
              <a:buFontTx/>
              <a:buNone/>
              <a:tabLst/>
              <a:defRPr/>
            </a:pPr>
            <a:r>
              <a:rPr kumimoji="0" lang="en-AU"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1 – Business </a:t>
            </a:r>
            <a:r>
              <a:rPr lang="en-GB" sz="1600" b="1">
                <a:solidFill>
                  <a:srgbClr val="DEEDF1">
                    <a:lumMod val="25000"/>
                  </a:srgbClr>
                </a:solidFill>
                <a:latin typeface="Santander Text" panose="020B0504020201020104" pitchFamily="34" charset="0"/>
              </a:rPr>
              <a:t>Execution Services</a:t>
            </a:r>
            <a:endParaRPr kumimoji="0" lang="en-AU"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endParaRPr>
          </a:p>
        </p:txBody>
      </p:sp>
      <p:cxnSp>
        <p:nvCxnSpPr>
          <p:cNvPr id="2" name="Conector recto 32">
            <a:extLst>
              <a:ext uri="{FF2B5EF4-FFF2-40B4-BE49-F238E27FC236}">
                <a16:creationId xmlns:a16="http://schemas.microsoft.com/office/drawing/2014/main" id="{8FA3F313-BCE3-1A4A-26DA-6246BAE19BDD}"/>
              </a:ext>
            </a:extLst>
          </p:cNvPr>
          <p:cNvCxnSpPr>
            <a:cxnSpLocks/>
          </p:cNvCxnSpPr>
          <p:nvPr/>
        </p:nvCxnSpPr>
        <p:spPr>
          <a:xfrm flipH="1">
            <a:off x="643616" y="1465023"/>
            <a:ext cx="10954217" cy="0"/>
          </a:xfrm>
          <a:prstGeom prst="line">
            <a:avLst/>
          </a:prstGeom>
          <a:noFill/>
          <a:ln w="12700" cap="flat" cmpd="sng" algn="ctr">
            <a:solidFill>
              <a:srgbClr val="595959"/>
            </a:solidFill>
            <a:prstDash val="solid"/>
            <a:miter lim="800000"/>
          </a:ln>
          <a:effectLst/>
        </p:spPr>
      </p:cxnSp>
      <p:sp>
        <p:nvSpPr>
          <p:cNvPr id="45" name="Rectángulo 114">
            <a:extLst>
              <a:ext uri="{FF2B5EF4-FFF2-40B4-BE49-F238E27FC236}">
                <a16:creationId xmlns:a16="http://schemas.microsoft.com/office/drawing/2014/main" id="{F592AD37-1462-EAE6-381A-5CDE9B75E75D}"/>
              </a:ext>
            </a:extLst>
          </p:cNvPr>
          <p:cNvSpPr/>
          <p:nvPr/>
        </p:nvSpPr>
        <p:spPr>
          <a:xfrm>
            <a:off x="735860" y="1790952"/>
            <a:ext cx="1439724" cy="601546"/>
          </a:xfrm>
          <a:prstGeom prst="rect">
            <a:avLst/>
          </a:prstGeom>
          <a:noFill/>
          <a:ln w="12700" cap="flat" cmpd="sng" algn="ctr">
            <a:solidFill>
              <a:schemeClr val="bg2">
                <a:lumMod val="50000"/>
              </a:schemeClr>
            </a:solidFill>
            <a:prstDash val="solid"/>
            <a:miter lim="800000"/>
          </a:ln>
          <a:effectLst/>
        </p:spPr>
        <p:txBody>
          <a:bodyPr lIns="72000" rIns="72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600"/>
              </a:spcAft>
            </a:pPr>
            <a:r>
              <a:rPr lang="en-GB" sz="1400" kern="0">
                <a:solidFill>
                  <a:srgbClr val="DEEDF1">
                    <a:lumMod val="25000"/>
                  </a:srgbClr>
                </a:solidFill>
                <a:latin typeface="Santander Text"/>
              </a:rPr>
              <a:t>AUKI BO Workflows</a:t>
            </a:r>
          </a:p>
        </p:txBody>
      </p:sp>
      <p:sp>
        <p:nvSpPr>
          <p:cNvPr id="48" name="Rectángulo 114">
            <a:extLst>
              <a:ext uri="{FF2B5EF4-FFF2-40B4-BE49-F238E27FC236}">
                <a16:creationId xmlns:a16="http://schemas.microsoft.com/office/drawing/2014/main" id="{4345786D-A3B2-2E07-0A34-CEAF42A55FD9}"/>
              </a:ext>
            </a:extLst>
          </p:cNvPr>
          <p:cNvSpPr/>
          <p:nvPr/>
        </p:nvSpPr>
        <p:spPr>
          <a:xfrm>
            <a:off x="6084787" y="1801347"/>
            <a:ext cx="1439724" cy="601546"/>
          </a:xfrm>
          <a:prstGeom prst="rect">
            <a:avLst/>
          </a:prstGeom>
          <a:noFill/>
          <a:ln w="12700" cap="flat" cmpd="sng" algn="ctr">
            <a:solidFill>
              <a:schemeClr val="bg2">
                <a:lumMod val="50000"/>
              </a:schemeClr>
            </a:solidFill>
            <a:prstDash val="solid"/>
            <a:miter lim="800000"/>
          </a:ln>
          <a:effectLst/>
        </p:spPr>
        <p:txBody>
          <a:bodyPr lIns="72000" rIns="72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600"/>
              </a:spcAft>
            </a:pPr>
            <a:r>
              <a:rPr lang="en-GB" sz="1400" kern="0">
                <a:solidFill>
                  <a:srgbClr val="DEEDF1">
                    <a:lumMod val="25000"/>
                  </a:srgbClr>
                </a:solidFill>
                <a:latin typeface="Santander Text"/>
              </a:rPr>
              <a:t>Integrity Check</a:t>
            </a:r>
          </a:p>
        </p:txBody>
      </p:sp>
      <p:sp>
        <p:nvSpPr>
          <p:cNvPr id="14" name="CuadroTexto 13">
            <a:extLst>
              <a:ext uri="{FF2B5EF4-FFF2-40B4-BE49-F238E27FC236}">
                <a16:creationId xmlns:a16="http://schemas.microsoft.com/office/drawing/2014/main" id="{B1B5B6CB-7A25-4244-3C86-D93B7EECFE7C}"/>
              </a:ext>
            </a:extLst>
          </p:cNvPr>
          <p:cNvSpPr txBox="1"/>
          <p:nvPr/>
        </p:nvSpPr>
        <p:spPr>
          <a:xfrm>
            <a:off x="2309268" y="1526796"/>
            <a:ext cx="3519363" cy="1323439"/>
          </a:xfrm>
          <a:prstGeom prst="rect">
            <a:avLst/>
          </a:prstGeom>
          <a:noFill/>
        </p:spPr>
        <p:txBody>
          <a:bodyPr wrap="square">
            <a:spAutoFit/>
          </a:bodyPr>
          <a:lstStyle/>
          <a:p>
            <a:pPr marL="171450" indent="-171450" algn="just">
              <a:buClr>
                <a:srgbClr val="FF0000"/>
              </a:buClr>
              <a:buFont typeface="Wingdings" panose="05000000000000000000" pitchFamily="2" charset="2"/>
              <a:buChar char="§"/>
              <a:defRPr/>
            </a:pPr>
            <a:r>
              <a:rPr lang="en-US" sz="1000">
                <a:solidFill>
                  <a:prstClr val="black"/>
                </a:solidFill>
                <a:latin typeface="Santander Text" panose="020B0504020201020104" pitchFamily="34" charset="0"/>
              </a:rPr>
              <a:t>Solution designed to automate the online process involved in trade lifecycle management. The current (as per 09/2024) range of products processed through the AUKI flow includes the following instruments:</a:t>
            </a:r>
            <a:br>
              <a:rPr lang="en-US" sz="1000">
                <a:solidFill>
                  <a:prstClr val="black"/>
                </a:solidFill>
                <a:latin typeface="Santander Text" panose="020B0504020201020104" pitchFamily="34" charset="0"/>
              </a:rPr>
            </a:br>
            <a:r>
              <a:rPr lang="en-US" sz="1000">
                <a:solidFill>
                  <a:prstClr val="black"/>
                </a:solidFill>
                <a:latin typeface="Santander Text" panose="020B0504020201020104" pitchFamily="34" charset="0"/>
              </a:rPr>
              <a:t>- DEPOSIT (Traded in DEALHUB platform)</a:t>
            </a:r>
            <a:br>
              <a:rPr lang="en-US" sz="1000">
                <a:solidFill>
                  <a:prstClr val="black"/>
                </a:solidFill>
                <a:latin typeface="Santander Text" panose="020B0504020201020104" pitchFamily="34" charset="0"/>
              </a:rPr>
            </a:br>
            <a:r>
              <a:rPr lang="en-US" sz="1000">
                <a:solidFill>
                  <a:prstClr val="black"/>
                </a:solidFill>
                <a:latin typeface="Santander Text" panose="020B0504020201020104" pitchFamily="34" charset="0"/>
              </a:rPr>
              <a:t>- IRS (Traded in MARKIT platform)</a:t>
            </a:r>
            <a:br>
              <a:rPr lang="en-US" sz="1000">
                <a:solidFill>
                  <a:prstClr val="black"/>
                </a:solidFill>
                <a:latin typeface="Santander Text" panose="020B0504020201020104" pitchFamily="34" charset="0"/>
              </a:rPr>
            </a:br>
            <a:r>
              <a:rPr lang="en-US" sz="1000">
                <a:solidFill>
                  <a:prstClr val="black"/>
                </a:solidFill>
                <a:latin typeface="Santander Text" panose="020B0504020201020104" pitchFamily="34" charset="0"/>
              </a:rPr>
              <a:t>- COMMODITY (Not processed by Electronic Platform)</a:t>
            </a:r>
            <a:br>
              <a:rPr lang="en-US" sz="1000">
                <a:solidFill>
                  <a:prstClr val="black"/>
                </a:solidFill>
                <a:latin typeface="Santander Text" panose="020B0504020201020104" pitchFamily="34" charset="0"/>
              </a:rPr>
            </a:br>
            <a:endParaRPr lang="es-ES" sz="1000">
              <a:solidFill>
                <a:prstClr val="black"/>
              </a:solidFill>
              <a:latin typeface="Santander Text" panose="020B0504020201020104" pitchFamily="34" charset="0"/>
            </a:endParaRPr>
          </a:p>
        </p:txBody>
      </p:sp>
      <p:sp>
        <p:nvSpPr>
          <p:cNvPr id="16" name="CuadroTexto 15">
            <a:extLst>
              <a:ext uri="{FF2B5EF4-FFF2-40B4-BE49-F238E27FC236}">
                <a16:creationId xmlns:a16="http://schemas.microsoft.com/office/drawing/2014/main" id="{3F10D84D-FAFB-F561-57A0-4813D0EACD0F}"/>
              </a:ext>
            </a:extLst>
          </p:cNvPr>
          <p:cNvSpPr txBox="1"/>
          <p:nvPr/>
        </p:nvSpPr>
        <p:spPr>
          <a:xfrm>
            <a:off x="7535724" y="1777547"/>
            <a:ext cx="3519363" cy="984885"/>
          </a:xfrm>
          <a:prstGeom prst="rect">
            <a:avLst/>
          </a:prstGeom>
          <a:noFill/>
        </p:spPr>
        <p:txBody>
          <a:bodyPr wrap="square">
            <a:spAutoFit/>
          </a:bodyPr>
          <a:lstStyle/>
          <a:p>
            <a:pPr marL="171450" indent="-171450" algn="just">
              <a:buClr>
                <a:srgbClr val="FF0000"/>
              </a:buClr>
              <a:buFont typeface="Wingdings" panose="05000000000000000000" pitchFamily="2" charset="2"/>
              <a:buChar char="§"/>
            </a:pPr>
            <a:r>
              <a:rPr lang="en-US" sz="1000">
                <a:solidFill>
                  <a:prstClr val="black"/>
                </a:solidFill>
                <a:latin typeface="Santander Text" panose="020B0504020201020104" pitchFamily="34" charset="0"/>
              </a:rPr>
              <a:t>A reference architecture for data streaming processing applied to any concept. It defines a conceptual model and some principles that must be followed by each project that wishes to be Integrity Check compliant.</a:t>
            </a:r>
            <a:br>
              <a:rPr lang="en-US" sz="1000">
                <a:solidFill>
                  <a:prstClr val="black"/>
                </a:solidFill>
                <a:latin typeface="Santander Text" panose="020B0504020201020104" pitchFamily="34" charset="0"/>
              </a:rPr>
            </a:br>
            <a:endParaRPr lang="es-ES"/>
          </a:p>
        </p:txBody>
      </p:sp>
      <p:cxnSp>
        <p:nvCxnSpPr>
          <p:cNvPr id="42" name="Conector recto 46">
            <a:extLst>
              <a:ext uri="{FF2B5EF4-FFF2-40B4-BE49-F238E27FC236}">
                <a16:creationId xmlns:a16="http://schemas.microsoft.com/office/drawing/2014/main" id="{2A5D531E-4256-5FE3-1D6D-91D697313033}"/>
              </a:ext>
            </a:extLst>
          </p:cNvPr>
          <p:cNvCxnSpPr>
            <a:cxnSpLocks/>
          </p:cNvCxnSpPr>
          <p:nvPr/>
        </p:nvCxnSpPr>
        <p:spPr>
          <a:xfrm flipH="1" flipV="1">
            <a:off x="697135" y="2692204"/>
            <a:ext cx="5112000" cy="0"/>
          </a:xfrm>
          <a:prstGeom prst="line">
            <a:avLst/>
          </a:prstGeom>
          <a:noFill/>
          <a:ln w="12700" cap="flat" cmpd="sng" algn="ctr">
            <a:solidFill>
              <a:schemeClr val="bg1">
                <a:lumMod val="85000"/>
              </a:schemeClr>
            </a:solidFill>
            <a:prstDash val="solid"/>
            <a:miter lim="800000"/>
          </a:ln>
          <a:effectLst/>
        </p:spPr>
      </p:cxnSp>
      <p:sp>
        <p:nvSpPr>
          <p:cNvPr id="5" name="Rectángulo 114">
            <a:extLst>
              <a:ext uri="{FF2B5EF4-FFF2-40B4-BE49-F238E27FC236}">
                <a16:creationId xmlns:a16="http://schemas.microsoft.com/office/drawing/2014/main" id="{5AE8E2D4-D843-95B4-5F20-C891FC175277}"/>
              </a:ext>
            </a:extLst>
          </p:cNvPr>
          <p:cNvSpPr/>
          <p:nvPr/>
        </p:nvSpPr>
        <p:spPr>
          <a:xfrm>
            <a:off x="734713" y="4393584"/>
            <a:ext cx="1341648" cy="601546"/>
          </a:xfrm>
          <a:prstGeom prst="rect">
            <a:avLst/>
          </a:prstGeom>
          <a:noFill/>
          <a:ln w="12700" cap="flat" cmpd="sng" algn="ctr">
            <a:solidFill>
              <a:schemeClr val="bg2">
                <a:lumMod val="50000"/>
              </a:schemeClr>
            </a:solidFill>
            <a:prstDash val="solid"/>
            <a:miter lim="800000"/>
          </a:ln>
          <a:effectLst/>
        </p:spPr>
        <p:txBody>
          <a:bodyPr lIns="72000" rIns="72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600"/>
              </a:spcAft>
            </a:pPr>
            <a:r>
              <a:rPr lang="en-GB" sz="1400" kern="0" dirty="0">
                <a:solidFill>
                  <a:srgbClr val="DEEDF1">
                    <a:lumMod val="25000"/>
                  </a:srgbClr>
                </a:solidFill>
                <a:latin typeface="Santander Text"/>
              </a:rPr>
              <a:t>Calypso CCPs</a:t>
            </a:r>
          </a:p>
        </p:txBody>
      </p:sp>
      <p:sp>
        <p:nvSpPr>
          <p:cNvPr id="6" name="Rectángulo 114">
            <a:extLst>
              <a:ext uri="{FF2B5EF4-FFF2-40B4-BE49-F238E27FC236}">
                <a16:creationId xmlns:a16="http://schemas.microsoft.com/office/drawing/2014/main" id="{64520E30-961F-DEA5-A02E-72A111287AA2}"/>
              </a:ext>
            </a:extLst>
          </p:cNvPr>
          <p:cNvSpPr/>
          <p:nvPr/>
        </p:nvSpPr>
        <p:spPr>
          <a:xfrm>
            <a:off x="6180124" y="3215930"/>
            <a:ext cx="1341648" cy="601546"/>
          </a:xfrm>
          <a:prstGeom prst="rect">
            <a:avLst/>
          </a:prstGeom>
          <a:noFill/>
          <a:ln w="12700" cap="flat" cmpd="sng" algn="ctr">
            <a:solidFill>
              <a:schemeClr val="bg2">
                <a:lumMod val="50000"/>
              </a:schemeClr>
            </a:solidFill>
            <a:prstDash val="solid"/>
            <a:miter lim="800000"/>
          </a:ln>
          <a:effectLst/>
        </p:spPr>
        <p:txBody>
          <a:bodyPr lIns="72000" rIns="72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600"/>
              </a:spcAft>
            </a:pPr>
            <a:r>
              <a:rPr lang="en-GB" sz="1400" kern="0">
                <a:solidFill>
                  <a:srgbClr val="DEEDF1">
                    <a:lumMod val="25000"/>
                  </a:srgbClr>
                </a:solidFill>
                <a:latin typeface="Santander Text"/>
              </a:rPr>
              <a:t>BOX</a:t>
            </a:r>
          </a:p>
        </p:txBody>
      </p:sp>
      <p:cxnSp>
        <p:nvCxnSpPr>
          <p:cNvPr id="7" name="Conector recto 9">
            <a:extLst>
              <a:ext uri="{FF2B5EF4-FFF2-40B4-BE49-F238E27FC236}">
                <a16:creationId xmlns:a16="http://schemas.microsoft.com/office/drawing/2014/main" id="{425BC86C-7FB9-A069-1A50-E3625A4EE4ED}"/>
              </a:ext>
            </a:extLst>
          </p:cNvPr>
          <p:cNvCxnSpPr>
            <a:cxnSpLocks/>
          </p:cNvCxnSpPr>
          <p:nvPr/>
        </p:nvCxnSpPr>
        <p:spPr>
          <a:xfrm flipH="1">
            <a:off x="721044" y="5126827"/>
            <a:ext cx="4995928" cy="0"/>
          </a:xfrm>
          <a:prstGeom prst="line">
            <a:avLst/>
          </a:prstGeom>
          <a:noFill/>
          <a:ln w="12700" cap="flat" cmpd="sng" algn="ctr">
            <a:solidFill>
              <a:schemeClr val="bg1">
                <a:lumMod val="85000"/>
              </a:schemeClr>
            </a:solidFill>
            <a:prstDash val="solid"/>
            <a:miter lim="800000"/>
          </a:ln>
          <a:effectLst/>
        </p:spPr>
      </p:cxnSp>
      <p:sp>
        <p:nvSpPr>
          <p:cNvPr id="9" name="CuadroTexto 8">
            <a:extLst>
              <a:ext uri="{FF2B5EF4-FFF2-40B4-BE49-F238E27FC236}">
                <a16:creationId xmlns:a16="http://schemas.microsoft.com/office/drawing/2014/main" id="{B390221F-3E67-00D5-89E3-164652116584}"/>
              </a:ext>
            </a:extLst>
          </p:cNvPr>
          <p:cNvSpPr txBox="1"/>
          <p:nvPr/>
        </p:nvSpPr>
        <p:spPr>
          <a:xfrm>
            <a:off x="7601969" y="3123811"/>
            <a:ext cx="3642648" cy="1169551"/>
          </a:xfrm>
          <a:prstGeom prst="rect">
            <a:avLst/>
          </a:prstGeom>
          <a:noFill/>
        </p:spPr>
        <p:txBody>
          <a:bodyPr wrap="square">
            <a:spAutoFit/>
          </a:bodyPr>
          <a:lstStyle/>
          <a:p>
            <a:pPr marL="180000" indent="-180000" algn="just">
              <a:buClr>
                <a:srgbClr val="FF0000"/>
              </a:buClr>
              <a:buFont typeface="Wingdings" panose="05000000000000000000" pitchFamily="2" charset="2"/>
              <a:buChar char="§"/>
              <a:defRPr/>
            </a:pPr>
            <a:r>
              <a:rPr lang="en-US" sz="1000">
                <a:solidFill>
                  <a:prstClr val="black"/>
                </a:solidFill>
                <a:latin typeface="Santander Text" panose="020B0504020201020104" pitchFamily="34" charset="0"/>
              </a:rPr>
              <a:t>The BOX application is a Global solution for the management of Financial operations in the Back Office of the Treasury area for Corporate &amp; Investment  Banking. The BOX application provides a centralized solution for all the functions that are needed in the management of a Treasury Back Office:  Contracting, Confirmations, Settlements, Accounting, Collaterals, Reconciliations, Reports and Regulatory. </a:t>
            </a:r>
            <a:endParaRPr lang="es-ES" sz="1000">
              <a:solidFill>
                <a:prstClr val="black"/>
              </a:solidFill>
              <a:latin typeface="Santander Text" panose="020B0504020201020104" pitchFamily="34" charset="0"/>
            </a:endParaRPr>
          </a:p>
        </p:txBody>
      </p:sp>
      <p:sp>
        <p:nvSpPr>
          <p:cNvPr id="24" name="CuadroTexto 23">
            <a:extLst>
              <a:ext uri="{FF2B5EF4-FFF2-40B4-BE49-F238E27FC236}">
                <a16:creationId xmlns:a16="http://schemas.microsoft.com/office/drawing/2014/main" id="{4C786484-E6E0-6755-D146-3E89E90DD316}"/>
              </a:ext>
            </a:extLst>
          </p:cNvPr>
          <p:cNvSpPr txBox="1"/>
          <p:nvPr/>
        </p:nvSpPr>
        <p:spPr>
          <a:xfrm>
            <a:off x="2130732" y="4273447"/>
            <a:ext cx="3642648" cy="861774"/>
          </a:xfrm>
          <a:prstGeom prst="rect">
            <a:avLst/>
          </a:prstGeom>
          <a:noFill/>
        </p:spPr>
        <p:txBody>
          <a:bodyPr wrap="square">
            <a:spAutoFit/>
          </a:bodyPr>
          <a:lstStyle/>
          <a:p>
            <a:pPr marL="171450" indent="-171450" algn="just">
              <a:buClr>
                <a:srgbClr val="FF0000"/>
              </a:buClr>
              <a:buFont typeface="Wingdings" panose="05000000000000000000" pitchFamily="2" charset="2"/>
              <a:buChar char="§"/>
            </a:pPr>
            <a:r>
              <a:rPr lang="en-US" sz="1000">
                <a:solidFill>
                  <a:prstClr val="black"/>
                </a:solidFill>
                <a:latin typeface="Santander Text" panose="020B0504020201020104" pitchFamily="34" charset="0"/>
              </a:rPr>
              <a:t>Third-party tool , Integrated cross-asset over the counter (OTC) and exchange traded derivatives (ETD) clearing solution that includes trade connectivity, processing, collateral management and optimization, margin calculation and reconciliation. </a:t>
            </a:r>
            <a:endParaRPr lang="es-ES" sz="1000">
              <a:solidFill>
                <a:prstClr val="black"/>
              </a:solidFill>
              <a:latin typeface="Santander Text" panose="020B0504020201020104" pitchFamily="34" charset="0"/>
            </a:endParaRPr>
          </a:p>
        </p:txBody>
      </p:sp>
      <p:cxnSp>
        <p:nvCxnSpPr>
          <p:cNvPr id="27" name="Conector recto 9">
            <a:extLst>
              <a:ext uri="{FF2B5EF4-FFF2-40B4-BE49-F238E27FC236}">
                <a16:creationId xmlns:a16="http://schemas.microsoft.com/office/drawing/2014/main" id="{13590B1E-1A98-E7EB-230E-E8DD82E365CF}"/>
              </a:ext>
            </a:extLst>
          </p:cNvPr>
          <p:cNvCxnSpPr>
            <a:cxnSpLocks/>
          </p:cNvCxnSpPr>
          <p:nvPr/>
        </p:nvCxnSpPr>
        <p:spPr>
          <a:xfrm flipH="1">
            <a:off x="6187892" y="5374869"/>
            <a:ext cx="5053885" cy="0"/>
          </a:xfrm>
          <a:prstGeom prst="line">
            <a:avLst/>
          </a:prstGeom>
          <a:noFill/>
          <a:ln w="12700" cap="flat" cmpd="sng" algn="ctr">
            <a:solidFill>
              <a:schemeClr val="bg1">
                <a:lumMod val="85000"/>
              </a:schemeClr>
            </a:solidFill>
            <a:prstDash val="solid"/>
            <a:miter lim="800000"/>
          </a:ln>
          <a:effectLst/>
        </p:spPr>
      </p:cxnSp>
      <p:sp>
        <p:nvSpPr>
          <p:cNvPr id="52" name="CuadroTexto 31">
            <a:extLst>
              <a:ext uri="{FF2B5EF4-FFF2-40B4-BE49-F238E27FC236}">
                <a16:creationId xmlns:a16="http://schemas.microsoft.com/office/drawing/2014/main" id="{0176D2E1-2B04-A37C-699D-132AA858B182}"/>
              </a:ext>
            </a:extLst>
          </p:cNvPr>
          <p:cNvSpPr txBox="1"/>
          <p:nvPr/>
        </p:nvSpPr>
        <p:spPr>
          <a:xfrm>
            <a:off x="666518" y="2675682"/>
            <a:ext cx="4747312" cy="592470"/>
          </a:xfrm>
          <a:prstGeom prst="rect">
            <a:avLst/>
          </a:prstGeom>
          <a:noFill/>
        </p:spPr>
        <p:txBody>
          <a:bodyPr wrap="square" rtlCol="0">
            <a:spAutoFit/>
          </a:bodyPr>
          <a:lstStyle/>
          <a:p>
            <a:pPr marL="355600" marR="0" lvl="0" indent="-355600" algn="l" defTabSz="914400" rtl="0" eaLnBrk="1" fontAlgn="auto" latinLnBrk="0" hangingPunct="1">
              <a:lnSpc>
                <a:spcPct val="100000"/>
              </a:lnSpc>
              <a:spcBef>
                <a:spcPts val="0"/>
              </a:spcBef>
              <a:spcAft>
                <a:spcPts val="300"/>
              </a:spcAft>
              <a:buClrTx/>
              <a:buSzTx/>
              <a:buFontTx/>
              <a:buNone/>
              <a:tabLst/>
              <a:defRPr/>
            </a:pPr>
            <a:r>
              <a:rPr lang="en-AU" sz="1600" b="1" kern="0">
                <a:solidFill>
                  <a:srgbClr val="DEEDF1">
                    <a:lumMod val="25000"/>
                  </a:srgbClr>
                </a:solidFill>
                <a:latin typeface="Santander Text" panose="020B0504020201020104" pitchFamily="34" charset="0"/>
              </a:rPr>
              <a:t>2</a:t>
            </a:r>
            <a:r>
              <a:rPr kumimoji="0" lang="en-AU"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 – Back Office Business Execution </a:t>
            </a:r>
            <a:r>
              <a:rPr lang="en-GB" sz="1600" b="1">
                <a:solidFill>
                  <a:srgbClr val="DEEDF1">
                    <a:lumMod val="25000"/>
                  </a:srgbClr>
                </a:solidFill>
                <a:latin typeface="Santander Text" panose="020B0504020201020104" pitchFamily="34" charset="0"/>
              </a:rPr>
              <a:t>Services</a:t>
            </a:r>
            <a:endParaRPr kumimoji="0" lang="en-AU"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endParaRPr>
          </a:p>
          <a:p>
            <a:pPr>
              <a:spcAft>
                <a:spcPts val="300"/>
              </a:spcAft>
            </a:pPr>
            <a:r>
              <a:rPr lang="en-GB" sz="1400" i="1">
                <a:solidFill>
                  <a:srgbClr val="DEEDF1">
                    <a:lumMod val="25000"/>
                  </a:srgbClr>
                </a:solidFill>
                <a:latin typeface="Santander Text" panose="020B0504020201020104" pitchFamily="34" charset="0"/>
              </a:rPr>
              <a:t>	</a:t>
            </a:r>
            <a:endParaRPr lang="en-GB" sz="800" i="1">
              <a:solidFill>
                <a:srgbClr val="DEEDF1">
                  <a:lumMod val="25000"/>
                </a:srgbClr>
              </a:solidFill>
              <a:latin typeface="Santander Text" panose="020B0504020201020104" pitchFamily="34" charset="0"/>
            </a:endParaRPr>
          </a:p>
        </p:txBody>
      </p:sp>
      <p:cxnSp>
        <p:nvCxnSpPr>
          <p:cNvPr id="53" name="Conector recto 32">
            <a:extLst>
              <a:ext uri="{FF2B5EF4-FFF2-40B4-BE49-F238E27FC236}">
                <a16:creationId xmlns:a16="http://schemas.microsoft.com/office/drawing/2014/main" id="{DEDCD87D-9D2F-250C-26C8-65273F452359}"/>
              </a:ext>
            </a:extLst>
          </p:cNvPr>
          <p:cNvCxnSpPr>
            <a:cxnSpLocks/>
          </p:cNvCxnSpPr>
          <p:nvPr/>
        </p:nvCxnSpPr>
        <p:spPr>
          <a:xfrm flipH="1">
            <a:off x="734713" y="3016930"/>
            <a:ext cx="10735044" cy="0"/>
          </a:xfrm>
          <a:prstGeom prst="line">
            <a:avLst/>
          </a:prstGeom>
          <a:noFill/>
          <a:ln w="12700" cap="flat" cmpd="sng" algn="ctr">
            <a:solidFill>
              <a:srgbClr val="595959"/>
            </a:solidFill>
            <a:prstDash val="solid"/>
            <a:miter lim="800000"/>
          </a:ln>
          <a:effectLst/>
        </p:spPr>
      </p:cxnSp>
      <p:cxnSp>
        <p:nvCxnSpPr>
          <p:cNvPr id="34" name="Conector recto 9">
            <a:extLst>
              <a:ext uri="{FF2B5EF4-FFF2-40B4-BE49-F238E27FC236}">
                <a16:creationId xmlns:a16="http://schemas.microsoft.com/office/drawing/2014/main" id="{6A831A7B-D8CB-12C8-F215-FE3B2EB07995}"/>
              </a:ext>
            </a:extLst>
          </p:cNvPr>
          <p:cNvCxnSpPr>
            <a:cxnSpLocks/>
          </p:cNvCxnSpPr>
          <p:nvPr/>
        </p:nvCxnSpPr>
        <p:spPr>
          <a:xfrm flipH="1" flipV="1">
            <a:off x="765216" y="3187162"/>
            <a:ext cx="5008164" cy="1"/>
          </a:xfrm>
          <a:prstGeom prst="line">
            <a:avLst/>
          </a:prstGeom>
          <a:noFill/>
          <a:ln w="12700" cap="flat" cmpd="sng" algn="ctr">
            <a:solidFill>
              <a:schemeClr val="bg1">
                <a:lumMod val="85000"/>
              </a:schemeClr>
            </a:solidFill>
            <a:prstDash val="solid"/>
            <a:miter lim="800000"/>
          </a:ln>
          <a:effectLst/>
        </p:spPr>
      </p:cxnSp>
      <p:sp>
        <p:nvSpPr>
          <p:cNvPr id="35" name="Rectángulo 114">
            <a:extLst>
              <a:ext uri="{FF2B5EF4-FFF2-40B4-BE49-F238E27FC236}">
                <a16:creationId xmlns:a16="http://schemas.microsoft.com/office/drawing/2014/main" id="{6B952160-C235-442F-1A4B-91F5DA6B9C56}"/>
              </a:ext>
            </a:extLst>
          </p:cNvPr>
          <p:cNvSpPr/>
          <p:nvPr/>
        </p:nvSpPr>
        <p:spPr>
          <a:xfrm>
            <a:off x="746169" y="3304560"/>
            <a:ext cx="1341648" cy="601546"/>
          </a:xfrm>
          <a:prstGeom prst="rect">
            <a:avLst/>
          </a:prstGeom>
          <a:noFill/>
          <a:ln w="12700" cap="flat" cmpd="sng" algn="ctr">
            <a:solidFill>
              <a:schemeClr val="bg2">
                <a:lumMod val="50000"/>
              </a:schemeClr>
            </a:solidFill>
            <a:prstDash val="solid"/>
            <a:miter lim="800000"/>
          </a:ln>
          <a:effectLst/>
        </p:spPr>
        <p:txBody>
          <a:bodyPr lIns="72000" rIns="72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600"/>
              </a:spcAft>
            </a:pPr>
            <a:r>
              <a:rPr lang="en-GB" sz="1400" kern="0">
                <a:solidFill>
                  <a:srgbClr val="DEEDF1">
                    <a:lumMod val="25000"/>
                  </a:srgbClr>
                </a:solidFill>
                <a:latin typeface="Santander Text"/>
              </a:rPr>
              <a:t>Calypso STC</a:t>
            </a:r>
          </a:p>
        </p:txBody>
      </p:sp>
      <p:sp>
        <p:nvSpPr>
          <p:cNvPr id="39" name="CuadroTexto 38">
            <a:extLst>
              <a:ext uri="{FF2B5EF4-FFF2-40B4-BE49-F238E27FC236}">
                <a16:creationId xmlns:a16="http://schemas.microsoft.com/office/drawing/2014/main" id="{FF552624-214F-47F1-1829-48EBA6B6B038}"/>
              </a:ext>
            </a:extLst>
          </p:cNvPr>
          <p:cNvSpPr txBox="1"/>
          <p:nvPr/>
        </p:nvSpPr>
        <p:spPr>
          <a:xfrm>
            <a:off x="2175807" y="3305957"/>
            <a:ext cx="3607365" cy="553998"/>
          </a:xfrm>
          <a:prstGeom prst="rect">
            <a:avLst/>
          </a:prstGeom>
          <a:noFill/>
        </p:spPr>
        <p:txBody>
          <a:bodyPr wrap="square">
            <a:spAutoFit/>
          </a:bodyPr>
          <a:lstStyle/>
          <a:p>
            <a:pPr marL="171450" indent="-171450" algn="just">
              <a:buClr>
                <a:srgbClr val="FF0000"/>
              </a:buClr>
              <a:buFont typeface="Wingdings" panose="05000000000000000000" pitchFamily="2" charset="2"/>
              <a:buChar char="§"/>
            </a:pPr>
            <a:r>
              <a:rPr lang="en-US" sz="1000">
                <a:solidFill>
                  <a:prstClr val="black"/>
                </a:solidFill>
                <a:latin typeface="Santander Text" panose="020B0504020201020104" pitchFamily="34" charset="0"/>
              </a:rPr>
              <a:t>Third-party tool  to have a single cash and security inventory to optimally manage margin calls, allocate collateral, and trade securities finance transactions. </a:t>
            </a:r>
            <a:endParaRPr lang="es-ES" sz="1000">
              <a:solidFill>
                <a:prstClr val="black"/>
              </a:solidFill>
              <a:latin typeface="Santander Text" panose="020B0504020201020104" pitchFamily="34" charset="0"/>
            </a:endParaRPr>
          </a:p>
        </p:txBody>
      </p:sp>
      <p:sp>
        <p:nvSpPr>
          <p:cNvPr id="40" name="Rectángulo 39">
            <a:extLst>
              <a:ext uri="{FF2B5EF4-FFF2-40B4-BE49-F238E27FC236}">
                <a16:creationId xmlns:a16="http://schemas.microsoft.com/office/drawing/2014/main" id="{2D66A5CB-E90F-63C9-E4FC-4CE9CEBEDECF}"/>
              </a:ext>
            </a:extLst>
          </p:cNvPr>
          <p:cNvSpPr/>
          <p:nvPr/>
        </p:nvSpPr>
        <p:spPr>
          <a:xfrm>
            <a:off x="6187892" y="4589495"/>
            <a:ext cx="1322667"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algn="ctr"/>
            <a:r>
              <a:rPr lang="en-GB" sz="1200" kern="0">
                <a:solidFill>
                  <a:srgbClr val="DEEDF1">
                    <a:lumMod val="25000"/>
                  </a:srgbClr>
                </a:solidFill>
                <a:latin typeface="Santander Text" panose="020B0504020201020104" pitchFamily="34" charset="0"/>
              </a:rPr>
              <a:t>INTELLIMATCH</a:t>
            </a:r>
          </a:p>
        </p:txBody>
      </p:sp>
      <p:sp>
        <p:nvSpPr>
          <p:cNvPr id="41" name="CuadroTexto 40">
            <a:extLst>
              <a:ext uri="{FF2B5EF4-FFF2-40B4-BE49-F238E27FC236}">
                <a16:creationId xmlns:a16="http://schemas.microsoft.com/office/drawing/2014/main" id="{CC16AB15-1DFF-4767-9CC1-C19C771EF51F}"/>
              </a:ext>
            </a:extLst>
          </p:cNvPr>
          <p:cNvSpPr txBox="1"/>
          <p:nvPr/>
        </p:nvSpPr>
        <p:spPr>
          <a:xfrm>
            <a:off x="7623375" y="4513095"/>
            <a:ext cx="3630260" cy="861774"/>
          </a:xfrm>
          <a:prstGeom prst="rect">
            <a:avLst/>
          </a:prstGeom>
          <a:noFill/>
        </p:spPr>
        <p:txBody>
          <a:bodyPr wrap="square">
            <a:spAutoFit/>
          </a:bodyPr>
          <a:lstStyle/>
          <a:p>
            <a:pPr marL="180000" indent="-180000" algn="just">
              <a:buClr>
                <a:srgbClr val="FF0000"/>
              </a:buClr>
              <a:buFont typeface="Wingdings" panose="05000000000000000000" pitchFamily="2" charset="2"/>
              <a:buChar char="§"/>
              <a:defRPr/>
            </a:pPr>
            <a:r>
              <a:rPr lang="en-US" sz="1000">
                <a:solidFill>
                  <a:prstClr val="black"/>
                </a:solidFill>
                <a:latin typeface="Santander Text" panose="020B0504020201020104" pitchFamily="34" charset="0"/>
              </a:rPr>
              <a:t>External platform FIS' </a:t>
            </a:r>
            <a:r>
              <a:rPr lang="en-US" sz="1000" err="1">
                <a:solidFill>
                  <a:prstClr val="black"/>
                </a:solidFill>
                <a:latin typeface="Santander Text" panose="020B0504020201020104" pitchFamily="34" charset="0"/>
              </a:rPr>
              <a:t>IntelliMatch</a:t>
            </a:r>
            <a:r>
              <a:rPr lang="en-US" sz="1000">
                <a:solidFill>
                  <a:prstClr val="black"/>
                </a:solidFill>
                <a:latin typeface="Santander Text" panose="020B0504020201020104" pitchFamily="34" charset="0"/>
              </a:rPr>
              <a:t> Operational Control solution suite helps financial institutions deploy enterprise matching and reconciliation solutions to achieve operational maturity. </a:t>
            </a:r>
            <a:endParaRPr lang="es-ES" sz="1000">
              <a:solidFill>
                <a:prstClr val="black"/>
              </a:solidFill>
              <a:latin typeface="Santander Text" panose="020B0504020201020104" pitchFamily="34" charset="0"/>
            </a:endParaRPr>
          </a:p>
          <a:p>
            <a:pPr marL="180000" marR="0" lvl="0" indent="-180000" algn="just"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endParaRPr lang="en-US" sz="1000">
              <a:solidFill>
                <a:prstClr val="black"/>
              </a:solidFill>
              <a:latin typeface="Santander Text" panose="020B0504020201020104" pitchFamily="34" charset="0"/>
            </a:endParaRPr>
          </a:p>
        </p:txBody>
      </p:sp>
      <p:cxnSp>
        <p:nvCxnSpPr>
          <p:cNvPr id="44" name="Conector recto 9">
            <a:extLst>
              <a:ext uri="{FF2B5EF4-FFF2-40B4-BE49-F238E27FC236}">
                <a16:creationId xmlns:a16="http://schemas.microsoft.com/office/drawing/2014/main" id="{40DCAB5D-1491-AE58-7DE4-ED719ACDEE80}"/>
              </a:ext>
            </a:extLst>
          </p:cNvPr>
          <p:cNvCxnSpPr>
            <a:cxnSpLocks/>
          </p:cNvCxnSpPr>
          <p:nvPr/>
        </p:nvCxnSpPr>
        <p:spPr>
          <a:xfrm flipH="1">
            <a:off x="596865" y="10488312"/>
            <a:ext cx="5053885" cy="0"/>
          </a:xfrm>
          <a:prstGeom prst="line">
            <a:avLst/>
          </a:prstGeom>
          <a:noFill/>
          <a:ln w="12700" cap="flat" cmpd="sng" algn="ctr">
            <a:solidFill>
              <a:schemeClr val="bg1">
                <a:lumMod val="85000"/>
              </a:schemeClr>
            </a:solidFill>
            <a:prstDash val="solid"/>
            <a:miter lim="800000"/>
          </a:ln>
          <a:effectLst/>
        </p:spPr>
      </p:cxnSp>
      <p:cxnSp>
        <p:nvCxnSpPr>
          <p:cNvPr id="11" name="Conector recto 9">
            <a:extLst>
              <a:ext uri="{FF2B5EF4-FFF2-40B4-BE49-F238E27FC236}">
                <a16:creationId xmlns:a16="http://schemas.microsoft.com/office/drawing/2014/main" id="{19C1BB11-D1BA-A7F9-E878-A21198210F70}"/>
              </a:ext>
            </a:extLst>
          </p:cNvPr>
          <p:cNvCxnSpPr>
            <a:cxnSpLocks/>
          </p:cNvCxnSpPr>
          <p:nvPr/>
        </p:nvCxnSpPr>
        <p:spPr>
          <a:xfrm flipH="1">
            <a:off x="6149447" y="4293362"/>
            <a:ext cx="4995928" cy="0"/>
          </a:xfrm>
          <a:prstGeom prst="line">
            <a:avLst/>
          </a:prstGeom>
          <a:noFill/>
          <a:ln w="12700" cap="flat" cmpd="sng" algn="ctr">
            <a:solidFill>
              <a:schemeClr val="bg1">
                <a:lumMod val="85000"/>
              </a:schemeClr>
            </a:solidFill>
            <a:prstDash val="solid"/>
            <a:miter lim="800000"/>
          </a:ln>
          <a:effectLst/>
        </p:spPr>
      </p:cxnSp>
      <p:sp>
        <p:nvSpPr>
          <p:cNvPr id="28" name="Rectángulo 27">
            <a:extLst>
              <a:ext uri="{FF2B5EF4-FFF2-40B4-BE49-F238E27FC236}">
                <a16:creationId xmlns:a16="http://schemas.microsoft.com/office/drawing/2014/main" id="{CEF32FE9-AB11-6B5A-A271-F1E6F9A2B33B}"/>
              </a:ext>
            </a:extLst>
          </p:cNvPr>
          <p:cNvSpPr/>
          <p:nvPr/>
        </p:nvSpPr>
        <p:spPr>
          <a:xfrm>
            <a:off x="6187892" y="5493946"/>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AU" sz="1400" kern="0">
                <a:solidFill>
                  <a:srgbClr val="DEEDF1">
                    <a:lumMod val="25000"/>
                  </a:srgbClr>
                </a:solidFill>
                <a:latin typeface="Santander Text"/>
              </a:rPr>
              <a:t>XTP</a:t>
            </a:r>
            <a:endParaRPr kumimoji="0" lang="en-AU" sz="1400" b="0" i="0" u="none" strike="noStrike" kern="0" cap="none" spc="0" normalizeH="0" baseline="0" noProof="0">
              <a:ln>
                <a:noFill/>
              </a:ln>
              <a:solidFill>
                <a:srgbClr val="DEEDF1">
                  <a:lumMod val="25000"/>
                </a:srgbClr>
              </a:solidFill>
              <a:effectLst/>
              <a:uLnTx/>
              <a:uFillTx/>
              <a:latin typeface="Santander Text"/>
              <a:ea typeface="+mn-ea"/>
              <a:cs typeface="+mn-cs"/>
            </a:endParaRPr>
          </a:p>
        </p:txBody>
      </p:sp>
      <p:sp>
        <p:nvSpPr>
          <p:cNvPr id="30" name="CuadroTexto 29">
            <a:extLst>
              <a:ext uri="{FF2B5EF4-FFF2-40B4-BE49-F238E27FC236}">
                <a16:creationId xmlns:a16="http://schemas.microsoft.com/office/drawing/2014/main" id="{40466AD4-ECAC-A855-5481-495138E4B5E4}"/>
              </a:ext>
            </a:extLst>
          </p:cNvPr>
          <p:cNvSpPr txBox="1"/>
          <p:nvPr/>
        </p:nvSpPr>
        <p:spPr>
          <a:xfrm>
            <a:off x="7689011" y="5488539"/>
            <a:ext cx="3518970" cy="707886"/>
          </a:xfrm>
          <a:prstGeom prst="rect">
            <a:avLst/>
          </a:prstGeom>
          <a:noFill/>
        </p:spPr>
        <p:txBody>
          <a:bodyPr wrap="square">
            <a:spAutoFit/>
          </a:bodyPr>
          <a:lstStyle/>
          <a:p>
            <a:pPr marL="171450" indent="-171450" algn="just">
              <a:buClr>
                <a:srgbClr val="FF0000"/>
              </a:buClr>
              <a:buFont typeface="Wingdings" panose="05000000000000000000" pitchFamily="2" charset="2"/>
              <a:buChar char="§"/>
            </a:pPr>
            <a:r>
              <a:rPr lang="en-US" sz="1000">
                <a:solidFill>
                  <a:prstClr val="black"/>
                </a:solidFill>
                <a:latin typeface="Santander Text" panose="020B0504020201020104" pitchFamily="34" charset="0"/>
              </a:rPr>
              <a:t>Third-party tool  to manage listed derivatives settlement system. It is responsible for everything from capturing transactions to calculating P&amp;L, guarantees, balances, commissions, etc. </a:t>
            </a:r>
            <a:endParaRPr lang="es-ES" sz="1000">
              <a:solidFill>
                <a:prstClr val="black"/>
              </a:solidFill>
              <a:latin typeface="Santander Text" panose="020B0504020201020104" pitchFamily="34" charset="0"/>
            </a:endParaRPr>
          </a:p>
        </p:txBody>
      </p:sp>
      <p:cxnSp>
        <p:nvCxnSpPr>
          <p:cNvPr id="3" name="Conector recto 9">
            <a:extLst>
              <a:ext uri="{FF2B5EF4-FFF2-40B4-BE49-F238E27FC236}">
                <a16:creationId xmlns:a16="http://schemas.microsoft.com/office/drawing/2014/main" id="{A2AD36BE-728A-2DD2-E3A7-05585063C9B1}"/>
              </a:ext>
            </a:extLst>
          </p:cNvPr>
          <p:cNvCxnSpPr>
            <a:cxnSpLocks/>
          </p:cNvCxnSpPr>
          <p:nvPr/>
        </p:nvCxnSpPr>
        <p:spPr>
          <a:xfrm flipH="1">
            <a:off x="646696" y="4141771"/>
            <a:ext cx="4995928" cy="0"/>
          </a:xfrm>
          <a:prstGeom prst="line">
            <a:avLst/>
          </a:prstGeom>
          <a:noFill/>
          <a:ln w="12700" cap="flat" cmpd="sng" algn="ctr">
            <a:solidFill>
              <a:schemeClr val="bg1">
                <a:lumMod val="85000"/>
              </a:schemeClr>
            </a:solidFill>
            <a:prstDash val="solid"/>
            <a:miter lim="800000"/>
          </a:ln>
          <a:effectLst/>
        </p:spPr>
      </p:cxnSp>
      <p:cxnSp>
        <p:nvCxnSpPr>
          <p:cNvPr id="4" name="Conector recto 9">
            <a:extLst>
              <a:ext uri="{FF2B5EF4-FFF2-40B4-BE49-F238E27FC236}">
                <a16:creationId xmlns:a16="http://schemas.microsoft.com/office/drawing/2014/main" id="{7E2FB230-53F8-DFEC-FF33-84DCC8006E38}"/>
              </a:ext>
            </a:extLst>
          </p:cNvPr>
          <p:cNvCxnSpPr>
            <a:cxnSpLocks/>
          </p:cNvCxnSpPr>
          <p:nvPr/>
        </p:nvCxnSpPr>
        <p:spPr>
          <a:xfrm flipH="1">
            <a:off x="6212053" y="6196425"/>
            <a:ext cx="4995928" cy="0"/>
          </a:xfrm>
          <a:prstGeom prst="line">
            <a:avLst/>
          </a:prstGeom>
          <a:noFill/>
          <a:ln w="12700" cap="flat" cmpd="sng" algn="ctr">
            <a:solidFill>
              <a:schemeClr val="bg1">
                <a:lumMod val="85000"/>
              </a:schemeClr>
            </a:solidFill>
            <a:prstDash val="solid"/>
            <a:miter lim="800000"/>
          </a:ln>
          <a:effectLst/>
        </p:spPr>
      </p:cxnSp>
    </p:spTree>
    <p:extLst>
      <p:ext uri="{BB962C8B-B14F-4D97-AF65-F5344CB8AC3E}">
        <p14:creationId xmlns:p14="http://schemas.microsoft.com/office/powerpoint/2010/main" val="18155655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D156C-584C-100E-61A3-0DBC9CC341BF}"/>
            </a:ext>
          </a:extLst>
        </p:cNvPr>
        <p:cNvGrpSpPr/>
        <p:nvPr/>
      </p:nvGrpSpPr>
      <p:grpSpPr>
        <a:xfrm>
          <a:off x="0" y="0"/>
          <a:ext cx="0" cy="0"/>
          <a:chOff x="0" y="0"/>
          <a:chExt cx="0" cy="0"/>
        </a:xfrm>
      </p:grpSpPr>
      <p:sp>
        <p:nvSpPr>
          <p:cNvPr id="17" name="Text Placeholder 2">
            <a:extLst>
              <a:ext uri="{FF2B5EF4-FFF2-40B4-BE49-F238E27FC236}">
                <a16:creationId xmlns:a16="http://schemas.microsoft.com/office/drawing/2014/main" id="{6F77CB7A-1A16-C7B8-9BA8-343F18C8C20B}"/>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cxnSp>
        <p:nvCxnSpPr>
          <p:cNvPr id="47" name="Conector recto 46">
            <a:extLst>
              <a:ext uri="{FF2B5EF4-FFF2-40B4-BE49-F238E27FC236}">
                <a16:creationId xmlns:a16="http://schemas.microsoft.com/office/drawing/2014/main" id="{7BC533D2-AB6D-DE47-A909-3EBEF9BD3E06}"/>
              </a:ext>
            </a:extLst>
          </p:cNvPr>
          <p:cNvCxnSpPr>
            <a:cxnSpLocks/>
          </p:cNvCxnSpPr>
          <p:nvPr/>
        </p:nvCxnSpPr>
        <p:spPr>
          <a:xfrm flipH="1" flipV="1">
            <a:off x="630394" y="6974157"/>
            <a:ext cx="5112000" cy="0"/>
          </a:xfrm>
          <a:prstGeom prst="line">
            <a:avLst/>
          </a:prstGeom>
          <a:noFill/>
          <a:ln w="12700" cap="flat" cmpd="sng" algn="ctr">
            <a:solidFill>
              <a:schemeClr val="bg1">
                <a:lumMod val="85000"/>
              </a:schemeClr>
            </a:solidFill>
            <a:prstDash val="solid"/>
            <a:miter lim="800000"/>
          </a:ln>
          <a:effectLst/>
        </p:spPr>
      </p:cxnSp>
      <p:sp>
        <p:nvSpPr>
          <p:cNvPr id="8" name="Título 1">
            <a:extLst>
              <a:ext uri="{FF2B5EF4-FFF2-40B4-BE49-F238E27FC236}">
                <a16:creationId xmlns:a16="http://schemas.microsoft.com/office/drawing/2014/main" id="{9013490E-2E16-4705-3B9E-5E56413B3BF1}"/>
              </a:ext>
            </a:extLst>
          </p:cNvPr>
          <p:cNvSpPr txBox="1">
            <a:spLocks/>
          </p:cNvSpPr>
          <p:nvPr/>
        </p:nvSpPr>
        <p:spPr>
          <a:xfrm>
            <a:off x="711024" y="623339"/>
            <a:ext cx="10758733" cy="836992"/>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lang="en-US" sz="2800" b="1" kern="1200" dirty="0">
                <a:solidFill>
                  <a:schemeClr val="accent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s-ES" sz="2800" b="1" i="0" u="none" strike="noStrike" kern="1200" cap="none" spc="0" normalizeH="0" baseline="0" noProof="0">
                <a:ln>
                  <a:noFill/>
                </a:ln>
                <a:solidFill>
                  <a:srgbClr val="EC0000"/>
                </a:solidFill>
                <a:effectLst/>
                <a:uLnTx/>
                <a:uFillTx/>
                <a:latin typeface="Santander Headline"/>
                <a:ea typeface="+mj-ea"/>
                <a:cs typeface="+mj-cs"/>
              </a:rPr>
              <a:t>SCIB. </a:t>
            </a:r>
            <a:r>
              <a:rPr lang="es-ES" err="1">
                <a:solidFill>
                  <a:srgbClr val="BFBFBF"/>
                </a:solidFill>
                <a:latin typeface="Santander Headline"/>
              </a:rPr>
              <a:t>Supply</a:t>
            </a:r>
            <a:r>
              <a:rPr lang="es-ES">
                <a:solidFill>
                  <a:srgbClr val="BFBFBF"/>
                </a:solidFill>
                <a:latin typeface="Santander Headline"/>
              </a:rPr>
              <a:t> </a:t>
            </a:r>
            <a:r>
              <a:rPr lang="es-ES" err="1">
                <a:solidFill>
                  <a:srgbClr val="BFBFBF"/>
                </a:solidFill>
                <a:latin typeface="Santander Headline"/>
              </a:rPr>
              <a:t>Chain</a:t>
            </a:r>
            <a:r>
              <a:rPr lang="es-ES">
                <a:solidFill>
                  <a:srgbClr val="BFBFBF"/>
                </a:solidFill>
                <a:latin typeface="Santander Headline"/>
              </a:rPr>
              <a:t> </a:t>
            </a:r>
            <a:r>
              <a:rPr lang="es-ES" err="1">
                <a:solidFill>
                  <a:srgbClr val="BFBFBF"/>
                </a:solidFill>
                <a:latin typeface="Santander Headline"/>
              </a:rPr>
              <a:t>Finance</a:t>
            </a:r>
            <a:endParaRPr kumimoji="0" lang="en-AU" sz="2800" b="1" i="0" u="none" strike="noStrike" kern="1200" cap="none" spc="0" normalizeH="0" baseline="0" noProof="0">
              <a:ln>
                <a:noFill/>
              </a:ln>
              <a:solidFill>
                <a:srgbClr val="BFBFBF"/>
              </a:solidFill>
              <a:effectLst/>
              <a:uLnTx/>
              <a:uFillTx/>
              <a:latin typeface="Santander Headline"/>
              <a:ea typeface="+mj-ea"/>
              <a:cs typeface="+mj-cs"/>
            </a:endParaRPr>
          </a:p>
        </p:txBody>
      </p:sp>
      <p:cxnSp>
        <p:nvCxnSpPr>
          <p:cNvPr id="14" name="Conector recto 32">
            <a:extLst>
              <a:ext uri="{FF2B5EF4-FFF2-40B4-BE49-F238E27FC236}">
                <a16:creationId xmlns:a16="http://schemas.microsoft.com/office/drawing/2014/main" id="{B86AEB99-F9AC-2CDE-2AE5-AB9EC7234C91}"/>
              </a:ext>
            </a:extLst>
          </p:cNvPr>
          <p:cNvCxnSpPr>
            <a:cxnSpLocks/>
          </p:cNvCxnSpPr>
          <p:nvPr/>
        </p:nvCxnSpPr>
        <p:spPr>
          <a:xfrm flipH="1">
            <a:off x="711024" y="1603424"/>
            <a:ext cx="10954217" cy="0"/>
          </a:xfrm>
          <a:prstGeom prst="line">
            <a:avLst/>
          </a:prstGeom>
          <a:noFill/>
          <a:ln w="12700" cap="flat" cmpd="sng" algn="ctr">
            <a:solidFill>
              <a:srgbClr val="595959"/>
            </a:solidFill>
            <a:prstDash val="solid"/>
            <a:miter lim="800000"/>
          </a:ln>
          <a:effectLst/>
        </p:spPr>
      </p:cxnSp>
      <p:sp>
        <p:nvSpPr>
          <p:cNvPr id="15" name="Rectángulo 114">
            <a:extLst>
              <a:ext uri="{FF2B5EF4-FFF2-40B4-BE49-F238E27FC236}">
                <a16:creationId xmlns:a16="http://schemas.microsoft.com/office/drawing/2014/main" id="{9D37BAA4-418E-83CC-FB33-55165507B7F4}"/>
              </a:ext>
            </a:extLst>
          </p:cNvPr>
          <p:cNvSpPr/>
          <p:nvPr/>
        </p:nvSpPr>
        <p:spPr>
          <a:xfrm>
            <a:off x="767946" y="1889663"/>
            <a:ext cx="1439724" cy="601546"/>
          </a:xfrm>
          <a:prstGeom prst="rect">
            <a:avLst/>
          </a:prstGeom>
          <a:noFill/>
          <a:ln w="12700" cap="flat" cmpd="sng" algn="ctr">
            <a:solidFill>
              <a:schemeClr val="bg2">
                <a:lumMod val="50000"/>
              </a:schemeClr>
            </a:solidFill>
            <a:prstDash val="solid"/>
            <a:miter lim="800000"/>
          </a:ln>
          <a:effectLst/>
        </p:spPr>
        <p:txBody>
          <a:bodyPr lIns="72000" rIns="72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kern="0">
                <a:solidFill>
                  <a:srgbClr val="DEEDF1">
                    <a:lumMod val="25000"/>
                  </a:srgbClr>
                </a:solidFill>
                <a:latin typeface="Santander Text" panose="020B0504020201020104" pitchFamily="34" charset="0"/>
              </a:rPr>
              <a:t>Confirming International</a:t>
            </a:r>
          </a:p>
        </p:txBody>
      </p:sp>
      <p:sp>
        <p:nvSpPr>
          <p:cNvPr id="16" name="Rectángulo 114">
            <a:extLst>
              <a:ext uri="{FF2B5EF4-FFF2-40B4-BE49-F238E27FC236}">
                <a16:creationId xmlns:a16="http://schemas.microsoft.com/office/drawing/2014/main" id="{3BA1A2E1-22A9-131E-DA06-84EEABA6DC73}"/>
              </a:ext>
            </a:extLst>
          </p:cNvPr>
          <p:cNvSpPr/>
          <p:nvPr/>
        </p:nvSpPr>
        <p:spPr>
          <a:xfrm>
            <a:off x="767946" y="3030896"/>
            <a:ext cx="1439724" cy="601546"/>
          </a:xfrm>
          <a:prstGeom prst="rect">
            <a:avLst/>
          </a:prstGeom>
          <a:noFill/>
          <a:ln w="12700" cap="flat" cmpd="sng" algn="ctr">
            <a:solidFill>
              <a:schemeClr val="bg2">
                <a:lumMod val="50000"/>
              </a:schemeClr>
            </a:solidFill>
            <a:prstDash val="solid"/>
            <a:miter lim="800000"/>
          </a:ln>
          <a:effectLst/>
        </p:spPr>
        <p:txBody>
          <a:bodyPr lIns="72000" rIns="72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kern="0">
                <a:solidFill>
                  <a:srgbClr val="DEEDF1">
                    <a:lumMod val="25000"/>
                  </a:srgbClr>
                </a:solidFill>
                <a:latin typeface="Santander Text" panose="020B0504020201020104" pitchFamily="34" charset="0"/>
              </a:rPr>
              <a:t>SAP Ready BTP</a:t>
            </a:r>
          </a:p>
        </p:txBody>
      </p:sp>
      <p:sp>
        <p:nvSpPr>
          <p:cNvPr id="18" name="CuadroTexto 17">
            <a:extLst>
              <a:ext uri="{FF2B5EF4-FFF2-40B4-BE49-F238E27FC236}">
                <a16:creationId xmlns:a16="http://schemas.microsoft.com/office/drawing/2014/main" id="{DFD50420-2113-A554-8E1D-98D8AA7FBFEF}"/>
              </a:ext>
            </a:extLst>
          </p:cNvPr>
          <p:cNvSpPr txBox="1"/>
          <p:nvPr/>
        </p:nvSpPr>
        <p:spPr>
          <a:xfrm>
            <a:off x="711023" y="1219846"/>
            <a:ext cx="5138225" cy="338554"/>
          </a:xfrm>
          <a:prstGeom prst="rect">
            <a:avLst/>
          </a:prstGeom>
          <a:noFill/>
        </p:spPr>
        <p:txBody>
          <a:bodyPr wrap="square" rtlCol="0">
            <a:spAutoFit/>
          </a:bodyPr>
          <a:lstStyle/>
          <a:p>
            <a:pPr marL="355600" marR="0" lvl="0" indent="-355600" algn="l" defTabSz="914400" rtl="0" eaLnBrk="1" fontAlgn="auto" latinLnBrk="0" hangingPunct="1">
              <a:lnSpc>
                <a:spcPct val="100000"/>
              </a:lnSpc>
              <a:spcBef>
                <a:spcPts val="0"/>
              </a:spcBef>
              <a:spcAft>
                <a:spcPts val="300"/>
              </a:spcAft>
              <a:buClrTx/>
              <a:buSzTx/>
              <a:buFontTx/>
              <a:buNone/>
              <a:tabLst/>
              <a:defRPr/>
            </a:pPr>
            <a:r>
              <a:rPr kumimoji="0" lang="en-AU"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1 – Business </a:t>
            </a:r>
            <a:r>
              <a:rPr lang="en-GB" sz="1600" b="1">
                <a:solidFill>
                  <a:srgbClr val="DEEDF1">
                    <a:lumMod val="25000"/>
                  </a:srgbClr>
                </a:solidFill>
                <a:latin typeface="Santander Text" panose="020B0504020201020104" pitchFamily="34" charset="0"/>
              </a:rPr>
              <a:t>Execution Services</a:t>
            </a:r>
            <a:endParaRPr kumimoji="0" lang="en-AU"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endParaRPr>
          </a:p>
        </p:txBody>
      </p:sp>
      <p:cxnSp>
        <p:nvCxnSpPr>
          <p:cNvPr id="2" name="Conector recto 9">
            <a:extLst>
              <a:ext uri="{FF2B5EF4-FFF2-40B4-BE49-F238E27FC236}">
                <a16:creationId xmlns:a16="http://schemas.microsoft.com/office/drawing/2014/main" id="{08C1A186-F971-4216-3DA8-059596F5D74B}"/>
              </a:ext>
            </a:extLst>
          </p:cNvPr>
          <p:cNvCxnSpPr>
            <a:cxnSpLocks/>
          </p:cNvCxnSpPr>
          <p:nvPr/>
        </p:nvCxnSpPr>
        <p:spPr>
          <a:xfrm flipH="1">
            <a:off x="767946" y="2826071"/>
            <a:ext cx="10897295" cy="0"/>
          </a:xfrm>
          <a:prstGeom prst="line">
            <a:avLst/>
          </a:prstGeom>
          <a:noFill/>
          <a:ln w="12700" cap="flat" cmpd="sng" algn="ctr">
            <a:solidFill>
              <a:schemeClr val="bg1">
                <a:lumMod val="85000"/>
              </a:schemeClr>
            </a:solidFill>
            <a:prstDash val="solid"/>
            <a:miter lim="800000"/>
          </a:ln>
          <a:effectLst/>
        </p:spPr>
      </p:cxnSp>
      <p:sp>
        <p:nvSpPr>
          <p:cNvPr id="6" name="CuadroTexto 5">
            <a:extLst>
              <a:ext uri="{FF2B5EF4-FFF2-40B4-BE49-F238E27FC236}">
                <a16:creationId xmlns:a16="http://schemas.microsoft.com/office/drawing/2014/main" id="{CAD61F1A-EAE3-323B-5C52-AE9479F705C9}"/>
              </a:ext>
            </a:extLst>
          </p:cNvPr>
          <p:cNvSpPr txBox="1"/>
          <p:nvPr/>
        </p:nvSpPr>
        <p:spPr>
          <a:xfrm>
            <a:off x="2359927" y="1845416"/>
            <a:ext cx="9305313" cy="861774"/>
          </a:xfrm>
          <a:prstGeom prst="rect">
            <a:avLst/>
          </a:prstGeom>
          <a:noFill/>
        </p:spPr>
        <p:txBody>
          <a:bodyPr wrap="square">
            <a:spAutoFit/>
          </a:bodyPr>
          <a:lstStyle/>
          <a:p>
            <a:pPr marL="171450" indent="-171450" algn="just">
              <a:buClr>
                <a:srgbClr val="FF0000"/>
              </a:buClr>
              <a:buFont typeface="Wingdings" panose="05000000000000000000" pitchFamily="2" charset="2"/>
              <a:buChar char="§"/>
            </a:pPr>
            <a:r>
              <a:rPr lang="en-US" sz="1000">
                <a:solidFill>
                  <a:prstClr val="black"/>
                </a:solidFill>
                <a:latin typeface="Santander Text" panose="020B0504020201020104" pitchFamily="34" charset="0"/>
              </a:rPr>
              <a:t>As primary application for Supply Chain Finance, it allows clients to manage their invoicing and discounting needs with suppliers or third parties.  There are multiple parts to the platform: </a:t>
            </a:r>
          </a:p>
          <a:p>
            <a:pPr lvl="1" algn="just">
              <a:buClr>
                <a:srgbClr val="FF0000"/>
              </a:buClr>
            </a:pPr>
            <a:r>
              <a:rPr lang="en-US" sz="1000">
                <a:solidFill>
                  <a:prstClr val="black"/>
                </a:solidFill>
                <a:latin typeface="Santander Text" panose="020B0504020201020104" pitchFamily="34" charset="0"/>
              </a:rPr>
              <a:t>- A Back Office module that allows bank users to manage the activities of the product features</a:t>
            </a:r>
          </a:p>
          <a:p>
            <a:pPr lvl="1" algn="just">
              <a:buClr>
                <a:srgbClr val="FF0000"/>
              </a:buClr>
            </a:pPr>
            <a:r>
              <a:rPr lang="en-US" sz="1000">
                <a:solidFill>
                  <a:prstClr val="black"/>
                </a:solidFill>
                <a:latin typeface="Santander Text" panose="020B0504020201020104" pitchFamily="34" charset="0"/>
              </a:rPr>
              <a:t>- A Client facing front end that allows clients (Buyers) to interact with the bank </a:t>
            </a:r>
          </a:p>
          <a:p>
            <a:pPr lvl="1" algn="just">
              <a:buClr>
                <a:srgbClr val="FF0000"/>
              </a:buClr>
            </a:pPr>
            <a:r>
              <a:rPr lang="en-US" sz="1000">
                <a:solidFill>
                  <a:prstClr val="black"/>
                </a:solidFill>
                <a:latin typeface="Santander Text" panose="020B0504020201020104" pitchFamily="34" charset="0"/>
              </a:rPr>
              <a:t>- A Suppliers facing front end where </a:t>
            </a:r>
            <a:r>
              <a:rPr lang="en-US" sz="1000" err="1">
                <a:solidFill>
                  <a:prstClr val="black"/>
                </a:solidFill>
                <a:latin typeface="Santander Text" panose="020B0504020201020104" pitchFamily="34" charset="0"/>
              </a:rPr>
              <a:t>disccounts</a:t>
            </a:r>
            <a:r>
              <a:rPr lang="en-US" sz="1000">
                <a:solidFill>
                  <a:prstClr val="black"/>
                </a:solidFill>
                <a:latin typeface="Santander Text" panose="020B0504020201020104" pitchFamily="34" charset="0"/>
              </a:rPr>
              <a:t> are offer to the suppliers.</a:t>
            </a:r>
          </a:p>
        </p:txBody>
      </p:sp>
      <p:sp>
        <p:nvSpPr>
          <p:cNvPr id="7" name="CuadroTexto 6">
            <a:extLst>
              <a:ext uri="{FF2B5EF4-FFF2-40B4-BE49-F238E27FC236}">
                <a16:creationId xmlns:a16="http://schemas.microsoft.com/office/drawing/2014/main" id="{784D0D3F-FAD7-1932-5DB1-D82D94A6567A}"/>
              </a:ext>
            </a:extLst>
          </p:cNvPr>
          <p:cNvSpPr txBox="1"/>
          <p:nvPr/>
        </p:nvSpPr>
        <p:spPr>
          <a:xfrm>
            <a:off x="2359928" y="3081250"/>
            <a:ext cx="9305312" cy="400110"/>
          </a:xfrm>
          <a:prstGeom prst="rect">
            <a:avLst/>
          </a:prstGeom>
          <a:noFill/>
        </p:spPr>
        <p:txBody>
          <a:bodyPr wrap="square">
            <a:spAutoFit/>
          </a:bodyPr>
          <a:lstStyle/>
          <a:p>
            <a:pPr marL="171450" indent="-171450" algn="just">
              <a:buClr>
                <a:srgbClr val="FF0000"/>
              </a:buClr>
              <a:buFont typeface="Wingdings" panose="05000000000000000000" pitchFamily="2" charset="2"/>
              <a:buChar char="§"/>
            </a:pPr>
            <a:r>
              <a:rPr lang="en-US" sz="1000">
                <a:solidFill>
                  <a:prstClr val="black"/>
                </a:solidFill>
                <a:latin typeface="Santander Text" panose="020B0504020201020104" pitchFamily="34" charset="0"/>
              </a:rPr>
              <a:t>This is a technical cloud platform in which SCIB </a:t>
            </a:r>
            <a:r>
              <a:rPr lang="en-US" sz="1000" err="1">
                <a:solidFill>
                  <a:prstClr val="black"/>
                </a:solidFill>
                <a:latin typeface="Santander Text" panose="020B0504020201020104" pitchFamily="34" charset="0"/>
              </a:rPr>
              <a:t>developes</a:t>
            </a:r>
            <a:r>
              <a:rPr lang="en-US" sz="1000">
                <a:solidFill>
                  <a:prstClr val="black"/>
                </a:solidFill>
                <a:latin typeface="Santander Text" panose="020B0504020201020104" pitchFamily="34" charset="0"/>
              </a:rPr>
              <a:t> client applications. These application are directly integrated with the Client's ERP and helps them consume Santander services. From the client's perspective this makes it feel as if our services where embedded </a:t>
            </a:r>
            <a:r>
              <a:rPr lang="en-US" sz="1000" err="1">
                <a:solidFill>
                  <a:prstClr val="black"/>
                </a:solidFill>
                <a:latin typeface="Santander Text" panose="020B0504020201020104" pitchFamily="34" charset="0"/>
              </a:rPr>
              <a:t>whitin</a:t>
            </a:r>
            <a:r>
              <a:rPr lang="en-US" sz="1000">
                <a:solidFill>
                  <a:prstClr val="black"/>
                </a:solidFill>
                <a:latin typeface="Santander Text" panose="020B0504020201020104" pitchFamily="34" charset="0"/>
              </a:rPr>
              <a:t> their ERP</a:t>
            </a:r>
            <a:endParaRPr lang="es-ES" sz="1000">
              <a:solidFill>
                <a:prstClr val="black"/>
              </a:solidFill>
              <a:latin typeface="Santander Text" panose="020B0504020201020104" pitchFamily="34" charset="0"/>
            </a:endParaRPr>
          </a:p>
        </p:txBody>
      </p:sp>
    </p:spTree>
    <p:extLst>
      <p:ext uri="{BB962C8B-B14F-4D97-AF65-F5344CB8AC3E}">
        <p14:creationId xmlns:p14="http://schemas.microsoft.com/office/powerpoint/2010/main" val="31899137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B1997-B1C2-5C43-C1FE-CF7B20B13F9C}"/>
            </a:ext>
          </a:extLst>
        </p:cNvPr>
        <p:cNvGrpSpPr/>
        <p:nvPr/>
      </p:nvGrpSpPr>
      <p:grpSpPr>
        <a:xfrm>
          <a:off x="0" y="0"/>
          <a:ext cx="0" cy="0"/>
          <a:chOff x="0" y="0"/>
          <a:chExt cx="0" cy="0"/>
        </a:xfrm>
      </p:grpSpPr>
      <p:sp>
        <p:nvSpPr>
          <p:cNvPr id="17" name="Text Placeholder 2">
            <a:extLst>
              <a:ext uri="{FF2B5EF4-FFF2-40B4-BE49-F238E27FC236}">
                <a16:creationId xmlns:a16="http://schemas.microsoft.com/office/drawing/2014/main" id="{F2DECD74-ADF1-C7F2-3EE1-C259FBFC980E}"/>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cxnSp>
        <p:nvCxnSpPr>
          <p:cNvPr id="47" name="Conector recto 46">
            <a:extLst>
              <a:ext uri="{FF2B5EF4-FFF2-40B4-BE49-F238E27FC236}">
                <a16:creationId xmlns:a16="http://schemas.microsoft.com/office/drawing/2014/main" id="{964E203E-0F05-7D54-33DF-F43558488288}"/>
              </a:ext>
            </a:extLst>
          </p:cNvPr>
          <p:cNvCxnSpPr>
            <a:cxnSpLocks/>
          </p:cNvCxnSpPr>
          <p:nvPr/>
        </p:nvCxnSpPr>
        <p:spPr>
          <a:xfrm flipH="1" flipV="1">
            <a:off x="630394" y="6974157"/>
            <a:ext cx="5112000" cy="0"/>
          </a:xfrm>
          <a:prstGeom prst="line">
            <a:avLst/>
          </a:prstGeom>
          <a:noFill/>
          <a:ln w="12700" cap="flat" cmpd="sng" algn="ctr">
            <a:solidFill>
              <a:schemeClr val="bg1">
                <a:lumMod val="85000"/>
              </a:schemeClr>
            </a:solidFill>
            <a:prstDash val="solid"/>
            <a:miter lim="800000"/>
          </a:ln>
          <a:effectLst/>
        </p:spPr>
      </p:cxnSp>
      <p:sp>
        <p:nvSpPr>
          <p:cNvPr id="8" name="Título 1">
            <a:extLst>
              <a:ext uri="{FF2B5EF4-FFF2-40B4-BE49-F238E27FC236}">
                <a16:creationId xmlns:a16="http://schemas.microsoft.com/office/drawing/2014/main" id="{93FDA7B1-3A19-137B-0592-BC899E964C0A}"/>
              </a:ext>
            </a:extLst>
          </p:cNvPr>
          <p:cNvSpPr txBox="1">
            <a:spLocks/>
          </p:cNvSpPr>
          <p:nvPr/>
        </p:nvSpPr>
        <p:spPr>
          <a:xfrm>
            <a:off x="711024" y="623339"/>
            <a:ext cx="10758733" cy="836992"/>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lang="en-US" sz="2800" b="1" kern="1200" dirty="0">
                <a:solidFill>
                  <a:schemeClr val="accent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s-ES" sz="2800" b="1" i="0" u="none" strike="noStrike" kern="1200" cap="none" spc="0" normalizeH="0" baseline="0" noProof="0">
                <a:ln>
                  <a:noFill/>
                </a:ln>
                <a:solidFill>
                  <a:srgbClr val="EC0000"/>
                </a:solidFill>
                <a:effectLst/>
                <a:uLnTx/>
                <a:uFillTx/>
                <a:latin typeface="Santander Headline"/>
                <a:ea typeface="+mj-ea"/>
                <a:cs typeface="+mj-cs"/>
              </a:rPr>
              <a:t>SCIB. </a:t>
            </a:r>
            <a:r>
              <a:rPr lang="es-ES" err="1">
                <a:solidFill>
                  <a:srgbClr val="BFBFBF"/>
                </a:solidFill>
                <a:latin typeface="Santander Headline"/>
              </a:rPr>
              <a:t>Receivables</a:t>
            </a:r>
            <a:r>
              <a:rPr lang="es-ES">
                <a:solidFill>
                  <a:srgbClr val="BFBFBF"/>
                </a:solidFill>
                <a:latin typeface="Santander Headline"/>
              </a:rPr>
              <a:t> </a:t>
            </a:r>
            <a:r>
              <a:rPr lang="es-ES" err="1">
                <a:solidFill>
                  <a:srgbClr val="BFBFBF"/>
                </a:solidFill>
                <a:latin typeface="Santander Headline"/>
              </a:rPr>
              <a:t>Finance</a:t>
            </a:r>
            <a:endParaRPr kumimoji="0" lang="en-AU" sz="2800" b="1" i="0" u="none" strike="noStrike" kern="1200" cap="none" spc="0" normalizeH="0" baseline="0" noProof="0">
              <a:ln>
                <a:noFill/>
              </a:ln>
              <a:solidFill>
                <a:srgbClr val="BFBFBF"/>
              </a:solidFill>
              <a:effectLst/>
              <a:uLnTx/>
              <a:uFillTx/>
              <a:latin typeface="Santander Headline"/>
              <a:ea typeface="+mj-ea"/>
              <a:cs typeface="+mj-cs"/>
            </a:endParaRPr>
          </a:p>
        </p:txBody>
      </p:sp>
      <p:cxnSp>
        <p:nvCxnSpPr>
          <p:cNvPr id="2" name="Conector recto 32">
            <a:extLst>
              <a:ext uri="{FF2B5EF4-FFF2-40B4-BE49-F238E27FC236}">
                <a16:creationId xmlns:a16="http://schemas.microsoft.com/office/drawing/2014/main" id="{501ACDDE-CAA1-00C2-2637-AB948CA40655}"/>
              </a:ext>
            </a:extLst>
          </p:cNvPr>
          <p:cNvCxnSpPr>
            <a:cxnSpLocks/>
          </p:cNvCxnSpPr>
          <p:nvPr/>
        </p:nvCxnSpPr>
        <p:spPr>
          <a:xfrm flipH="1">
            <a:off x="722244" y="1748247"/>
            <a:ext cx="10954217" cy="0"/>
          </a:xfrm>
          <a:prstGeom prst="line">
            <a:avLst/>
          </a:prstGeom>
          <a:noFill/>
          <a:ln w="12700" cap="flat" cmpd="sng" algn="ctr">
            <a:solidFill>
              <a:srgbClr val="595959"/>
            </a:solidFill>
            <a:prstDash val="solid"/>
            <a:miter lim="800000"/>
          </a:ln>
          <a:effectLst/>
        </p:spPr>
      </p:cxnSp>
      <p:sp>
        <p:nvSpPr>
          <p:cNvPr id="3" name="CuadroTexto 2">
            <a:extLst>
              <a:ext uri="{FF2B5EF4-FFF2-40B4-BE49-F238E27FC236}">
                <a16:creationId xmlns:a16="http://schemas.microsoft.com/office/drawing/2014/main" id="{254067FA-0516-5013-CA4B-9B45AAC77787}"/>
              </a:ext>
            </a:extLst>
          </p:cNvPr>
          <p:cNvSpPr txBox="1"/>
          <p:nvPr/>
        </p:nvSpPr>
        <p:spPr>
          <a:xfrm>
            <a:off x="722243" y="1291054"/>
            <a:ext cx="5138225" cy="338554"/>
          </a:xfrm>
          <a:prstGeom prst="rect">
            <a:avLst/>
          </a:prstGeom>
          <a:noFill/>
        </p:spPr>
        <p:txBody>
          <a:bodyPr wrap="square" rtlCol="0">
            <a:spAutoFit/>
          </a:bodyPr>
          <a:lstStyle/>
          <a:p>
            <a:pPr marL="355600" marR="0" lvl="0" indent="-355600" algn="l" defTabSz="914400" rtl="0" eaLnBrk="1" fontAlgn="auto" latinLnBrk="0" hangingPunct="1">
              <a:lnSpc>
                <a:spcPct val="100000"/>
              </a:lnSpc>
              <a:spcBef>
                <a:spcPts val="0"/>
              </a:spcBef>
              <a:spcAft>
                <a:spcPts val="300"/>
              </a:spcAft>
              <a:buClrTx/>
              <a:buSzTx/>
              <a:buFontTx/>
              <a:buNone/>
              <a:tabLst/>
              <a:defRPr/>
            </a:pPr>
            <a:r>
              <a:rPr kumimoji="0" lang="en-AU"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1 – Business </a:t>
            </a:r>
            <a:r>
              <a:rPr lang="en-GB" sz="1600" b="1">
                <a:solidFill>
                  <a:srgbClr val="DEEDF1">
                    <a:lumMod val="25000"/>
                  </a:srgbClr>
                </a:solidFill>
                <a:latin typeface="Santander Text" panose="020B0504020201020104" pitchFamily="34" charset="0"/>
              </a:rPr>
              <a:t>Execution Services</a:t>
            </a:r>
            <a:endParaRPr kumimoji="0" lang="en-AU"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endParaRPr>
          </a:p>
        </p:txBody>
      </p:sp>
      <p:sp>
        <p:nvSpPr>
          <p:cNvPr id="4" name="Rectángulo 114">
            <a:extLst>
              <a:ext uri="{FF2B5EF4-FFF2-40B4-BE49-F238E27FC236}">
                <a16:creationId xmlns:a16="http://schemas.microsoft.com/office/drawing/2014/main" id="{84D6ADBD-A67F-E56F-21CF-5BF190A811E3}"/>
              </a:ext>
            </a:extLst>
          </p:cNvPr>
          <p:cNvSpPr/>
          <p:nvPr/>
        </p:nvSpPr>
        <p:spPr>
          <a:xfrm>
            <a:off x="722243" y="1938302"/>
            <a:ext cx="1439724" cy="766781"/>
          </a:xfrm>
          <a:prstGeom prst="rect">
            <a:avLst/>
          </a:prstGeom>
          <a:noFill/>
          <a:ln w="12700" cap="flat" cmpd="sng" algn="ctr">
            <a:solidFill>
              <a:schemeClr val="bg2">
                <a:lumMod val="50000"/>
              </a:schemeClr>
            </a:solidFill>
            <a:prstDash val="solid"/>
            <a:miter lim="800000"/>
          </a:ln>
          <a:effectLst/>
        </p:spPr>
        <p:txBody>
          <a:bodyPr lIns="72000" rIns="72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kern="0">
                <a:solidFill>
                  <a:srgbClr val="DEEDF1">
                    <a:lumMod val="25000"/>
                  </a:srgbClr>
                </a:solidFill>
                <a:latin typeface="Santander Text" panose="020B0504020201020104" pitchFamily="34" charset="0"/>
              </a:rPr>
              <a:t>Dynamic Discount</a:t>
            </a:r>
          </a:p>
        </p:txBody>
      </p:sp>
      <p:sp>
        <p:nvSpPr>
          <p:cNvPr id="5" name="Rectángulo 114">
            <a:extLst>
              <a:ext uri="{FF2B5EF4-FFF2-40B4-BE49-F238E27FC236}">
                <a16:creationId xmlns:a16="http://schemas.microsoft.com/office/drawing/2014/main" id="{26BAF853-D3CB-32BF-CDAB-542B29739A00}"/>
              </a:ext>
            </a:extLst>
          </p:cNvPr>
          <p:cNvSpPr/>
          <p:nvPr/>
        </p:nvSpPr>
        <p:spPr>
          <a:xfrm>
            <a:off x="722243" y="2993002"/>
            <a:ext cx="1439724" cy="843522"/>
          </a:xfrm>
          <a:prstGeom prst="rect">
            <a:avLst/>
          </a:prstGeom>
          <a:noFill/>
          <a:ln w="12700" cap="flat" cmpd="sng" algn="ctr">
            <a:solidFill>
              <a:schemeClr val="bg2">
                <a:lumMod val="50000"/>
              </a:schemeClr>
            </a:solidFill>
            <a:prstDash val="solid"/>
            <a:miter lim="800000"/>
          </a:ln>
          <a:effectLst/>
        </p:spPr>
        <p:txBody>
          <a:bodyPr lIns="72000" rIns="72000" rtlCol="0" anchor="ct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400" kern="0">
                <a:solidFill>
                  <a:srgbClr val="DEEDF1">
                    <a:lumMod val="25000"/>
                  </a:srgbClr>
                </a:solidFill>
                <a:latin typeface="Santander Text" panose="020B0504020201020104" pitchFamily="34" charset="0"/>
              </a:rPr>
              <a:t>Receivables Global Platform</a:t>
            </a:r>
          </a:p>
        </p:txBody>
      </p:sp>
      <p:cxnSp>
        <p:nvCxnSpPr>
          <p:cNvPr id="6" name="Conector recto 9">
            <a:extLst>
              <a:ext uri="{FF2B5EF4-FFF2-40B4-BE49-F238E27FC236}">
                <a16:creationId xmlns:a16="http://schemas.microsoft.com/office/drawing/2014/main" id="{AAF85B68-0B99-72CC-583F-5B6134A13C90}"/>
              </a:ext>
            </a:extLst>
          </p:cNvPr>
          <p:cNvCxnSpPr>
            <a:cxnSpLocks/>
          </p:cNvCxnSpPr>
          <p:nvPr/>
        </p:nvCxnSpPr>
        <p:spPr>
          <a:xfrm flipH="1">
            <a:off x="746466" y="2868666"/>
            <a:ext cx="4995928" cy="0"/>
          </a:xfrm>
          <a:prstGeom prst="line">
            <a:avLst/>
          </a:prstGeom>
          <a:noFill/>
          <a:ln w="12700" cap="flat" cmpd="sng" algn="ctr">
            <a:solidFill>
              <a:schemeClr val="bg1">
                <a:lumMod val="85000"/>
              </a:schemeClr>
            </a:solidFill>
            <a:prstDash val="solid"/>
            <a:miter lim="800000"/>
          </a:ln>
          <a:effectLst/>
        </p:spPr>
      </p:cxnSp>
      <p:sp>
        <p:nvSpPr>
          <p:cNvPr id="9" name="CuadroTexto 8">
            <a:extLst>
              <a:ext uri="{FF2B5EF4-FFF2-40B4-BE49-F238E27FC236}">
                <a16:creationId xmlns:a16="http://schemas.microsoft.com/office/drawing/2014/main" id="{18EE3A66-4ECA-EF7E-A244-48AF1D464C4C}"/>
              </a:ext>
            </a:extLst>
          </p:cNvPr>
          <p:cNvSpPr txBox="1"/>
          <p:nvPr/>
        </p:nvSpPr>
        <p:spPr>
          <a:xfrm>
            <a:off x="2351134" y="1955878"/>
            <a:ext cx="9325325" cy="553998"/>
          </a:xfrm>
          <a:prstGeom prst="rect">
            <a:avLst/>
          </a:prstGeom>
          <a:noFill/>
        </p:spPr>
        <p:txBody>
          <a:bodyPr wrap="square">
            <a:spAutoFit/>
          </a:bodyPr>
          <a:lstStyle/>
          <a:p>
            <a:pPr marL="171450" indent="-171450" algn="just">
              <a:buClr>
                <a:srgbClr val="FF0000"/>
              </a:buClr>
              <a:buFont typeface="Wingdings" panose="05000000000000000000" pitchFamily="2" charset="2"/>
              <a:buChar char="§"/>
            </a:pPr>
            <a:r>
              <a:rPr lang="en-US" sz="1000">
                <a:solidFill>
                  <a:prstClr val="black"/>
                </a:solidFill>
                <a:latin typeface="Santander Text" panose="020B0504020201020104" pitchFamily="34" charset="0"/>
              </a:rPr>
              <a:t>Dynamic Discount is the primary application that the Dynamic Discounting product through a marketplace for Buyers and Suppliers. Like Supply Chain Finance but the finance does not come from the bank. Instead, the client (The Buyer) negotiates a discount with their Suppliers on the outstanding invoices in return for early payment. For Dynamic Discounting, the bank only provides the marketplace platform to service the buyers and sellers.</a:t>
            </a:r>
            <a:endParaRPr lang="es-ES" sz="1000">
              <a:solidFill>
                <a:prstClr val="black"/>
              </a:solidFill>
              <a:latin typeface="Santander Text" panose="020B0504020201020104" pitchFamily="34" charset="0"/>
            </a:endParaRPr>
          </a:p>
        </p:txBody>
      </p:sp>
      <p:sp>
        <p:nvSpPr>
          <p:cNvPr id="10" name="CuadroTexto 9">
            <a:extLst>
              <a:ext uri="{FF2B5EF4-FFF2-40B4-BE49-F238E27FC236}">
                <a16:creationId xmlns:a16="http://schemas.microsoft.com/office/drawing/2014/main" id="{846AB6D5-C621-0D61-22E2-99B728665CE8}"/>
              </a:ext>
            </a:extLst>
          </p:cNvPr>
          <p:cNvSpPr txBox="1"/>
          <p:nvPr/>
        </p:nvSpPr>
        <p:spPr>
          <a:xfrm>
            <a:off x="2351135" y="2974750"/>
            <a:ext cx="9325325" cy="861774"/>
          </a:xfrm>
          <a:prstGeom prst="rect">
            <a:avLst/>
          </a:prstGeom>
          <a:noFill/>
        </p:spPr>
        <p:txBody>
          <a:bodyPr wrap="square">
            <a:spAutoFit/>
          </a:bodyPr>
          <a:lstStyle/>
          <a:p>
            <a:pPr marL="171450" indent="-171450" algn="just">
              <a:buClr>
                <a:srgbClr val="FF0000"/>
              </a:buClr>
              <a:buFont typeface="Wingdings" panose="05000000000000000000" pitchFamily="2" charset="2"/>
              <a:buChar char="§"/>
            </a:pPr>
            <a:r>
              <a:rPr lang="en-US" sz="1000">
                <a:solidFill>
                  <a:prstClr val="black"/>
                </a:solidFill>
                <a:latin typeface="Santander Text" panose="020B0504020201020104" pitchFamily="34" charset="0"/>
              </a:rPr>
              <a:t>Receivables Global is the primary application we use to manage receivables finance products. It has a number of modules to allow clients to manage this service with the bank:</a:t>
            </a:r>
          </a:p>
          <a:p>
            <a:pPr lvl="1" algn="just">
              <a:buClr>
                <a:srgbClr val="FF0000"/>
              </a:buClr>
            </a:pPr>
            <a:r>
              <a:rPr lang="en-US" sz="1000">
                <a:solidFill>
                  <a:prstClr val="black"/>
                </a:solidFill>
                <a:latin typeface="Santander Text" panose="020B0504020201020104" pitchFamily="34" charset="0"/>
              </a:rPr>
              <a:t> -Front end for the clients for them to send us offers and reconciliations</a:t>
            </a:r>
          </a:p>
          <a:p>
            <a:pPr lvl="1" algn="just">
              <a:buClr>
                <a:srgbClr val="FF0000"/>
              </a:buClr>
            </a:pPr>
            <a:r>
              <a:rPr lang="en-US" sz="1000">
                <a:solidFill>
                  <a:prstClr val="black"/>
                </a:solidFill>
                <a:latin typeface="Santander Text" panose="020B0504020201020104" pitchFamily="34" charset="0"/>
              </a:rPr>
              <a:t>- Front end for the Middle Office for bank users to interact with the clients. </a:t>
            </a:r>
          </a:p>
          <a:p>
            <a:pPr lvl="1" algn="just">
              <a:buClr>
                <a:srgbClr val="FF0000"/>
              </a:buClr>
            </a:pPr>
            <a:r>
              <a:rPr lang="en-US" sz="1000">
                <a:solidFill>
                  <a:prstClr val="black"/>
                </a:solidFill>
                <a:latin typeface="Santander Text" panose="020B0504020201020104" pitchFamily="34" charset="0"/>
              </a:rPr>
              <a:t>- RPA  that helps the </a:t>
            </a:r>
            <a:r>
              <a:rPr lang="en-US" sz="1000" err="1">
                <a:solidFill>
                  <a:prstClr val="black"/>
                </a:solidFill>
                <a:latin typeface="Santander Text" panose="020B0504020201020104" pitchFamily="34" charset="0"/>
              </a:rPr>
              <a:t>bussiness</a:t>
            </a:r>
            <a:r>
              <a:rPr lang="en-US" sz="1000">
                <a:solidFill>
                  <a:prstClr val="black"/>
                </a:solidFill>
                <a:latin typeface="Santander Text" panose="020B0504020201020104" pitchFamily="34" charset="0"/>
              </a:rPr>
              <a:t> compute the tranches as well as distribute the Insurers Maximum Liability of the insurance policy of the GRPPs</a:t>
            </a:r>
          </a:p>
        </p:txBody>
      </p:sp>
    </p:spTree>
    <p:extLst>
      <p:ext uri="{BB962C8B-B14F-4D97-AF65-F5344CB8AC3E}">
        <p14:creationId xmlns:p14="http://schemas.microsoft.com/office/powerpoint/2010/main" val="12286197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FFE2D-9D33-1C75-619E-A21EDD6D0504}"/>
            </a:ext>
          </a:extLst>
        </p:cNvPr>
        <p:cNvGrpSpPr/>
        <p:nvPr/>
      </p:nvGrpSpPr>
      <p:grpSpPr>
        <a:xfrm>
          <a:off x="0" y="0"/>
          <a:ext cx="0" cy="0"/>
          <a:chOff x="0" y="0"/>
          <a:chExt cx="0" cy="0"/>
        </a:xfrm>
      </p:grpSpPr>
      <p:sp>
        <p:nvSpPr>
          <p:cNvPr id="17" name="Text Placeholder 2">
            <a:extLst>
              <a:ext uri="{FF2B5EF4-FFF2-40B4-BE49-F238E27FC236}">
                <a16:creationId xmlns:a16="http://schemas.microsoft.com/office/drawing/2014/main" id="{7C8F24A9-AB0B-C5E8-976A-873278FFF167}"/>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cxnSp>
        <p:nvCxnSpPr>
          <p:cNvPr id="47" name="Conector recto 46">
            <a:extLst>
              <a:ext uri="{FF2B5EF4-FFF2-40B4-BE49-F238E27FC236}">
                <a16:creationId xmlns:a16="http://schemas.microsoft.com/office/drawing/2014/main" id="{39E229A1-BCE4-B0F3-F350-CEC059AA3248}"/>
              </a:ext>
            </a:extLst>
          </p:cNvPr>
          <p:cNvCxnSpPr>
            <a:cxnSpLocks/>
          </p:cNvCxnSpPr>
          <p:nvPr/>
        </p:nvCxnSpPr>
        <p:spPr>
          <a:xfrm flipH="1" flipV="1">
            <a:off x="630394" y="6974157"/>
            <a:ext cx="5112000" cy="0"/>
          </a:xfrm>
          <a:prstGeom prst="line">
            <a:avLst/>
          </a:prstGeom>
          <a:noFill/>
          <a:ln w="12700" cap="flat" cmpd="sng" algn="ctr">
            <a:solidFill>
              <a:schemeClr val="bg1">
                <a:lumMod val="85000"/>
              </a:schemeClr>
            </a:solidFill>
            <a:prstDash val="solid"/>
            <a:miter lim="800000"/>
          </a:ln>
          <a:effectLst/>
        </p:spPr>
      </p:cxnSp>
      <p:sp>
        <p:nvSpPr>
          <p:cNvPr id="8" name="Título 1">
            <a:extLst>
              <a:ext uri="{FF2B5EF4-FFF2-40B4-BE49-F238E27FC236}">
                <a16:creationId xmlns:a16="http://schemas.microsoft.com/office/drawing/2014/main" id="{47B7D30E-7A67-6FCA-F040-898942FA8AAD}"/>
              </a:ext>
            </a:extLst>
          </p:cNvPr>
          <p:cNvSpPr txBox="1">
            <a:spLocks/>
          </p:cNvSpPr>
          <p:nvPr/>
        </p:nvSpPr>
        <p:spPr>
          <a:xfrm>
            <a:off x="711024" y="623339"/>
            <a:ext cx="10758733" cy="836992"/>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lang="en-US" sz="2800" b="1" kern="1200" dirty="0">
                <a:solidFill>
                  <a:schemeClr val="accent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s-ES" sz="2800" b="1" i="0" u="none" strike="noStrike" kern="1200" cap="none" spc="0" normalizeH="0" baseline="0" noProof="0">
                <a:ln>
                  <a:noFill/>
                </a:ln>
                <a:solidFill>
                  <a:srgbClr val="EC0000"/>
                </a:solidFill>
                <a:effectLst/>
                <a:uLnTx/>
                <a:uFillTx/>
                <a:latin typeface="Santander Headline"/>
                <a:ea typeface="+mj-ea"/>
                <a:cs typeface="+mj-cs"/>
              </a:rPr>
              <a:t>SCIB. </a:t>
            </a:r>
            <a:r>
              <a:rPr lang="es-ES" err="1">
                <a:solidFill>
                  <a:srgbClr val="BFBFBF"/>
                </a:solidFill>
                <a:latin typeface="Santander Headline"/>
              </a:rPr>
              <a:t>Trade</a:t>
            </a:r>
            <a:r>
              <a:rPr lang="es-ES">
                <a:solidFill>
                  <a:srgbClr val="BFBFBF"/>
                </a:solidFill>
                <a:latin typeface="Santander Headline"/>
              </a:rPr>
              <a:t> </a:t>
            </a:r>
            <a:r>
              <a:rPr lang="es-ES" err="1">
                <a:solidFill>
                  <a:srgbClr val="BFBFBF"/>
                </a:solidFill>
                <a:latin typeface="Santander Headline"/>
              </a:rPr>
              <a:t>Finance</a:t>
            </a:r>
            <a:endParaRPr kumimoji="0" lang="en-AU" sz="2800" b="1" i="0" u="none" strike="noStrike" kern="1200" cap="none" spc="0" normalizeH="0" baseline="0" noProof="0">
              <a:ln>
                <a:noFill/>
              </a:ln>
              <a:solidFill>
                <a:srgbClr val="BFBFBF"/>
              </a:solidFill>
              <a:effectLst/>
              <a:uLnTx/>
              <a:uFillTx/>
              <a:latin typeface="Santander Headline"/>
              <a:ea typeface="+mj-ea"/>
              <a:cs typeface="+mj-cs"/>
            </a:endParaRPr>
          </a:p>
        </p:txBody>
      </p:sp>
      <p:sp>
        <p:nvSpPr>
          <p:cNvPr id="10" name="CuadroTexto 9">
            <a:extLst>
              <a:ext uri="{FF2B5EF4-FFF2-40B4-BE49-F238E27FC236}">
                <a16:creationId xmlns:a16="http://schemas.microsoft.com/office/drawing/2014/main" id="{1B849DFF-D2F2-BCEA-5E2C-0B41B4C3423C}"/>
              </a:ext>
            </a:extLst>
          </p:cNvPr>
          <p:cNvSpPr txBox="1"/>
          <p:nvPr/>
        </p:nvSpPr>
        <p:spPr>
          <a:xfrm>
            <a:off x="856444" y="1337220"/>
            <a:ext cx="3642648" cy="584775"/>
          </a:xfrm>
          <a:prstGeom prst="rect">
            <a:avLst/>
          </a:prstGeom>
          <a:noFill/>
        </p:spPr>
        <p:txBody>
          <a:bodyPr wrap="square">
            <a:spAutoFit/>
          </a:bodyPr>
          <a:lstStyle/>
          <a:p>
            <a:pPr algn="just">
              <a:buClr>
                <a:srgbClr val="FF0000"/>
              </a:buClr>
            </a:pPr>
            <a:r>
              <a:rPr lang="en-US" sz="3200">
                <a:solidFill>
                  <a:prstClr val="black"/>
                </a:solidFill>
                <a:latin typeface="Santander Text" panose="020B0504020201020104" pitchFamily="34" charset="0"/>
              </a:rPr>
              <a:t>Work in Progress</a:t>
            </a:r>
            <a:endParaRPr lang="es-ES" sz="3200">
              <a:solidFill>
                <a:prstClr val="black"/>
              </a:solidFill>
              <a:latin typeface="Santander Text" panose="020B0504020201020104" pitchFamily="34" charset="0"/>
            </a:endParaRPr>
          </a:p>
        </p:txBody>
      </p:sp>
    </p:spTree>
    <p:extLst>
      <p:ext uri="{BB962C8B-B14F-4D97-AF65-F5344CB8AC3E}">
        <p14:creationId xmlns:p14="http://schemas.microsoft.com/office/powerpoint/2010/main" val="40664523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069FC-12A8-C3D9-42D6-DA0B389DF3AB}"/>
            </a:ext>
          </a:extLst>
        </p:cNvPr>
        <p:cNvGrpSpPr/>
        <p:nvPr/>
      </p:nvGrpSpPr>
      <p:grpSpPr>
        <a:xfrm>
          <a:off x="0" y="0"/>
          <a:ext cx="0" cy="0"/>
          <a:chOff x="0" y="0"/>
          <a:chExt cx="0" cy="0"/>
        </a:xfrm>
      </p:grpSpPr>
      <p:sp>
        <p:nvSpPr>
          <p:cNvPr id="17" name="Text Placeholder 2">
            <a:extLst>
              <a:ext uri="{FF2B5EF4-FFF2-40B4-BE49-F238E27FC236}">
                <a16:creationId xmlns:a16="http://schemas.microsoft.com/office/drawing/2014/main" id="{5FE01751-5EDB-57AA-1845-011E80653DF0}"/>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18" name="Rectángulo 17">
            <a:extLst>
              <a:ext uri="{FF2B5EF4-FFF2-40B4-BE49-F238E27FC236}">
                <a16:creationId xmlns:a16="http://schemas.microsoft.com/office/drawing/2014/main" id="{CD1D4500-221B-FAD5-ACF8-C4326A989EC2}"/>
              </a:ext>
            </a:extLst>
          </p:cNvPr>
          <p:cNvSpPr/>
          <p:nvPr/>
        </p:nvSpPr>
        <p:spPr>
          <a:xfrm>
            <a:off x="831113" y="1730873"/>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algn="ctr">
              <a:spcAft>
                <a:spcPts val="600"/>
              </a:spcAft>
              <a:defRPr/>
            </a:pPr>
            <a:r>
              <a:rPr lang="en-US" sz="1400" kern="0">
                <a:solidFill>
                  <a:srgbClr val="DEEDF1">
                    <a:lumMod val="25000"/>
                  </a:srgbClr>
                </a:solidFill>
                <a:latin typeface="Santander Text"/>
              </a:rPr>
              <a:t>Distribution Workflow</a:t>
            </a:r>
          </a:p>
        </p:txBody>
      </p:sp>
      <p:sp>
        <p:nvSpPr>
          <p:cNvPr id="21" name="CuadroTexto 20">
            <a:extLst>
              <a:ext uri="{FF2B5EF4-FFF2-40B4-BE49-F238E27FC236}">
                <a16:creationId xmlns:a16="http://schemas.microsoft.com/office/drawing/2014/main" id="{47AFA233-AB4B-5215-E985-28C6751DDC13}"/>
              </a:ext>
            </a:extLst>
          </p:cNvPr>
          <p:cNvSpPr txBox="1"/>
          <p:nvPr/>
        </p:nvSpPr>
        <p:spPr>
          <a:xfrm>
            <a:off x="684799" y="1128886"/>
            <a:ext cx="5111998" cy="338554"/>
          </a:xfrm>
          <a:prstGeom prst="rect">
            <a:avLst/>
          </a:prstGeom>
          <a:noFill/>
        </p:spPr>
        <p:txBody>
          <a:bodyPr wrap="square" rtlCol="0">
            <a:spAutoFit/>
          </a:bodyPr>
          <a:lstStyle/>
          <a:p>
            <a:pPr marL="355600" marR="0" lvl="0" indent="-355600" algn="l" defTabSz="914400" rtl="0" eaLnBrk="1" fontAlgn="auto" latinLnBrk="0" hangingPunct="1">
              <a:lnSpc>
                <a:spcPct val="100000"/>
              </a:lnSpc>
              <a:spcBef>
                <a:spcPts val="0"/>
              </a:spcBef>
              <a:spcAft>
                <a:spcPts val="300"/>
              </a:spcAft>
              <a:buClrTx/>
              <a:buSzTx/>
              <a:buFontTx/>
              <a:buNone/>
              <a:tabLst/>
              <a:defRPr/>
            </a:pPr>
            <a:r>
              <a:rPr kumimoji="0" lang="en-AU"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1 - </a:t>
            </a:r>
            <a:r>
              <a:rPr lang="en-GB" sz="1600" b="1" kern="0">
                <a:solidFill>
                  <a:srgbClr val="DEEDF1">
                    <a:lumMod val="25000"/>
                  </a:srgbClr>
                </a:solidFill>
                <a:latin typeface="Santander Text" panose="020B0504020201020104" pitchFamily="34" charset="0"/>
              </a:rPr>
              <a:t>Distribution business Services</a:t>
            </a:r>
          </a:p>
        </p:txBody>
      </p:sp>
      <p:cxnSp>
        <p:nvCxnSpPr>
          <p:cNvPr id="22" name="Conector recto 21">
            <a:extLst>
              <a:ext uri="{FF2B5EF4-FFF2-40B4-BE49-F238E27FC236}">
                <a16:creationId xmlns:a16="http://schemas.microsoft.com/office/drawing/2014/main" id="{082B8231-ABE2-B0AD-6563-03D5B5F805F4}"/>
              </a:ext>
            </a:extLst>
          </p:cNvPr>
          <p:cNvCxnSpPr>
            <a:cxnSpLocks/>
          </p:cNvCxnSpPr>
          <p:nvPr/>
        </p:nvCxnSpPr>
        <p:spPr>
          <a:xfrm flipH="1" flipV="1">
            <a:off x="739202" y="1511514"/>
            <a:ext cx="5112000" cy="0"/>
          </a:xfrm>
          <a:prstGeom prst="line">
            <a:avLst/>
          </a:prstGeom>
          <a:noFill/>
          <a:ln w="12700" cap="flat" cmpd="sng" algn="ctr">
            <a:solidFill>
              <a:srgbClr val="595959"/>
            </a:solidFill>
            <a:prstDash val="solid"/>
            <a:miter lim="800000"/>
          </a:ln>
          <a:effectLst/>
        </p:spPr>
      </p:cxnSp>
      <p:sp>
        <p:nvSpPr>
          <p:cNvPr id="32" name="CuadroTexto 31">
            <a:extLst>
              <a:ext uri="{FF2B5EF4-FFF2-40B4-BE49-F238E27FC236}">
                <a16:creationId xmlns:a16="http://schemas.microsoft.com/office/drawing/2014/main" id="{23033481-7F30-5DD6-AC1C-97AE66A84AF3}"/>
              </a:ext>
            </a:extLst>
          </p:cNvPr>
          <p:cNvSpPr txBox="1"/>
          <p:nvPr/>
        </p:nvSpPr>
        <p:spPr>
          <a:xfrm>
            <a:off x="6096000" y="1128886"/>
            <a:ext cx="5832136" cy="623248"/>
          </a:xfrm>
          <a:prstGeom prst="rect">
            <a:avLst/>
          </a:prstGeom>
          <a:noFill/>
        </p:spPr>
        <p:txBody>
          <a:bodyPr wrap="square" rtlCol="0">
            <a:spAutoFit/>
          </a:bodyPr>
          <a:lstStyle/>
          <a:p>
            <a:pPr marL="355600" indent="-355600">
              <a:spcAft>
                <a:spcPts val="300"/>
              </a:spcAft>
              <a:defRPr/>
            </a:pPr>
            <a:r>
              <a:rPr kumimoji="0" lang="en-AU"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2 – Business </a:t>
            </a:r>
            <a:r>
              <a:rPr lang="en-GB" sz="1600" b="1">
                <a:solidFill>
                  <a:srgbClr val="DEEDF1">
                    <a:lumMod val="25000"/>
                  </a:srgbClr>
                </a:solidFill>
                <a:latin typeface="Santander Text" panose="020B0504020201020104" pitchFamily="34" charset="0"/>
              </a:rPr>
              <a:t>Execution Services </a:t>
            </a:r>
          </a:p>
          <a:p>
            <a:pPr marL="355600" marR="0" lvl="0" indent="-355600" algn="l" defTabSz="914400" rtl="0" eaLnBrk="1" fontAlgn="auto" latinLnBrk="0" hangingPunct="1">
              <a:lnSpc>
                <a:spcPct val="100000"/>
              </a:lnSpc>
              <a:spcBef>
                <a:spcPts val="0"/>
              </a:spcBef>
              <a:spcAft>
                <a:spcPts val="300"/>
              </a:spcAft>
              <a:buClrTx/>
              <a:buSzTx/>
              <a:buFontTx/>
              <a:buNone/>
              <a:tabLst/>
              <a:defRPr/>
            </a:pPr>
            <a:endParaRPr kumimoji="0" lang="en-AU"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endParaRPr>
          </a:p>
        </p:txBody>
      </p:sp>
      <p:cxnSp>
        <p:nvCxnSpPr>
          <p:cNvPr id="33" name="Conector recto 32">
            <a:extLst>
              <a:ext uri="{FF2B5EF4-FFF2-40B4-BE49-F238E27FC236}">
                <a16:creationId xmlns:a16="http://schemas.microsoft.com/office/drawing/2014/main" id="{9710A701-D453-7186-B7BC-8D7BC5ABCB70}"/>
              </a:ext>
            </a:extLst>
          </p:cNvPr>
          <p:cNvCxnSpPr>
            <a:cxnSpLocks/>
          </p:cNvCxnSpPr>
          <p:nvPr/>
        </p:nvCxnSpPr>
        <p:spPr>
          <a:xfrm flipH="1" flipV="1">
            <a:off x="6115536" y="1511514"/>
            <a:ext cx="5520204" cy="30586"/>
          </a:xfrm>
          <a:prstGeom prst="line">
            <a:avLst/>
          </a:prstGeom>
          <a:noFill/>
          <a:ln w="12700" cap="flat" cmpd="sng" algn="ctr">
            <a:solidFill>
              <a:srgbClr val="595959"/>
            </a:solidFill>
            <a:prstDash val="solid"/>
            <a:miter lim="800000"/>
          </a:ln>
          <a:effectLst/>
        </p:spPr>
      </p:cxnSp>
      <p:cxnSp>
        <p:nvCxnSpPr>
          <p:cNvPr id="35" name="Conector recto 34">
            <a:extLst>
              <a:ext uri="{FF2B5EF4-FFF2-40B4-BE49-F238E27FC236}">
                <a16:creationId xmlns:a16="http://schemas.microsoft.com/office/drawing/2014/main" id="{9BFD869C-A738-AAC1-FC25-DB163352E438}"/>
              </a:ext>
            </a:extLst>
          </p:cNvPr>
          <p:cNvCxnSpPr>
            <a:cxnSpLocks/>
          </p:cNvCxnSpPr>
          <p:nvPr/>
        </p:nvCxnSpPr>
        <p:spPr>
          <a:xfrm flipH="1">
            <a:off x="6132768" y="2443029"/>
            <a:ext cx="5502972" cy="10129"/>
          </a:xfrm>
          <a:prstGeom prst="line">
            <a:avLst/>
          </a:prstGeom>
          <a:noFill/>
          <a:ln w="12700" cap="flat" cmpd="sng" algn="ctr">
            <a:solidFill>
              <a:schemeClr val="bg1">
                <a:lumMod val="85000"/>
              </a:schemeClr>
            </a:solidFill>
            <a:prstDash val="solid"/>
            <a:miter lim="800000"/>
          </a:ln>
          <a:effectLst/>
        </p:spPr>
      </p:cxnSp>
      <p:sp>
        <p:nvSpPr>
          <p:cNvPr id="39" name="Rectángulo 38">
            <a:extLst>
              <a:ext uri="{FF2B5EF4-FFF2-40B4-BE49-F238E27FC236}">
                <a16:creationId xmlns:a16="http://schemas.microsoft.com/office/drawing/2014/main" id="{CCB9BE80-A85C-F33A-FCBC-9E04844FEFBE}"/>
              </a:ext>
            </a:extLst>
          </p:cNvPr>
          <p:cNvSpPr/>
          <p:nvPr/>
        </p:nvSpPr>
        <p:spPr>
          <a:xfrm>
            <a:off x="831113" y="2681404"/>
            <a:ext cx="1440000" cy="540000"/>
          </a:xfrm>
          <a:prstGeom prst="rect">
            <a:avLst/>
          </a:prstGeom>
          <a:noFill/>
          <a:ln w="12700" cap="flat" cmpd="sng" algn="ctr">
            <a:solidFill>
              <a:schemeClr val="bg1">
                <a:lumMod val="50000"/>
              </a:schemeClr>
            </a:solidFill>
            <a:prstDash val="solid"/>
            <a:miter lim="800000"/>
          </a:ln>
          <a:effectLst/>
        </p:spPr>
        <p:txBody>
          <a:bodyPr lIns="72000" rIns="72000" rtlCol="0" anchor="ctr"/>
          <a:lstStyle/>
          <a:p>
            <a:pPr algn="ctr">
              <a:spcAft>
                <a:spcPts val="600"/>
              </a:spcAft>
              <a:defRPr/>
            </a:pPr>
            <a:r>
              <a:rPr lang="en-US" sz="1400" kern="0">
                <a:solidFill>
                  <a:srgbClr val="DEEDF1">
                    <a:lumMod val="25000"/>
                  </a:srgbClr>
                </a:solidFill>
                <a:latin typeface="Santander Text"/>
              </a:rPr>
              <a:t>DLX</a:t>
            </a:r>
          </a:p>
        </p:txBody>
      </p:sp>
      <p:sp>
        <p:nvSpPr>
          <p:cNvPr id="42" name="Rectángulo 41">
            <a:extLst>
              <a:ext uri="{FF2B5EF4-FFF2-40B4-BE49-F238E27FC236}">
                <a16:creationId xmlns:a16="http://schemas.microsoft.com/office/drawing/2014/main" id="{7723CBE1-D345-8C65-AEC5-202FAFD0FF8E}"/>
              </a:ext>
            </a:extLst>
          </p:cNvPr>
          <p:cNvSpPr/>
          <p:nvPr/>
        </p:nvSpPr>
        <p:spPr>
          <a:xfrm>
            <a:off x="6239491" y="1589838"/>
            <a:ext cx="1440000" cy="540000"/>
          </a:xfrm>
          <a:prstGeom prst="rect">
            <a:avLst/>
          </a:prstGeom>
          <a:noFill/>
          <a:ln w="12700" cap="flat" cmpd="sng" algn="ctr">
            <a:solidFill>
              <a:schemeClr val="bg1">
                <a:lumMod val="50000"/>
              </a:schemeClr>
            </a:solidFill>
            <a:prstDash val="solid"/>
            <a:miter lim="800000"/>
          </a:ln>
          <a:effectLst/>
        </p:spPr>
        <p:txBody>
          <a:bodyPr lIns="72000" rIns="72000" rtlCol="0" anchor="ctr"/>
          <a:lstStyle/>
          <a:p>
            <a:pPr algn="ctr"/>
            <a:r>
              <a:rPr lang="en-GB" sz="1400" kern="0" err="1">
                <a:solidFill>
                  <a:srgbClr val="DEEDF1">
                    <a:lumMod val="25000"/>
                  </a:srgbClr>
                </a:solidFill>
                <a:latin typeface="Santander Text" panose="020B0504020201020104" pitchFamily="34" charset="0"/>
              </a:rPr>
              <a:t>ClearPar</a:t>
            </a:r>
            <a:endParaRPr lang="en-GB" sz="1400" kern="0">
              <a:solidFill>
                <a:srgbClr val="DEEDF1">
                  <a:lumMod val="25000"/>
                </a:srgbClr>
              </a:solidFill>
              <a:latin typeface="Santander Text" panose="020B0504020201020104" pitchFamily="34" charset="0"/>
            </a:endParaRPr>
          </a:p>
        </p:txBody>
      </p:sp>
      <p:sp>
        <p:nvSpPr>
          <p:cNvPr id="46" name="CuadroTexto 45">
            <a:extLst>
              <a:ext uri="{FF2B5EF4-FFF2-40B4-BE49-F238E27FC236}">
                <a16:creationId xmlns:a16="http://schemas.microsoft.com/office/drawing/2014/main" id="{995BE937-7CD2-80FB-0A0C-AF588390B82C}"/>
              </a:ext>
            </a:extLst>
          </p:cNvPr>
          <p:cNvSpPr txBox="1"/>
          <p:nvPr/>
        </p:nvSpPr>
        <p:spPr>
          <a:xfrm>
            <a:off x="2332232" y="1706985"/>
            <a:ext cx="3479977" cy="707886"/>
          </a:xfrm>
          <a:prstGeom prst="rect">
            <a:avLst/>
          </a:prstGeom>
          <a:noFill/>
        </p:spPr>
        <p:txBody>
          <a:bodyPr wrap="square">
            <a:spAutoFit/>
          </a:bodyPr>
          <a:lstStyle/>
          <a:p>
            <a:pPr marL="180000" indent="-180000" algn="just">
              <a:buClr>
                <a:srgbClr val="FF0000"/>
              </a:buClr>
              <a:buFont typeface="Wingdings" panose="05000000000000000000" pitchFamily="2" charset="2"/>
              <a:buChar char="§"/>
              <a:defRPr/>
            </a:pPr>
            <a:r>
              <a:rPr lang="en-US" sz="1000" b="0" i="0" u="none" strike="noStrike">
                <a:solidFill>
                  <a:srgbClr val="000000"/>
                </a:solidFill>
                <a:effectLst/>
                <a:latin typeface="Aptos Narrow" panose="020B0004020202020204" pitchFamily="34" charset="0"/>
              </a:rPr>
              <a:t>Is a holistic distribution workflow that enables scalability of distribution activity and asset rotation (of lending products) for all types of distribution (CDS on Loans, Insurance on Loans, RPAs, URPAs) in the secondary market.</a:t>
            </a:r>
            <a:endParaRPr lang="es-ES" sz="1000">
              <a:solidFill>
                <a:prstClr val="black"/>
              </a:solidFill>
              <a:latin typeface="Santander Text" panose="020B0504020201020104" pitchFamily="34" charset="0"/>
            </a:endParaRPr>
          </a:p>
        </p:txBody>
      </p:sp>
      <p:cxnSp>
        <p:nvCxnSpPr>
          <p:cNvPr id="47" name="Conector recto 46">
            <a:extLst>
              <a:ext uri="{FF2B5EF4-FFF2-40B4-BE49-F238E27FC236}">
                <a16:creationId xmlns:a16="http://schemas.microsoft.com/office/drawing/2014/main" id="{768944B2-773F-71A6-62EE-9FD5694B12EC}"/>
              </a:ext>
            </a:extLst>
          </p:cNvPr>
          <p:cNvCxnSpPr>
            <a:cxnSpLocks/>
          </p:cNvCxnSpPr>
          <p:nvPr/>
        </p:nvCxnSpPr>
        <p:spPr>
          <a:xfrm flipH="1" flipV="1">
            <a:off x="630394" y="6974157"/>
            <a:ext cx="5112000" cy="0"/>
          </a:xfrm>
          <a:prstGeom prst="line">
            <a:avLst/>
          </a:prstGeom>
          <a:noFill/>
          <a:ln w="12700" cap="flat" cmpd="sng" algn="ctr">
            <a:solidFill>
              <a:schemeClr val="bg1">
                <a:lumMod val="85000"/>
              </a:schemeClr>
            </a:solidFill>
            <a:prstDash val="solid"/>
            <a:miter lim="800000"/>
          </a:ln>
          <a:effectLst/>
        </p:spPr>
      </p:cxnSp>
      <p:sp>
        <p:nvSpPr>
          <p:cNvPr id="50" name="CuadroTexto 49">
            <a:extLst>
              <a:ext uri="{FF2B5EF4-FFF2-40B4-BE49-F238E27FC236}">
                <a16:creationId xmlns:a16="http://schemas.microsoft.com/office/drawing/2014/main" id="{42BACD2C-07EF-135C-4659-A8C8810826D7}"/>
              </a:ext>
            </a:extLst>
          </p:cNvPr>
          <p:cNvSpPr txBox="1"/>
          <p:nvPr/>
        </p:nvSpPr>
        <p:spPr>
          <a:xfrm>
            <a:off x="2332233" y="2612135"/>
            <a:ext cx="3518970" cy="707886"/>
          </a:xfrm>
          <a:prstGeom prst="rect">
            <a:avLst/>
          </a:prstGeom>
          <a:noFill/>
        </p:spPr>
        <p:txBody>
          <a:bodyPr wrap="square">
            <a:spAutoFit/>
          </a:bodyPr>
          <a:lstStyle/>
          <a:p>
            <a:pPr marL="180000" marR="0" lvl="1" indent="-180000" algn="just"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lang="en-US" sz="1000">
                <a:solidFill>
                  <a:srgbClr val="000000"/>
                </a:solidFill>
                <a:latin typeface="Aptos Narrow" panose="020B0004020202020204" pitchFamily="34" charset="0"/>
              </a:rPr>
              <a:t>Tool with two main functions: DLX Agency: For those deals (in </a:t>
            </a:r>
            <a:r>
              <a:rPr lang="en-US" sz="1000" err="1">
                <a:solidFill>
                  <a:srgbClr val="000000"/>
                </a:solidFill>
                <a:latin typeface="Aptos Narrow" panose="020B0004020202020204" pitchFamily="34" charset="0"/>
              </a:rPr>
              <a:t>LoanIQ</a:t>
            </a:r>
            <a:r>
              <a:rPr lang="en-US" sz="1000">
                <a:solidFill>
                  <a:srgbClr val="000000"/>
                </a:solidFill>
                <a:latin typeface="Aptos Narrow" panose="020B0004020202020204" pitchFamily="34" charset="0"/>
              </a:rPr>
              <a:t>) where Santander is acting as Agent bank and DLX Insurance, Platform to cover the servicing function for Private Credit Insurance on Loans</a:t>
            </a:r>
          </a:p>
        </p:txBody>
      </p:sp>
      <p:sp>
        <p:nvSpPr>
          <p:cNvPr id="55" name="CuadroTexto 54">
            <a:extLst>
              <a:ext uri="{FF2B5EF4-FFF2-40B4-BE49-F238E27FC236}">
                <a16:creationId xmlns:a16="http://schemas.microsoft.com/office/drawing/2014/main" id="{1FDE4C80-8A33-720A-6DB7-C31EF2162ADE}"/>
              </a:ext>
            </a:extLst>
          </p:cNvPr>
          <p:cNvSpPr txBox="1"/>
          <p:nvPr/>
        </p:nvSpPr>
        <p:spPr>
          <a:xfrm>
            <a:off x="7730902" y="1587820"/>
            <a:ext cx="3738855" cy="553998"/>
          </a:xfrm>
          <a:prstGeom prst="rect">
            <a:avLst/>
          </a:prstGeom>
          <a:noFill/>
        </p:spPr>
        <p:txBody>
          <a:bodyPr wrap="square">
            <a:spAutoFit/>
          </a:bodyPr>
          <a:lstStyle/>
          <a:p>
            <a:pPr marL="180000" marR="0" lvl="1" indent="-180000" algn="just"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lang="en-US" sz="1000" b="0" i="0" u="none" strike="noStrike">
                <a:solidFill>
                  <a:prstClr val="black"/>
                </a:solidFill>
                <a:effectLst/>
                <a:latin typeface="Santander Text" panose="020B0504020201020104" pitchFamily="34" charset="0"/>
              </a:rPr>
              <a:t>F</a:t>
            </a:r>
            <a:r>
              <a:rPr lang="en-US" sz="1000" b="0" i="0" u="none" strike="noStrike">
                <a:solidFill>
                  <a:srgbClr val="000000"/>
                </a:solidFill>
                <a:effectLst/>
                <a:latin typeface="Aptos Narrow" panose="020B0004020202020204" pitchFamily="34" charset="0"/>
              </a:rPr>
              <a:t>acilitates the legal documentation management for the syndicated loans market, from generation to review and signing, among buyers, sellers, agent banks and legal professionals.</a:t>
            </a:r>
            <a:endParaRPr lang="en-US" sz="1000">
              <a:solidFill>
                <a:prstClr val="black"/>
              </a:solidFill>
              <a:latin typeface="Santander Text" panose="020B0504020201020104" pitchFamily="34" charset="0"/>
            </a:endParaRPr>
          </a:p>
        </p:txBody>
      </p:sp>
      <p:sp>
        <p:nvSpPr>
          <p:cNvPr id="8" name="Título 1">
            <a:extLst>
              <a:ext uri="{FF2B5EF4-FFF2-40B4-BE49-F238E27FC236}">
                <a16:creationId xmlns:a16="http://schemas.microsoft.com/office/drawing/2014/main" id="{D944C602-CBE5-8B0B-841A-74FF1C30572A}"/>
              </a:ext>
            </a:extLst>
          </p:cNvPr>
          <p:cNvSpPr txBox="1">
            <a:spLocks/>
          </p:cNvSpPr>
          <p:nvPr/>
        </p:nvSpPr>
        <p:spPr>
          <a:xfrm>
            <a:off x="711024" y="623339"/>
            <a:ext cx="10758733" cy="836992"/>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lang="en-US" sz="2800" b="1" kern="1200" dirty="0">
                <a:solidFill>
                  <a:schemeClr val="accent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s-ES" sz="2800" b="1" i="0" u="none" strike="noStrike" kern="1200" cap="none" spc="0" normalizeH="0" baseline="0" noProof="0">
                <a:ln>
                  <a:noFill/>
                </a:ln>
                <a:solidFill>
                  <a:srgbClr val="EC0000"/>
                </a:solidFill>
                <a:effectLst/>
                <a:uLnTx/>
                <a:uFillTx/>
                <a:latin typeface="Santander Headline"/>
                <a:ea typeface="+mj-ea"/>
                <a:cs typeface="+mj-cs"/>
              </a:rPr>
              <a:t>SCIB. </a:t>
            </a:r>
            <a:r>
              <a:rPr lang="es-ES" err="1">
                <a:solidFill>
                  <a:srgbClr val="BFBFBF"/>
                </a:solidFill>
                <a:latin typeface="Santander Headline"/>
              </a:rPr>
              <a:t>Specialized</a:t>
            </a:r>
            <a:r>
              <a:rPr lang="es-ES">
                <a:solidFill>
                  <a:srgbClr val="BFBFBF"/>
                </a:solidFill>
                <a:latin typeface="Santander Headline"/>
              </a:rPr>
              <a:t> </a:t>
            </a:r>
            <a:r>
              <a:rPr lang="es-ES" err="1">
                <a:solidFill>
                  <a:srgbClr val="BFBFBF"/>
                </a:solidFill>
                <a:latin typeface="Santander Headline"/>
              </a:rPr>
              <a:t>Lending</a:t>
            </a:r>
            <a:r>
              <a:rPr lang="es-ES">
                <a:solidFill>
                  <a:srgbClr val="BFBFBF"/>
                </a:solidFill>
                <a:latin typeface="Santander Headline"/>
              </a:rPr>
              <a:t> and Capital </a:t>
            </a:r>
            <a:r>
              <a:rPr lang="es-ES" err="1">
                <a:solidFill>
                  <a:srgbClr val="BFBFBF"/>
                </a:solidFill>
                <a:latin typeface="Santander Headline"/>
              </a:rPr>
              <a:t>Optimization</a:t>
            </a:r>
            <a:endParaRPr kumimoji="0" lang="en-AU" sz="2800" b="1" i="0" u="none" strike="noStrike" kern="1200" cap="none" spc="0" normalizeH="0" baseline="0" noProof="0">
              <a:ln>
                <a:noFill/>
              </a:ln>
              <a:solidFill>
                <a:srgbClr val="BFBFBF"/>
              </a:solidFill>
              <a:effectLst/>
              <a:uLnTx/>
              <a:uFillTx/>
              <a:latin typeface="Santander Headline"/>
              <a:ea typeface="+mj-ea"/>
              <a:cs typeface="+mj-cs"/>
            </a:endParaRPr>
          </a:p>
        </p:txBody>
      </p:sp>
      <p:sp>
        <p:nvSpPr>
          <p:cNvPr id="16" name="Rectángulo 41">
            <a:extLst>
              <a:ext uri="{FF2B5EF4-FFF2-40B4-BE49-F238E27FC236}">
                <a16:creationId xmlns:a16="http://schemas.microsoft.com/office/drawing/2014/main" id="{3F30AFF2-00C2-9C46-04EA-309BD791B640}"/>
              </a:ext>
            </a:extLst>
          </p:cNvPr>
          <p:cNvSpPr/>
          <p:nvPr/>
        </p:nvSpPr>
        <p:spPr>
          <a:xfrm>
            <a:off x="6239491" y="3388817"/>
            <a:ext cx="1440000" cy="540000"/>
          </a:xfrm>
          <a:prstGeom prst="rect">
            <a:avLst/>
          </a:prstGeom>
          <a:noFill/>
          <a:ln w="12700" cap="flat" cmpd="sng" algn="ctr">
            <a:solidFill>
              <a:schemeClr val="bg1">
                <a:lumMod val="50000"/>
              </a:schemeClr>
            </a:solidFill>
            <a:prstDash val="solid"/>
            <a:miter lim="800000"/>
          </a:ln>
          <a:effectLst/>
        </p:spPr>
        <p:txBody>
          <a:bodyPr lIns="72000" rIns="72000" rtlCol="0" anchor="ctr"/>
          <a:lstStyle/>
          <a:p>
            <a:pPr algn="ctr"/>
            <a:r>
              <a:rPr lang="en-GB" sz="1400" kern="0">
                <a:solidFill>
                  <a:srgbClr val="DEEDF1">
                    <a:lumMod val="25000"/>
                  </a:srgbClr>
                </a:solidFill>
                <a:latin typeface="Santander Text" panose="020B0504020201020104" pitchFamily="34" charset="0"/>
              </a:rPr>
              <a:t>Mercurio</a:t>
            </a:r>
          </a:p>
        </p:txBody>
      </p:sp>
      <p:sp>
        <p:nvSpPr>
          <p:cNvPr id="25" name="CuadroTexto 54">
            <a:extLst>
              <a:ext uri="{FF2B5EF4-FFF2-40B4-BE49-F238E27FC236}">
                <a16:creationId xmlns:a16="http://schemas.microsoft.com/office/drawing/2014/main" id="{2E5C5F6B-A6E5-65E5-9156-B4CF3D3EE369}"/>
              </a:ext>
            </a:extLst>
          </p:cNvPr>
          <p:cNvSpPr txBox="1"/>
          <p:nvPr/>
        </p:nvSpPr>
        <p:spPr>
          <a:xfrm>
            <a:off x="7730902" y="3334927"/>
            <a:ext cx="3738855" cy="553998"/>
          </a:xfrm>
          <a:prstGeom prst="rect">
            <a:avLst/>
          </a:prstGeom>
          <a:noFill/>
        </p:spPr>
        <p:txBody>
          <a:bodyPr wrap="square">
            <a:spAutoFit/>
          </a:bodyPr>
          <a:lstStyle/>
          <a:p>
            <a:pPr marL="180000" marR="0" lvl="1" indent="-180000" algn="just"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lang="en-US" sz="1000" b="0" i="0" u="none" strike="noStrike">
                <a:solidFill>
                  <a:srgbClr val="000000"/>
                </a:solidFill>
                <a:effectLst/>
                <a:latin typeface="Aptos Narrow" panose="020B0004020202020204" pitchFamily="34" charset="0"/>
              </a:rPr>
              <a:t>Appian Workflow tools that orchestrates the end-to-end process from Origination to Fulfilment of deals for GDF and GTB products.</a:t>
            </a:r>
            <a:br>
              <a:rPr lang="en-US" sz="1000" b="0" i="0" u="none" strike="noStrike">
                <a:solidFill>
                  <a:srgbClr val="000000"/>
                </a:solidFill>
                <a:effectLst/>
                <a:latin typeface="Aptos Narrow" panose="020B0004020202020204" pitchFamily="34" charset="0"/>
              </a:rPr>
            </a:br>
            <a:endParaRPr kumimoji="0" lang="en-US" sz="10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endParaRPr>
          </a:p>
        </p:txBody>
      </p:sp>
      <p:sp>
        <p:nvSpPr>
          <p:cNvPr id="4" name="Rectángulo 3">
            <a:extLst>
              <a:ext uri="{FF2B5EF4-FFF2-40B4-BE49-F238E27FC236}">
                <a16:creationId xmlns:a16="http://schemas.microsoft.com/office/drawing/2014/main" id="{A771846F-CD2F-3A11-1F2B-887A2A69B6B3}"/>
              </a:ext>
            </a:extLst>
          </p:cNvPr>
          <p:cNvSpPr/>
          <p:nvPr/>
        </p:nvSpPr>
        <p:spPr>
          <a:xfrm>
            <a:off x="6239491" y="2585921"/>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algn="ctr"/>
            <a:r>
              <a:rPr lang="en-GB" sz="1400" kern="0" err="1">
                <a:solidFill>
                  <a:srgbClr val="DEEDF1">
                    <a:lumMod val="25000"/>
                  </a:srgbClr>
                </a:solidFill>
                <a:latin typeface="Santander Text" panose="020B0504020201020104" pitchFamily="34" charset="0"/>
              </a:rPr>
              <a:t>LoanIQ</a:t>
            </a:r>
            <a:endParaRPr lang="en-GB" sz="1400" kern="0">
              <a:solidFill>
                <a:srgbClr val="DEEDF1">
                  <a:lumMod val="25000"/>
                </a:srgbClr>
              </a:solidFill>
              <a:latin typeface="Santander Text" panose="020B0504020201020104" pitchFamily="34" charset="0"/>
            </a:endParaRPr>
          </a:p>
        </p:txBody>
      </p:sp>
      <p:sp>
        <p:nvSpPr>
          <p:cNvPr id="5" name="CuadroTexto 4">
            <a:extLst>
              <a:ext uri="{FF2B5EF4-FFF2-40B4-BE49-F238E27FC236}">
                <a16:creationId xmlns:a16="http://schemas.microsoft.com/office/drawing/2014/main" id="{F4E53FB9-1AE0-EF5A-87AB-837D0FE49CD7}"/>
              </a:ext>
            </a:extLst>
          </p:cNvPr>
          <p:cNvSpPr txBox="1"/>
          <p:nvPr/>
        </p:nvSpPr>
        <p:spPr>
          <a:xfrm>
            <a:off x="7730904" y="2527412"/>
            <a:ext cx="3738853" cy="616162"/>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just">
              <a:lnSpc>
                <a:spcPct val="107000"/>
              </a:lnSpc>
              <a:spcAft>
                <a:spcPts val="800"/>
              </a:spcAft>
              <a:buFont typeface="Wingdings" panose="05000000000000000000" pitchFamily="2" charset="2"/>
              <a:buChar char="§"/>
            </a:pPr>
            <a:r>
              <a:rPr lang="en-US" sz="1000" b="0" i="0" u="none" strike="noStrike">
                <a:solidFill>
                  <a:prstClr val="black"/>
                </a:solidFill>
                <a:effectLst/>
                <a:latin typeface="Santander Text" panose="020B0504020201020104" pitchFamily="34" charset="0"/>
              </a:rPr>
              <a:t>A</a:t>
            </a:r>
            <a:r>
              <a:rPr lang="en-US" sz="1000" b="0" i="0" u="none" strike="noStrike">
                <a:solidFill>
                  <a:srgbClr val="000000"/>
                </a:solidFill>
                <a:effectLst/>
                <a:latin typeface="Aptos Narrow" panose="020B0004020202020204" pitchFamily="34" charset="0"/>
              </a:rPr>
              <a:t>utomates and streamlines the Servicing function for Syndicated Loans, Project Finance and Bilateral deals for SCIB. </a:t>
            </a:r>
            <a:endParaRPr lang="es-ES" sz="1000">
              <a:solidFill>
                <a:prstClr val="black"/>
              </a:solidFill>
              <a:latin typeface="Santander Text" panose="020B0504020201020104" pitchFamily="34" charset="0"/>
            </a:endParaRPr>
          </a:p>
        </p:txBody>
      </p:sp>
      <p:cxnSp>
        <p:nvCxnSpPr>
          <p:cNvPr id="3" name="Conector recto 2">
            <a:extLst>
              <a:ext uri="{FF2B5EF4-FFF2-40B4-BE49-F238E27FC236}">
                <a16:creationId xmlns:a16="http://schemas.microsoft.com/office/drawing/2014/main" id="{189D0D9D-E6AD-161B-2221-213E164E74DD}"/>
              </a:ext>
            </a:extLst>
          </p:cNvPr>
          <p:cNvCxnSpPr>
            <a:cxnSpLocks/>
          </p:cNvCxnSpPr>
          <p:nvPr/>
        </p:nvCxnSpPr>
        <p:spPr>
          <a:xfrm flipH="1">
            <a:off x="6157574" y="3277879"/>
            <a:ext cx="5478166" cy="0"/>
          </a:xfrm>
          <a:prstGeom prst="line">
            <a:avLst/>
          </a:prstGeom>
          <a:noFill/>
          <a:ln w="12700" cap="flat" cmpd="sng" algn="ctr">
            <a:solidFill>
              <a:schemeClr val="bg1">
                <a:lumMod val="85000"/>
              </a:schemeClr>
            </a:solidFill>
            <a:prstDash val="solid"/>
            <a:miter lim="800000"/>
          </a:ln>
          <a:effectLst/>
        </p:spPr>
      </p:cxnSp>
      <p:cxnSp>
        <p:nvCxnSpPr>
          <p:cNvPr id="7" name="Conector recto 6">
            <a:extLst>
              <a:ext uri="{FF2B5EF4-FFF2-40B4-BE49-F238E27FC236}">
                <a16:creationId xmlns:a16="http://schemas.microsoft.com/office/drawing/2014/main" id="{A60363C6-DB32-BD43-C686-EC888B4AE66F}"/>
              </a:ext>
            </a:extLst>
          </p:cNvPr>
          <p:cNvCxnSpPr>
            <a:cxnSpLocks/>
          </p:cNvCxnSpPr>
          <p:nvPr/>
        </p:nvCxnSpPr>
        <p:spPr>
          <a:xfrm flipH="1">
            <a:off x="6096000" y="4060281"/>
            <a:ext cx="5539740" cy="0"/>
          </a:xfrm>
          <a:prstGeom prst="line">
            <a:avLst/>
          </a:prstGeom>
          <a:noFill/>
          <a:ln w="12700" cap="flat" cmpd="sng" algn="ctr">
            <a:solidFill>
              <a:schemeClr val="bg1">
                <a:lumMod val="85000"/>
              </a:schemeClr>
            </a:solidFill>
            <a:prstDash val="solid"/>
            <a:miter lim="800000"/>
          </a:ln>
          <a:effectLst/>
        </p:spPr>
      </p:cxnSp>
      <p:cxnSp>
        <p:nvCxnSpPr>
          <p:cNvPr id="9" name="Conector recto 8">
            <a:extLst>
              <a:ext uri="{FF2B5EF4-FFF2-40B4-BE49-F238E27FC236}">
                <a16:creationId xmlns:a16="http://schemas.microsoft.com/office/drawing/2014/main" id="{6ADDFE64-F2BE-48EB-0270-006072742704}"/>
              </a:ext>
            </a:extLst>
          </p:cNvPr>
          <p:cNvCxnSpPr>
            <a:cxnSpLocks/>
          </p:cNvCxnSpPr>
          <p:nvPr/>
        </p:nvCxnSpPr>
        <p:spPr>
          <a:xfrm flipH="1" flipV="1">
            <a:off x="6132768" y="5018687"/>
            <a:ext cx="5594412" cy="40647"/>
          </a:xfrm>
          <a:prstGeom prst="line">
            <a:avLst/>
          </a:prstGeom>
          <a:noFill/>
          <a:ln w="12700" cap="flat" cmpd="sng" algn="ctr">
            <a:solidFill>
              <a:schemeClr val="bg1">
                <a:lumMod val="85000"/>
              </a:schemeClr>
            </a:solidFill>
            <a:prstDash val="solid"/>
            <a:miter lim="800000"/>
          </a:ln>
          <a:effectLst/>
        </p:spPr>
      </p:cxnSp>
      <p:cxnSp>
        <p:nvCxnSpPr>
          <p:cNvPr id="11" name="Conector recto 10">
            <a:extLst>
              <a:ext uri="{FF2B5EF4-FFF2-40B4-BE49-F238E27FC236}">
                <a16:creationId xmlns:a16="http://schemas.microsoft.com/office/drawing/2014/main" id="{DEDEB375-F0D3-43EE-E2A6-921B0C9D5BC8}"/>
              </a:ext>
            </a:extLst>
          </p:cNvPr>
          <p:cNvCxnSpPr>
            <a:cxnSpLocks/>
          </p:cNvCxnSpPr>
          <p:nvPr/>
        </p:nvCxnSpPr>
        <p:spPr>
          <a:xfrm flipH="1">
            <a:off x="700209" y="5018687"/>
            <a:ext cx="5150993" cy="40647"/>
          </a:xfrm>
          <a:prstGeom prst="line">
            <a:avLst/>
          </a:prstGeom>
          <a:noFill/>
          <a:ln w="12700" cap="flat" cmpd="sng" algn="ctr">
            <a:solidFill>
              <a:schemeClr val="bg1">
                <a:lumMod val="85000"/>
              </a:schemeClr>
            </a:solidFill>
            <a:prstDash val="solid"/>
            <a:miter lim="800000"/>
          </a:ln>
          <a:effectLst/>
        </p:spPr>
      </p:cxnSp>
      <p:sp>
        <p:nvSpPr>
          <p:cNvPr id="2" name="CuadroTexto 1">
            <a:extLst>
              <a:ext uri="{FF2B5EF4-FFF2-40B4-BE49-F238E27FC236}">
                <a16:creationId xmlns:a16="http://schemas.microsoft.com/office/drawing/2014/main" id="{BDB175FB-ECB5-E2D2-69CC-CE9F6D915415}"/>
              </a:ext>
            </a:extLst>
          </p:cNvPr>
          <p:cNvSpPr txBox="1"/>
          <p:nvPr/>
        </p:nvSpPr>
        <p:spPr>
          <a:xfrm>
            <a:off x="630396" y="3593366"/>
            <a:ext cx="5111998" cy="338554"/>
          </a:xfrm>
          <a:prstGeom prst="rect">
            <a:avLst/>
          </a:prstGeom>
          <a:noFill/>
        </p:spPr>
        <p:txBody>
          <a:bodyPr wrap="square" rtlCol="0">
            <a:spAutoFit/>
          </a:bodyPr>
          <a:lstStyle/>
          <a:p>
            <a:pPr marL="355600" marR="0" lvl="0" indent="-355600" algn="l" defTabSz="914400" rtl="0" eaLnBrk="1" fontAlgn="auto" latinLnBrk="0" hangingPunct="1">
              <a:lnSpc>
                <a:spcPct val="100000"/>
              </a:lnSpc>
              <a:spcBef>
                <a:spcPts val="0"/>
              </a:spcBef>
              <a:spcAft>
                <a:spcPts val="300"/>
              </a:spcAft>
              <a:buClrTx/>
              <a:buSzTx/>
              <a:buFontTx/>
              <a:buNone/>
              <a:tabLst/>
              <a:defRPr/>
            </a:pPr>
            <a:r>
              <a:rPr lang="en-AU" sz="1600" b="1" kern="0">
                <a:solidFill>
                  <a:srgbClr val="DEEDF1">
                    <a:lumMod val="25000"/>
                  </a:srgbClr>
                </a:solidFill>
                <a:latin typeface="Santander Text" panose="020B0504020201020104" pitchFamily="34" charset="0"/>
              </a:rPr>
              <a:t>3</a:t>
            </a:r>
            <a:r>
              <a:rPr kumimoji="0" lang="en-AU"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 - </a:t>
            </a:r>
            <a:r>
              <a:rPr lang="en-GB" sz="1600" b="1">
                <a:solidFill>
                  <a:srgbClr val="DEEDF1">
                    <a:lumMod val="25000"/>
                  </a:srgbClr>
                </a:solidFill>
                <a:latin typeface="Santander Text" panose="020B0504020201020104" pitchFamily="34" charset="0"/>
              </a:rPr>
              <a:t>Banking Data Services </a:t>
            </a:r>
            <a:endParaRPr lang="en-GB" sz="1600" b="1" kern="0">
              <a:solidFill>
                <a:srgbClr val="DEEDF1">
                  <a:lumMod val="25000"/>
                </a:srgbClr>
              </a:solidFill>
              <a:latin typeface="Santander Text" panose="020B0504020201020104" pitchFamily="34" charset="0"/>
            </a:endParaRPr>
          </a:p>
        </p:txBody>
      </p:sp>
      <p:cxnSp>
        <p:nvCxnSpPr>
          <p:cNvPr id="12" name="Conector recto 11">
            <a:extLst>
              <a:ext uri="{FF2B5EF4-FFF2-40B4-BE49-F238E27FC236}">
                <a16:creationId xmlns:a16="http://schemas.microsoft.com/office/drawing/2014/main" id="{841DBF4B-79E1-2BC2-C10C-445C69B390EC}"/>
              </a:ext>
            </a:extLst>
          </p:cNvPr>
          <p:cNvCxnSpPr>
            <a:cxnSpLocks/>
          </p:cNvCxnSpPr>
          <p:nvPr/>
        </p:nvCxnSpPr>
        <p:spPr>
          <a:xfrm flipH="1" flipV="1">
            <a:off x="739202" y="2443029"/>
            <a:ext cx="5112000" cy="0"/>
          </a:xfrm>
          <a:prstGeom prst="line">
            <a:avLst/>
          </a:prstGeom>
          <a:noFill/>
          <a:ln w="12700" cap="flat" cmpd="sng" algn="ctr">
            <a:solidFill>
              <a:schemeClr val="bg1">
                <a:lumMod val="85000"/>
              </a:schemeClr>
            </a:solidFill>
            <a:prstDash val="solid"/>
            <a:miter lim="800000"/>
          </a:ln>
          <a:effectLst/>
        </p:spPr>
      </p:cxnSp>
      <p:cxnSp>
        <p:nvCxnSpPr>
          <p:cNvPr id="13" name="Conector recto 12">
            <a:extLst>
              <a:ext uri="{FF2B5EF4-FFF2-40B4-BE49-F238E27FC236}">
                <a16:creationId xmlns:a16="http://schemas.microsoft.com/office/drawing/2014/main" id="{F9B3E97A-C4F4-A327-C3FB-08643D8D3C1B}"/>
              </a:ext>
            </a:extLst>
          </p:cNvPr>
          <p:cNvCxnSpPr>
            <a:cxnSpLocks/>
          </p:cNvCxnSpPr>
          <p:nvPr/>
        </p:nvCxnSpPr>
        <p:spPr>
          <a:xfrm flipH="1" flipV="1">
            <a:off x="684797" y="3429000"/>
            <a:ext cx="5112000" cy="0"/>
          </a:xfrm>
          <a:prstGeom prst="line">
            <a:avLst/>
          </a:prstGeom>
          <a:noFill/>
          <a:ln w="12700" cap="flat" cmpd="sng" algn="ctr">
            <a:solidFill>
              <a:schemeClr val="bg1">
                <a:lumMod val="85000"/>
              </a:schemeClr>
            </a:solidFill>
            <a:prstDash val="solid"/>
            <a:miter lim="800000"/>
          </a:ln>
          <a:effectLst/>
        </p:spPr>
      </p:cxnSp>
      <p:sp>
        <p:nvSpPr>
          <p:cNvPr id="14" name="Rectángulo 41">
            <a:extLst>
              <a:ext uri="{FF2B5EF4-FFF2-40B4-BE49-F238E27FC236}">
                <a16:creationId xmlns:a16="http://schemas.microsoft.com/office/drawing/2014/main" id="{AFE8A509-FF91-451D-DBDB-60B3F580D61D}"/>
              </a:ext>
            </a:extLst>
          </p:cNvPr>
          <p:cNvSpPr/>
          <p:nvPr/>
        </p:nvSpPr>
        <p:spPr>
          <a:xfrm>
            <a:off x="6239491" y="4257662"/>
            <a:ext cx="1440000" cy="540000"/>
          </a:xfrm>
          <a:prstGeom prst="rect">
            <a:avLst/>
          </a:prstGeom>
          <a:noFill/>
          <a:ln w="12700" cap="flat" cmpd="sng" algn="ctr">
            <a:solidFill>
              <a:schemeClr val="bg1">
                <a:lumMod val="50000"/>
              </a:schemeClr>
            </a:solidFill>
            <a:prstDash val="solid"/>
            <a:miter lim="800000"/>
          </a:ln>
          <a:effectLst/>
        </p:spPr>
        <p:txBody>
          <a:bodyPr lIns="72000" rIns="72000" rtlCol="0" anchor="ctr"/>
          <a:lstStyle/>
          <a:p>
            <a:pPr algn="ctr"/>
            <a:r>
              <a:rPr lang="en-GB" sz="1400" kern="0">
                <a:solidFill>
                  <a:srgbClr val="DEEDF1">
                    <a:lumMod val="25000"/>
                  </a:srgbClr>
                </a:solidFill>
                <a:latin typeface="Santander Text" panose="020B0504020201020104" pitchFamily="34" charset="0"/>
              </a:rPr>
              <a:t>Rita</a:t>
            </a:r>
          </a:p>
        </p:txBody>
      </p:sp>
      <p:sp>
        <p:nvSpPr>
          <p:cNvPr id="23" name="CuadroTexto 22">
            <a:extLst>
              <a:ext uri="{FF2B5EF4-FFF2-40B4-BE49-F238E27FC236}">
                <a16:creationId xmlns:a16="http://schemas.microsoft.com/office/drawing/2014/main" id="{58CA1D64-EB35-34CE-679A-252FB28185E0}"/>
              </a:ext>
            </a:extLst>
          </p:cNvPr>
          <p:cNvSpPr txBox="1"/>
          <p:nvPr/>
        </p:nvSpPr>
        <p:spPr>
          <a:xfrm>
            <a:off x="7814932" y="4148107"/>
            <a:ext cx="3654825" cy="861774"/>
          </a:xfrm>
          <a:prstGeom prst="rect">
            <a:avLst/>
          </a:prstGeom>
          <a:noFill/>
        </p:spPr>
        <p:txBody>
          <a:bodyPr wrap="square">
            <a:spAutoFit/>
          </a:bodyPr>
          <a:lstStyle/>
          <a:p>
            <a:pPr marL="171450" indent="-171450" algn="just">
              <a:buClr>
                <a:srgbClr val="FF0000"/>
              </a:buClr>
              <a:buFont typeface="Wingdings" panose="05000000000000000000" pitchFamily="2" charset="2"/>
              <a:buChar char="§"/>
            </a:pPr>
            <a:r>
              <a:rPr lang="en-US" sz="1000" b="0" i="0" u="none" strike="noStrike">
                <a:solidFill>
                  <a:srgbClr val="000000"/>
                </a:solidFill>
                <a:effectLst/>
                <a:latin typeface="Aptos Narrow" panose="020B0004020202020204" pitchFamily="34" charset="0"/>
              </a:rPr>
              <a:t>Tool to manage the life cycle of the synthetic securitization, collecting and updating all the information with the appropriate controls and alerts to ensure a semi-automatic portfolio management. </a:t>
            </a:r>
            <a:endParaRPr lang="es-ES" sz="1000"/>
          </a:p>
          <a:p>
            <a:pPr marL="171450" indent="-171450" algn="just">
              <a:buClr>
                <a:srgbClr val="FF0000"/>
              </a:buClr>
              <a:buFont typeface="Wingdings" panose="05000000000000000000" pitchFamily="2" charset="2"/>
              <a:buChar char="§"/>
            </a:pPr>
            <a:endParaRPr lang="es-ES" sz="1000">
              <a:solidFill>
                <a:prstClr val="black"/>
              </a:solidFill>
              <a:latin typeface="Santander Text" panose="020B0504020201020104" pitchFamily="34" charset="0"/>
            </a:endParaRPr>
          </a:p>
        </p:txBody>
      </p:sp>
      <p:cxnSp>
        <p:nvCxnSpPr>
          <p:cNvPr id="26" name="Conector recto 25">
            <a:extLst>
              <a:ext uri="{FF2B5EF4-FFF2-40B4-BE49-F238E27FC236}">
                <a16:creationId xmlns:a16="http://schemas.microsoft.com/office/drawing/2014/main" id="{E76553DF-E78E-D396-3459-2E2E063A5E1B}"/>
              </a:ext>
            </a:extLst>
          </p:cNvPr>
          <p:cNvCxnSpPr>
            <a:cxnSpLocks/>
          </p:cNvCxnSpPr>
          <p:nvPr/>
        </p:nvCxnSpPr>
        <p:spPr>
          <a:xfrm flipH="1" flipV="1">
            <a:off x="700209" y="4024340"/>
            <a:ext cx="5112000" cy="0"/>
          </a:xfrm>
          <a:prstGeom prst="line">
            <a:avLst/>
          </a:prstGeom>
          <a:noFill/>
          <a:ln w="12700" cap="flat" cmpd="sng" algn="ctr">
            <a:solidFill>
              <a:srgbClr val="595959"/>
            </a:solidFill>
            <a:prstDash val="solid"/>
            <a:miter lim="800000"/>
          </a:ln>
          <a:effectLst/>
        </p:spPr>
      </p:cxnSp>
      <p:sp>
        <p:nvSpPr>
          <p:cNvPr id="28" name="Rectángulo 27">
            <a:extLst>
              <a:ext uri="{FF2B5EF4-FFF2-40B4-BE49-F238E27FC236}">
                <a16:creationId xmlns:a16="http://schemas.microsoft.com/office/drawing/2014/main" id="{34729391-C7D5-92F9-A60D-F2B239E1F932}"/>
              </a:ext>
            </a:extLst>
          </p:cNvPr>
          <p:cNvSpPr/>
          <p:nvPr/>
        </p:nvSpPr>
        <p:spPr>
          <a:xfrm>
            <a:off x="831113" y="4269249"/>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algn="ctr">
              <a:spcAft>
                <a:spcPts val="600"/>
              </a:spcAft>
              <a:defRPr/>
            </a:pPr>
            <a:r>
              <a:rPr lang="en-US" sz="1400" kern="0">
                <a:solidFill>
                  <a:srgbClr val="DEEDF1">
                    <a:lumMod val="25000"/>
                  </a:srgbClr>
                </a:solidFill>
                <a:latin typeface="Santander Text"/>
              </a:rPr>
              <a:t>BDH 3.0 Banking Data Hub</a:t>
            </a:r>
          </a:p>
        </p:txBody>
      </p:sp>
      <p:sp>
        <p:nvSpPr>
          <p:cNvPr id="30" name="CuadroTexto 29">
            <a:extLst>
              <a:ext uri="{FF2B5EF4-FFF2-40B4-BE49-F238E27FC236}">
                <a16:creationId xmlns:a16="http://schemas.microsoft.com/office/drawing/2014/main" id="{2B0C6D55-AB07-84E5-AAE7-E9C67B422A41}"/>
              </a:ext>
            </a:extLst>
          </p:cNvPr>
          <p:cNvSpPr txBox="1"/>
          <p:nvPr/>
        </p:nvSpPr>
        <p:spPr>
          <a:xfrm>
            <a:off x="2332232" y="4263842"/>
            <a:ext cx="3410162" cy="553998"/>
          </a:xfrm>
          <a:prstGeom prst="rect">
            <a:avLst/>
          </a:prstGeom>
          <a:noFill/>
        </p:spPr>
        <p:txBody>
          <a:bodyPr wrap="square">
            <a:spAutoFit/>
          </a:bodyPr>
          <a:lstStyle/>
          <a:p>
            <a:pPr marL="171450" indent="-171450" algn="just">
              <a:buClr>
                <a:srgbClr val="FF0000"/>
              </a:buClr>
              <a:buFont typeface="Wingdings" panose="05000000000000000000" pitchFamily="2" charset="2"/>
              <a:buChar char="§"/>
            </a:pPr>
            <a:r>
              <a:rPr lang="en-US" sz="1000">
                <a:solidFill>
                  <a:srgbClr val="000000"/>
                </a:solidFill>
                <a:latin typeface="Aptos Narrow" panose="020B0004020202020204" pitchFamily="34" charset="0"/>
              </a:rPr>
              <a:t>New Data Hub for SCIB Lending Products (GDF &amp; GTB) which centralizes and exposes information related with the Banking business.</a:t>
            </a:r>
            <a:endParaRPr lang="es-ES" sz="1000">
              <a:solidFill>
                <a:prstClr val="black"/>
              </a:solidFill>
              <a:latin typeface="Santander Text" panose="020B0504020201020104" pitchFamily="34" charset="0"/>
            </a:endParaRPr>
          </a:p>
        </p:txBody>
      </p:sp>
      <p:cxnSp>
        <p:nvCxnSpPr>
          <p:cNvPr id="15" name="Conector recto 14">
            <a:extLst>
              <a:ext uri="{FF2B5EF4-FFF2-40B4-BE49-F238E27FC236}">
                <a16:creationId xmlns:a16="http://schemas.microsoft.com/office/drawing/2014/main" id="{66F97225-700C-0B22-EA6D-BC1A8E7DDFEC}"/>
              </a:ext>
            </a:extLst>
          </p:cNvPr>
          <p:cNvCxnSpPr>
            <a:cxnSpLocks/>
          </p:cNvCxnSpPr>
          <p:nvPr/>
        </p:nvCxnSpPr>
        <p:spPr>
          <a:xfrm flipH="1">
            <a:off x="6157574" y="6042922"/>
            <a:ext cx="5569606" cy="0"/>
          </a:xfrm>
          <a:prstGeom prst="line">
            <a:avLst/>
          </a:prstGeom>
          <a:noFill/>
          <a:ln w="12700" cap="flat" cmpd="sng" algn="ctr">
            <a:solidFill>
              <a:schemeClr val="bg1">
                <a:lumMod val="85000"/>
              </a:schemeClr>
            </a:solidFill>
            <a:prstDash val="solid"/>
            <a:miter lim="800000"/>
          </a:ln>
          <a:effectLst/>
        </p:spPr>
      </p:cxnSp>
      <p:sp>
        <p:nvSpPr>
          <p:cNvPr id="19" name="Rectángulo 41">
            <a:extLst>
              <a:ext uri="{FF2B5EF4-FFF2-40B4-BE49-F238E27FC236}">
                <a16:creationId xmlns:a16="http://schemas.microsoft.com/office/drawing/2014/main" id="{93278BC1-BE22-AF85-07D6-8214878C3629}"/>
              </a:ext>
            </a:extLst>
          </p:cNvPr>
          <p:cNvSpPr/>
          <p:nvPr/>
        </p:nvSpPr>
        <p:spPr>
          <a:xfrm>
            <a:off x="6264297" y="5236177"/>
            <a:ext cx="1440000" cy="540000"/>
          </a:xfrm>
          <a:prstGeom prst="rect">
            <a:avLst/>
          </a:prstGeom>
          <a:noFill/>
          <a:ln w="12700" cap="flat" cmpd="sng" algn="ctr">
            <a:solidFill>
              <a:schemeClr val="bg1">
                <a:lumMod val="50000"/>
              </a:schemeClr>
            </a:solidFill>
            <a:prstDash val="solid"/>
            <a:miter lim="800000"/>
          </a:ln>
          <a:effectLst/>
        </p:spPr>
        <p:txBody>
          <a:bodyPr lIns="72000" rIns="72000" rtlCol="0" anchor="ctr"/>
          <a:lstStyle/>
          <a:p>
            <a:pPr algn="ctr"/>
            <a:r>
              <a:rPr lang="en-GB" sz="1400" kern="0">
                <a:solidFill>
                  <a:srgbClr val="DEEDF1">
                    <a:lumMod val="25000"/>
                  </a:srgbClr>
                </a:solidFill>
                <a:latin typeface="Santander Text" panose="020B0504020201020104" pitchFamily="34" charset="0"/>
              </a:rPr>
              <a:t>Orfeo Global</a:t>
            </a:r>
          </a:p>
        </p:txBody>
      </p:sp>
      <p:sp>
        <p:nvSpPr>
          <p:cNvPr id="20" name="CuadroTexto 19">
            <a:extLst>
              <a:ext uri="{FF2B5EF4-FFF2-40B4-BE49-F238E27FC236}">
                <a16:creationId xmlns:a16="http://schemas.microsoft.com/office/drawing/2014/main" id="{822542F5-B161-B153-585F-362D0C6AA771}"/>
              </a:ext>
            </a:extLst>
          </p:cNvPr>
          <p:cNvSpPr txBox="1"/>
          <p:nvPr/>
        </p:nvSpPr>
        <p:spPr>
          <a:xfrm>
            <a:off x="7839737" y="5172342"/>
            <a:ext cx="3796003" cy="707886"/>
          </a:xfrm>
          <a:prstGeom prst="rect">
            <a:avLst/>
          </a:prstGeom>
          <a:noFill/>
        </p:spPr>
        <p:txBody>
          <a:bodyPr wrap="square">
            <a:spAutoFit/>
          </a:bodyPr>
          <a:lstStyle/>
          <a:p>
            <a:pPr marL="171450" indent="-171450" algn="just">
              <a:buClr>
                <a:srgbClr val="FF0000"/>
              </a:buClr>
              <a:buFont typeface="Wingdings" panose="05000000000000000000" pitchFamily="2" charset="2"/>
              <a:buChar char="§"/>
            </a:pPr>
            <a:r>
              <a:rPr lang="en-US" sz="1000" b="0" i="0" u="none" strike="noStrike">
                <a:solidFill>
                  <a:prstClr val="black"/>
                </a:solidFill>
                <a:effectLst/>
                <a:latin typeface="Santander Text" panose="020B0504020201020104" pitchFamily="34" charset="0"/>
              </a:rPr>
              <a:t>P</a:t>
            </a:r>
            <a:r>
              <a:rPr lang="en-US" sz="1000" b="0" i="0" u="none" strike="noStrike">
                <a:solidFill>
                  <a:srgbClr val="000000"/>
                </a:solidFill>
                <a:effectLst/>
                <a:latin typeface="Aptos Narrow" panose="020B0004020202020204" pitchFamily="34" charset="0"/>
              </a:rPr>
              <a:t>DM tool to managed the Pipeline for Distribution Opportunities, assigning the different PDM teams (Sales, Insurances, RPAs, </a:t>
            </a:r>
            <a:r>
              <a:rPr lang="en-US" sz="1000" b="0" i="0" u="none" strike="noStrike" err="1">
                <a:solidFill>
                  <a:srgbClr val="000000"/>
                </a:solidFill>
                <a:effectLst/>
                <a:latin typeface="Aptos Narrow" panose="020B0004020202020204" pitchFamily="34" charset="0"/>
              </a:rPr>
              <a:t>URPas</a:t>
            </a:r>
            <a:r>
              <a:rPr lang="en-US" sz="1000" b="0" i="0" u="none" strike="noStrike">
                <a:solidFill>
                  <a:srgbClr val="000000"/>
                </a:solidFill>
                <a:effectLst/>
                <a:latin typeface="Aptos Narrow" panose="020B0004020202020204" pitchFamily="34" charset="0"/>
              </a:rPr>
              <a:t>, ...) to each Opportunity and monitoring the status of the distribution process</a:t>
            </a:r>
            <a:endParaRPr lang="es-ES" sz="1000">
              <a:solidFill>
                <a:prstClr val="black"/>
              </a:solidFill>
              <a:latin typeface="Santander Text" panose="020B0504020201020104" pitchFamily="34" charset="0"/>
            </a:endParaRPr>
          </a:p>
        </p:txBody>
      </p:sp>
    </p:spTree>
    <p:extLst>
      <p:ext uri="{BB962C8B-B14F-4D97-AF65-F5344CB8AC3E}">
        <p14:creationId xmlns:p14="http://schemas.microsoft.com/office/powerpoint/2010/main" val="25137464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C6977-58FE-7FA7-BF10-C92CF2910430}"/>
            </a:ext>
          </a:extLst>
        </p:cNvPr>
        <p:cNvGrpSpPr/>
        <p:nvPr/>
      </p:nvGrpSpPr>
      <p:grpSpPr>
        <a:xfrm>
          <a:off x="0" y="0"/>
          <a:ext cx="0" cy="0"/>
          <a:chOff x="0" y="0"/>
          <a:chExt cx="0" cy="0"/>
        </a:xfrm>
      </p:grpSpPr>
      <p:sp>
        <p:nvSpPr>
          <p:cNvPr id="17" name="Text Placeholder 2">
            <a:extLst>
              <a:ext uri="{FF2B5EF4-FFF2-40B4-BE49-F238E27FC236}">
                <a16:creationId xmlns:a16="http://schemas.microsoft.com/office/drawing/2014/main" id="{B9942BA5-A23C-1FEC-4B7F-32197AD1106C}"/>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18" name="Rectángulo 17">
            <a:extLst>
              <a:ext uri="{FF2B5EF4-FFF2-40B4-BE49-F238E27FC236}">
                <a16:creationId xmlns:a16="http://schemas.microsoft.com/office/drawing/2014/main" id="{4CCFD9FD-ED41-CC39-C729-82B321987D41}"/>
              </a:ext>
            </a:extLst>
          </p:cNvPr>
          <p:cNvSpPr/>
          <p:nvPr/>
        </p:nvSpPr>
        <p:spPr>
          <a:xfrm>
            <a:off x="857336" y="2116247"/>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algn="ctr">
              <a:spcAft>
                <a:spcPts val="600"/>
              </a:spcAft>
              <a:defRPr/>
            </a:pPr>
            <a:r>
              <a:rPr lang="en-US" sz="1400" kern="0">
                <a:solidFill>
                  <a:srgbClr val="DEEDF1">
                    <a:lumMod val="25000"/>
                  </a:srgbClr>
                </a:solidFill>
                <a:latin typeface="Santander Text"/>
              </a:rPr>
              <a:t>KYC case manager</a:t>
            </a:r>
          </a:p>
        </p:txBody>
      </p:sp>
      <p:sp>
        <p:nvSpPr>
          <p:cNvPr id="21" name="CuadroTexto 20">
            <a:extLst>
              <a:ext uri="{FF2B5EF4-FFF2-40B4-BE49-F238E27FC236}">
                <a16:creationId xmlns:a16="http://schemas.microsoft.com/office/drawing/2014/main" id="{B2E316EE-3B47-79E8-4355-2DD872A5A5A6}"/>
              </a:ext>
            </a:extLst>
          </p:cNvPr>
          <p:cNvSpPr txBox="1"/>
          <p:nvPr/>
        </p:nvSpPr>
        <p:spPr>
          <a:xfrm>
            <a:off x="711024" y="1577293"/>
            <a:ext cx="5111998" cy="338554"/>
          </a:xfrm>
          <a:prstGeom prst="rect">
            <a:avLst/>
          </a:prstGeom>
          <a:noFill/>
        </p:spPr>
        <p:txBody>
          <a:bodyPr wrap="square" rtlCol="0">
            <a:spAutoFit/>
          </a:bodyPr>
          <a:lstStyle/>
          <a:p>
            <a:pPr marL="355600" marR="0" lvl="0" indent="-355600" algn="l" defTabSz="914400" rtl="0" eaLnBrk="1" fontAlgn="auto" latinLnBrk="0" hangingPunct="1">
              <a:lnSpc>
                <a:spcPct val="100000"/>
              </a:lnSpc>
              <a:spcBef>
                <a:spcPts val="0"/>
              </a:spcBef>
              <a:spcAft>
                <a:spcPts val="300"/>
              </a:spcAft>
              <a:buClrTx/>
              <a:buSzTx/>
              <a:buFontTx/>
              <a:buNone/>
              <a:tabLst/>
              <a:defRPr/>
            </a:pPr>
            <a:r>
              <a:rPr kumimoji="0" lang="en-AU"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1 - </a:t>
            </a:r>
            <a:r>
              <a:rPr lang="en-GB" sz="1600" b="1" kern="0">
                <a:solidFill>
                  <a:srgbClr val="DEEDF1">
                    <a:lumMod val="25000"/>
                  </a:srgbClr>
                </a:solidFill>
                <a:latin typeface="Santander Text" panose="020B0504020201020104" pitchFamily="34" charset="0"/>
              </a:rPr>
              <a:t>KYC Management Services</a:t>
            </a:r>
          </a:p>
        </p:txBody>
      </p:sp>
      <p:cxnSp>
        <p:nvCxnSpPr>
          <p:cNvPr id="22" name="Conector recto 21">
            <a:extLst>
              <a:ext uri="{FF2B5EF4-FFF2-40B4-BE49-F238E27FC236}">
                <a16:creationId xmlns:a16="http://schemas.microsoft.com/office/drawing/2014/main" id="{B50EBA04-FFE5-1FA6-0215-7CC72577D9D5}"/>
              </a:ext>
            </a:extLst>
          </p:cNvPr>
          <p:cNvCxnSpPr>
            <a:cxnSpLocks/>
          </p:cNvCxnSpPr>
          <p:nvPr/>
        </p:nvCxnSpPr>
        <p:spPr>
          <a:xfrm flipH="1" flipV="1">
            <a:off x="765427" y="1959921"/>
            <a:ext cx="5112000" cy="0"/>
          </a:xfrm>
          <a:prstGeom prst="line">
            <a:avLst/>
          </a:prstGeom>
          <a:noFill/>
          <a:ln w="12700" cap="flat" cmpd="sng" algn="ctr">
            <a:solidFill>
              <a:srgbClr val="595959"/>
            </a:solidFill>
            <a:prstDash val="solid"/>
            <a:miter lim="800000"/>
          </a:ln>
          <a:effectLst/>
        </p:spPr>
      </p:cxnSp>
      <p:sp>
        <p:nvSpPr>
          <p:cNvPr id="32" name="CuadroTexto 31">
            <a:extLst>
              <a:ext uri="{FF2B5EF4-FFF2-40B4-BE49-F238E27FC236}">
                <a16:creationId xmlns:a16="http://schemas.microsoft.com/office/drawing/2014/main" id="{AA2BC1AD-1392-449F-253C-B8B4A2A82AD6}"/>
              </a:ext>
            </a:extLst>
          </p:cNvPr>
          <p:cNvSpPr txBox="1"/>
          <p:nvPr/>
        </p:nvSpPr>
        <p:spPr>
          <a:xfrm>
            <a:off x="6122225" y="1577293"/>
            <a:ext cx="5832136" cy="907941"/>
          </a:xfrm>
          <a:prstGeom prst="rect">
            <a:avLst/>
          </a:prstGeom>
          <a:noFill/>
        </p:spPr>
        <p:txBody>
          <a:bodyPr wrap="square" rtlCol="0">
            <a:spAutoFit/>
          </a:bodyPr>
          <a:lstStyle/>
          <a:p>
            <a:pPr marL="355600" indent="-355600">
              <a:spcAft>
                <a:spcPts val="300"/>
              </a:spcAft>
              <a:defRPr/>
            </a:pPr>
            <a:r>
              <a:rPr kumimoji="0" lang="en-AU"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2 – </a:t>
            </a:r>
            <a:r>
              <a:rPr lang="es-ES" sz="1600" b="1" kern="0" err="1">
                <a:solidFill>
                  <a:srgbClr val="DEEDF1">
                    <a:lumMod val="25000"/>
                  </a:srgbClr>
                </a:solidFill>
                <a:latin typeface="Santander Text" panose="020B0504020201020104" pitchFamily="34" charset="0"/>
              </a:rPr>
              <a:t>Compliance</a:t>
            </a:r>
            <a:r>
              <a:rPr lang="es-ES" sz="1600" b="1" kern="0">
                <a:solidFill>
                  <a:srgbClr val="DEEDF1">
                    <a:lumMod val="25000"/>
                  </a:srgbClr>
                </a:solidFill>
                <a:latin typeface="Santander Text" panose="020B0504020201020104" pitchFamily="34" charset="0"/>
              </a:rPr>
              <a:t> Management Services </a:t>
            </a:r>
            <a:endParaRPr lang="en-GB" sz="1600" b="1" kern="0">
              <a:solidFill>
                <a:srgbClr val="DEEDF1">
                  <a:lumMod val="25000"/>
                </a:srgbClr>
              </a:solidFill>
              <a:latin typeface="Santander Text" panose="020B0504020201020104" pitchFamily="34" charset="0"/>
            </a:endParaRPr>
          </a:p>
          <a:p>
            <a:pPr marL="355600" indent="-355600">
              <a:spcAft>
                <a:spcPts val="300"/>
              </a:spcAft>
              <a:defRPr/>
            </a:pPr>
            <a:endParaRPr lang="en-GB" sz="1600" b="1">
              <a:solidFill>
                <a:srgbClr val="DEEDF1">
                  <a:lumMod val="25000"/>
                </a:srgbClr>
              </a:solidFill>
              <a:latin typeface="Santander Text" panose="020B0504020201020104" pitchFamily="34" charset="0"/>
            </a:endParaRPr>
          </a:p>
          <a:p>
            <a:pPr marL="355600" marR="0" lvl="0" indent="-355600" algn="l" defTabSz="914400" rtl="0" eaLnBrk="1" fontAlgn="auto" latinLnBrk="0" hangingPunct="1">
              <a:lnSpc>
                <a:spcPct val="100000"/>
              </a:lnSpc>
              <a:spcBef>
                <a:spcPts val="0"/>
              </a:spcBef>
              <a:spcAft>
                <a:spcPts val="300"/>
              </a:spcAft>
              <a:buClrTx/>
              <a:buSzTx/>
              <a:buFontTx/>
              <a:buNone/>
              <a:tabLst/>
              <a:defRPr/>
            </a:pPr>
            <a:endParaRPr kumimoji="0" lang="en-AU"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endParaRPr>
          </a:p>
        </p:txBody>
      </p:sp>
      <p:cxnSp>
        <p:nvCxnSpPr>
          <p:cNvPr id="33" name="Conector recto 32">
            <a:extLst>
              <a:ext uri="{FF2B5EF4-FFF2-40B4-BE49-F238E27FC236}">
                <a16:creationId xmlns:a16="http://schemas.microsoft.com/office/drawing/2014/main" id="{53BCF126-CD05-03C3-9FCB-8AA3D73EEF7A}"/>
              </a:ext>
            </a:extLst>
          </p:cNvPr>
          <p:cNvCxnSpPr>
            <a:cxnSpLocks/>
          </p:cNvCxnSpPr>
          <p:nvPr/>
        </p:nvCxnSpPr>
        <p:spPr>
          <a:xfrm flipH="1">
            <a:off x="6141761" y="1959921"/>
            <a:ext cx="5580833" cy="0"/>
          </a:xfrm>
          <a:prstGeom prst="line">
            <a:avLst/>
          </a:prstGeom>
          <a:noFill/>
          <a:ln w="12700" cap="flat" cmpd="sng" algn="ctr">
            <a:solidFill>
              <a:srgbClr val="595959"/>
            </a:solidFill>
            <a:prstDash val="solid"/>
            <a:miter lim="800000"/>
          </a:ln>
          <a:effectLst/>
        </p:spPr>
      </p:cxnSp>
      <p:cxnSp>
        <p:nvCxnSpPr>
          <p:cNvPr id="35" name="Conector recto 34">
            <a:extLst>
              <a:ext uri="{FF2B5EF4-FFF2-40B4-BE49-F238E27FC236}">
                <a16:creationId xmlns:a16="http://schemas.microsoft.com/office/drawing/2014/main" id="{C71FEEDF-9EB3-F9A3-E25B-335BC1E5D672}"/>
              </a:ext>
            </a:extLst>
          </p:cNvPr>
          <p:cNvCxnSpPr>
            <a:cxnSpLocks/>
          </p:cNvCxnSpPr>
          <p:nvPr/>
        </p:nvCxnSpPr>
        <p:spPr>
          <a:xfrm flipH="1">
            <a:off x="6158993" y="2855449"/>
            <a:ext cx="5563601" cy="0"/>
          </a:xfrm>
          <a:prstGeom prst="line">
            <a:avLst/>
          </a:prstGeom>
          <a:noFill/>
          <a:ln w="12700" cap="flat" cmpd="sng" algn="ctr">
            <a:solidFill>
              <a:schemeClr val="bg1">
                <a:lumMod val="85000"/>
              </a:schemeClr>
            </a:solidFill>
            <a:prstDash val="solid"/>
            <a:miter lim="800000"/>
          </a:ln>
          <a:effectLst/>
        </p:spPr>
      </p:cxnSp>
      <p:sp>
        <p:nvSpPr>
          <p:cNvPr id="42" name="Rectángulo 41">
            <a:extLst>
              <a:ext uri="{FF2B5EF4-FFF2-40B4-BE49-F238E27FC236}">
                <a16:creationId xmlns:a16="http://schemas.microsoft.com/office/drawing/2014/main" id="{6BDC1050-3718-C699-A5FD-AF5FAC8BBA75}"/>
              </a:ext>
            </a:extLst>
          </p:cNvPr>
          <p:cNvSpPr/>
          <p:nvPr/>
        </p:nvSpPr>
        <p:spPr>
          <a:xfrm>
            <a:off x="6265716" y="2110465"/>
            <a:ext cx="1440000" cy="540000"/>
          </a:xfrm>
          <a:prstGeom prst="rect">
            <a:avLst/>
          </a:prstGeom>
          <a:noFill/>
          <a:ln w="12700" cap="flat" cmpd="sng" algn="ctr">
            <a:solidFill>
              <a:schemeClr val="bg1">
                <a:lumMod val="50000"/>
              </a:schemeClr>
            </a:solidFill>
            <a:prstDash val="solid"/>
            <a:miter lim="800000"/>
          </a:ln>
          <a:effectLst/>
        </p:spPr>
        <p:txBody>
          <a:bodyPr lIns="72000" rIns="72000" rtlCol="0" anchor="ctr"/>
          <a:lstStyle/>
          <a:p>
            <a:pPr algn="ctr"/>
            <a:r>
              <a:rPr lang="en-GB" sz="1400" kern="0">
                <a:solidFill>
                  <a:srgbClr val="DEEDF1">
                    <a:lumMod val="25000"/>
                  </a:srgbClr>
                </a:solidFill>
                <a:latin typeface="Santander Text" panose="020B0504020201020104" pitchFamily="34" charset="0"/>
              </a:rPr>
              <a:t>360 Client Monitoring</a:t>
            </a:r>
          </a:p>
        </p:txBody>
      </p:sp>
      <p:sp>
        <p:nvSpPr>
          <p:cNvPr id="46" name="CuadroTexto 45">
            <a:extLst>
              <a:ext uri="{FF2B5EF4-FFF2-40B4-BE49-F238E27FC236}">
                <a16:creationId xmlns:a16="http://schemas.microsoft.com/office/drawing/2014/main" id="{A7D05376-A399-C256-3984-0E8F15BEAED8}"/>
              </a:ext>
            </a:extLst>
          </p:cNvPr>
          <p:cNvSpPr txBox="1"/>
          <p:nvPr/>
        </p:nvSpPr>
        <p:spPr>
          <a:xfrm>
            <a:off x="2358457" y="2117363"/>
            <a:ext cx="3355759" cy="707886"/>
          </a:xfrm>
          <a:prstGeom prst="rect">
            <a:avLst/>
          </a:prstGeom>
          <a:noFill/>
        </p:spPr>
        <p:txBody>
          <a:bodyPr wrap="square">
            <a:spAutoFit/>
          </a:bodyPr>
          <a:lstStyle/>
          <a:p>
            <a:pPr marL="180000" indent="-180000" algn="just">
              <a:buClr>
                <a:srgbClr val="FF0000"/>
              </a:buClr>
              <a:buFont typeface="Wingdings" panose="05000000000000000000" pitchFamily="2" charset="2"/>
              <a:buChar char="§"/>
              <a:defRPr/>
            </a:pPr>
            <a:r>
              <a:rPr lang="en-US" sz="1000" b="0" i="0" u="none" strike="noStrike">
                <a:solidFill>
                  <a:srgbClr val="000000"/>
                </a:solidFill>
                <a:effectLst/>
                <a:latin typeface="Aptos Narrow" panose="020B0004020202020204" pitchFamily="34" charset="0"/>
              </a:rPr>
              <a:t>Strategic internal tool developed to manage and orchestrate a wide range of Client Lifecycle Management (CLM) processes, such as New to Bank, New to Branch, Refresh and Product On-boarding.</a:t>
            </a:r>
            <a:endParaRPr lang="es-ES" sz="1000">
              <a:solidFill>
                <a:prstClr val="black"/>
              </a:solidFill>
              <a:latin typeface="Santander Text" panose="020B0504020201020104" pitchFamily="34" charset="0"/>
            </a:endParaRPr>
          </a:p>
        </p:txBody>
      </p:sp>
      <p:cxnSp>
        <p:nvCxnSpPr>
          <p:cNvPr id="47" name="Conector recto 46">
            <a:extLst>
              <a:ext uri="{FF2B5EF4-FFF2-40B4-BE49-F238E27FC236}">
                <a16:creationId xmlns:a16="http://schemas.microsoft.com/office/drawing/2014/main" id="{CA184A51-0F41-4890-9D74-08D61DD1DBA6}"/>
              </a:ext>
            </a:extLst>
          </p:cNvPr>
          <p:cNvCxnSpPr>
            <a:cxnSpLocks/>
          </p:cNvCxnSpPr>
          <p:nvPr/>
        </p:nvCxnSpPr>
        <p:spPr>
          <a:xfrm flipH="1" flipV="1">
            <a:off x="711024" y="4682924"/>
            <a:ext cx="5112000" cy="0"/>
          </a:xfrm>
          <a:prstGeom prst="line">
            <a:avLst/>
          </a:prstGeom>
          <a:noFill/>
          <a:ln w="12700" cap="flat" cmpd="sng" algn="ctr">
            <a:solidFill>
              <a:schemeClr val="bg1">
                <a:lumMod val="85000"/>
              </a:schemeClr>
            </a:solidFill>
            <a:prstDash val="solid"/>
            <a:miter lim="800000"/>
          </a:ln>
          <a:effectLst/>
        </p:spPr>
      </p:cxnSp>
      <p:sp>
        <p:nvSpPr>
          <p:cNvPr id="55" name="CuadroTexto 54">
            <a:extLst>
              <a:ext uri="{FF2B5EF4-FFF2-40B4-BE49-F238E27FC236}">
                <a16:creationId xmlns:a16="http://schemas.microsoft.com/office/drawing/2014/main" id="{80308A1E-A834-5B2E-362E-46E99813E496}"/>
              </a:ext>
            </a:extLst>
          </p:cNvPr>
          <p:cNvSpPr txBox="1"/>
          <p:nvPr/>
        </p:nvSpPr>
        <p:spPr>
          <a:xfrm>
            <a:off x="7757127" y="2125680"/>
            <a:ext cx="3965467" cy="553998"/>
          </a:xfrm>
          <a:prstGeom prst="rect">
            <a:avLst/>
          </a:prstGeom>
          <a:noFill/>
        </p:spPr>
        <p:txBody>
          <a:bodyPr wrap="square">
            <a:spAutoFit/>
          </a:bodyPr>
          <a:lstStyle/>
          <a:p>
            <a:pPr marL="180000" marR="0" lvl="1" indent="-180000" algn="just"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lang="en-US" sz="1000" b="0" i="0" u="none" strike="noStrike">
                <a:solidFill>
                  <a:prstClr val="black"/>
                </a:solidFill>
                <a:effectLst/>
                <a:latin typeface="Santander Text" panose="020B0504020201020104" pitchFamily="34" charset="0"/>
              </a:rPr>
              <a:t>G</a:t>
            </a:r>
            <a:r>
              <a:rPr lang="en-US" sz="1000" b="0" i="0" u="none" strike="noStrike">
                <a:solidFill>
                  <a:srgbClr val="000000"/>
                </a:solidFill>
                <a:effectLst/>
                <a:latin typeface="Aptos Narrow" panose="020B0004020202020204" pitchFamily="34" charset="0"/>
              </a:rPr>
              <a:t>lobal solution for the identification and management of Transaction Monitoring alerts, consisting of an investigation center and case manager</a:t>
            </a:r>
            <a:endParaRPr lang="en-US" sz="1000">
              <a:solidFill>
                <a:prstClr val="black"/>
              </a:solidFill>
              <a:latin typeface="Santander Text" panose="020B0504020201020104" pitchFamily="34" charset="0"/>
            </a:endParaRPr>
          </a:p>
        </p:txBody>
      </p:sp>
      <p:sp>
        <p:nvSpPr>
          <p:cNvPr id="8" name="Título 1">
            <a:extLst>
              <a:ext uri="{FF2B5EF4-FFF2-40B4-BE49-F238E27FC236}">
                <a16:creationId xmlns:a16="http://schemas.microsoft.com/office/drawing/2014/main" id="{F7F88DF3-B301-993F-3AD9-2F7A1E256C57}"/>
              </a:ext>
            </a:extLst>
          </p:cNvPr>
          <p:cNvSpPr txBox="1">
            <a:spLocks/>
          </p:cNvSpPr>
          <p:nvPr/>
        </p:nvSpPr>
        <p:spPr>
          <a:xfrm>
            <a:off x="711024" y="623339"/>
            <a:ext cx="12079001" cy="836992"/>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lang="en-US" sz="2800" b="1" kern="1200" dirty="0">
                <a:solidFill>
                  <a:schemeClr val="accent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s-ES" sz="2400" b="1" i="0" u="none" strike="noStrike" kern="1200" cap="none" spc="0" normalizeH="0" baseline="0" noProof="0">
                <a:ln>
                  <a:noFill/>
                </a:ln>
                <a:solidFill>
                  <a:srgbClr val="EC0000"/>
                </a:solidFill>
                <a:effectLst/>
                <a:uLnTx/>
                <a:uFillTx/>
                <a:latin typeface="Santander Headline"/>
                <a:ea typeface="+mj-ea"/>
                <a:cs typeface="+mj-cs"/>
              </a:rPr>
              <a:t>SCIB. </a:t>
            </a:r>
            <a:r>
              <a:rPr kumimoji="0" lang="es-ES" sz="2400" b="1" i="0" u="none" strike="noStrike" kern="1200" cap="none" spc="0" normalizeH="0" baseline="0" noProof="0" err="1">
                <a:ln>
                  <a:noFill/>
                </a:ln>
                <a:solidFill>
                  <a:schemeClr val="bg2">
                    <a:lumMod val="75000"/>
                  </a:schemeClr>
                </a:solidFill>
                <a:effectLst/>
                <a:uLnTx/>
                <a:uFillTx/>
                <a:latin typeface="Santander Headline"/>
                <a:ea typeface="+mj-ea"/>
                <a:cs typeface="+mj-cs"/>
              </a:rPr>
              <a:t>Wholesale</a:t>
            </a:r>
            <a:r>
              <a:rPr kumimoji="0" lang="es-ES" sz="2400" b="1" i="0" u="none" strike="noStrike" kern="1200" cap="none" spc="0" normalizeH="0" baseline="0" noProof="0">
                <a:ln>
                  <a:noFill/>
                </a:ln>
                <a:solidFill>
                  <a:schemeClr val="bg2">
                    <a:lumMod val="75000"/>
                  </a:schemeClr>
                </a:solidFill>
                <a:effectLst/>
                <a:uLnTx/>
                <a:uFillTx/>
                <a:latin typeface="Santander Headline"/>
                <a:ea typeface="+mj-ea"/>
                <a:cs typeface="+mj-cs"/>
              </a:rPr>
              <a:t> </a:t>
            </a:r>
            <a:r>
              <a:rPr kumimoji="0" lang="es-ES" sz="2400" b="1" i="0" u="none" strike="noStrike" kern="1200" cap="none" spc="0" normalizeH="0" baseline="0" noProof="0" err="1">
                <a:ln>
                  <a:noFill/>
                </a:ln>
                <a:solidFill>
                  <a:schemeClr val="bg2">
                    <a:lumMod val="75000"/>
                  </a:schemeClr>
                </a:solidFill>
                <a:effectLst/>
                <a:uLnTx/>
                <a:uFillTx/>
                <a:latin typeface="Santander Headline"/>
                <a:ea typeface="+mj-ea"/>
                <a:cs typeface="+mj-cs"/>
              </a:rPr>
              <a:t>Operations,KYC,Credit&amp;Market</a:t>
            </a:r>
            <a:r>
              <a:rPr kumimoji="0" lang="es-ES" sz="2400" b="1" i="0" u="none" strike="noStrike" kern="1200" cap="none" spc="0" normalizeH="0" baseline="0" noProof="0">
                <a:ln>
                  <a:noFill/>
                </a:ln>
                <a:solidFill>
                  <a:schemeClr val="bg2">
                    <a:lumMod val="75000"/>
                  </a:schemeClr>
                </a:solidFill>
                <a:effectLst/>
                <a:uLnTx/>
                <a:uFillTx/>
                <a:latin typeface="Santander Headline"/>
                <a:ea typeface="+mj-ea"/>
                <a:cs typeface="+mj-cs"/>
              </a:rPr>
              <a:t> </a:t>
            </a:r>
            <a:r>
              <a:rPr kumimoji="0" lang="es-ES" sz="2400" b="1" i="0" u="none" strike="noStrike" kern="1200" cap="none" spc="0" normalizeH="0" baseline="0" noProof="0" err="1">
                <a:ln>
                  <a:noFill/>
                </a:ln>
                <a:solidFill>
                  <a:schemeClr val="bg2">
                    <a:lumMod val="75000"/>
                  </a:schemeClr>
                </a:solidFill>
                <a:effectLst/>
                <a:uLnTx/>
                <a:uFillTx/>
                <a:latin typeface="Santander Headline"/>
                <a:ea typeface="+mj-ea"/>
                <a:cs typeface="+mj-cs"/>
              </a:rPr>
              <a:t>Risk</a:t>
            </a:r>
            <a:r>
              <a:rPr kumimoji="0" lang="es-ES" sz="2400" b="1" i="0" u="none" strike="noStrike" kern="1200" cap="none" spc="0" normalizeH="0" baseline="0" noProof="0">
                <a:ln>
                  <a:noFill/>
                </a:ln>
                <a:solidFill>
                  <a:schemeClr val="bg2">
                    <a:lumMod val="75000"/>
                  </a:schemeClr>
                </a:solidFill>
                <a:effectLst/>
                <a:uLnTx/>
                <a:uFillTx/>
                <a:latin typeface="Santander Headline"/>
                <a:ea typeface="+mj-ea"/>
                <a:cs typeface="+mj-cs"/>
              </a:rPr>
              <a:t>, </a:t>
            </a:r>
            <a:r>
              <a:rPr kumimoji="0" lang="es-ES" sz="2400" b="1" i="0" u="none" strike="noStrike" kern="1200" cap="none" spc="0" normalizeH="0" baseline="0" noProof="0" err="1">
                <a:ln>
                  <a:noFill/>
                </a:ln>
                <a:solidFill>
                  <a:schemeClr val="bg2">
                    <a:lumMod val="75000"/>
                  </a:schemeClr>
                </a:solidFill>
                <a:effectLst/>
                <a:uLnTx/>
                <a:uFillTx/>
                <a:latin typeface="Santander Headline"/>
                <a:ea typeface="+mj-ea"/>
                <a:cs typeface="+mj-cs"/>
              </a:rPr>
              <a:t>Reg</a:t>
            </a:r>
            <a:r>
              <a:rPr kumimoji="0" lang="es-ES" sz="2400" b="1" i="0" u="none" strike="noStrike" kern="1200" cap="none" spc="0" normalizeH="0" baseline="0" noProof="0">
                <a:ln>
                  <a:noFill/>
                </a:ln>
                <a:solidFill>
                  <a:schemeClr val="bg2">
                    <a:lumMod val="75000"/>
                  </a:schemeClr>
                </a:solidFill>
                <a:effectLst/>
                <a:uLnTx/>
                <a:uFillTx/>
                <a:latin typeface="Santander Headline"/>
                <a:ea typeface="+mj-ea"/>
                <a:cs typeface="+mj-cs"/>
              </a:rPr>
              <a:t> Reporting, </a:t>
            </a:r>
            <a:r>
              <a:rPr kumimoji="0" lang="es-ES" sz="2400" b="1" i="0" u="none" strike="noStrike" kern="1200" cap="none" spc="0" normalizeH="0" baseline="0" noProof="0" err="1">
                <a:ln>
                  <a:noFill/>
                </a:ln>
                <a:solidFill>
                  <a:schemeClr val="bg2">
                    <a:lumMod val="75000"/>
                  </a:schemeClr>
                </a:solidFill>
                <a:effectLst/>
                <a:uLnTx/>
                <a:uFillTx/>
                <a:latin typeface="Santander Headline"/>
                <a:ea typeface="+mj-ea"/>
                <a:cs typeface="+mj-cs"/>
              </a:rPr>
              <a:t>Transac</a:t>
            </a:r>
            <a:r>
              <a:rPr kumimoji="0" lang="es-ES" sz="2400" b="1" i="0" u="none" strike="noStrike" kern="1200" cap="none" spc="0" normalizeH="0" baseline="0" noProof="0">
                <a:ln>
                  <a:noFill/>
                </a:ln>
                <a:solidFill>
                  <a:schemeClr val="bg2">
                    <a:lumMod val="75000"/>
                  </a:schemeClr>
                </a:solidFill>
                <a:effectLst/>
                <a:uLnTx/>
                <a:uFillTx/>
                <a:latin typeface="Santander Headline"/>
                <a:ea typeface="+mj-ea"/>
                <a:cs typeface="+mj-cs"/>
              </a:rPr>
              <a:t> </a:t>
            </a:r>
            <a:r>
              <a:rPr kumimoji="0" lang="es-ES" sz="2400" b="1" i="0" u="none" strike="noStrike" kern="1200" cap="none" spc="0" normalizeH="0" baseline="0" noProof="0" err="1">
                <a:ln>
                  <a:noFill/>
                </a:ln>
                <a:solidFill>
                  <a:schemeClr val="bg2">
                    <a:lumMod val="75000"/>
                  </a:schemeClr>
                </a:solidFill>
                <a:effectLst/>
                <a:uLnTx/>
                <a:uFillTx/>
                <a:latin typeface="Santander Headline"/>
                <a:ea typeface="+mj-ea"/>
                <a:cs typeface="+mj-cs"/>
              </a:rPr>
              <a:t>Monitoring</a:t>
            </a:r>
            <a:endParaRPr kumimoji="0" lang="en-AU" sz="2400" b="1" i="0" u="none" strike="noStrike" kern="1200" cap="none" spc="0" normalizeH="0" baseline="0" noProof="0">
              <a:ln>
                <a:noFill/>
              </a:ln>
              <a:solidFill>
                <a:srgbClr val="BFBFBF"/>
              </a:solidFill>
              <a:effectLst/>
              <a:uLnTx/>
              <a:uFillTx/>
              <a:latin typeface="Santander Headline"/>
              <a:ea typeface="+mj-ea"/>
              <a:cs typeface="+mj-cs"/>
            </a:endParaRPr>
          </a:p>
        </p:txBody>
      </p:sp>
      <p:sp>
        <p:nvSpPr>
          <p:cNvPr id="16" name="Rectángulo 41">
            <a:extLst>
              <a:ext uri="{FF2B5EF4-FFF2-40B4-BE49-F238E27FC236}">
                <a16:creationId xmlns:a16="http://schemas.microsoft.com/office/drawing/2014/main" id="{CF4E8AD4-4563-F1D6-8222-6A62E9E48D1A}"/>
              </a:ext>
            </a:extLst>
          </p:cNvPr>
          <p:cNvSpPr/>
          <p:nvPr/>
        </p:nvSpPr>
        <p:spPr>
          <a:xfrm>
            <a:off x="6265716" y="3884930"/>
            <a:ext cx="1440000" cy="540000"/>
          </a:xfrm>
          <a:prstGeom prst="rect">
            <a:avLst/>
          </a:prstGeom>
          <a:noFill/>
          <a:ln w="12700" cap="flat" cmpd="sng" algn="ctr">
            <a:solidFill>
              <a:schemeClr val="bg1">
                <a:lumMod val="50000"/>
              </a:schemeClr>
            </a:solidFill>
            <a:prstDash val="solid"/>
            <a:miter lim="800000"/>
          </a:ln>
          <a:effectLst/>
        </p:spPr>
        <p:txBody>
          <a:bodyPr lIns="72000" rIns="72000" rtlCol="0" anchor="ctr"/>
          <a:lstStyle/>
          <a:p>
            <a:pPr algn="ctr"/>
            <a:r>
              <a:rPr lang="en-GB" sz="1400" kern="0" err="1">
                <a:solidFill>
                  <a:srgbClr val="DEEDF1">
                    <a:lumMod val="25000"/>
                  </a:srgbClr>
                </a:solidFill>
                <a:latin typeface="Santander Text" panose="020B0504020201020104" pitchFamily="34" charset="0"/>
              </a:rPr>
              <a:t>Fenergo</a:t>
            </a:r>
            <a:endParaRPr lang="en-GB" sz="1400" kern="0">
              <a:solidFill>
                <a:srgbClr val="DEEDF1">
                  <a:lumMod val="25000"/>
                </a:srgbClr>
              </a:solidFill>
              <a:latin typeface="Santander Text" panose="020B0504020201020104" pitchFamily="34" charset="0"/>
            </a:endParaRPr>
          </a:p>
        </p:txBody>
      </p:sp>
      <p:sp>
        <p:nvSpPr>
          <p:cNvPr id="25" name="CuadroTexto 54">
            <a:extLst>
              <a:ext uri="{FF2B5EF4-FFF2-40B4-BE49-F238E27FC236}">
                <a16:creationId xmlns:a16="http://schemas.microsoft.com/office/drawing/2014/main" id="{469404DF-D584-E09C-FFA0-E58B00BC2700}"/>
              </a:ext>
            </a:extLst>
          </p:cNvPr>
          <p:cNvSpPr txBox="1"/>
          <p:nvPr/>
        </p:nvSpPr>
        <p:spPr>
          <a:xfrm>
            <a:off x="7716564" y="3902131"/>
            <a:ext cx="4006030" cy="707886"/>
          </a:xfrm>
          <a:prstGeom prst="rect">
            <a:avLst/>
          </a:prstGeom>
          <a:noFill/>
        </p:spPr>
        <p:txBody>
          <a:bodyPr wrap="square">
            <a:spAutoFit/>
          </a:bodyPr>
          <a:lstStyle/>
          <a:p>
            <a:pPr marL="180000" lvl="1" indent="-180000" algn="just">
              <a:buClr>
                <a:srgbClr val="FF0000"/>
              </a:buClr>
              <a:buFont typeface="Wingdings" panose="05000000000000000000" pitchFamily="2" charset="2"/>
              <a:buChar char="§"/>
              <a:defRPr/>
            </a:pPr>
            <a:r>
              <a:rPr lang="en-US" sz="1000" b="0" i="0" u="none" strike="noStrike">
                <a:solidFill>
                  <a:srgbClr val="000000"/>
                </a:solidFill>
                <a:effectLst/>
                <a:latin typeface="Aptos Narrow" panose="020B0004020202020204" pitchFamily="34" charset="0"/>
              </a:rPr>
              <a:t>Global tool for anti-money laundering risk management and KYC execution in the onboarding and refresh process for Santander Bank clients.</a:t>
            </a:r>
            <a:r>
              <a:rPr lang="en-US" sz="1000"/>
              <a:t> </a:t>
            </a:r>
            <a:endParaRPr lang="es-ES" sz="1000"/>
          </a:p>
          <a:p>
            <a:pPr marL="180000" marR="0" lvl="1" indent="-180000" algn="just"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endParaRPr kumimoji="0" lang="en-US" sz="10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endParaRPr>
          </a:p>
        </p:txBody>
      </p:sp>
      <p:sp>
        <p:nvSpPr>
          <p:cNvPr id="4" name="Rectángulo 3">
            <a:extLst>
              <a:ext uri="{FF2B5EF4-FFF2-40B4-BE49-F238E27FC236}">
                <a16:creationId xmlns:a16="http://schemas.microsoft.com/office/drawing/2014/main" id="{50DAB1F8-BA1F-ACEA-0086-5B6FA59EDFA6}"/>
              </a:ext>
            </a:extLst>
          </p:cNvPr>
          <p:cNvSpPr/>
          <p:nvPr/>
        </p:nvSpPr>
        <p:spPr>
          <a:xfrm>
            <a:off x="6265716" y="3043472"/>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algn="ctr"/>
            <a:r>
              <a:rPr lang="en-GB" sz="1400" kern="0">
                <a:solidFill>
                  <a:srgbClr val="DEEDF1">
                    <a:lumMod val="25000"/>
                  </a:srgbClr>
                </a:solidFill>
                <a:latin typeface="Santander Text" panose="020B0504020201020104" pitchFamily="34" charset="0"/>
              </a:rPr>
              <a:t>Communications Surveillance</a:t>
            </a:r>
          </a:p>
        </p:txBody>
      </p:sp>
      <p:sp>
        <p:nvSpPr>
          <p:cNvPr id="5" name="CuadroTexto 4">
            <a:extLst>
              <a:ext uri="{FF2B5EF4-FFF2-40B4-BE49-F238E27FC236}">
                <a16:creationId xmlns:a16="http://schemas.microsoft.com/office/drawing/2014/main" id="{0300F8E4-620E-28D2-CB3E-B51769DC9F78}"/>
              </a:ext>
            </a:extLst>
          </p:cNvPr>
          <p:cNvSpPr txBox="1"/>
          <p:nvPr/>
        </p:nvSpPr>
        <p:spPr>
          <a:xfrm>
            <a:off x="7757127" y="3104433"/>
            <a:ext cx="3965467" cy="616162"/>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just">
              <a:lnSpc>
                <a:spcPct val="107000"/>
              </a:lnSpc>
              <a:spcAft>
                <a:spcPts val="800"/>
              </a:spcAft>
              <a:buFont typeface="Wingdings" panose="05000000000000000000" pitchFamily="2" charset="2"/>
              <a:buChar char="§"/>
            </a:pPr>
            <a:r>
              <a:rPr lang="en-US" sz="1000" b="0" i="0" u="none" strike="noStrike">
                <a:solidFill>
                  <a:srgbClr val="000000"/>
                </a:solidFill>
                <a:effectLst/>
                <a:latin typeface="Aptos Narrow" panose="020B0004020202020204" pitchFamily="34" charset="0"/>
              </a:rPr>
              <a:t>Solution for the generation of market abuse alerts.  </a:t>
            </a:r>
            <a:endParaRPr lang="es-ES" sz="1000">
              <a:solidFill>
                <a:prstClr val="black"/>
              </a:solidFill>
              <a:latin typeface="Santander Text" panose="020B0504020201020104" pitchFamily="34" charset="0"/>
            </a:endParaRPr>
          </a:p>
        </p:txBody>
      </p:sp>
      <p:cxnSp>
        <p:nvCxnSpPr>
          <p:cNvPr id="3" name="Conector recto 2">
            <a:extLst>
              <a:ext uri="{FF2B5EF4-FFF2-40B4-BE49-F238E27FC236}">
                <a16:creationId xmlns:a16="http://schemas.microsoft.com/office/drawing/2014/main" id="{90403789-3884-A7B7-02AD-188CC27171C3}"/>
              </a:ext>
            </a:extLst>
          </p:cNvPr>
          <p:cNvCxnSpPr>
            <a:cxnSpLocks/>
          </p:cNvCxnSpPr>
          <p:nvPr/>
        </p:nvCxnSpPr>
        <p:spPr>
          <a:xfrm flipH="1">
            <a:off x="6183799" y="3720595"/>
            <a:ext cx="5538795" cy="5691"/>
          </a:xfrm>
          <a:prstGeom prst="line">
            <a:avLst/>
          </a:prstGeom>
          <a:noFill/>
          <a:ln w="12700" cap="flat" cmpd="sng" algn="ctr">
            <a:solidFill>
              <a:schemeClr val="bg1">
                <a:lumMod val="85000"/>
              </a:schemeClr>
            </a:solidFill>
            <a:prstDash val="solid"/>
            <a:miter lim="800000"/>
          </a:ln>
          <a:effectLst/>
        </p:spPr>
      </p:cxnSp>
      <p:cxnSp>
        <p:nvCxnSpPr>
          <p:cNvPr id="7" name="Conector recto 6">
            <a:extLst>
              <a:ext uri="{FF2B5EF4-FFF2-40B4-BE49-F238E27FC236}">
                <a16:creationId xmlns:a16="http://schemas.microsoft.com/office/drawing/2014/main" id="{CABE6913-F5DA-824B-2C5C-FD7C49D55E33}"/>
              </a:ext>
            </a:extLst>
          </p:cNvPr>
          <p:cNvCxnSpPr>
            <a:cxnSpLocks/>
          </p:cNvCxnSpPr>
          <p:nvPr/>
        </p:nvCxnSpPr>
        <p:spPr>
          <a:xfrm flipH="1">
            <a:off x="6183799" y="4664643"/>
            <a:ext cx="5600369" cy="0"/>
          </a:xfrm>
          <a:prstGeom prst="line">
            <a:avLst/>
          </a:prstGeom>
          <a:noFill/>
          <a:ln w="12700" cap="flat" cmpd="sng" algn="ctr">
            <a:solidFill>
              <a:schemeClr val="bg1">
                <a:lumMod val="85000"/>
              </a:schemeClr>
            </a:solidFill>
            <a:prstDash val="solid"/>
            <a:miter lim="800000"/>
          </a:ln>
          <a:effectLst/>
        </p:spPr>
      </p:cxnSp>
      <p:cxnSp>
        <p:nvCxnSpPr>
          <p:cNvPr id="9" name="Conector recto 8">
            <a:extLst>
              <a:ext uri="{FF2B5EF4-FFF2-40B4-BE49-F238E27FC236}">
                <a16:creationId xmlns:a16="http://schemas.microsoft.com/office/drawing/2014/main" id="{C5796FED-A389-EE76-1C7B-55B0C811EEA3}"/>
              </a:ext>
            </a:extLst>
          </p:cNvPr>
          <p:cNvCxnSpPr>
            <a:cxnSpLocks/>
          </p:cNvCxnSpPr>
          <p:nvPr/>
        </p:nvCxnSpPr>
        <p:spPr>
          <a:xfrm flipH="1">
            <a:off x="6187171" y="5625988"/>
            <a:ext cx="5563601" cy="4286"/>
          </a:xfrm>
          <a:prstGeom prst="line">
            <a:avLst/>
          </a:prstGeom>
          <a:noFill/>
          <a:ln w="12700" cap="flat" cmpd="sng" algn="ctr">
            <a:solidFill>
              <a:schemeClr val="bg1">
                <a:lumMod val="85000"/>
              </a:schemeClr>
            </a:solidFill>
            <a:prstDash val="solid"/>
            <a:miter lim="800000"/>
          </a:ln>
          <a:effectLst/>
        </p:spPr>
      </p:cxnSp>
      <p:sp>
        <p:nvSpPr>
          <p:cNvPr id="14" name="Rectángulo 41">
            <a:extLst>
              <a:ext uri="{FF2B5EF4-FFF2-40B4-BE49-F238E27FC236}">
                <a16:creationId xmlns:a16="http://schemas.microsoft.com/office/drawing/2014/main" id="{196167DD-463E-159F-EDE0-3B94A2479E35}"/>
              </a:ext>
            </a:extLst>
          </p:cNvPr>
          <p:cNvSpPr/>
          <p:nvPr/>
        </p:nvSpPr>
        <p:spPr>
          <a:xfrm>
            <a:off x="6265716" y="4811421"/>
            <a:ext cx="1440000" cy="540000"/>
          </a:xfrm>
          <a:prstGeom prst="rect">
            <a:avLst/>
          </a:prstGeom>
          <a:noFill/>
          <a:ln w="12700" cap="flat" cmpd="sng" algn="ctr">
            <a:solidFill>
              <a:schemeClr val="bg1">
                <a:lumMod val="50000"/>
              </a:schemeClr>
            </a:solidFill>
            <a:prstDash val="solid"/>
            <a:miter lim="800000"/>
          </a:ln>
          <a:effectLst/>
        </p:spPr>
        <p:txBody>
          <a:bodyPr lIns="72000" rIns="72000" rtlCol="0" anchor="ctr"/>
          <a:lstStyle/>
          <a:p>
            <a:pPr algn="ctr"/>
            <a:r>
              <a:rPr lang="en-GB" sz="1400" kern="0" err="1">
                <a:solidFill>
                  <a:srgbClr val="DEEDF1">
                    <a:lumMod val="25000"/>
                  </a:srgbClr>
                </a:solidFill>
                <a:latin typeface="Santander Text" panose="020B0504020201020104" pitchFamily="34" charset="0"/>
              </a:rPr>
              <a:t>Thetaray</a:t>
            </a:r>
            <a:endParaRPr lang="en-GB" sz="1400" kern="0">
              <a:solidFill>
                <a:srgbClr val="DEEDF1">
                  <a:lumMod val="25000"/>
                </a:srgbClr>
              </a:solidFill>
              <a:latin typeface="Santander Text" panose="020B0504020201020104" pitchFamily="34" charset="0"/>
            </a:endParaRPr>
          </a:p>
        </p:txBody>
      </p:sp>
      <p:sp>
        <p:nvSpPr>
          <p:cNvPr id="23" name="CuadroTexto 22">
            <a:extLst>
              <a:ext uri="{FF2B5EF4-FFF2-40B4-BE49-F238E27FC236}">
                <a16:creationId xmlns:a16="http://schemas.microsoft.com/office/drawing/2014/main" id="{4646E65B-98BD-7AEF-B632-7B89FAB636CD}"/>
              </a:ext>
            </a:extLst>
          </p:cNvPr>
          <p:cNvSpPr txBox="1"/>
          <p:nvPr/>
        </p:nvSpPr>
        <p:spPr>
          <a:xfrm>
            <a:off x="7804387" y="4752106"/>
            <a:ext cx="3918207" cy="861774"/>
          </a:xfrm>
          <a:prstGeom prst="rect">
            <a:avLst/>
          </a:prstGeom>
          <a:noFill/>
        </p:spPr>
        <p:txBody>
          <a:bodyPr wrap="square">
            <a:spAutoFit/>
          </a:bodyPr>
          <a:lstStyle/>
          <a:p>
            <a:pPr marL="171450" indent="-171450" algn="just">
              <a:buClr>
                <a:srgbClr val="FF0000"/>
              </a:buClr>
              <a:buFont typeface="Wingdings" panose="05000000000000000000" pitchFamily="2" charset="2"/>
              <a:buChar char="§"/>
            </a:pPr>
            <a:r>
              <a:rPr lang="en-US" sz="1000" b="0" i="0" u="none" strike="noStrike">
                <a:solidFill>
                  <a:srgbClr val="000000"/>
                </a:solidFill>
                <a:effectLst/>
                <a:latin typeface="Aptos Narrow" panose="020B0004020202020204" pitchFamily="34" charset="0"/>
              </a:rPr>
              <a:t>Transaction monitoring case manager and investigation center aimed at identifying suspicious activity related to Anti-Money Laundering (AML) for SCIB, generating AML alerts on the monthly Correspondent Banking operations.</a:t>
            </a:r>
            <a:endParaRPr lang="es-ES" sz="1000"/>
          </a:p>
          <a:p>
            <a:pPr marL="171450" indent="-171450" algn="just">
              <a:buClr>
                <a:srgbClr val="FF0000"/>
              </a:buClr>
              <a:buFont typeface="Wingdings" panose="05000000000000000000" pitchFamily="2" charset="2"/>
              <a:buChar char="§"/>
            </a:pPr>
            <a:endParaRPr lang="es-ES" sz="1000">
              <a:solidFill>
                <a:prstClr val="black"/>
              </a:solidFill>
              <a:latin typeface="Santander Text" panose="020B0504020201020104" pitchFamily="34" charset="0"/>
            </a:endParaRPr>
          </a:p>
        </p:txBody>
      </p:sp>
      <p:sp>
        <p:nvSpPr>
          <p:cNvPr id="19" name="Rectángulo 41">
            <a:extLst>
              <a:ext uri="{FF2B5EF4-FFF2-40B4-BE49-F238E27FC236}">
                <a16:creationId xmlns:a16="http://schemas.microsoft.com/office/drawing/2014/main" id="{EBFC0750-E188-7B93-0B06-0B4098BD39E7}"/>
              </a:ext>
            </a:extLst>
          </p:cNvPr>
          <p:cNvSpPr/>
          <p:nvPr/>
        </p:nvSpPr>
        <p:spPr>
          <a:xfrm>
            <a:off x="765427" y="3864012"/>
            <a:ext cx="1440000" cy="540000"/>
          </a:xfrm>
          <a:prstGeom prst="rect">
            <a:avLst/>
          </a:prstGeom>
          <a:noFill/>
          <a:ln w="12700" cap="flat" cmpd="sng" algn="ctr">
            <a:solidFill>
              <a:schemeClr val="bg1">
                <a:lumMod val="50000"/>
              </a:schemeClr>
            </a:solidFill>
            <a:prstDash val="solid"/>
            <a:miter lim="800000"/>
          </a:ln>
          <a:effectLst/>
        </p:spPr>
        <p:txBody>
          <a:bodyPr lIns="72000" rIns="72000" rtlCol="0" anchor="ctr"/>
          <a:lstStyle/>
          <a:p>
            <a:pPr algn="ctr">
              <a:spcAft>
                <a:spcPts val="600"/>
              </a:spcAft>
            </a:pPr>
            <a:r>
              <a:rPr lang="en-US" sz="1400" kern="0" err="1">
                <a:solidFill>
                  <a:srgbClr val="DEEDF1">
                    <a:lumMod val="25000"/>
                  </a:srgbClr>
                </a:solidFill>
                <a:latin typeface="Santander Text"/>
              </a:rPr>
              <a:t>Gestión</a:t>
            </a:r>
            <a:r>
              <a:rPr lang="en-US" sz="1400" kern="0">
                <a:solidFill>
                  <a:srgbClr val="DEEDF1">
                    <a:lumMod val="25000"/>
                  </a:srgbClr>
                </a:solidFill>
                <a:latin typeface="Santander Text"/>
              </a:rPr>
              <a:t> </a:t>
            </a:r>
            <a:r>
              <a:rPr lang="en-US" sz="1400" kern="0" err="1">
                <a:solidFill>
                  <a:srgbClr val="DEEDF1">
                    <a:lumMod val="25000"/>
                  </a:srgbClr>
                </a:solidFill>
                <a:latin typeface="Santander Text"/>
              </a:rPr>
              <a:t>Liquidez</a:t>
            </a:r>
            <a:r>
              <a:rPr lang="en-US" sz="1400" kern="0">
                <a:solidFill>
                  <a:srgbClr val="DEEDF1">
                    <a:lumMod val="25000"/>
                  </a:srgbClr>
                </a:solidFill>
                <a:latin typeface="Santander Text"/>
              </a:rPr>
              <a:t> Medusa</a:t>
            </a:r>
          </a:p>
        </p:txBody>
      </p:sp>
      <p:sp>
        <p:nvSpPr>
          <p:cNvPr id="20" name="CuadroTexto 19">
            <a:extLst>
              <a:ext uri="{FF2B5EF4-FFF2-40B4-BE49-F238E27FC236}">
                <a16:creationId xmlns:a16="http://schemas.microsoft.com/office/drawing/2014/main" id="{1E8E7FC9-3EE0-48FB-0F82-6E32FA9203E8}"/>
              </a:ext>
            </a:extLst>
          </p:cNvPr>
          <p:cNvSpPr txBox="1"/>
          <p:nvPr/>
        </p:nvSpPr>
        <p:spPr>
          <a:xfrm>
            <a:off x="2291977" y="3863236"/>
            <a:ext cx="3422240" cy="707886"/>
          </a:xfrm>
          <a:prstGeom prst="rect">
            <a:avLst/>
          </a:prstGeom>
          <a:noFill/>
        </p:spPr>
        <p:txBody>
          <a:bodyPr wrap="square">
            <a:spAutoFit/>
          </a:bodyPr>
          <a:lstStyle/>
          <a:p>
            <a:pPr marL="171450" indent="-171450" algn="just">
              <a:buClr>
                <a:srgbClr val="FF0000"/>
              </a:buClr>
              <a:buFont typeface="Wingdings" panose="05000000000000000000" pitchFamily="2" charset="2"/>
              <a:buChar char="§"/>
            </a:pPr>
            <a:r>
              <a:rPr lang="en-US" sz="1000">
                <a:solidFill>
                  <a:srgbClr val="000000"/>
                </a:solidFill>
                <a:latin typeface="Aptos Narrow" panose="020B0004020202020204" pitchFamily="34" charset="0"/>
              </a:rPr>
              <a:t>G</a:t>
            </a:r>
            <a:r>
              <a:rPr lang="en-US" sz="1000" b="0" i="0" u="none" strike="noStrike">
                <a:solidFill>
                  <a:srgbClr val="000000"/>
                </a:solidFill>
                <a:effectLst/>
                <a:latin typeface="Aptos Narrow" panose="020B0004020202020204" pitchFamily="34" charset="0"/>
              </a:rPr>
              <a:t>lobal tool for managing CASH Positions, reconciliation at account level, between payment and collection forecasts sent by BO applications and information received from SWIFT.</a:t>
            </a:r>
            <a:endParaRPr lang="es-ES" sz="1000">
              <a:solidFill>
                <a:prstClr val="black"/>
              </a:solidFill>
              <a:latin typeface="Santander Text" panose="020B0504020201020104" pitchFamily="34" charset="0"/>
            </a:endParaRPr>
          </a:p>
        </p:txBody>
      </p:sp>
      <p:sp>
        <p:nvSpPr>
          <p:cNvPr id="10" name="CuadroTexto 9">
            <a:extLst>
              <a:ext uri="{FF2B5EF4-FFF2-40B4-BE49-F238E27FC236}">
                <a16:creationId xmlns:a16="http://schemas.microsoft.com/office/drawing/2014/main" id="{8A370AD8-7A55-EF53-0567-909382738B8F}"/>
              </a:ext>
            </a:extLst>
          </p:cNvPr>
          <p:cNvSpPr txBox="1"/>
          <p:nvPr/>
        </p:nvSpPr>
        <p:spPr>
          <a:xfrm>
            <a:off x="656619" y="3083914"/>
            <a:ext cx="6508142" cy="338554"/>
          </a:xfrm>
          <a:prstGeom prst="rect">
            <a:avLst/>
          </a:prstGeom>
          <a:noFill/>
        </p:spPr>
        <p:txBody>
          <a:bodyPr wrap="square">
            <a:spAutoFit/>
          </a:bodyPr>
          <a:lstStyle/>
          <a:p>
            <a:pPr marL="355600" indent="-355600">
              <a:spcAft>
                <a:spcPts val="300"/>
              </a:spcAft>
              <a:defRPr/>
            </a:pPr>
            <a:r>
              <a:rPr lang="en-GB" sz="1600" b="1" kern="0">
                <a:solidFill>
                  <a:srgbClr val="DEEDF1">
                    <a:lumMod val="25000"/>
                  </a:srgbClr>
                </a:solidFill>
                <a:latin typeface="Santander Text" panose="020B0504020201020104" pitchFamily="34" charset="0"/>
              </a:rPr>
              <a:t>3 - Liquidity Risk Management Services</a:t>
            </a:r>
            <a:endParaRPr lang="es-ES" sz="1600" b="1" kern="0">
              <a:solidFill>
                <a:srgbClr val="DEEDF1">
                  <a:lumMod val="25000"/>
                </a:srgbClr>
              </a:solidFill>
              <a:latin typeface="Santander Text" panose="020B0504020201020104" pitchFamily="34" charset="0"/>
            </a:endParaRPr>
          </a:p>
        </p:txBody>
      </p:sp>
      <p:cxnSp>
        <p:nvCxnSpPr>
          <p:cNvPr id="24" name="Conector recto 23">
            <a:extLst>
              <a:ext uri="{FF2B5EF4-FFF2-40B4-BE49-F238E27FC236}">
                <a16:creationId xmlns:a16="http://schemas.microsoft.com/office/drawing/2014/main" id="{11DE25B3-B8A1-EDE5-7DD9-2ACFBB88632A}"/>
              </a:ext>
            </a:extLst>
          </p:cNvPr>
          <p:cNvCxnSpPr>
            <a:cxnSpLocks/>
          </p:cNvCxnSpPr>
          <p:nvPr/>
        </p:nvCxnSpPr>
        <p:spPr>
          <a:xfrm flipH="1" flipV="1">
            <a:off x="737249" y="3545247"/>
            <a:ext cx="5112000" cy="0"/>
          </a:xfrm>
          <a:prstGeom prst="line">
            <a:avLst/>
          </a:prstGeom>
          <a:noFill/>
          <a:ln w="12700" cap="flat" cmpd="sng" algn="ctr">
            <a:solidFill>
              <a:srgbClr val="595959"/>
            </a:solidFill>
            <a:prstDash val="solid"/>
            <a:miter lim="800000"/>
          </a:ln>
          <a:effectLst/>
        </p:spPr>
      </p:cxnSp>
      <p:cxnSp>
        <p:nvCxnSpPr>
          <p:cNvPr id="54" name="Conector recto 53">
            <a:extLst>
              <a:ext uri="{FF2B5EF4-FFF2-40B4-BE49-F238E27FC236}">
                <a16:creationId xmlns:a16="http://schemas.microsoft.com/office/drawing/2014/main" id="{401D5B4F-4A6C-8D5D-6746-E5DC2A228E11}"/>
              </a:ext>
            </a:extLst>
          </p:cNvPr>
          <p:cNvCxnSpPr>
            <a:cxnSpLocks/>
          </p:cNvCxnSpPr>
          <p:nvPr/>
        </p:nvCxnSpPr>
        <p:spPr>
          <a:xfrm flipH="1">
            <a:off x="754610" y="2855449"/>
            <a:ext cx="5122817" cy="0"/>
          </a:xfrm>
          <a:prstGeom prst="line">
            <a:avLst/>
          </a:prstGeom>
          <a:noFill/>
          <a:ln w="12700" cap="flat" cmpd="sng" algn="ctr">
            <a:solidFill>
              <a:schemeClr val="bg1">
                <a:lumMod val="85000"/>
              </a:schemeClr>
            </a:solidFill>
            <a:prstDash val="solid"/>
            <a:miter lim="800000"/>
          </a:ln>
          <a:effectLst/>
        </p:spPr>
      </p:cxnSp>
    </p:spTree>
    <p:extLst>
      <p:ext uri="{BB962C8B-B14F-4D97-AF65-F5344CB8AC3E}">
        <p14:creationId xmlns:p14="http://schemas.microsoft.com/office/powerpoint/2010/main" val="23238848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E68F7-F806-2272-540B-87FD60A31960}"/>
            </a:ext>
          </a:extLst>
        </p:cNvPr>
        <p:cNvGrpSpPr/>
        <p:nvPr/>
      </p:nvGrpSpPr>
      <p:grpSpPr>
        <a:xfrm>
          <a:off x="0" y="0"/>
          <a:ext cx="0" cy="0"/>
          <a:chOff x="0" y="0"/>
          <a:chExt cx="0" cy="0"/>
        </a:xfrm>
      </p:grpSpPr>
      <p:sp>
        <p:nvSpPr>
          <p:cNvPr id="17" name="Text Placeholder 2">
            <a:extLst>
              <a:ext uri="{FF2B5EF4-FFF2-40B4-BE49-F238E27FC236}">
                <a16:creationId xmlns:a16="http://schemas.microsoft.com/office/drawing/2014/main" id="{CE02AB60-4AB5-E827-0855-BB265A5C20B7}"/>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8" name="Título 1">
            <a:extLst>
              <a:ext uri="{FF2B5EF4-FFF2-40B4-BE49-F238E27FC236}">
                <a16:creationId xmlns:a16="http://schemas.microsoft.com/office/drawing/2014/main" id="{71C6C90E-28EA-0424-C979-C649CEDA1908}"/>
              </a:ext>
            </a:extLst>
          </p:cNvPr>
          <p:cNvSpPr txBox="1">
            <a:spLocks/>
          </p:cNvSpPr>
          <p:nvPr/>
        </p:nvSpPr>
        <p:spPr>
          <a:xfrm>
            <a:off x="711024" y="623339"/>
            <a:ext cx="12079001" cy="836992"/>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lang="en-US" sz="2800" b="1" kern="1200" dirty="0">
                <a:solidFill>
                  <a:schemeClr val="accent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s-ES" sz="2400" b="1" i="0" u="none" strike="noStrike" kern="1200" cap="none" spc="0" normalizeH="0" baseline="0" noProof="0">
                <a:ln>
                  <a:noFill/>
                </a:ln>
                <a:solidFill>
                  <a:srgbClr val="EC0000"/>
                </a:solidFill>
                <a:effectLst/>
                <a:uLnTx/>
                <a:uFillTx/>
                <a:latin typeface="Santander Headline"/>
                <a:ea typeface="+mj-ea"/>
                <a:cs typeface="+mj-cs"/>
              </a:rPr>
              <a:t>SCIB. </a:t>
            </a:r>
            <a:r>
              <a:rPr kumimoji="0" lang="es-ES" sz="2400" b="1" i="0" u="none" strike="noStrike" kern="1200" cap="none" spc="0" normalizeH="0" baseline="0" noProof="0" err="1">
                <a:ln>
                  <a:noFill/>
                </a:ln>
                <a:solidFill>
                  <a:schemeClr val="bg2">
                    <a:lumMod val="75000"/>
                  </a:schemeClr>
                </a:solidFill>
                <a:effectLst/>
                <a:uLnTx/>
                <a:uFillTx/>
                <a:latin typeface="Santander Headline"/>
                <a:ea typeface="+mj-ea"/>
                <a:cs typeface="+mj-cs"/>
              </a:rPr>
              <a:t>Wholesale</a:t>
            </a:r>
            <a:r>
              <a:rPr kumimoji="0" lang="es-ES" sz="2400" b="1" i="0" u="none" strike="noStrike" kern="1200" cap="none" spc="0" normalizeH="0" baseline="0" noProof="0">
                <a:ln>
                  <a:noFill/>
                </a:ln>
                <a:solidFill>
                  <a:schemeClr val="bg2">
                    <a:lumMod val="75000"/>
                  </a:schemeClr>
                </a:solidFill>
                <a:effectLst/>
                <a:uLnTx/>
                <a:uFillTx/>
                <a:latin typeface="Santander Headline"/>
                <a:ea typeface="+mj-ea"/>
                <a:cs typeface="+mj-cs"/>
              </a:rPr>
              <a:t> </a:t>
            </a:r>
            <a:r>
              <a:rPr kumimoji="0" lang="es-ES" sz="2400" b="1" i="0" u="none" strike="noStrike" kern="1200" cap="none" spc="0" normalizeH="0" baseline="0" noProof="0" err="1">
                <a:ln>
                  <a:noFill/>
                </a:ln>
                <a:solidFill>
                  <a:schemeClr val="bg2">
                    <a:lumMod val="75000"/>
                  </a:schemeClr>
                </a:solidFill>
                <a:effectLst/>
                <a:uLnTx/>
                <a:uFillTx/>
                <a:latin typeface="Santander Headline"/>
                <a:ea typeface="+mj-ea"/>
                <a:cs typeface="+mj-cs"/>
              </a:rPr>
              <a:t>Operations,KYC,Credit&amp;Market</a:t>
            </a:r>
            <a:r>
              <a:rPr kumimoji="0" lang="es-ES" sz="2400" b="1" i="0" u="none" strike="noStrike" kern="1200" cap="none" spc="0" normalizeH="0" baseline="0" noProof="0">
                <a:ln>
                  <a:noFill/>
                </a:ln>
                <a:solidFill>
                  <a:schemeClr val="bg2">
                    <a:lumMod val="75000"/>
                  </a:schemeClr>
                </a:solidFill>
                <a:effectLst/>
                <a:uLnTx/>
                <a:uFillTx/>
                <a:latin typeface="Santander Headline"/>
                <a:ea typeface="+mj-ea"/>
                <a:cs typeface="+mj-cs"/>
              </a:rPr>
              <a:t> </a:t>
            </a:r>
            <a:r>
              <a:rPr kumimoji="0" lang="es-ES" sz="2400" b="1" i="0" u="none" strike="noStrike" kern="1200" cap="none" spc="0" normalizeH="0" baseline="0" noProof="0" err="1">
                <a:ln>
                  <a:noFill/>
                </a:ln>
                <a:solidFill>
                  <a:schemeClr val="bg2">
                    <a:lumMod val="75000"/>
                  </a:schemeClr>
                </a:solidFill>
                <a:effectLst/>
                <a:uLnTx/>
                <a:uFillTx/>
                <a:latin typeface="Santander Headline"/>
                <a:ea typeface="+mj-ea"/>
                <a:cs typeface="+mj-cs"/>
              </a:rPr>
              <a:t>Risk</a:t>
            </a:r>
            <a:r>
              <a:rPr kumimoji="0" lang="es-ES" sz="2400" b="1" i="0" u="none" strike="noStrike" kern="1200" cap="none" spc="0" normalizeH="0" baseline="0" noProof="0">
                <a:ln>
                  <a:noFill/>
                </a:ln>
                <a:solidFill>
                  <a:schemeClr val="bg2">
                    <a:lumMod val="75000"/>
                  </a:schemeClr>
                </a:solidFill>
                <a:effectLst/>
                <a:uLnTx/>
                <a:uFillTx/>
                <a:latin typeface="Santander Headline"/>
                <a:ea typeface="+mj-ea"/>
                <a:cs typeface="+mj-cs"/>
              </a:rPr>
              <a:t>, </a:t>
            </a:r>
            <a:r>
              <a:rPr kumimoji="0" lang="es-ES" sz="2400" b="1" i="0" u="none" strike="noStrike" kern="1200" cap="none" spc="0" normalizeH="0" baseline="0" noProof="0" err="1">
                <a:ln>
                  <a:noFill/>
                </a:ln>
                <a:solidFill>
                  <a:schemeClr val="bg2">
                    <a:lumMod val="75000"/>
                  </a:schemeClr>
                </a:solidFill>
                <a:effectLst/>
                <a:uLnTx/>
                <a:uFillTx/>
                <a:latin typeface="Santander Headline"/>
                <a:ea typeface="+mj-ea"/>
                <a:cs typeface="+mj-cs"/>
              </a:rPr>
              <a:t>Reg</a:t>
            </a:r>
            <a:r>
              <a:rPr kumimoji="0" lang="es-ES" sz="2400" b="1" i="0" u="none" strike="noStrike" kern="1200" cap="none" spc="0" normalizeH="0" baseline="0" noProof="0">
                <a:ln>
                  <a:noFill/>
                </a:ln>
                <a:solidFill>
                  <a:schemeClr val="bg2">
                    <a:lumMod val="75000"/>
                  </a:schemeClr>
                </a:solidFill>
                <a:effectLst/>
                <a:uLnTx/>
                <a:uFillTx/>
                <a:latin typeface="Santander Headline"/>
                <a:ea typeface="+mj-ea"/>
                <a:cs typeface="+mj-cs"/>
              </a:rPr>
              <a:t> Reporting, </a:t>
            </a:r>
            <a:r>
              <a:rPr kumimoji="0" lang="es-ES" sz="2400" b="1" i="0" u="none" strike="noStrike" kern="1200" cap="none" spc="0" normalizeH="0" baseline="0" noProof="0" err="1">
                <a:ln>
                  <a:noFill/>
                </a:ln>
                <a:solidFill>
                  <a:schemeClr val="bg2">
                    <a:lumMod val="75000"/>
                  </a:schemeClr>
                </a:solidFill>
                <a:effectLst/>
                <a:uLnTx/>
                <a:uFillTx/>
                <a:latin typeface="Santander Headline"/>
                <a:ea typeface="+mj-ea"/>
                <a:cs typeface="+mj-cs"/>
              </a:rPr>
              <a:t>Transac</a:t>
            </a:r>
            <a:r>
              <a:rPr kumimoji="0" lang="es-ES" sz="2400" b="1" i="0" u="none" strike="noStrike" kern="1200" cap="none" spc="0" normalizeH="0" baseline="0" noProof="0">
                <a:ln>
                  <a:noFill/>
                </a:ln>
                <a:solidFill>
                  <a:schemeClr val="bg2">
                    <a:lumMod val="75000"/>
                  </a:schemeClr>
                </a:solidFill>
                <a:effectLst/>
                <a:uLnTx/>
                <a:uFillTx/>
                <a:latin typeface="Santander Headline"/>
                <a:ea typeface="+mj-ea"/>
                <a:cs typeface="+mj-cs"/>
              </a:rPr>
              <a:t> </a:t>
            </a:r>
            <a:r>
              <a:rPr kumimoji="0" lang="es-ES" sz="2400" b="1" i="0" u="none" strike="noStrike" kern="1200" cap="none" spc="0" normalizeH="0" baseline="0" noProof="0" err="1">
                <a:ln>
                  <a:noFill/>
                </a:ln>
                <a:solidFill>
                  <a:schemeClr val="bg2">
                    <a:lumMod val="75000"/>
                  </a:schemeClr>
                </a:solidFill>
                <a:effectLst/>
                <a:uLnTx/>
                <a:uFillTx/>
                <a:latin typeface="Santander Headline"/>
                <a:ea typeface="+mj-ea"/>
                <a:cs typeface="+mj-cs"/>
              </a:rPr>
              <a:t>Monitoring</a:t>
            </a:r>
            <a:endParaRPr kumimoji="0" lang="en-AU" sz="2400" b="1" i="0" u="none" strike="noStrike" kern="1200" cap="none" spc="0" normalizeH="0" baseline="0" noProof="0">
              <a:ln>
                <a:noFill/>
              </a:ln>
              <a:solidFill>
                <a:srgbClr val="BFBFBF"/>
              </a:solidFill>
              <a:effectLst/>
              <a:uLnTx/>
              <a:uFillTx/>
              <a:latin typeface="Santander Headline"/>
              <a:ea typeface="+mj-ea"/>
              <a:cs typeface="+mj-cs"/>
            </a:endParaRPr>
          </a:p>
        </p:txBody>
      </p:sp>
      <p:sp>
        <p:nvSpPr>
          <p:cNvPr id="2" name="Rectángulo 1">
            <a:extLst>
              <a:ext uri="{FF2B5EF4-FFF2-40B4-BE49-F238E27FC236}">
                <a16:creationId xmlns:a16="http://schemas.microsoft.com/office/drawing/2014/main" id="{15E2C675-E2BD-3C48-D486-6DF8B03733A9}"/>
              </a:ext>
            </a:extLst>
          </p:cNvPr>
          <p:cNvSpPr/>
          <p:nvPr/>
        </p:nvSpPr>
        <p:spPr>
          <a:xfrm>
            <a:off x="831113" y="1730873"/>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algn="ctr"/>
            <a:r>
              <a:rPr lang="en-GB" sz="1400" kern="0" err="1">
                <a:solidFill>
                  <a:srgbClr val="DEEDF1">
                    <a:lumMod val="25000"/>
                  </a:srgbClr>
                </a:solidFill>
                <a:latin typeface="Santander Text" panose="020B0504020201020104" pitchFamily="34" charset="0"/>
              </a:rPr>
              <a:t>AquaPlus</a:t>
            </a:r>
            <a:endParaRPr lang="en-GB" sz="1400" kern="0">
              <a:solidFill>
                <a:srgbClr val="DEEDF1">
                  <a:lumMod val="25000"/>
                </a:srgbClr>
              </a:solidFill>
              <a:latin typeface="Santander Text" panose="020B0504020201020104" pitchFamily="34" charset="0"/>
            </a:endParaRPr>
          </a:p>
        </p:txBody>
      </p:sp>
      <p:sp>
        <p:nvSpPr>
          <p:cNvPr id="6" name="CuadroTexto 5">
            <a:extLst>
              <a:ext uri="{FF2B5EF4-FFF2-40B4-BE49-F238E27FC236}">
                <a16:creationId xmlns:a16="http://schemas.microsoft.com/office/drawing/2014/main" id="{C14DAF5E-DBDB-0690-4FD6-513F8958DA8C}"/>
              </a:ext>
            </a:extLst>
          </p:cNvPr>
          <p:cNvSpPr txBox="1"/>
          <p:nvPr/>
        </p:nvSpPr>
        <p:spPr>
          <a:xfrm>
            <a:off x="684799" y="1128886"/>
            <a:ext cx="5111998" cy="338554"/>
          </a:xfrm>
          <a:prstGeom prst="rect">
            <a:avLst/>
          </a:prstGeom>
          <a:noFill/>
        </p:spPr>
        <p:txBody>
          <a:bodyPr wrap="square" rtlCol="0">
            <a:spAutoFit/>
          </a:bodyPr>
          <a:lstStyle/>
          <a:p>
            <a:pPr marL="355600" marR="0" lvl="0" indent="-355600" algn="l" defTabSz="914400" rtl="0" eaLnBrk="1" fontAlgn="auto" latinLnBrk="0" hangingPunct="1">
              <a:lnSpc>
                <a:spcPct val="100000"/>
              </a:lnSpc>
              <a:spcBef>
                <a:spcPts val="0"/>
              </a:spcBef>
              <a:spcAft>
                <a:spcPts val="300"/>
              </a:spcAft>
              <a:buClrTx/>
              <a:buSzTx/>
              <a:buFontTx/>
              <a:buNone/>
              <a:tabLst/>
              <a:defRPr/>
            </a:pPr>
            <a:r>
              <a:rPr kumimoji="0" lang="en-AU"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4 - </a:t>
            </a:r>
            <a:r>
              <a:rPr lang="en-GB" sz="1600" b="1">
                <a:solidFill>
                  <a:srgbClr val="DEEDF1">
                    <a:lumMod val="25000"/>
                  </a:srgbClr>
                </a:solidFill>
                <a:latin typeface="Santander Text" panose="020B0504020201020104" pitchFamily="34" charset="0"/>
              </a:rPr>
              <a:t>Credit &amp; Counter Party Risk Management Services</a:t>
            </a:r>
            <a:endParaRPr lang="en-GB" sz="1600" b="1" kern="0">
              <a:solidFill>
                <a:srgbClr val="DEEDF1">
                  <a:lumMod val="25000"/>
                </a:srgbClr>
              </a:solidFill>
              <a:latin typeface="Santander Text" panose="020B0504020201020104" pitchFamily="34" charset="0"/>
            </a:endParaRPr>
          </a:p>
        </p:txBody>
      </p:sp>
      <p:cxnSp>
        <p:nvCxnSpPr>
          <p:cNvPr id="11" name="Conector recto 10">
            <a:extLst>
              <a:ext uri="{FF2B5EF4-FFF2-40B4-BE49-F238E27FC236}">
                <a16:creationId xmlns:a16="http://schemas.microsoft.com/office/drawing/2014/main" id="{45D3C2A4-9FC8-585D-BAA1-308709952770}"/>
              </a:ext>
            </a:extLst>
          </p:cNvPr>
          <p:cNvCxnSpPr>
            <a:cxnSpLocks/>
          </p:cNvCxnSpPr>
          <p:nvPr/>
        </p:nvCxnSpPr>
        <p:spPr>
          <a:xfrm flipH="1">
            <a:off x="739202" y="1511514"/>
            <a:ext cx="11052582" cy="0"/>
          </a:xfrm>
          <a:prstGeom prst="line">
            <a:avLst/>
          </a:prstGeom>
          <a:noFill/>
          <a:ln w="12700" cap="flat" cmpd="sng" algn="ctr">
            <a:solidFill>
              <a:srgbClr val="595959"/>
            </a:solidFill>
            <a:prstDash val="solid"/>
            <a:miter lim="800000"/>
          </a:ln>
          <a:effectLst/>
        </p:spPr>
      </p:cxnSp>
      <p:cxnSp>
        <p:nvCxnSpPr>
          <p:cNvPr id="12" name="Conector recto 11">
            <a:extLst>
              <a:ext uri="{FF2B5EF4-FFF2-40B4-BE49-F238E27FC236}">
                <a16:creationId xmlns:a16="http://schemas.microsoft.com/office/drawing/2014/main" id="{4EE8EEC8-AF25-B61D-13B0-C14B8A6A3F0F}"/>
              </a:ext>
            </a:extLst>
          </p:cNvPr>
          <p:cNvCxnSpPr>
            <a:cxnSpLocks/>
          </p:cNvCxnSpPr>
          <p:nvPr/>
        </p:nvCxnSpPr>
        <p:spPr>
          <a:xfrm flipH="1">
            <a:off x="6164572" y="2453158"/>
            <a:ext cx="5659016" cy="0"/>
          </a:xfrm>
          <a:prstGeom prst="line">
            <a:avLst/>
          </a:prstGeom>
          <a:noFill/>
          <a:ln w="12700" cap="flat" cmpd="sng" algn="ctr">
            <a:solidFill>
              <a:schemeClr val="bg1">
                <a:lumMod val="85000"/>
              </a:schemeClr>
            </a:solidFill>
            <a:prstDash val="solid"/>
            <a:miter lim="800000"/>
          </a:ln>
          <a:effectLst/>
        </p:spPr>
      </p:cxnSp>
      <p:sp>
        <p:nvSpPr>
          <p:cNvPr id="13" name="Rectángulo 12">
            <a:extLst>
              <a:ext uri="{FF2B5EF4-FFF2-40B4-BE49-F238E27FC236}">
                <a16:creationId xmlns:a16="http://schemas.microsoft.com/office/drawing/2014/main" id="{DE1A49CA-68ED-5B08-AA97-F3C9CE0B8027}"/>
              </a:ext>
            </a:extLst>
          </p:cNvPr>
          <p:cNvSpPr/>
          <p:nvPr/>
        </p:nvSpPr>
        <p:spPr>
          <a:xfrm>
            <a:off x="6239491" y="1741544"/>
            <a:ext cx="1440000" cy="540000"/>
          </a:xfrm>
          <a:prstGeom prst="rect">
            <a:avLst/>
          </a:prstGeom>
          <a:noFill/>
          <a:ln w="12700" cap="flat" cmpd="sng" algn="ctr">
            <a:solidFill>
              <a:schemeClr val="bg1">
                <a:lumMod val="50000"/>
              </a:schemeClr>
            </a:solidFill>
            <a:prstDash val="solid"/>
            <a:miter lim="800000"/>
          </a:ln>
          <a:effectLst/>
        </p:spPr>
        <p:txBody>
          <a:bodyPr lIns="72000" rIns="72000" rtlCol="0" anchor="ctr"/>
          <a:lstStyle/>
          <a:p>
            <a:pPr algn="ctr"/>
            <a:r>
              <a:rPr lang="en-GB" sz="1400" kern="0">
                <a:solidFill>
                  <a:srgbClr val="DEEDF1">
                    <a:lumMod val="25000"/>
                  </a:srgbClr>
                </a:solidFill>
                <a:latin typeface="Santander Text" panose="020B0504020201020104" pitchFamily="34" charset="0"/>
              </a:rPr>
              <a:t>RORAC</a:t>
            </a:r>
          </a:p>
        </p:txBody>
      </p:sp>
      <p:sp>
        <p:nvSpPr>
          <p:cNvPr id="15" name="CuadroTexto 14">
            <a:extLst>
              <a:ext uri="{FF2B5EF4-FFF2-40B4-BE49-F238E27FC236}">
                <a16:creationId xmlns:a16="http://schemas.microsoft.com/office/drawing/2014/main" id="{A37FCC89-FC17-E571-0DA1-FEB2FD15D87C}"/>
              </a:ext>
            </a:extLst>
          </p:cNvPr>
          <p:cNvSpPr txBox="1"/>
          <p:nvPr/>
        </p:nvSpPr>
        <p:spPr>
          <a:xfrm>
            <a:off x="2349464" y="1701096"/>
            <a:ext cx="3501738" cy="707886"/>
          </a:xfrm>
          <a:prstGeom prst="rect">
            <a:avLst/>
          </a:prstGeom>
          <a:noFill/>
        </p:spPr>
        <p:txBody>
          <a:bodyPr wrap="square">
            <a:spAutoFit/>
          </a:bodyPr>
          <a:lstStyle/>
          <a:p>
            <a:pPr marL="180000" indent="-180000" algn="just">
              <a:buClr>
                <a:srgbClr val="FF0000"/>
              </a:buClr>
              <a:buFont typeface="Wingdings" panose="05000000000000000000" pitchFamily="2" charset="2"/>
              <a:buChar char="§"/>
              <a:defRPr/>
            </a:pPr>
            <a:r>
              <a:rPr lang="en-US" sz="1000" b="0" i="0" u="none" strike="noStrike">
                <a:solidFill>
                  <a:srgbClr val="000000"/>
                </a:solidFill>
                <a:effectLst/>
                <a:latin typeface="Aptos Narrow" panose="020B0004020202020204" pitchFamily="34" charset="0"/>
              </a:rPr>
              <a:t>Tool supporting the Internal Rating Calculation process for SCIB clients. Socioeconomic information and financial statements are managed for the analysis of the solvency situation of a financial entity, business group.</a:t>
            </a:r>
            <a:endParaRPr lang="es-ES" sz="1000">
              <a:solidFill>
                <a:prstClr val="black"/>
              </a:solidFill>
              <a:latin typeface="Santander Text" panose="020B0504020201020104" pitchFamily="34" charset="0"/>
            </a:endParaRPr>
          </a:p>
        </p:txBody>
      </p:sp>
      <p:sp>
        <p:nvSpPr>
          <p:cNvPr id="26" name="CuadroTexto 25">
            <a:extLst>
              <a:ext uri="{FF2B5EF4-FFF2-40B4-BE49-F238E27FC236}">
                <a16:creationId xmlns:a16="http://schemas.microsoft.com/office/drawing/2014/main" id="{53B8EA09-AD18-CCCF-0A30-0F2FBF96B74F}"/>
              </a:ext>
            </a:extLst>
          </p:cNvPr>
          <p:cNvSpPr txBox="1"/>
          <p:nvPr/>
        </p:nvSpPr>
        <p:spPr>
          <a:xfrm>
            <a:off x="7730902" y="1716875"/>
            <a:ext cx="3738855" cy="400110"/>
          </a:xfrm>
          <a:prstGeom prst="rect">
            <a:avLst/>
          </a:prstGeom>
          <a:noFill/>
        </p:spPr>
        <p:txBody>
          <a:bodyPr wrap="square">
            <a:spAutoFit/>
          </a:bodyPr>
          <a:lstStyle/>
          <a:p>
            <a:pPr marL="171450" indent="-171450" algn="just">
              <a:buClr>
                <a:srgbClr val="FF0000"/>
              </a:buClr>
              <a:buFont typeface="Wingdings" panose="05000000000000000000" pitchFamily="2" charset="2"/>
              <a:buChar char="§"/>
            </a:pPr>
            <a:r>
              <a:rPr lang="en-US" sz="1000" b="0" i="0" u="none" strike="noStrike">
                <a:solidFill>
                  <a:srgbClr val="000000"/>
                </a:solidFill>
                <a:effectLst/>
                <a:latin typeface="Aptos Narrow" panose="020B0004020202020204" pitchFamily="34" charset="0"/>
              </a:rPr>
              <a:t>Calculator for RORAC, RORWA, RWA. It serves </a:t>
            </a:r>
            <a:r>
              <a:rPr lang="en-US" sz="1000" b="0" i="0" u="none" strike="noStrike" err="1">
                <a:solidFill>
                  <a:srgbClr val="000000"/>
                </a:solidFill>
                <a:effectLst/>
                <a:latin typeface="Aptos Narrow" panose="020B0004020202020204" pitchFamily="34" charset="0"/>
              </a:rPr>
              <a:t>Nilo</a:t>
            </a:r>
            <a:r>
              <a:rPr lang="en-US" sz="1000" b="0" i="0" u="none" strike="noStrike">
                <a:solidFill>
                  <a:srgbClr val="000000"/>
                </a:solidFill>
                <a:effectLst/>
                <a:latin typeface="Aptos Narrow" panose="020B0004020202020204" pitchFamily="34" charset="0"/>
              </a:rPr>
              <a:t>, HGC/Alexandria and users of ACPM, credit risk, FSA and ARCO.</a:t>
            </a:r>
            <a:r>
              <a:rPr lang="en-US" sz="1000"/>
              <a:t> </a:t>
            </a:r>
            <a:endParaRPr lang="es-ES" sz="1000"/>
          </a:p>
        </p:txBody>
      </p:sp>
      <p:sp>
        <p:nvSpPr>
          <p:cNvPr id="27" name="Rectángulo 41">
            <a:extLst>
              <a:ext uri="{FF2B5EF4-FFF2-40B4-BE49-F238E27FC236}">
                <a16:creationId xmlns:a16="http://schemas.microsoft.com/office/drawing/2014/main" id="{0E2D9BB6-7FAB-27BC-4BE8-EC9FA28D16AE}"/>
              </a:ext>
            </a:extLst>
          </p:cNvPr>
          <p:cNvSpPr/>
          <p:nvPr/>
        </p:nvSpPr>
        <p:spPr>
          <a:xfrm>
            <a:off x="6239491" y="3496665"/>
            <a:ext cx="1440000" cy="540000"/>
          </a:xfrm>
          <a:prstGeom prst="rect">
            <a:avLst/>
          </a:prstGeom>
          <a:noFill/>
          <a:ln w="12700" cap="flat" cmpd="sng" algn="ctr">
            <a:solidFill>
              <a:schemeClr val="bg1">
                <a:lumMod val="50000"/>
              </a:schemeClr>
            </a:solidFill>
            <a:prstDash val="solid"/>
            <a:miter lim="800000"/>
          </a:ln>
          <a:effectLst/>
        </p:spPr>
        <p:txBody>
          <a:bodyPr lIns="72000" rIns="72000" rtlCol="0" anchor="ctr"/>
          <a:lstStyle/>
          <a:p>
            <a:pPr algn="ctr"/>
            <a:r>
              <a:rPr lang="en-GB" sz="1400" kern="0">
                <a:solidFill>
                  <a:srgbClr val="DEEDF1">
                    <a:lumMod val="25000"/>
                  </a:srgbClr>
                </a:solidFill>
                <a:latin typeface="Santander Text" panose="020B0504020201020104" pitchFamily="34" charset="0"/>
              </a:rPr>
              <a:t>SIMA CIB</a:t>
            </a:r>
          </a:p>
        </p:txBody>
      </p:sp>
      <p:sp>
        <p:nvSpPr>
          <p:cNvPr id="28" name="CuadroTexto 54">
            <a:extLst>
              <a:ext uri="{FF2B5EF4-FFF2-40B4-BE49-F238E27FC236}">
                <a16:creationId xmlns:a16="http://schemas.microsoft.com/office/drawing/2014/main" id="{61C36C71-1871-3C1E-FBFE-D74ABF639504}"/>
              </a:ext>
            </a:extLst>
          </p:cNvPr>
          <p:cNvSpPr txBox="1"/>
          <p:nvPr/>
        </p:nvSpPr>
        <p:spPr>
          <a:xfrm>
            <a:off x="7730902" y="3475579"/>
            <a:ext cx="3738855" cy="861774"/>
          </a:xfrm>
          <a:prstGeom prst="rect">
            <a:avLst/>
          </a:prstGeom>
          <a:noFill/>
        </p:spPr>
        <p:txBody>
          <a:bodyPr wrap="square">
            <a:spAutoFit/>
          </a:bodyPr>
          <a:lstStyle/>
          <a:p>
            <a:pPr marL="180000" lvl="1" indent="-180000" algn="just">
              <a:buClr>
                <a:srgbClr val="FF0000"/>
              </a:buClr>
              <a:buFont typeface="Wingdings" panose="05000000000000000000" pitchFamily="2" charset="2"/>
              <a:buChar char="§"/>
              <a:defRPr/>
            </a:pPr>
            <a:r>
              <a:rPr lang="en-US" sz="1000" b="0" i="0" u="none" strike="noStrike">
                <a:solidFill>
                  <a:srgbClr val="000000"/>
                </a:solidFill>
                <a:effectLst/>
                <a:latin typeface="Aptos Narrow" panose="020B0004020202020204" pitchFamily="34" charset="0"/>
              </a:rPr>
              <a:t>A centralized information repository gathering metrics and qualifying data from Credit systems. This tool preserves the strengths and synergies of the Global Risk Model by fostering a centralized Risk platform, common to all areas. </a:t>
            </a:r>
            <a:endParaRPr lang="es-ES" sz="1000"/>
          </a:p>
          <a:p>
            <a:pPr marL="180000" marR="0" lvl="1" indent="-180000" algn="just"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endParaRPr kumimoji="0" lang="en-US" sz="10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endParaRPr>
          </a:p>
        </p:txBody>
      </p:sp>
      <p:sp>
        <p:nvSpPr>
          <p:cNvPr id="29" name="Rectángulo 28">
            <a:extLst>
              <a:ext uri="{FF2B5EF4-FFF2-40B4-BE49-F238E27FC236}">
                <a16:creationId xmlns:a16="http://schemas.microsoft.com/office/drawing/2014/main" id="{DB99D819-89A8-F17D-D1A9-36E48C34DCF3}"/>
              </a:ext>
            </a:extLst>
          </p:cNvPr>
          <p:cNvSpPr/>
          <p:nvPr/>
        </p:nvSpPr>
        <p:spPr>
          <a:xfrm>
            <a:off x="6239491" y="2649929"/>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algn="ctr"/>
            <a:r>
              <a:rPr lang="en-GB" sz="1400" kern="0">
                <a:solidFill>
                  <a:srgbClr val="DEEDF1">
                    <a:lumMod val="25000"/>
                  </a:srgbClr>
                </a:solidFill>
                <a:latin typeface="Santander Text" panose="020B0504020201020104" pitchFamily="34" charset="0"/>
              </a:rPr>
              <a:t>SCAN</a:t>
            </a:r>
          </a:p>
        </p:txBody>
      </p:sp>
      <p:sp>
        <p:nvSpPr>
          <p:cNvPr id="30" name="CuadroTexto 29">
            <a:extLst>
              <a:ext uri="{FF2B5EF4-FFF2-40B4-BE49-F238E27FC236}">
                <a16:creationId xmlns:a16="http://schemas.microsoft.com/office/drawing/2014/main" id="{5FFFB9E4-C183-6B1F-2D83-761AE0EFEBB1}"/>
              </a:ext>
            </a:extLst>
          </p:cNvPr>
          <p:cNvSpPr txBox="1"/>
          <p:nvPr/>
        </p:nvSpPr>
        <p:spPr>
          <a:xfrm>
            <a:off x="7730902" y="2659558"/>
            <a:ext cx="3738856" cy="616162"/>
          </a:xfrm>
          <a:prstGeom prst="rect">
            <a:avLst/>
          </a:prstGeom>
        </p:spPr>
        <p:txBody>
          <a:bodyPr vert="horz" lIns="91440" tIns="45720" rIns="91440" bIns="45720" rtlCol="0">
            <a:noAutofit/>
          </a:bodyPr>
          <a:lstStyle>
            <a:lvl1pPr marL="180000" indent="-180000">
              <a:lnSpc>
                <a:spcPct val="100000"/>
              </a:lnSpc>
              <a:spcBef>
                <a:spcPts val="600"/>
              </a:spcBef>
              <a:spcAft>
                <a:spcPts val="0"/>
              </a:spcAft>
              <a:buClr>
                <a:schemeClr val="accent1"/>
              </a:buClr>
              <a:buFont typeface="Arial" panose="020B0604020202020204" pitchFamily="34" charset="0"/>
              <a:buChar char="•"/>
              <a:defRPr lang="en-US" sz="1200" dirty="0">
                <a:solidFill>
                  <a:schemeClr val="tx2"/>
                </a:solidFill>
              </a:defRPr>
            </a:lvl1pPr>
            <a:lvl2pPr marL="360000" lvl="1" indent="-180000">
              <a:lnSpc>
                <a:spcPct val="100000"/>
              </a:lnSpc>
              <a:spcBef>
                <a:spcPts val="600"/>
              </a:spcBef>
              <a:spcAft>
                <a:spcPts val="0"/>
              </a:spcAft>
              <a:buClr>
                <a:schemeClr val="accent1"/>
              </a:buClr>
              <a:buFont typeface="Santander Text" panose="020B0504020201020104" pitchFamily="34" charset="0"/>
              <a:buChar char="-"/>
              <a:defRPr lang="en-US" sz="1200" dirty="0" smtClean="0">
                <a:solidFill>
                  <a:schemeClr val="tx2"/>
                </a:solidFill>
              </a:defRPr>
            </a:lvl2pPr>
            <a:lvl3pPr marL="540000" indent="-180000" defTabSz="896938">
              <a:lnSpc>
                <a:spcPct val="100000"/>
              </a:lnSpc>
              <a:spcBef>
                <a:spcPts val="600"/>
              </a:spcBef>
              <a:spcAft>
                <a:spcPts val="0"/>
              </a:spcAft>
              <a:buClr>
                <a:schemeClr val="accent1"/>
              </a:buClr>
              <a:buFont typeface="Arial" panose="020B0604020202020204" pitchFamily="34" charset="0"/>
              <a:buChar char="•"/>
              <a:tabLst/>
              <a:defRPr lang="en-US" sz="1400" dirty="0">
                <a:solidFill>
                  <a:schemeClr val="tx2"/>
                </a:solidFill>
                <a:latin typeface="Santander Text Light" panose="020B0304020201020104" pitchFamily="34" charset="0"/>
              </a:defRPr>
            </a:lvl3pPr>
            <a:lvl4pPr marL="720000" indent="-180000">
              <a:lnSpc>
                <a:spcPct val="100000"/>
              </a:lnSpc>
              <a:spcBef>
                <a:spcPts val="600"/>
              </a:spcBef>
              <a:buClr>
                <a:schemeClr val="accent1"/>
              </a:buClr>
              <a:buFont typeface="Santander Text" panose="020B0504020201020104" pitchFamily="34" charset="0"/>
              <a:buChar char="-"/>
              <a:defRPr lang="es-ES" sz="1400" smtClean="0">
                <a:solidFill>
                  <a:schemeClr val="tx2"/>
                </a:solidFill>
                <a:latin typeface="Santander Text Light" panose="020B0304020201020104" pitchFamily="34" charset="0"/>
              </a:defRPr>
            </a:lvl4pPr>
            <a:lvl5pPr indent="0">
              <a:lnSpc>
                <a:spcPct val="100000"/>
              </a:lnSpc>
              <a:spcBef>
                <a:spcPts val="600"/>
              </a:spcBef>
              <a:buClr>
                <a:schemeClr val="accent1"/>
              </a:buClr>
              <a:buFontTx/>
              <a:buNone/>
              <a:defRPr lang="es-ES"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just">
              <a:lnSpc>
                <a:spcPct val="107000"/>
              </a:lnSpc>
              <a:spcAft>
                <a:spcPts val="800"/>
              </a:spcAft>
              <a:buFont typeface="Wingdings" panose="05000000000000000000" pitchFamily="2" charset="2"/>
              <a:buChar char="§"/>
            </a:pPr>
            <a:r>
              <a:rPr lang="en-US" sz="1000">
                <a:solidFill>
                  <a:prstClr val="black"/>
                </a:solidFill>
                <a:latin typeface="Santander Text" panose="020B0504020201020104" pitchFamily="34" charset="0"/>
              </a:rPr>
              <a:t>T</a:t>
            </a:r>
            <a:r>
              <a:rPr lang="en-US" sz="1000" b="0" i="0" u="none" strike="noStrike">
                <a:solidFill>
                  <a:srgbClr val="000000"/>
                </a:solidFill>
                <a:effectLst/>
                <a:latin typeface="Aptos Narrow" panose="020B0004020202020204" pitchFamily="34" charset="0"/>
              </a:rPr>
              <a:t>o assign, from credit risk perspective, the monitoring level, strategies and specific actions at each level for all SCIB customers, based on their credit quality and particular circumstances</a:t>
            </a:r>
            <a:endParaRPr lang="es-ES" sz="1000">
              <a:solidFill>
                <a:prstClr val="black"/>
              </a:solidFill>
              <a:latin typeface="Santander Text" panose="020B0504020201020104" pitchFamily="34" charset="0"/>
            </a:endParaRPr>
          </a:p>
        </p:txBody>
      </p:sp>
      <p:cxnSp>
        <p:nvCxnSpPr>
          <p:cNvPr id="31" name="Conector recto 30">
            <a:extLst>
              <a:ext uri="{FF2B5EF4-FFF2-40B4-BE49-F238E27FC236}">
                <a16:creationId xmlns:a16="http://schemas.microsoft.com/office/drawing/2014/main" id="{EAC96F33-66D1-8B0D-E3B1-13F6CD3892CD}"/>
              </a:ext>
            </a:extLst>
          </p:cNvPr>
          <p:cNvCxnSpPr>
            <a:cxnSpLocks/>
          </p:cNvCxnSpPr>
          <p:nvPr/>
        </p:nvCxnSpPr>
        <p:spPr>
          <a:xfrm flipH="1">
            <a:off x="6157574" y="3359591"/>
            <a:ext cx="5666014" cy="9893"/>
          </a:xfrm>
          <a:prstGeom prst="line">
            <a:avLst/>
          </a:prstGeom>
          <a:noFill/>
          <a:ln w="12700" cap="flat" cmpd="sng" algn="ctr">
            <a:solidFill>
              <a:schemeClr val="bg1">
                <a:lumMod val="85000"/>
              </a:schemeClr>
            </a:solidFill>
            <a:prstDash val="solid"/>
            <a:miter lim="800000"/>
          </a:ln>
          <a:effectLst/>
        </p:spPr>
      </p:cxnSp>
      <p:cxnSp>
        <p:nvCxnSpPr>
          <p:cNvPr id="34" name="Conector recto 33">
            <a:extLst>
              <a:ext uri="{FF2B5EF4-FFF2-40B4-BE49-F238E27FC236}">
                <a16:creationId xmlns:a16="http://schemas.microsoft.com/office/drawing/2014/main" id="{F2FAAA77-9403-AD59-56B8-09ABA3C39E09}"/>
              </a:ext>
            </a:extLst>
          </p:cNvPr>
          <p:cNvCxnSpPr>
            <a:cxnSpLocks/>
          </p:cNvCxnSpPr>
          <p:nvPr/>
        </p:nvCxnSpPr>
        <p:spPr>
          <a:xfrm flipH="1">
            <a:off x="6159610" y="4192046"/>
            <a:ext cx="5695784" cy="0"/>
          </a:xfrm>
          <a:prstGeom prst="line">
            <a:avLst/>
          </a:prstGeom>
          <a:noFill/>
          <a:ln w="12700" cap="flat" cmpd="sng" algn="ctr">
            <a:solidFill>
              <a:schemeClr val="bg1">
                <a:lumMod val="85000"/>
              </a:schemeClr>
            </a:solidFill>
            <a:prstDash val="solid"/>
            <a:miter lim="800000"/>
          </a:ln>
          <a:effectLst/>
        </p:spPr>
      </p:cxnSp>
      <p:cxnSp>
        <p:nvCxnSpPr>
          <p:cNvPr id="36" name="Conector recto 35">
            <a:extLst>
              <a:ext uri="{FF2B5EF4-FFF2-40B4-BE49-F238E27FC236}">
                <a16:creationId xmlns:a16="http://schemas.microsoft.com/office/drawing/2014/main" id="{83786B30-288F-3A6A-AA2E-231D34D48FDF}"/>
              </a:ext>
            </a:extLst>
          </p:cNvPr>
          <p:cNvCxnSpPr>
            <a:cxnSpLocks/>
          </p:cNvCxnSpPr>
          <p:nvPr/>
        </p:nvCxnSpPr>
        <p:spPr>
          <a:xfrm flipH="1" flipV="1">
            <a:off x="739202" y="2443029"/>
            <a:ext cx="5112000" cy="0"/>
          </a:xfrm>
          <a:prstGeom prst="line">
            <a:avLst/>
          </a:prstGeom>
          <a:noFill/>
          <a:ln w="12700" cap="flat" cmpd="sng" algn="ctr">
            <a:solidFill>
              <a:schemeClr val="bg1">
                <a:lumMod val="85000"/>
              </a:schemeClr>
            </a:solidFill>
            <a:prstDash val="solid"/>
            <a:miter lim="800000"/>
          </a:ln>
          <a:effectLst/>
        </p:spPr>
      </p:cxnSp>
      <p:sp>
        <p:nvSpPr>
          <p:cNvPr id="37" name="Rectángulo 36">
            <a:extLst>
              <a:ext uri="{FF2B5EF4-FFF2-40B4-BE49-F238E27FC236}">
                <a16:creationId xmlns:a16="http://schemas.microsoft.com/office/drawing/2014/main" id="{D688AB9C-33D7-E28E-CB38-0847553CE4D2}"/>
              </a:ext>
            </a:extLst>
          </p:cNvPr>
          <p:cNvSpPr/>
          <p:nvPr/>
        </p:nvSpPr>
        <p:spPr>
          <a:xfrm>
            <a:off x="824283" y="2510341"/>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algn="ctr"/>
            <a:r>
              <a:rPr lang="en-GB" sz="1400" kern="0">
                <a:solidFill>
                  <a:srgbClr val="DEEDF1">
                    <a:lumMod val="25000"/>
                  </a:srgbClr>
                </a:solidFill>
                <a:latin typeface="Santander Text" panose="020B0504020201020104" pitchFamily="34" charset="0"/>
              </a:rPr>
              <a:t>Cream Management</a:t>
            </a:r>
          </a:p>
        </p:txBody>
      </p:sp>
      <p:sp>
        <p:nvSpPr>
          <p:cNvPr id="38" name="Rectángulo 37">
            <a:extLst>
              <a:ext uri="{FF2B5EF4-FFF2-40B4-BE49-F238E27FC236}">
                <a16:creationId xmlns:a16="http://schemas.microsoft.com/office/drawing/2014/main" id="{00889CD8-4CA5-98BA-80F5-3BE755C18B8F}"/>
              </a:ext>
            </a:extLst>
          </p:cNvPr>
          <p:cNvSpPr/>
          <p:nvPr/>
        </p:nvSpPr>
        <p:spPr>
          <a:xfrm>
            <a:off x="802935" y="3479890"/>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algn="ctr"/>
            <a:r>
              <a:rPr lang="en-GB" sz="1400" kern="0">
                <a:solidFill>
                  <a:srgbClr val="DEEDF1">
                    <a:lumMod val="25000"/>
                  </a:srgbClr>
                </a:solidFill>
                <a:latin typeface="Santander Text" panose="020B0504020201020104" pitchFamily="34" charset="0"/>
              </a:rPr>
              <a:t>Early Alerts</a:t>
            </a:r>
          </a:p>
        </p:txBody>
      </p:sp>
      <p:cxnSp>
        <p:nvCxnSpPr>
          <p:cNvPr id="39" name="Conector recto 38">
            <a:extLst>
              <a:ext uri="{FF2B5EF4-FFF2-40B4-BE49-F238E27FC236}">
                <a16:creationId xmlns:a16="http://schemas.microsoft.com/office/drawing/2014/main" id="{97534A04-002E-7595-D78A-DA10CEE0DB0E}"/>
              </a:ext>
            </a:extLst>
          </p:cNvPr>
          <p:cNvCxnSpPr>
            <a:cxnSpLocks/>
          </p:cNvCxnSpPr>
          <p:nvPr/>
        </p:nvCxnSpPr>
        <p:spPr>
          <a:xfrm flipH="1" flipV="1">
            <a:off x="711024" y="4192046"/>
            <a:ext cx="5112000" cy="0"/>
          </a:xfrm>
          <a:prstGeom prst="line">
            <a:avLst/>
          </a:prstGeom>
          <a:noFill/>
          <a:ln w="12700" cap="flat" cmpd="sng" algn="ctr">
            <a:solidFill>
              <a:schemeClr val="bg1">
                <a:lumMod val="85000"/>
              </a:schemeClr>
            </a:solidFill>
            <a:prstDash val="solid"/>
            <a:miter lim="800000"/>
          </a:ln>
          <a:effectLst/>
        </p:spPr>
      </p:cxnSp>
      <p:sp>
        <p:nvSpPr>
          <p:cNvPr id="40" name="Rectángulo 39">
            <a:extLst>
              <a:ext uri="{FF2B5EF4-FFF2-40B4-BE49-F238E27FC236}">
                <a16:creationId xmlns:a16="http://schemas.microsoft.com/office/drawing/2014/main" id="{05CC348F-D74E-8991-0316-31CACFCA1752}"/>
              </a:ext>
            </a:extLst>
          </p:cNvPr>
          <p:cNvSpPr/>
          <p:nvPr/>
        </p:nvSpPr>
        <p:spPr>
          <a:xfrm>
            <a:off x="796105" y="4378623"/>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algn="ctr"/>
            <a:r>
              <a:rPr lang="en-GB" sz="1400" kern="0" err="1">
                <a:solidFill>
                  <a:srgbClr val="DEEDF1">
                    <a:lumMod val="25000"/>
                  </a:srgbClr>
                </a:solidFill>
                <a:latin typeface="Santander Text" panose="020B0504020201020104" pitchFamily="34" charset="0"/>
              </a:rPr>
              <a:t>Nilo</a:t>
            </a:r>
            <a:r>
              <a:rPr lang="en-GB" sz="1400" kern="0">
                <a:solidFill>
                  <a:srgbClr val="DEEDF1">
                    <a:lumMod val="25000"/>
                  </a:srgbClr>
                </a:solidFill>
                <a:latin typeface="Santander Text" panose="020B0504020201020104" pitchFamily="34" charset="0"/>
              </a:rPr>
              <a:t> Plus</a:t>
            </a:r>
          </a:p>
        </p:txBody>
      </p:sp>
      <p:cxnSp>
        <p:nvCxnSpPr>
          <p:cNvPr id="41" name="Conector recto 40">
            <a:extLst>
              <a:ext uri="{FF2B5EF4-FFF2-40B4-BE49-F238E27FC236}">
                <a16:creationId xmlns:a16="http://schemas.microsoft.com/office/drawing/2014/main" id="{00666D39-D821-35F3-6926-4C6E2ADA9C6C}"/>
              </a:ext>
            </a:extLst>
          </p:cNvPr>
          <p:cNvCxnSpPr>
            <a:cxnSpLocks/>
          </p:cNvCxnSpPr>
          <p:nvPr/>
        </p:nvCxnSpPr>
        <p:spPr>
          <a:xfrm flipH="1" flipV="1">
            <a:off x="739202" y="3359591"/>
            <a:ext cx="5112000" cy="0"/>
          </a:xfrm>
          <a:prstGeom prst="line">
            <a:avLst/>
          </a:prstGeom>
          <a:noFill/>
          <a:ln w="12700" cap="flat" cmpd="sng" algn="ctr">
            <a:solidFill>
              <a:schemeClr val="bg1">
                <a:lumMod val="85000"/>
              </a:schemeClr>
            </a:solidFill>
            <a:prstDash val="solid"/>
            <a:miter lim="800000"/>
          </a:ln>
          <a:effectLst/>
        </p:spPr>
      </p:cxnSp>
      <p:cxnSp>
        <p:nvCxnSpPr>
          <p:cNvPr id="43" name="Conector recto 42">
            <a:extLst>
              <a:ext uri="{FF2B5EF4-FFF2-40B4-BE49-F238E27FC236}">
                <a16:creationId xmlns:a16="http://schemas.microsoft.com/office/drawing/2014/main" id="{1561450A-63F2-4BF0-A4EB-65D8E9455126}"/>
              </a:ext>
            </a:extLst>
          </p:cNvPr>
          <p:cNvCxnSpPr>
            <a:cxnSpLocks/>
          </p:cNvCxnSpPr>
          <p:nvPr/>
        </p:nvCxnSpPr>
        <p:spPr>
          <a:xfrm flipH="1" flipV="1">
            <a:off x="739202" y="5291723"/>
            <a:ext cx="5112000" cy="0"/>
          </a:xfrm>
          <a:prstGeom prst="line">
            <a:avLst/>
          </a:prstGeom>
          <a:noFill/>
          <a:ln w="12700" cap="flat" cmpd="sng" algn="ctr">
            <a:solidFill>
              <a:schemeClr val="bg1">
                <a:lumMod val="85000"/>
              </a:schemeClr>
            </a:solidFill>
            <a:prstDash val="solid"/>
            <a:miter lim="800000"/>
          </a:ln>
          <a:effectLst/>
        </p:spPr>
      </p:cxnSp>
      <p:sp>
        <p:nvSpPr>
          <p:cNvPr id="44" name="CuadroTexto 43">
            <a:extLst>
              <a:ext uri="{FF2B5EF4-FFF2-40B4-BE49-F238E27FC236}">
                <a16:creationId xmlns:a16="http://schemas.microsoft.com/office/drawing/2014/main" id="{E65EBE2A-D05D-32A7-2EAC-3CEA965F6296}"/>
              </a:ext>
            </a:extLst>
          </p:cNvPr>
          <p:cNvSpPr txBox="1"/>
          <p:nvPr/>
        </p:nvSpPr>
        <p:spPr>
          <a:xfrm>
            <a:off x="2349464" y="2488504"/>
            <a:ext cx="3447333" cy="861774"/>
          </a:xfrm>
          <a:prstGeom prst="rect">
            <a:avLst/>
          </a:prstGeom>
          <a:noFill/>
        </p:spPr>
        <p:txBody>
          <a:bodyPr wrap="square">
            <a:spAutoFit/>
          </a:bodyPr>
          <a:lstStyle/>
          <a:p>
            <a:pPr marL="180000" indent="-180000" algn="just">
              <a:buClr>
                <a:srgbClr val="FF0000"/>
              </a:buClr>
              <a:buFont typeface="Wingdings" panose="05000000000000000000" pitchFamily="2" charset="2"/>
              <a:buChar char="§"/>
              <a:defRPr/>
            </a:pPr>
            <a:r>
              <a:rPr lang="en-US" sz="1000">
                <a:solidFill>
                  <a:srgbClr val="000000"/>
                </a:solidFill>
                <a:latin typeface="Aptos Narrow" panose="020B0004020202020204" pitchFamily="34" charset="0"/>
              </a:rPr>
              <a:t>S</a:t>
            </a:r>
            <a:r>
              <a:rPr lang="en-US" sz="1000" b="0" i="0" u="none" strike="noStrike">
                <a:solidFill>
                  <a:srgbClr val="000000"/>
                </a:solidFill>
                <a:effectLst/>
                <a:latin typeface="Aptos Narrow" panose="020B0004020202020204" pitchFamily="34" charset="0"/>
              </a:rPr>
              <a:t>ystem for Credit and Counterparty Risk limit &amp; exposure control &amp; economic EAD capital calculation (by SA-CCR methodology) for management and regulatory reporting for all SCIB clients (perimeter defined in </a:t>
            </a:r>
            <a:r>
              <a:rPr lang="en-US" sz="1000" b="0" i="0" u="none" strike="noStrike" err="1">
                <a:solidFill>
                  <a:srgbClr val="000000"/>
                </a:solidFill>
                <a:effectLst/>
                <a:latin typeface="Aptos Narrow" panose="020B0004020202020204" pitchFamily="34" charset="0"/>
              </a:rPr>
              <a:t>AQUAPlus</a:t>
            </a:r>
            <a:r>
              <a:rPr lang="en-US" sz="1000" b="0" i="0" u="none" strike="noStrike">
                <a:solidFill>
                  <a:srgbClr val="000000"/>
                </a:solidFill>
                <a:effectLst/>
                <a:latin typeface="Aptos Narrow" panose="020B0004020202020204" pitchFamily="34" charset="0"/>
              </a:rPr>
              <a:t>) covering all SCIB geographies.</a:t>
            </a:r>
            <a:endParaRPr lang="es-ES" sz="1000">
              <a:solidFill>
                <a:prstClr val="black"/>
              </a:solidFill>
              <a:latin typeface="Santander Text" panose="020B0504020201020104" pitchFamily="34" charset="0"/>
            </a:endParaRPr>
          </a:p>
        </p:txBody>
      </p:sp>
      <p:sp>
        <p:nvSpPr>
          <p:cNvPr id="45" name="CuadroTexto 44">
            <a:extLst>
              <a:ext uri="{FF2B5EF4-FFF2-40B4-BE49-F238E27FC236}">
                <a16:creationId xmlns:a16="http://schemas.microsoft.com/office/drawing/2014/main" id="{38B7A4D3-9C76-1442-73AD-98AD60BCDBD6}"/>
              </a:ext>
            </a:extLst>
          </p:cNvPr>
          <p:cNvSpPr txBox="1"/>
          <p:nvPr/>
        </p:nvSpPr>
        <p:spPr>
          <a:xfrm>
            <a:off x="2286991" y="3497293"/>
            <a:ext cx="3509806" cy="707886"/>
          </a:xfrm>
          <a:prstGeom prst="rect">
            <a:avLst/>
          </a:prstGeom>
          <a:noFill/>
        </p:spPr>
        <p:txBody>
          <a:bodyPr wrap="square">
            <a:spAutoFit/>
          </a:bodyPr>
          <a:lstStyle/>
          <a:p>
            <a:pPr marL="180000" indent="-180000" algn="just">
              <a:buClr>
                <a:srgbClr val="FF0000"/>
              </a:buClr>
              <a:buFont typeface="Wingdings" panose="05000000000000000000" pitchFamily="2" charset="2"/>
              <a:buChar char="§"/>
              <a:defRPr/>
            </a:pPr>
            <a:r>
              <a:rPr lang="en-US" sz="1000" b="0" i="0" u="none" strike="noStrike">
                <a:solidFill>
                  <a:srgbClr val="000000"/>
                </a:solidFill>
                <a:effectLst/>
                <a:latin typeface="Aptos Narrow" panose="020B0004020202020204" pitchFamily="34" charset="0"/>
              </a:rPr>
              <a:t>Event-oriented real-time alert system for the universe of applications within Risk domain, designed to monitor multiple events across a wide range of risk applications, being published and readable for all systems connected to this tool.</a:t>
            </a:r>
            <a:endParaRPr lang="es-ES" sz="1000">
              <a:solidFill>
                <a:prstClr val="black"/>
              </a:solidFill>
              <a:latin typeface="Santander Text" panose="020B0504020201020104" pitchFamily="34" charset="0"/>
            </a:endParaRPr>
          </a:p>
        </p:txBody>
      </p:sp>
      <p:sp>
        <p:nvSpPr>
          <p:cNvPr id="48" name="CuadroTexto 47">
            <a:extLst>
              <a:ext uri="{FF2B5EF4-FFF2-40B4-BE49-F238E27FC236}">
                <a16:creationId xmlns:a16="http://schemas.microsoft.com/office/drawing/2014/main" id="{BD3A671B-D8C9-F495-D3AA-A8D57A54A499}"/>
              </a:ext>
            </a:extLst>
          </p:cNvPr>
          <p:cNvSpPr txBox="1"/>
          <p:nvPr/>
        </p:nvSpPr>
        <p:spPr>
          <a:xfrm>
            <a:off x="2349464" y="4326585"/>
            <a:ext cx="3447333" cy="1015663"/>
          </a:xfrm>
          <a:prstGeom prst="rect">
            <a:avLst/>
          </a:prstGeom>
          <a:noFill/>
        </p:spPr>
        <p:txBody>
          <a:bodyPr wrap="square">
            <a:spAutoFit/>
          </a:bodyPr>
          <a:lstStyle/>
          <a:p>
            <a:pPr marL="180000" indent="-180000" algn="just">
              <a:buClr>
                <a:srgbClr val="FF0000"/>
              </a:buClr>
              <a:buFont typeface="Wingdings" panose="05000000000000000000" pitchFamily="2" charset="2"/>
              <a:buChar char="§"/>
              <a:defRPr/>
            </a:pPr>
            <a:r>
              <a:rPr lang="en-US" sz="1000" b="0" i="0" u="none" strike="noStrike">
                <a:solidFill>
                  <a:srgbClr val="000000"/>
                </a:solidFill>
                <a:effectLst/>
                <a:latin typeface="Aptos Narrow" panose="020B0004020202020204" pitchFamily="34" charset="0"/>
              </a:rPr>
              <a:t>Risk system to manage the workflow where all SCIB customer pre-classifications and limits are established to allow the admission of operations without the need for specific approval by the risk committee. It provides information to CREAM (limits) so that consumption can be controlled.</a:t>
            </a:r>
            <a:endParaRPr lang="es-ES" sz="1000">
              <a:solidFill>
                <a:prstClr val="black"/>
              </a:solidFill>
              <a:latin typeface="Santander Text" panose="020B0504020201020104" pitchFamily="34" charset="0"/>
            </a:endParaRPr>
          </a:p>
        </p:txBody>
      </p:sp>
      <p:cxnSp>
        <p:nvCxnSpPr>
          <p:cNvPr id="3" name="Conector recto 2">
            <a:extLst>
              <a:ext uri="{FF2B5EF4-FFF2-40B4-BE49-F238E27FC236}">
                <a16:creationId xmlns:a16="http://schemas.microsoft.com/office/drawing/2014/main" id="{DD96F0A5-2EE7-416A-7865-268833D84858}"/>
              </a:ext>
            </a:extLst>
          </p:cNvPr>
          <p:cNvCxnSpPr>
            <a:cxnSpLocks/>
          </p:cNvCxnSpPr>
          <p:nvPr/>
        </p:nvCxnSpPr>
        <p:spPr>
          <a:xfrm flipH="1">
            <a:off x="6159610" y="4286446"/>
            <a:ext cx="5695784" cy="0"/>
          </a:xfrm>
          <a:prstGeom prst="line">
            <a:avLst/>
          </a:prstGeom>
          <a:noFill/>
          <a:ln w="12700" cap="flat" cmpd="sng" algn="ctr">
            <a:solidFill>
              <a:schemeClr val="bg1">
                <a:lumMod val="85000"/>
              </a:schemeClr>
            </a:solidFill>
            <a:prstDash val="solid"/>
            <a:miter lim="800000"/>
          </a:ln>
          <a:effectLst/>
        </p:spPr>
      </p:cxnSp>
      <p:sp>
        <p:nvSpPr>
          <p:cNvPr id="4" name="Rectángulo 41">
            <a:extLst>
              <a:ext uri="{FF2B5EF4-FFF2-40B4-BE49-F238E27FC236}">
                <a16:creationId xmlns:a16="http://schemas.microsoft.com/office/drawing/2014/main" id="{C02AF669-955E-1C48-A63E-C641854FDEC4}"/>
              </a:ext>
            </a:extLst>
          </p:cNvPr>
          <p:cNvSpPr/>
          <p:nvPr/>
        </p:nvSpPr>
        <p:spPr>
          <a:xfrm>
            <a:off x="6239491" y="4388816"/>
            <a:ext cx="1440000" cy="540000"/>
          </a:xfrm>
          <a:prstGeom prst="rect">
            <a:avLst/>
          </a:prstGeom>
          <a:noFill/>
          <a:ln w="12700" cap="flat" cmpd="sng" algn="ctr">
            <a:solidFill>
              <a:schemeClr val="bg1">
                <a:lumMod val="50000"/>
              </a:schemeClr>
            </a:solidFill>
            <a:prstDash val="solid"/>
            <a:miter lim="800000"/>
          </a:ln>
          <a:effectLst/>
        </p:spPr>
        <p:txBody>
          <a:bodyPr lIns="72000" rIns="72000" rtlCol="0" anchor="ctr"/>
          <a:lstStyle/>
          <a:p>
            <a:pPr algn="ctr"/>
            <a:r>
              <a:rPr lang="en-GB" sz="1400" kern="0">
                <a:solidFill>
                  <a:srgbClr val="DEEDF1">
                    <a:lumMod val="25000"/>
                  </a:srgbClr>
                </a:solidFill>
                <a:latin typeface="Santander Text" panose="020B0504020201020104" pitchFamily="34" charset="0"/>
              </a:rPr>
              <a:t>ECO workflow</a:t>
            </a:r>
          </a:p>
        </p:txBody>
      </p:sp>
      <p:sp>
        <p:nvSpPr>
          <p:cNvPr id="5" name="CuadroTexto 54">
            <a:extLst>
              <a:ext uri="{FF2B5EF4-FFF2-40B4-BE49-F238E27FC236}">
                <a16:creationId xmlns:a16="http://schemas.microsoft.com/office/drawing/2014/main" id="{BE93299A-E81B-B0BF-080D-1BE267D7FE5C}"/>
              </a:ext>
            </a:extLst>
          </p:cNvPr>
          <p:cNvSpPr txBox="1"/>
          <p:nvPr/>
        </p:nvSpPr>
        <p:spPr>
          <a:xfrm>
            <a:off x="7817399" y="4417145"/>
            <a:ext cx="3738855" cy="707886"/>
          </a:xfrm>
          <a:prstGeom prst="rect">
            <a:avLst/>
          </a:prstGeom>
          <a:noFill/>
        </p:spPr>
        <p:txBody>
          <a:bodyPr wrap="square">
            <a:spAutoFit/>
          </a:bodyPr>
          <a:lstStyle/>
          <a:p>
            <a:pPr marL="180000" lvl="1" indent="-180000" algn="just">
              <a:buClr>
                <a:srgbClr val="FF0000"/>
              </a:buClr>
              <a:buFont typeface="Wingdings" panose="05000000000000000000" pitchFamily="2" charset="2"/>
              <a:buChar char="§"/>
              <a:defRPr/>
            </a:pPr>
            <a:r>
              <a:rPr lang="en-US" sz="1000" b="0" i="0" u="none" strike="noStrike">
                <a:solidFill>
                  <a:srgbClr val="000000"/>
                </a:solidFill>
                <a:effectLst/>
                <a:latin typeface="Aptos Narrow" panose="020B0004020202020204" pitchFamily="34" charset="0"/>
              </a:rPr>
              <a:t>ECO is a case management system to manage the lifecycle of unpaid transactions in Phase 1. Phase 2 will handle the reclaim and recovery processes of these unpaid transactions</a:t>
            </a:r>
            <a:endParaRPr lang="es-ES" sz="1000"/>
          </a:p>
          <a:p>
            <a:pPr marL="180000" marR="0" lvl="1" indent="-180000" algn="just"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endParaRPr kumimoji="0" lang="en-US" sz="1000" b="0" i="0" u="none" strike="noStrike" kern="1200" cap="none" spc="0" normalizeH="0" baseline="0" noProof="0">
              <a:ln>
                <a:noFill/>
              </a:ln>
              <a:solidFill>
                <a:prstClr val="black"/>
              </a:solidFill>
              <a:effectLst/>
              <a:uLnTx/>
              <a:uFillTx/>
              <a:latin typeface="Santander Text" panose="020B0504020201020104" pitchFamily="34" charset="0"/>
              <a:ea typeface="+mn-ea"/>
              <a:cs typeface="+mn-cs"/>
            </a:endParaRPr>
          </a:p>
        </p:txBody>
      </p:sp>
      <p:cxnSp>
        <p:nvCxnSpPr>
          <p:cNvPr id="7" name="Conector recto 6">
            <a:extLst>
              <a:ext uri="{FF2B5EF4-FFF2-40B4-BE49-F238E27FC236}">
                <a16:creationId xmlns:a16="http://schemas.microsoft.com/office/drawing/2014/main" id="{E56C3EFC-023C-D965-C416-26CB93B63944}"/>
              </a:ext>
            </a:extLst>
          </p:cNvPr>
          <p:cNvCxnSpPr>
            <a:cxnSpLocks/>
          </p:cNvCxnSpPr>
          <p:nvPr/>
        </p:nvCxnSpPr>
        <p:spPr>
          <a:xfrm flipH="1">
            <a:off x="6164572" y="5139639"/>
            <a:ext cx="5695784" cy="0"/>
          </a:xfrm>
          <a:prstGeom prst="line">
            <a:avLst/>
          </a:prstGeom>
          <a:noFill/>
          <a:ln w="12700" cap="flat" cmpd="sng" algn="ctr">
            <a:solidFill>
              <a:schemeClr val="bg1">
                <a:lumMod val="85000"/>
              </a:schemeClr>
            </a:solidFill>
            <a:prstDash val="solid"/>
            <a:miter lim="800000"/>
          </a:ln>
          <a:effectLst/>
        </p:spPr>
      </p:cxnSp>
    </p:spTree>
    <p:extLst>
      <p:ext uri="{BB962C8B-B14F-4D97-AF65-F5344CB8AC3E}">
        <p14:creationId xmlns:p14="http://schemas.microsoft.com/office/powerpoint/2010/main" val="37984073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EB661-44BC-0FB6-F309-8A44EDF080B5}"/>
            </a:ext>
          </a:extLst>
        </p:cNvPr>
        <p:cNvGrpSpPr/>
        <p:nvPr/>
      </p:nvGrpSpPr>
      <p:grpSpPr>
        <a:xfrm>
          <a:off x="0" y="0"/>
          <a:ext cx="0" cy="0"/>
          <a:chOff x="0" y="0"/>
          <a:chExt cx="0" cy="0"/>
        </a:xfrm>
      </p:grpSpPr>
      <p:sp>
        <p:nvSpPr>
          <p:cNvPr id="17" name="Text Placeholder 2">
            <a:extLst>
              <a:ext uri="{FF2B5EF4-FFF2-40B4-BE49-F238E27FC236}">
                <a16:creationId xmlns:a16="http://schemas.microsoft.com/office/drawing/2014/main" id="{CC687A0F-3711-964D-110D-D82F6CA79148}"/>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8" name="Título 1">
            <a:extLst>
              <a:ext uri="{FF2B5EF4-FFF2-40B4-BE49-F238E27FC236}">
                <a16:creationId xmlns:a16="http://schemas.microsoft.com/office/drawing/2014/main" id="{6032E455-4BCA-1584-C5DC-4CDA07F34EEB}"/>
              </a:ext>
            </a:extLst>
          </p:cNvPr>
          <p:cNvSpPr txBox="1">
            <a:spLocks/>
          </p:cNvSpPr>
          <p:nvPr/>
        </p:nvSpPr>
        <p:spPr>
          <a:xfrm>
            <a:off x="711024" y="623339"/>
            <a:ext cx="12079001" cy="836992"/>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lang="en-US" sz="2800" b="1" kern="1200" dirty="0">
                <a:solidFill>
                  <a:schemeClr val="accent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s-ES" sz="2400" b="1" i="0" u="none" strike="noStrike" kern="1200" cap="none" spc="0" normalizeH="0" baseline="0" noProof="0">
                <a:ln>
                  <a:noFill/>
                </a:ln>
                <a:solidFill>
                  <a:srgbClr val="EC0000"/>
                </a:solidFill>
                <a:effectLst/>
                <a:uLnTx/>
                <a:uFillTx/>
                <a:latin typeface="Santander Headline"/>
                <a:ea typeface="+mj-ea"/>
                <a:cs typeface="+mj-cs"/>
              </a:rPr>
              <a:t>SCIB. </a:t>
            </a:r>
            <a:r>
              <a:rPr kumimoji="0" lang="es-ES" sz="2400" b="1" i="0" u="none" strike="noStrike" kern="1200" cap="none" spc="0" normalizeH="0" baseline="0" noProof="0" err="1">
                <a:ln>
                  <a:noFill/>
                </a:ln>
                <a:solidFill>
                  <a:schemeClr val="bg2">
                    <a:lumMod val="75000"/>
                  </a:schemeClr>
                </a:solidFill>
                <a:effectLst/>
                <a:uLnTx/>
                <a:uFillTx/>
                <a:latin typeface="Santander Headline"/>
                <a:ea typeface="+mj-ea"/>
                <a:cs typeface="+mj-cs"/>
              </a:rPr>
              <a:t>Wholesale</a:t>
            </a:r>
            <a:r>
              <a:rPr kumimoji="0" lang="es-ES" sz="2400" b="1" i="0" u="none" strike="noStrike" kern="1200" cap="none" spc="0" normalizeH="0" baseline="0" noProof="0">
                <a:ln>
                  <a:noFill/>
                </a:ln>
                <a:solidFill>
                  <a:schemeClr val="bg2">
                    <a:lumMod val="75000"/>
                  </a:schemeClr>
                </a:solidFill>
                <a:effectLst/>
                <a:uLnTx/>
                <a:uFillTx/>
                <a:latin typeface="Santander Headline"/>
                <a:ea typeface="+mj-ea"/>
                <a:cs typeface="+mj-cs"/>
              </a:rPr>
              <a:t> </a:t>
            </a:r>
            <a:r>
              <a:rPr kumimoji="0" lang="es-ES" sz="2400" b="1" i="0" u="none" strike="noStrike" kern="1200" cap="none" spc="0" normalizeH="0" baseline="0" noProof="0" err="1">
                <a:ln>
                  <a:noFill/>
                </a:ln>
                <a:solidFill>
                  <a:schemeClr val="bg2">
                    <a:lumMod val="75000"/>
                  </a:schemeClr>
                </a:solidFill>
                <a:effectLst/>
                <a:uLnTx/>
                <a:uFillTx/>
                <a:latin typeface="Santander Headline"/>
                <a:ea typeface="+mj-ea"/>
                <a:cs typeface="+mj-cs"/>
              </a:rPr>
              <a:t>Operations,KYC,Credit&amp;Market</a:t>
            </a:r>
            <a:r>
              <a:rPr kumimoji="0" lang="es-ES" sz="2400" b="1" i="0" u="none" strike="noStrike" kern="1200" cap="none" spc="0" normalizeH="0" baseline="0" noProof="0">
                <a:ln>
                  <a:noFill/>
                </a:ln>
                <a:solidFill>
                  <a:schemeClr val="bg2">
                    <a:lumMod val="75000"/>
                  </a:schemeClr>
                </a:solidFill>
                <a:effectLst/>
                <a:uLnTx/>
                <a:uFillTx/>
                <a:latin typeface="Santander Headline"/>
                <a:ea typeface="+mj-ea"/>
                <a:cs typeface="+mj-cs"/>
              </a:rPr>
              <a:t> </a:t>
            </a:r>
            <a:r>
              <a:rPr kumimoji="0" lang="es-ES" sz="2400" b="1" i="0" u="none" strike="noStrike" kern="1200" cap="none" spc="0" normalizeH="0" baseline="0" noProof="0" err="1">
                <a:ln>
                  <a:noFill/>
                </a:ln>
                <a:solidFill>
                  <a:schemeClr val="bg2">
                    <a:lumMod val="75000"/>
                  </a:schemeClr>
                </a:solidFill>
                <a:effectLst/>
                <a:uLnTx/>
                <a:uFillTx/>
                <a:latin typeface="Santander Headline"/>
                <a:ea typeface="+mj-ea"/>
                <a:cs typeface="+mj-cs"/>
              </a:rPr>
              <a:t>Risk</a:t>
            </a:r>
            <a:r>
              <a:rPr kumimoji="0" lang="es-ES" sz="2400" b="1" i="0" u="none" strike="noStrike" kern="1200" cap="none" spc="0" normalizeH="0" baseline="0" noProof="0">
                <a:ln>
                  <a:noFill/>
                </a:ln>
                <a:solidFill>
                  <a:schemeClr val="bg2">
                    <a:lumMod val="75000"/>
                  </a:schemeClr>
                </a:solidFill>
                <a:effectLst/>
                <a:uLnTx/>
                <a:uFillTx/>
                <a:latin typeface="Santander Headline"/>
                <a:ea typeface="+mj-ea"/>
                <a:cs typeface="+mj-cs"/>
              </a:rPr>
              <a:t>, </a:t>
            </a:r>
            <a:r>
              <a:rPr kumimoji="0" lang="es-ES" sz="2400" b="1" i="0" u="none" strike="noStrike" kern="1200" cap="none" spc="0" normalizeH="0" baseline="0" noProof="0" err="1">
                <a:ln>
                  <a:noFill/>
                </a:ln>
                <a:solidFill>
                  <a:schemeClr val="bg2">
                    <a:lumMod val="75000"/>
                  </a:schemeClr>
                </a:solidFill>
                <a:effectLst/>
                <a:uLnTx/>
                <a:uFillTx/>
                <a:latin typeface="Santander Headline"/>
                <a:ea typeface="+mj-ea"/>
                <a:cs typeface="+mj-cs"/>
              </a:rPr>
              <a:t>Reg</a:t>
            </a:r>
            <a:r>
              <a:rPr kumimoji="0" lang="es-ES" sz="2400" b="1" i="0" u="none" strike="noStrike" kern="1200" cap="none" spc="0" normalizeH="0" baseline="0" noProof="0">
                <a:ln>
                  <a:noFill/>
                </a:ln>
                <a:solidFill>
                  <a:schemeClr val="bg2">
                    <a:lumMod val="75000"/>
                  </a:schemeClr>
                </a:solidFill>
                <a:effectLst/>
                <a:uLnTx/>
                <a:uFillTx/>
                <a:latin typeface="Santander Headline"/>
                <a:ea typeface="+mj-ea"/>
                <a:cs typeface="+mj-cs"/>
              </a:rPr>
              <a:t> Reporting, </a:t>
            </a:r>
            <a:r>
              <a:rPr kumimoji="0" lang="es-ES" sz="2400" b="1" i="0" u="none" strike="noStrike" kern="1200" cap="none" spc="0" normalizeH="0" baseline="0" noProof="0" err="1">
                <a:ln>
                  <a:noFill/>
                </a:ln>
                <a:solidFill>
                  <a:schemeClr val="bg2">
                    <a:lumMod val="75000"/>
                  </a:schemeClr>
                </a:solidFill>
                <a:effectLst/>
                <a:uLnTx/>
                <a:uFillTx/>
                <a:latin typeface="Santander Headline"/>
                <a:ea typeface="+mj-ea"/>
                <a:cs typeface="+mj-cs"/>
              </a:rPr>
              <a:t>Transac</a:t>
            </a:r>
            <a:r>
              <a:rPr kumimoji="0" lang="es-ES" sz="2400" b="1" i="0" u="none" strike="noStrike" kern="1200" cap="none" spc="0" normalizeH="0" baseline="0" noProof="0">
                <a:ln>
                  <a:noFill/>
                </a:ln>
                <a:solidFill>
                  <a:schemeClr val="bg2">
                    <a:lumMod val="75000"/>
                  </a:schemeClr>
                </a:solidFill>
                <a:effectLst/>
                <a:uLnTx/>
                <a:uFillTx/>
                <a:latin typeface="Santander Headline"/>
                <a:ea typeface="+mj-ea"/>
                <a:cs typeface="+mj-cs"/>
              </a:rPr>
              <a:t> </a:t>
            </a:r>
            <a:r>
              <a:rPr kumimoji="0" lang="es-ES" sz="2400" b="1" i="0" u="none" strike="noStrike" kern="1200" cap="none" spc="0" normalizeH="0" baseline="0" noProof="0" err="1">
                <a:ln>
                  <a:noFill/>
                </a:ln>
                <a:solidFill>
                  <a:schemeClr val="bg2">
                    <a:lumMod val="75000"/>
                  </a:schemeClr>
                </a:solidFill>
                <a:effectLst/>
                <a:uLnTx/>
                <a:uFillTx/>
                <a:latin typeface="Santander Headline"/>
                <a:ea typeface="+mj-ea"/>
                <a:cs typeface="+mj-cs"/>
              </a:rPr>
              <a:t>Monitoring</a:t>
            </a:r>
            <a:endParaRPr kumimoji="0" lang="en-AU" sz="2400" b="1" i="0" u="none" strike="noStrike" kern="1200" cap="none" spc="0" normalizeH="0" baseline="0" noProof="0">
              <a:ln>
                <a:noFill/>
              </a:ln>
              <a:solidFill>
                <a:srgbClr val="BFBFBF"/>
              </a:solidFill>
              <a:effectLst/>
              <a:uLnTx/>
              <a:uFillTx/>
              <a:latin typeface="Santander Headline"/>
              <a:ea typeface="+mj-ea"/>
              <a:cs typeface="+mj-cs"/>
            </a:endParaRPr>
          </a:p>
        </p:txBody>
      </p:sp>
      <p:sp>
        <p:nvSpPr>
          <p:cNvPr id="18" name="Rectángulo 17">
            <a:extLst>
              <a:ext uri="{FF2B5EF4-FFF2-40B4-BE49-F238E27FC236}">
                <a16:creationId xmlns:a16="http://schemas.microsoft.com/office/drawing/2014/main" id="{FE45998E-235E-3C9A-33A1-524C1446A08E}"/>
              </a:ext>
            </a:extLst>
          </p:cNvPr>
          <p:cNvSpPr/>
          <p:nvPr/>
        </p:nvSpPr>
        <p:spPr>
          <a:xfrm>
            <a:off x="831113" y="1730873"/>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algn="ctr"/>
            <a:r>
              <a:rPr lang="en-GB" sz="1400" kern="0">
                <a:solidFill>
                  <a:srgbClr val="DEEDF1">
                    <a:lumMod val="25000"/>
                  </a:srgbClr>
                </a:solidFill>
                <a:latin typeface="Santander Text" panose="020B0504020201020104" pitchFamily="34" charset="0"/>
              </a:rPr>
              <a:t>Asset Control Corporate</a:t>
            </a:r>
          </a:p>
        </p:txBody>
      </p:sp>
      <p:sp>
        <p:nvSpPr>
          <p:cNvPr id="21" name="CuadroTexto 20">
            <a:extLst>
              <a:ext uri="{FF2B5EF4-FFF2-40B4-BE49-F238E27FC236}">
                <a16:creationId xmlns:a16="http://schemas.microsoft.com/office/drawing/2014/main" id="{E16F334E-C3FD-3653-2277-3FF8BC979379}"/>
              </a:ext>
            </a:extLst>
          </p:cNvPr>
          <p:cNvSpPr txBox="1"/>
          <p:nvPr/>
        </p:nvSpPr>
        <p:spPr>
          <a:xfrm>
            <a:off x="684799" y="1128886"/>
            <a:ext cx="5111998" cy="623248"/>
          </a:xfrm>
          <a:prstGeom prst="rect">
            <a:avLst/>
          </a:prstGeom>
          <a:noFill/>
        </p:spPr>
        <p:txBody>
          <a:bodyPr wrap="square" rtlCol="0">
            <a:spAutoFit/>
          </a:bodyPr>
          <a:lstStyle/>
          <a:p>
            <a:pPr marL="355600" indent="-355600">
              <a:spcAft>
                <a:spcPts val="300"/>
              </a:spcAft>
              <a:defRPr/>
            </a:pPr>
            <a:r>
              <a:rPr kumimoji="0" lang="en-AU"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5 –</a:t>
            </a:r>
            <a:r>
              <a:rPr lang="en-GB" sz="1600" b="1">
                <a:solidFill>
                  <a:srgbClr val="DEEDF1">
                    <a:lumMod val="25000"/>
                  </a:srgbClr>
                </a:solidFill>
                <a:latin typeface="Santander Text" panose="020B0504020201020104" pitchFamily="34" charset="0"/>
              </a:rPr>
              <a:t>Market Risk management Services</a:t>
            </a:r>
            <a:endParaRPr lang="en-GB" sz="1600" b="1" kern="0">
              <a:solidFill>
                <a:srgbClr val="DEEDF1">
                  <a:lumMod val="25000"/>
                </a:srgbClr>
              </a:solidFill>
              <a:latin typeface="Santander Text" panose="020B0504020201020104" pitchFamily="34" charset="0"/>
            </a:endParaRPr>
          </a:p>
          <a:p>
            <a:pPr marL="355600" indent="-355600">
              <a:spcAft>
                <a:spcPts val="300"/>
              </a:spcAft>
              <a:defRPr/>
            </a:pPr>
            <a:endParaRPr lang="en-GB" sz="1600" b="1">
              <a:solidFill>
                <a:srgbClr val="DEEDF1">
                  <a:lumMod val="25000"/>
                </a:srgbClr>
              </a:solidFill>
              <a:latin typeface="Santander Text" panose="020B0504020201020104" pitchFamily="34" charset="0"/>
            </a:endParaRPr>
          </a:p>
        </p:txBody>
      </p:sp>
      <p:cxnSp>
        <p:nvCxnSpPr>
          <p:cNvPr id="22" name="Conector recto 21">
            <a:extLst>
              <a:ext uri="{FF2B5EF4-FFF2-40B4-BE49-F238E27FC236}">
                <a16:creationId xmlns:a16="http://schemas.microsoft.com/office/drawing/2014/main" id="{B338CBC7-038C-560C-0C68-A4AF5E628AB7}"/>
              </a:ext>
            </a:extLst>
          </p:cNvPr>
          <p:cNvCxnSpPr>
            <a:cxnSpLocks/>
          </p:cNvCxnSpPr>
          <p:nvPr/>
        </p:nvCxnSpPr>
        <p:spPr>
          <a:xfrm flipH="1" flipV="1">
            <a:off x="739202" y="1511514"/>
            <a:ext cx="5112000" cy="0"/>
          </a:xfrm>
          <a:prstGeom prst="line">
            <a:avLst/>
          </a:prstGeom>
          <a:noFill/>
          <a:ln w="12700" cap="flat" cmpd="sng" algn="ctr">
            <a:solidFill>
              <a:srgbClr val="595959"/>
            </a:solidFill>
            <a:prstDash val="solid"/>
            <a:miter lim="800000"/>
          </a:ln>
          <a:effectLst/>
        </p:spPr>
      </p:cxnSp>
      <p:sp>
        <p:nvSpPr>
          <p:cNvPr id="46" name="CuadroTexto 45">
            <a:extLst>
              <a:ext uri="{FF2B5EF4-FFF2-40B4-BE49-F238E27FC236}">
                <a16:creationId xmlns:a16="http://schemas.microsoft.com/office/drawing/2014/main" id="{3BB4DEA9-649A-6FE3-2D15-4262EF762066}"/>
              </a:ext>
            </a:extLst>
          </p:cNvPr>
          <p:cNvSpPr txBox="1"/>
          <p:nvPr/>
        </p:nvSpPr>
        <p:spPr>
          <a:xfrm>
            <a:off x="2337604" y="1651987"/>
            <a:ext cx="3605507" cy="861774"/>
          </a:xfrm>
          <a:prstGeom prst="rect">
            <a:avLst/>
          </a:prstGeom>
          <a:noFill/>
        </p:spPr>
        <p:txBody>
          <a:bodyPr wrap="square">
            <a:spAutoFit/>
          </a:bodyPr>
          <a:lstStyle/>
          <a:p>
            <a:pPr marL="180000" indent="-180000" algn="just">
              <a:buClr>
                <a:srgbClr val="FF0000"/>
              </a:buClr>
              <a:buFont typeface="Wingdings" panose="05000000000000000000" pitchFamily="2" charset="2"/>
              <a:buChar char="§"/>
              <a:defRPr/>
            </a:pPr>
            <a:r>
              <a:rPr lang="en-US" sz="1000" b="0" i="0" u="none" strike="noStrike">
                <a:solidFill>
                  <a:srgbClr val="000000"/>
                </a:solidFill>
                <a:effectLst/>
                <a:latin typeface="Aptos Narrow" panose="020B0004020202020204" pitchFamily="34" charset="0"/>
              </a:rPr>
              <a:t>Solution designed to help organizations manage, control, and optimize their financial data assets effectively. These solutions enable firms to handle large volumes of data from various sources, ensuring data quality, consistency, and accessibility across the enterprise.</a:t>
            </a:r>
            <a:endParaRPr lang="es-ES" sz="1000">
              <a:solidFill>
                <a:prstClr val="black"/>
              </a:solidFill>
              <a:latin typeface="Santander Text" panose="020B0504020201020104" pitchFamily="34" charset="0"/>
            </a:endParaRPr>
          </a:p>
        </p:txBody>
      </p:sp>
      <p:cxnSp>
        <p:nvCxnSpPr>
          <p:cNvPr id="3" name="Conector recto 2">
            <a:extLst>
              <a:ext uri="{FF2B5EF4-FFF2-40B4-BE49-F238E27FC236}">
                <a16:creationId xmlns:a16="http://schemas.microsoft.com/office/drawing/2014/main" id="{BEE2ED3E-17BB-1C52-1947-E0D9067F5017}"/>
              </a:ext>
            </a:extLst>
          </p:cNvPr>
          <p:cNvCxnSpPr>
            <a:cxnSpLocks/>
          </p:cNvCxnSpPr>
          <p:nvPr/>
        </p:nvCxnSpPr>
        <p:spPr>
          <a:xfrm flipH="1" flipV="1">
            <a:off x="739202" y="2485057"/>
            <a:ext cx="5112000" cy="0"/>
          </a:xfrm>
          <a:prstGeom prst="line">
            <a:avLst/>
          </a:prstGeom>
          <a:noFill/>
          <a:ln w="12700" cap="flat" cmpd="sng" algn="ctr">
            <a:solidFill>
              <a:schemeClr val="bg1">
                <a:lumMod val="85000"/>
              </a:schemeClr>
            </a:solidFill>
            <a:prstDash val="solid"/>
            <a:miter lim="800000"/>
          </a:ln>
          <a:effectLst/>
        </p:spPr>
      </p:cxnSp>
      <p:sp>
        <p:nvSpPr>
          <p:cNvPr id="4" name="Rectángulo 3">
            <a:extLst>
              <a:ext uri="{FF2B5EF4-FFF2-40B4-BE49-F238E27FC236}">
                <a16:creationId xmlns:a16="http://schemas.microsoft.com/office/drawing/2014/main" id="{3DB551F3-ADF8-F43D-5786-7315D3E9949E}"/>
              </a:ext>
            </a:extLst>
          </p:cNvPr>
          <p:cNvSpPr/>
          <p:nvPr/>
        </p:nvSpPr>
        <p:spPr>
          <a:xfrm>
            <a:off x="831113" y="2627165"/>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algn="ctr"/>
            <a:r>
              <a:rPr lang="en-GB" sz="1400" kern="0">
                <a:solidFill>
                  <a:srgbClr val="DEEDF1">
                    <a:lumMod val="25000"/>
                  </a:srgbClr>
                </a:solidFill>
                <a:latin typeface="Santander Text" panose="020B0504020201020104" pitchFamily="34" charset="0"/>
              </a:rPr>
              <a:t>AVA FVA</a:t>
            </a:r>
          </a:p>
        </p:txBody>
      </p:sp>
      <p:sp>
        <p:nvSpPr>
          <p:cNvPr id="5" name="CuadroTexto 4">
            <a:extLst>
              <a:ext uri="{FF2B5EF4-FFF2-40B4-BE49-F238E27FC236}">
                <a16:creationId xmlns:a16="http://schemas.microsoft.com/office/drawing/2014/main" id="{55A2A6A6-EBDE-14E9-1DD9-7FE3A4D0C62A}"/>
              </a:ext>
            </a:extLst>
          </p:cNvPr>
          <p:cNvSpPr txBox="1"/>
          <p:nvPr/>
        </p:nvSpPr>
        <p:spPr>
          <a:xfrm>
            <a:off x="6340800" y="1129372"/>
            <a:ext cx="5111998" cy="623248"/>
          </a:xfrm>
          <a:prstGeom prst="rect">
            <a:avLst/>
          </a:prstGeom>
          <a:noFill/>
        </p:spPr>
        <p:txBody>
          <a:bodyPr wrap="square" rtlCol="0">
            <a:spAutoFit/>
          </a:bodyPr>
          <a:lstStyle/>
          <a:p>
            <a:pPr marL="355600" indent="-355600">
              <a:spcAft>
                <a:spcPts val="300"/>
              </a:spcAft>
              <a:defRPr/>
            </a:pPr>
            <a:r>
              <a:rPr lang="en-AU" sz="1600" b="1" kern="0">
                <a:solidFill>
                  <a:srgbClr val="DEEDF1">
                    <a:lumMod val="25000"/>
                  </a:srgbClr>
                </a:solidFill>
                <a:latin typeface="Santander Text" panose="020B0504020201020104" pitchFamily="34" charset="0"/>
              </a:rPr>
              <a:t>6</a:t>
            </a:r>
            <a:r>
              <a:rPr kumimoji="0" lang="en-AU"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 – </a:t>
            </a:r>
            <a:r>
              <a:rPr lang="en-GB" sz="1600" b="1">
                <a:solidFill>
                  <a:srgbClr val="DEEDF1">
                    <a:lumMod val="25000"/>
                  </a:srgbClr>
                </a:solidFill>
                <a:latin typeface="Santander Text" panose="020B0504020201020104" pitchFamily="34" charset="0"/>
              </a:rPr>
              <a:t>Finance management Services</a:t>
            </a:r>
            <a:endParaRPr lang="en-GB" sz="1600" b="1" kern="0">
              <a:solidFill>
                <a:srgbClr val="DEEDF1">
                  <a:lumMod val="25000"/>
                </a:srgbClr>
              </a:solidFill>
              <a:latin typeface="Santander Text" panose="020B0504020201020104" pitchFamily="34" charset="0"/>
            </a:endParaRPr>
          </a:p>
          <a:p>
            <a:pPr marL="355600" indent="-355600">
              <a:spcAft>
                <a:spcPts val="300"/>
              </a:spcAft>
              <a:defRPr/>
            </a:pPr>
            <a:endParaRPr lang="en-GB" sz="1600" b="1">
              <a:solidFill>
                <a:srgbClr val="DEEDF1">
                  <a:lumMod val="25000"/>
                </a:srgbClr>
              </a:solidFill>
              <a:latin typeface="Santander Text" panose="020B0504020201020104" pitchFamily="34" charset="0"/>
            </a:endParaRPr>
          </a:p>
        </p:txBody>
      </p:sp>
      <p:cxnSp>
        <p:nvCxnSpPr>
          <p:cNvPr id="7" name="Conector recto 6">
            <a:extLst>
              <a:ext uri="{FF2B5EF4-FFF2-40B4-BE49-F238E27FC236}">
                <a16:creationId xmlns:a16="http://schemas.microsoft.com/office/drawing/2014/main" id="{582329E0-F958-855D-41CB-41162EF78FB1}"/>
              </a:ext>
            </a:extLst>
          </p:cNvPr>
          <p:cNvCxnSpPr>
            <a:cxnSpLocks/>
          </p:cNvCxnSpPr>
          <p:nvPr/>
        </p:nvCxnSpPr>
        <p:spPr>
          <a:xfrm flipH="1" flipV="1">
            <a:off x="809370" y="3235914"/>
            <a:ext cx="5112000" cy="0"/>
          </a:xfrm>
          <a:prstGeom prst="line">
            <a:avLst/>
          </a:prstGeom>
          <a:noFill/>
          <a:ln w="12700" cap="flat" cmpd="sng" algn="ctr">
            <a:solidFill>
              <a:schemeClr val="bg1">
                <a:lumMod val="85000"/>
              </a:schemeClr>
            </a:solidFill>
            <a:prstDash val="solid"/>
            <a:miter lim="800000"/>
          </a:ln>
          <a:effectLst/>
        </p:spPr>
      </p:cxnSp>
      <p:sp>
        <p:nvSpPr>
          <p:cNvPr id="9" name="Rectángulo 8">
            <a:extLst>
              <a:ext uri="{FF2B5EF4-FFF2-40B4-BE49-F238E27FC236}">
                <a16:creationId xmlns:a16="http://schemas.microsoft.com/office/drawing/2014/main" id="{7B6027D0-CCB1-AA81-5199-66E3950F018B}"/>
              </a:ext>
            </a:extLst>
          </p:cNvPr>
          <p:cNvSpPr/>
          <p:nvPr/>
        </p:nvSpPr>
        <p:spPr>
          <a:xfrm>
            <a:off x="831113" y="3313277"/>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algn="ctr"/>
            <a:r>
              <a:rPr lang="en-GB" sz="1400" kern="0">
                <a:solidFill>
                  <a:srgbClr val="DEEDF1">
                    <a:lumMod val="25000"/>
                  </a:srgbClr>
                </a:solidFill>
                <a:latin typeface="Santander Text" panose="020B0504020201020104" pitchFamily="34" charset="0"/>
              </a:rPr>
              <a:t>CRISTINE 2</a:t>
            </a:r>
          </a:p>
        </p:txBody>
      </p:sp>
      <p:cxnSp>
        <p:nvCxnSpPr>
          <p:cNvPr id="10" name="Conector recto 9">
            <a:extLst>
              <a:ext uri="{FF2B5EF4-FFF2-40B4-BE49-F238E27FC236}">
                <a16:creationId xmlns:a16="http://schemas.microsoft.com/office/drawing/2014/main" id="{605FB95C-F8E1-A769-013C-75B2DD81B95B}"/>
              </a:ext>
            </a:extLst>
          </p:cNvPr>
          <p:cNvCxnSpPr>
            <a:cxnSpLocks/>
          </p:cNvCxnSpPr>
          <p:nvPr/>
        </p:nvCxnSpPr>
        <p:spPr>
          <a:xfrm flipH="1" flipV="1">
            <a:off x="739202" y="3950498"/>
            <a:ext cx="5112000" cy="0"/>
          </a:xfrm>
          <a:prstGeom prst="line">
            <a:avLst/>
          </a:prstGeom>
          <a:noFill/>
          <a:ln w="12700" cap="flat" cmpd="sng" algn="ctr">
            <a:solidFill>
              <a:schemeClr val="bg1">
                <a:lumMod val="85000"/>
              </a:schemeClr>
            </a:solidFill>
            <a:prstDash val="solid"/>
            <a:miter lim="800000"/>
          </a:ln>
          <a:effectLst/>
        </p:spPr>
      </p:cxnSp>
      <p:cxnSp>
        <p:nvCxnSpPr>
          <p:cNvPr id="14" name="Conector recto 13">
            <a:extLst>
              <a:ext uri="{FF2B5EF4-FFF2-40B4-BE49-F238E27FC236}">
                <a16:creationId xmlns:a16="http://schemas.microsoft.com/office/drawing/2014/main" id="{012F2B94-41F6-FD55-77E6-A32806C00230}"/>
              </a:ext>
            </a:extLst>
          </p:cNvPr>
          <p:cNvCxnSpPr>
            <a:cxnSpLocks/>
          </p:cNvCxnSpPr>
          <p:nvPr/>
        </p:nvCxnSpPr>
        <p:spPr>
          <a:xfrm flipH="1" flipV="1">
            <a:off x="809370" y="4648190"/>
            <a:ext cx="5112000" cy="0"/>
          </a:xfrm>
          <a:prstGeom prst="line">
            <a:avLst/>
          </a:prstGeom>
          <a:noFill/>
          <a:ln w="12700" cap="flat" cmpd="sng" algn="ctr">
            <a:solidFill>
              <a:schemeClr val="bg1">
                <a:lumMod val="85000"/>
              </a:schemeClr>
            </a:solidFill>
            <a:prstDash val="solid"/>
            <a:miter lim="800000"/>
          </a:ln>
          <a:effectLst/>
        </p:spPr>
      </p:cxnSp>
      <p:sp>
        <p:nvSpPr>
          <p:cNvPr id="16" name="Rectángulo 15">
            <a:extLst>
              <a:ext uri="{FF2B5EF4-FFF2-40B4-BE49-F238E27FC236}">
                <a16:creationId xmlns:a16="http://schemas.microsoft.com/office/drawing/2014/main" id="{AF75031D-412E-7A0A-494B-6476A43BEF02}"/>
              </a:ext>
            </a:extLst>
          </p:cNvPr>
          <p:cNvSpPr/>
          <p:nvPr/>
        </p:nvSpPr>
        <p:spPr>
          <a:xfrm>
            <a:off x="831113" y="4745579"/>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algn="ctr"/>
            <a:r>
              <a:rPr lang="en-GB" sz="1400" kern="0">
                <a:solidFill>
                  <a:srgbClr val="DEEDF1">
                    <a:lumMod val="25000"/>
                  </a:srgbClr>
                </a:solidFill>
                <a:latin typeface="Santander Text" panose="020B0504020201020104" pitchFamily="34" charset="0"/>
              </a:rPr>
              <a:t>Initial Margin</a:t>
            </a:r>
          </a:p>
        </p:txBody>
      </p:sp>
      <p:cxnSp>
        <p:nvCxnSpPr>
          <p:cNvPr id="19" name="Conector recto 18">
            <a:extLst>
              <a:ext uri="{FF2B5EF4-FFF2-40B4-BE49-F238E27FC236}">
                <a16:creationId xmlns:a16="http://schemas.microsoft.com/office/drawing/2014/main" id="{7098111C-1760-09E0-0197-AF18216E0178}"/>
              </a:ext>
            </a:extLst>
          </p:cNvPr>
          <p:cNvCxnSpPr>
            <a:cxnSpLocks/>
          </p:cNvCxnSpPr>
          <p:nvPr/>
        </p:nvCxnSpPr>
        <p:spPr>
          <a:xfrm flipH="1" flipV="1">
            <a:off x="739202" y="5350901"/>
            <a:ext cx="5112000" cy="0"/>
          </a:xfrm>
          <a:prstGeom prst="line">
            <a:avLst/>
          </a:prstGeom>
          <a:noFill/>
          <a:ln w="12700" cap="flat" cmpd="sng" algn="ctr">
            <a:solidFill>
              <a:schemeClr val="bg1">
                <a:lumMod val="85000"/>
              </a:schemeClr>
            </a:solidFill>
            <a:prstDash val="solid"/>
            <a:miter lim="800000"/>
          </a:ln>
          <a:effectLst/>
        </p:spPr>
      </p:cxnSp>
      <p:sp>
        <p:nvSpPr>
          <p:cNvPr id="20" name="Rectángulo 19">
            <a:extLst>
              <a:ext uri="{FF2B5EF4-FFF2-40B4-BE49-F238E27FC236}">
                <a16:creationId xmlns:a16="http://schemas.microsoft.com/office/drawing/2014/main" id="{973C5B23-6040-20D3-64B4-DBFDFAECD901}"/>
              </a:ext>
            </a:extLst>
          </p:cNvPr>
          <p:cNvSpPr/>
          <p:nvPr/>
        </p:nvSpPr>
        <p:spPr>
          <a:xfrm>
            <a:off x="831113" y="5471743"/>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algn="ctr"/>
            <a:r>
              <a:rPr lang="en-GB" sz="1400" kern="0">
                <a:solidFill>
                  <a:srgbClr val="DEEDF1">
                    <a:lumMod val="25000"/>
                  </a:srgbClr>
                </a:solidFill>
                <a:latin typeface="Santander Text" panose="020B0504020201020104" pitchFamily="34" charset="0"/>
              </a:rPr>
              <a:t>MARS</a:t>
            </a:r>
          </a:p>
        </p:txBody>
      </p:sp>
      <p:cxnSp>
        <p:nvCxnSpPr>
          <p:cNvPr id="23" name="Conector recto 22">
            <a:extLst>
              <a:ext uri="{FF2B5EF4-FFF2-40B4-BE49-F238E27FC236}">
                <a16:creationId xmlns:a16="http://schemas.microsoft.com/office/drawing/2014/main" id="{C1BFB684-8BEC-CB66-61BE-ED3C0DC82B36}"/>
              </a:ext>
            </a:extLst>
          </p:cNvPr>
          <p:cNvCxnSpPr>
            <a:cxnSpLocks/>
          </p:cNvCxnSpPr>
          <p:nvPr/>
        </p:nvCxnSpPr>
        <p:spPr>
          <a:xfrm flipH="1" flipV="1">
            <a:off x="739202" y="6091659"/>
            <a:ext cx="5112000" cy="0"/>
          </a:xfrm>
          <a:prstGeom prst="line">
            <a:avLst/>
          </a:prstGeom>
          <a:noFill/>
          <a:ln w="12700" cap="flat" cmpd="sng" algn="ctr">
            <a:solidFill>
              <a:schemeClr val="bg1">
                <a:lumMod val="85000"/>
              </a:schemeClr>
            </a:solidFill>
            <a:prstDash val="solid"/>
            <a:miter lim="800000"/>
          </a:ln>
          <a:effectLst/>
        </p:spPr>
      </p:cxnSp>
      <p:sp>
        <p:nvSpPr>
          <p:cNvPr id="54" name="Rectángulo 53">
            <a:extLst>
              <a:ext uri="{FF2B5EF4-FFF2-40B4-BE49-F238E27FC236}">
                <a16:creationId xmlns:a16="http://schemas.microsoft.com/office/drawing/2014/main" id="{C09D17A0-4040-A24D-4ACC-D68024B37C15}"/>
              </a:ext>
            </a:extLst>
          </p:cNvPr>
          <p:cNvSpPr/>
          <p:nvPr/>
        </p:nvSpPr>
        <p:spPr>
          <a:xfrm>
            <a:off x="6429946" y="1737736"/>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algn="ctr"/>
            <a:r>
              <a:rPr lang="en-GB" sz="1400" kern="0">
                <a:solidFill>
                  <a:srgbClr val="DEEDF1">
                    <a:lumMod val="25000"/>
                  </a:srgbClr>
                </a:solidFill>
                <a:latin typeface="Santander Text" panose="020B0504020201020104" pitchFamily="34" charset="0"/>
              </a:rPr>
              <a:t>FIMS</a:t>
            </a:r>
          </a:p>
        </p:txBody>
      </p:sp>
      <p:sp>
        <p:nvSpPr>
          <p:cNvPr id="56" name="CuadroTexto 55">
            <a:extLst>
              <a:ext uri="{FF2B5EF4-FFF2-40B4-BE49-F238E27FC236}">
                <a16:creationId xmlns:a16="http://schemas.microsoft.com/office/drawing/2014/main" id="{0E434530-6A44-98DB-A2CE-359FC8A84BB4}"/>
              </a:ext>
            </a:extLst>
          </p:cNvPr>
          <p:cNvSpPr txBox="1"/>
          <p:nvPr/>
        </p:nvSpPr>
        <p:spPr>
          <a:xfrm>
            <a:off x="7952225" y="1705876"/>
            <a:ext cx="3833684" cy="553998"/>
          </a:xfrm>
          <a:prstGeom prst="rect">
            <a:avLst/>
          </a:prstGeom>
          <a:noFill/>
        </p:spPr>
        <p:txBody>
          <a:bodyPr wrap="square">
            <a:spAutoFit/>
          </a:bodyPr>
          <a:lstStyle/>
          <a:p>
            <a:pPr marL="180000" indent="-180000" algn="just">
              <a:buClr>
                <a:srgbClr val="FF0000"/>
              </a:buClr>
              <a:buFont typeface="Wingdings" panose="05000000000000000000" pitchFamily="2" charset="2"/>
              <a:buChar char="§"/>
              <a:defRPr/>
            </a:pPr>
            <a:r>
              <a:rPr lang="en-US" sz="1000" b="0" i="0" u="none" strike="noStrike">
                <a:solidFill>
                  <a:srgbClr val="000000"/>
                </a:solidFill>
                <a:effectLst/>
                <a:latin typeface="Aptos Narrow" panose="020B0004020202020204" pitchFamily="34" charset="0"/>
              </a:rPr>
              <a:t>Integration layer between Fidessa Swap (SLB) and different components within the bank (Murex, </a:t>
            </a:r>
            <a:r>
              <a:rPr lang="en-US" sz="1000" b="0" i="0" u="none" strike="noStrike" err="1">
                <a:solidFill>
                  <a:srgbClr val="000000"/>
                </a:solidFill>
                <a:effectLst/>
                <a:latin typeface="Aptos Narrow" panose="020B0004020202020204" pitchFamily="34" charset="0"/>
              </a:rPr>
              <a:t>SwapOne</a:t>
            </a:r>
            <a:r>
              <a:rPr lang="en-US" sz="1000" b="0" i="0" u="none" strike="noStrike">
                <a:solidFill>
                  <a:srgbClr val="000000"/>
                </a:solidFill>
                <a:effectLst/>
                <a:latin typeface="Aptos Narrow" panose="020B0004020202020204" pitchFamily="34" charset="0"/>
              </a:rPr>
              <a:t>, APAMA).</a:t>
            </a:r>
            <a:endParaRPr lang="es-ES" sz="1000"/>
          </a:p>
          <a:p>
            <a:pPr algn="just">
              <a:buClr>
                <a:srgbClr val="FF0000"/>
              </a:buClr>
              <a:defRPr/>
            </a:pPr>
            <a:endParaRPr lang="es-ES" sz="1000">
              <a:solidFill>
                <a:prstClr val="black"/>
              </a:solidFill>
              <a:latin typeface="Santander Text" panose="020B0504020201020104" pitchFamily="34" charset="0"/>
            </a:endParaRPr>
          </a:p>
        </p:txBody>
      </p:sp>
      <p:cxnSp>
        <p:nvCxnSpPr>
          <p:cNvPr id="57" name="Conector recto 56">
            <a:extLst>
              <a:ext uri="{FF2B5EF4-FFF2-40B4-BE49-F238E27FC236}">
                <a16:creationId xmlns:a16="http://schemas.microsoft.com/office/drawing/2014/main" id="{F9FF98BF-B284-FE7B-AFC8-5A8643A2FFAB}"/>
              </a:ext>
            </a:extLst>
          </p:cNvPr>
          <p:cNvCxnSpPr>
            <a:cxnSpLocks/>
          </p:cNvCxnSpPr>
          <p:nvPr/>
        </p:nvCxnSpPr>
        <p:spPr>
          <a:xfrm flipH="1" flipV="1">
            <a:off x="6338035" y="2438755"/>
            <a:ext cx="5358334" cy="11639"/>
          </a:xfrm>
          <a:prstGeom prst="line">
            <a:avLst/>
          </a:prstGeom>
          <a:noFill/>
          <a:ln w="12700" cap="flat" cmpd="sng" algn="ctr">
            <a:solidFill>
              <a:schemeClr val="bg1">
                <a:lumMod val="85000"/>
              </a:schemeClr>
            </a:solidFill>
            <a:prstDash val="solid"/>
            <a:miter lim="800000"/>
          </a:ln>
          <a:effectLst/>
        </p:spPr>
      </p:cxnSp>
      <p:sp>
        <p:nvSpPr>
          <p:cNvPr id="58" name="Rectángulo 57">
            <a:extLst>
              <a:ext uri="{FF2B5EF4-FFF2-40B4-BE49-F238E27FC236}">
                <a16:creationId xmlns:a16="http://schemas.microsoft.com/office/drawing/2014/main" id="{B00DE5B0-2C79-D10F-C339-39ED99EC73C1}"/>
              </a:ext>
            </a:extLst>
          </p:cNvPr>
          <p:cNvSpPr/>
          <p:nvPr/>
        </p:nvSpPr>
        <p:spPr>
          <a:xfrm>
            <a:off x="6429946" y="2559597"/>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algn="ctr"/>
            <a:r>
              <a:rPr lang="en-GB" sz="1400" kern="0">
                <a:solidFill>
                  <a:srgbClr val="DEEDF1">
                    <a:lumMod val="25000"/>
                  </a:srgbClr>
                </a:solidFill>
                <a:latin typeface="Santander Text" panose="020B0504020201020104" pitchFamily="34" charset="0"/>
              </a:rPr>
              <a:t>FMIS SCIB</a:t>
            </a:r>
          </a:p>
        </p:txBody>
      </p:sp>
      <p:cxnSp>
        <p:nvCxnSpPr>
          <p:cNvPr id="59" name="Conector recto 58">
            <a:extLst>
              <a:ext uri="{FF2B5EF4-FFF2-40B4-BE49-F238E27FC236}">
                <a16:creationId xmlns:a16="http://schemas.microsoft.com/office/drawing/2014/main" id="{F20FB389-77F8-93EA-79C7-7B5BCC1881DD}"/>
              </a:ext>
            </a:extLst>
          </p:cNvPr>
          <p:cNvCxnSpPr>
            <a:cxnSpLocks/>
          </p:cNvCxnSpPr>
          <p:nvPr/>
        </p:nvCxnSpPr>
        <p:spPr>
          <a:xfrm flipH="1">
            <a:off x="6408203" y="3161483"/>
            <a:ext cx="5377706" cy="6863"/>
          </a:xfrm>
          <a:prstGeom prst="line">
            <a:avLst/>
          </a:prstGeom>
          <a:noFill/>
          <a:ln w="12700" cap="flat" cmpd="sng" algn="ctr">
            <a:solidFill>
              <a:schemeClr val="bg1">
                <a:lumMod val="85000"/>
              </a:schemeClr>
            </a:solidFill>
            <a:prstDash val="solid"/>
            <a:miter lim="800000"/>
          </a:ln>
          <a:effectLst/>
        </p:spPr>
      </p:cxnSp>
      <p:cxnSp>
        <p:nvCxnSpPr>
          <p:cNvPr id="60" name="Conector recto 59">
            <a:extLst>
              <a:ext uri="{FF2B5EF4-FFF2-40B4-BE49-F238E27FC236}">
                <a16:creationId xmlns:a16="http://schemas.microsoft.com/office/drawing/2014/main" id="{7C9FF7C7-31A2-5391-09DC-CA48AD2A6007}"/>
              </a:ext>
            </a:extLst>
          </p:cNvPr>
          <p:cNvCxnSpPr>
            <a:cxnSpLocks/>
          </p:cNvCxnSpPr>
          <p:nvPr/>
        </p:nvCxnSpPr>
        <p:spPr>
          <a:xfrm flipH="1">
            <a:off x="6360369" y="1511514"/>
            <a:ext cx="5421064" cy="0"/>
          </a:xfrm>
          <a:prstGeom prst="line">
            <a:avLst/>
          </a:prstGeom>
          <a:noFill/>
          <a:ln w="12700" cap="flat" cmpd="sng" algn="ctr">
            <a:solidFill>
              <a:srgbClr val="595959"/>
            </a:solidFill>
            <a:prstDash val="solid"/>
            <a:miter lim="800000"/>
          </a:ln>
          <a:effectLst/>
        </p:spPr>
      </p:cxnSp>
      <p:sp>
        <p:nvSpPr>
          <p:cNvPr id="61" name="Rectángulo 60">
            <a:extLst>
              <a:ext uri="{FF2B5EF4-FFF2-40B4-BE49-F238E27FC236}">
                <a16:creationId xmlns:a16="http://schemas.microsoft.com/office/drawing/2014/main" id="{9C1DA3F4-3F57-5065-1827-CC286845F9CC}"/>
              </a:ext>
            </a:extLst>
          </p:cNvPr>
          <p:cNvSpPr/>
          <p:nvPr/>
        </p:nvSpPr>
        <p:spPr>
          <a:xfrm>
            <a:off x="6426264" y="3254103"/>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algn="ctr"/>
            <a:r>
              <a:rPr lang="en-GB" sz="1400" kern="0">
                <a:solidFill>
                  <a:srgbClr val="DEEDF1">
                    <a:lumMod val="25000"/>
                  </a:srgbClr>
                </a:solidFill>
                <a:latin typeface="Santander Text" panose="020B0504020201020104" pitchFamily="34" charset="0"/>
              </a:rPr>
              <a:t>MISCO GCB</a:t>
            </a:r>
          </a:p>
        </p:txBody>
      </p:sp>
      <p:cxnSp>
        <p:nvCxnSpPr>
          <p:cNvPr id="62" name="Conector recto 61">
            <a:extLst>
              <a:ext uri="{FF2B5EF4-FFF2-40B4-BE49-F238E27FC236}">
                <a16:creationId xmlns:a16="http://schemas.microsoft.com/office/drawing/2014/main" id="{47B6A4EE-1CDA-383B-22C7-90770DB8B4C7}"/>
              </a:ext>
            </a:extLst>
          </p:cNvPr>
          <p:cNvCxnSpPr>
            <a:cxnSpLocks/>
          </p:cNvCxnSpPr>
          <p:nvPr/>
        </p:nvCxnSpPr>
        <p:spPr>
          <a:xfrm flipH="1">
            <a:off x="6340798" y="3877021"/>
            <a:ext cx="5445111" cy="0"/>
          </a:xfrm>
          <a:prstGeom prst="line">
            <a:avLst/>
          </a:prstGeom>
          <a:noFill/>
          <a:ln w="12700" cap="flat" cmpd="sng" algn="ctr">
            <a:solidFill>
              <a:schemeClr val="bg1">
                <a:lumMod val="85000"/>
              </a:schemeClr>
            </a:solidFill>
            <a:prstDash val="solid"/>
            <a:miter lim="800000"/>
          </a:ln>
          <a:effectLst/>
        </p:spPr>
      </p:cxnSp>
      <p:sp>
        <p:nvSpPr>
          <p:cNvPr id="64" name="CuadroTexto 63">
            <a:extLst>
              <a:ext uri="{FF2B5EF4-FFF2-40B4-BE49-F238E27FC236}">
                <a16:creationId xmlns:a16="http://schemas.microsoft.com/office/drawing/2014/main" id="{403B1713-6423-9367-84BC-9413B1E8FE1D}"/>
              </a:ext>
            </a:extLst>
          </p:cNvPr>
          <p:cNvSpPr txBox="1"/>
          <p:nvPr/>
        </p:nvSpPr>
        <p:spPr>
          <a:xfrm>
            <a:off x="6332097" y="3918742"/>
            <a:ext cx="6507124" cy="338554"/>
          </a:xfrm>
          <a:prstGeom prst="rect">
            <a:avLst/>
          </a:prstGeom>
          <a:noFill/>
        </p:spPr>
        <p:txBody>
          <a:bodyPr wrap="square">
            <a:spAutoFit/>
          </a:bodyPr>
          <a:lstStyle/>
          <a:p>
            <a:pPr marL="355600" indent="-355600">
              <a:spcAft>
                <a:spcPts val="300"/>
              </a:spcAft>
            </a:pPr>
            <a:r>
              <a:rPr lang="en-GB" sz="1600" b="1">
                <a:solidFill>
                  <a:srgbClr val="DEEDF1">
                    <a:lumMod val="25000"/>
                  </a:srgbClr>
                </a:solidFill>
                <a:latin typeface="Santander Text" panose="020B0504020201020104" pitchFamily="34" charset="0"/>
              </a:rPr>
              <a:t>7 – </a:t>
            </a:r>
            <a:r>
              <a:rPr lang="en-US" sz="1600" b="1">
                <a:solidFill>
                  <a:srgbClr val="DEEDF1">
                    <a:lumMod val="25000"/>
                  </a:srgbClr>
                </a:solidFill>
                <a:latin typeface="Santander Text" panose="020B0504020201020104" pitchFamily="34" charset="0"/>
              </a:rPr>
              <a:t>Back Office Business Execution Services</a:t>
            </a:r>
            <a:endParaRPr lang="en-GB" sz="1600" b="1">
              <a:solidFill>
                <a:srgbClr val="DEEDF1">
                  <a:lumMod val="25000"/>
                </a:srgbClr>
              </a:solidFill>
              <a:latin typeface="Santander Text" panose="020B0504020201020104" pitchFamily="34" charset="0"/>
            </a:endParaRPr>
          </a:p>
        </p:txBody>
      </p:sp>
      <p:cxnSp>
        <p:nvCxnSpPr>
          <p:cNvPr id="65" name="Conector recto 64">
            <a:extLst>
              <a:ext uri="{FF2B5EF4-FFF2-40B4-BE49-F238E27FC236}">
                <a16:creationId xmlns:a16="http://schemas.microsoft.com/office/drawing/2014/main" id="{2CC9E6E2-7D19-6AA6-5032-B9510895D429}"/>
              </a:ext>
            </a:extLst>
          </p:cNvPr>
          <p:cNvCxnSpPr>
            <a:cxnSpLocks/>
          </p:cNvCxnSpPr>
          <p:nvPr/>
        </p:nvCxnSpPr>
        <p:spPr>
          <a:xfrm flipH="1">
            <a:off x="6357757" y="4352993"/>
            <a:ext cx="5428152" cy="9236"/>
          </a:xfrm>
          <a:prstGeom prst="line">
            <a:avLst/>
          </a:prstGeom>
          <a:noFill/>
          <a:ln w="12700" cap="flat" cmpd="sng" algn="ctr">
            <a:solidFill>
              <a:srgbClr val="595959"/>
            </a:solidFill>
            <a:prstDash val="solid"/>
            <a:miter lim="800000"/>
          </a:ln>
          <a:effectLst/>
        </p:spPr>
      </p:cxnSp>
      <p:sp>
        <p:nvSpPr>
          <p:cNvPr id="66" name="Rectángulo 65">
            <a:extLst>
              <a:ext uri="{FF2B5EF4-FFF2-40B4-BE49-F238E27FC236}">
                <a16:creationId xmlns:a16="http://schemas.microsoft.com/office/drawing/2014/main" id="{B675A098-43AA-EE80-A1BA-7F8083C6ACE3}"/>
              </a:ext>
            </a:extLst>
          </p:cNvPr>
          <p:cNvSpPr/>
          <p:nvPr/>
        </p:nvSpPr>
        <p:spPr>
          <a:xfrm>
            <a:off x="6408203" y="4448493"/>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algn="ctr"/>
            <a:r>
              <a:rPr lang="en-GB" sz="1400" kern="0">
                <a:solidFill>
                  <a:srgbClr val="DEEDF1">
                    <a:lumMod val="25000"/>
                  </a:srgbClr>
                </a:solidFill>
                <a:latin typeface="Santander Text" panose="020B0504020201020104" pitchFamily="34" charset="0"/>
              </a:rPr>
              <a:t>TIARA GLOBAL</a:t>
            </a:r>
          </a:p>
        </p:txBody>
      </p:sp>
      <p:cxnSp>
        <p:nvCxnSpPr>
          <p:cNvPr id="67" name="Conector recto 66">
            <a:extLst>
              <a:ext uri="{FF2B5EF4-FFF2-40B4-BE49-F238E27FC236}">
                <a16:creationId xmlns:a16="http://schemas.microsoft.com/office/drawing/2014/main" id="{6BB99F2D-6B3C-324F-763D-1C2EF69B9571}"/>
              </a:ext>
            </a:extLst>
          </p:cNvPr>
          <p:cNvCxnSpPr>
            <a:cxnSpLocks/>
          </p:cNvCxnSpPr>
          <p:nvPr/>
        </p:nvCxnSpPr>
        <p:spPr>
          <a:xfrm flipH="1">
            <a:off x="6357757" y="5171732"/>
            <a:ext cx="5428152" cy="0"/>
          </a:xfrm>
          <a:prstGeom prst="line">
            <a:avLst/>
          </a:prstGeom>
          <a:noFill/>
          <a:ln w="12700" cap="flat" cmpd="sng" algn="ctr">
            <a:solidFill>
              <a:schemeClr val="bg1">
                <a:lumMod val="85000"/>
              </a:schemeClr>
            </a:solidFill>
            <a:prstDash val="solid"/>
            <a:miter lim="800000"/>
          </a:ln>
          <a:effectLst/>
        </p:spPr>
      </p:cxnSp>
      <p:sp>
        <p:nvSpPr>
          <p:cNvPr id="68" name="CuadroTexto 67">
            <a:extLst>
              <a:ext uri="{FF2B5EF4-FFF2-40B4-BE49-F238E27FC236}">
                <a16:creationId xmlns:a16="http://schemas.microsoft.com/office/drawing/2014/main" id="{F77881E5-5F3D-8BD3-9F1A-8579CFD8DBA9}"/>
              </a:ext>
            </a:extLst>
          </p:cNvPr>
          <p:cNvSpPr txBox="1"/>
          <p:nvPr/>
        </p:nvSpPr>
        <p:spPr>
          <a:xfrm>
            <a:off x="2353419" y="2567357"/>
            <a:ext cx="3564274" cy="861774"/>
          </a:xfrm>
          <a:prstGeom prst="rect">
            <a:avLst/>
          </a:prstGeom>
          <a:noFill/>
        </p:spPr>
        <p:txBody>
          <a:bodyPr wrap="square">
            <a:spAutoFit/>
          </a:bodyPr>
          <a:lstStyle/>
          <a:p>
            <a:pPr marL="180000" indent="-180000" algn="just">
              <a:buClr>
                <a:srgbClr val="FF0000"/>
              </a:buClr>
              <a:buFont typeface="Wingdings" panose="05000000000000000000" pitchFamily="2" charset="2"/>
              <a:buChar char="§"/>
              <a:defRPr/>
            </a:pPr>
            <a:r>
              <a:rPr lang="en-US" sz="1000" b="0" i="0" u="none" strike="noStrike">
                <a:solidFill>
                  <a:srgbClr val="000000"/>
                </a:solidFill>
                <a:effectLst/>
                <a:latin typeface="Aptos Narrow" panose="020B0004020202020204" pitchFamily="34" charset="0"/>
              </a:rPr>
              <a:t>Tool to calculate and monitor valuation adjustments (FVAs and AVAs) to market risk factors applied by different local units across the Group, to achieve fair and prudent valuations for financial instruments measured at fair value</a:t>
            </a:r>
            <a:r>
              <a:rPr lang="en-US" sz="1000"/>
              <a:t> </a:t>
            </a:r>
            <a:endParaRPr lang="es-ES" sz="1000"/>
          </a:p>
          <a:p>
            <a:pPr marL="180000" indent="-180000" algn="just">
              <a:buClr>
                <a:srgbClr val="FF0000"/>
              </a:buClr>
              <a:buFont typeface="Wingdings" panose="05000000000000000000" pitchFamily="2" charset="2"/>
              <a:buChar char="§"/>
              <a:defRPr/>
            </a:pPr>
            <a:endParaRPr lang="es-ES" sz="1000">
              <a:solidFill>
                <a:prstClr val="black"/>
              </a:solidFill>
              <a:latin typeface="Santander Text" panose="020B0504020201020104" pitchFamily="34" charset="0"/>
            </a:endParaRPr>
          </a:p>
        </p:txBody>
      </p:sp>
      <p:sp>
        <p:nvSpPr>
          <p:cNvPr id="69" name="CuadroTexto 68">
            <a:extLst>
              <a:ext uri="{FF2B5EF4-FFF2-40B4-BE49-F238E27FC236}">
                <a16:creationId xmlns:a16="http://schemas.microsoft.com/office/drawing/2014/main" id="{CA75A8D4-14FF-C639-3071-43B5E27ACE92}"/>
              </a:ext>
            </a:extLst>
          </p:cNvPr>
          <p:cNvSpPr txBox="1"/>
          <p:nvPr/>
        </p:nvSpPr>
        <p:spPr>
          <a:xfrm>
            <a:off x="2307086" y="3337056"/>
            <a:ext cx="3544116" cy="707886"/>
          </a:xfrm>
          <a:prstGeom prst="rect">
            <a:avLst/>
          </a:prstGeom>
          <a:noFill/>
        </p:spPr>
        <p:txBody>
          <a:bodyPr wrap="square">
            <a:spAutoFit/>
          </a:bodyPr>
          <a:lstStyle/>
          <a:p>
            <a:pPr marL="180000" indent="-180000" algn="just">
              <a:buClr>
                <a:srgbClr val="FF0000"/>
              </a:buClr>
              <a:buFont typeface="Wingdings" panose="05000000000000000000" pitchFamily="2" charset="2"/>
              <a:buChar char="§"/>
              <a:defRPr/>
            </a:pPr>
            <a:r>
              <a:rPr lang="en-US" sz="1000" b="0" i="0" u="none" strike="noStrike">
                <a:solidFill>
                  <a:srgbClr val="000000"/>
                </a:solidFill>
                <a:effectLst/>
                <a:latin typeface="Aptos Narrow" panose="020B0004020202020204" pitchFamily="34" charset="0"/>
              </a:rPr>
              <a:t>Golden Source of the Market and Structural Risk Area. It collects the Market and Structural Risk information of the Santander Group in an organized and certified manner.</a:t>
            </a:r>
            <a:endParaRPr lang="es-ES" sz="1000"/>
          </a:p>
          <a:p>
            <a:pPr algn="just">
              <a:buClr>
                <a:srgbClr val="FF0000"/>
              </a:buClr>
              <a:defRPr/>
            </a:pPr>
            <a:endParaRPr lang="es-ES" sz="1000">
              <a:solidFill>
                <a:prstClr val="black"/>
              </a:solidFill>
              <a:latin typeface="Santander Text" panose="020B0504020201020104" pitchFamily="34" charset="0"/>
            </a:endParaRPr>
          </a:p>
        </p:txBody>
      </p:sp>
      <p:sp>
        <p:nvSpPr>
          <p:cNvPr id="71" name="CuadroTexto 70">
            <a:extLst>
              <a:ext uri="{FF2B5EF4-FFF2-40B4-BE49-F238E27FC236}">
                <a16:creationId xmlns:a16="http://schemas.microsoft.com/office/drawing/2014/main" id="{42FBE4DE-0F27-9E6B-5D22-2200CA934B9C}"/>
              </a:ext>
            </a:extLst>
          </p:cNvPr>
          <p:cNvSpPr txBox="1"/>
          <p:nvPr/>
        </p:nvSpPr>
        <p:spPr>
          <a:xfrm>
            <a:off x="2331037" y="4743344"/>
            <a:ext cx="3612074" cy="553998"/>
          </a:xfrm>
          <a:prstGeom prst="rect">
            <a:avLst/>
          </a:prstGeom>
          <a:noFill/>
        </p:spPr>
        <p:txBody>
          <a:bodyPr wrap="square">
            <a:spAutoFit/>
          </a:bodyPr>
          <a:lstStyle/>
          <a:p>
            <a:pPr marL="180000" indent="-180000" algn="just">
              <a:buClr>
                <a:srgbClr val="FF0000"/>
              </a:buClr>
              <a:buFont typeface="Wingdings" panose="05000000000000000000" pitchFamily="2" charset="2"/>
              <a:buChar char="§"/>
              <a:defRPr/>
            </a:pPr>
            <a:r>
              <a:rPr lang="en-US" sz="1000" b="0" i="0" u="none" strike="noStrike">
                <a:solidFill>
                  <a:srgbClr val="000000"/>
                </a:solidFill>
                <a:effectLst/>
                <a:latin typeface="Aptos Narrow" panose="020B0004020202020204" pitchFamily="34" charset="0"/>
              </a:rPr>
              <a:t>Tool for calculating and managing the Initial Margin guarantee associated with Collateral operations for trading derivatives, including futures, options, and other margin-based instruments</a:t>
            </a:r>
            <a:endParaRPr lang="es-ES" sz="1000">
              <a:solidFill>
                <a:prstClr val="black"/>
              </a:solidFill>
              <a:latin typeface="Santander Text" panose="020B0504020201020104" pitchFamily="34" charset="0"/>
            </a:endParaRPr>
          </a:p>
        </p:txBody>
      </p:sp>
      <p:sp>
        <p:nvSpPr>
          <p:cNvPr id="72" name="CuadroTexto 71">
            <a:extLst>
              <a:ext uri="{FF2B5EF4-FFF2-40B4-BE49-F238E27FC236}">
                <a16:creationId xmlns:a16="http://schemas.microsoft.com/office/drawing/2014/main" id="{1488DC38-BAFA-2DCA-5204-C0705FA223D7}"/>
              </a:ext>
            </a:extLst>
          </p:cNvPr>
          <p:cNvSpPr txBox="1"/>
          <p:nvPr/>
        </p:nvSpPr>
        <p:spPr>
          <a:xfrm>
            <a:off x="2337604" y="5467001"/>
            <a:ext cx="3612074" cy="707886"/>
          </a:xfrm>
          <a:prstGeom prst="rect">
            <a:avLst/>
          </a:prstGeom>
          <a:noFill/>
        </p:spPr>
        <p:txBody>
          <a:bodyPr wrap="square">
            <a:spAutoFit/>
          </a:bodyPr>
          <a:lstStyle/>
          <a:p>
            <a:pPr marL="180000" indent="-180000" algn="just">
              <a:buClr>
                <a:srgbClr val="FF0000"/>
              </a:buClr>
              <a:buFont typeface="Wingdings" panose="05000000000000000000" pitchFamily="2" charset="2"/>
              <a:buChar char="§"/>
              <a:defRPr/>
            </a:pPr>
            <a:r>
              <a:rPr lang="en-US" sz="1000" b="0" i="0" u="none" strike="noStrike">
                <a:solidFill>
                  <a:srgbClr val="000000"/>
                </a:solidFill>
                <a:effectLst/>
                <a:latin typeface="Aptos Narrow" panose="020B0004020202020204" pitchFamily="34" charset="0"/>
              </a:rPr>
              <a:t>Market Analytics Risk System corporate solution will cover all the Group's geographies in a single system that will calculate all the risk metrics in the medium term. </a:t>
            </a:r>
            <a:endParaRPr lang="es-ES" sz="1000"/>
          </a:p>
          <a:p>
            <a:pPr marL="180000" indent="-180000" algn="just">
              <a:buClr>
                <a:srgbClr val="FF0000"/>
              </a:buClr>
              <a:buFont typeface="Wingdings" panose="05000000000000000000" pitchFamily="2" charset="2"/>
              <a:buChar char="§"/>
              <a:defRPr/>
            </a:pPr>
            <a:endParaRPr lang="es-ES" sz="1000">
              <a:solidFill>
                <a:prstClr val="black"/>
              </a:solidFill>
              <a:latin typeface="Santander Text" panose="020B0504020201020104" pitchFamily="34" charset="0"/>
            </a:endParaRPr>
          </a:p>
        </p:txBody>
      </p:sp>
      <p:sp>
        <p:nvSpPr>
          <p:cNvPr id="73" name="CuadroTexto 72">
            <a:extLst>
              <a:ext uri="{FF2B5EF4-FFF2-40B4-BE49-F238E27FC236}">
                <a16:creationId xmlns:a16="http://schemas.microsoft.com/office/drawing/2014/main" id="{C244BACE-31B0-9314-6FDD-18AA7A26E394}"/>
              </a:ext>
            </a:extLst>
          </p:cNvPr>
          <p:cNvSpPr txBox="1"/>
          <p:nvPr/>
        </p:nvSpPr>
        <p:spPr>
          <a:xfrm>
            <a:off x="7952224" y="2438489"/>
            <a:ext cx="3833685" cy="707886"/>
          </a:xfrm>
          <a:prstGeom prst="rect">
            <a:avLst/>
          </a:prstGeom>
          <a:noFill/>
        </p:spPr>
        <p:txBody>
          <a:bodyPr wrap="square">
            <a:spAutoFit/>
          </a:bodyPr>
          <a:lstStyle/>
          <a:p>
            <a:pPr marL="180000" indent="-180000" algn="just">
              <a:buClr>
                <a:srgbClr val="FF0000"/>
              </a:buClr>
              <a:buFont typeface="Wingdings" panose="05000000000000000000" pitchFamily="2" charset="2"/>
              <a:buChar char="§"/>
              <a:defRPr/>
            </a:pPr>
            <a:r>
              <a:rPr lang="en-US" sz="1000" b="0" i="0" u="none" strike="noStrike">
                <a:solidFill>
                  <a:srgbClr val="000000"/>
                </a:solidFill>
                <a:effectLst/>
                <a:latin typeface="Aptos Narrow" panose="020B0004020202020204" pitchFamily="34" charset="0"/>
              </a:rPr>
              <a:t>Financial Management Information System (FMIS) is the system to calculate the P&amp;L, FTP (TTI) and Balance data for Banking (in Branches, GBP and Spain) and Markets products (only in Branches), reducing manual activities and a standardization of the process.</a:t>
            </a:r>
            <a:endParaRPr lang="es-ES" sz="1000">
              <a:solidFill>
                <a:prstClr val="black"/>
              </a:solidFill>
              <a:latin typeface="Santander Text" panose="020B0504020201020104" pitchFamily="34" charset="0"/>
            </a:endParaRPr>
          </a:p>
        </p:txBody>
      </p:sp>
      <p:sp>
        <p:nvSpPr>
          <p:cNvPr id="74" name="CuadroTexto 73">
            <a:extLst>
              <a:ext uri="{FF2B5EF4-FFF2-40B4-BE49-F238E27FC236}">
                <a16:creationId xmlns:a16="http://schemas.microsoft.com/office/drawing/2014/main" id="{050FDD2E-FE3E-CDC4-01E9-B48FBC263C06}"/>
              </a:ext>
            </a:extLst>
          </p:cNvPr>
          <p:cNvSpPr txBox="1"/>
          <p:nvPr/>
        </p:nvSpPr>
        <p:spPr>
          <a:xfrm>
            <a:off x="7952224" y="3281809"/>
            <a:ext cx="3833685" cy="707886"/>
          </a:xfrm>
          <a:prstGeom prst="rect">
            <a:avLst/>
          </a:prstGeom>
          <a:noFill/>
        </p:spPr>
        <p:txBody>
          <a:bodyPr wrap="square">
            <a:spAutoFit/>
          </a:bodyPr>
          <a:lstStyle/>
          <a:p>
            <a:pPr marL="180000" indent="-180000" algn="just">
              <a:buClr>
                <a:srgbClr val="FF0000"/>
              </a:buClr>
              <a:buFont typeface="Wingdings" panose="05000000000000000000" pitchFamily="2" charset="2"/>
              <a:buChar char="§"/>
              <a:defRPr/>
            </a:pPr>
            <a:r>
              <a:rPr lang="en-US" sz="1000" b="0" i="0" u="none" strike="noStrike">
                <a:solidFill>
                  <a:srgbClr val="000000"/>
                </a:solidFill>
                <a:effectLst/>
                <a:latin typeface="Aptos Narrow" panose="020B0004020202020204" pitchFamily="34" charset="0"/>
              </a:rPr>
              <a:t>Consolidated P&amp;L and Balan sheet for SCIB. Monthly signed by Management Control and Financial control. At Deal/Client/Product level.</a:t>
            </a:r>
            <a:endParaRPr lang="es-ES" sz="1000"/>
          </a:p>
          <a:p>
            <a:pPr marL="180000" indent="-180000" algn="just">
              <a:buClr>
                <a:srgbClr val="FF0000"/>
              </a:buClr>
              <a:buFont typeface="Wingdings" panose="05000000000000000000" pitchFamily="2" charset="2"/>
              <a:buChar char="§"/>
              <a:defRPr/>
            </a:pPr>
            <a:endParaRPr lang="es-ES" sz="1000">
              <a:solidFill>
                <a:prstClr val="black"/>
              </a:solidFill>
              <a:latin typeface="Santander Text" panose="020B0504020201020104" pitchFamily="34" charset="0"/>
            </a:endParaRPr>
          </a:p>
        </p:txBody>
      </p:sp>
      <p:sp>
        <p:nvSpPr>
          <p:cNvPr id="75" name="CuadroTexto 74">
            <a:extLst>
              <a:ext uri="{FF2B5EF4-FFF2-40B4-BE49-F238E27FC236}">
                <a16:creationId xmlns:a16="http://schemas.microsoft.com/office/drawing/2014/main" id="{FBFFFD63-9E9B-D450-9B45-D0314FC02BA6}"/>
              </a:ext>
            </a:extLst>
          </p:cNvPr>
          <p:cNvSpPr txBox="1"/>
          <p:nvPr/>
        </p:nvSpPr>
        <p:spPr>
          <a:xfrm>
            <a:off x="7889943" y="4375769"/>
            <a:ext cx="3895966" cy="861774"/>
          </a:xfrm>
          <a:prstGeom prst="rect">
            <a:avLst/>
          </a:prstGeom>
          <a:noFill/>
        </p:spPr>
        <p:txBody>
          <a:bodyPr wrap="square">
            <a:spAutoFit/>
          </a:bodyPr>
          <a:lstStyle/>
          <a:p>
            <a:pPr marL="180000" indent="-180000" algn="just">
              <a:buClr>
                <a:srgbClr val="FF0000"/>
              </a:buClr>
              <a:buFont typeface="Wingdings" panose="05000000000000000000" pitchFamily="2" charset="2"/>
              <a:buChar char="§"/>
              <a:defRPr/>
            </a:pPr>
            <a:r>
              <a:rPr lang="en-US" sz="1000" b="0" i="0" u="none" strike="noStrike">
                <a:solidFill>
                  <a:srgbClr val="000000"/>
                </a:solidFill>
                <a:effectLst/>
                <a:latin typeface="Aptos Narrow" panose="020B0004020202020204" pitchFamily="34" charset="0"/>
              </a:rPr>
              <a:t> </a:t>
            </a:r>
            <a:r>
              <a:rPr lang="en-US" sz="1000">
                <a:solidFill>
                  <a:srgbClr val="000000"/>
                </a:solidFill>
                <a:latin typeface="Aptos Narrow" panose="020B0004020202020204" pitchFamily="34" charset="0"/>
              </a:rPr>
              <a:t>I</a:t>
            </a:r>
            <a:r>
              <a:rPr lang="en-US" sz="1000" b="0" i="0" u="none" strike="noStrike">
                <a:solidFill>
                  <a:srgbClr val="000000"/>
                </a:solidFill>
                <a:effectLst/>
                <a:latin typeface="Aptos Narrow" panose="020B0004020202020204" pitchFamily="34" charset="0"/>
              </a:rPr>
              <a:t>n house multi-technology integration platform that seeks to reduce operational burden and risks in the Middle and Back Office Teams by automating the process of creating and modifying accounts, sub-accounts and settlement instructions.</a:t>
            </a:r>
            <a:r>
              <a:rPr lang="en-US" sz="1000"/>
              <a:t> </a:t>
            </a:r>
            <a:endParaRPr lang="es-ES" sz="1000"/>
          </a:p>
          <a:p>
            <a:pPr marL="180000" marR="0" lvl="0" indent="-180000" algn="just"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endParaRPr lang="en-US" sz="1000">
              <a:solidFill>
                <a:prstClr val="black"/>
              </a:solidFill>
              <a:latin typeface="Santander Text" panose="020B0504020201020104" pitchFamily="34" charset="0"/>
            </a:endParaRPr>
          </a:p>
        </p:txBody>
      </p:sp>
      <p:sp>
        <p:nvSpPr>
          <p:cNvPr id="24" name="Rectángulo 65">
            <a:extLst>
              <a:ext uri="{FF2B5EF4-FFF2-40B4-BE49-F238E27FC236}">
                <a16:creationId xmlns:a16="http://schemas.microsoft.com/office/drawing/2014/main" id="{86229E77-DB97-5B29-03C8-FA3261DB3DAF}"/>
              </a:ext>
            </a:extLst>
          </p:cNvPr>
          <p:cNvSpPr/>
          <p:nvPr/>
        </p:nvSpPr>
        <p:spPr>
          <a:xfrm>
            <a:off x="827866" y="4053119"/>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algn="ctr"/>
            <a:r>
              <a:rPr lang="en-US" sz="1400" kern="0">
                <a:solidFill>
                  <a:srgbClr val="DEEDF1">
                    <a:lumMod val="25000"/>
                  </a:srgbClr>
                </a:solidFill>
                <a:latin typeface="Santander Text" panose="020B0504020201020104" pitchFamily="34" charset="0"/>
              </a:rPr>
              <a:t>Risk Factor Repository</a:t>
            </a:r>
            <a:endParaRPr lang="en-GB" sz="1400" kern="0">
              <a:solidFill>
                <a:srgbClr val="DEEDF1">
                  <a:lumMod val="25000"/>
                </a:srgbClr>
              </a:solidFill>
              <a:latin typeface="Santander Text" panose="020B0504020201020104" pitchFamily="34" charset="0"/>
            </a:endParaRPr>
          </a:p>
        </p:txBody>
      </p:sp>
      <p:sp>
        <p:nvSpPr>
          <p:cNvPr id="25" name="CuadroTexto 72">
            <a:extLst>
              <a:ext uri="{FF2B5EF4-FFF2-40B4-BE49-F238E27FC236}">
                <a16:creationId xmlns:a16="http://schemas.microsoft.com/office/drawing/2014/main" id="{307C477C-1697-EE74-9AD2-7E38A12F5A5F}"/>
              </a:ext>
            </a:extLst>
          </p:cNvPr>
          <p:cNvSpPr txBox="1"/>
          <p:nvPr/>
        </p:nvSpPr>
        <p:spPr>
          <a:xfrm>
            <a:off x="2337604" y="4054125"/>
            <a:ext cx="3532092" cy="707886"/>
          </a:xfrm>
          <a:prstGeom prst="rect">
            <a:avLst/>
          </a:prstGeom>
          <a:noFill/>
        </p:spPr>
        <p:txBody>
          <a:bodyPr wrap="square">
            <a:spAutoFit/>
          </a:bodyPr>
          <a:lstStyle/>
          <a:p>
            <a:pPr marL="180000" indent="-180000" algn="just">
              <a:buClr>
                <a:srgbClr val="FF0000"/>
              </a:buClr>
              <a:buFont typeface="Wingdings" panose="05000000000000000000" pitchFamily="2" charset="2"/>
              <a:buChar char="§"/>
              <a:defRPr/>
            </a:pPr>
            <a:r>
              <a:rPr lang="en-US" sz="1000" b="0" i="0" u="none" strike="noStrike">
                <a:solidFill>
                  <a:srgbClr val="000000"/>
                </a:solidFill>
                <a:effectLst/>
                <a:latin typeface="Aptos Narrow" panose="020B0004020202020204" pitchFamily="34" charset="0"/>
              </a:rPr>
              <a:t>It is the repository of risk factors. It represents the price factors used in front-of-line environments (P&amp;L) and the risk factors used in risk environments (</a:t>
            </a:r>
            <a:r>
              <a:rPr lang="en-US" sz="1000" b="0" i="0" u="none" strike="noStrike" err="1">
                <a:solidFill>
                  <a:srgbClr val="000000"/>
                </a:solidFill>
                <a:effectLst/>
                <a:latin typeface="Aptos Narrow" panose="020B0004020202020204" pitchFamily="34" charset="0"/>
              </a:rPr>
              <a:t>VaR</a:t>
            </a:r>
            <a:r>
              <a:rPr lang="en-US" sz="1000" b="0" i="0" u="none" strike="noStrike">
                <a:solidFill>
                  <a:srgbClr val="000000"/>
                </a:solidFill>
                <a:effectLst/>
                <a:latin typeface="Aptos Narrow" panose="020B0004020202020204" pitchFamily="34" charset="0"/>
              </a:rPr>
              <a:t>).</a:t>
            </a:r>
            <a:endParaRPr lang="es-ES" sz="1000"/>
          </a:p>
          <a:p>
            <a:pPr marL="180000" indent="-180000" algn="just">
              <a:buClr>
                <a:srgbClr val="FF0000"/>
              </a:buClr>
              <a:buFont typeface="Wingdings" panose="05000000000000000000" pitchFamily="2" charset="2"/>
              <a:buChar char="§"/>
              <a:defRPr/>
            </a:pPr>
            <a:endParaRPr lang="es-ES" sz="1000">
              <a:solidFill>
                <a:prstClr val="black"/>
              </a:solidFill>
              <a:latin typeface="Santander Text" panose="020B0504020201020104" pitchFamily="34" charset="0"/>
            </a:endParaRPr>
          </a:p>
        </p:txBody>
      </p:sp>
      <p:sp>
        <p:nvSpPr>
          <p:cNvPr id="32" name="Rectángulo 30">
            <a:extLst>
              <a:ext uri="{FF2B5EF4-FFF2-40B4-BE49-F238E27FC236}">
                <a16:creationId xmlns:a16="http://schemas.microsoft.com/office/drawing/2014/main" id="{E95E11B6-94A8-41C3-FB5B-068CD5DA0B1D}"/>
              </a:ext>
            </a:extLst>
          </p:cNvPr>
          <p:cNvSpPr/>
          <p:nvPr/>
        </p:nvSpPr>
        <p:spPr>
          <a:xfrm>
            <a:off x="6426264" y="5326163"/>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algn="ctr"/>
            <a:r>
              <a:rPr lang="en-GB" sz="1400" kern="0">
                <a:solidFill>
                  <a:srgbClr val="DEEDF1">
                    <a:lumMod val="25000"/>
                  </a:srgbClr>
                </a:solidFill>
                <a:latin typeface="Santander Text" panose="020B0504020201020104" pitchFamily="34" charset="0"/>
              </a:rPr>
              <a:t>GER</a:t>
            </a:r>
          </a:p>
        </p:txBody>
      </p:sp>
      <p:sp>
        <p:nvSpPr>
          <p:cNvPr id="33" name="CuadroTexto 69">
            <a:extLst>
              <a:ext uri="{FF2B5EF4-FFF2-40B4-BE49-F238E27FC236}">
                <a16:creationId xmlns:a16="http://schemas.microsoft.com/office/drawing/2014/main" id="{E9B315A8-D3ED-E897-FB3A-AD4D7AD3AEF3}"/>
              </a:ext>
            </a:extLst>
          </p:cNvPr>
          <p:cNvSpPr txBox="1"/>
          <p:nvPr/>
        </p:nvSpPr>
        <p:spPr>
          <a:xfrm>
            <a:off x="7936002" y="5389637"/>
            <a:ext cx="3576842" cy="401440"/>
          </a:xfrm>
          <a:prstGeom prst="rect">
            <a:avLst/>
          </a:prstGeom>
          <a:noFill/>
        </p:spPr>
        <p:txBody>
          <a:bodyPr wrap="square">
            <a:spAutoFit/>
          </a:bodyPr>
          <a:lstStyle/>
          <a:p>
            <a:pPr marL="180000" indent="-180000" algn="just">
              <a:buClr>
                <a:srgbClr val="FF0000"/>
              </a:buClr>
              <a:buFont typeface="Wingdings" panose="05000000000000000000" pitchFamily="2" charset="2"/>
              <a:buChar char="§"/>
              <a:defRPr/>
            </a:pPr>
            <a:r>
              <a:rPr lang="en-US" sz="1000" b="0" i="0" u="none" strike="noStrike">
                <a:solidFill>
                  <a:srgbClr val="000000"/>
                </a:solidFill>
                <a:effectLst/>
                <a:latin typeface="Aptos Narrow" panose="020B0004020202020204" pitchFamily="34" charset="0"/>
              </a:rPr>
              <a:t>Electronic Pricing and Negotiation system for USD Swaps.</a:t>
            </a:r>
            <a:endParaRPr lang="es-ES" sz="1000"/>
          </a:p>
          <a:p>
            <a:pPr marL="180000" indent="-180000" algn="just">
              <a:buClr>
                <a:srgbClr val="FF0000"/>
              </a:buClr>
              <a:buFont typeface="Wingdings" panose="05000000000000000000" pitchFamily="2" charset="2"/>
              <a:buChar char="§"/>
              <a:defRPr/>
            </a:pPr>
            <a:endParaRPr lang="es-ES" sz="1000">
              <a:solidFill>
                <a:prstClr val="black"/>
              </a:solidFill>
              <a:latin typeface="Santander Text" panose="020B0504020201020104" pitchFamily="34" charset="0"/>
            </a:endParaRPr>
          </a:p>
        </p:txBody>
      </p:sp>
      <p:cxnSp>
        <p:nvCxnSpPr>
          <p:cNvPr id="35" name="Conector recto 66">
            <a:extLst>
              <a:ext uri="{FF2B5EF4-FFF2-40B4-BE49-F238E27FC236}">
                <a16:creationId xmlns:a16="http://schemas.microsoft.com/office/drawing/2014/main" id="{02C22F82-BB2A-40DF-93E9-4FAA4BB3B554}"/>
              </a:ext>
            </a:extLst>
          </p:cNvPr>
          <p:cNvCxnSpPr>
            <a:cxnSpLocks/>
          </p:cNvCxnSpPr>
          <p:nvPr/>
        </p:nvCxnSpPr>
        <p:spPr>
          <a:xfrm flipH="1">
            <a:off x="6357757" y="6091659"/>
            <a:ext cx="5428152" cy="0"/>
          </a:xfrm>
          <a:prstGeom prst="line">
            <a:avLst/>
          </a:prstGeom>
          <a:noFill/>
          <a:ln w="12700" cap="flat" cmpd="sng" algn="ctr">
            <a:solidFill>
              <a:schemeClr val="bg1">
                <a:lumMod val="85000"/>
              </a:schemeClr>
            </a:solidFill>
            <a:prstDash val="solid"/>
            <a:miter lim="800000"/>
          </a:ln>
          <a:effectLst/>
        </p:spPr>
      </p:cxnSp>
    </p:spTree>
    <p:extLst>
      <p:ext uri="{BB962C8B-B14F-4D97-AF65-F5344CB8AC3E}">
        <p14:creationId xmlns:p14="http://schemas.microsoft.com/office/powerpoint/2010/main" val="9684971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7CD6D-BDA9-3BF4-33EC-EA0445AFE889}"/>
            </a:ext>
          </a:extLst>
        </p:cNvPr>
        <p:cNvGrpSpPr/>
        <p:nvPr/>
      </p:nvGrpSpPr>
      <p:grpSpPr>
        <a:xfrm>
          <a:off x="0" y="0"/>
          <a:ext cx="0" cy="0"/>
          <a:chOff x="0" y="0"/>
          <a:chExt cx="0" cy="0"/>
        </a:xfrm>
      </p:grpSpPr>
      <p:sp>
        <p:nvSpPr>
          <p:cNvPr id="17" name="Text Placeholder 2">
            <a:extLst>
              <a:ext uri="{FF2B5EF4-FFF2-40B4-BE49-F238E27FC236}">
                <a16:creationId xmlns:a16="http://schemas.microsoft.com/office/drawing/2014/main" id="{B8DC59C4-CD71-DCC7-54E7-E7667FECDBDE}"/>
              </a:ext>
            </a:extLst>
          </p:cNvPr>
          <p:cNvSpPr>
            <a:spLocks noGrp="1"/>
          </p:cNvSpPr>
          <p:nvPr>
            <p:ph type="body" sz="quarter" idx="14"/>
          </p:nvPr>
        </p:nvSpPr>
        <p:spPr>
          <a:xfrm>
            <a:off x="711024" y="337100"/>
            <a:ext cx="10758734" cy="304800"/>
          </a:xfrm>
        </p:spPr>
        <p:txBody>
          <a:bodyPr/>
          <a:lstStyle/>
          <a:p>
            <a:r>
              <a:rPr lang="en-GB" b="0">
                <a:solidFill>
                  <a:schemeClr val="bg1">
                    <a:lumMod val="75000"/>
                  </a:schemeClr>
                </a:solidFill>
                <a:latin typeface="Santander Text" panose="020B0504020201020104" pitchFamily="34" charset="0"/>
              </a:rPr>
              <a:t>Platform Governance &amp; SD</a:t>
            </a:r>
          </a:p>
        </p:txBody>
      </p:sp>
      <p:sp>
        <p:nvSpPr>
          <p:cNvPr id="8" name="Título 1">
            <a:extLst>
              <a:ext uri="{FF2B5EF4-FFF2-40B4-BE49-F238E27FC236}">
                <a16:creationId xmlns:a16="http://schemas.microsoft.com/office/drawing/2014/main" id="{B06D0C29-E325-67D1-641D-6BA05F2683B1}"/>
              </a:ext>
            </a:extLst>
          </p:cNvPr>
          <p:cNvSpPr txBox="1">
            <a:spLocks/>
          </p:cNvSpPr>
          <p:nvPr/>
        </p:nvSpPr>
        <p:spPr>
          <a:xfrm>
            <a:off x="711024" y="623339"/>
            <a:ext cx="11597090" cy="836992"/>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lang="en-US" sz="2800" b="1" kern="1200" dirty="0">
                <a:solidFill>
                  <a:schemeClr val="accent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s-ES" sz="2800" b="1" i="0" u="none" strike="noStrike" kern="1200" cap="none" spc="0" normalizeH="0" baseline="0" noProof="0">
                <a:ln>
                  <a:noFill/>
                </a:ln>
                <a:solidFill>
                  <a:srgbClr val="EC0000"/>
                </a:solidFill>
                <a:effectLst/>
                <a:uLnTx/>
                <a:uFillTx/>
                <a:latin typeface="Santander Headline"/>
                <a:ea typeface="+mj-ea"/>
                <a:cs typeface="+mj-cs"/>
              </a:rPr>
              <a:t>SCIB. </a:t>
            </a:r>
            <a:r>
              <a:rPr kumimoji="0" lang="es-ES" sz="2400" b="1" i="0" u="none" strike="noStrike" kern="1200" cap="none" spc="0" normalizeH="0" baseline="0" noProof="0" err="1">
                <a:ln>
                  <a:noFill/>
                </a:ln>
                <a:solidFill>
                  <a:srgbClr val="BFBFBF"/>
                </a:solidFill>
                <a:effectLst/>
                <a:uLnTx/>
                <a:uFillTx/>
                <a:latin typeface="Santander Headline"/>
                <a:ea typeface="+mj-ea"/>
                <a:cs typeface="+mj-cs"/>
              </a:rPr>
              <a:t>Wholesale</a:t>
            </a:r>
            <a:r>
              <a:rPr kumimoji="0" lang="es-ES" sz="2400" b="1" i="0" u="none" strike="noStrike" kern="1200" cap="none" spc="0" normalizeH="0" baseline="0" noProof="0">
                <a:ln>
                  <a:noFill/>
                </a:ln>
                <a:solidFill>
                  <a:srgbClr val="BFBFBF"/>
                </a:solidFill>
                <a:effectLst/>
                <a:uLnTx/>
                <a:uFillTx/>
                <a:latin typeface="Santander Headline"/>
                <a:ea typeface="+mj-ea"/>
                <a:cs typeface="+mj-cs"/>
              </a:rPr>
              <a:t> </a:t>
            </a:r>
            <a:r>
              <a:rPr kumimoji="0" lang="es-ES" sz="2400" b="1" i="0" u="none" strike="noStrike" kern="1200" cap="none" spc="0" normalizeH="0" baseline="0" noProof="0" err="1">
                <a:ln>
                  <a:noFill/>
                </a:ln>
                <a:solidFill>
                  <a:srgbClr val="BFBFBF"/>
                </a:solidFill>
                <a:effectLst/>
                <a:uLnTx/>
                <a:uFillTx/>
                <a:latin typeface="Santander Headline"/>
                <a:ea typeface="+mj-ea"/>
                <a:cs typeface="+mj-cs"/>
              </a:rPr>
              <a:t>Operations,KYC,Credit&amp;Market</a:t>
            </a:r>
            <a:r>
              <a:rPr kumimoji="0" lang="es-ES" sz="2400" b="1" i="0" u="none" strike="noStrike" kern="1200" cap="none" spc="0" normalizeH="0" baseline="0" noProof="0">
                <a:ln>
                  <a:noFill/>
                </a:ln>
                <a:solidFill>
                  <a:srgbClr val="BFBFBF"/>
                </a:solidFill>
                <a:effectLst/>
                <a:uLnTx/>
                <a:uFillTx/>
                <a:latin typeface="Santander Headline"/>
                <a:ea typeface="+mj-ea"/>
                <a:cs typeface="+mj-cs"/>
              </a:rPr>
              <a:t> </a:t>
            </a:r>
            <a:r>
              <a:rPr kumimoji="0" lang="es-ES" sz="2400" b="1" i="0" u="none" strike="noStrike" kern="1200" cap="none" spc="0" normalizeH="0" baseline="0" noProof="0" err="1">
                <a:ln>
                  <a:noFill/>
                </a:ln>
                <a:solidFill>
                  <a:srgbClr val="BFBFBF"/>
                </a:solidFill>
                <a:effectLst/>
                <a:uLnTx/>
                <a:uFillTx/>
                <a:latin typeface="Santander Headline"/>
                <a:ea typeface="+mj-ea"/>
                <a:cs typeface="+mj-cs"/>
              </a:rPr>
              <a:t>Risk</a:t>
            </a:r>
            <a:r>
              <a:rPr kumimoji="0" lang="es-ES" sz="2400" b="1" i="0" u="none" strike="noStrike" kern="1200" cap="none" spc="0" normalizeH="0" baseline="0" noProof="0">
                <a:ln>
                  <a:noFill/>
                </a:ln>
                <a:solidFill>
                  <a:srgbClr val="BFBFBF"/>
                </a:solidFill>
                <a:effectLst/>
                <a:uLnTx/>
                <a:uFillTx/>
                <a:latin typeface="Santander Headline"/>
                <a:ea typeface="+mj-ea"/>
                <a:cs typeface="+mj-cs"/>
              </a:rPr>
              <a:t>, </a:t>
            </a:r>
            <a:r>
              <a:rPr kumimoji="0" lang="es-ES" sz="2400" b="1" i="0" u="none" strike="noStrike" kern="1200" cap="none" spc="0" normalizeH="0" baseline="0" noProof="0" err="1">
                <a:ln>
                  <a:noFill/>
                </a:ln>
                <a:solidFill>
                  <a:srgbClr val="BFBFBF"/>
                </a:solidFill>
                <a:effectLst/>
                <a:uLnTx/>
                <a:uFillTx/>
                <a:latin typeface="Santander Headline"/>
                <a:ea typeface="+mj-ea"/>
                <a:cs typeface="+mj-cs"/>
              </a:rPr>
              <a:t>Reg</a:t>
            </a:r>
            <a:r>
              <a:rPr kumimoji="0" lang="es-ES" sz="2400" b="1" i="0" u="none" strike="noStrike" kern="1200" cap="none" spc="0" normalizeH="0" baseline="0" noProof="0">
                <a:ln>
                  <a:noFill/>
                </a:ln>
                <a:solidFill>
                  <a:srgbClr val="BFBFBF"/>
                </a:solidFill>
                <a:effectLst/>
                <a:uLnTx/>
                <a:uFillTx/>
                <a:latin typeface="Santander Headline"/>
                <a:ea typeface="+mj-ea"/>
                <a:cs typeface="+mj-cs"/>
              </a:rPr>
              <a:t> Reporting, </a:t>
            </a:r>
            <a:r>
              <a:rPr kumimoji="0" lang="es-ES" sz="2400" b="1" i="0" u="none" strike="noStrike" kern="1200" cap="none" spc="0" normalizeH="0" baseline="0" noProof="0" err="1">
                <a:ln>
                  <a:noFill/>
                </a:ln>
                <a:solidFill>
                  <a:srgbClr val="BFBFBF"/>
                </a:solidFill>
                <a:effectLst/>
                <a:uLnTx/>
                <a:uFillTx/>
                <a:latin typeface="Santander Headline"/>
                <a:ea typeface="+mj-ea"/>
                <a:cs typeface="+mj-cs"/>
              </a:rPr>
              <a:t>Transac</a:t>
            </a:r>
            <a:r>
              <a:rPr kumimoji="0" lang="es-ES" sz="2400" b="1" i="0" u="none" strike="noStrike" kern="1200" cap="none" spc="0" normalizeH="0" baseline="0" noProof="0">
                <a:ln>
                  <a:noFill/>
                </a:ln>
                <a:solidFill>
                  <a:srgbClr val="BFBFBF"/>
                </a:solidFill>
                <a:effectLst/>
                <a:uLnTx/>
                <a:uFillTx/>
                <a:latin typeface="Santander Headline"/>
                <a:ea typeface="+mj-ea"/>
                <a:cs typeface="+mj-cs"/>
              </a:rPr>
              <a:t> </a:t>
            </a:r>
            <a:r>
              <a:rPr kumimoji="0" lang="es-ES" sz="2400" b="1" i="0" u="none" strike="noStrike" kern="1200" cap="none" spc="0" normalizeH="0" baseline="0" noProof="0" err="1">
                <a:ln>
                  <a:noFill/>
                </a:ln>
                <a:solidFill>
                  <a:srgbClr val="BFBFBF"/>
                </a:solidFill>
                <a:effectLst/>
                <a:uLnTx/>
                <a:uFillTx/>
                <a:latin typeface="Santander Headline"/>
                <a:ea typeface="+mj-ea"/>
                <a:cs typeface="+mj-cs"/>
              </a:rPr>
              <a:t>Monitoring</a:t>
            </a:r>
            <a:endParaRPr kumimoji="0" lang="en-AU" sz="2400" b="1" i="0" u="none" strike="noStrike" kern="1200" cap="none" spc="0" normalizeH="0" baseline="0" noProof="0">
              <a:ln>
                <a:noFill/>
              </a:ln>
              <a:solidFill>
                <a:srgbClr val="BFBFBF"/>
              </a:solidFill>
              <a:effectLst/>
              <a:uLnTx/>
              <a:uFillTx/>
              <a:latin typeface="Santander Headline"/>
              <a:ea typeface="+mj-ea"/>
              <a:cs typeface="+mj-cs"/>
            </a:endParaRPr>
          </a:p>
        </p:txBody>
      </p:sp>
      <p:sp>
        <p:nvSpPr>
          <p:cNvPr id="2" name="CuadroTexto 1">
            <a:extLst>
              <a:ext uri="{FF2B5EF4-FFF2-40B4-BE49-F238E27FC236}">
                <a16:creationId xmlns:a16="http://schemas.microsoft.com/office/drawing/2014/main" id="{F3C1E198-98F7-70A0-D4E5-6720BA1221D7}"/>
              </a:ext>
            </a:extLst>
          </p:cNvPr>
          <p:cNvSpPr txBox="1"/>
          <p:nvPr/>
        </p:nvSpPr>
        <p:spPr>
          <a:xfrm>
            <a:off x="6395700" y="1123322"/>
            <a:ext cx="5111998" cy="623248"/>
          </a:xfrm>
          <a:prstGeom prst="rect">
            <a:avLst/>
          </a:prstGeom>
          <a:noFill/>
        </p:spPr>
        <p:txBody>
          <a:bodyPr wrap="square" rtlCol="0">
            <a:spAutoFit/>
          </a:bodyPr>
          <a:lstStyle/>
          <a:p>
            <a:pPr marL="355600" indent="-355600">
              <a:spcAft>
                <a:spcPts val="300"/>
              </a:spcAft>
              <a:defRPr/>
            </a:pPr>
            <a:r>
              <a:rPr kumimoji="0" lang="en-AU"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10 –</a:t>
            </a:r>
            <a:r>
              <a:rPr kumimoji="0" lang="en-GB"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 Data Services</a:t>
            </a:r>
            <a:endParaRPr lang="en-GB" sz="1600" b="1" kern="0">
              <a:solidFill>
                <a:srgbClr val="DEEDF1">
                  <a:lumMod val="25000"/>
                </a:srgbClr>
              </a:solidFill>
              <a:latin typeface="Santander Text" panose="020B0504020201020104" pitchFamily="34" charset="0"/>
            </a:endParaRPr>
          </a:p>
          <a:p>
            <a:pPr marL="355600" indent="-355600">
              <a:spcAft>
                <a:spcPts val="300"/>
              </a:spcAft>
              <a:defRPr/>
            </a:pPr>
            <a:endParaRPr lang="en-GB" sz="1600" b="1">
              <a:solidFill>
                <a:srgbClr val="DEEDF1">
                  <a:lumMod val="25000"/>
                </a:srgbClr>
              </a:solidFill>
              <a:latin typeface="Santander Text" panose="020B0504020201020104" pitchFamily="34" charset="0"/>
            </a:endParaRPr>
          </a:p>
        </p:txBody>
      </p:sp>
      <p:sp>
        <p:nvSpPr>
          <p:cNvPr id="41" name="CuadroTexto 40">
            <a:extLst>
              <a:ext uri="{FF2B5EF4-FFF2-40B4-BE49-F238E27FC236}">
                <a16:creationId xmlns:a16="http://schemas.microsoft.com/office/drawing/2014/main" id="{B429B4B8-1D4C-E30D-B99D-8F665E4897E6}"/>
              </a:ext>
            </a:extLst>
          </p:cNvPr>
          <p:cNvSpPr txBox="1"/>
          <p:nvPr/>
        </p:nvSpPr>
        <p:spPr>
          <a:xfrm>
            <a:off x="758176" y="2479059"/>
            <a:ext cx="5111998" cy="338554"/>
          </a:xfrm>
          <a:prstGeom prst="rect">
            <a:avLst/>
          </a:prstGeom>
          <a:noFill/>
        </p:spPr>
        <p:txBody>
          <a:bodyPr wrap="square" rtlCol="0">
            <a:spAutoFit/>
          </a:bodyPr>
          <a:lstStyle/>
          <a:p>
            <a:pPr marL="355600" marR="0" lvl="0" indent="-355600" algn="l" defTabSz="914400" rtl="0" eaLnBrk="1" fontAlgn="auto" latinLnBrk="0" hangingPunct="1">
              <a:lnSpc>
                <a:spcPct val="100000"/>
              </a:lnSpc>
              <a:spcBef>
                <a:spcPts val="0"/>
              </a:spcBef>
              <a:spcAft>
                <a:spcPts val="300"/>
              </a:spcAft>
              <a:buClrTx/>
              <a:buSzTx/>
              <a:buFontTx/>
              <a:buNone/>
              <a:tabLst/>
              <a:defRPr/>
            </a:pPr>
            <a:r>
              <a:rPr lang="en-AU" sz="1600" b="1" kern="0">
                <a:solidFill>
                  <a:srgbClr val="DEEDF1">
                    <a:lumMod val="25000"/>
                  </a:srgbClr>
                </a:solidFill>
                <a:latin typeface="Santander Text" panose="020B0504020201020104" pitchFamily="34" charset="0"/>
              </a:rPr>
              <a:t>9</a:t>
            </a:r>
            <a:r>
              <a:rPr kumimoji="0" lang="en-AU"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 –</a:t>
            </a:r>
            <a:r>
              <a:rPr lang="en-AU" sz="1600" b="1" kern="0">
                <a:solidFill>
                  <a:srgbClr val="DEEDF1">
                    <a:lumMod val="25000"/>
                  </a:srgbClr>
                </a:solidFill>
                <a:latin typeface="Santander Text" panose="020B0504020201020104" pitchFamily="34" charset="0"/>
              </a:rPr>
              <a:t> </a:t>
            </a:r>
            <a:r>
              <a:rPr lang="en-GB" sz="1600" b="1">
                <a:solidFill>
                  <a:srgbClr val="DEEDF1">
                    <a:lumMod val="25000"/>
                  </a:srgbClr>
                </a:solidFill>
                <a:latin typeface="Santander Text" panose="020B0504020201020104" pitchFamily="34" charset="0"/>
              </a:rPr>
              <a:t>Cross and Regulatory Reporting Services</a:t>
            </a:r>
            <a:endParaRPr lang="en-GB" sz="1600" b="1" kern="0">
              <a:solidFill>
                <a:srgbClr val="DEEDF1">
                  <a:lumMod val="25000"/>
                </a:srgbClr>
              </a:solidFill>
              <a:latin typeface="Santander Text" panose="020B0504020201020104" pitchFamily="34" charset="0"/>
            </a:endParaRPr>
          </a:p>
        </p:txBody>
      </p:sp>
      <p:sp>
        <p:nvSpPr>
          <p:cNvPr id="51" name="Rectángulo 50">
            <a:extLst>
              <a:ext uri="{FF2B5EF4-FFF2-40B4-BE49-F238E27FC236}">
                <a16:creationId xmlns:a16="http://schemas.microsoft.com/office/drawing/2014/main" id="{009A6335-09B9-48AA-5545-7085CABA2B37}"/>
              </a:ext>
            </a:extLst>
          </p:cNvPr>
          <p:cNvSpPr/>
          <p:nvPr/>
        </p:nvSpPr>
        <p:spPr>
          <a:xfrm>
            <a:off x="751181" y="3083915"/>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algn="ctr"/>
            <a:r>
              <a:rPr lang="es-ES" sz="1400" kern="0">
                <a:solidFill>
                  <a:srgbClr val="DEEDF1">
                    <a:lumMod val="25000"/>
                  </a:srgbClr>
                </a:solidFill>
                <a:latin typeface="Santander Text" panose="020B0504020201020104" pitchFamily="34" charset="0"/>
              </a:rPr>
              <a:t>DUCO CUBE Conciliaciones</a:t>
            </a:r>
            <a:endParaRPr lang="en-GB" sz="1400" kern="0">
              <a:solidFill>
                <a:srgbClr val="DEEDF1">
                  <a:lumMod val="25000"/>
                </a:srgbClr>
              </a:solidFill>
              <a:latin typeface="Santander Text" panose="020B0504020201020104" pitchFamily="34" charset="0"/>
            </a:endParaRPr>
          </a:p>
        </p:txBody>
      </p:sp>
      <p:cxnSp>
        <p:nvCxnSpPr>
          <p:cNvPr id="52" name="Conector recto 51">
            <a:extLst>
              <a:ext uri="{FF2B5EF4-FFF2-40B4-BE49-F238E27FC236}">
                <a16:creationId xmlns:a16="http://schemas.microsoft.com/office/drawing/2014/main" id="{4D2AF40D-5856-4E07-FC2F-9110768B62E4}"/>
              </a:ext>
            </a:extLst>
          </p:cNvPr>
          <p:cNvCxnSpPr>
            <a:cxnSpLocks/>
          </p:cNvCxnSpPr>
          <p:nvPr/>
        </p:nvCxnSpPr>
        <p:spPr>
          <a:xfrm flipH="1">
            <a:off x="659270" y="3699874"/>
            <a:ext cx="5436730" cy="0"/>
          </a:xfrm>
          <a:prstGeom prst="line">
            <a:avLst/>
          </a:prstGeom>
          <a:noFill/>
          <a:ln w="12700" cap="flat" cmpd="sng" algn="ctr">
            <a:solidFill>
              <a:schemeClr val="bg1">
                <a:lumMod val="85000"/>
              </a:schemeClr>
            </a:solidFill>
            <a:prstDash val="solid"/>
            <a:miter lim="800000"/>
          </a:ln>
          <a:effectLst/>
        </p:spPr>
      </p:cxnSp>
      <p:sp>
        <p:nvSpPr>
          <p:cNvPr id="53" name="Rectángulo 52">
            <a:extLst>
              <a:ext uri="{FF2B5EF4-FFF2-40B4-BE49-F238E27FC236}">
                <a16:creationId xmlns:a16="http://schemas.microsoft.com/office/drawing/2014/main" id="{3E8E5B4B-F760-CE49-C3F3-66B579E451A8}"/>
              </a:ext>
            </a:extLst>
          </p:cNvPr>
          <p:cNvSpPr/>
          <p:nvPr/>
        </p:nvSpPr>
        <p:spPr>
          <a:xfrm>
            <a:off x="751181" y="3852615"/>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algn="ctr"/>
            <a:r>
              <a:rPr lang="es-ES" sz="1400" kern="0">
                <a:solidFill>
                  <a:srgbClr val="DEEDF1">
                    <a:lumMod val="25000"/>
                  </a:srgbClr>
                </a:solidFill>
                <a:latin typeface="Santander Text" panose="020B0504020201020104" pitchFamily="34" charset="0"/>
              </a:rPr>
              <a:t>Phoenix</a:t>
            </a:r>
            <a:endParaRPr lang="en-GB" sz="1400" kern="0">
              <a:solidFill>
                <a:srgbClr val="DEEDF1">
                  <a:lumMod val="25000"/>
                </a:srgbClr>
              </a:solidFill>
              <a:latin typeface="Santander Text" panose="020B0504020201020104" pitchFamily="34" charset="0"/>
            </a:endParaRPr>
          </a:p>
        </p:txBody>
      </p:sp>
      <p:cxnSp>
        <p:nvCxnSpPr>
          <p:cNvPr id="54" name="Conector recto 53">
            <a:extLst>
              <a:ext uri="{FF2B5EF4-FFF2-40B4-BE49-F238E27FC236}">
                <a16:creationId xmlns:a16="http://schemas.microsoft.com/office/drawing/2014/main" id="{181941F9-64AE-06C4-FB42-012433959D9E}"/>
              </a:ext>
            </a:extLst>
          </p:cNvPr>
          <p:cNvCxnSpPr>
            <a:cxnSpLocks/>
          </p:cNvCxnSpPr>
          <p:nvPr/>
        </p:nvCxnSpPr>
        <p:spPr>
          <a:xfrm flipH="1">
            <a:off x="729438" y="4525162"/>
            <a:ext cx="5366562" cy="0"/>
          </a:xfrm>
          <a:prstGeom prst="line">
            <a:avLst/>
          </a:prstGeom>
          <a:noFill/>
          <a:ln w="12700" cap="flat" cmpd="sng" algn="ctr">
            <a:solidFill>
              <a:schemeClr val="bg1">
                <a:lumMod val="85000"/>
              </a:schemeClr>
            </a:solidFill>
            <a:prstDash val="solid"/>
            <a:miter lim="800000"/>
          </a:ln>
          <a:effectLst/>
        </p:spPr>
      </p:cxnSp>
      <p:sp>
        <p:nvSpPr>
          <p:cNvPr id="9" name="Rectángulo 8">
            <a:extLst>
              <a:ext uri="{FF2B5EF4-FFF2-40B4-BE49-F238E27FC236}">
                <a16:creationId xmlns:a16="http://schemas.microsoft.com/office/drawing/2014/main" id="{748E0B0D-B90A-CFB3-6B78-F910D8F12735}"/>
              </a:ext>
            </a:extLst>
          </p:cNvPr>
          <p:cNvSpPr/>
          <p:nvPr/>
        </p:nvSpPr>
        <p:spPr>
          <a:xfrm>
            <a:off x="751181" y="4665083"/>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algn="ctr"/>
            <a:r>
              <a:rPr lang="es-ES" sz="1400" kern="0">
                <a:solidFill>
                  <a:srgbClr val="DEEDF1">
                    <a:lumMod val="25000"/>
                  </a:srgbClr>
                </a:solidFill>
                <a:latin typeface="Santander Text" panose="020B0504020201020104" pitchFamily="34" charset="0"/>
              </a:rPr>
              <a:t>CAFET</a:t>
            </a:r>
            <a:endParaRPr lang="en-GB" sz="1400" kern="0">
              <a:solidFill>
                <a:srgbClr val="DEEDF1">
                  <a:lumMod val="25000"/>
                </a:srgbClr>
              </a:solidFill>
              <a:latin typeface="Santander Text" panose="020B0504020201020104" pitchFamily="34" charset="0"/>
            </a:endParaRPr>
          </a:p>
        </p:txBody>
      </p:sp>
      <p:sp>
        <p:nvSpPr>
          <p:cNvPr id="57" name="Rectángulo 56">
            <a:extLst>
              <a:ext uri="{FF2B5EF4-FFF2-40B4-BE49-F238E27FC236}">
                <a16:creationId xmlns:a16="http://schemas.microsoft.com/office/drawing/2014/main" id="{3D732DE3-8296-8A6D-16B2-F3CF92D3D7ED}"/>
              </a:ext>
            </a:extLst>
          </p:cNvPr>
          <p:cNvSpPr/>
          <p:nvPr/>
        </p:nvSpPr>
        <p:spPr>
          <a:xfrm>
            <a:off x="739961" y="5411779"/>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algn="ctr"/>
            <a:r>
              <a:rPr lang="es-ES" sz="1400" kern="0">
                <a:solidFill>
                  <a:srgbClr val="DEEDF1">
                    <a:lumMod val="25000"/>
                  </a:srgbClr>
                </a:solidFill>
                <a:latin typeface="Santander Text" panose="020B0504020201020104" pitchFamily="34" charset="0"/>
              </a:rPr>
              <a:t>FAIR </a:t>
            </a:r>
            <a:r>
              <a:rPr lang="es-ES" sz="1400" kern="0" err="1">
                <a:solidFill>
                  <a:srgbClr val="DEEDF1">
                    <a:lumMod val="25000"/>
                  </a:srgbClr>
                </a:solidFill>
                <a:latin typeface="Santander Text" panose="020B0504020201020104" pitchFamily="34" charset="0"/>
              </a:rPr>
              <a:t>Value</a:t>
            </a:r>
            <a:endParaRPr lang="en-GB" sz="1400" kern="0">
              <a:solidFill>
                <a:srgbClr val="DEEDF1">
                  <a:lumMod val="25000"/>
                </a:srgbClr>
              </a:solidFill>
              <a:latin typeface="Santander Text" panose="020B0504020201020104" pitchFamily="34" charset="0"/>
            </a:endParaRPr>
          </a:p>
        </p:txBody>
      </p:sp>
      <p:sp>
        <p:nvSpPr>
          <p:cNvPr id="59" name="CuadroTexto 58">
            <a:extLst>
              <a:ext uri="{FF2B5EF4-FFF2-40B4-BE49-F238E27FC236}">
                <a16:creationId xmlns:a16="http://schemas.microsoft.com/office/drawing/2014/main" id="{A2ADCD7C-C2FF-554C-FEB1-046247C606E7}"/>
              </a:ext>
            </a:extLst>
          </p:cNvPr>
          <p:cNvSpPr txBox="1"/>
          <p:nvPr/>
        </p:nvSpPr>
        <p:spPr>
          <a:xfrm>
            <a:off x="2227153" y="3107694"/>
            <a:ext cx="3844895" cy="707886"/>
          </a:xfrm>
          <a:prstGeom prst="rect">
            <a:avLst/>
          </a:prstGeom>
          <a:noFill/>
        </p:spPr>
        <p:txBody>
          <a:bodyPr wrap="square">
            <a:spAutoFit/>
          </a:bodyPr>
          <a:lstStyle/>
          <a:p>
            <a:pPr marL="180000" indent="-180000" algn="just">
              <a:buClr>
                <a:srgbClr val="FF0000"/>
              </a:buClr>
              <a:buFont typeface="Wingdings" panose="05000000000000000000" pitchFamily="2" charset="2"/>
              <a:buChar char="§"/>
              <a:defRPr/>
            </a:pPr>
            <a:r>
              <a:rPr lang="en-US" sz="1000" b="0" i="0" u="none" strike="noStrike">
                <a:solidFill>
                  <a:srgbClr val="000000"/>
                </a:solidFill>
                <a:effectLst/>
                <a:latin typeface="Aptos Narrow" panose="020B0004020202020204" pitchFamily="34" charset="0"/>
              </a:rPr>
              <a:t>Saas platform that uses the latest Big Data technology to enable large scale analysis across all modules in your instance of Duco Cube.</a:t>
            </a:r>
            <a:endParaRPr lang="es-ES" sz="1000"/>
          </a:p>
          <a:p>
            <a:pPr algn="just">
              <a:buClr>
                <a:srgbClr val="FF0000"/>
              </a:buClr>
              <a:defRPr/>
            </a:pPr>
            <a:endParaRPr lang="es-ES" sz="1000">
              <a:solidFill>
                <a:prstClr val="black"/>
              </a:solidFill>
              <a:latin typeface="Santander Text" panose="020B0504020201020104" pitchFamily="34" charset="0"/>
            </a:endParaRPr>
          </a:p>
        </p:txBody>
      </p:sp>
      <p:sp>
        <p:nvSpPr>
          <p:cNvPr id="60" name="CuadroTexto 59">
            <a:extLst>
              <a:ext uri="{FF2B5EF4-FFF2-40B4-BE49-F238E27FC236}">
                <a16:creationId xmlns:a16="http://schemas.microsoft.com/office/drawing/2014/main" id="{9893780E-E0B0-9158-1A66-9FE367B1678E}"/>
              </a:ext>
            </a:extLst>
          </p:cNvPr>
          <p:cNvSpPr txBox="1"/>
          <p:nvPr/>
        </p:nvSpPr>
        <p:spPr>
          <a:xfrm>
            <a:off x="2251105" y="3827441"/>
            <a:ext cx="3844895" cy="861774"/>
          </a:xfrm>
          <a:prstGeom prst="rect">
            <a:avLst/>
          </a:prstGeom>
          <a:noFill/>
        </p:spPr>
        <p:txBody>
          <a:bodyPr wrap="square">
            <a:spAutoFit/>
          </a:bodyPr>
          <a:lstStyle/>
          <a:p>
            <a:pPr marL="180000" indent="-180000" algn="just">
              <a:buClr>
                <a:srgbClr val="FF0000"/>
              </a:buClr>
              <a:buFont typeface="Wingdings" panose="05000000000000000000" pitchFamily="2" charset="2"/>
              <a:buChar char="§"/>
              <a:defRPr/>
            </a:pPr>
            <a:r>
              <a:rPr lang="es-ES" sz="1000" b="0" i="0" u="none" strike="noStrike">
                <a:solidFill>
                  <a:srgbClr val="000000"/>
                </a:solidFill>
                <a:effectLst/>
                <a:latin typeface="Aptos Narrow" panose="020B0004020202020204" pitchFamily="34" charset="0"/>
              </a:rPr>
              <a:t>Global </a:t>
            </a:r>
            <a:r>
              <a:rPr lang="en-US" sz="1000" b="0" i="0" u="none" strike="noStrike">
                <a:solidFill>
                  <a:srgbClr val="000000"/>
                </a:solidFill>
                <a:effectLst/>
                <a:latin typeface="Aptos Narrow" panose="020B0004020202020204" pitchFamily="34" charset="0"/>
              </a:rPr>
              <a:t>solution for EMIR, FCA,HKMA, CFTC, SEC, MMSR and SMMD regulatory reporting, generating the reportable information and sending it directly to the regulator (MMSR and SMMD) or through an external system, such as DTCC and Markit.</a:t>
            </a:r>
            <a:r>
              <a:rPr lang="en-US" sz="1000"/>
              <a:t> </a:t>
            </a:r>
            <a:endParaRPr lang="es-ES" sz="1000"/>
          </a:p>
          <a:p>
            <a:pPr marL="180000" indent="-180000" algn="just">
              <a:buClr>
                <a:srgbClr val="FF0000"/>
              </a:buClr>
              <a:buFont typeface="Wingdings" panose="05000000000000000000" pitchFamily="2" charset="2"/>
              <a:buChar char="§"/>
              <a:defRPr/>
            </a:pPr>
            <a:endParaRPr lang="es-ES" sz="1000">
              <a:solidFill>
                <a:prstClr val="black"/>
              </a:solidFill>
              <a:latin typeface="Santander Text" panose="020B0504020201020104" pitchFamily="34" charset="0"/>
            </a:endParaRPr>
          </a:p>
        </p:txBody>
      </p:sp>
      <p:sp>
        <p:nvSpPr>
          <p:cNvPr id="61" name="CuadroTexto 60">
            <a:extLst>
              <a:ext uri="{FF2B5EF4-FFF2-40B4-BE49-F238E27FC236}">
                <a16:creationId xmlns:a16="http://schemas.microsoft.com/office/drawing/2014/main" id="{1924ACA3-CC4C-AD9A-6ABC-E91EF653A4A6}"/>
              </a:ext>
            </a:extLst>
          </p:cNvPr>
          <p:cNvSpPr txBox="1"/>
          <p:nvPr/>
        </p:nvSpPr>
        <p:spPr>
          <a:xfrm>
            <a:off x="2251104" y="4662848"/>
            <a:ext cx="3844896" cy="861774"/>
          </a:xfrm>
          <a:prstGeom prst="rect">
            <a:avLst/>
          </a:prstGeom>
          <a:noFill/>
        </p:spPr>
        <p:txBody>
          <a:bodyPr wrap="square">
            <a:spAutoFit/>
          </a:bodyPr>
          <a:lstStyle/>
          <a:p>
            <a:pPr marL="180000" indent="-180000" algn="just">
              <a:buClr>
                <a:srgbClr val="FF0000"/>
              </a:buClr>
              <a:buFont typeface="Wingdings" panose="05000000000000000000" pitchFamily="2" charset="2"/>
              <a:buChar char="§"/>
              <a:defRPr/>
            </a:pPr>
            <a:r>
              <a:rPr lang="en-US" sz="1000" b="0" i="0" u="none" strike="noStrike">
                <a:solidFill>
                  <a:srgbClr val="000000"/>
                </a:solidFill>
                <a:effectLst/>
                <a:latin typeface="Aptos Narrow" panose="020B0004020202020204" pitchFamily="34" charset="0"/>
              </a:rPr>
              <a:t>Capital Feeding Tool is the centralized/integrated data feed process of SCIB that guarantees the quality and integrity of information for Capital Reporting (BDR) of </a:t>
            </a:r>
            <a:r>
              <a:rPr lang="en-US" sz="1000" b="0" i="0" u="none" strike="noStrike" err="1">
                <a:solidFill>
                  <a:srgbClr val="000000"/>
                </a:solidFill>
                <a:effectLst/>
                <a:latin typeface="Aptos Narrow" panose="020B0004020202020204" pitchFamily="34" charset="0"/>
              </a:rPr>
              <a:t>SanSA</a:t>
            </a:r>
            <a:r>
              <a:rPr lang="en-US" sz="1000" b="0" i="0" u="none" strike="noStrike">
                <a:solidFill>
                  <a:srgbClr val="000000"/>
                </a:solidFill>
                <a:effectLst/>
                <a:latin typeface="Aptos Narrow" panose="020B0004020202020204" pitchFamily="34" charset="0"/>
              </a:rPr>
              <a:t> (GBP, Branches and Spain perimeter). </a:t>
            </a:r>
            <a:endParaRPr lang="es-ES" sz="1000"/>
          </a:p>
          <a:p>
            <a:pPr marL="180000" indent="-180000" algn="just">
              <a:buClr>
                <a:srgbClr val="FF0000"/>
              </a:buClr>
              <a:buFont typeface="Wingdings" panose="05000000000000000000" pitchFamily="2" charset="2"/>
              <a:buChar char="§"/>
              <a:defRPr/>
            </a:pPr>
            <a:endParaRPr lang="es-ES" sz="1000">
              <a:solidFill>
                <a:prstClr val="black"/>
              </a:solidFill>
              <a:latin typeface="Santander Text" panose="020B0504020201020104" pitchFamily="34" charset="0"/>
            </a:endParaRPr>
          </a:p>
        </p:txBody>
      </p:sp>
      <p:sp>
        <p:nvSpPr>
          <p:cNvPr id="62" name="CuadroTexto 61">
            <a:extLst>
              <a:ext uri="{FF2B5EF4-FFF2-40B4-BE49-F238E27FC236}">
                <a16:creationId xmlns:a16="http://schemas.microsoft.com/office/drawing/2014/main" id="{343D832D-A16B-6371-A641-C45DAA262918}"/>
              </a:ext>
            </a:extLst>
          </p:cNvPr>
          <p:cNvSpPr txBox="1"/>
          <p:nvPr/>
        </p:nvSpPr>
        <p:spPr>
          <a:xfrm>
            <a:off x="2239882" y="5414225"/>
            <a:ext cx="3856118" cy="1015663"/>
          </a:xfrm>
          <a:prstGeom prst="rect">
            <a:avLst/>
          </a:prstGeom>
          <a:noFill/>
        </p:spPr>
        <p:txBody>
          <a:bodyPr wrap="square">
            <a:spAutoFit/>
          </a:bodyPr>
          <a:lstStyle/>
          <a:p>
            <a:pPr marL="180000" indent="-180000" algn="just">
              <a:buClr>
                <a:srgbClr val="FF0000"/>
              </a:buClr>
              <a:buFont typeface="Wingdings" panose="05000000000000000000" pitchFamily="2" charset="2"/>
              <a:buChar char="§"/>
              <a:defRPr/>
            </a:pPr>
            <a:r>
              <a:rPr lang="en-US" sz="1000" b="0" i="0" u="none" strike="noStrike">
                <a:solidFill>
                  <a:srgbClr val="000000"/>
                </a:solidFill>
                <a:effectLst/>
                <a:latin typeface="Aptos Narrow" panose="020B0004020202020204" pitchFamily="34" charset="0"/>
              </a:rPr>
              <a:t>Based on IFRS9 requirements which the portfolio allocated as Hold to Collect and Sell (HTCS) must be valuated at Mark to Market (</a:t>
            </a:r>
            <a:r>
              <a:rPr lang="en-US" sz="1000" b="0" i="0" u="none" strike="noStrike" err="1">
                <a:solidFill>
                  <a:srgbClr val="000000"/>
                </a:solidFill>
                <a:effectLst/>
                <a:latin typeface="Aptos Narrow" panose="020B0004020202020204" pitchFamily="34" charset="0"/>
              </a:rPr>
              <a:t>MtM</a:t>
            </a:r>
            <a:r>
              <a:rPr lang="en-US" sz="1000" b="0" i="0" u="none" strike="noStrike">
                <a:solidFill>
                  <a:srgbClr val="000000"/>
                </a:solidFill>
                <a:effectLst/>
                <a:latin typeface="Aptos Narrow" panose="020B0004020202020204" pitchFamily="34" charset="0"/>
              </a:rPr>
              <a:t>), the purpose of this tool is to perform this valuation, generate a market price at facility level and provide this fair value adjustment to the general ledger.</a:t>
            </a:r>
            <a:endParaRPr lang="es-ES" sz="1000"/>
          </a:p>
          <a:p>
            <a:pPr marL="180000" indent="-180000" algn="just">
              <a:buClr>
                <a:srgbClr val="FF0000"/>
              </a:buClr>
              <a:buFont typeface="Wingdings" panose="05000000000000000000" pitchFamily="2" charset="2"/>
              <a:buChar char="§"/>
              <a:defRPr/>
            </a:pPr>
            <a:endParaRPr lang="es-ES" sz="1000">
              <a:solidFill>
                <a:prstClr val="black"/>
              </a:solidFill>
              <a:latin typeface="Santander Text" panose="020B0504020201020104" pitchFamily="34" charset="0"/>
            </a:endParaRPr>
          </a:p>
        </p:txBody>
      </p:sp>
      <p:sp>
        <p:nvSpPr>
          <p:cNvPr id="68" name="Rectángulo 67">
            <a:extLst>
              <a:ext uri="{FF2B5EF4-FFF2-40B4-BE49-F238E27FC236}">
                <a16:creationId xmlns:a16="http://schemas.microsoft.com/office/drawing/2014/main" id="{F3CFFE44-E141-938C-B336-ACD43BDA658B}"/>
              </a:ext>
            </a:extLst>
          </p:cNvPr>
          <p:cNvSpPr/>
          <p:nvPr/>
        </p:nvSpPr>
        <p:spPr>
          <a:xfrm>
            <a:off x="6487611" y="1760271"/>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algn="ctr"/>
            <a:r>
              <a:rPr lang="en-US" sz="1400" kern="0">
                <a:solidFill>
                  <a:srgbClr val="DEEDF1">
                    <a:lumMod val="25000"/>
                  </a:srgbClr>
                </a:solidFill>
                <a:latin typeface="Santander Text" panose="020B0504020201020104" pitchFamily="34" charset="0"/>
              </a:rPr>
              <a:t>Financial Data Hub</a:t>
            </a:r>
            <a:endParaRPr lang="en-GB" sz="1400" kern="0">
              <a:solidFill>
                <a:srgbClr val="DEEDF1">
                  <a:lumMod val="25000"/>
                </a:srgbClr>
              </a:solidFill>
              <a:latin typeface="Santander Text" panose="020B0504020201020104" pitchFamily="34" charset="0"/>
            </a:endParaRPr>
          </a:p>
        </p:txBody>
      </p:sp>
      <p:cxnSp>
        <p:nvCxnSpPr>
          <p:cNvPr id="69" name="Conector recto 68">
            <a:extLst>
              <a:ext uri="{FF2B5EF4-FFF2-40B4-BE49-F238E27FC236}">
                <a16:creationId xmlns:a16="http://schemas.microsoft.com/office/drawing/2014/main" id="{71C14A12-9420-53B4-3C5E-8DE4A5EE6218}"/>
              </a:ext>
            </a:extLst>
          </p:cNvPr>
          <p:cNvCxnSpPr>
            <a:cxnSpLocks/>
          </p:cNvCxnSpPr>
          <p:nvPr/>
        </p:nvCxnSpPr>
        <p:spPr>
          <a:xfrm flipH="1" flipV="1">
            <a:off x="6395700" y="2514455"/>
            <a:ext cx="5112000" cy="0"/>
          </a:xfrm>
          <a:prstGeom prst="line">
            <a:avLst/>
          </a:prstGeom>
          <a:noFill/>
          <a:ln w="12700" cap="flat" cmpd="sng" algn="ctr">
            <a:solidFill>
              <a:schemeClr val="bg1">
                <a:lumMod val="85000"/>
              </a:schemeClr>
            </a:solidFill>
            <a:prstDash val="solid"/>
            <a:miter lim="800000"/>
          </a:ln>
          <a:effectLst/>
        </p:spPr>
      </p:cxnSp>
      <p:sp>
        <p:nvSpPr>
          <p:cNvPr id="70" name="Rectángulo 69">
            <a:extLst>
              <a:ext uri="{FF2B5EF4-FFF2-40B4-BE49-F238E27FC236}">
                <a16:creationId xmlns:a16="http://schemas.microsoft.com/office/drawing/2014/main" id="{A15C8DAE-AFE4-D486-AE5F-833A435F30A6}"/>
              </a:ext>
            </a:extLst>
          </p:cNvPr>
          <p:cNvSpPr/>
          <p:nvPr/>
        </p:nvSpPr>
        <p:spPr>
          <a:xfrm>
            <a:off x="6487611" y="2656563"/>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algn="ctr"/>
            <a:r>
              <a:rPr lang="en-US" sz="1400" kern="0">
                <a:solidFill>
                  <a:srgbClr val="DEEDF1">
                    <a:lumMod val="25000"/>
                  </a:srgbClr>
                </a:solidFill>
                <a:latin typeface="Santander Text" panose="020B0504020201020104" pitchFamily="34" charset="0"/>
              </a:rPr>
              <a:t>Accounting Data Hub</a:t>
            </a:r>
            <a:endParaRPr lang="en-GB" sz="1400" kern="0">
              <a:solidFill>
                <a:srgbClr val="DEEDF1">
                  <a:lumMod val="25000"/>
                </a:srgbClr>
              </a:solidFill>
              <a:latin typeface="Santander Text" panose="020B0504020201020104" pitchFamily="34" charset="0"/>
            </a:endParaRPr>
          </a:p>
        </p:txBody>
      </p:sp>
      <p:cxnSp>
        <p:nvCxnSpPr>
          <p:cNvPr id="71" name="Conector recto 70">
            <a:extLst>
              <a:ext uri="{FF2B5EF4-FFF2-40B4-BE49-F238E27FC236}">
                <a16:creationId xmlns:a16="http://schemas.microsoft.com/office/drawing/2014/main" id="{65C65A1B-7E59-B8CE-F218-5F68DF7C099A}"/>
              </a:ext>
            </a:extLst>
          </p:cNvPr>
          <p:cNvCxnSpPr>
            <a:cxnSpLocks/>
          </p:cNvCxnSpPr>
          <p:nvPr/>
        </p:nvCxnSpPr>
        <p:spPr>
          <a:xfrm flipH="1" flipV="1">
            <a:off x="6395700" y="3374650"/>
            <a:ext cx="5112000" cy="0"/>
          </a:xfrm>
          <a:prstGeom prst="line">
            <a:avLst/>
          </a:prstGeom>
          <a:noFill/>
          <a:ln w="12700" cap="flat" cmpd="sng" algn="ctr">
            <a:solidFill>
              <a:schemeClr val="bg1">
                <a:lumMod val="85000"/>
              </a:schemeClr>
            </a:solidFill>
            <a:prstDash val="solid"/>
            <a:miter lim="800000"/>
          </a:ln>
          <a:effectLst/>
        </p:spPr>
      </p:cxnSp>
      <p:sp>
        <p:nvSpPr>
          <p:cNvPr id="74" name="CuadroTexto 73">
            <a:extLst>
              <a:ext uri="{FF2B5EF4-FFF2-40B4-BE49-F238E27FC236}">
                <a16:creationId xmlns:a16="http://schemas.microsoft.com/office/drawing/2014/main" id="{E2974878-3911-AB6F-065D-C69F469564BA}"/>
              </a:ext>
            </a:extLst>
          </p:cNvPr>
          <p:cNvSpPr txBox="1"/>
          <p:nvPr/>
        </p:nvSpPr>
        <p:spPr>
          <a:xfrm>
            <a:off x="7987535" y="1758036"/>
            <a:ext cx="3520163" cy="707886"/>
          </a:xfrm>
          <a:prstGeom prst="rect">
            <a:avLst/>
          </a:prstGeom>
          <a:noFill/>
        </p:spPr>
        <p:txBody>
          <a:bodyPr wrap="square">
            <a:spAutoFit/>
          </a:bodyPr>
          <a:lstStyle/>
          <a:p>
            <a:pPr marL="180000" indent="-180000" algn="just">
              <a:buClr>
                <a:srgbClr val="FF0000"/>
              </a:buClr>
              <a:buFont typeface="Wingdings" panose="05000000000000000000" pitchFamily="2" charset="2"/>
              <a:buChar char="§"/>
              <a:defRPr/>
            </a:pPr>
            <a:r>
              <a:rPr lang="en-US" sz="1000" b="0" i="0" u="none" strike="noStrike">
                <a:solidFill>
                  <a:srgbClr val="000000"/>
                </a:solidFill>
                <a:effectLst/>
                <a:latin typeface="Aptos Narrow" panose="020B0004020202020204" pitchFamily="34" charset="0"/>
              </a:rPr>
              <a:t>Repositories with the financial and operational information of SCIB. Engines of reconciliation , extract and transform information for reporting purposes.</a:t>
            </a:r>
            <a:endParaRPr lang="en-GB" sz="800" b="0">
              <a:solidFill>
                <a:schemeClr val="bg1">
                  <a:lumMod val="75000"/>
                </a:schemeClr>
              </a:solidFill>
              <a:latin typeface="Santander Text" panose="020B0504020201020104" pitchFamily="34" charset="0"/>
            </a:endParaRPr>
          </a:p>
          <a:p>
            <a:pPr marL="180000" indent="-180000" algn="just">
              <a:buClr>
                <a:srgbClr val="FF0000"/>
              </a:buClr>
              <a:buFont typeface="Wingdings" panose="05000000000000000000" pitchFamily="2" charset="2"/>
              <a:buChar char="§"/>
              <a:defRPr/>
            </a:pPr>
            <a:endParaRPr lang="es-ES" sz="1000">
              <a:solidFill>
                <a:prstClr val="black"/>
              </a:solidFill>
              <a:latin typeface="Santander Text" panose="020B0504020201020104" pitchFamily="34" charset="0"/>
            </a:endParaRPr>
          </a:p>
        </p:txBody>
      </p:sp>
      <p:sp>
        <p:nvSpPr>
          <p:cNvPr id="75" name="CuadroTexto 74">
            <a:extLst>
              <a:ext uri="{FF2B5EF4-FFF2-40B4-BE49-F238E27FC236}">
                <a16:creationId xmlns:a16="http://schemas.microsoft.com/office/drawing/2014/main" id="{ABFF303E-128E-0F87-AC19-F86160CAE960}"/>
              </a:ext>
            </a:extLst>
          </p:cNvPr>
          <p:cNvSpPr txBox="1"/>
          <p:nvPr/>
        </p:nvSpPr>
        <p:spPr>
          <a:xfrm>
            <a:off x="7994102" y="2651821"/>
            <a:ext cx="3513596" cy="553998"/>
          </a:xfrm>
          <a:prstGeom prst="rect">
            <a:avLst/>
          </a:prstGeom>
          <a:noFill/>
        </p:spPr>
        <p:txBody>
          <a:bodyPr wrap="square">
            <a:spAutoFit/>
          </a:bodyPr>
          <a:lstStyle/>
          <a:p>
            <a:pPr marL="180000" indent="-180000" algn="just">
              <a:buClr>
                <a:srgbClr val="FF0000"/>
              </a:buClr>
              <a:buFont typeface="Wingdings" panose="05000000000000000000" pitchFamily="2" charset="2"/>
              <a:buChar char="§"/>
              <a:defRPr/>
            </a:pPr>
            <a:r>
              <a:rPr lang="en-US" sz="1000" b="0" i="0" u="none" strike="noStrike">
                <a:solidFill>
                  <a:srgbClr val="000000"/>
                </a:solidFill>
                <a:effectLst/>
                <a:latin typeface="Aptos Narrow" panose="020B0004020202020204" pitchFamily="34" charset="0"/>
              </a:rPr>
              <a:t>Repositories with the accounting information of SCIB. Engines of reconciliation , extract and transform information for reporting purposes.</a:t>
            </a:r>
            <a:r>
              <a:rPr lang="en-US" sz="1000"/>
              <a:t> </a:t>
            </a:r>
            <a:endParaRPr lang="es-ES" sz="1000"/>
          </a:p>
        </p:txBody>
      </p:sp>
      <p:cxnSp>
        <p:nvCxnSpPr>
          <p:cNvPr id="76" name="Conector recto 75">
            <a:extLst>
              <a:ext uri="{FF2B5EF4-FFF2-40B4-BE49-F238E27FC236}">
                <a16:creationId xmlns:a16="http://schemas.microsoft.com/office/drawing/2014/main" id="{B7165043-1AE9-4F4B-C00F-D2345DD5E388}"/>
              </a:ext>
            </a:extLst>
          </p:cNvPr>
          <p:cNvCxnSpPr>
            <a:cxnSpLocks/>
          </p:cNvCxnSpPr>
          <p:nvPr/>
        </p:nvCxnSpPr>
        <p:spPr>
          <a:xfrm flipH="1" flipV="1">
            <a:off x="6487611" y="1544243"/>
            <a:ext cx="5112000" cy="0"/>
          </a:xfrm>
          <a:prstGeom prst="line">
            <a:avLst/>
          </a:prstGeom>
          <a:noFill/>
          <a:ln w="12700" cap="flat" cmpd="sng" algn="ctr">
            <a:solidFill>
              <a:srgbClr val="595959"/>
            </a:solidFill>
            <a:prstDash val="solid"/>
            <a:miter lim="800000"/>
          </a:ln>
          <a:effectLst/>
        </p:spPr>
      </p:cxnSp>
      <p:cxnSp>
        <p:nvCxnSpPr>
          <p:cNvPr id="77" name="Conector recto 76">
            <a:extLst>
              <a:ext uri="{FF2B5EF4-FFF2-40B4-BE49-F238E27FC236}">
                <a16:creationId xmlns:a16="http://schemas.microsoft.com/office/drawing/2014/main" id="{E2E5FB21-7F6E-4DB3-787A-D3A7FCF3EBD9}"/>
              </a:ext>
            </a:extLst>
          </p:cNvPr>
          <p:cNvCxnSpPr>
            <a:cxnSpLocks/>
          </p:cNvCxnSpPr>
          <p:nvPr/>
        </p:nvCxnSpPr>
        <p:spPr>
          <a:xfrm flipH="1">
            <a:off x="769396" y="2923919"/>
            <a:ext cx="5302652" cy="0"/>
          </a:xfrm>
          <a:prstGeom prst="line">
            <a:avLst/>
          </a:prstGeom>
          <a:noFill/>
          <a:ln w="12700" cap="flat" cmpd="sng" algn="ctr">
            <a:solidFill>
              <a:srgbClr val="595959"/>
            </a:solidFill>
            <a:prstDash val="solid"/>
            <a:miter lim="800000"/>
          </a:ln>
          <a:effectLst/>
        </p:spPr>
      </p:cxnSp>
      <p:sp>
        <p:nvSpPr>
          <p:cNvPr id="10" name="Rectángulo 42">
            <a:extLst>
              <a:ext uri="{FF2B5EF4-FFF2-40B4-BE49-F238E27FC236}">
                <a16:creationId xmlns:a16="http://schemas.microsoft.com/office/drawing/2014/main" id="{53853369-5321-377D-0DC0-288D922D3B74}"/>
              </a:ext>
            </a:extLst>
          </p:cNvPr>
          <p:cNvSpPr/>
          <p:nvPr/>
        </p:nvSpPr>
        <p:spPr>
          <a:xfrm>
            <a:off x="778471" y="1690977"/>
            <a:ext cx="1440000" cy="540000"/>
          </a:xfrm>
          <a:prstGeom prst="rect">
            <a:avLst/>
          </a:prstGeom>
          <a:noFill/>
          <a:ln w="12700" cap="flat" cmpd="sng" algn="ctr">
            <a:solidFill>
              <a:schemeClr val="bg2">
                <a:lumMod val="50000"/>
              </a:schemeClr>
            </a:solidFill>
            <a:prstDash val="solid"/>
            <a:miter lim="800000"/>
          </a:ln>
          <a:effectLst/>
        </p:spPr>
        <p:txBody>
          <a:bodyPr lIns="72000" rIns="72000" rtlCol="0" anchor="ctr"/>
          <a:lstStyle/>
          <a:p>
            <a:pPr algn="ctr"/>
            <a:r>
              <a:rPr lang="en-GB" sz="1200" kern="0">
                <a:solidFill>
                  <a:srgbClr val="DEEDF1">
                    <a:lumMod val="25000"/>
                  </a:srgbClr>
                </a:solidFill>
                <a:latin typeface="Santander Text" panose="020B0504020201020104" pitchFamily="34" charset="0"/>
              </a:rPr>
              <a:t>Accounting Integration</a:t>
            </a:r>
          </a:p>
        </p:txBody>
      </p:sp>
      <p:sp>
        <p:nvSpPr>
          <p:cNvPr id="11" name="CuadroTexto 43">
            <a:extLst>
              <a:ext uri="{FF2B5EF4-FFF2-40B4-BE49-F238E27FC236}">
                <a16:creationId xmlns:a16="http://schemas.microsoft.com/office/drawing/2014/main" id="{0DE589A8-F4B7-2124-93E9-CA0A8099B16A}"/>
              </a:ext>
            </a:extLst>
          </p:cNvPr>
          <p:cNvSpPr txBox="1"/>
          <p:nvPr/>
        </p:nvSpPr>
        <p:spPr>
          <a:xfrm>
            <a:off x="684304" y="1202400"/>
            <a:ext cx="5111998" cy="338554"/>
          </a:xfrm>
          <a:prstGeom prst="rect">
            <a:avLst/>
          </a:prstGeom>
          <a:noFill/>
        </p:spPr>
        <p:txBody>
          <a:bodyPr wrap="square" rtlCol="0">
            <a:spAutoFit/>
          </a:bodyPr>
          <a:lstStyle/>
          <a:p>
            <a:pPr marL="355600" marR="0" lvl="0" indent="-355600" algn="l" defTabSz="914400" rtl="0" eaLnBrk="1" fontAlgn="auto" latinLnBrk="0" hangingPunct="1">
              <a:lnSpc>
                <a:spcPct val="100000"/>
              </a:lnSpc>
              <a:spcBef>
                <a:spcPts val="0"/>
              </a:spcBef>
              <a:spcAft>
                <a:spcPts val="300"/>
              </a:spcAft>
              <a:buClrTx/>
              <a:buSzTx/>
              <a:buFontTx/>
              <a:buNone/>
              <a:tabLst/>
              <a:defRPr/>
            </a:pPr>
            <a:r>
              <a:rPr kumimoji="0" lang="en-AU"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8 –</a:t>
            </a:r>
            <a:r>
              <a:rPr lang="en-AU" sz="1600" b="1" kern="0">
                <a:solidFill>
                  <a:srgbClr val="DEEDF1">
                    <a:lumMod val="25000"/>
                  </a:srgbClr>
                </a:solidFill>
                <a:latin typeface="Santander Text" panose="020B0504020201020104" pitchFamily="34" charset="0"/>
              </a:rPr>
              <a:t> </a:t>
            </a:r>
            <a:r>
              <a:rPr lang="en-GB" sz="1600" b="1">
                <a:solidFill>
                  <a:srgbClr val="DEEDF1">
                    <a:lumMod val="25000"/>
                  </a:srgbClr>
                </a:solidFill>
                <a:latin typeface="Santander Text" panose="020B0504020201020104" pitchFamily="34" charset="0"/>
              </a:rPr>
              <a:t>Accounting Business Services</a:t>
            </a:r>
            <a:endParaRPr lang="en-GB" sz="1600" b="1" kern="0">
              <a:solidFill>
                <a:srgbClr val="DEEDF1">
                  <a:lumMod val="25000"/>
                </a:srgbClr>
              </a:solidFill>
              <a:latin typeface="Santander Text" panose="020B0504020201020104" pitchFamily="34" charset="0"/>
            </a:endParaRPr>
          </a:p>
        </p:txBody>
      </p:sp>
      <p:sp>
        <p:nvSpPr>
          <p:cNvPr id="14" name="CuadroTexto 46">
            <a:extLst>
              <a:ext uri="{FF2B5EF4-FFF2-40B4-BE49-F238E27FC236}">
                <a16:creationId xmlns:a16="http://schemas.microsoft.com/office/drawing/2014/main" id="{06586237-E9B0-E30E-5BB5-4FD6233630B3}"/>
              </a:ext>
            </a:extLst>
          </p:cNvPr>
          <p:cNvSpPr txBox="1"/>
          <p:nvPr/>
        </p:nvSpPr>
        <p:spPr>
          <a:xfrm>
            <a:off x="2218471" y="1679116"/>
            <a:ext cx="3853578" cy="400110"/>
          </a:xfrm>
          <a:prstGeom prst="rect">
            <a:avLst/>
          </a:prstGeom>
          <a:noFill/>
        </p:spPr>
        <p:txBody>
          <a:bodyPr wrap="square">
            <a:spAutoFit/>
          </a:bodyPr>
          <a:lstStyle/>
          <a:p>
            <a:pPr marL="180000" marR="0" lvl="0" indent="-180000" algn="just" defTabSz="914400" rtl="0" eaLnBrk="1" fontAlgn="auto" latinLnBrk="0" hangingPunct="1">
              <a:lnSpc>
                <a:spcPct val="100000"/>
              </a:lnSpc>
              <a:spcBef>
                <a:spcPts val="0"/>
              </a:spcBef>
              <a:spcAft>
                <a:spcPts val="0"/>
              </a:spcAft>
              <a:buClr>
                <a:srgbClr val="FF0000"/>
              </a:buClr>
              <a:buSzTx/>
              <a:buFont typeface="Wingdings" panose="05000000000000000000" pitchFamily="2" charset="2"/>
              <a:buChar char="§"/>
              <a:tabLst/>
              <a:defRPr/>
            </a:pPr>
            <a:r>
              <a:rPr lang="en-US" sz="1000" b="0" i="0" u="none" strike="noStrike">
                <a:solidFill>
                  <a:srgbClr val="000000"/>
                </a:solidFill>
                <a:effectLst/>
                <a:latin typeface="Aptos Narrow" panose="020B0004020202020204" pitchFamily="34" charset="0"/>
              </a:rPr>
              <a:t>Set of solutions to connect the operational systems to general ledgers and others accounting information systems.</a:t>
            </a:r>
            <a:endParaRPr lang="en-US" sz="1000">
              <a:solidFill>
                <a:prstClr val="black"/>
              </a:solidFill>
              <a:latin typeface="Santander Text" panose="020B0504020201020104" pitchFamily="34" charset="0"/>
            </a:endParaRPr>
          </a:p>
        </p:txBody>
      </p:sp>
      <p:cxnSp>
        <p:nvCxnSpPr>
          <p:cNvPr id="15" name="Conector recto 47">
            <a:extLst>
              <a:ext uri="{FF2B5EF4-FFF2-40B4-BE49-F238E27FC236}">
                <a16:creationId xmlns:a16="http://schemas.microsoft.com/office/drawing/2014/main" id="{2767AA42-1EA4-5990-4599-306A030EC6F9}"/>
              </a:ext>
            </a:extLst>
          </p:cNvPr>
          <p:cNvCxnSpPr>
            <a:cxnSpLocks/>
          </p:cNvCxnSpPr>
          <p:nvPr/>
        </p:nvCxnSpPr>
        <p:spPr>
          <a:xfrm flipH="1">
            <a:off x="739961" y="2390736"/>
            <a:ext cx="5398155" cy="0"/>
          </a:xfrm>
          <a:prstGeom prst="line">
            <a:avLst/>
          </a:prstGeom>
          <a:noFill/>
          <a:ln w="12700" cap="flat" cmpd="sng" algn="ctr">
            <a:solidFill>
              <a:schemeClr val="bg1">
                <a:lumMod val="85000"/>
              </a:schemeClr>
            </a:solidFill>
            <a:prstDash val="solid"/>
            <a:miter lim="800000"/>
          </a:ln>
          <a:effectLst/>
        </p:spPr>
      </p:cxnSp>
      <p:cxnSp>
        <p:nvCxnSpPr>
          <p:cNvPr id="19" name="Conector recto 51">
            <a:extLst>
              <a:ext uri="{FF2B5EF4-FFF2-40B4-BE49-F238E27FC236}">
                <a16:creationId xmlns:a16="http://schemas.microsoft.com/office/drawing/2014/main" id="{1F7466DE-4A3C-C414-D84E-9880348518D9}"/>
              </a:ext>
            </a:extLst>
          </p:cNvPr>
          <p:cNvCxnSpPr>
            <a:cxnSpLocks/>
          </p:cNvCxnSpPr>
          <p:nvPr/>
        </p:nvCxnSpPr>
        <p:spPr>
          <a:xfrm flipH="1">
            <a:off x="758176" y="1540954"/>
            <a:ext cx="5379940" cy="0"/>
          </a:xfrm>
          <a:prstGeom prst="line">
            <a:avLst/>
          </a:prstGeom>
          <a:noFill/>
          <a:ln w="12700" cap="flat" cmpd="sng" algn="ctr">
            <a:solidFill>
              <a:srgbClr val="595959"/>
            </a:solidFill>
            <a:prstDash val="solid"/>
            <a:miter lim="800000"/>
          </a:ln>
          <a:effectLst/>
        </p:spPr>
      </p:cxnSp>
      <p:cxnSp>
        <p:nvCxnSpPr>
          <p:cNvPr id="23" name="Conector recto 53">
            <a:extLst>
              <a:ext uri="{FF2B5EF4-FFF2-40B4-BE49-F238E27FC236}">
                <a16:creationId xmlns:a16="http://schemas.microsoft.com/office/drawing/2014/main" id="{08E3D2FD-77EC-02FF-5B72-5035ED54B530}"/>
              </a:ext>
            </a:extLst>
          </p:cNvPr>
          <p:cNvCxnSpPr>
            <a:cxnSpLocks/>
          </p:cNvCxnSpPr>
          <p:nvPr/>
        </p:nvCxnSpPr>
        <p:spPr>
          <a:xfrm flipH="1">
            <a:off x="722349" y="5336779"/>
            <a:ext cx="5366562" cy="0"/>
          </a:xfrm>
          <a:prstGeom prst="line">
            <a:avLst/>
          </a:prstGeom>
          <a:noFill/>
          <a:ln w="12700" cap="flat" cmpd="sng" algn="ctr">
            <a:solidFill>
              <a:schemeClr val="bg1">
                <a:lumMod val="85000"/>
              </a:schemeClr>
            </a:solidFill>
            <a:prstDash val="solid"/>
            <a:miter lim="800000"/>
          </a:ln>
          <a:effectLst/>
        </p:spPr>
      </p:cxnSp>
      <p:cxnSp>
        <p:nvCxnSpPr>
          <p:cNvPr id="24" name="Conector recto 53">
            <a:extLst>
              <a:ext uri="{FF2B5EF4-FFF2-40B4-BE49-F238E27FC236}">
                <a16:creationId xmlns:a16="http://schemas.microsoft.com/office/drawing/2014/main" id="{20EF2FC2-1801-9488-3077-2778F2559B29}"/>
              </a:ext>
            </a:extLst>
          </p:cNvPr>
          <p:cNvCxnSpPr>
            <a:cxnSpLocks/>
          </p:cNvCxnSpPr>
          <p:nvPr/>
        </p:nvCxnSpPr>
        <p:spPr>
          <a:xfrm flipH="1">
            <a:off x="736526" y="6233462"/>
            <a:ext cx="5366562" cy="0"/>
          </a:xfrm>
          <a:prstGeom prst="line">
            <a:avLst/>
          </a:prstGeom>
          <a:noFill/>
          <a:ln w="12700" cap="flat" cmpd="sng" algn="ctr">
            <a:solidFill>
              <a:schemeClr val="bg1">
                <a:lumMod val="85000"/>
              </a:schemeClr>
            </a:solidFill>
            <a:prstDash val="solid"/>
            <a:miter lim="800000"/>
          </a:ln>
          <a:effectLst/>
        </p:spPr>
      </p:cxnSp>
      <p:cxnSp>
        <p:nvCxnSpPr>
          <p:cNvPr id="3" name="Conector recto 9">
            <a:extLst>
              <a:ext uri="{FF2B5EF4-FFF2-40B4-BE49-F238E27FC236}">
                <a16:creationId xmlns:a16="http://schemas.microsoft.com/office/drawing/2014/main" id="{E0EECFF5-636F-1E63-4D47-19B10F1157D5}"/>
              </a:ext>
            </a:extLst>
          </p:cNvPr>
          <p:cNvCxnSpPr>
            <a:cxnSpLocks/>
          </p:cNvCxnSpPr>
          <p:nvPr/>
        </p:nvCxnSpPr>
        <p:spPr>
          <a:xfrm flipH="1">
            <a:off x="6446861" y="3246640"/>
            <a:ext cx="5072866" cy="0"/>
          </a:xfrm>
          <a:prstGeom prst="line">
            <a:avLst/>
          </a:prstGeom>
          <a:noFill/>
          <a:ln w="12700" cap="flat" cmpd="sng" algn="ctr">
            <a:solidFill>
              <a:schemeClr val="bg1">
                <a:lumMod val="85000"/>
              </a:schemeClr>
            </a:solidFill>
            <a:prstDash val="solid"/>
            <a:miter lim="800000"/>
          </a:ln>
          <a:effectLst/>
        </p:spPr>
      </p:cxnSp>
      <p:sp>
        <p:nvSpPr>
          <p:cNvPr id="4" name="CuadroTexto 5">
            <a:extLst>
              <a:ext uri="{FF2B5EF4-FFF2-40B4-BE49-F238E27FC236}">
                <a16:creationId xmlns:a16="http://schemas.microsoft.com/office/drawing/2014/main" id="{92CCCA8F-D8AC-8F7A-0870-CD3EF73F3135}"/>
              </a:ext>
            </a:extLst>
          </p:cNvPr>
          <p:cNvSpPr txBox="1"/>
          <p:nvPr/>
        </p:nvSpPr>
        <p:spPr>
          <a:xfrm>
            <a:off x="6398226" y="3483350"/>
            <a:ext cx="5111998" cy="338554"/>
          </a:xfrm>
          <a:prstGeom prst="rect">
            <a:avLst/>
          </a:prstGeom>
          <a:noFill/>
        </p:spPr>
        <p:txBody>
          <a:bodyPr wrap="square" rtlCol="0">
            <a:spAutoFit/>
          </a:bodyPr>
          <a:lstStyle/>
          <a:p>
            <a:pPr marL="355600" marR="0" lvl="0" indent="-355600" algn="l" defTabSz="914400" rtl="0" eaLnBrk="1" fontAlgn="auto" latinLnBrk="0" hangingPunct="1">
              <a:lnSpc>
                <a:spcPct val="100000"/>
              </a:lnSpc>
              <a:spcBef>
                <a:spcPts val="0"/>
              </a:spcBef>
              <a:spcAft>
                <a:spcPts val="300"/>
              </a:spcAft>
              <a:buClrTx/>
              <a:buSzTx/>
              <a:buFontTx/>
              <a:buNone/>
              <a:tabLst/>
              <a:defRPr/>
            </a:pPr>
            <a:r>
              <a:rPr kumimoji="0" lang="en-AU" sz="1600" b="1" i="0" u="none" strike="noStrike" kern="0" cap="none" spc="0" normalizeH="0" baseline="0" noProof="0">
                <a:ln>
                  <a:noFill/>
                </a:ln>
                <a:solidFill>
                  <a:srgbClr val="DEEDF1">
                    <a:lumMod val="25000"/>
                  </a:srgbClr>
                </a:solidFill>
                <a:effectLst/>
                <a:uLnTx/>
                <a:uFillTx/>
                <a:latin typeface="Santander Text" panose="020B0504020201020104" pitchFamily="34" charset="0"/>
                <a:ea typeface="+mn-ea"/>
                <a:cs typeface="+mn-cs"/>
              </a:rPr>
              <a:t>11 - </a:t>
            </a:r>
            <a:r>
              <a:rPr lang="en-GB" sz="1600" b="1">
                <a:solidFill>
                  <a:srgbClr val="DEEDF1">
                    <a:lumMod val="25000"/>
                  </a:srgbClr>
                </a:solidFill>
                <a:latin typeface="Santander Text" panose="020B0504020201020104" pitchFamily="34" charset="0"/>
              </a:rPr>
              <a:t>Market Data Services</a:t>
            </a:r>
            <a:endParaRPr lang="en-GB" sz="1600" b="1" kern="0">
              <a:solidFill>
                <a:srgbClr val="DEEDF1">
                  <a:lumMod val="25000"/>
                </a:srgbClr>
              </a:solidFill>
              <a:latin typeface="Santander Text" panose="020B0504020201020104" pitchFamily="34" charset="0"/>
            </a:endParaRPr>
          </a:p>
        </p:txBody>
      </p:sp>
      <p:sp>
        <p:nvSpPr>
          <p:cNvPr id="5" name="Rectángulo 41">
            <a:extLst>
              <a:ext uri="{FF2B5EF4-FFF2-40B4-BE49-F238E27FC236}">
                <a16:creationId xmlns:a16="http://schemas.microsoft.com/office/drawing/2014/main" id="{D8582938-0922-CD47-A9DF-DF955BA031D1}"/>
              </a:ext>
            </a:extLst>
          </p:cNvPr>
          <p:cNvSpPr/>
          <p:nvPr/>
        </p:nvSpPr>
        <p:spPr>
          <a:xfrm>
            <a:off x="6425204" y="4060024"/>
            <a:ext cx="1440000" cy="540000"/>
          </a:xfrm>
          <a:prstGeom prst="rect">
            <a:avLst/>
          </a:prstGeom>
          <a:noFill/>
          <a:ln w="12700" cap="flat" cmpd="sng" algn="ctr">
            <a:solidFill>
              <a:schemeClr val="bg1">
                <a:lumMod val="50000"/>
              </a:schemeClr>
            </a:solidFill>
            <a:prstDash val="solid"/>
            <a:miter lim="800000"/>
          </a:ln>
          <a:effectLst/>
        </p:spPr>
        <p:txBody>
          <a:bodyPr lIns="72000" rIns="72000" rtlCol="0" anchor="ctr"/>
          <a:lstStyle/>
          <a:p>
            <a:pPr algn="ctr">
              <a:spcAft>
                <a:spcPts val="600"/>
              </a:spcAft>
              <a:defRPr/>
            </a:pPr>
            <a:r>
              <a:rPr lang="en-US" sz="1400" kern="0">
                <a:solidFill>
                  <a:srgbClr val="DEEDF1">
                    <a:lumMod val="25000"/>
                  </a:srgbClr>
                </a:solidFill>
                <a:latin typeface="Santander Text"/>
              </a:rPr>
              <a:t>Data Hub Market Trades</a:t>
            </a:r>
          </a:p>
        </p:txBody>
      </p:sp>
      <p:cxnSp>
        <p:nvCxnSpPr>
          <p:cNvPr id="6" name="Conector recto 33">
            <a:extLst>
              <a:ext uri="{FF2B5EF4-FFF2-40B4-BE49-F238E27FC236}">
                <a16:creationId xmlns:a16="http://schemas.microsoft.com/office/drawing/2014/main" id="{58B880B4-6752-BC4A-AF52-DAB920E5FA01}"/>
              </a:ext>
            </a:extLst>
          </p:cNvPr>
          <p:cNvCxnSpPr>
            <a:cxnSpLocks/>
          </p:cNvCxnSpPr>
          <p:nvPr/>
        </p:nvCxnSpPr>
        <p:spPr>
          <a:xfrm flipH="1" flipV="1">
            <a:off x="6452629" y="3927971"/>
            <a:ext cx="5112000" cy="0"/>
          </a:xfrm>
          <a:prstGeom prst="line">
            <a:avLst/>
          </a:prstGeom>
          <a:noFill/>
          <a:ln w="12700" cap="flat" cmpd="sng" algn="ctr">
            <a:solidFill>
              <a:srgbClr val="595959"/>
            </a:solidFill>
            <a:prstDash val="solid"/>
            <a:miter lim="800000"/>
          </a:ln>
          <a:effectLst/>
        </p:spPr>
      </p:cxnSp>
      <p:sp>
        <p:nvSpPr>
          <p:cNvPr id="7" name="CuadroTexto 35">
            <a:extLst>
              <a:ext uri="{FF2B5EF4-FFF2-40B4-BE49-F238E27FC236}">
                <a16:creationId xmlns:a16="http://schemas.microsoft.com/office/drawing/2014/main" id="{11E77015-55AF-AEBA-C1B9-375333A2DFA7}"/>
              </a:ext>
            </a:extLst>
          </p:cNvPr>
          <p:cNvSpPr txBox="1"/>
          <p:nvPr/>
        </p:nvSpPr>
        <p:spPr>
          <a:xfrm>
            <a:off x="7920713" y="3970083"/>
            <a:ext cx="3415770" cy="861774"/>
          </a:xfrm>
          <a:prstGeom prst="rect">
            <a:avLst/>
          </a:prstGeom>
          <a:noFill/>
        </p:spPr>
        <p:txBody>
          <a:bodyPr wrap="square">
            <a:spAutoFit/>
          </a:bodyPr>
          <a:lstStyle/>
          <a:p>
            <a:pPr marL="171450" indent="-171450" algn="just">
              <a:buClr>
                <a:srgbClr val="FF0000"/>
              </a:buClr>
              <a:buFont typeface="Wingdings" panose="05000000000000000000" pitchFamily="2" charset="2"/>
              <a:buChar char="§"/>
            </a:pPr>
            <a:r>
              <a:rPr lang="en-US" sz="1000">
                <a:solidFill>
                  <a:prstClr val="black"/>
                </a:solidFill>
                <a:latin typeface="Santander Text" panose="020B0504020201020104" pitchFamily="34" charset="0"/>
              </a:rPr>
              <a:t>Common Data Layer for: market trades, market risk, economic position and market data. The data is extracted from the source systems and is ingested through Spark processes in the Data lakes, in batch processes.</a:t>
            </a:r>
            <a:br>
              <a:rPr lang="en-US" sz="1000">
                <a:solidFill>
                  <a:prstClr val="black"/>
                </a:solidFill>
                <a:latin typeface="Santander Text" panose="020B0504020201020104" pitchFamily="34" charset="0"/>
              </a:rPr>
            </a:br>
            <a:endParaRPr lang="es-ES" sz="1000">
              <a:solidFill>
                <a:prstClr val="black"/>
              </a:solidFill>
              <a:latin typeface="Santander Text" panose="020B0504020201020104" pitchFamily="34" charset="0"/>
            </a:endParaRPr>
          </a:p>
        </p:txBody>
      </p:sp>
      <p:cxnSp>
        <p:nvCxnSpPr>
          <p:cNvPr id="12" name="Conector recto 39">
            <a:extLst>
              <a:ext uri="{FF2B5EF4-FFF2-40B4-BE49-F238E27FC236}">
                <a16:creationId xmlns:a16="http://schemas.microsoft.com/office/drawing/2014/main" id="{965246AF-9D77-C12E-33CC-0F19DC7A39E0}"/>
              </a:ext>
            </a:extLst>
          </p:cNvPr>
          <p:cNvCxnSpPr>
            <a:cxnSpLocks/>
          </p:cNvCxnSpPr>
          <p:nvPr/>
        </p:nvCxnSpPr>
        <p:spPr>
          <a:xfrm flipH="1" flipV="1">
            <a:off x="6420730" y="4833849"/>
            <a:ext cx="5112000" cy="0"/>
          </a:xfrm>
          <a:prstGeom prst="line">
            <a:avLst/>
          </a:prstGeom>
          <a:noFill/>
          <a:ln w="12700" cap="flat" cmpd="sng" algn="ctr">
            <a:solidFill>
              <a:schemeClr val="bg1">
                <a:lumMod val="85000"/>
              </a:schemeClr>
            </a:solidFill>
            <a:prstDash val="solid"/>
            <a:miter lim="800000"/>
          </a:ln>
          <a:effectLst/>
        </p:spPr>
      </p:cxnSp>
    </p:spTree>
    <p:extLst>
      <p:ext uri="{BB962C8B-B14F-4D97-AF65-F5344CB8AC3E}">
        <p14:creationId xmlns:p14="http://schemas.microsoft.com/office/powerpoint/2010/main" val="4094647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wqyqQWSccZrrF_ceGABU3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IpvanIaTMZlWYOpABZQlh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IpvanIaTMZlWYOpABZQlhQ"/>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Tema de Office">
  <a:themeElements>
    <a:clrScheme name="SANTANDER 2018">
      <a:dk1>
        <a:sysClr val="windowText" lastClr="000000"/>
      </a:dk1>
      <a:lt1>
        <a:srgbClr val="FFFFFF"/>
      </a:lt1>
      <a:dk2>
        <a:srgbClr val="595959"/>
      </a:dk2>
      <a:lt2>
        <a:srgbClr val="E7E6E6"/>
      </a:lt2>
      <a:accent1>
        <a:srgbClr val="EC0000"/>
      </a:accent1>
      <a:accent2>
        <a:srgbClr val="C00000"/>
      </a:accent2>
      <a:accent3>
        <a:srgbClr val="9E3667"/>
      </a:accent3>
      <a:accent4>
        <a:srgbClr val="63BA68"/>
      </a:accent4>
      <a:accent5>
        <a:srgbClr val="9BC3D3"/>
      </a:accent5>
      <a:accent6>
        <a:srgbClr val="FFCC33"/>
      </a:accent6>
      <a:hlink>
        <a:srgbClr val="9E3667"/>
      </a:hlink>
      <a:folHlink>
        <a:srgbClr val="C3DEE7"/>
      </a:folHlink>
    </a:clrScheme>
    <a:fontScheme name="Santander Text">
      <a:majorFont>
        <a:latin typeface="santander Headline"/>
        <a:ea typeface=""/>
        <a:cs typeface=""/>
      </a:majorFont>
      <a:minorFont>
        <a:latin typeface="Santander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4_Tema de Office">
  <a:themeElements>
    <a:clrScheme name="SANTANDER 2018">
      <a:dk1>
        <a:sysClr val="windowText" lastClr="000000"/>
      </a:dk1>
      <a:lt1>
        <a:srgbClr val="FFFFFF"/>
      </a:lt1>
      <a:dk2>
        <a:srgbClr val="595959"/>
      </a:dk2>
      <a:lt2>
        <a:srgbClr val="E7E6E6"/>
      </a:lt2>
      <a:accent1>
        <a:srgbClr val="EC0000"/>
      </a:accent1>
      <a:accent2>
        <a:srgbClr val="C00000"/>
      </a:accent2>
      <a:accent3>
        <a:srgbClr val="9E3667"/>
      </a:accent3>
      <a:accent4>
        <a:srgbClr val="63BA68"/>
      </a:accent4>
      <a:accent5>
        <a:srgbClr val="9BC3D3"/>
      </a:accent5>
      <a:accent6>
        <a:srgbClr val="FFCC33"/>
      </a:accent6>
      <a:hlink>
        <a:srgbClr val="9E3667"/>
      </a:hlink>
      <a:folHlink>
        <a:srgbClr val="C3DEE7"/>
      </a:folHlink>
    </a:clrScheme>
    <a:fontScheme name="Santander Text">
      <a:majorFont>
        <a:latin typeface="santander Headline"/>
        <a:ea typeface=""/>
        <a:cs typeface=""/>
      </a:majorFont>
      <a:minorFont>
        <a:latin typeface="Santander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00"/>
        </a:solid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dirty="0" smtClean="0">
            <a:solidFill>
              <a:srgbClr val="FF0000"/>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Owner xmlns="7c34d629-718e-4ec4-94cf-d77780f57d9f">
      <UserInfo>
        <DisplayName/>
        <AccountId xsi:nil="true"/>
        <AccountType/>
      </UserInfo>
    </Owner>
    <Updated xmlns="7c34d629-718e-4ec4-94cf-d77780f57d9f" xsi:nil="true"/>
    <Platform xmlns="7c34d629-718e-4ec4-94cf-d77780f57d9f">Framework</Platform>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C70B4687959764B8CB1441764F1E466" ma:contentTypeVersion="13" ma:contentTypeDescription="Create a new document." ma:contentTypeScope="" ma:versionID="eca239cf3158c2ec560ef5a88b36ca6f">
  <xsd:schema xmlns:xsd="http://www.w3.org/2001/XMLSchema" xmlns:xs="http://www.w3.org/2001/XMLSchema" xmlns:p="http://schemas.microsoft.com/office/2006/metadata/properties" xmlns:ns2="7c34d629-718e-4ec4-94cf-d77780f57d9f" xmlns:ns3="4a622ac2-9327-4354-8ff0-1c77c2c3e8a3" targetNamespace="http://schemas.microsoft.com/office/2006/metadata/properties" ma:root="true" ma:fieldsID="c210c3b5aac3e2d85cb083522f234f5d" ns2:_="" ns3:_="">
    <xsd:import namespace="7c34d629-718e-4ec4-94cf-d77780f57d9f"/>
    <xsd:import namespace="4a622ac2-9327-4354-8ff0-1c77c2c3e8a3"/>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Platform"/>
                <xsd:element ref="ns2:Owner" minOccurs="0"/>
                <xsd:element ref="ns2:Updated" minOccurs="0"/>
                <xsd:element ref="ns3:SharedWithUsers" minOccurs="0"/>
                <xsd:element ref="ns3:SharedWithDetails" minOccurs="0"/>
                <xsd:element ref="ns2:MediaServiceSearchProperties" minOccurs="0"/>
                <xsd:element ref="ns2:MediaServiceGenerationTime" minOccurs="0"/>
                <xsd:element ref="ns2:MediaServiceEventHashCode" minOccurs="0"/>
                <xsd:element ref="ns2:MediaLengthInSecond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c34d629-718e-4ec4-94cf-d77780f57d9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Platform" ma:index="11" ma:displayName="Platform" ma:description="Type the name of the platform to filter the folders" ma:format="Dropdown" ma:internalName="Platform">
      <xsd:simpleType>
        <xsd:restriction base="dms:Choice">
          <xsd:enumeration value="Assisted Channels"/>
          <xsd:enumeration value="Digital Channels"/>
          <xsd:enumeration value="Data Management and Customer Interaction"/>
          <xsd:enumeration value="API Layer"/>
          <xsd:enumeration value="Gravity"/>
          <xsd:enumeration value="Cards"/>
          <xsd:enumeration value="Payments"/>
          <xsd:enumeration value="Customer Identity"/>
          <xsd:enumeration value="Landing zone and Tech stack"/>
          <xsd:enumeration value="Framework"/>
          <xsd:enumeration value="Tech Stack"/>
          <xsd:enumeration value="Globales"/>
        </xsd:restriction>
      </xsd:simpleType>
    </xsd:element>
    <xsd:element name="Owner" ma:index="12" nillable="true" ma:displayName="Owner" ma:format="Dropdown" ma:list="UserInfo" ma:SharePointGroup="0"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Updated" ma:index="13" nillable="true" ma:displayName="Updated " ma:format="DateOnly" ma:internalName="Updated">
      <xsd:simpleType>
        <xsd:restriction base="dms:DateTim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a622ac2-9327-4354-8ff0-1c77c2c3e8a3"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2EF9536-79BA-4FBB-B80D-60244F060C6F}">
  <ds:schemaRefs>
    <ds:schemaRef ds:uri="http://schemas.microsoft.com/sharepoint/v3/contenttype/forms"/>
  </ds:schemaRefs>
</ds:datastoreItem>
</file>

<file path=customXml/itemProps2.xml><?xml version="1.0" encoding="utf-8"?>
<ds:datastoreItem xmlns:ds="http://schemas.openxmlformats.org/officeDocument/2006/customXml" ds:itemID="{16B973C5-83BB-4D87-9AEE-36E70A34C872}">
  <ds:schemaRefs>
    <ds:schemaRef ds:uri="4a622ac2-9327-4354-8ff0-1c77c2c3e8a3"/>
    <ds:schemaRef ds:uri="http://purl.org/dc/dcmitype/"/>
    <ds:schemaRef ds:uri="http://schemas.openxmlformats.org/package/2006/metadata/core-properties"/>
    <ds:schemaRef ds:uri="http://schemas.microsoft.com/office/infopath/2007/PartnerControls"/>
    <ds:schemaRef ds:uri="http://schemas.microsoft.com/office/2006/documentManagement/types"/>
    <ds:schemaRef ds:uri="http://schemas.microsoft.com/office/2006/metadata/properties"/>
    <ds:schemaRef ds:uri="http://www.w3.org/XML/1998/namespace"/>
    <ds:schemaRef ds:uri="7c34d629-718e-4ec4-94cf-d77780f57d9f"/>
    <ds:schemaRef ds:uri="http://purl.org/dc/terms/"/>
    <ds:schemaRef ds:uri="http://purl.org/dc/elements/1.1/"/>
  </ds:schemaRefs>
</ds:datastoreItem>
</file>

<file path=customXml/itemProps3.xml><?xml version="1.0" encoding="utf-8"?>
<ds:datastoreItem xmlns:ds="http://schemas.openxmlformats.org/officeDocument/2006/customXml" ds:itemID="{4C2B88F9-200F-4EE7-A841-2CA40A64E6A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c34d629-718e-4ec4-94cf-d77780f57d9f"/>
    <ds:schemaRef ds:uri="4a622ac2-9327-4354-8ff0-1c77c2c3e8a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1330</TotalTime>
  <Words>13951</Words>
  <Application>Microsoft Office PowerPoint</Application>
  <PresentationFormat>Panorámica</PresentationFormat>
  <Paragraphs>2036</Paragraphs>
  <Slides>91</Slides>
  <Notes>85</Notes>
  <HiddenSlides>0</HiddenSlides>
  <MMClips>0</MMClips>
  <ScaleCrop>false</ScaleCrop>
  <HeadingPairs>
    <vt:vector size="8" baseType="variant">
      <vt:variant>
        <vt:lpstr>Fuentes usadas</vt:lpstr>
      </vt:variant>
      <vt:variant>
        <vt:i4>9</vt:i4>
      </vt:variant>
      <vt:variant>
        <vt:lpstr>Tema</vt:lpstr>
      </vt:variant>
      <vt:variant>
        <vt:i4>2</vt:i4>
      </vt:variant>
      <vt:variant>
        <vt:lpstr>Servidores OLE incrustados</vt:lpstr>
      </vt:variant>
      <vt:variant>
        <vt:i4>2</vt:i4>
      </vt:variant>
      <vt:variant>
        <vt:lpstr>Títulos de diapositiva</vt:lpstr>
      </vt:variant>
      <vt:variant>
        <vt:i4>91</vt:i4>
      </vt:variant>
    </vt:vector>
  </HeadingPairs>
  <TitlesOfParts>
    <vt:vector size="104" baseType="lpstr">
      <vt:lpstr>Aptos Narrow</vt:lpstr>
      <vt:lpstr>Arial</vt:lpstr>
      <vt:lpstr>Calibri</vt:lpstr>
      <vt:lpstr>Santander Headline</vt:lpstr>
      <vt:lpstr>Santander Headline</vt:lpstr>
      <vt:lpstr>Santander Text</vt:lpstr>
      <vt:lpstr>Santander Text Light</vt:lpstr>
      <vt:lpstr>Times New Roman</vt:lpstr>
      <vt:lpstr>Wingdings</vt:lpstr>
      <vt:lpstr>1_Tema de Office</vt:lpstr>
      <vt:lpstr>4_Tema de Office</vt:lpstr>
      <vt:lpstr>think-cell Slide</vt:lpstr>
      <vt:lpstr>Diapositiva de think-cell</vt:lpstr>
      <vt:lpstr>Presentación de PowerPoint</vt:lpstr>
      <vt:lpstr>Changelog</vt:lpstr>
      <vt:lpstr>Changelog</vt:lpstr>
      <vt:lpstr>One Santander Platform| Different views for the Framework</vt:lpstr>
      <vt:lpstr>One Santander Platform| Framework view by Platform Component</vt:lpstr>
      <vt:lpstr>Presentación de PowerPoint</vt:lpstr>
      <vt:lpstr>One Santander Platform| Framework view by Platform Component</vt:lpstr>
      <vt:lpstr>Presentación de PowerPoint</vt:lpstr>
      <vt:lpstr>Retail &amp; Commercial. Customer interactions</vt:lpstr>
      <vt:lpstr>Presentación de PowerPoint</vt:lpstr>
      <vt:lpstr>DCB. Digital Channels Individuals </vt:lpstr>
      <vt:lpstr>DCB. Digital Merchant Channels</vt:lpstr>
      <vt:lpstr>DCB. Digital Customer Channels</vt:lpstr>
      <vt:lpstr>DCB. Merchant &amp; Customer Assisted Channels</vt:lpstr>
      <vt:lpstr>DCB. Engine Co-Branded Card</vt:lpstr>
      <vt:lpstr>DCB. Engine Checkout Lending</vt:lpstr>
      <vt:lpstr>DCB. Engine BNPLs</vt:lpstr>
      <vt:lpstr>Presentación de PowerPoint</vt:lpstr>
      <vt:lpstr>Presentación de PowerPoint</vt:lpstr>
      <vt:lpstr>Presentación de PowerPoint</vt:lpstr>
      <vt:lpstr>Presentación de PowerPoint</vt:lpstr>
      <vt:lpstr>SCIB. CIB Specialized Channels </vt:lpstr>
      <vt:lpstr>SCIB. Markets E-Trading </vt:lpstr>
      <vt:lpstr>SCIB. Markets Back </vt:lpstr>
      <vt:lpstr>SCIB. Supply Change Finance </vt:lpstr>
      <vt:lpstr>SCIB. Receivables Finance </vt:lpstr>
      <vt:lpstr>SCIB. Trade Finance </vt:lpstr>
      <vt:lpstr>SCIB. Specialized lending and capital optimization </vt:lpstr>
      <vt:lpstr>SCIB. Wholesale Operations,KYC,Credit&amp;Market Risk, Reg Reporting, Transac Monitoring</vt:lpstr>
      <vt:lpstr>Global Technology. Data</vt:lpstr>
      <vt:lpstr>Presentación de PowerPoint</vt:lpstr>
      <vt:lpstr>Global Technology. Customer identity </vt:lpstr>
      <vt:lpstr>Global Technology. Processes</vt:lpstr>
      <vt:lpstr>Global Technology. Processes</vt:lpstr>
      <vt:lpstr>Presentación de PowerPoint</vt:lpstr>
      <vt:lpstr>Presentación de PowerPoint</vt:lpstr>
      <vt:lpstr>One Santander Platform| Domain map and priority domains</vt:lpstr>
      <vt:lpstr>Presentación de PowerPoint</vt:lpstr>
      <vt:lpstr>DCB. Zinia - Domain view</vt:lpstr>
      <vt:lpstr>SCIB. CIB Channels </vt:lpstr>
      <vt:lpstr>SCIB. E - Trading </vt:lpstr>
      <vt:lpstr>SCIB. FX </vt:lpstr>
      <vt:lpstr>SCIB. Capital Markets </vt:lpstr>
      <vt:lpstr>SCIB. Trade Finance </vt:lpstr>
      <vt:lpstr>SCIB. Global Banking</vt:lpstr>
      <vt:lpstr>SCIB. SCIB Platform</vt:lpstr>
      <vt:lpstr>Presentación de PowerPoint</vt:lpstr>
      <vt:lpstr>One Santander Platform| Platform components definitions (1 of 2)</vt:lpstr>
      <vt:lpstr>One Santander Platform| Platform components definitions (2 of 2)</vt:lpstr>
      <vt:lpstr>Presentación de PowerPoint</vt:lpstr>
      <vt:lpstr>Presentación de PowerPoint</vt:lpstr>
      <vt:lpstr>Presentación de PowerPoint</vt:lpstr>
      <vt:lpstr>Presentación de PowerPoint</vt:lpstr>
      <vt:lpstr>Presentación de PowerPoint</vt:lpstr>
      <vt:lpstr>Presentación de PowerPoint</vt:lpstr>
      <vt:lpstr>Retail &amp; Commercial. Customer Interactions</vt:lpstr>
      <vt:lpstr>Presentación de PowerPoint</vt:lpstr>
      <vt:lpstr>DCB. Digital Channels Individuals</vt:lpstr>
      <vt:lpstr>DCB. Digital Channels Individuals</vt:lpstr>
      <vt:lpstr>DCB. Digital Channels Individuals</vt:lpstr>
      <vt:lpstr>DCB. Digital Channels Individuals</vt:lpstr>
      <vt:lpstr>DCB. Digital Channels Individuals</vt:lpstr>
      <vt:lpstr>Presentación de PowerPoint</vt:lpstr>
      <vt:lpstr>Presentación de PowerPoint</vt:lpstr>
      <vt:lpstr>Presentación de PowerPoint</vt:lpstr>
      <vt:lpstr>Presentación de PowerPoint</vt:lpstr>
      <vt:lpstr>Presentación de PowerPoint</vt:lpstr>
      <vt:lpstr>Presentación de PowerPoint</vt:lpstr>
      <vt:lpstr>Global Technology. Data</vt:lpstr>
      <vt:lpstr>Global Technology. Data</vt:lpstr>
      <vt:lpstr>Presentación de PowerPoint</vt:lpstr>
      <vt:lpstr>Global Technology. Customer identity. </vt:lpstr>
      <vt:lpstr>Global Technology. Customer identity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Grupo Santander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De Frutos Quintana Susana</dc:creator>
  <cp:lastModifiedBy>Ricardo Salas Galliquio</cp:lastModifiedBy>
  <cp:revision>19</cp:revision>
  <dcterms:created xsi:type="dcterms:W3CDTF">2023-09-19T12:18:41Z</dcterms:created>
  <dcterms:modified xsi:type="dcterms:W3CDTF">2026-06-25T20:27:00Z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c2abd79-57a9-4473-8700-c843f76a1e37_Enabled">
    <vt:lpwstr>true</vt:lpwstr>
  </property>
  <property fmtid="{D5CDD505-2E9C-101B-9397-08002B2CF9AE}" pid="3" name="MSIP_Label_0c2abd79-57a9-4473-8700-c843f76a1e37_SetDate">
    <vt:lpwstr>2023-09-19T12:19:47Z</vt:lpwstr>
  </property>
  <property fmtid="{D5CDD505-2E9C-101B-9397-08002B2CF9AE}" pid="4" name="MSIP_Label_0c2abd79-57a9-4473-8700-c843f76a1e37_Method">
    <vt:lpwstr>Privileged</vt:lpwstr>
  </property>
  <property fmtid="{D5CDD505-2E9C-101B-9397-08002B2CF9AE}" pid="5" name="MSIP_Label_0c2abd79-57a9-4473-8700-c843f76a1e37_Name">
    <vt:lpwstr>Internal</vt:lpwstr>
  </property>
  <property fmtid="{D5CDD505-2E9C-101B-9397-08002B2CF9AE}" pid="6" name="MSIP_Label_0c2abd79-57a9-4473-8700-c843f76a1e37_SiteId">
    <vt:lpwstr>35595a02-4d6d-44ac-99e1-f9ab4cd872db</vt:lpwstr>
  </property>
  <property fmtid="{D5CDD505-2E9C-101B-9397-08002B2CF9AE}" pid="7" name="MSIP_Label_0c2abd79-57a9-4473-8700-c843f76a1e37_ActionId">
    <vt:lpwstr>a89244d3-3d0d-4541-99ad-4386c775ab54</vt:lpwstr>
  </property>
  <property fmtid="{D5CDD505-2E9C-101B-9397-08002B2CF9AE}" pid="8" name="MSIP_Label_0c2abd79-57a9-4473-8700-c843f76a1e37_ContentBits">
    <vt:lpwstr>0</vt:lpwstr>
  </property>
  <property fmtid="{D5CDD505-2E9C-101B-9397-08002B2CF9AE}" pid="9" name="ContentTypeId">
    <vt:lpwstr>0x0101008C70B4687959764B8CB1441764F1E466</vt:lpwstr>
  </property>
</Properties>
</file>